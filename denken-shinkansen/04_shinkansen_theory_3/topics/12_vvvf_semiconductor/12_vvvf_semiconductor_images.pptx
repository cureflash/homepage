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276EB8"/>
                </a:solidFill>
                <a:latin typeface="Noto Sans CJK JP"/>
              </a:rPr>
              <a:t>SEMICONDUCTOR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500" b="1">
                <a:solidFill>
                  <a:srgbClr val="14253F"/>
                </a:solidFill>
                <a:latin typeface="Noto Sans CJK JP"/>
              </a:rPr>
              <a:t>p型・n型 → pn接合 → バイアス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Noto Sans CJK JP"/>
              </a:rPr>
              <a:t>「キャリア」と「空乏層」の因果関係で順方向・逆方向を判定する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16152"/>
            <a:ext cx="11365992" cy="18288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276EB8"/>
                </a:solidFill>
                <a:latin typeface="Noto Sans CJK JP"/>
              </a:rPr>
              <a:t>n型半導体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18288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191E24"/>
                </a:solidFill>
                <a:latin typeface="Noto Sans CJK JP"/>
              </a:rPr>
              <a:t>多数キャリア = 電子 e⁻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21992"/>
            <a:ext cx="182880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0">
                <a:solidFill>
                  <a:srgbClr val="5B6774"/>
                </a:solidFill>
                <a:latin typeface="Noto Sans CJK JP"/>
              </a:rPr>
              <a:t>ドナー添加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4475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57276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C3453D"/>
                </a:solidFill>
                <a:latin typeface="Noto Sans CJK JP"/>
              </a:rPr>
              <a:t>p型半導体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938528"/>
            <a:ext cx="18288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191E24"/>
                </a:solidFill>
                <a:latin typeface="Noto Sans CJK JP"/>
              </a:rPr>
              <a:t>多数キャリア = 正孔 h⁺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221992"/>
            <a:ext cx="182880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0">
                <a:solidFill>
                  <a:srgbClr val="5B6774"/>
                </a:solidFill>
                <a:latin typeface="Noto Sans CJK JP"/>
              </a:rPr>
              <a:t>アクセプタ添加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1984248"/>
            <a:ext cx="731520" cy="0"/>
          </a:xfrm>
          <a:prstGeom prst="line">
            <a:avLst/>
          </a:prstGeom>
          <a:ln w="25400">
            <a:solidFill>
              <a:srgbClr val="785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48072" y="1673352"/>
            <a:ext cx="59436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7856A6"/>
                </a:solidFill>
                <a:latin typeface="Noto Sans CJK JP"/>
              </a:rPr>
              <a:t>接合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4173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536192"/>
            <a:ext cx="16459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7856A6"/>
                </a:solidFill>
                <a:latin typeface="Noto Sans CJK JP"/>
              </a:rPr>
              <a:t>pn接合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901952"/>
            <a:ext cx="640080" cy="438912"/>
          </a:xfrm>
          <a:prstGeom prst="rect">
            <a:avLst/>
          </a:prstGeom>
          <a:solidFill>
            <a:srgbClr val="FDE4E4"/>
          </a:solidFill>
          <a:ln>
            <a:solidFill>
              <a:srgbClr val="C3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9168" y="1901952"/>
            <a:ext cx="640080" cy="438912"/>
          </a:xfrm>
          <a:prstGeom prst="rect">
            <a:avLst/>
          </a:prstGeom>
          <a:solidFill>
            <a:srgbClr val="E0EDFC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938528"/>
            <a:ext cx="384048" cy="2194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C3453D"/>
                </a:solidFill>
                <a:latin typeface="Noto Sans CJK JP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1938528"/>
            <a:ext cx="384048" cy="2194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276EB8"/>
                </a:solidFill>
                <a:latin typeface="Noto Sans CJK JP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3992" y="1865376"/>
            <a:ext cx="265176" cy="51206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404872"/>
            <a:ext cx="137160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0">
                <a:solidFill>
                  <a:srgbClr val="5B6774"/>
                </a:solidFill>
                <a:latin typeface="Noto Sans CJK JP"/>
              </a:rPr>
              <a:t>空乏層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880360"/>
            <a:ext cx="53949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2E8B57"/>
                </a:solidFill>
                <a:latin typeface="Noto Sans CJK JP"/>
              </a:rPr>
              <a:t>順方向バイアス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73552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3474720"/>
            <a:ext cx="2194560" cy="292608"/>
          </a:xfrm>
          <a:prstGeom prst="roundRect">
            <a:avLst/>
          </a:prstGeom>
          <a:solidFill>
            <a:srgbClr val="E7F6EE"/>
          </a:solidFill>
          <a:ln>
            <a:solidFill>
              <a:srgbClr val="C6E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2E8B57"/>
                </a:solidFill>
                <a:latin typeface="Noto Sans CJK JP"/>
              </a:rPr>
              <a:t>p側 +   /   n側 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511296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Noto Sans CJK JP"/>
              </a:rPr>
              <a:t>障壁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069080"/>
            <a:ext cx="21488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191E24"/>
                </a:solidFill>
                <a:latin typeface="Noto Sans CJK JP"/>
              </a:rPr>
              <a:t>空乏層が狭くなる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17520" y="4242816"/>
            <a:ext cx="731519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58768" y="4069080"/>
            <a:ext cx="16002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2E8B57"/>
                </a:solidFill>
                <a:latin typeface="Noto Sans CJK JP"/>
              </a:rPr>
              <a:t>電流が流れやすい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773168"/>
            <a:ext cx="4800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5B6774"/>
                </a:solidFill>
                <a:latin typeface="Noto Sans CJK JP"/>
              </a:rPr>
              <a:t>ダイオードの整流作用：一方向に電流を通しやすくする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53949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DA8431"/>
                </a:solidFill>
                <a:latin typeface="Noto Sans CJK JP"/>
              </a:rPr>
              <a:t>逆方向バイアス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3273552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3474720"/>
            <a:ext cx="2194560" cy="292608"/>
          </a:xfrm>
          <a:prstGeom prst="roundRect">
            <a:avLst/>
          </a:prstGeom>
          <a:solidFill>
            <a:srgbClr val="FDF4E4"/>
          </a:solidFill>
          <a:ln>
            <a:solidFill>
              <a:srgbClr val="EFD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DA8431"/>
                </a:solidFill>
                <a:latin typeface="Noto Sans CJK JP"/>
              </a:rPr>
              <a:t>p側 −   /   n側 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511296"/>
            <a:ext cx="9144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DA8431"/>
                </a:solidFill>
                <a:latin typeface="Noto Sans CJK JP"/>
              </a:rPr>
              <a:t>障壁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69080"/>
            <a:ext cx="21488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191E24"/>
                </a:solidFill>
                <a:latin typeface="Noto Sans CJK JP"/>
              </a:rPr>
              <a:t>空乏層が広くなる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59952" y="4242816"/>
            <a:ext cx="731520" cy="0"/>
          </a:xfrm>
          <a:prstGeom prst="line">
            <a:avLst/>
          </a:prstGeom>
          <a:ln w="25400">
            <a:solidFill>
              <a:srgbClr val="DA84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01200" y="4069080"/>
            <a:ext cx="16002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DA8431"/>
                </a:solidFill>
                <a:latin typeface="Noto Sans CJK JP"/>
              </a:rPr>
              <a:t>電流が流れにくい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773168"/>
            <a:ext cx="4800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5B6774"/>
                </a:solidFill>
                <a:latin typeface="Noto Sans CJK JP"/>
              </a:rPr>
              <a:t>可変容量・定電圧ダイオードなどは逆方向特性も利用する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33872"/>
            <a:ext cx="11082528" cy="402336"/>
          </a:xfrm>
          <a:prstGeom prst="roundRect">
            <a:avLst/>
          </a:prstGeom>
          <a:solidFill>
            <a:srgbClr val="E8EFF8"/>
          </a:solidFill>
          <a:ln>
            <a:solidFill>
              <a:srgbClr val="C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4253F"/>
                </a:solidFill>
                <a:latin typeface="Noto Sans CJK JP"/>
              </a:rPr>
              <a:t>判断の軸：n型=電子 / p型=正孔 → バイアス方向 → 空乏層 → 電流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92240"/>
            <a:ext cx="457200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5B6774"/>
                </a:solidFill>
                <a:latin typeface="Noto Sans CJK JP"/>
              </a:rPr>
              <a:t>電験三種「理論」Topic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5B6774"/>
                </a:solidFill>
                <a:latin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276EB8"/>
                </a:solidFill>
                <a:latin typeface="Noto Sans CJK JP"/>
              </a:rPr>
              <a:t>BJT STATIC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500" b="1">
                <a:solidFill>
                  <a:srgbClr val="14253F"/>
                </a:solidFill>
                <a:latin typeface="Noto Sans CJK JP"/>
              </a:rPr>
              <a:t>BJT静特性は「変化量」で読む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Noto Sans CJK JP"/>
              </a:rPr>
              <a:t>固定過去問：電流増幅率 β と出力抵抗 rₒ をグラフから求める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16152"/>
            <a:ext cx="11365992" cy="18288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6812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43000" y="5330952"/>
            <a:ext cx="5696712" cy="0"/>
          </a:xfrm>
          <a:prstGeom prst="line">
            <a:avLst/>
          </a:prstGeom>
          <a:ln w="22860">
            <a:solidFill>
              <a:srgbClr val="14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43000" y="1965960"/>
            <a:ext cx="0" cy="3364992"/>
          </a:xfrm>
          <a:prstGeom prst="line">
            <a:avLst/>
          </a:prstGeom>
          <a:ln w="22860">
            <a:solidFill>
              <a:srgbClr val="14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2200" y="5413248"/>
            <a:ext cx="64008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1">
                <a:solidFill>
                  <a:srgbClr val="14253F"/>
                </a:solidFill>
                <a:latin typeface="Noto Sans CJK JP"/>
              </a:rPr>
              <a:t>VCE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56231"/>
            <a:ext cx="64008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14253F"/>
                </a:solidFill>
                <a:latin typeface="Noto Sans CJK JP"/>
              </a:rPr>
              <a:t>IC [mA]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92451" y="2103120"/>
            <a:ext cx="0" cy="3227832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1904" y="2103120"/>
            <a:ext cx="0" cy="3227832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91356" y="2103120"/>
            <a:ext cx="0" cy="3227832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40808" y="2103120"/>
            <a:ext cx="0" cy="3227832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90260" y="2103120"/>
            <a:ext cx="0" cy="3227832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3000" y="4657953"/>
            <a:ext cx="5696712" cy="0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" y="3984955"/>
            <a:ext cx="5696712" cy="0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3000" y="3311956"/>
            <a:ext cx="5696712" cy="0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43000" y="2638958"/>
            <a:ext cx="5696712" cy="0"/>
          </a:xfrm>
          <a:prstGeom prst="line">
            <a:avLst/>
          </a:prstGeom>
          <a:ln w="762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17320" y="4700642"/>
            <a:ext cx="865632" cy="63382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82952" y="4663566"/>
            <a:ext cx="865632" cy="37076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48584" y="4637261"/>
            <a:ext cx="865632" cy="26305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14216" y="4616856"/>
            <a:ext cx="865632" cy="20405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79848" y="4600185"/>
            <a:ext cx="865632" cy="16671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745480" y="4586089"/>
            <a:ext cx="865632" cy="14096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06440" y="4467217"/>
            <a:ext cx="86868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276EB8"/>
                </a:solidFill>
                <a:latin typeface="Noto Sans CJK JP"/>
              </a:rPr>
              <a:t>IB=20 μA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417320" y="4105556"/>
            <a:ext cx="865632" cy="82396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82952" y="4057357"/>
            <a:ext cx="865632" cy="48199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148584" y="4023160"/>
            <a:ext cx="865632" cy="34197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014216" y="3996634"/>
            <a:ext cx="865632" cy="26526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79848" y="3974961"/>
            <a:ext cx="865632" cy="21673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45480" y="3956637"/>
            <a:ext cx="865632" cy="18324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06440" y="3837765"/>
            <a:ext cx="86868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276EB8"/>
                </a:solidFill>
                <a:latin typeface="Noto Sans CJK JP"/>
              </a:rPr>
              <a:t>IB=40 μA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417320" y="3537901"/>
            <a:ext cx="865632" cy="101411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82952" y="3478580"/>
            <a:ext cx="865632" cy="59321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148584" y="3436491"/>
            <a:ext cx="865632" cy="42089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14216" y="3403844"/>
            <a:ext cx="865632" cy="32647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79848" y="3377170"/>
            <a:ext cx="865632" cy="26674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45480" y="3354617"/>
            <a:ext cx="865632" cy="22553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806440" y="3235745"/>
            <a:ext cx="86868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276EB8"/>
                </a:solidFill>
                <a:latin typeface="Noto Sans CJK JP"/>
              </a:rPr>
              <a:t>IB=60 μA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1417320" y="2997679"/>
            <a:ext cx="865632" cy="120425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82952" y="2927235"/>
            <a:ext cx="865632" cy="70444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48584" y="2877254"/>
            <a:ext cx="865632" cy="49981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14216" y="2838486"/>
            <a:ext cx="865632" cy="38768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879848" y="2806810"/>
            <a:ext cx="865632" cy="31676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45480" y="2780029"/>
            <a:ext cx="865632" cy="26781"/>
          </a:xfrm>
          <a:prstGeom prst="line">
            <a:avLst/>
          </a:prstGeom>
          <a:ln w="25400">
            <a:solidFill>
              <a:srgbClr val="27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806440" y="2661157"/>
            <a:ext cx="86868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276EB8"/>
                </a:solidFill>
                <a:latin typeface="Noto Sans CJK JP"/>
              </a:rPr>
              <a:t>IB=80 μA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3840480" y="3456432"/>
            <a:ext cx="0" cy="585216"/>
          </a:xfrm>
          <a:prstGeom prst="line">
            <a:avLst/>
          </a:prstGeom>
          <a:ln w="27940">
            <a:solidFill>
              <a:srgbClr val="C34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913632" y="3639312"/>
            <a:ext cx="475488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C3453D"/>
                </a:solidFill>
                <a:latin typeface="Noto Sans CJK JP"/>
              </a:rPr>
              <a:t>ΔIC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0" y="4005072"/>
            <a:ext cx="1417320" cy="0"/>
          </a:xfrm>
          <a:prstGeom prst="line">
            <a:avLst/>
          </a:prstGeom>
          <a:ln w="27940">
            <a:solidFill>
              <a:srgbClr val="DA84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983480" y="3730752"/>
            <a:ext cx="658368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DA8431"/>
                </a:solidFill>
                <a:latin typeface="Noto Sans CJK JP"/>
              </a:rPr>
              <a:t>ΔVCE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44752" y="2139696"/>
            <a:ext cx="1051560" cy="621792"/>
          </a:xfrm>
          <a:prstGeom prst="roundRect">
            <a:avLst/>
          </a:prstGeom>
          <a:solidFill>
            <a:srgbClr val="FDEBE9"/>
          </a:solidFill>
          <a:ln>
            <a:solidFill>
              <a:srgbClr val="EFC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C3453D"/>
                </a:solidFill>
                <a:latin typeface="Noto Sans CJK JP"/>
              </a:rPr>
              <a:t>同じVCEで</a:t>
            </a:r>
            <a:br/>
            <a:r>
              <a:rPr sz="1000" b="1">
                <a:solidFill>
                  <a:srgbClr val="C3453D"/>
                </a:solidFill>
                <a:latin typeface="Noto Sans CJK JP"/>
              </a:rPr>
              <a:t>IBを変える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4920" y="2148840"/>
            <a:ext cx="1325880" cy="621792"/>
          </a:xfrm>
          <a:prstGeom prst="roundRect">
            <a:avLst/>
          </a:prstGeom>
          <a:solidFill>
            <a:srgbClr val="FDF5E8"/>
          </a:solidFill>
          <a:ln>
            <a:solidFill>
              <a:srgbClr val="F0D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DA8431"/>
                </a:solidFill>
                <a:latin typeface="Noto Sans CJK JP"/>
              </a:rPr>
              <a:t>同じIBの曲線上で</a:t>
            </a:r>
            <a:br/>
            <a:r>
              <a:rPr sz="1000" b="1">
                <a:solidFill>
                  <a:srgbClr val="DA8431"/>
                </a:solidFill>
                <a:latin typeface="Noto Sans CJK JP"/>
              </a:rPr>
              <a:t>VCEを変える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1572768"/>
            <a:ext cx="3977639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4253F"/>
                </a:solidFill>
                <a:latin typeface="Noto Sans CJK JP"/>
              </a:rPr>
              <a:t>電流増幅率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1947672"/>
            <a:ext cx="3977639" cy="621792"/>
          </a:xfrm>
          <a:prstGeom prst="roundRect">
            <a:avLst/>
          </a:prstGeom>
          <a:solidFill>
            <a:srgbClr val="E7F0FB"/>
          </a:solidFill>
          <a:ln>
            <a:solidFill>
              <a:srgbClr val="C1D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>
                <a:solidFill>
                  <a:srgbClr val="276EB8"/>
                </a:solidFill>
                <a:latin typeface="Noto Sans CJK JP"/>
              </a:rPr>
              <a:t>β ≈ ΔIC / ΔIB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248" y="2688336"/>
            <a:ext cx="3803904" cy="12161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91E24"/>
                </a:solidFill>
                <a:latin typeface="Noto Sans CJK JP"/>
              </a:rPr>
              <a:t>① VCEを一定にする</a:t>
            </a:r>
            <a:br/>
            <a:r>
              <a:rPr sz="1300" b="0">
                <a:solidFill>
                  <a:srgbClr val="191E24"/>
                </a:solidFill>
                <a:latin typeface="Noto Sans CJK JP"/>
              </a:rPr>
              <a:t>② IBの変化量 ΔIB を読む</a:t>
            </a:r>
            <a:br/>
            <a:r>
              <a:rPr sz="1300" b="0">
                <a:solidFill>
                  <a:srgbClr val="191E24"/>
                </a:solidFill>
                <a:latin typeface="Noto Sans CJK JP"/>
              </a:rPr>
              <a:t>③ ICの変化量 ΔIC を読む</a:t>
            </a:r>
            <a:br/>
            <a:r>
              <a:rPr sz="1300" b="0">
                <a:solidFill>
                  <a:srgbClr val="191E24"/>
                </a:solidFill>
                <a:latin typeface="Noto Sans CJK JP"/>
              </a:rPr>
              <a:t>④ mA / μA をそろえて比を取る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977639"/>
            <a:ext cx="3977639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4253F"/>
                </a:solidFill>
                <a:latin typeface="Noto Sans CJK JP"/>
              </a:rPr>
              <a:t>出力抵抗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35240" y="4352544"/>
            <a:ext cx="3977639" cy="621792"/>
          </a:xfrm>
          <a:prstGeom prst="roundRect">
            <a:avLst/>
          </a:prstGeom>
          <a:solidFill>
            <a:srgbClr val="FDF4E5"/>
          </a:solidFill>
          <a:ln>
            <a:solidFill>
              <a:srgbClr val="EFD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DA8431"/>
                </a:solidFill>
                <a:latin typeface="Noto Sans CJK JP"/>
              </a:rPr>
              <a:t>rₒ ≈ ΔVCE / ΔIC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5093208"/>
            <a:ext cx="3803904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91E24"/>
                </a:solidFill>
                <a:latin typeface="Noto Sans CJK JP"/>
              </a:rPr>
              <a:t>同じIBの曲線で変化量を読む。</a:t>
            </a:r>
            <a:br/>
            <a:r>
              <a:rPr sz="1200" b="0">
                <a:solidFill>
                  <a:srgbClr val="191E24"/>
                </a:solidFill>
                <a:latin typeface="Noto Sans CJK JP"/>
              </a:rPr>
              <a:t>単位は V / A = Ω。</a:t>
            </a:r>
            <a:br/>
            <a:r>
              <a:rPr sz="1200" b="0">
                <a:solidFill>
                  <a:srgbClr val="191E24"/>
                </a:solidFill>
                <a:latin typeface="Noto Sans CJK JP"/>
              </a:rPr>
              <a:t>「ΔIC / ΔVCE」と逆にしない。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457200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5B6774"/>
                </a:solidFill>
                <a:latin typeface="Noto Sans CJK JP"/>
              </a:rPr>
              <a:t>電験三種「理論」Topic 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5B6774"/>
                </a:solidFill>
                <a:latin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276EB8"/>
                </a:solidFill>
                <a:latin typeface="Noto Sans CJK JP"/>
              </a:rPr>
              <a:t>n-CHANNEL JFET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500" b="1">
                <a:solidFill>
                  <a:srgbClr val="14253F"/>
                </a:solidFill>
                <a:latin typeface="Noto Sans CJK JP"/>
              </a:rPr>
              <a:t>逆ゲートバイアス → 空乏層 → チャネル →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Noto Sans CJK JP"/>
              </a:rPr>
              <a:t>pn接合で学んだ空乏層の変化を、そのままJFETの電流制御へつなぐ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16152"/>
            <a:ext cx="11365992" cy="18288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DA8431"/>
                </a:solidFill>
                <a:latin typeface="Noto Sans CJK JP"/>
              </a:rPr>
              <a:t>逆ゲートバイアス</a:t>
            </a:r>
            <a:br/>
            <a:r>
              <a:rPr sz="1500" b="1">
                <a:solidFill>
                  <a:srgbClr val="DA8431"/>
                </a:solidFill>
                <a:latin typeface="Noto Sans CJK JP"/>
              </a:rPr>
              <a:t>を強める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6352" y="1901952"/>
            <a:ext cx="402336" cy="0"/>
          </a:xfrm>
          <a:prstGeom prst="line">
            <a:avLst/>
          </a:prstGeom>
          <a:ln w="2794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0128" y="1481328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7856A6"/>
                </a:solidFill>
                <a:latin typeface="Noto Sans CJK JP"/>
              </a:rPr>
              <a:t>空乏層が</a:t>
            </a:r>
            <a:br/>
            <a:r>
              <a:rPr sz="1500" b="1">
                <a:solidFill>
                  <a:srgbClr val="7856A6"/>
                </a:solidFill>
                <a:latin typeface="Noto Sans CJK JP"/>
              </a:rPr>
              <a:t>広がる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901952"/>
            <a:ext cx="411480" cy="0"/>
          </a:xfrm>
          <a:prstGeom prst="line">
            <a:avLst/>
          </a:prstGeom>
          <a:ln w="2794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1481328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276EB8"/>
                </a:solidFill>
                <a:latin typeface="Noto Sans CJK JP"/>
              </a:rPr>
              <a:t>nチャネルが</a:t>
            </a:r>
            <a:br/>
            <a:r>
              <a:rPr sz="1500" b="1">
                <a:solidFill>
                  <a:srgbClr val="276EB8"/>
                </a:solidFill>
                <a:latin typeface="Noto Sans CJK JP"/>
              </a:rPr>
              <a:t>狭くなる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48472" y="1901952"/>
            <a:ext cx="402336" cy="0"/>
          </a:xfrm>
          <a:prstGeom prst="line">
            <a:avLst/>
          </a:prstGeom>
          <a:ln w="2794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42248" y="1481328"/>
            <a:ext cx="2240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2E8B57"/>
                </a:solidFill>
                <a:latin typeface="Noto Sans CJK JP"/>
              </a:rPr>
              <a:t>ドレーン電流 ID</a:t>
            </a:r>
            <a:br/>
            <a:r>
              <a:rPr sz="1500" b="1">
                <a:solidFill>
                  <a:srgbClr val="2E8B57"/>
                </a:solidFill>
                <a:latin typeface="Noto Sans CJK JP"/>
              </a:rPr>
              <a:t>が減る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70048"/>
            <a:ext cx="4983480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Noto Sans CJK JP"/>
              </a:rPr>
              <a:t>弱い逆バイアス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3794760"/>
            <a:ext cx="4160520" cy="713232"/>
          </a:xfrm>
          <a:prstGeom prst="rect">
            <a:avLst/>
          </a:prstGeom>
          <a:solidFill>
            <a:srgbClr val="DAEAFC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3995928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276EB8"/>
                </a:solidFill>
                <a:latin typeface="Noto Sans CJK JP"/>
              </a:rPr>
              <a:t>n形チャネル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337560"/>
            <a:ext cx="2788920" cy="329184"/>
          </a:xfrm>
          <a:prstGeom prst="rect">
            <a:avLst/>
          </a:prstGeom>
          <a:solidFill>
            <a:srgbClr val="FCDFE0"/>
          </a:solidFill>
          <a:ln>
            <a:solidFill>
              <a:srgbClr val="C3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3383279"/>
            <a:ext cx="123444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C3453D"/>
                </a:solidFill>
                <a:latin typeface="Noto Sans CJK JP"/>
              </a:rPr>
              <a:t>p形ゲート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608576"/>
            <a:ext cx="2788920" cy="329184"/>
          </a:xfrm>
          <a:prstGeom prst="rect">
            <a:avLst/>
          </a:prstGeom>
          <a:solidFill>
            <a:srgbClr val="FCDFE0"/>
          </a:solidFill>
          <a:ln>
            <a:solidFill>
              <a:srgbClr val="C3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96896" y="4654296"/>
            <a:ext cx="123444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C3453D"/>
                </a:solidFill>
                <a:latin typeface="Noto Sans CJK JP"/>
              </a:rPr>
              <a:t>p形ゲート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675887"/>
            <a:ext cx="2788920" cy="137160"/>
          </a:xfrm>
          <a:prstGeom prst="rect">
            <a:avLst/>
          </a:prstGeom>
          <a:solidFill>
            <a:srgbClr val="DB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4498848"/>
            <a:ext cx="2788920" cy="128016"/>
          </a:xfrm>
          <a:prstGeom prst="rect">
            <a:avLst/>
          </a:prstGeom>
          <a:solidFill>
            <a:srgbClr val="DB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32688" y="4160520"/>
            <a:ext cx="484632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0600" y="4160520"/>
            <a:ext cx="484632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986784"/>
            <a:ext cx="256032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Noto Sans CJK JP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986784"/>
            <a:ext cx="256032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Noto Sans CJK JP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965192"/>
            <a:ext cx="169164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Noto Sans CJK JP"/>
              </a:rPr>
              <a:t>ID 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70048"/>
            <a:ext cx="4983480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>
                <a:solidFill>
                  <a:srgbClr val="14253F"/>
                </a:solidFill>
                <a:latin typeface="Noto Sans CJK JP"/>
              </a:rPr>
              <a:t>強い逆バイアス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30175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76288" y="3977639"/>
            <a:ext cx="4160520" cy="329184"/>
          </a:xfrm>
          <a:prstGeom prst="rect">
            <a:avLst/>
          </a:prstGeom>
          <a:solidFill>
            <a:srgbClr val="DAEAFC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4005072"/>
            <a:ext cx="1874519" cy="2194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276EB8"/>
                </a:solidFill>
                <a:latin typeface="Noto Sans CJK JP"/>
              </a:rPr>
              <a:t>狭い n形チャネル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2944" y="3337560"/>
            <a:ext cx="2788920" cy="329184"/>
          </a:xfrm>
          <a:prstGeom prst="rect">
            <a:avLst/>
          </a:prstGeom>
          <a:solidFill>
            <a:srgbClr val="FCDFE0"/>
          </a:solidFill>
          <a:ln>
            <a:solidFill>
              <a:srgbClr val="C3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383279"/>
            <a:ext cx="123444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C3453D"/>
                </a:solidFill>
                <a:latin typeface="Noto Sans CJK JP"/>
              </a:rPr>
              <a:t>p形ゲート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52944" y="4608576"/>
            <a:ext cx="2788920" cy="329184"/>
          </a:xfrm>
          <a:prstGeom prst="rect">
            <a:avLst/>
          </a:prstGeom>
          <a:solidFill>
            <a:srgbClr val="FCDFE0"/>
          </a:solidFill>
          <a:ln>
            <a:solidFill>
              <a:srgbClr val="C3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654296"/>
            <a:ext cx="1234440" cy="1645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C3453D"/>
                </a:solidFill>
                <a:latin typeface="Noto Sans CJK JP"/>
              </a:rPr>
              <a:t>p形ゲート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2944" y="3675887"/>
            <a:ext cx="2788920" cy="310896"/>
          </a:xfrm>
          <a:prstGeom prst="rect">
            <a:avLst/>
          </a:prstGeom>
          <a:solidFill>
            <a:srgbClr val="DB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4306824"/>
            <a:ext cx="2788920" cy="310896"/>
          </a:xfrm>
          <a:prstGeom prst="rect">
            <a:avLst/>
          </a:prstGeom>
          <a:solidFill>
            <a:srgbClr val="DBD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656832" y="4160520"/>
            <a:ext cx="384048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71632" y="4160520"/>
            <a:ext cx="384048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65392" y="3986784"/>
            <a:ext cx="256032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Noto Sans CJK JP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3986784"/>
            <a:ext cx="256032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14253F"/>
                </a:solidFill>
                <a:latin typeface="Noto Sans CJK JP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4965192"/>
            <a:ext cx="169164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Noto Sans CJK JP"/>
              </a:rPr>
              <a:t>ID 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650992"/>
            <a:ext cx="10991088" cy="457200"/>
          </a:xfrm>
          <a:prstGeom prst="roundRect">
            <a:avLst/>
          </a:prstGeom>
          <a:solidFill>
            <a:srgbClr val="FDEBE9"/>
          </a:solidFill>
          <a:ln>
            <a:solidFill>
              <a:srgbClr val="F0C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C3453D"/>
                </a:solidFill>
                <a:latin typeface="Noto Sans CJK JP"/>
              </a:rPr>
              <a:t>誤答注意：逆バイアスを強めると ID は「増える」のではなく減る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457200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5B6774"/>
                </a:solidFill>
                <a:latin typeface="Noto Sans CJK JP"/>
              </a:rPr>
              <a:t>電験三種「理論」Topic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5B6774"/>
                </a:solidFill>
                <a:latin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276EB8"/>
                </a:solidFill>
                <a:latin typeface="Noto Sans CJK JP"/>
              </a:rPr>
              <a:t>EXAM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500" b="1">
                <a:solidFill>
                  <a:srgbClr val="14253F"/>
                </a:solidFill>
                <a:latin typeface="Noto Sans CJK JP"/>
              </a:rPr>
              <a:t>BJT / FET の基本比較と300系への接続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32688"/>
            <a:ext cx="11064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5B6774"/>
                </a:solidFill>
                <a:latin typeface="Noto Sans CJK JP"/>
              </a:rPr>
              <a:t>半導体問題は「素子分類 → 制御量 → キャリア / 空乏層 → 特性」の順で判断する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16152"/>
            <a:ext cx="11365992" cy="18288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2011680" cy="475488"/>
          </a:xfrm>
          <a:prstGeom prst="roundRect">
            <a:avLst/>
          </a:prstGeom>
          <a:solidFill>
            <a:srgbClr val="276EB8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BJT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444752"/>
            <a:ext cx="2011680" cy="475488"/>
          </a:xfrm>
          <a:prstGeom prst="roundRect">
            <a:avLst/>
          </a:prstGeom>
          <a:solidFill>
            <a:srgbClr val="7856A6"/>
          </a:solidFill>
          <a:ln>
            <a:solidFill>
              <a:srgbClr val="7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FET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298448" cy="548640"/>
          </a:xfrm>
          <a:prstGeom prst="rect">
            <a:avLst/>
          </a:prstGeom>
          <a:solidFill>
            <a:srgbClr val="EBEFF4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4253F"/>
                </a:solidFill>
                <a:latin typeface="Noto Sans CJK JP"/>
              </a:rPr>
              <a:t>基本制御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088" y="2011680"/>
            <a:ext cx="1810512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ベース電流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1874519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ゲート電圧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1298448" cy="548640"/>
          </a:xfrm>
          <a:prstGeom prst="rect">
            <a:avLst/>
          </a:prstGeom>
          <a:solidFill>
            <a:srgbClr val="EBEFF4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4253F"/>
                </a:solidFill>
                <a:latin typeface="Noto Sans CJK JP"/>
              </a:rPr>
              <a:t>キャリア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578608"/>
            <a:ext cx="1810512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電子と正孔が関与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578608"/>
            <a:ext cx="1874519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多数キャリアが主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1298448" cy="548640"/>
          </a:xfrm>
          <a:prstGeom prst="rect">
            <a:avLst/>
          </a:prstGeom>
          <a:solidFill>
            <a:srgbClr val="EBEFF4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4253F"/>
                </a:solidFill>
                <a:latin typeface="Noto Sans CJK JP"/>
              </a:rPr>
              <a:t>入力側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7088" y="3145536"/>
            <a:ext cx="1810512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入力電流が必要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145536"/>
            <a:ext cx="1874519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高入力インピーダンス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12464"/>
            <a:ext cx="1298448" cy="548640"/>
          </a:xfrm>
          <a:prstGeom prst="rect">
            <a:avLst/>
          </a:prstGeom>
          <a:solidFill>
            <a:srgbClr val="EBEFF4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4253F"/>
                </a:solidFill>
                <a:latin typeface="Noto Sans CJK JP"/>
              </a:rPr>
              <a:t>固定問の主眼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47088" y="3712464"/>
            <a:ext cx="1810512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静特性・β・rₒ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12464"/>
            <a:ext cx="1874519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191E24"/>
                </a:solidFill>
                <a:latin typeface="Noto Sans CJK JP"/>
              </a:rPr>
              <a:t>分類・チャネル・空乏層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4992624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4253F"/>
                </a:solidFill>
                <a:latin typeface="Noto Sans CJK JP"/>
              </a:rPr>
              <a:t>解法の軸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64608"/>
            <a:ext cx="4992624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1200" b="0">
                <a:solidFill>
                  <a:srgbClr val="191E24"/>
                </a:solidFill>
                <a:latin typeface="Noto Sans CJK JP"/>
              </a:rPr>
              <a:t>1. 素子を分類する</a:t>
            </a:r>
            <a:br/>
            <a:r>
              <a:rPr sz="1200" b="0">
                <a:solidFill>
                  <a:srgbClr val="191E24"/>
                </a:solidFill>
                <a:latin typeface="Noto Sans CJK JP"/>
              </a:rPr>
              <a:t>2. BJT=電流制御 / FET=電圧制御</a:t>
            </a:r>
            <a:br/>
            <a:r>
              <a:rPr sz="1200" b="0">
                <a:solidFill>
                  <a:srgbClr val="191E24"/>
                </a:solidFill>
                <a:latin typeface="Noto Sans CJK JP"/>
              </a:rPr>
              <a:t>3. pn接合ならバイアス→空乏層</a:t>
            </a:r>
            <a:br/>
            <a:r>
              <a:rPr sz="1200" b="0">
                <a:solidFill>
                  <a:srgbClr val="191E24"/>
                </a:solidFill>
                <a:latin typeface="Noto Sans CJK JP"/>
              </a:rPr>
              <a:t>4. グラフは「何を一定にした曲線か」を先に確認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444752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4253F"/>
                </a:solidFill>
                <a:latin typeface="Noto Sans CJK JP"/>
              </a:rPr>
              <a:t>技術史は「入口」だけ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892807"/>
            <a:ext cx="1042415" cy="365760"/>
          </a:xfrm>
          <a:prstGeom prst="roundRect">
            <a:avLst/>
          </a:prstGeom>
          <a:solidFill>
            <a:srgbClr val="276EB8"/>
          </a:solidFill>
          <a:ln>
            <a:solidFill>
              <a:srgbClr val="27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ダイオード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276856"/>
            <a:ext cx="1042415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0">
                <a:solidFill>
                  <a:srgbClr val="5B6774"/>
                </a:solidFill>
                <a:latin typeface="Noto Sans CJK JP"/>
              </a:rPr>
              <a:t>整流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58583" y="2075688"/>
            <a:ext cx="18289" cy="0"/>
          </a:xfrm>
          <a:prstGeom prst="line">
            <a:avLst/>
          </a:prstGeom>
          <a:ln w="1778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13448" y="1892807"/>
            <a:ext cx="1042415" cy="365760"/>
          </a:xfrm>
          <a:prstGeom prst="roundRect">
            <a:avLst/>
          </a:prstGeom>
          <a:solidFill>
            <a:srgbClr val="329CB8"/>
          </a:solidFill>
          <a:ln>
            <a:solidFill>
              <a:srgbClr val="329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サイリスタ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276856"/>
            <a:ext cx="1042415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0">
                <a:solidFill>
                  <a:srgbClr val="5B6774"/>
                </a:solidFill>
                <a:latin typeface="Noto Sans CJK JP"/>
              </a:rPr>
              <a:t>電力制御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74152" y="2075688"/>
            <a:ext cx="18288" cy="0"/>
          </a:xfrm>
          <a:prstGeom prst="line">
            <a:avLst/>
          </a:prstGeom>
          <a:ln w="1778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29016" y="1892807"/>
            <a:ext cx="1042415" cy="365760"/>
          </a:xfrm>
          <a:prstGeom prst="roundRect">
            <a:avLst/>
          </a:prstGeom>
          <a:solidFill>
            <a:srgbClr val="7856A6"/>
          </a:solidFill>
          <a:ln>
            <a:solidFill>
              <a:srgbClr val="7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GTO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2276856"/>
            <a:ext cx="1042415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0">
                <a:solidFill>
                  <a:srgbClr val="5B6774"/>
                </a:solidFill>
                <a:latin typeface="Noto Sans CJK JP"/>
              </a:rPr>
              <a:t>VVVF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9720" y="2075688"/>
            <a:ext cx="18288" cy="0"/>
          </a:xfrm>
          <a:prstGeom prst="line">
            <a:avLst/>
          </a:prstGeom>
          <a:ln w="1778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244584" y="1892807"/>
            <a:ext cx="1042415" cy="365760"/>
          </a:xfrm>
          <a:prstGeom prst="roundRect">
            <a:avLst/>
          </a:prstGeom>
          <a:solidFill>
            <a:srgbClr val="DA8431"/>
          </a:solidFill>
          <a:ln>
            <a:solidFill>
              <a:srgbClr val="DA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IGBT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2276856"/>
            <a:ext cx="1042415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0">
                <a:solidFill>
                  <a:srgbClr val="5B6774"/>
                </a:solidFill>
                <a:latin typeface="Noto Sans CJK JP"/>
              </a:rPr>
              <a:t>高周波スイッチング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305288" y="2075688"/>
            <a:ext cx="18288" cy="0"/>
          </a:xfrm>
          <a:prstGeom prst="line">
            <a:avLst/>
          </a:prstGeom>
          <a:ln w="1778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360152" y="1892807"/>
            <a:ext cx="1042415" cy="36576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SiC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2276856"/>
            <a:ext cx="1042415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0">
                <a:solidFill>
                  <a:srgbClr val="5B6774"/>
                </a:solidFill>
                <a:latin typeface="Noto Sans CJK JP"/>
              </a:rPr>
              <a:t>低損失化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80" y="2798064"/>
            <a:ext cx="5623560" cy="786384"/>
          </a:xfrm>
          <a:prstGeom prst="roundRect">
            <a:avLst/>
          </a:prstGeom>
          <a:solidFill>
            <a:srgbClr val="E8EFF8"/>
          </a:solidFill>
          <a:ln>
            <a:solidFill>
              <a:srgbClr val="CDD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4253F"/>
                </a:solidFill>
                <a:latin typeface="Noto Sans CJK JP"/>
              </a:rPr>
              <a:t>300系のVVVFを入口に、「半導体で電流を制御できる理由」を学ぶ。</a:t>
            </a:r>
            <a:br/>
            <a:r>
              <a:rPr sz="1200" b="1">
                <a:solidFill>
                  <a:srgbClr val="14253F"/>
                </a:solidFill>
                <a:latin typeface="Noto Sans CJK JP"/>
              </a:rPr>
              <a:t>主回路・PWM・出力波形は Topic 13。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785615"/>
            <a:ext cx="562356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4253F"/>
                </a:solidFill>
                <a:latin typeface="Noto Sans CJK JP"/>
              </a:rPr>
              <a:t>固定7問への可視化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4169663"/>
            <a:ext cx="1975104" cy="329184"/>
          </a:xfrm>
          <a:prstGeom prst="rect">
            <a:avLst/>
          </a:prstGeom>
          <a:solidFill>
            <a:srgbClr val="EFF2F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1">
                <a:solidFill>
                  <a:srgbClr val="14253F"/>
                </a:solidFill>
                <a:latin typeface="Noto Sans CJK JP"/>
              </a:rPr>
              <a:t>R7下 問11 / H29 問11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72983" y="4169663"/>
            <a:ext cx="3648456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0">
                <a:solidFill>
                  <a:srgbClr val="191E24"/>
                </a:solidFill>
                <a:latin typeface="Noto Sans CJK JP"/>
              </a:rPr>
              <a:t>pn接合・ダイオード → Slide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4517136"/>
            <a:ext cx="1975104" cy="329184"/>
          </a:xfrm>
          <a:prstGeom prst="rect">
            <a:avLst/>
          </a:prstGeom>
          <a:solidFill>
            <a:srgbClr val="EFF2F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1">
                <a:solidFill>
                  <a:srgbClr val="14253F"/>
                </a:solidFill>
                <a:latin typeface="Noto Sans CJK JP"/>
              </a:rPr>
              <a:t>R7上 問13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2983" y="4517136"/>
            <a:ext cx="3648456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0">
                <a:solidFill>
                  <a:srgbClr val="191E24"/>
                </a:solidFill>
                <a:latin typeface="Noto Sans CJK JP"/>
              </a:rPr>
              <a:t>BJT静特性・β・rₒ → Slide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4864607"/>
            <a:ext cx="1975104" cy="329184"/>
          </a:xfrm>
          <a:prstGeom prst="rect">
            <a:avLst/>
          </a:prstGeom>
          <a:solidFill>
            <a:srgbClr val="EFF2F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1">
                <a:solidFill>
                  <a:srgbClr val="14253F"/>
                </a:solidFill>
                <a:latin typeface="Noto Sans CJK JP"/>
              </a:rPr>
              <a:t>R6下 問11 / R4上 問11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72983" y="4864607"/>
            <a:ext cx="3648456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0">
                <a:solidFill>
                  <a:srgbClr val="191E24"/>
                </a:solidFill>
                <a:latin typeface="Noto Sans CJK JP"/>
              </a:rPr>
              <a:t>FET分類・JFET因果 → Slides 3–4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5212079"/>
            <a:ext cx="1975104" cy="329184"/>
          </a:xfrm>
          <a:prstGeom prst="rect">
            <a:avLst/>
          </a:prstGeom>
          <a:solidFill>
            <a:srgbClr val="EFF2F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1">
                <a:solidFill>
                  <a:srgbClr val="14253F"/>
                </a:solidFill>
                <a:latin typeface="Noto Sans CJK JP"/>
              </a:rPr>
              <a:t>R6上 問11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72983" y="5212079"/>
            <a:ext cx="3648456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0">
                <a:solidFill>
                  <a:srgbClr val="191E24"/>
                </a:solidFill>
                <a:latin typeface="Noto Sans CJK JP"/>
              </a:rPr>
              <a:t>BJT/FET比較 → Slide 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5559551"/>
            <a:ext cx="1975104" cy="329184"/>
          </a:xfrm>
          <a:prstGeom prst="rect">
            <a:avLst/>
          </a:prstGeom>
          <a:solidFill>
            <a:srgbClr val="EFF2F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1">
                <a:solidFill>
                  <a:srgbClr val="14253F"/>
                </a:solidFill>
                <a:latin typeface="Noto Sans CJK JP"/>
              </a:rPr>
              <a:t>H28 問11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72983" y="5559551"/>
            <a:ext cx="3648456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/>
            <a:r>
              <a:rPr sz="900" b="0">
                <a:solidFill>
                  <a:srgbClr val="191E24"/>
                </a:solidFill>
                <a:latin typeface="Noto Sans CJK JP"/>
              </a:rPr>
              <a:t>真性/不純物・p/n・キャリア → Slide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989320"/>
            <a:ext cx="562356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Noto Sans CJK JP"/>
              </a:rPr>
              <a:t>固定7問要求：7 / 7 を独自模式図で可視化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492240"/>
            <a:ext cx="4572000" cy="201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5B6774"/>
                </a:solidFill>
                <a:latin typeface="Noto Sans CJK JP"/>
              </a:rPr>
              <a:t>電験三種「理論」Topic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5B6774"/>
                </a:solidFill>
                <a:latin typeface="Noto Sans CJK JP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nimal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inimal">
      <a:fillStyleLst/>
      <a:lnStyleLst/>
      <a:effectStyleLst/>
      <a:bgFillStyleLst/>
    </a:fmtScheme>
  </a:themeElements>
</a:theme>
</file>