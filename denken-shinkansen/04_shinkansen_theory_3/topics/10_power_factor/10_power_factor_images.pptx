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 type="screen16x9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 txBox="1"/>
          <p:nvPr/>
        </p:nvSpPr>
        <p:spPr>
          <a:xfrm>
            <a:off x="500000" y="300000"/>
            <a:ext cx="11100000" cy="7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3000" b="1"/>
              <a:t>Wだけでは足りない：P・Q・Sと力率</a:t>
            </a:r>
            <a:endParaRPr lang="ja-JP" sz="3000"/>
          </a:p>
        </p:txBody>
      </p:sp>
      <p:sp>
        <p:nvSpPr>
          <p:cNvPr id="3" name="s3"/>
          <p:cNvSpPr txBox="1"/>
          <p:nvPr/>
        </p:nvSpPr>
        <p:spPr>
          <a:xfrm>
            <a:off x="500000" y="1300000"/>
            <a:ext cx="11100000" cy="50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100" b="0"/>
              <a:t>有効電力 P [W]　無効電力 Q [var]　皮相電力 S [VA]</a:t>
            </a:r>
            <a:endParaRPr lang="ja-JP" sz="2100"/>
          </a:p>
          <a:p>
            <a:r>
              <a:rPr lang="ja-JP" sz="2100" b="0"/>
              <a:t>P = VI cosφ　Q = VI sinφ　S = VI</a:t>
            </a:r>
            <a:endParaRPr lang="ja-JP" sz="2100"/>
          </a:p>
          <a:p>
            <a:r>
              <a:rPr lang="ja-JP" sz="2100" b="0"/>
              <a:t>S² = P² + Q²　cosφ = P / S</a:t>
            </a:r>
            <a:endParaRPr lang="ja-JP" sz="2100"/>
          </a:p>
          <a:p>
            <a:r>
              <a:rPr lang="ja-JP" sz="2100" b="0"/>
              <a:t>P・Qは直交成分。交流設備はWだけで容量を決められない。</a:t>
            </a:r>
            <a:endParaRPr lang="ja-JP" sz="2100"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 txBox="1"/>
          <p:nvPr/>
        </p:nvSpPr>
        <p:spPr>
          <a:xfrm>
            <a:off x="500000" y="300000"/>
            <a:ext cx="11100000" cy="7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3000" b="1"/>
              <a:t>同じWでも、力率が低いと電流が増える</a:t>
            </a:r>
            <a:endParaRPr lang="ja-JP" sz="3000"/>
          </a:p>
        </p:txBody>
      </p:sp>
      <p:sp>
        <p:nvSpPr>
          <p:cNvPr id="3" name="s3"/>
          <p:cNvSpPr txBox="1"/>
          <p:nvPr/>
        </p:nvSpPr>
        <p:spPr>
          <a:xfrm>
            <a:off x="500000" y="1300000"/>
            <a:ext cx="11100000" cy="50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100" b="0"/>
              <a:t>I = P / (V cosφ)　S = P / cosφ</a:t>
            </a:r>
            <a:endParaRPr lang="ja-JP" sz="2100"/>
          </a:p>
          <a:p>
            <a:r>
              <a:rPr lang="ja-JP" sz="2100" b="0"/>
              <a:t>教材用例 P=8.0kW, V=200V</a:t>
            </a:r>
            <a:endParaRPr lang="ja-JP" sz="2100"/>
          </a:p>
          <a:p>
            <a:r>
              <a:rPr lang="ja-JP" sz="2100" b="0"/>
              <a:t>力率1.0 → I=40A, S=8.0kVA</a:t>
            </a:r>
            <a:endParaRPr lang="ja-JP" sz="2100"/>
          </a:p>
          <a:p>
            <a:r>
              <a:rPr lang="ja-JP" sz="2100" b="0"/>
              <a:t>力率0.8 → I=50A, S=10.0kVA</a:t>
            </a:r>
            <a:endParaRPr lang="ja-JP" sz="2100"/>
          </a:p>
          <a:p>
            <a:r>
              <a:rPr lang="ja-JP" sz="2100" b="0"/>
              <a:t>新幹線との接続は一般原理まで。未確認の実車力率・Q・補償方式は置かない。</a:t>
            </a:r>
            <a:endParaRPr lang="ja-JP" sz="2100"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 txBox="1"/>
          <p:nvPr/>
        </p:nvSpPr>
        <p:spPr>
          <a:xfrm>
            <a:off x="500000" y="300000"/>
            <a:ext cx="11100000" cy="7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3000" b="1"/>
              <a:t>電流成分とR−XL回路で力率を読む</a:t>
            </a:r>
            <a:endParaRPr lang="ja-JP" sz="3000"/>
          </a:p>
        </p:txBody>
      </p:sp>
      <p:sp>
        <p:nvSpPr>
          <p:cNvPr id="3" name="s3"/>
          <p:cNvSpPr txBox="1"/>
          <p:nvPr/>
        </p:nvSpPr>
        <p:spPr>
          <a:xfrm>
            <a:off x="500000" y="1300000"/>
            <a:ext cx="11100000" cy="50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100" b="0"/>
              <a:t>IP = I cosφ　IQ = I sinφ　I = √(IP² + IQ²)</a:t>
            </a:r>
            <a:endParaRPr lang="ja-JP" sz="2100"/>
          </a:p>
          <a:p>
            <a:r>
              <a:rPr lang="ja-JP" sz="2100" b="0"/>
              <a:t>並列抵抗：Inew = √{(IP+IR)² + IQ²}</a:t>
            </a:r>
            <a:endParaRPr lang="ja-JP" sz="2100"/>
          </a:p>
          <a:p>
            <a:r>
              <a:rPr lang="ja-JP" sz="2100" b="0"/>
              <a:t>|Z| = √(R² + XL²)　cosφ = R / |Z|</a:t>
            </a:r>
            <a:endParaRPr lang="ja-JP" sz="2100"/>
          </a:p>
          <a:p>
            <a:r>
              <a:rPr lang="ja-JP" sz="2100" b="0"/>
              <a:t>P = I²R　Q = I²X　純リアクタンス枝 Q = V²/X</a:t>
            </a:r>
            <a:endParaRPr lang="ja-JP" sz="2100"/>
          </a:p>
          <a:p>
            <a:r>
              <a:rPr lang="ja-JP" sz="2100" b="0"/>
              <a:t>R7上 問9 / R5上 問9 / H26 問15(a)(b) / H24 問8</a:t>
            </a:r>
            <a:endParaRPr lang="ja-JP" sz="2100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 txBox="1"/>
          <p:nvPr/>
        </p:nvSpPr>
        <p:spPr>
          <a:xfrm>
            <a:off x="500000" y="300000"/>
            <a:ext cx="11100000" cy="7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3000" b="1"/>
              <a:t>力率改善と固定過去問の解法ルート</a:t>
            </a:r>
            <a:endParaRPr lang="ja-JP" sz="3000"/>
          </a:p>
        </p:txBody>
      </p:sp>
      <p:sp>
        <p:nvSpPr>
          <p:cNvPr id="3" name="s3"/>
          <p:cNvSpPr txBox="1"/>
          <p:nvPr/>
        </p:nvSpPr>
        <p:spPr>
          <a:xfrm>
            <a:off x="500000" y="1300000"/>
            <a:ext cx="11100000" cy="50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ja-JP" sz="2100" b="0"/>
              <a:t>並列：Q1=P tanφ1　Q2=P tanφ2　QC=Q1−Q2　XC=V²/QC</a:t>
            </a:r>
            <a:endParaRPr lang="ja-JP" sz="2100"/>
          </a:p>
          <a:p>
            <a:r>
              <a:rPr lang="ja-JP" sz="2100" b="0"/>
              <a:t>直列R−L−C：Z=R+j(XL−XC)　XC=R(tanφ1−tanφ2)</a:t>
            </a:r>
            <a:endParaRPr lang="ja-JP" sz="2100"/>
          </a:p>
          <a:p>
            <a:r>
              <a:rPr lang="ja-JP" sz="2100" b="0"/>
              <a:t>固定5過去問・6答案要素 → 6 / 6</a:t>
            </a:r>
            <a:endParaRPr lang="ja-JP" sz="2100"/>
          </a:p>
          <a:p>
            <a:r>
              <a:rPr lang="ja-JP" sz="2100" b="0"/>
              <a:t>R7上 問9 / R5上 問9 / H26 問15(a)(b) / H24 問8 / H22 問8</a:t>
            </a:r>
            <a:endParaRPr lang="ja-JP" sz="2100"/>
          </a:p>
          <a:p>
            <a:r>
              <a:rPr lang="ja-JP" sz="2100" b="0"/>
              <a:t>境界：三相・Y/Δ・半導体・PWM・高調波・未確認実車値は追加しない。</a:t>
            </a:r>
            <a:endParaRPr lang="ja-JP" sz="2100"/>
          </a:p>
        </p:txBody>
      </p:sp>
    </p:spTree>
  </p:cSld>
</p:sld>
</file>