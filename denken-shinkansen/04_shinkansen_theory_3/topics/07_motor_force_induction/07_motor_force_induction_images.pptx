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0000" y="220000"/>
            <a:ext cx="11300000" cy="65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l"/>
            <a:r>
              <a:rPr lang="ja-JP" sz="2700" b="1">
                <a:solidFill>
                  <a:srgbClr val="163B65"/>
                </a:solidFill>
                <a:latin typeface="Noto Sans CJK JP"/>
                <a:ea typeface="Noto Sans CJK JP"/>
              </a:rPr>
              <a:t>モーターは「磁界中の電流に働く力」で回る</a:t>
            </a:r>
            <a:endParaRPr lang="ja-JP" sz="2700"/>
          </a:p>
        </p:txBody>
      </p:sp>
      <p:sp>
        <p:nvSpPr>
          <p:cNvPr id="3" name="formula"/>
          <p:cNvSpPr/>
          <p:nvPr/>
        </p:nvSpPr>
        <p:spPr>
          <a:xfrm>
            <a:off x="650000" y="1150000"/>
            <a:ext cx="3600000" cy="9000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8DB4D6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2500" b="1">
                <a:solidFill>
                  <a:srgbClr val="163B65"/>
                </a:solidFill>
                <a:latin typeface="Noto Sans CJK JP"/>
                <a:ea typeface="Noto Sans CJK JP"/>
              </a:rPr>
              <a:t>F = B I l sinθ</a:t>
            </a:r>
            <a:endParaRPr lang="ja-JP" sz="2500"/>
          </a:p>
        </p:txBody>
      </p:sp>
      <p:sp>
        <p:nvSpPr>
          <p:cNvPr id="4" name="conditions"/>
          <p:cNvSpPr/>
          <p:nvPr/>
        </p:nvSpPr>
        <p:spPr>
          <a:xfrm>
            <a:off x="650000" y="2200000"/>
            <a:ext cx="360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20000" rIns="120000" tIns="120000" bIns="120000" anchor="ctr"/>
          <a:lstStyle/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B：磁束密度 [T]</a:t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I：電流 [A]　l：有効長 [m]</a:t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θ：電流と磁界の角度</a:t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θ=0° → F=0</a:t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θ=90° → F最大</a:t>
            </a:r>
            <a:endParaRPr lang="ja-JP" sz="1500"/>
          </a:p>
        </p:txBody>
      </p:sp>
      <p:sp>
        <p:nvSpPr>
          <p:cNvPr id="5" name="left"/>
          <p:cNvSpPr/>
          <p:nvPr/>
        </p:nvSpPr>
        <p:spPr>
          <a:xfrm>
            <a:off x="4900000" y="1120000"/>
            <a:ext cx="3000000" cy="15000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5C15D"/>
            </a:solidFill>
          </a:ln>
        </p:spPr>
        <p:txBody>
          <a:bodyPr wrap="square" lIns="120000" rIns="120000" tIns="120000" bIns="120000" anchor="ctr"/>
          <a:lstStyle/>
          <a:p>
            <a:pPr algn="l"/>
            <a:r>
              <a:rPr lang="ja-JP" sz="1550" b="1">
                <a:solidFill>
                  <a:srgbClr val="7A4A00"/>
                </a:solidFill>
                <a:latin typeface="Noto Sans CJK JP"/>
                <a:ea typeface="Noto Sans CJK JP"/>
              </a:rPr>
              <a:t>フレミング左手則</a:t>
            </a:r>
            <a:endParaRPr lang="ja-JP" sz="1550"/>
          </a:p>
          <a:p>
            <a:pPr algn="l"/>
            <a:r>
              <a:rPr lang="ja-JP" sz="1550" b="1">
                <a:solidFill>
                  <a:srgbClr val="7A4A00"/>
                </a:solidFill>
                <a:latin typeface="Noto Sans CJK JP"/>
                <a:ea typeface="Noto Sans CJK JP"/>
              </a:rPr>
              <a:t>人差し指：磁界 B</a:t>
            </a:r>
            <a:endParaRPr lang="ja-JP" sz="1550"/>
          </a:p>
          <a:p>
            <a:pPr algn="l"/>
            <a:r>
              <a:rPr lang="ja-JP" sz="1550" b="1">
                <a:solidFill>
                  <a:srgbClr val="7A4A00"/>
                </a:solidFill>
                <a:latin typeface="Noto Sans CJK JP"/>
                <a:ea typeface="Noto Sans CJK JP"/>
              </a:rPr>
              <a:t>中指　　：電流 I</a:t>
            </a:r>
            <a:endParaRPr lang="ja-JP" sz="1550"/>
          </a:p>
          <a:p>
            <a:pPr algn="l"/>
            <a:r>
              <a:rPr lang="ja-JP" sz="1550" b="1">
                <a:solidFill>
                  <a:srgbClr val="7A4A00"/>
                </a:solidFill>
                <a:latin typeface="Noto Sans CJK JP"/>
                <a:ea typeface="Noto Sans CJK JP"/>
              </a:rPr>
              <a:t>親指　　：力 F</a:t>
            </a:r>
            <a:endParaRPr lang="ja-JP" sz="1550"/>
          </a:p>
        </p:txBody>
      </p:sp>
      <p:sp>
        <p:nvSpPr>
          <p:cNvPr id="6" name="parallel"/>
          <p:cNvSpPr/>
          <p:nvPr/>
        </p:nvSpPr>
        <p:spPr>
          <a:xfrm>
            <a:off x="4900000" y="3000000"/>
            <a:ext cx="6100000" cy="180000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7BC99A"/>
            </a:solidFill>
          </a:ln>
        </p:spPr>
        <p:txBody>
          <a:bodyPr wrap="square" lIns="120000" rIns="120000" tIns="120000" bIns="120000" anchor="ctr"/>
          <a:lstStyle/>
          <a:p>
            <a:pPr algn="l"/>
            <a:r>
              <a:rPr lang="ja-JP" sz="1450" b="0">
                <a:solidFill>
                  <a:srgbClr val="166534"/>
                </a:solidFill>
                <a:latin typeface="Noto Sans CJK JP"/>
                <a:ea typeface="Noto Sans CJK JP"/>
              </a:rPr>
              <a:t>平行導体間の力</a:t>
            </a:r>
            <a:endParaRPr lang="ja-JP" sz="1450"/>
          </a:p>
          <a:p>
            <a:pPr algn="l"/>
            <a:r>
              <a:rPr lang="ja-JP" sz="1450" b="0">
                <a:solidFill>
                  <a:srgbClr val="166534"/>
                </a:solidFill>
                <a:latin typeface="Noto Sans CJK JP"/>
                <a:ea typeface="Noto Sans CJK JP"/>
              </a:rPr>
              <a:t>同方向電流 → 引力　　逆方向電流 → 反発力</a:t>
            </a:r>
            <a:endParaRPr lang="ja-JP" sz="1450"/>
          </a:p>
          <a:p>
            <a:pPr algn="l"/>
            <a:r>
              <a:rPr lang="ja-JP" sz="1450" b="0">
                <a:solidFill>
                  <a:srgbClr val="166534"/>
                </a:solidFill>
                <a:latin typeface="Noto Sans CJK JP"/>
                <a:ea typeface="Noto Sans CJK JP"/>
              </a:rPr>
              <a:t>F / l = μ I₁ I₂ / (2πr)</a:t>
            </a:r>
            <a:endParaRPr lang="ja-JP" sz="1450"/>
          </a:p>
          <a:p>
            <a:pPr algn="l"/>
            <a:r>
              <a:rPr lang="ja-JP" sz="1450" b="0">
                <a:solidFill>
                  <a:srgbClr val="166534"/>
                </a:solidFill>
                <a:latin typeface="Noto Sans CJK JP"/>
                <a:ea typeface="Noto Sans CJK JP"/>
              </a:rPr>
              <a:t>「一方の導体が作る磁界」に他方の電流を置くと再構成できる</a:t>
            </a:r>
            <a:endParaRPr lang="ja-JP" sz="1450"/>
          </a:p>
        </p:txBody>
      </p:sp>
      <p:sp>
        <p:nvSpPr>
          <p:cNvPr id="7" name="footer"/>
          <p:cNvSpPr/>
          <p:nvPr/>
        </p:nvSpPr>
        <p:spPr>
          <a:xfrm>
            <a:off x="450000" y="6460000"/>
            <a:ext cx="11200000" cy="18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l"/>
            <a:r>
              <a:rPr lang="ja-JP" sz="750" b="0">
                <a:solidFill>
                  <a:srgbClr val="667085"/>
                </a:solidFill>
                <a:latin typeface="Noto Sans CJK JP"/>
                <a:ea typeface="Noto Sans CJK JP"/>
              </a:rPr>
              <a:t>電験三種 理論｜Topic 07　　　　　　　　　　　　　　　　　　　　　　　　　1/4</a:t>
            </a:r>
            <a:endParaRPr lang="ja-JP" sz="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0000" y="220000"/>
            <a:ext cx="11300000" cy="65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l"/>
            <a:r>
              <a:rPr lang="ja-JP" sz="2700" b="1">
                <a:solidFill>
                  <a:srgbClr val="163B65"/>
                </a:solidFill>
                <a:latin typeface="Noto Sans CJK JP"/>
                <a:ea typeface="Noto Sans CJK JP"/>
              </a:rPr>
              <a:t>コイルでは「合力0」でも回転できる</a:t>
            </a:r>
            <a:endParaRPr lang="ja-JP" sz="2700"/>
          </a:p>
        </p:txBody>
      </p:sp>
      <p:sp>
        <p:nvSpPr>
          <p:cNvPr id="3" name="forceL"/>
          <p:cNvSpPr/>
          <p:nvPr/>
        </p:nvSpPr>
        <p:spPr>
          <a:xfrm>
            <a:off x="700000" y="1700000"/>
            <a:ext cx="2400000" cy="9000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8DB4D6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2500" b="1">
                <a:solidFill>
                  <a:srgbClr val="163B65"/>
                </a:solidFill>
                <a:latin typeface="Noto Sans CJK JP"/>
                <a:ea typeface="Noto Sans CJK JP"/>
              </a:rPr>
              <a:t>F ↑</a:t>
            </a:r>
            <a:endParaRPr lang="ja-JP" sz="2500"/>
          </a:p>
        </p:txBody>
      </p:sp>
      <p:sp>
        <p:nvSpPr>
          <p:cNvPr id="4" name="coil"/>
          <p:cNvSpPr/>
          <p:nvPr/>
        </p:nvSpPr>
        <p:spPr>
          <a:xfrm>
            <a:off x="4300000" y="1400000"/>
            <a:ext cx="36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085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1750" b="1">
                <a:solidFill>
                  <a:srgbClr val="344054"/>
                </a:solidFill>
                <a:latin typeface="Noto Sans CJK JP"/>
                <a:ea typeface="Noto Sans CJK JP"/>
              </a:rPr>
              <a:t>電流ループ</a:t>
            </a:r>
            <a:endParaRPr lang="ja-JP" sz="1750"/>
          </a:p>
          <a:p>
            <a:pPr algn="ctr"/>
            <a:r>
              <a:rPr lang="ja-JP" sz="1750" b="1">
                <a:solidFill>
                  <a:srgbClr val="344054"/>
                </a:solidFill>
                <a:latin typeface="Noto Sans CJK JP"/>
                <a:ea typeface="Noto Sans CJK JP"/>
              </a:rPr>
              <a:t>対向辺に等大・逆向きの力</a:t>
            </a:r>
            <a:endParaRPr lang="ja-JP" sz="1750"/>
          </a:p>
        </p:txBody>
      </p:sp>
      <p:sp>
        <p:nvSpPr>
          <p:cNvPr id="5" name="forceR"/>
          <p:cNvSpPr/>
          <p:nvPr/>
        </p:nvSpPr>
        <p:spPr>
          <a:xfrm>
            <a:off x="9300000" y="1700000"/>
            <a:ext cx="2400000" cy="9000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8DB4D6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2500" b="1">
                <a:solidFill>
                  <a:srgbClr val="163B65"/>
                </a:solidFill>
                <a:latin typeface="Noto Sans CJK JP"/>
                <a:ea typeface="Noto Sans CJK JP"/>
              </a:rPr>
              <a:t>F ↓</a:t>
            </a:r>
            <a:endParaRPr lang="ja-JP" sz="2500"/>
          </a:p>
        </p:txBody>
      </p:sp>
      <p:sp>
        <p:nvSpPr>
          <p:cNvPr id="6" name="arrow"/>
          <p:cNvSpPr/>
          <p:nvPr/>
        </p:nvSpPr>
        <p:spPr>
          <a:xfrm>
            <a:off x="8050000" y="1750000"/>
            <a:ext cx="900000" cy="70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ctr"/>
            <a:r>
              <a:rPr lang="ja-JP" sz="2800" b="1">
                <a:solidFill>
                  <a:srgbClr val="475467"/>
                </a:solidFill>
                <a:latin typeface="Noto Sans CJK JP"/>
                <a:ea typeface="Noto Sans CJK JP"/>
              </a:rPr>
              <a:t>↻</a:t>
            </a:r>
            <a:endParaRPr lang="ja-JP" sz="2800"/>
          </a:p>
        </p:txBody>
      </p:sp>
      <p:sp>
        <p:nvSpPr>
          <p:cNvPr id="7" name="torque"/>
          <p:cNvSpPr/>
          <p:nvPr/>
        </p:nvSpPr>
        <p:spPr>
          <a:xfrm>
            <a:off x="1200000" y="3550000"/>
            <a:ext cx="4300000" cy="13500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5C15D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1900" b="1">
                <a:solidFill>
                  <a:srgbClr val="7A4A00"/>
                </a:solidFill>
                <a:latin typeface="Noto Sans CJK JP"/>
                <a:ea typeface="Noto Sans CJK JP"/>
              </a:rPr>
              <a:t>τ = N I A B sinφ</a:t>
            </a:r>
            <a:endParaRPr lang="ja-JP" sz="1900"/>
          </a:p>
          <a:p>
            <a:pPr algn="ctr"/>
            <a:r>
              <a:rPr lang="ja-JP" sz="1900" b="1">
                <a:solidFill>
                  <a:srgbClr val="7A4A00"/>
                </a:solidFill>
                <a:latin typeface="Noto Sans CJK JP"/>
                <a:ea typeface="Noto Sans CJK JP"/>
              </a:rPr>
              <a:t>φ：コイル面の法線と B の角度</a:t>
            </a:r>
            <a:endParaRPr lang="ja-JP" sz="1900"/>
          </a:p>
        </p:txBody>
      </p:sp>
      <p:sp>
        <p:nvSpPr>
          <p:cNvPr id="8" name="point"/>
          <p:cNvSpPr/>
          <p:nvPr/>
        </p:nvSpPr>
        <p:spPr>
          <a:xfrm>
            <a:off x="6500000" y="3450000"/>
            <a:ext cx="4800000" cy="165000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7BC99A"/>
            </a:solidFill>
          </a:ln>
        </p:spPr>
        <p:txBody>
          <a:bodyPr wrap="square" lIns="120000" rIns="120000" tIns="120000" bIns="120000" anchor="ctr"/>
          <a:lstStyle/>
          <a:p>
            <a:pPr algn="l"/>
            <a:r>
              <a:rPr lang="ja-JP" sz="1550" b="0">
                <a:solidFill>
                  <a:srgbClr val="166534"/>
                </a:solidFill>
                <a:latin typeface="Noto Sans CJK JP"/>
                <a:ea typeface="Noto Sans CJK JP"/>
              </a:rPr>
              <a:t>合力が0でもモーメントは残る</a:t>
            </a:r>
            <a:endParaRPr lang="ja-JP" sz="1550"/>
          </a:p>
          <a:p>
            <a:pPr algn="l"/>
            <a:r>
              <a:rPr lang="ja-JP" sz="1550" b="0">
                <a:solidFill>
                  <a:srgbClr val="166534"/>
                </a:solidFill>
                <a:latin typeface="Noto Sans CJK JP"/>
                <a:ea typeface="Noto Sans CJK JP"/>
              </a:rPr>
              <a:t>→ 偶力が回転トルクを生む</a:t>
            </a:r>
            <a:endParaRPr lang="ja-JP" sz="1550"/>
          </a:p>
          <a:p>
            <a:pPr algn="l"/>
            <a:r>
              <a:rPr lang="ja-JP" sz="1550" b="0">
                <a:solidFill>
                  <a:srgbClr val="166534"/>
                </a:solidFill>
                <a:latin typeface="Noto Sans CJK JP"/>
                <a:ea typeface="Noto Sans CJK JP"/>
              </a:rPr>
              <a:t/>
            </a:r>
            <a:endParaRPr lang="ja-JP" sz="1550"/>
          </a:p>
          <a:p>
            <a:pPr algn="l"/>
            <a:r>
              <a:rPr lang="ja-JP" sz="1550" b="0">
                <a:solidFill>
                  <a:srgbClr val="166534"/>
                </a:solidFill>
                <a:latin typeface="Noto Sans CJK JP"/>
                <a:ea typeface="Noto Sans CJK JP"/>
              </a:rPr>
              <a:t>最大トルク：sinφ = 1</a:t>
            </a:r>
            <a:endParaRPr lang="ja-JP" sz="1550"/>
          </a:p>
        </p:txBody>
      </p:sp>
      <p:sp>
        <p:nvSpPr>
          <p:cNvPr id="9" name="footer"/>
          <p:cNvSpPr/>
          <p:nvPr/>
        </p:nvSpPr>
        <p:spPr>
          <a:xfrm>
            <a:off x="450000" y="6460000"/>
            <a:ext cx="11200000" cy="18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l"/>
            <a:r>
              <a:rPr lang="ja-JP" sz="750" b="0">
                <a:solidFill>
                  <a:srgbClr val="667085"/>
                </a:solidFill>
                <a:latin typeface="Noto Sans CJK JP"/>
                <a:ea typeface="Noto Sans CJK JP"/>
              </a:rPr>
              <a:t>電験三種 理論｜Topic 07　　　　　　　　　　　　　　　　　　　　　　　　　2/4</a:t>
            </a:r>
            <a:endParaRPr lang="ja-JP" sz="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0000" y="220000"/>
            <a:ext cx="11300000" cy="65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l"/>
            <a:r>
              <a:rPr lang="ja-JP" sz="2700" b="1">
                <a:solidFill>
                  <a:srgbClr val="163B65"/>
                </a:solidFill>
                <a:latin typeface="Noto Sans CJK JP"/>
                <a:ea typeface="Noto Sans CJK JP"/>
              </a:rPr>
              <a:t>同じ磁気現象を「粒子」と「運動導体」から見る</a:t>
            </a:r>
            <a:endParaRPr lang="ja-JP" sz="2700"/>
          </a:p>
        </p:txBody>
      </p:sp>
      <p:sp>
        <p:nvSpPr>
          <p:cNvPr id="3" name="lorentz"/>
          <p:cNvSpPr/>
          <p:nvPr/>
        </p:nvSpPr>
        <p:spPr>
          <a:xfrm>
            <a:off x="650000" y="1150000"/>
            <a:ext cx="5200000" cy="12000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8DB4D6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2100" b="1">
                <a:solidFill>
                  <a:srgbClr val="163B65"/>
                </a:solidFill>
                <a:latin typeface="Noto Sans CJK JP"/>
                <a:ea typeface="Noto Sans CJK JP"/>
              </a:rPr>
              <a:t>ローレンツ力</a:t>
            </a:r>
            <a:endParaRPr lang="ja-JP" sz="2100"/>
          </a:p>
          <a:p>
            <a:pPr algn="ctr"/>
            <a:r>
              <a:rPr lang="ja-JP" sz="2100" b="1">
                <a:solidFill>
                  <a:srgbClr val="163B65"/>
                </a:solidFill>
                <a:latin typeface="Noto Sans CJK JP"/>
                <a:ea typeface="Noto Sans CJK JP"/>
              </a:rPr>
              <a:t>F = |q| v B sinθ</a:t>
            </a:r>
            <a:endParaRPr lang="ja-JP" sz="2100"/>
          </a:p>
        </p:txBody>
      </p:sp>
      <p:sp>
        <p:nvSpPr>
          <p:cNvPr id="4" name="lorentz2"/>
          <p:cNvSpPr/>
          <p:nvPr/>
        </p:nvSpPr>
        <p:spPr>
          <a:xfrm>
            <a:off x="650000" y="2550000"/>
            <a:ext cx="5200000" cy="2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20000" rIns="120000" tIns="120000" bIns="120000" anchor="ctr"/>
          <a:lstStyle/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正電荷：v × B の向き</a:t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負電荷：その逆向き</a:t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/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v ⟂ B なら力は常に速度に直角</a:t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→ 速さを変えず円運動</a:t>
            </a:r>
            <a:endParaRPr lang="ja-JP" sz="1500"/>
          </a:p>
        </p:txBody>
      </p:sp>
      <p:sp>
        <p:nvSpPr>
          <p:cNvPr id="5" name="emf"/>
          <p:cNvSpPr/>
          <p:nvPr/>
        </p:nvSpPr>
        <p:spPr>
          <a:xfrm>
            <a:off x="6500000" y="1150000"/>
            <a:ext cx="5200000" cy="12000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5C15D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2100" b="1">
                <a:solidFill>
                  <a:srgbClr val="7A4A00"/>
                </a:solidFill>
                <a:latin typeface="Noto Sans CJK JP"/>
                <a:ea typeface="Noto Sans CJK JP"/>
              </a:rPr>
              <a:t>運動導体の誘導起電力</a:t>
            </a:r>
            <a:endParaRPr lang="ja-JP" sz="2100"/>
          </a:p>
          <a:p>
            <a:pPr algn="ctr"/>
            <a:r>
              <a:rPr lang="ja-JP" sz="2100" b="1">
                <a:solidFill>
                  <a:srgbClr val="7A4A00"/>
                </a:solidFill>
                <a:latin typeface="Noto Sans CJK JP"/>
                <a:ea typeface="Noto Sans CJK JP"/>
              </a:rPr>
              <a:t>e = B l v sinθ</a:t>
            </a:r>
            <a:endParaRPr lang="ja-JP" sz="2100"/>
          </a:p>
        </p:txBody>
      </p:sp>
      <p:sp>
        <p:nvSpPr>
          <p:cNvPr id="6" name="emf2"/>
          <p:cNvSpPr/>
          <p:nvPr/>
        </p:nvSpPr>
        <p:spPr>
          <a:xfrm>
            <a:off x="6500000" y="2550000"/>
            <a:ext cx="5200000" cy="2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20000" rIns="120000" tIns="120000" bIns="120000" anchor="ctr"/>
          <a:lstStyle/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右手則：磁界 B・運動 v・起電力</a:t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/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v ∥ B → e = 0</a:t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v ⟂ B → e = B l v（最大）</a:t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/>
            </a:r>
            <a:endParaRPr lang="ja-JP" sz="1500"/>
          </a:p>
          <a:p>
            <a:pPr algn="l"/>
            <a:r>
              <a:rPr lang="ja-JP" sz="1500" b="0">
                <a:solidFill>
                  <a:srgbClr val="344054"/>
                </a:solidFill>
                <a:latin typeface="Noto Sans CJK JP"/>
                <a:ea typeface="Noto Sans CJK JP"/>
              </a:rPr>
              <a:t>電動機の回転導体にも誘導起電力が生じる</a:t>
            </a:r>
            <a:endParaRPr lang="ja-JP" sz="1500"/>
          </a:p>
        </p:txBody>
      </p:sp>
      <p:sp>
        <p:nvSpPr>
          <p:cNvPr id="7" name="footer"/>
          <p:cNvSpPr/>
          <p:nvPr/>
        </p:nvSpPr>
        <p:spPr>
          <a:xfrm>
            <a:off x="450000" y="6460000"/>
            <a:ext cx="11200000" cy="18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l"/>
            <a:r>
              <a:rPr lang="ja-JP" sz="750" b="0">
                <a:solidFill>
                  <a:srgbClr val="667085"/>
                </a:solidFill>
                <a:latin typeface="Noto Sans CJK JP"/>
                <a:ea typeface="Noto Sans CJK JP"/>
              </a:rPr>
              <a:t>電験三種 理論｜Topic 07　　　　　　　　　　　　　　　　　　　　　　　　　3/4</a:t>
            </a:r>
            <a:endParaRPr lang="ja-JP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0000" y="220000"/>
            <a:ext cx="11300000" cy="65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l"/>
            <a:r>
              <a:rPr lang="ja-JP" sz="2700" b="1">
                <a:solidFill>
                  <a:srgbClr val="163B65"/>
                </a:solidFill>
                <a:latin typeface="Noto Sans CJK JP"/>
                <a:ea typeface="Noto Sans CJK JP"/>
              </a:rPr>
              <a:t>電動機では「力」と「誘導」が連続して起こる</a:t>
            </a:r>
            <a:endParaRPr lang="ja-JP" sz="2700"/>
          </a:p>
        </p:txBody>
      </p:sp>
      <p:sp>
        <p:nvSpPr>
          <p:cNvPr id="3" name="flow0"/>
          <p:cNvSpPr/>
          <p:nvPr/>
        </p:nvSpPr>
        <p:spPr>
          <a:xfrm>
            <a:off x="500000" y="1400000"/>
            <a:ext cx="1900000" cy="9000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AAB7C4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1350" b="1">
                <a:solidFill>
                  <a:srgbClr val="344054"/>
                </a:solidFill>
                <a:latin typeface="Noto Sans CJK JP"/>
                <a:ea typeface="Noto Sans CJK JP"/>
              </a:rPr>
              <a:t>磁界中の電流</a:t>
            </a:r>
            <a:endParaRPr lang="ja-JP" sz="1350"/>
          </a:p>
        </p:txBody>
      </p:sp>
      <p:sp>
        <p:nvSpPr>
          <p:cNvPr id="4" name="arrow"/>
          <p:cNvSpPr/>
          <p:nvPr/>
        </p:nvSpPr>
        <p:spPr>
          <a:xfrm>
            <a:off x="2400000" y="1500000"/>
            <a:ext cx="250000" cy="65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ctr"/>
            <a:r>
              <a:rPr lang="ja-JP" sz="1700" b="1">
                <a:solidFill>
                  <a:srgbClr val="475467"/>
                </a:solidFill>
                <a:latin typeface="Noto Sans CJK JP"/>
                <a:ea typeface="Noto Sans CJK JP"/>
              </a:rPr>
              <a:t>→</a:t>
            </a:r>
            <a:endParaRPr lang="ja-JP" sz="1700"/>
          </a:p>
        </p:txBody>
      </p:sp>
      <p:sp>
        <p:nvSpPr>
          <p:cNvPr id="5" name="flow1"/>
          <p:cNvSpPr/>
          <p:nvPr/>
        </p:nvSpPr>
        <p:spPr>
          <a:xfrm>
            <a:off x="2650000" y="1400000"/>
            <a:ext cx="1900000" cy="9000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AAB7C4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1350" b="1">
                <a:solidFill>
                  <a:srgbClr val="344054"/>
                </a:solidFill>
                <a:latin typeface="Noto Sans CJK JP"/>
                <a:ea typeface="Noto Sans CJK JP"/>
              </a:rPr>
              <a:t>電磁力 F</a:t>
            </a:r>
            <a:endParaRPr lang="ja-JP" sz="1350"/>
          </a:p>
        </p:txBody>
      </p:sp>
      <p:sp>
        <p:nvSpPr>
          <p:cNvPr id="6" name="arrow"/>
          <p:cNvSpPr/>
          <p:nvPr/>
        </p:nvSpPr>
        <p:spPr>
          <a:xfrm>
            <a:off x="4550000" y="1500000"/>
            <a:ext cx="250000" cy="65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ctr"/>
            <a:r>
              <a:rPr lang="ja-JP" sz="1700" b="1">
                <a:solidFill>
                  <a:srgbClr val="475467"/>
                </a:solidFill>
                <a:latin typeface="Noto Sans CJK JP"/>
                <a:ea typeface="Noto Sans CJK JP"/>
              </a:rPr>
              <a:t>→</a:t>
            </a:r>
            <a:endParaRPr lang="ja-JP" sz="1700"/>
          </a:p>
        </p:txBody>
      </p:sp>
      <p:sp>
        <p:nvSpPr>
          <p:cNvPr id="7" name="flow2"/>
          <p:cNvSpPr/>
          <p:nvPr/>
        </p:nvSpPr>
        <p:spPr>
          <a:xfrm>
            <a:off x="4800000" y="1400000"/>
            <a:ext cx="1900000" cy="90000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AAB7C4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1350" b="1">
                <a:solidFill>
                  <a:srgbClr val="344054"/>
                </a:solidFill>
                <a:latin typeface="Noto Sans CJK JP"/>
                <a:ea typeface="Noto Sans CJK JP"/>
              </a:rPr>
              <a:t>トルク・回転</a:t>
            </a:r>
            <a:endParaRPr lang="ja-JP" sz="1350"/>
          </a:p>
        </p:txBody>
      </p:sp>
      <p:sp>
        <p:nvSpPr>
          <p:cNvPr id="8" name="arrow"/>
          <p:cNvSpPr/>
          <p:nvPr/>
        </p:nvSpPr>
        <p:spPr>
          <a:xfrm>
            <a:off x="6700000" y="1500000"/>
            <a:ext cx="250000" cy="65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ctr"/>
            <a:r>
              <a:rPr lang="ja-JP" sz="1700" b="1">
                <a:solidFill>
                  <a:srgbClr val="475467"/>
                </a:solidFill>
                <a:latin typeface="Noto Sans CJK JP"/>
                <a:ea typeface="Noto Sans CJK JP"/>
              </a:rPr>
              <a:t>→</a:t>
            </a:r>
            <a:endParaRPr lang="ja-JP" sz="1700"/>
          </a:p>
        </p:txBody>
      </p:sp>
      <p:sp>
        <p:nvSpPr>
          <p:cNvPr id="9" name="flow3"/>
          <p:cNvSpPr/>
          <p:nvPr/>
        </p:nvSpPr>
        <p:spPr>
          <a:xfrm>
            <a:off x="6950000" y="1400000"/>
            <a:ext cx="1900000" cy="9000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AB7C4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1350" b="1">
                <a:solidFill>
                  <a:srgbClr val="344054"/>
                </a:solidFill>
                <a:latin typeface="Noto Sans CJK JP"/>
                <a:ea typeface="Noto Sans CJK JP"/>
              </a:rPr>
              <a:t>運動する導体</a:t>
            </a:r>
            <a:endParaRPr lang="ja-JP" sz="1350"/>
          </a:p>
        </p:txBody>
      </p:sp>
      <p:sp>
        <p:nvSpPr>
          <p:cNvPr id="10" name="arrow"/>
          <p:cNvSpPr/>
          <p:nvPr/>
        </p:nvSpPr>
        <p:spPr>
          <a:xfrm>
            <a:off x="8850000" y="1500000"/>
            <a:ext cx="250000" cy="65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ctr"/>
            <a:r>
              <a:rPr lang="ja-JP" sz="1700" b="1">
                <a:solidFill>
                  <a:srgbClr val="475467"/>
                </a:solidFill>
                <a:latin typeface="Noto Sans CJK JP"/>
                <a:ea typeface="Noto Sans CJK JP"/>
              </a:rPr>
              <a:t>→</a:t>
            </a:r>
            <a:endParaRPr lang="ja-JP" sz="1700"/>
          </a:p>
        </p:txBody>
      </p:sp>
      <p:sp>
        <p:nvSpPr>
          <p:cNvPr id="11" name="flow4"/>
          <p:cNvSpPr/>
          <p:nvPr/>
        </p:nvSpPr>
        <p:spPr>
          <a:xfrm>
            <a:off x="9100000" y="1400000"/>
            <a:ext cx="1900000" cy="9000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AAB7C4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1350" b="1">
                <a:solidFill>
                  <a:srgbClr val="344054"/>
                </a:solidFill>
                <a:latin typeface="Noto Sans CJK JP"/>
                <a:ea typeface="Noto Sans CJK JP"/>
              </a:rPr>
              <a:t>誘導起電力</a:t>
            </a:r>
            <a:endParaRPr lang="ja-JP" sz="1350"/>
          </a:p>
        </p:txBody>
      </p:sp>
      <p:sp>
        <p:nvSpPr>
          <p:cNvPr id="12" name="backemf"/>
          <p:cNvSpPr/>
          <p:nvPr/>
        </p:nvSpPr>
        <p:spPr>
          <a:xfrm>
            <a:off x="750000" y="2850000"/>
            <a:ext cx="4700000" cy="120000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7BC99A"/>
            </a:solidFill>
          </a:ln>
        </p:spPr>
        <p:txBody>
          <a:bodyPr wrap="square" lIns="120000" rIns="120000" tIns="120000" bIns="120000" anchor="ctr"/>
          <a:lstStyle/>
          <a:p>
            <a:pPr algn="ctr"/>
            <a:r>
              <a:rPr lang="ja-JP" sz="1600" b="1">
                <a:solidFill>
                  <a:srgbClr val="166534"/>
                </a:solidFill>
                <a:latin typeface="Noto Sans CJK JP"/>
                <a:ea typeface="Noto Sans CJK JP"/>
              </a:rPr>
              <a:t>逆起電力</a:t>
            </a:r>
            <a:endParaRPr lang="ja-JP" sz="1600"/>
          </a:p>
          <a:p>
            <a:pPr algn="ctr"/>
            <a:r>
              <a:rPr lang="ja-JP" sz="1600" b="1">
                <a:solidFill>
                  <a:srgbClr val="166534"/>
                </a:solidFill>
                <a:latin typeface="Noto Sans CJK JP"/>
                <a:ea typeface="Noto Sans CJK JP"/>
              </a:rPr>
              <a:t>回転で生じた誘導起電力は</a:t>
            </a:r>
            <a:endParaRPr lang="ja-JP" sz="1600"/>
          </a:p>
          <a:p>
            <a:pPr algn="ctr"/>
            <a:r>
              <a:rPr lang="ja-JP" sz="1600" b="1">
                <a:solidFill>
                  <a:srgbClr val="166534"/>
                </a:solidFill>
                <a:latin typeface="Noto Sans CJK JP"/>
                <a:ea typeface="Noto Sans CJK JP"/>
              </a:rPr>
              <a:t>外部電圧に逆らう向き</a:t>
            </a:r>
            <a:endParaRPr lang="ja-JP" sz="1600"/>
          </a:p>
        </p:txBody>
      </p:sp>
      <p:sp>
        <p:nvSpPr>
          <p:cNvPr id="13" name="exams"/>
          <p:cNvSpPr/>
          <p:nvPr/>
        </p:nvSpPr>
        <p:spPr>
          <a:xfrm>
            <a:off x="5800000" y="2800000"/>
            <a:ext cx="5550000" cy="2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20000" rIns="120000" tIns="120000" bIns="120000" anchor="ctr"/>
          <a:lstStyle/>
          <a:p>
            <a:pPr algn="l"/>
            <a:r>
              <a:rPr lang="ja-JP" sz="1300" b="0">
                <a:solidFill>
                  <a:srgbClr val="344054"/>
                </a:solidFill>
                <a:latin typeface="Noto Sans CJK JP"/>
                <a:ea typeface="Noto Sans CJK JP"/>
              </a:rPr>
              <a:t>固定EXAM_ALIGNMENT 5問</a:t>
            </a:r>
            <a:endParaRPr lang="ja-JP" sz="1300"/>
          </a:p>
          <a:p>
            <a:pPr algn="l"/>
            <a:r>
              <a:rPr lang="ja-JP" sz="1300" b="0">
                <a:solidFill>
                  <a:srgbClr val="344054"/>
                </a:solidFill>
                <a:latin typeface="Noto Sans CJK JP"/>
                <a:ea typeface="Noto Sans CJK JP"/>
              </a:rPr>
              <a:t>R6下 問4：平行導体間の力</a:t>
            </a:r>
            <a:endParaRPr lang="ja-JP" sz="1300"/>
          </a:p>
          <a:p>
            <a:pPr algn="l"/>
            <a:r>
              <a:rPr lang="ja-JP" sz="1300" b="0">
                <a:solidFill>
                  <a:srgbClr val="344054"/>
                </a:solidFill>
                <a:latin typeface="Noto Sans CJK JP"/>
                <a:ea typeface="Noto Sans CJK JP"/>
              </a:rPr>
              <a:t>R5下 問4：直線導体＋ループ</a:t>
            </a:r>
            <a:endParaRPr lang="ja-JP" sz="1300"/>
          </a:p>
          <a:p>
            <a:pPr algn="l"/>
            <a:r>
              <a:rPr lang="ja-JP" sz="1300" b="0">
                <a:solidFill>
                  <a:srgbClr val="344054"/>
                </a:solidFill>
                <a:latin typeface="Noto Sans CJK JP"/>
                <a:ea typeface="Noto Sans CJK JP"/>
              </a:rPr>
              <a:t>R4上 問4：運動導体の起電力</a:t>
            </a:r>
            <a:endParaRPr lang="ja-JP" sz="1300"/>
          </a:p>
          <a:p>
            <a:pPr algn="l"/>
            <a:r>
              <a:rPr lang="ja-JP" sz="1300" b="0">
                <a:solidFill>
                  <a:srgbClr val="344054"/>
                </a:solidFill>
                <a:latin typeface="Noto Sans CJK JP"/>
                <a:ea typeface="Noto Sans CJK JP"/>
              </a:rPr>
              <a:t>R2 問3：電流ループの偶力</a:t>
            </a:r>
            <a:endParaRPr lang="ja-JP" sz="1300"/>
          </a:p>
          <a:p>
            <a:pPr algn="l"/>
            <a:r>
              <a:rPr lang="ja-JP" sz="1300" b="0">
                <a:solidFill>
                  <a:srgbClr val="344054"/>
                </a:solidFill>
                <a:latin typeface="Noto Sans CJK JP"/>
                <a:ea typeface="Noto Sans CJK JP"/>
              </a:rPr>
              <a:t>H28 問12：ローレンツ力</a:t>
            </a:r>
            <a:endParaRPr lang="ja-JP" sz="1300"/>
          </a:p>
        </p:txBody>
      </p:sp>
      <p:sp>
        <p:nvSpPr>
          <p:cNvPr id="14" name="boundary"/>
          <p:cNvSpPr/>
          <p:nvPr/>
        </p:nvSpPr>
        <p:spPr>
          <a:xfrm>
            <a:off x="750000" y="4550000"/>
            <a:ext cx="4700000" cy="9500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E5A4A4"/>
            </a:solidFill>
          </a:ln>
        </p:spPr>
        <p:txBody>
          <a:bodyPr wrap="square" lIns="120000" rIns="120000" tIns="120000" bIns="120000" anchor="ctr"/>
          <a:lstStyle/>
          <a:p>
            <a:pPr algn="l"/>
            <a:r>
              <a:rPr lang="ja-JP" sz="1150" b="0">
                <a:solidFill>
                  <a:srgbClr val="8B1E1E"/>
                </a:solidFill>
                <a:latin typeface="Noto Sans CJK JP"/>
                <a:ea typeface="Noto Sans CJK JP"/>
              </a:rPr>
              <a:t>このTopicでは扱わない</a:t>
            </a:r>
            <a:endParaRPr lang="ja-JP" sz="1150"/>
          </a:p>
          <a:p>
            <a:pPr algn="l"/>
            <a:r>
              <a:rPr lang="ja-JP" sz="1150" b="0">
                <a:solidFill>
                  <a:srgbClr val="8B1E1E"/>
                </a:solidFill>
                <a:latin typeface="Noto Sans CJK JP"/>
                <a:ea typeface="Noto Sans CJK JP"/>
              </a:rPr>
              <a:t>直流機の電圧方程式・界磁方式・速度制御</a:t>
            </a:r>
            <a:endParaRPr lang="ja-JP" sz="1150"/>
          </a:p>
          <a:p>
            <a:pPr algn="l"/>
            <a:r>
              <a:rPr lang="ja-JP" sz="1150" b="0">
                <a:solidFill>
                  <a:srgbClr val="8B1E1E"/>
                </a:solidFill>
                <a:latin typeface="Noto Sans CJK JP"/>
                <a:ea typeface="Noto Sans CJK JP"/>
              </a:rPr>
              <a:t>Topic 08以降・未確認0系実車値</a:t>
            </a:r>
            <a:endParaRPr lang="ja-JP" sz="1150"/>
          </a:p>
        </p:txBody>
      </p:sp>
      <p:sp>
        <p:nvSpPr>
          <p:cNvPr id="15" name="footer"/>
          <p:cNvSpPr/>
          <p:nvPr/>
        </p:nvSpPr>
        <p:spPr>
          <a:xfrm>
            <a:off x="450000" y="6460000"/>
            <a:ext cx="11200000" cy="18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0" rIns="0" tIns="0" bIns="0" anchor="ctr"/>
          <a:lstStyle/>
          <a:p>
            <a:pPr algn="l"/>
            <a:r>
              <a:rPr lang="ja-JP" sz="750" b="0">
                <a:solidFill>
                  <a:srgbClr val="667085"/>
                </a:solidFill>
                <a:latin typeface="Noto Sans CJK JP"/>
                <a:ea typeface="Noto Sans CJK JP"/>
              </a:rPr>
              <a:t>電験三種 理論｜Topic 07　　　　　　　　　　　　　　　　　　　　　　　　　4/4</a:t>
            </a:r>
            <a:endParaRPr lang="ja-JP"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Noto Sans CJK JP"/>
        <a:cs typeface="Arial"/>
      </a:majorFont>
      <a:minorFont>
        <a:latin typeface="Arial"/>
        <a:ea typeface="Noto Sans CJK JP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