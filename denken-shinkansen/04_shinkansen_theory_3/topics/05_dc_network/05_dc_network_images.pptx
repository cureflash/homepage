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28600"/>
            <a:ext cx="1127760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3000" b="1" dirty="0">
                <a:solidFill>
                  <a:srgbClr val="1F4E79"/>
                </a:solidFill>
                <a:latin typeface="Noto Sans CJK JP"/>
                <a:ea typeface="Noto Sans CJK JP"/>
              </a:rPr>
              <a:t>Topic 05  回路網を読む：直並列・KCL・KVL</a:t>
            </a:r>
            <a:endParaRPr lang="ja-JP" sz="3000"/>
          </a:p>
        </p:txBody>
      </p:sp>
      <p:sp>
        <p:nvSpPr>
          <p:cNvPr id="3" name="Text 3"/>
          <p:cNvSpPr txBox="1"/>
          <p:nvPr/>
        </p:nvSpPr>
        <p:spPr>
          <a:xfrm>
            <a:off x="457200" y="838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400" b="0" dirty="0">
                <a:solidFill>
                  <a:srgbClr val="5B6573"/>
                </a:solidFill>
                <a:latin typeface="Noto Sans CJK JP"/>
                <a:ea typeface="Noto Sans CJK JP"/>
              </a:rPr>
              <a:t>電験三種「理論」／パンタグラフから先を教育用等価回路で学ぶ</a:t>
            </a:r>
            <a:endParaRPr lang="ja-JP" sz="1400"/>
          </a:p>
        </p:txBody>
      </p:sp>
      <p:sp>
        <p:nvSpPr>
          <p:cNvPr id="10" name="Shape 10"/>
          <p:cNvSpPr txBox="1"/>
          <p:nvPr/>
        </p:nvSpPr>
        <p:spPr>
          <a:xfrm>
            <a:off x="650000" y="1450000"/>
            <a:ext cx="2500000" cy="70000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70AD47"/>
            </a:solidFill>
          </a:ln>
        </p:spPr>
        <p:txBody>
          <a:bodyPr wrap="square"/>
          <a:lstStyle/>
          <a:p>
            <a:pPr algn="ctr" lvl="0"/>
            <a:r>
              <a:rPr lang="ja-JP" sz="1750" b="1" dirty="0">
                <a:solidFill>
                  <a:srgbClr val="202020"/>
                </a:solidFill>
                <a:latin typeface="Noto Sans CJK JP"/>
                <a:ea typeface="Noto Sans CJK JP"/>
              </a:rPr>
              <a:t>直列：電流が共通</a:t>
            </a:r>
            <a:endParaRPr lang="ja-JP" sz="1750"/>
          </a:p>
        </p:txBody>
      </p:sp>
      <p:sp>
        <p:nvSpPr>
          <p:cNvPr id="11" name="Shape 11"/>
          <p:cNvSpPr txBox="1"/>
          <p:nvPr/>
        </p:nvSpPr>
        <p:spPr>
          <a:xfrm>
            <a:off x="3550000" y="1450000"/>
            <a:ext cx="2500000" cy="7000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square"/>
          <a:lstStyle/>
          <a:p>
            <a:pPr algn="ctr" lvl="0"/>
            <a:r>
              <a:rPr lang="ja-JP" sz="1750" b="1" dirty="0">
                <a:solidFill>
                  <a:srgbClr val="202020"/>
                </a:solidFill>
                <a:latin typeface="Noto Sans CJK JP"/>
                <a:ea typeface="Noto Sans CJK JP"/>
              </a:rPr>
              <a:t>並列：電圧が共通</a:t>
            </a:r>
            <a:endParaRPr lang="ja-JP" sz="1750"/>
          </a:p>
        </p:txBody>
      </p:sp>
      <p:sp>
        <p:nvSpPr>
          <p:cNvPr id="12" name="Shape 12"/>
          <p:cNvSpPr txBox="1"/>
          <p:nvPr/>
        </p:nvSpPr>
        <p:spPr>
          <a:xfrm>
            <a:off x="6450000" y="1450000"/>
            <a:ext cx="2500000" cy="700000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5B9BD5"/>
            </a:solidFill>
          </a:ln>
        </p:spPr>
        <p:txBody>
          <a:bodyPr wrap="square"/>
          <a:lstStyle/>
          <a:p>
            <a:pPr algn="ctr" lvl="0"/>
            <a:r>
              <a:rPr lang="ja-JP" sz="1800" b="1" dirty="0">
                <a:solidFill>
                  <a:srgbClr val="202020"/>
                </a:solidFill>
                <a:latin typeface="Noto Sans CJK JP"/>
                <a:ea typeface="Noto Sans CJK JP"/>
              </a:rPr>
              <a:t>KCL：ΣI = 0</a:t>
            </a:r>
            <a:endParaRPr lang="ja-JP" sz="1800"/>
          </a:p>
        </p:txBody>
      </p:sp>
      <p:sp>
        <p:nvSpPr>
          <p:cNvPr id="13" name="Shape 13"/>
          <p:cNvSpPr txBox="1"/>
          <p:nvPr/>
        </p:nvSpPr>
        <p:spPr>
          <a:xfrm>
            <a:off x="9350000" y="1450000"/>
            <a:ext cx="2000000" cy="700000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5B9BD5"/>
            </a:solidFill>
          </a:ln>
        </p:spPr>
        <p:txBody>
          <a:bodyPr wrap="square"/>
          <a:lstStyle/>
          <a:p>
            <a:pPr algn="ctr" lvl="0"/>
            <a:r>
              <a:rPr lang="ja-JP" sz="1800" b="1" dirty="0">
                <a:solidFill>
                  <a:srgbClr val="202020"/>
                </a:solidFill>
                <a:latin typeface="Noto Sans CJK JP"/>
                <a:ea typeface="Noto Sans CJK JP"/>
              </a:rPr>
              <a:t>KVL：ΣV = 0</a:t>
            </a:r>
            <a:endParaRPr lang="ja-JP" sz="1800"/>
          </a:p>
        </p:txBody>
      </p:sp>
      <p:sp>
        <p:nvSpPr>
          <p:cNvPr id="20" name="Text 20"/>
          <p:cNvSpPr txBox="1"/>
          <p:nvPr/>
        </p:nvSpPr>
        <p:spPr>
          <a:xfrm>
            <a:off x="750000" y="2500000"/>
            <a:ext cx="4900000" cy="2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850" b="0" dirty="0">
                <a:solidFill>
                  <a:srgbClr val="202020"/>
                </a:solidFill>
                <a:latin typeface="Noto Sans CJK JP"/>
                <a:ea typeface="Noto Sans CJK JP"/>
              </a:rPr>
              <a:t>Rseries = R1 + R2 + …</a:t>
            </a:r>
            <a:endParaRPr lang="ja-JP" sz="1850"/>
          </a:p>
          <a:p>
            <a:pPr algn="l" lvl="0"/>
            <a:r>
              <a:rPr lang="ja-JP" sz="1850" b="0" dirty="0">
                <a:solidFill>
                  <a:srgbClr val="202020"/>
                </a:solidFill>
                <a:latin typeface="Noto Sans CJK JP"/>
                <a:ea typeface="Noto Sans CJK JP"/>
              </a:rPr>
              <a:t>1/Rparallel = 1/R1 + 1/R2 + …</a:t>
            </a:r>
            <a:endParaRPr lang="ja-JP" sz="1850"/>
          </a:p>
          <a:p>
            <a:pPr algn="l" lvl="0"/>
            <a:r>
              <a:rPr lang="ja-JP" sz="1850" b="0" dirty="0">
                <a:solidFill>
                  <a:srgbClr val="202020"/>
                </a:solidFill>
                <a:latin typeface="Noto Sans CJK JP"/>
                <a:ea typeface="Noto Sans CJK JP"/>
              </a:rPr>
              <a:t>V1 = R1/(R1+R2)·V</a:t>
            </a:r>
            <a:endParaRPr lang="ja-JP" sz="1850"/>
          </a:p>
          <a:p>
            <a:pPr algn="l" lvl="0"/>
            <a:r>
              <a:rPr lang="ja-JP" sz="1850" b="0" dirty="0">
                <a:solidFill>
                  <a:srgbClr val="202020"/>
                </a:solidFill>
                <a:latin typeface="Noto Sans CJK JP"/>
                <a:ea typeface="Noto Sans CJK JP"/>
              </a:rPr>
              <a:t>I1 = R2/(R1+R2)·I</a:t>
            </a:r>
            <a:endParaRPr lang="ja-JP" sz="1850"/>
          </a:p>
        </p:txBody>
      </p:sp>
      <p:sp>
        <p:nvSpPr>
          <p:cNvPr id="21" name="Text 21"/>
          <p:cNvSpPr txBox="1"/>
          <p:nvPr/>
        </p:nvSpPr>
        <p:spPr>
          <a:xfrm>
            <a:off x="6200000" y="2500000"/>
            <a:ext cx="5000000" cy="2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750" b="0" dirty="0">
                <a:solidFill>
                  <a:srgbClr val="202020"/>
                </a:solidFill>
                <a:latin typeface="Noto Sans CJK JP"/>
                <a:ea typeface="Noto Sans CJK JP"/>
              </a:rPr>
              <a:t>枝電流法</a:t>
            </a:r>
            <a:endParaRPr lang="ja-JP" sz="1750"/>
          </a:p>
          <a:p>
            <a:pPr algn="l" lvl="0"/>
            <a:r>
              <a:rPr lang="ja-JP" sz="1750" b="0" dirty="0">
                <a:solidFill>
                  <a:srgbClr val="202020"/>
                </a:solidFill>
                <a:latin typeface="Noto Sans CJK JP"/>
                <a:ea typeface="Noto Sans CJK JP"/>
              </a:rPr>
              <a:t>1 電流方向を仮定</a:t>
            </a:r>
            <a:endParaRPr lang="ja-JP" sz="1750"/>
          </a:p>
          <a:p>
            <a:pPr algn="l" lvl="0"/>
            <a:r>
              <a:rPr lang="ja-JP" sz="1750" b="0" dirty="0">
                <a:solidFill>
                  <a:srgbClr val="202020"/>
                </a:solidFill>
                <a:latin typeface="Noto Sans CJK JP"/>
                <a:ea typeface="Noto Sans CJK JP"/>
              </a:rPr>
              <a:t>2 KCL・KVLを立式</a:t>
            </a:r>
            <a:endParaRPr lang="ja-JP" sz="1750"/>
          </a:p>
          <a:p>
            <a:pPr algn="l" lvl="0"/>
            <a:r>
              <a:rPr lang="ja-JP" sz="1750" b="0" dirty="0">
                <a:solidFill>
                  <a:srgbClr val="202020"/>
                </a:solidFill>
                <a:latin typeface="Noto Sans CJK JP"/>
                <a:ea typeface="Noto Sans CJK JP"/>
              </a:rPr>
              <a:t>3 連立して解く</a:t>
            </a:r>
            <a:endParaRPr lang="ja-JP" sz="1750"/>
          </a:p>
          <a:p>
            <a:pPr algn="l" lvl="0"/>
            <a:r>
              <a:rPr lang="ja-JP" sz="1750" b="0" dirty="0">
                <a:solidFill>
                  <a:srgbClr val="202020"/>
                </a:solidFill>
                <a:latin typeface="Noto Sans CJK JP"/>
                <a:ea typeface="Noto Sans CJK JP"/>
              </a:rPr>
              <a:t>4 負の電流は仮定と逆向き</a:t>
            </a:r>
            <a:endParaRPr lang="ja-JP" sz="1750"/>
          </a:p>
        </p:txBody>
      </p:sp>
      <p:sp>
        <p:nvSpPr>
          <p:cNvPr id="22" name="Text 22"/>
          <p:cNvSpPr txBox="1"/>
          <p:nvPr/>
        </p:nvSpPr>
        <p:spPr>
          <a:xfrm>
            <a:off x="750000" y="48500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650" b="1" dirty="0">
                <a:solidFill>
                  <a:srgbClr val="B54708"/>
                </a:solidFill>
                <a:latin typeface="Noto Sans CJK JP"/>
                <a:ea typeface="Noto Sans CJK JP"/>
              </a:rPr>
              <a:t>新幹線の流れは導入のみ。計算図はすべて「教育用等価回路」で、実車内部配線・保護回路を推測しない。</a:t>
            </a:r>
            <a:endParaRPr lang="ja-JP" sz="1650"/>
          </a:p>
        </p:txBody>
      </p:sp>
      <p:sp>
        <p:nvSpPr>
          <p:cNvPr id="23" name="Text 23"/>
          <p:cNvSpPr txBox="1"/>
          <p:nvPr/>
        </p:nvSpPr>
        <p:spPr>
          <a:xfrm>
            <a:off x="750000" y="5850000"/>
            <a:ext cx="103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400" b="1" dirty="0">
                <a:solidFill>
                  <a:srgbClr val="1F4E79"/>
                </a:solidFill>
                <a:latin typeface="Noto Sans CJK JP"/>
                <a:ea typeface="Noto Sans CJK JP"/>
              </a:rPr>
              <a:t>対応：R8上 問5・問7、R7下 問5、R6下 問6</a:t>
            </a:r>
            <a:endParaRPr lang="ja-JP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28600"/>
            <a:ext cx="1127760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3000" b="1" dirty="0">
                <a:solidFill>
                  <a:srgbClr val="1F4E79"/>
                </a:solidFill>
                <a:latin typeface="Noto Sans CJK JP"/>
                <a:ea typeface="Noto Sans CJK JP"/>
              </a:rPr>
              <a:t>複数電源・複雑な二端子回路を簡単にする</a:t>
            </a:r>
            <a:endParaRPr lang="ja-JP" sz="3000"/>
          </a:p>
        </p:txBody>
      </p:sp>
      <p:sp>
        <p:nvSpPr>
          <p:cNvPr id="3" name="Text 3"/>
          <p:cNvSpPr txBox="1"/>
          <p:nvPr/>
        </p:nvSpPr>
        <p:spPr>
          <a:xfrm>
            <a:off x="457200" y="838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400" b="0" dirty="0">
                <a:solidFill>
                  <a:srgbClr val="5B6573"/>
                </a:solidFill>
                <a:latin typeface="Noto Sans CJK JP"/>
                <a:ea typeface="Noto Sans CJK JP"/>
              </a:rPr>
              <a:t>重ね合わせ → テブナン／ノートンの順で解法を可視化</a:t>
            </a:r>
            <a:endParaRPr lang="ja-JP" sz="1400"/>
          </a:p>
        </p:txBody>
      </p:sp>
      <p:sp>
        <p:nvSpPr>
          <p:cNvPr id="10" name="Shape 10"/>
          <p:cNvSpPr txBox="1"/>
          <p:nvPr/>
        </p:nvSpPr>
        <p:spPr>
          <a:xfrm>
            <a:off x="650000" y="1450000"/>
            <a:ext cx="3200000" cy="70000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8064A2"/>
            </a:solidFill>
          </a:ln>
        </p:spPr>
        <p:txBody>
          <a:bodyPr wrap="square"/>
          <a:lstStyle/>
          <a:p>
            <a:pPr algn="ctr" lvl="0"/>
            <a:r>
              <a:rPr lang="ja-JP" sz="1900" b="1" dirty="0">
                <a:solidFill>
                  <a:srgbClr val="202020"/>
                </a:solidFill>
                <a:latin typeface="Noto Sans CJK JP"/>
                <a:ea typeface="Noto Sans CJK JP"/>
              </a:rPr>
              <a:t>重ね合わせ</a:t>
            </a:r>
            <a:endParaRPr lang="ja-JP" sz="1900"/>
          </a:p>
        </p:txBody>
      </p:sp>
      <p:sp>
        <p:nvSpPr>
          <p:cNvPr id="11" name="Shape 11"/>
          <p:cNvSpPr txBox="1"/>
          <p:nvPr/>
        </p:nvSpPr>
        <p:spPr>
          <a:xfrm>
            <a:off x="4450000" y="1450000"/>
            <a:ext cx="3200000" cy="700000"/>
          </a:xfrm>
          <a:prstGeom prst="roundRect">
            <a:avLst/>
          </a:prstGeom>
          <a:solidFill>
            <a:srgbClr val="EAF2F8"/>
          </a:solidFill>
          <a:ln w="19050">
            <a:solidFill>
              <a:srgbClr val="5B9BD5"/>
            </a:solidFill>
          </a:ln>
        </p:spPr>
        <p:txBody>
          <a:bodyPr wrap="square"/>
          <a:lstStyle/>
          <a:p>
            <a:pPr algn="ctr" lvl="0"/>
            <a:r>
              <a:rPr lang="ja-JP" sz="1900" b="1" dirty="0">
                <a:solidFill>
                  <a:srgbClr val="202020"/>
                </a:solidFill>
                <a:latin typeface="Noto Sans CJK JP"/>
                <a:ea typeface="Noto Sans CJK JP"/>
              </a:rPr>
              <a:t>テブナン</a:t>
            </a:r>
            <a:endParaRPr lang="ja-JP" sz="1900"/>
          </a:p>
        </p:txBody>
      </p:sp>
      <p:sp>
        <p:nvSpPr>
          <p:cNvPr id="12" name="Shape 12"/>
          <p:cNvSpPr txBox="1"/>
          <p:nvPr/>
        </p:nvSpPr>
        <p:spPr>
          <a:xfrm>
            <a:off x="8250000" y="1450000"/>
            <a:ext cx="3200000" cy="700000"/>
          </a:xfrm>
          <a:prstGeom prst="roundRect">
            <a:avLst/>
          </a:prstGeom>
          <a:solidFill>
            <a:srgbClr val="E2F0D9"/>
          </a:solidFill>
          <a:ln w="19050">
            <a:solidFill>
              <a:srgbClr val="70AD47"/>
            </a:solidFill>
          </a:ln>
        </p:spPr>
        <p:txBody>
          <a:bodyPr wrap="square"/>
          <a:lstStyle/>
          <a:p>
            <a:pPr algn="ctr" lvl="0"/>
            <a:r>
              <a:rPr lang="ja-JP" sz="1900" b="1" dirty="0">
                <a:solidFill>
                  <a:srgbClr val="202020"/>
                </a:solidFill>
                <a:latin typeface="Noto Sans CJK JP"/>
                <a:ea typeface="Noto Sans CJK JP"/>
              </a:rPr>
              <a:t>ノートン</a:t>
            </a:r>
            <a:endParaRPr lang="ja-JP" sz="1900"/>
          </a:p>
        </p:txBody>
      </p:sp>
      <p:sp>
        <p:nvSpPr>
          <p:cNvPr id="20" name="Text 20"/>
          <p:cNvSpPr txBox="1"/>
          <p:nvPr/>
        </p:nvSpPr>
        <p:spPr>
          <a:xfrm>
            <a:off x="750000" y="2500000"/>
            <a:ext cx="3200000" cy="2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電圧源を0 → 短絡</a:t>
            </a:r>
            <a:endParaRPr lang="ja-JP" sz="1650"/>
          </a:p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電流源を0 → 開放</a:t>
            </a:r>
            <a:endParaRPr lang="ja-JP" sz="1650"/>
          </a:p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各寄与を向き付きで代数和</a:t>
            </a:r>
            <a:endParaRPr lang="ja-JP" sz="1650"/>
          </a:p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電力は直接重ね合わせない</a:t>
            </a:r>
            <a:endParaRPr lang="ja-JP" sz="1650"/>
          </a:p>
        </p:txBody>
      </p:sp>
      <p:sp>
        <p:nvSpPr>
          <p:cNvPr id="21" name="Text 21"/>
          <p:cNvSpPr txBox="1"/>
          <p:nvPr/>
        </p:nvSpPr>
        <p:spPr>
          <a:xfrm>
            <a:off x="4550000" y="2500000"/>
            <a:ext cx="3200000" cy="2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Vth = 開放端子電圧</a:t>
            </a:r>
            <a:endParaRPr lang="ja-JP" sz="1650"/>
          </a:p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Rth = 電源を0にして端子から見たR</a:t>
            </a:r>
            <a:endParaRPr lang="ja-JP" sz="1650"/>
          </a:p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IL = Vth/(Rth+RL)</a:t>
            </a:r>
            <a:endParaRPr lang="ja-JP" sz="1650"/>
          </a:p>
        </p:txBody>
      </p:sp>
      <p:sp>
        <p:nvSpPr>
          <p:cNvPr id="22" name="Text 22"/>
          <p:cNvSpPr txBox="1"/>
          <p:nvPr/>
        </p:nvSpPr>
        <p:spPr>
          <a:xfrm>
            <a:off x="8350000" y="2500000"/>
            <a:ext cx="3200000" cy="2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RN = Rth</a:t>
            </a:r>
            <a:endParaRPr lang="ja-JP" sz="1650"/>
          </a:p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IN = Vth/Rth</a:t>
            </a:r>
            <a:endParaRPr lang="ja-JP" sz="1650"/>
          </a:p>
          <a:p>
            <a:pPr algn="l" lvl="0"/>
            <a:r>
              <a:rPr lang="ja-JP" sz="1650" b="0" dirty="0">
                <a:solidFill>
                  <a:srgbClr val="202020"/>
                </a:solidFill>
                <a:latin typeface="Noto Sans CJK JP"/>
                <a:ea typeface="Noto Sans CJK JP"/>
              </a:rPr>
              <a:t>Vth = IN·Rth</a:t>
            </a:r>
            <a:endParaRPr lang="ja-JP" sz="1650"/>
          </a:p>
        </p:txBody>
      </p:sp>
      <p:sp>
        <p:nvSpPr>
          <p:cNvPr id="23" name="Text 23"/>
          <p:cNvSpPr txBox="1"/>
          <p:nvPr/>
        </p:nvSpPr>
        <p:spPr>
          <a:xfrm>
            <a:off x="750000" y="4900000"/>
            <a:ext cx="103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800" b="1" dirty="0">
                <a:solidFill>
                  <a:srgbClr val="1F4E79"/>
                </a:solidFill>
                <a:latin typeface="Noto Sans CJK JP"/>
                <a:ea typeface="Noto Sans CJK JP"/>
              </a:rPr>
              <a:t>例題：VA = 6 + 2 = 8 V ／ Vth=8 V, Rth=2 Ω ↔ IN=4 A, RN=2 Ω</a:t>
            </a:r>
            <a:endParaRPr lang="ja-JP" sz="1800"/>
          </a:p>
        </p:txBody>
      </p:sp>
      <p:sp>
        <p:nvSpPr>
          <p:cNvPr id="24" name="Text 24"/>
          <p:cNvSpPr txBox="1"/>
          <p:nvPr/>
        </p:nvSpPr>
        <p:spPr>
          <a:xfrm>
            <a:off x="750000" y="5850000"/>
            <a:ext cx="103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400" b="1" dirty="0">
                <a:solidFill>
                  <a:srgbClr val="1F4E79"/>
                </a:solidFill>
                <a:latin typeface="Noto Sans CJK JP"/>
                <a:ea typeface="Noto Sans CJK JP"/>
              </a:rPr>
              <a:t>対応：R6上 問5・問7、R6下 問6</a:t>
            </a:r>
            <a:endParaRPr lang="ja-JP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28600"/>
            <a:ext cx="1127760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3000" b="1" dirty="0">
                <a:solidFill>
                  <a:srgbClr val="1F4E79"/>
                </a:solidFill>
                <a:latin typeface="Noto Sans CJK JP"/>
                <a:ea typeface="Noto Sans CJK JP"/>
              </a:rPr>
              <a:t>負荷電力・最大電力と過去問品質ゲート</a:t>
            </a:r>
            <a:endParaRPr lang="ja-JP" sz="3000"/>
          </a:p>
        </p:txBody>
      </p:sp>
      <p:sp>
        <p:nvSpPr>
          <p:cNvPr id="3" name="Text 3"/>
          <p:cNvSpPr txBox="1"/>
          <p:nvPr/>
        </p:nvSpPr>
        <p:spPr>
          <a:xfrm>
            <a:off x="457200" y="8382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400" b="0" dirty="0">
                <a:solidFill>
                  <a:srgbClr val="5B6573"/>
                </a:solidFill>
                <a:latin typeface="Noto Sans CJK JP"/>
                <a:ea typeface="Noto Sans CJK JP"/>
              </a:rPr>
              <a:t>固定範囲外の磁気・交流・RLC・力率・三相・半導体・PWMは追加しない</a:t>
            </a:r>
            <a:endParaRPr lang="ja-JP" sz="1400"/>
          </a:p>
        </p:txBody>
      </p:sp>
      <p:sp>
        <p:nvSpPr>
          <p:cNvPr id="10" name="Text 10"/>
          <p:cNvSpPr txBox="1"/>
          <p:nvPr/>
        </p:nvSpPr>
        <p:spPr>
          <a:xfrm>
            <a:off x="700000" y="1450000"/>
            <a:ext cx="5000000" cy="1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800" b="0" dirty="0">
                <a:solidFill>
                  <a:srgbClr val="202020"/>
                </a:solidFill>
                <a:latin typeface="Noto Sans CJK JP"/>
                <a:ea typeface="Noto Sans CJK JP"/>
              </a:rPr>
              <a:t>負荷電力</a:t>
            </a:r>
            <a:endParaRPr lang="ja-JP" sz="1800"/>
          </a:p>
          <a:p>
            <a:pPr algn="l" lvl="0"/>
            <a:r>
              <a:rPr lang="ja-JP" sz="1800" b="0" dirty="0">
                <a:solidFill>
                  <a:srgbClr val="202020"/>
                </a:solidFill>
                <a:latin typeface="Noto Sans CJK JP"/>
                <a:ea typeface="Noto Sans CJK JP"/>
              </a:rPr>
              <a:t>PL = Vth²·RL/(Rth+RL)²</a:t>
            </a:r>
            <a:endParaRPr lang="ja-JP" sz="1800"/>
          </a:p>
          <a:p>
            <a:pPr algn="l" lvl="0"/>
            <a:r>
              <a:rPr lang="ja-JP" sz="1800" b="0" dirty="0">
                <a:solidFill>
                  <a:srgbClr val="202020"/>
                </a:solidFill>
                <a:latin typeface="Noto Sans CJK JP"/>
                <a:ea typeface="Noto Sans CJK JP"/>
              </a:rPr>
              <a:t>最大条件：RL = Rth</a:t>
            </a:r>
            <a:endParaRPr lang="ja-JP" sz="1800"/>
          </a:p>
          <a:p>
            <a:pPr algn="l" lvl="0"/>
            <a:r>
              <a:rPr lang="ja-JP" sz="1800" b="0" dirty="0">
                <a:solidFill>
                  <a:srgbClr val="202020"/>
                </a:solidFill>
                <a:latin typeface="Noto Sans CJK JP"/>
                <a:ea typeface="Noto Sans CJK JP"/>
              </a:rPr>
              <a:t>Pmax = Vth²/(4Rth)</a:t>
            </a:r>
            <a:endParaRPr lang="ja-JP" sz="1800"/>
          </a:p>
          <a:p>
            <a:pPr algn="l" lvl="0"/>
            <a:r>
              <a:rPr lang="ja-JP" sz="1800" b="0" dirty="0">
                <a:solidFill>
                  <a:srgbClr val="202020"/>
                </a:solidFill>
                <a:latin typeface="Noto Sans CJK JP"/>
                <a:ea typeface="Noto Sans CJK JP"/>
              </a:rPr>
              <a:t>例題：RL=2 Ω → Pmax=8 W</a:t>
            </a:r>
            <a:endParaRPr lang="ja-JP" sz="1800"/>
          </a:p>
        </p:txBody>
      </p:sp>
      <p:sp>
        <p:nvSpPr>
          <p:cNvPr id="20" name="Shape 20"/>
          <p:cNvSpPr txBox="1"/>
          <p:nvPr/>
        </p:nvSpPr>
        <p:spPr>
          <a:xfrm>
            <a:off x="6500000" y="1500000"/>
            <a:ext cx="4600000" cy="9000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txBody>
          <a:bodyPr wrap="square"/>
          <a:lstStyle/>
          <a:p>
            <a:pPr algn="ctr" lvl="0"/>
            <a:r>
              <a:rPr lang="ja-JP" sz="2150" b="1" dirty="0">
                <a:solidFill>
                  <a:srgbClr val="202020"/>
                </a:solidFill>
                <a:latin typeface="Noto Sans CJK JP"/>
                <a:ea typeface="Noto Sans CJK JP"/>
              </a:rPr>
              <a:t>最大電力は RL = Rth</a:t>
            </a:r>
            <a:endParaRPr lang="ja-JP" sz="2150"/>
          </a:p>
        </p:txBody>
      </p:sp>
      <p:sp>
        <p:nvSpPr>
          <p:cNvPr id="21" name="Text 21"/>
          <p:cNvSpPr txBox="1"/>
          <p:nvPr/>
        </p:nvSpPr>
        <p:spPr>
          <a:xfrm>
            <a:off x="6500000" y="2700000"/>
            <a:ext cx="46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600" b="1" dirty="0">
                <a:solidFill>
                  <a:srgbClr val="B54708"/>
                </a:solidFill>
                <a:latin typeface="Noto Sans CJK JP"/>
                <a:ea typeface="Noto Sans CJK JP"/>
              </a:rPr>
              <a:t>RL=0 は短絡。負荷電圧も負荷電力も0。</a:t>
            </a:r>
            <a:endParaRPr lang="ja-JP" sz="1600"/>
          </a:p>
          <a:p>
            <a:pPr algn="l" lvl="0"/>
            <a:r>
              <a:rPr lang="ja-JP" sz="1600" b="1" dirty="0">
                <a:solidFill>
                  <a:srgbClr val="B54708"/>
                </a:solidFill>
                <a:latin typeface="Noto Sans CJK JP"/>
                <a:ea typeface="Noto Sans CJK JP"/>
              </a:rPr>
              <a:t>「短絡なら最大」は誤り。</a:t>
            </a:r>
            <a:endParaRPr lang="ja-JP" sz="1600"/>
          </a:p>
        </p:txBody>
      </p:sp>
      <p:sp>
        <p:nvSpPr>
          <p:cNvPr id="30" name="Text 30"/>
          <p:cNvSpPr txBox="1"/>
          <p:nvPr/>
        </p:nvSpPr>
        <p:spPr>
          <a:xfrm>
            <a:off x="700000" y="4000000"/>
            <a:ext cx="105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400" b="0" dirty="0">
                <a:solidFill>
                  <a:srgbClr val="202020"/>
                </a:solidFill>
                <a:latin typeface="Noto Sans CJK JP"/>
                <a:ea typeface="Noto Sans CJK JP"/>
              </a:rPr>
              <a:t>ゲート対象6問</a:t>
            </a:r>
            <a:endParaRPr lang="ja-JP" sz="1400"/>
          </a:p>
          <a:p>
            <a:pPr algn="l" lvl="0"/>
            <a:r>
              <a:rPr lang="ja-JP" sz="1400" b="0" dirty="0">
                <a:solidFill>
                  <a:srgbClr val="202020"/>
                </a:solidFill>
                <a:latin typeface="Noto Sans CJK JP"/>
                <a:ea typeface="Noto Sans CJK JP"/>
              </a:rPr>
              <a:t>R8上 問5：同一電池並列・負荷電力　 R8上 問7：並列・KCL・未知R</a:t>
            </a:r>
            <a:endParaRPr lang="ja-JP" sz="1400"/>
          </a:p>
          <a:p>
            <a:pPr algn="l" lvl="0"/>
            <a:r>
              <a:rPr lang="ja-JP" sz="1400" b="0" dirty="0">
                <a:solidFill>
                  <a:srgbClr val="202020"/>
                </a:solidFill>
                <a:latin typeface="Noto Sans CJK JP"/>
                <a:ea typeface="Noto Sans CJK JP"/>
              </a:rPr>
              <a:t>R7下 問5：直並列・電力比較　　　　 R6上 問5：テブナン・負荷電力</a:t>
            </a:r>
            <a:endParaRPr lang="ja-JP" sz="1400"/>
          </a:p>
          <a:p>
            <a:pPr algn="l" lvl="0"/>
            <a:r>
              <a:rPr lang="ja-JP" sz="1400" b="0" dirty="0">
                <a:solidFill>
                  <a:srgbClr val="202020"/>
                </a:solidFill>
                <a:latin typeface="Noto Sans CJK JP"/>
                <a:ea typeface="Noto Sans CJK JP"/>
              </a:rPr>
              <a:t>R6上 問7：等価抵抗・最大電力　　　 R6下 問6：複数電源・KCL/KVL</a:t>
            </a:r>
            <a:endParaRPr lang="ja-JP" sz="1400"/>
          </a:p>
        </p:txBody>
      </p:sp>
      <p:sp>
        <p:nvSpPr>
          <p:cNvPr id="31" name="Text 31"/>
          <p:cNvSpPr txBox="1"/>
          <p:nvPr/>
        </p:nvSpPr>
        <p:spPr>
          <a:xfrm>
            <a:off x="700000" y="5650000"/>
            <a:ext cx="1050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 lvl="0"/>
            <a:r>
              <a:rPr lang="ja-JP" sz="1500" b="1" dirty="0">
                <a:solidFill>
                  <a:srgbClr val="1F4E79"/>
                </a:solidFill>
                <a:latin typeface="Noto Sans CJK JP"/>
                <a:ea typeface="Noto Sans CJK JP"/>
              </a:rPr>
              <a:t>次工程：完成教材だけで6問を独立再解答。教材外知識で補完した場合はFAIL。</a:t>
            </a:r>
            <a:endParaRPr lang="ja-JP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CJK JP"/>
        <a:ea typeface="Noto Sans CJK JP"/>
        <a:cs typeface="Arial"/>
      </a:majorFont>
      <a:minorFont>
        <a:latin typeface="Noto Sans CJK JP"/>
        <a:ea typeface="Noto Sans CJK JP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