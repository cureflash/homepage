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CJK JP"/>
              </a:rPr>
              <a:t>電験三種 理論｜Topic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65196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cureflash/homepage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1967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00" b="1">
                <a:solidFill>
                  <a:srgbClr val="17324D"/>
                </a:solidFill>
                <a:latin typeface="Noto Sans CJK JP"/>
              </a:rPr>
              <a:t>架線はただの銅線ではない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Noto Sans CJK JP"/>
              </a:rPr>
              <a:t>抵抗率・長さ・断面積・温度から、抵抗・発熱・電圧降下を読む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36392"/>
            <a:ext cx="9966960" cy="45720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0200" y="2816352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93522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E5D8A"/>
                </a:solidFill>
                <a:latin typeface="Noto Sans CJK JP"/>
              </a:rPr>
              <a:t>ρ</a:t>
            </a:r>
          </a:p>
        </p:txBody>
      </p:sp>
      <p:sp>
        <p:nvSpPr>
          <p:cNvPr id="11" name="Oval 10"/>
          <p:cNvSpPr/>
          <p:nvPr/>
        </p:nvSpPr>
        <p:spPr>
          <a:xfrm>
            <a:off x="3703320" y="2816352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93522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E5D8A"/>
                </a:solidFill>
                <a:latin typeface="Noto Sans CJK JP"/>
              </a:rPr>
              <a:t>l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2816352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93522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E5D8A"/>
                </a:solidFill>
                <a:latin typeface="Noto Sans CJK JP"/>
              </a:rPr>
              <a:t>S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816352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3522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2E5D8A"/>
                </a:solidFill>
                <a:latin typeface="Noto Sans CJK JP"/>
              </a:rPr>
              <a:t>温度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886200"/>
            <a:ext cx="5303520" cy="822960"/>
          </a:xfrm>
          <a:prstGeom prst="roundRect">
            <a:avLst/>
          </a:prstGeom>
          <a:solidFill>
            <a:srgbClr val="DCEAF6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959352"/>
            <a:ext cx="5120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R = ρl /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83480"/>
            <a:ext cx="98755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7212B"/>
                </a:solidFill>
                <a:latin typeface="Noto Sans CJK JP"/>
              </a:rPr>
              <a:t>電験で問われるのは「値を入れる」だけではなく、比例関係・直並列・温度変化・条件に応じた電力式の選択。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CJK JP"/>
              </a:rPr>
              <a:t>電験三種 理論｜Topic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65196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cureflash/homepage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1967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Noto Sans CJK JP"/>
              </a:rPr>
              <a:t>1. 導体抵抗は何で決まる？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3268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Noto Sans CJK JP"/>
              </a:rPr>
              <a:t>抵抗率 ρ は材料固有、R は「材料＋形状」で決まる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4297680" cy="749808"/>
          </a:xfrm>
          <a:prstGeom prst="roundRect">
            <a:avLst/>
          </a:prstGeom>
          <a:solidFill>
            <a:srgbClr val="DCEAF6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114800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R = ρl /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333756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624328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5D8A"/>
                </a:solidFill>
                <a:latin typeface="Noto Sans CJK JP"/>
              </a:rPr>
              <a:t>長さ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054096"/>
            <a:ext cx="3044952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同一材料・同一断面積なら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R ∝ l</a:t>
            </a:r>
            <a:br/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長さ2倍 → 抵抗2倍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514600"/>
            <a:ext cx="333756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624328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D7A57"/>
                </a:solidFill>
                <a:latin typeface="Noto Sans CJK JP"/>
              </a:rPr>
              <a:t>断面積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054096"/>
            <a:ext cx="3044952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同一材料・同一長さなら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R ∝ 1/S</a:t>
            </a:r>
            <a:br/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断面積2倍 → 抵抗1/2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514600"/>
            <a:ext cx="333756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892B"/>
                </a:solidFill>
                <a:latin typeface="Noto Sans CJK JP"/>
              </a:rPr>
              <a:t>抵抗率 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054096"/>
            <a:ext cx="3044952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単位 Ω·m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導電率 σ = 1/ρ</a:t>
            </a:r>
            <a:br/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ρ が大きいほど流れにくい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389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34A4A"/>
                </a:solidFill>
                <a:latin typeface="Noto Sans CJK JP"/>
              </a:rPr>
              <a:t>典型ミス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102352"/>
            <a:ext cx="9189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7212B"/>
                </a:solidFill>
                <a:latin typeface="Noto Sans CJK JP"/>
              </a:rPr>
              <a:t>1 mm² = 10⁻⁶ m²。直径 d の円形断面は S = πd²/4 なので、直径2倍なら断面積4倍・抵抗1/4。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CJK JP"/>
              </a:rPr>
              <a:t>電験三種 理論｜Topic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65196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cureflash/homepage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1967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Noto Sans CJK JP"/>
              </a:rPr>
              <a:t>2. 直列と並列を見分ける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3268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Noto Sans CJK JP"/>
              </a:rPr>
              <a:t>回路条件を先に判定すると、式選択と検算が安定する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E5D8A"/>
                </a:solidFill>
                <a:latin typeface="Noto Sans CJK JP"/>
              </a:rPr>
              <a:t>直列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30552"/>
            <a:ext cx="3931920" cy="3657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00200" y="1828800"/>
            <a:ext cx="868680" cy="640080"/>
          </a:xfrm>
          <a:prstGeom prst="rect">
            <a:avLst/>
          </a:prstGeom>
          <a:solidFill>
            <a:srgbClr val="EEF4F8"/>
          </a:solidFill>
          <a:ln w="1905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828800"/>
            <a:ext cx="868680" cy="640080"/>
          </a:xfrm>
          <a:prstGeom prst="rect">
            <a:avLst/>
          </a:prstGeom>
          <a:solidFill>
            <a:srgbClr val="EEF4F8"/>
          </a:solidFill>
          <a:ln w="1905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98424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Noto Sans CJK JP"/>
              </a:rPr>
              <a:t>R₁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98424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Noto Sans CJK JP"/>
              </a:rPr>
              <a:t>R₂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834640"/>
            <a:ext cx="3520440" cy="621792"/>
          </a:xfrm>
          <a:prstGeom prst="roundRect">
            <a:avLst/>
          </a:prstGeom>
          <a:solidFill>
            <a:srgbClr val="DCEAF6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907792"/>
            <a:ext cx="3337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Rₛ = R₁ + R₂ +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Noto Sans CJK JP"/>
              </a:rPr>
              <a:t>各抵抗に同じ電流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D7A57"/>
                </a:solidFill>
                <a:latin typeface="Noto Sans CJK JP"/>
              </a:rPr>
              <a:t>並列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36576" cy="182880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96144" y="1828800"/>
            <a:ext cx="36576" cy="182880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130552"/>
            <a:ext cx="3931920" cy="3657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319272"/>
            <a:ext cx="3931920" cy="36576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82127" y="1828800"/>
            <a:ext cx="960120" cy="640080"/>
          </a:xfrm>
          <a:prstGeom prst="rect">
            <a:avLst/>
          </a:prstGeom>
          <a:solidFill>
            <a:srgbClr val="EAF4EE"/>
          </a:solidFill>
          <a:ln w="19050">
            <a:solidFill>
              <a:srgbClr val="2D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7" y="3017520"/>
            <a:ext cx="960120" cy="640080"/>
          </a:xfrm>
          <a:prstGeom prst="rect">
            <a:avLst/>
          </a:prstGeom>
          <a:solidFill>
            <a:srgbClr val="EAF4EE"/>
          </a:solidFill>
          <a:ln w="19050">
            <a:solidFill>
              <a:srgbClr val="2D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198424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Noto Sans CJK JP"/>
              </a:rPr>
              <a:t>R₁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317296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Noto Sans CJK JP"/>
              </a:rPr>
              <a:t>R₂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977639"/>
            <a:ext cx="3657600" cy="621792"/>
          </a:xfrm>
          <a:prstGeom prst="roundRect">
            <a:avLst/>
          </a:prstGeom>
          <a:solidFill>
            <a:srgbClr val="EAF4EE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050791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Rₚ = R₁R₂ / (R₁+R₂)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736592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67085"/>
                </a:solidFill>
                <a:latin typeface="Noto Sans CJK JP"/>
              </a:rPr>
              <a:t>各枝に同じ電圧 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230368"/>
            <a:ext cx="10287000" cy="603504"/>
          </a:xfrm>
          <a:prstGeom prst="roundRect">
            <a:avLst/>
          </a:prstGeom>
          <a:solidFill>
            <a:srgbClr val="FFF3E2"/>
          </a:solidFill>
          <a:ln w="12700">
            <a:solidFill>
              <a:srgbClr val="D8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" y="5394960"/>
            <a:ext cx="9921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8892B"/>
                </a:solidFill>
                <a:latin typeface="Noto Sans CJK JP"/>
              </a:rPr>
              <a:t>検算：並列合成抵抗は、必ず最小の枝抵抗より小さい。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CJK JP"/>
              </a:rPr>
              <a:t>電験三種 理論｜Topic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65196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cureflash/homepage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1967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Noto Sans CJK JP"/>
              </a:rPr>
              <a:t>3. 温度が変わると抵抗も変わる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3268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Noto Sans CJK JP"/>
              </a:rPr>
              <a:t>温度係数は「各抵抗を先に補正」してから回路計算へ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417320"/>
            <a:ext cx="8503920" cy="713232"/>
          </a:xfrm>
          <a:prstGeom prst="roundRect">
            <a:avLst/>
          </a:prstGeom>
          <a:solidFill>
            <a:srgbClr val="DCEAF6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490472"/>
            <a:ext cx="8321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Rₜ = R₀ { 1 + α (t − t₀)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324612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624328"/>
            <a:ext cx="29535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5D8A"/>
                </a:solidFill>
                <a:latin typeface="Noto Sans CJK JP"/>
              </a:rPr>
              <a:t>手順① 個別に補正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54096"/>
            <a:ext cx="295351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R₁,ₜ = R₁,₀{1+α₁Δt}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R₂,ₜ = R₂,₀{1+α₂Δt}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723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667085"/>
                </a:solidFill>
                <a:latin typeface="Noto Sans CJK JP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514600"/>
            <a:ext cx="274320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2624328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D7A57"/>
                </a:solidFill>
                <a:latin typeface="Noto Sans CJK JP"/>
              </a:rPr>
              <a:t>手順② 合成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054096"/>
            <a:ext cx="245059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直列なら和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並列なら R₁R₂/(R₁+R₂)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30723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667085"/>
                </a:solidFill>
                <a:latin typeface="Noto Sans CJK JP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514600"/>
            <a:ext cx="251460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0264" y="2624328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892B"/>
                </a:solidFill>
                <a:latin typeface="Noto Sans CJK JP"/>
              </a:rPr>
              <a:t>手順③ I・P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3054096"/>
            <a:ext cx="222199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一定電圧: I=V/R, P=V²/R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一定電流: P=I²R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983480"/>
            <a:ext cx="10058400" cy="68580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B3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5296" y="518464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B34A4A"/>
                </a:solidFill>
                <a:latin typeface="Noto Sans CJK JP"/>
              </a:rPr>
              <a:t>誤り：最初に合成してから、どちらか一方の温度係数でまとめて補正する。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CJK JP"/>
              </a:rPr>
              <a:t>電験三種 理論｜Topic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65196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cureflash/homepage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1967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Noto Sans CJK JP"/>
              </a:rPr>
              <a:t>4. 発熱・電力・電圧降下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3268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Noto Sans CJK JP"/>
              </a:rPr>
              <a:t>同じ抵抗でも「何が一定か」で使う式が変わる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4892040" cy="713232"/>
          </a:xfrm>
          <a:prstGeom prst="roundRect">
            <a:avLst/>
          </a:prstGeom>
          <a:solidFill>
            <a:srgbClr val="DCEAF6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90472"/>
            <a:ext cx="47091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P = VI = I²R = V²/R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2057400" cy="713232"/>
          </a:xfrm>
          <a:prstGeom prst="roundRect">
            <a:avLst/>
          </a:prstGeom>
          <a:solidFill>
            <a:srgbClr val="EAF4EE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90472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ΔV = 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17320"/>
            <a:ext cx="2331720" cy="713232"/>
          </a:xfrm>
          <a:prstGeom prst="roundRect">
            <a:avLst/>
          </a:prstGeom>
          <a:solidFill>
            <a:srgbClr val="FFF3E2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490472"/>
            <a:ext cx="21488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Q = I²Rt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560320"/>
            <a:ext cx="3383280" cy="2103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2670048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5D8A"/>
                </a:solidFill>
                <a:latin typeface="Noto Sans CJK JP"/>
              </a:rPr>
              <a:t>直列で比較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099815"/>
            <a:ext cx="3090672" cy="1463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同じ電流が流れる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→ P = I²R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→ R が大きい方が P 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560320"/>
            <a:ext cx="3383280" cy="2103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670048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D7A57"/>
                </a:solidFill>
                <a:latin typeface="Noto Sans CJK JP"/>
              </a:rPr>
              <a:t>並列で比較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099815"/>
            <a:ext cx="3090672" cy="1463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同じ電圧が加わる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→ P = V²/R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→ R が小さい方が P 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560320"/>
            <a:ext cx="3383280" cy="2103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2670048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892B"/>
                </a:solidFill>
                <a:latin typeface="Noto Sans CJK JP"/>
              </a:rPr>
              <a:t>導体の電圧降下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099815"/>
            <a:ext cx="3090672" cy="1463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ΔV = IR = Iρl/S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長い・細い・ρ大 → ΔV大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34A4A"/>
                </a:solidFill>
                <a:latin typeface="Noto Sans CJK JP"/>
              </a:rPr>
              <a:t>単位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2920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7212B"/>
                </a:solidFill>
                <a:latin typeface="Noto Sans CJK JP"/>
              </a:rPr>
              <a:t>I²R は電力 [W]、I²Rt はエネルギー [J]。時間 t を掛けたかどうかを確認する。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CJK JP"/>
              </a:rPr>
              <a:t>電験三種 理論｜Topic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65196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cureflash/homepage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1967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Noto Sans CJK JP"/>
              </a:rPr>
              <a:t>5. 3段階例題で解法を固定する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3268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Noto Sans CJK JP"/>
              </a:rPr>
              <a:t>基礎 → 本試験標準 → 複合・ひっかけ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52044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27048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5D8A"/>
                </a:solidFill>
                <a:latin typeface="Noto Sans CJK JP"/>
              </a:rPr>
              <a:t>基礎：R = ρl/S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56816"/>
            <a:ext cx="3227832" cy="3520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仮定値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ρ=2.0×10⁻⁸ Ω·m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l=500 m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S=100 mm²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I=300 A</a:t>
            </a:r>
            <a:br/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R=0.100 Ω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ΔV=30.0 V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P=9.0 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527048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D7A57"/>
                </a:solidFill>
                <a:latin typeface="Noto Sans CJK JP"/>
              </a:rPr>
              <a:t>標準：直列＋並列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956816"/>
            <a:ext cx="3227832" cy="3520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2 Ω + (6 Ω || Rx) = 4 Ω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→ 並列部 Rp=2 Ω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→ Rx=3 Ω</a:t>
            </a:r>
            <a:br/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20 V印加時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Vp=10 V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P₆≈16.7 W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Px≈33.3 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52044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3" y="1527048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892B"/>
                </a:solidFill>
                <a:latin typeface="Noto Sans CJK JP"/>
              </a:rPr>
              <a:t>複合：温度係数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1956816"/>
            <a:ext cx="3227832" cy="3520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20→70 ℃, 24 V一定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R₁: 10→12 Ω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R₂: 20→22 Ω</a:t>
            </a:r>
            <a:br/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Rp: 6.667→7.765 Ω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I: 3.600→3.091 A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減少率 ≈14.1%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806440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17324D"/>
                </a:solidFill>
                <a:latin typeface="Noto Sans CJK JP"/>
              </a:rPr>
              <a:t>どの例題でも「条件判定 → 式選択 → 単位 → 計算 → 増減方向の検算」の順を崩さない。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Noto Sans CJK JP"/>
              </a:rPr>
              <a:t>電験三種 理論｜Topic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65196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cureflash/homepage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1967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67085"/>
                </a:solidFill>
                <a:latin typeface="Noto Sans CJK JP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Noto Sans CJK JP"/>
              </a:rPr>
              <a:t>6. 新幹線架線への接続と試験チェック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3268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Noto Sans CJK JP"/>
              </a:rPr>
              <a:t>数値は教材用仮定値。実車の架線仕様として扱わない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5D8A"/>
                </a:solidFill>
                <a:latin typeface="Noto Sans CJK JP"/>
              </a:rPr>
              <a:t>仮想の単一導体モデル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39112"/>
            <a:ext cx="5852160" cy="45720"/>
          </a:xfrm>
          <a:prstGeom prst="rect">
            <a:avLst/>
          </a:prstGeom>
          <a:solidFill>
            <a:srgbClr val="2E5D8A"/>
          </a:solidFill>
          <a:ln>
            <a:solidFill>
              <a:srgbClr val="2E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194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7212B"/>
                </a:solidFill>
                <a:latin typeface="Noto Sans Mono CJK JP"/>
              </a:rPr>
              <a:t>ρ = 3.0×10⁻⁸ Ω·m</a:t>
            </a:r>
            <a:br/>
            <a:r>
              <a:rPr sz="1400" b="0">
                <a:solidFill>
                  <a:srgbClr val="17212B"/>
                </a:solidFill>
                <a:latin typeface="Noto Sans Mono CJK JP"/>
              </a:rPr>
              <a:t>l = 1000 m</a:t>
            </a:r>
            <a:br/>
            <a:r>
              <a:rPr sz="1400" b="0">
                <a:solidFill>
                  <a:srgbClr val="17212B"/>
                </a:solidFill>
                <a:latin typeface="Noto Sans Mono CJK JP"/>
              </a:rPr>
              <a:t>S = 150 mm²</a:t>
            </a:r>
            <a:br/>
            <a:r>
              <a:rPr sz="1400" b="0">
                <a:solidFill>
                  <a:srgbClr val="17212B"/>
                </a:solidFill>
                <a:latin typeface="Noto Sans Mono CJK JP"/>
              </a:rPr>
              <a:t>I = 400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423160"/>
            <a:ext cx="2743200" cy="594360"/>
          </a:xfrm>
          <a:prstGeom prst="roundRect">
            <a:avLst/>
          </a:prstGeom>
          <a:solidFill>
            <a:srgbClr val="DCEAF6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96312"/>
            <a:ext cx="256032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R = 0.20 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246120"/>
            <a:ext cx="2743200" cy="594360"/>
          </a:xfrm>
          <a:prstGeom prst="roundRect">
            <a:avLst/>
          </a:prstGeom>
          <a:solidFill>
            <a:srgbClr val="EAF4EE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319272"/>
            <a:ext cx="256032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ΔV = 80 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069080"/>
            <a:ext cx="2743200" cy="594360"/>
          </a:xfrm>
          <a:prstGeom prst="roundRect">
            <a:avLst/>
          </a:prstGeom>
          <a:solidFill>
            <a:srgbClr val="FFF3E2"/>
          </a:solidFill>
          <a:ln w="10160">
            <a:solidFill>
              <a:srgbClr val="B8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142232"/>
            <a:ext cx="256032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Noto Sans Mono CJK JP"/>
              </a:rPr>
              <a:t>P = 32 kW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1417320"/>
            <a:ext cx="434340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1527048"/>
            <a:ext cx="40507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Noto Sans CJK JP"/>
              </a:rPr>
              <a:t>本試験でのチェック項目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1956816"/>
            <a:ext cx="4050791" cy="3703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7212B"/>
                </a:solidFill>
                <a:latin typeface="Noto Sans CJK JP"/>
              </a:rPr>
              <a:t>・ρ と R を混同しない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・mm²→m² を正しく換算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・直列/並列を先に判定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・並列合成 &lt; 最小枝抵抗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・温度差は t−t₀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・温度係数が違えば個別補正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・電力は同一I / 同一Vで式選択</a:t>
            </a:r>
            <a:br/>
            <a:r>
              <a:rPr sz="1150" b="0">
                <a:solidFill>
                  <a:srgbClr val="17212B"/>
                </a:solidFill>
                <a:latin typeface="Noto Sans CJK JP"/>
              </a:rPr>
              <a:t>・ΔV=IR の増減方向を検算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257800"/>
            <a:ext cx="5715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Noto Sans CJK JP"/>
              </a:rPr>
              <a:t>材料選定には張力・摩耗・機械的強度・高速集電性能も関係するが、本Topicでは抵抗計算の範囲に留める。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