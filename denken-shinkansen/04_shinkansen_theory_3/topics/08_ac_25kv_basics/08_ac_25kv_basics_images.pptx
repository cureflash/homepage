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2600" b="1">
                <a:solidFill>
                  <a:srgbClr val="192B43"/>
                </a:solidFill>
                <a:latin typeface="Aptos"/>
                <a:ea typeface="Yu Gothic"/>
              </a:rPr>
              <a:t>交流25 kVは「実効値」</a:t>
            </a:r>
            <a:endParaRPr lang="ja-JP"/>
          </a:p>
        </p:txBody>
      </p:sp>
      <p:sp>
        <p:nvSpPr>
          <p:cNvPr id="3" name="Sub"/>
          <p:cNvSpPr txBox="1"/>
          <p:nvPr/>
        </p:nvSpPr>
        <p:spPr>
          <a:xfrm>
            <a:off x="9784080" y="292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r"/>
            <a:r>
              <a:rPr lang="ja-JP" sz="900">
                <a:solidFill>
                  <a:srgbClr val="667080"/>
                </a:solidFill>
                <a:latin typeface="Aptos"/>
                <a:ea typeface="Yu Gothic"/>
              </a:rPr>
              <a:t>Topic 08</a:t>
            </a:r>
            <a:endParaRPr lang="ja-JP"/>
          </a:p>
        </p:txBody>
      </p:sp>
      <p:cxnSp>
        <p:nvCxnSpPr>
          <p:cNvPr id="4" name="rul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6E1EF"/>
            </a:solidFill>
          </a:ln>
        </p:spPr>
      </p:cxnSp>
      <p:sp>
        <p:nvSpPr>
          <p:cNvPr id="5" name="FormulaBox"/>
          <p:cNvSpPr/>
          <p:nvPr/>
        </p:nvSpPr>
        <p:spPr>
          <a:xfrm>
            <a:off x="594360" y="1143000"/>
            <a:ext cx="3291840" cy="20574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D6E1EF"/>
            </a:solidFill>
          </a:ln>
        </p:spPr>
      </p:sp>
      <p:sp>
        <p:nvSpPr>
          <p:cNvPr id="6" name="Formula"/>
          <p:cNvSpPr txBox="1"/>
          <p:nvPr/>
        </p:nvSpPr>
        <p:spPr>
          <a:xfrm>
            <a:off x="822960" y="14173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2500" b="1">
                <a:solidFill>
                  <a:srgbClr val="2B5DA0"/>
                </a:solidFill>
                <a:latin typeface="Aptos"/>
                <a:ea typeface="Yu Gothic"/>
              </a:rPr>
              <a:t>V = Vm / √2</a:t>
            </a:r>
            <a:endParaRPr lang="ja-JP"/>
          </a:p>
        </p:txBody>
      </p:sp>
      <p:sp>
        <p:nvSpPr>
          <p:cNvPr id="7" name="Formula2"/>
          <p:cNvSpPr txBox="1"/>
          <p:nvPr/>
        </p:nvSpPr>
        <p:spPr>
          <a:xfrm>
            <a:off x="822960" y="19202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2100" b="1">
                <a:solidFill>
                  <a:srgbClr val="192B43"/>
                </a:solidFill>
                <a:latin typeface="Aptos"/>
                <a:ea typeface="Yu Gothic"/>
              </a:rPr>
              <a:t>Vm = √2 V</a:t>
            </a:r>
            <a:endParaRPr lang="ja-JP"/>
          </a:p>
        </p:txBody>
      </p:sp>
      <p:sp>
        <p:nvSpPr>
          <p:cNvPr id="8" name="Train"/>
          <p:cNvSpPr txBox="1"/>
          <p:nvPr/>
        </p:nvSpPr>
        <p:spPr>
          <a:xfrm>
            <a:off x="749808" y="2542032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450" b="1">
                <a:solidFill>
                  <a:srgbClr val="2D3748"/>
                </a:solidFill>
                <a:latin typeface="Aptos"/>
                <a:ea typeface="Yu Gothic"/>
              </a:rPr>
              <a:t>25 kV → 最大値 25√2 ≈ 35.4 kV</a:t>
            </a:r>
            <a:endParaRPr lang="ja-JP"/>
          </a:p>
        </p:txBody>
      </p:sp>
      <p:cxnSp>
        <p:nvCxnSpPr>
          <p:cNvPr id="9" name="axisx"/>
          <p:cNvCxnSpPr/>
          <p:nvPr/>
        </p:nvCxnSpPr>
        <p:spPr>
          <a:xfrm>
            <a:off x="4434840" y="2514600"/>
            <a:ext cx="7040880" cy="0"/>
          </a:xfrm>
          <a:prstGeom prst="line">
            <a:avLst/>
          </a:prstGeom>
          <a:ln w="10000">
            <a:solidFill>
              <a:srgbClr val="667080"/>
            </a:solidFill>
          </a:ln>
        </p:spPr>
      </p:cxnSp>
      <p:cxnSp>
        <p:nvCxnSpPr>
          <p:cNvPr id="10" name="axisy"/>
          <p:cNvCxnSpPr/>
          <p:nvPr/>
        </p:nvCxnSpPr>
        <p:spPr>
          <a:xfrm>
            <a:off x="4434840" y="1234440"/>
            <a:ext cx="0" cy="2560320"/>
          </a:xfrm>
          <a:prstGeom prst="line">
            <a:avLst/>
          </a:prstGeom>
          <a:ln w="10000">
            <a:solidFill>
              <a:srgbClr val="667080"/>
            </a:solidFill>
          </a:ln>
        </p:spPr>
      </p:cxnSp>
      <p:cxnSp>
        <p:nvCxnSpPr>
          <p:cNvPr id="11" name="sine11"/>
          <p:cNvCxnSpPr/>
          <p:nvPr/>
        </p:nvCxnSpPr>
        <p:spPr>
          <a:xfrm>
            <a:off x="4434840" y="2514600"/>
            <a:ext cx="868680" cy="-91440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2" name="sine12"/>
          <p:cNvCxnSpPr/>
          <p:nvPr/>
        </p:nvCxnSpPr>
        <p:spPr>
          <a:xfrm>
            <a:off x="5303520" y="1600200"/>
            <a:ext cx="868680" cy="-365759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3" name="sine13"/>
          <p:cNvCxnSpPr/>
          <p:nvPr/>
        </p:nvCxnSpPr>
        <p:spPr>
          <a:xfrm>
            <a:off x="6172200" y="1234440"/>
            <a:ext cx="868680" cy="365759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4" name="sine14"/>
          <p:cNvCxnSpPr/>
          <p:nvPr/>
        </p:nvCxnSpPr>
        <p:spPr>
          <a:xfrm>
            <a:off x="7040880" y="1600200"/>
            <a:ext cx="868680" cy="91440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5" name="sine15"/>
          <p:cNvCxnSpPr/>
          <p:nvPr/>
        </p:nvCxnSpPr>
        <p:spPr>
          <a:xfrm>
            <a:off x="7909560" y="2514600"/>
            <a:ext cx="868679" cy="91440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6" name="sine16"/>
          <p:cNvCxnSpPr/>
          <p:nvPr/>
        </p:nvCxnSpPr>
        <p:spPr>
          <a:xfrm>
            <a:off x="8778240" y="3429000"/>
            <a:ext cx="868680" cy="36576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7" name="sine17"/>
          <p:cNvCxnSpPr/>
          <p:nvPr/>
        </p:nvCxnSpPr>
        <p:spPr>
          <a:xfrm>
            <a:off x="9646920" y="3794760"/>
            <a:ext cx="868679" cy="-36576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8" name="sine18"/>
          <p:cNvCxnSpPr/>
          <p:nvPr/>
        </p:nvCxnSpPr>
        <p:spPr>
          <a:xfrm>
            <a:off x="10515600" y="3429000"/>
            <a:ext cx="868679" cy="-914400"/>
          </a:xfrm>
          <a:prstGeom prst="line">
            <a:avLst/>
          </a:prstGeom>
          <a:ln w="25000">
            <a:solidFill>
              <a:srgbClr val="2B5DA0"/>
            </a:solidFill>
          </a:ln>
        </p:spPr>
      </p:cxnSp>
      <p:cxnSp>
        <p:nvCxnSpPr>
          <p:cNvPr id="19" name="maxguide"/>
          <p:cNvCxnSpPr/>
          <p:nvPr/>
        </p:nvCxnSpPr>
        <p:spPr>
          <a:xfrm>
            <a:off x="4434840" y="1234440"/>
            <a:ext cx="1325880" cy="0"/>
          </a:xfrm>
          <a:prstGeom prst="line">
            <a:avLst/>
          </a:prstGeom>
          <a:ln w="9000">
            <a:solidFill>
              <a:srgbClr val="D6E1EF"/>
            </a:solidFill>
          </a:ln>
        </p:spPr>
      </p:cxnSp>
      <p:cxnSp>
        <p:nvCxnSpPr>
          <p:cNvPr id="20" name="rmsguide"/>
          <p:cNvCxnSpPr/>
          <p:nvPr/>
        </p:nvCxnSpPr>
        <p:spPr>
          <a:xfrm>
            <a:off x="4434840" y="1600200"/>
            <a:ext cx="1325880" cy="0"/>
          </a:xfrm>
          <a:prstGeom prst="line">
            <a:avLst/>
          </a:prstGeom>
          <a:ln w="9000">
            <a:solidFill>
              <a:srgbClr val="A0A8B3"/>
            </a:solidFill>
            <a:prstDash val="dash"/>
          </a:ln>
        </p:spPr>
      </p:cxnSp>
      <p:sp>
        <p:nvSpPr>
          <p:cNvPr id="21" name="labels"/>
          <p:cNvSpPr txBox="1"/>
          <p:nvPr/>
        </p:nvSpPr>
        <p:spPr>
          <a:xfrm>
            <a:off x="4572000" y="10515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000" b="1">
                <a:solidFill>
                  <a:srgbClr val="46505C"/>
                </a:solidFill>
                <a:latin typeface="Aptos"/>
                <a:ea typeface="Yu Gothic"/>
              </a:rPr>
              <a:t>最大値 Vm</a:t>
            </a:r>
            <a:endParaRPr lang="ja-JP"/>
          </a:p>
          <a:p>
            <a:pPr algn="l"/>
            <a:r>
              <a:rPr lang="ja-JP" sz="1000" b="1">
                <a:solidFill>
                  <a:srgbClr val="46505C"/>
                </a:solidFill>
                <a:latin typeface="Aptos"/>
                <a:ea typeface="Yu Gothic"/>
              </a:rPr>
              <a:t>実効値 V</a:t>
            </a:r>
            <a:endParaRPr lang="ja-JP"/>
          </a:p>
        </p:txBody>
      </p:sp>
      <p:sp>
        <p:nvSpPr>
          <p:cNvPr id="22" name="mean"/>
          <p:cNvSpPr txBox="1"/>
          <p:nvPr/>
        </p:nvSpPr>
        <p:spPr>
          <a:xfrm>
            <a:off x="4526280" y="4041648"/>
            <a:ext cx="6720840" cy="56692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瞬時値は時間で変化。1周期平均は0でも、実効値は0ではない。</a:t>
            </a:r>
            <a:endParaRPr lang="ja-JP"/>
          </a:p>
        </p:txBody>
      </p:sp>
      <p:sp>
        <p:nvSpPr>
          <p:cNvPr id="23" name="point"/>
          <p:cNvSpPr txBox="1"/>
          <p:nvPr/>
        </p:nvSpPr>
        <p:spPr>
          <a:xfrm>
            <a:off x="685800" y="507492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650" b="1">
                <a:solidFill>
                  <a:srgbClr val="192B43"/>
                </a:solidFill>
                <a:latin typeface="Aptos"/>
                <a:ea typeface="Yu Gothic"/>
              </a:rPr>
              <a:t>試験ポイント：瞬時値式の係数は最大値。実効値なら √2 倍してから使う。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2600" b="1">
                <a:solidFill>
                  <a:srgbClr val="192B43"/>
                </a:solidFill>
                <a:latin typeface="Aptos"/>
                <a:ea typeface="Yu Gothic"/>
              </a:rPr>
              <a:t>波形から 周期・周波数・角周波数・位相 を読む</a:t>
            </a:r>
            <a:endParaRPr lang="ja-JP"/>
          </a:p>
        </p:txBody>
      </p:sp>
      <p:sp>
        <p:nvSpPr>
          <p:cNvPr id="3" name="Sub"/>
          <p:cNvSpPr txBox="1"/>
          <p:nvPr/>
        </p:nvSpPr>
        <p:spPr>
          <a:xfrm>
            <a:off x="9784080" y="292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r"/>
            <a:r>
              <a:rPr lang="ja-JP" sz="900">
                <a:solidFill>
                  <a:srgbClr val="667080"/>
                </a:solidFill>
                <a:latin typeface="Aptos"/>
                <a:ea typeface="Yu Gothic"/>
              </a:rPr>
              <a:t>R3 問8型</a:t>
            </a:r>
            <a:endParaRPr lang="ja-JP"/>
          </a:p>
        </p:txBody>
      </p:sp>
      <p:cxnSp>
        <p:nvCxnSpPr>
          <p:cNvPr id="4" name="rul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6E1EF"/>
            </a:solidFill>
          </a:ln>
        </p:spPr>
      </p:cxnSp>
      <p:sp>
        <p:nvSpPr>
          <p:cNvPr id="5" name="Left"/>
          <p:cNvSpPr/>
          <p:nvPr/>
        </p:nvSpPr>
        <p:spPr>
          <a:xfrm>
            <a:off x="594360" y="1143000"/>
            <a:ext cx="5394960" cy="434340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D6E1EF"/>
            </a:solidFill>
          </a:ln>
        </p:spPr>
      </p:sp>
      <p:sp>
        <p:nvSpPr>
          <p:cNvPr id="6" name="Formula"/>
          <p:cNvSpPr txBox="1"/>
          <p:nvPr/>
        </p:nvSpPr>
        <p:spPr>
          <a:xfrm>
            <a:off x="868680" y="1389888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900" b="1">
                <a:solidFill>
                  <a:srgbClr val="192B43"/>
                </a:solidFill>
                <a:latin typeface="Aptos"/>
                <a:ea typeface="Yu Gothic"/>
              </a:rPr>
              <a:t>T = 1/f　　ω = 2πf</a:t>
            </a:r>
            <a:endParaRPr lang="ja-JP"/>
          </a:p>
          <a:p>
            <a:pPr algn="ctr"/>
            <a:r>
              <a:rPr lang="ja-JP" sz="1900" b="1">
                <a:solidFill>
                  <a:srgbClr val="192B43"/>
                </a:solidFill>
                <a:latin typeface="Aptos"/>
                <a:ea typeface="Yu Gothic"/>
              </a:rPr>
              <a:t>v = Vm sin(ωt + φ)</a:t>
            </a:r>
            <a:endParaRPr lang="ja-JP"/>
          </a:p>
        </p:txBody>
      </p:sp>
      <p:sp>
        <p:nvSpPr>
          <p:cNvPr id="7" name="fb"/>
          <p:cNvSpPr/>
          <p:nvPr/>
        </p:nvSpPr>
        <p:spPr>
          <a:xfrm>
            <a:off x="960120" y="2331720"/>
            <a:ext cx="1280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8DB"/>
            </a:solidFill>
          </a:ln>
        </p:spPr>
      </p:sp>
      <p:sp>
        <p:nvSpPr>
          <p:cNvPr id="8" name="ft"/>
          <p:cNvSpPr txBox="1"/>
          <p:nvPr/>
        </p:nvSpPr>
        <p:spPr>
          <a:xfrm>
            <a:off x="996696" y="2395727"/>
            <a:ext cx="1207008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250" b="1">
                <a:solidFill>
                  <a:srgbClr val="2D3748"/>
                </a:solidFill>
                <a:latin typeface="Aptos"/>
                <a:ea typeface="Yu Gothic"/>
              </a:rPr>
              <a:t>① 最大値 Vm</a:t>
            </a:r>
            <a:endParaRPr lang="ja-JP"/>
          </a:p>
        </p:txBody>
      </p:sp>
      <p:sp>
        <p:nvSpPr>
          <p:cNvPr id="9" name="fb"/>
          <p:cNvSpPr/>
          <p:nvPr/>
        </p:nvSpPr>
        <p:spPr>
          <a:xfrm>
            <a:off x="2514600" y="2331720"/>
            <a:ext cx="1280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8DB"/>
            </a:solidFill>
          </a:ln>
        </p:spPr>
      </p:sp>
      <p:sp>
        <p:nvSpPr>
          <p:cNvPr id="10" name="ft"/>
          <p:cNvSpPr txBox="1"/>
          <p:nvPr/>
        </p:nvSpPr>
        <p:spPr>
          <a:xfrm>
            <a:off x="2551176" y="2395727"/>
            <a:ext cx="1207008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250" b="1">
                <a:solidFill>
                  <a:srgbClr val="2D3748"/>
                </a:solidFill>
                <a:latin typeface="Aptos"/>
                <a:ea typeface="Yu Gothic"/>
              </a:rPr>
              <a:t>② 周期 T</a:t>
            </a:r>
            <a:endParaRPr lang="ja-JP"/>
          </a:p>
        </p:txBody>
      </p:sp>
      <p:sp>
        <p:nvSpPr>
          <p:cNvPr id="11" name="fb"/>
          <p:cNvSpPr/>
          <p:nvPr/>
        </p:nvSpPr>
        <p:spPr>
          <a:xfrm>
            <a:off x="4069080" y="2331720"/>
            <a:ext cx="1280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8DB"/>
            </a:solidFill>
          </a:ln>
        </p:spPr>
      </p:sp>
      <p:sp>
        <p:nvSpPr>
          <p:cNvPr id="12" name="ft"/>
          <p:cNvSpPr txBox="1"/>
          <p:nvPr/>
        </p:nvSpPr>
        <p:spPr>
          <a:xfrm>
            <a:off x="4105656" y="2395727"/>
            <a:ext cx="1207008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250" b="1">
                <a:solidFill>
                  <a:srgbClr val="2D3748"/>
                </a:solidFill>
                <a:latin typeface="Aptos"/>
                <a:ea typeface="Yu Gothic"/>
              </a:rPr>
              <a:t>③ f・ω</a:t>
            </a:r>
            <a:endParaRPr lang="ja-JP"/>
          </a:p>
        </p:txBody>
      </p:sp>
      <p:sp>
        <p:nvSpPr>
          <p:cNvPr id="13" name="fb"/>
          <p:cNvSpPr/>
          <p:nvPr/>
        </p:nvSpPr>
        <p:spPr>
          <a:xfrm>
            <a:off x="2514600" y="3429000"/>
            <a:ext cx="1280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8DB"/>
            </a:solidFill>
          </a:ln>
        </p:spPr>
      </p:sp>
      <p:sp>
        <p:nvSpPr>
          <p:cNvPr id="14" name="ft"/>
          <p:cNvSpPr txBox="1"/>
          <p:nvPr/>
        </p:nvSpPr>
        <p:spPr>
          <a:xfrm>
            <a:off x="2551176" y="3493008"/>
            <a:ext cx="1207008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250" b="1">
                <a:solidFill>
                  <a:srgbClr val="2D3748"/>
                </a:solidFill>
                <a:latin typeface="Aptos"/>
                <a:ea typeface="Yu Gothic"/>
              </a:rPr>
              <a:t>④ 位相 φ</a:t>
            </a:r>
            <a:endParaRPr lang="ja-JP"/>
          </a:p>
        </p:txBody>
      </p:sp>
      <p:cxnSp>
        <p:nvCxnSpPr>
          <p:cNvPr id="15" name="a1"/>
          <p:cNvCxnSpPr/>
          <p:nvPr/>
        </p:nvCxnSpPr>
        <p:spPr>
          <a:xfrm>
            <a:off x="2240280" y="2615184"/>
            <a:ext cx="256031" cy="0"/>
          </a:xfrm>
          <a:prstGeom prst="line">
            <a:avLst/>
          </a:prstGeom>
          <a:ln w="18000">
            <a:solidFill>
              <a:srgbClr val="2B5DA0"/>
            </a:solidFill>
            <a:tailEnd type="none"/>
            <a:headEnd type="triangle"/>
          </a:ln>
        </p:spPr>
      </p:cxnSp>
      <p:cxnSp>
        <p:nvCxnSpPr>
          <p:cNvPr id="16" name="a2"/>
          <p:cNvCxnSpPr/>
          <p:nvPr/>
        </p:nvCxnSpPr>
        <p:spPr>
          <a:xfrm>
            <a:off x="3794760" y="2615184"/>
            <a:ext cx="256031" cy="0"/>
          </a:xfrm>
          <a:prstGeom prst="line">
            <a:avLst/>
          </a:prstGeom>
          <a:ln w="18000">
            <a:solidFill>
              <a:srgbClr val="2B5DA0"/>
            </a:solidFill>
            <a:tailEnd type="none"/>
            <a:headEnd type="triangle"/>
          </a:ln>
        </p:spPr>
      </p:cxnSp>
      <p:cxnSp>
        <p:nvCxnSpPr>
          <p:cNvPr id="17" name="a3"/>
          <p:cNvCxnSpPr/>
          <p:nvPr/>
        </p:nvCxnSpPr>
        <p:spPr>
          <a:xfrm>
            <a:off x="4709160" y="2907792"/>
            <a:ext cx="-914400" cy="493776"/>
          </a:xfrm>
          <a:prstGeom prst="line">
            <a:avLst/>
          </a:prstGeom>
          <a:ln w="18000">
            <a:solidFill>
              <a:srgbClr val="2B5DA0"/>
            </a:solidFill>
            <a:tailEnd type="none"/>
            <a:headEnd type="triangle"/>
          </a:ln>
        </p:spPr>
      </p:cxnSp>
      <p:sp>
        <p:nvSpPr>
          <p:cNvPr id="18" name="zero"/>
          <p:cNvSpPr txBox="1"/>
          <p:nvPr/>
        </p:nvSpPr>
        <p:spPr>
          <a:xfrm>
            <a:off x="914400" y="4315968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上向き零交差を使うと位相の符号を誤りにくい。</a:t>
            </a:r>
            <a:endParaRPr lang="ja-JP"/>
          </a:p>
          <a:p>
            <a:pPr algn="ctr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純抵抗なら電圧と電流は同相。</a:t>
            </a:r>
            <a:endParaRPr lang="ja-JP"/>
          </a:p>
        </p:txBody>
      </p:sp>
      <p:sp>
        <p:nvSpPr>
          <p:cNvPr id="19" name="Right"/>
          <p:cNvSpPr/>
          <p:nvPr/>
        </p:nvSpPr>
        <p:spPr>
          <a:xfrm>
            <a:off x="6263640" y="114300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</p:sp>
      <p:sp>
        <p:nvSpPr>
          <p:cNvPr id="20" name="OrderTitle"/>
          <p:cNvSpPr txBox="1"/>
          <p:nvPr/>
        </p:nvSpPr>
        <p:spPr>
          <a:xfrm>
            <a:off x="6565392" y="141732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850" b="1">
                <a:solidFill>
                  <a:srgbClr val="192B43"/>
                </a:solidFill>
                <a:latin typeface="Aptos"/>
                <a:ea typeface="Yu Gothic"/>
              </a:rPr>
              <a:t>波形読取の順序</a:t>
            </a:r>
            <a:endParaRPr lang="ja-JP"/>
          </a:p>
        </p:txBody>
      </p:sp>
      <p:sp>
        <p:nvSpPr>
          <p:cNvPr id="21" name="Steps"/>
          <p:cNvSpPr txBox="1"/>
          <p:nvPr/>
        </p:nvSpPr>
        <p:spPr>
          <a:xfrm>
            <a:off x="6565392" y="1901952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1. 縦軸から最大値を読む</a:t>
            </a:r>
            <a:endParaRPr lang="ja-JP"/>
          </a:p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2. 横軸から周期を読む</a:t>
            </a:r>
            <a:endParaRPr lang="ja-JP"/>
          </a:p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3. f=1/T、ω=2πf</a:t>
            </a:r>
            <a:endParaRPr lang="ja-JP"/>
          </a:p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4. 零交差から位相を読む</a:t>
            </a:r>
            <a:endParaRPr lang="ja-JP"/>
          </a:p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5. 瞬時値式へ入れる</a:t>
            </a:r>
            <a:endParaRPr lang="ja-JP"/>
          </a:p>
          <a:p>
            <a:pPr algn="l"/>
            <a:r>
              <a:rPr lang="ja-JP" sz="1450">
                <a:solidFill>
                  <a:srgbClr val="2D3748"/>
                </a:solidFill>
                <a:latin typeface="Aptos"/>
                <a:ea typeface="Yu Gothic"/>
              </a:rPr>
              <a:t>6. 選択肢と照合する</a:t>
            </a:r>
            <a:endParaRPr lang="ja-JP"/>
          </a:p>
        </p:txBody>
      </p:sp>
      <p:sp>
        <p:nvSpPr>
          <p:cNvPr id="22" name="phase"/>
          <p:cNvSpPr txBox="1"/>
          <p:nvPr/>
        </p:nvSpPr>
        <p:spPr>
          <a:xfrm>
            <a:off x="685800" y="5696712"/>
            <a:ext cx="10881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450" b="1">
                <a:solidFill>
                  <a:srgbClr val="2D3748"/>
                </a:solidFill>
                <a:latin typeface="Aptos"/>
                <a:ea typeface="Yu Gothic"/>
              </a:rPr>
              <a:t>φ &gt; 0 は進み、φ &lt; 0 は遅れ。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2600" b="1">
                <a:solidFill>
                  <a:srgbClr val="192B43"/>
                </a:solidFill>
                <a:latin typeface="Aptos"/>
                <a:ea typeface="Yu Gothic"/>
              </a:rPr>
              <a:t>同一周波数の正弦波はベクトルで合成できる</a:t>
            </a:r>
            <a:endParaRPr lang="ja-JP"/>
          </a:p>
        </p:txBody>
      </p:sp>
      <p:sp>
        <p:nvSpPr>
          <p:cNvPr id="3" name="Sub"/>
          <p:cNvSpPr txBox="1"/>
          <p:nvPr/>
        </p:nvSpPr>
        <p:spPr>
          <a:xfrm>
            <a:off x="9784080" y="292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r"/>
            <a:r>
              <a:rPr lang="ja-JP" sz="900">
                <a:solidFill>
                  <a:srgbClr val="667080"/>
                </a:solidFill>
                <a:latin typeface="Aptos"/>
                <a:ea typeface="Yu Gothic"/>
              </a:rPr>
              <a:t>R6下 問8型</a:t>
            </a:r>
            <a:endParaRPr lang="ja-JP"/>
          </a:p>
        </p:txBody>
      </p:sp>
      <p:cxnSp>
        <p:nvCxnSpPr>
          <p:cNvPr id="4" name="rul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6E1EF"/>
            </a:solidFill>
          </a:ln>
        </p:spPr>
      </p:cxnSp>
      <p:sp>
        <p:nvSpPr>
          <p:cNvPr id="5" name="VecBox"/>
          <p:cNvSpPr/>
          <p:nvPr/>
        </p:nvSpPr>
        <p:spPr>
          <a:xfrm>
            <a:off x="594360" y="1143000"/>
            <a:ext cx="4800600" cy="438912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D6E1EF"/>
            </a:solidFill>
          </a:ln>
        </p:spPr>
      </p:sp>
      <p:cxnSp>
        <p:nvCxnSpPr>
          <p:cNvPr id="6" name="vx"/>
          <p:cNvCxnSpPr/>
          <p:nvPr/>
        </p:nvCxnSpPr>
        <p:spPr>
          <a:xfrm>
            <a:off x="1325880" y="4251960"/>
            <a:ext cx="3474720" cy="0"/>
          </a:xfrm>
          <a:prstGeom prst="line">
            <a:avLst/>
          </a:prstGeom>
          <a:ln w="10000">
            <a:solidFill>
              <a:srgbClr val="667080"/>
            </a:solidFill>
          </a:ln>
        </p:spPr>
      </p:cxnSp>
      <p:cxnSp>
        <p:nvCxnSpPr>
          <p:cNvPr id="7" name="vy"/>
          <p:cNvCxnSpPr/>
          <p:nvPr/>
        </p:nvCxnSpPr>
        <p:spPr>
          <a:xfrm>
            <a:off x="2743200" y="4892040"/>
            <a:ext cx="0" cy="-3291839"/>
          </a:xfrm>
          <a:prstGeom prst="line">
            <a:avLst/>
          </a:prstGeom>
          <a:ln w="10000">
            <a:solidFill>
              <a:srgbClr val="667080"/>
            </a:solidFill>
          </a:ln>
        </p:spPr>
      </p:cxnSp>
      <p:cxnSp>
        <p:nvCxnSpPr>
          <p:cNvPr id="8" name="v1"/>
          <p:cNvCxnSpPr/>
          <p:nvPr/>
        </p:nvCxnSpPr>
        <p:spPr>
          <a:xfrm>
            <a:off x="2743200" y="4251960"/>
            <a:ext cx="1572767" cy="0"/>
          </a:xfrm>
          <a:prstGeom prst="line">
            <a:avLst/>
          </a:prstGeom>
          <a:ln w="28000">
            <a:solidFill>
              <a:srgbClr val="2B5DA0"/>
            </a:solidFill>
            <a:tailEnd type="none"/>
            <a:headEnd type="triangle"/>
          </a:ln>
        </p:spPr>
      </p:cxnSp>
      <p:cxnSp>
        <p:nvCxnSpPr>
          <p:cNvPr id="9" name="v2"/>
          <p:cNvCxnSpPr/>
          <p:nvPr/>
        </p:nvCxnSpPr>
        <p:spPr>
          <a:xfrm>
            <a:off x="2743200" y="4251960"/>
            <a:ext cx="0" cy="-1691640"/>
          </a:xfrm>
          <a:prstGeom prst="line">
            <a:avLst/>
          </a:prstGeom>
          <a:ln w="28000">
            <a:solidFill>
              <a:srgbClr val="192B43"/>
            </a:solidFill>
            <a:tailEnd type="none"/>
            <a:headEnd type="triangle"/>
          </a:ln>
        </p:spPr>
      </p:cxnSp>
      <p:cxnSp>
        <p:nvCxnSpPr>
          <p:cNvPr id="10" name="sum"/>
          <p:cNvCxnSpPr/>
          <p:nvPr/>
        </p:nvCxnSpPr>
        <p:spPr>
          <a:xfrm>
            <a:off x="2743200" y="4251960"/>
            <a:ext cx="1572767" cy="-1691640"/>
          </a:xfrm>
          <a:prstGeom prst="line">
            <a:avLst/>
          </a:prstGeom>
          <a:ln w="28000">
            <a:solidFill>
              <a:srgbClr val="2D3748"/>
            </a:solidFill>
            <a:tailEnd type="none"/>
            <a:headEnd type="triangle"/>
          </a:ln>
        </p:spPr>
      </p:cxnSp>
      <p:sp>
        <p:nvSpPr>
          <p:cNvPr id="11" name="vlabels"/>
          <p:cNvSpPr txBox="1"/>
          <p:nvPr/>
        </p:nvSpPr>
        <p:spPr>
          <a:xfrm>
            <a:off x="283464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150" b="1">
                <a:solidFill>
                  <a:srgbClr val="46505C"/>
                </a:solidFill>
                <a:latin typeface="Aptos"/>
                <a:ea typeface="Yu Gothic"/>
              </a:rPr>
              <a:t>100 V　　合成</a:t>
            </a:r>
            <a:endParaRPr lang="ja-JP"/>
          </a:p>
        </p:txBody>
      </p:sp>
      <p:sp>
        <p:nvSpPr>
          <p:cNvPr id="12" name="vres"/>
          <p:cNvSpPr txBox="1"/>
          <p:nvPr/>
        </p:nvSpPr>
        <p:spPr>
          <a:xfrm>
            <a:off x="914400" y="47548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450" b="1">
                <a:solidFill>
                  <a:srgbClr val="192B43"/>
                </a:solidFill>
                <a:latin typeface="Aptos"/>
                <a:ea typeface="Yu Gothic"/>
              </a:rPr>
              <a:t>大きさ 100√2 V　位相 +π/4</a:t>
            </a:r>
            <a:endParaRPr lang="ja-JP"/>
          </a:p>
        </p:txBody>
      </p:sp>
      <p:sp>
        <p:nvSpPr>
          <p:cNvPr id="13" name="Calc"/>
          <p:cNvSpPr/>
          <p:nvPr/>
        </p:nvSpPr>
        <p:spPr>
          <a:xfrm>
            <a:off x="5669280" y="1143000"/>
            <a:ext cx="5897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</p:sp>
      <p:sp>
        <p:nvSpPr>
          <p:cNvPr id="14" name="eq1"/>
          <p:cNvSpPr txBox="1"/>
          <p:nvPr/>
        </p:nvSpPr>
        <p:spPr>
          <a:xfrm>
            <a:off x="5989320" y="1481328"/>
            <a:ext cx="525780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800" b="1">
                <a:solidFill>
                  <a:srgbClr val="192B43"/>
                </a:solidFill>
                <a:latin typeface="Aptos"/>
                <a:ea typeface="Yu Gothic"/>
              </a:rPr>
              <a:t>v₁ = 100 sinωt</a:t>
            </a:r>
            <a:endParaRPr lang="ja-JP"/>
          </a:p>
          <a:p>
            <a:pPr algn="ctr"/>
            <a:r>
              <a:rPr lang="ja-JP" sz="1800" b="1">
                <a:solidFill>
                  <a:srgbClr val="192B43"/>
                </a:solidFill>
                <a:latin typeface="Aptos"/>
                <a:ea typeface="Yu Gothic"/>
              </a:rPr>
              <a:t>v₂ = 100 sin(ωt+π/2)</a:t>
            </a:r>
            <a:endParaRPr lang="ja-JP"/>
          </a:p>
        </p:txBody>
      </p:sp>
      <p:sp>
        <p:nvSpPr>
          <p:cNvPr id="15" name="eq2"/>
          <p:cNvSpPr txBox="1"/>
          <p:nvPr/>
        </p:nvSpPr>
        <p:spPr>
          <a:xfrm>
            <a:off x="5989320" y="2468880"/>
            <a:ext cx="5257800" cy="96012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900" b="1">
                <a:solidFill>
                  <a:srgbClr val="2D3748"/>
                </a:solidFill>
                <a:latin typeface="Aptos"/>
                <a:ea typeface="Yu Gothic"/>
              </a:rPr>
              <a:t>C = √(100²+100²) = 100√2</a:t>
            </a:r>
            <a:endParaRPr lang="ja-JP"/>
          </a:p>
          <a:p>
            <a:pPr algn="ctr"/>
            <a:r>
              <a:rPr lang="ja-JP" sz="1900" b="1">
                <a:solidFill>
                  <a:srgbClr val="2D3748"/>
                </a:solidFill>
                <a:latin typeface="Aptos"/>
                <a:ea typeface="Yu Gothic"/>
              </a:rPr>
              <a:t>φ = π/4</a:t>
            </a:r>
            <a:endParaRPr lang="ja-JP"/>
          </a:p>
        </p:txBody>
      </p:sp>
      <p:sp>
        <p:nvSpPr>
          <p:cNvPr id="16" name="conditions"/>
          <p:cNvSpPr txBox="1"/>
          <p:nvPr/>
        </p:nvSpPr>
        <p:spPr>
          <a:xfrm>
            <a:off x="6126480" y="3730752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250">
                <a:solidFill>
                  <a:srgbClr val="2D3748"/>
                </a:solidFill>
                <a:latin typeface="Aptos"/>
                <a:ea typeface="Yu Gothic"/>
              </a:rPr>
              <a:t>条件</a:t>
            </a:r>
            <a:endParaRPr lang="ja-JP"/>
          </a:p>
          <a:p>
            <a:pPr algn="l"/>
            <a:r>
              <a:rPr lang="ja-JP" sz="1250">
                <a:solidFill>
                  <a:srgbClr val="2D3748"/>
                </a:solidFill>
                <a:latin typeface="Aptos"/>
                <a:ea typeface="Yu Gothic"/>
              </a:rPr>
              <a:t>・周波数が同じ</a:t>
            </a:r>
            <a:endParaRPr lang="ja-JP"/>
          </a:p>
          <a:p>
            <a:pPr algn="l"/>
            <a:r>
              <a:rPr lang="ja-JP" sz="1250">
                <a:solidFill>
                  <a:srgbClr val="2D3748"/>
                </a:solidFill>
                <a:latin typeface="Aptos"/>
                <a:ea typeface="Yu Gothic"/>
              </a:rPr>
              <a:t>・最大値同士／実効値同士にそろえる</a:t>
            </a:r>
            <a:endParaRPr lang="ja-JP"/>
          </a:p>
          <a:p>
            <a:pPr algn="l"/>
            <a:r>
              <a:rPr lang="ja-JP" sz="1250">
                <a:solidFill>
                  <a:srgbClr val="2D3748"/>
                </a:solidFill>
                <a:latin typeface="Aptos"/>
                <a:ea typeface="Yu Gothic"/>
              </a:rPr>
              <a:t>・合成後の大きさと位相を確認</a:t>
            </a:r>
            <a:endParaRPr lang="ja-JP"/>
          </a:p>
        </p:txBody>
      </p:sp>
      <p:sp>
        <p:nvSpPr>
          <p:cNvPr id="17" name="boundary"/>
          <p:cNvSpPr txBox="1"/>
          <p:nvPr/>
        </p:nvSpPr>
        <p:spPr>
          <a:xfrm>
            <a:off x="685800" y="5705856"/>
            <a:ext cx="10881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450" b="1">
                <a:solidFill>
                  <a:srgbClr val="2D3748"/>
                </a:solidFill>
                <a:latin typeface="Aptos"/>
                <a:ea typeface="Yu Gothic"/>
              </a:rPr>
              <a:t>固定ベクトル合成は「同一周波数の正弦波」に限定。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2600" b="1">
                <a:solidFill>
                  <a:srgbClr val="192B43"/>
                </a:solidFill>
                <a:latin typeface="Aptos"/>
                <a:ea typeface="Yu Gothic"/>
              </a:rPr>
              <a:t>本試験で使う2つの解法フロー</a:t>
            </a:r>
            <a:endParaRPr lang="ja-JP"/>
          </a:p>
        </p:txBody>
      </p:sp>
      <p:sp>
        <p:nvSpPr>
          <p:cNvPr id="3" name="Sub"/>
          <p:cNvSpPr txBox="1"/>
          <p:nvPr/>
        </p:nvSpPr>
        <p:spPr>
          <a:xfrm>
            <a:off x="9784080" y="292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r"/>
            <a:r>
              <a:rPr lang="ja-JP" sz="900">
                <a:solidFill>
                  <a:srgbClr val="667080"/>
                </a:solidFill>
                <a:latin typeface="Aptos"/>
                <a:ea typeface="Yu Gothic"/>
              </a:rPr>
              <a:t>固定4過去問</a:t>
            </a:r>
            <a:endParaRPr lang="ja-JP"/>
          </a:p>
        </p:txBody>
      </p:sp>
      <p:cxnSp>
        <p:nvCxnSpPr>
          <p:cNvPr id="4" name="rul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6E1EF"/>
            </a:solidFill>
          </a:ln>
        </p:spPr>
      </p:cxnSp>
      <p:sp>
        <p:nvSpPr>
          <p:cNvPr id="5" name="A"/>
          <p:cNvSpPr/>
          <p:nvPr/>
        </p:nvSpPr>
        <p:spPr>
          <a:xfrm>
            <a:off x="594360" y="1143000"/>
            <a:ext cx="5349240" cy="4480560"/>
          </a:xfrm>
          <a:prstGeom prst="roundRect">
            <a:avLst/>
          </a:prstGeom>
          <a:solidFill>
            <a:srgbClr val="EFF4FA"/>
          </a:solidFill>
          <a:ln w="12700">
            <a:solidFill>
              <a:srgbClr val="D6E1EF"/>
            </a:solidFill>
          </a:ln>
        </p:spPr>
      </p:sp>
      <p:sp>
        <p:nvSpPr>
          <p:cNvPr id="6" name="At"/>
          <p:cNvSpPr txBox="1"/>
          <p:nvPr/>
        </p:nvSpPr>
        <p:spPr>
          <a:xfrm>
            <a:off x="868680" y="138988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750" b="1">
                <a:solidFill>
                  <a:srgbClr val="192B43"/>
                </a:solidFill>
                <a:latin typeface="Aptos"/>
                <a:ea typeface="Yu Gothic"/>
              </a:rPr>
              <a:t>A｜指定瞬時値へ「最初」に到達</a:t>
            </a:r>
            <a:endParaRPr lang="ja-JP"/>
          </a:p>
        </p:txBody>
      </p:sp>
      <p:sp>
        <p:nvSpPr>
          <p:cNvPr id="7" name="As"/>
          <p:cNvSpPr txBox="1"/>
          <p:nvPr/>
        </p:nvSpPr>
        <p:spPr>
          <a:xfrm>
            <a:off x="868680" y="1938528"/>
            <a:ext cx="4709160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1. 最大値／実効値を判定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2. 必要なら √2 変換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3. T=1/f、ω=2πf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4. sin(ωt+φ)=a を作る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5. 1周期内の候補から最小の t&gt;0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6. 元の式へ代入して検算</a:t>
            </a:r>
            <a:endParaRPr lang="ja-JP"/>
          </a:p>
        </p:txBody>
      </p:sp>
      <p:sp>
        <p:nvSpPr>
          <p:cNvPr id="8" name="Am"/>
          <p:cNvSpPr txBox="1"/>
          <p:nvPr/>
        </p:nvSpPr>
        <p:spPr>
          <a:xfrm>
            <a:off x="1005840" y="5029200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150" b="1">
                <a:solidFill>
                  <a:srgbClr val="2B5DA0"/>
                </a:solidFill>
                <a:latin typeface="Aptos"/>
                <a:ea typeface="Yu Gothic"/>
              </a:rPr>
              <a:t>R7上 問8／H21 問9</a:t>
            </a:r>
            <a:endParaRPr lang="ja-JP"/>
          </a:p>
        </p:txBody>
      </p:sp>
      <p:sp>
        <p:nvSpPr>
          <p:cNvPr id="9" name="B"/>
          <p:cNvSpPr/>
          <p:nvPr/>
        </p:nvSpPr>
        <p:spPr>
          <a:xfrm>
            <a:off x="621792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</p:sp>
      <p:sp>
        <p:nvSpPr>
          <p:cNvPr id="10" name="Bt"/>
          <p:cNvSpPr txBox="1"/>
          <p:nvPr/>
        </p:nvSpPr>
        <p:spPr>
          <a:xfrm>
            <a:off x="6492240" y="138988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750" b="1">
                <a:solidFill>
                  <a:srgbClr val="192B43"/>
                </a:solidFill>
                <a:latin typeface="Aptos"/>
                <a:ea typeface="Yu Gothic"/>
              </a:rPr>
              <a:t>B｜波形から瞬時値式を選ぶ</a:t>
            </a:r>
            <a:endParaRPr lang="ja-JP"/>
          </a:p>
        </p:txBody>
      </p:sp>
      <p:sp>
        <p:nvSpPr>
          <p:cNvPr id="11" name="Bs"/>
          <p:cNvSpPr txBox="1"/>
          <p:nvPr/>
        </p:nvSpPr>
        <p:spPr>
          <a:xfrm>
            <a:off x="6492240" y="1938528"/>
            <a:ext cx="4709160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1. 最大値を読む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2. 周期 → f → ω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3. 零交差から位相を読む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4. 純抵抗なら電圧・電流は同相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5. 最大値・ω・φ を式へ入れる</a:t>
            </a:r>
            <a:endParaRPr lang="ja-JP"/>
          </a:p>
          <a:p>
            <a:pPr algn="l"/>
            <a:r>
              <a:rPr lang="ja-JP" sz="1350">
                <a:solidFill>
                  <a:srgbClr val="2D3748"/>
                </a:solidFill>
                <a:latin typeface="Aptos"/>
                <a:ea typeface="Yu Gothic"/>
              </a:rPr>
              <a:t>6. 選択肢と照合する</a:t>
            </a:r>
            <a:endParaRPr lang="ja-JP"/>
          </a:p>
        </p:txBody>
      </p:sp>
      <p:sp>
        <p:nvSpPr>
          <p:cNvPr id="12" name="Bm"/>
          <p:cNvSpPr txBox="1"/>
          <p:nvPr/>
        </p:nvSpPr>
        <p:spPr>
          <a:xfrm>
            <a:off x="6629400" y="5029200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150" b="1">
                <a:solidFill>
                  <a:srgbClr val="2B5DA0"/>
                </a:solidFill>
                <a:latin typeface="Aptos"/>
                <a:ea typeface="Yu Gothic"/>
              </a:rPr>
              <a:t>R3 問8　｜　合成：R6下 問8</a:t>
            </a:r>
            <a:endParaRPr lang="ja-JP"/>
          </a:p>
        </p:txBody>
      </p:sp>
      <p:sp>
        <p:nvSpPr>
          <p:cNvPr id="13" name="bounds"/>
          <p:cNvSpPr txBox="1"/>
          <p:nvPr/>
        </p:nvSpPr>
        <p:spPr>
          <a:xfrm>
            <a:off x="685800" y="5779008"/>
            <a:ext cx="10881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F"/>
            </a:solidFill>
          </a:ln>
        </p:spPr>
        <p:txBody>
          <a:bodyPr wrap="square" lIns="45720" rIns="45720" tIns="27432" bIns="27432" anchor="ctr"/>
          <a:lstStyle/>
          <a:p>
            <a:pPr algn="ctr"/>
            <a:r>
              <a:rPr lang="ja-JP" sz="1300" b="1">
                <a:solidFill>
                  <a:srgbClr val="2D3748"/>
                </a:solidFill>
                <a:latin typeface="Aptos"/>
                <a:ea typeface="Yu Gothic"/>
              </a:rPr>
              <a:t>境界：RLC・力率・三相・高調波・非正弦波は扱わない。</a:t>
            </a:r>
            <a:endParaRPr lang="ja-JP"/>
          </a:p>
        </p:txBody>
      </p:sp>
    </p:spTree>
  </p:cSld>
  <p:clrMapOvr>
    <a:masterClrMapping/>
  </p:clrMapOvr>
</p:sld>
</file>