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2600" b="1">
                <a:solidFill>
                  <a:srgbClr val="163A5F"/>
                </a:solidFill>
                <a:latin typeface="Aptos"/>
                <a:ea typeface="Yu Gothic"/>
              </a:rPr>
              <a:t>測定器は「回路を変える」— 内部抵抗と測定レンジ</a:t>
            </a:r>
            <a:endParaRPr lang="ja-JP" sz="2600"/>
          </a:p>
        </p:txBody>
      </p:sp>
      <p:sp>
        <p:nvSpPr>
          <p:cNvPr id="3" name="Subtitle"/>
          <p:cNvSpPr txBox="1"/>
          <p:nvPr/>
        </p:nvSpPr>
        <p:spPr>
          <a:xfrm>
            <a:off x="429768" y="64008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200" b="0">
                <a:solidFill>
                  <a:srgbClr val="5B6B7A"/>
                </a:solidFill>
                <a:latin typeface="Aptos"/>
                <a:ea typeface="Yu Gothic"/>
              </a:rPr>
              <a:t>Topic 14｜固定過去問の計器計算を、等価回路へ戻して解く</a:t>
            </a:r>
            <a:endParaRPr lang="ja-JP" sz="1200"/>
          </a:p>
        </p:txBody>
      </p:sp>
      <p:sp>
        <p:nvSpPr>
          <p:cNvPr id="10" name="Vmeter"/>
          <p:cNvSpPr/>
          <p:nvPr/>
        </p:nvSpPr>
        <p:spPr>
          <a:xfrm>
            <a:off x="548640" y="1143000"/>
            <a:ext cx="2743200" cy="100584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3D6D99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電圧計 V</a:t>
            </a:r>
            <a:endParaRPr lang="ja-JP" sz="1800"/>
          </a:p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並列接続</a:t>
            </a:r>
            <a:endParaRPr lang="ja-JP" sz="1800"/>
          </a:p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理想: Rᵥ → ∞</a:t>
            </a:r>
            <a:endParaRPr lang="ja-JP" sz="1800"/>
          </a:p>
        </p:txBody>
      </p:sp>
      <p:sp>
        <p:nvSpPr>
          <p:cNvPr id="11" name="Ameter"/>
          <p:cNvSpPr/>
          <p:nvPr/>
        </p:nvSpPr>
        <p:spPr>
          <a:xfrm>
            <a:off x="3657600" y="1143000"/>
            <a:ext cx="2743200" cy="100584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3D6D99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電流計 A</a:t>
            </a:r>
            <a:endParaRPr lang="ja-JP" sz="1800"/>
          </a:p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直列接続</a:t>
            </a:r>
            <a:endParaRPr lang="ja-JP" sz="1800"/>
          </a:p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理想: Rₐ → 0</a:t>
            </a:r>
            <a:endParaRPr lang="ja-JP" sz="1800"/>
          </a:p>
        </p:txBody>
      </p:sp>
      <p:sp>
        <p:nvSpPr>
          <p:cNvPr id="12" name="Load"/>
          <p:cNvSpPr/>
          <p:nvPr/>
        </p:nvSpPr>
        <p:spPr>
          <a:xfrm>
            <a:off x="6766560" y="1143000"/>
            <a:ext cx="4754880" cy="100584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C57A00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Aptos"/>
                <a:ea typeface="Yu Gothic"/>
              </a:rPr>
              <a:t>実計器は回路要素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Aptos"/>
                <a:ea typeface="Yu Gothic"/>
              </a:rPr>
              <a:t>内部抵抗を無視しない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Aptos"/>
                <a:ea typeface="Yu Gothic"/>
              </a:rPr>
              <a:t>接続すると回路状態が変わる</a:t>
            </a:r>
            <a:endParaRPr lang="ja-JP" sz="1700"/>
          </a:p>
        </p:txBody>
      </p:sp>
      <p:sp>
        <p:nvSpPr>
          <p:cNvPr id="13" name="Shunt"/>
          <p:cNvSpPr/>
          <p:nvPr/>
        </p:nvSpPr>
        <p:spPr>
          <a:xfrm>
            <a:off x="594360" y="2514600"/>
            <a:ext cx="3474720" cy="1234440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分流器（電流計に並列）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Rₛ = IₐRₐ/(I−Iₐ)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= Rₐ/(n−1)</a:t>
            </a:r>
            <a:endParaRPr lang="ja-JP" sz="1700"/>
          </a:p>
        </p:txBody>
      </p:sp>
      <p:sp>
        <p:nvSpPr>
          <p:cNvPr id="14" name="Multiplier"/>
          <p:cNvSpPr/>
          <p:nvPr/>
        </p:nvSpPr>
        <p:spPr>
          <a:xfrm>
            <a:off x="4343400" y="2514600"/>
            <a:ext cx="3474720" cy="1234440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倍率器（電圧計に直列）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Rₘ = V/Iᵥ − Rᵥ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= (n−1)Rᵥ</a:t>
            </a:r>
            <a:endParaRPr lang="ja-JP" sz="1700"/>
          </a:p>
        </p:txBody>
      </p:sp>
      <p:sp>
        <p:nvSpPr>
          <p:cNvPr id="15" name="MaxScale"/>
          <p:cNvSpPr/>
          <p:nvPr/>
        </p:nvSpPr>
        <p:spPr>
          <a:xfrm>
            <a:off x="8092440" y="2514600"/>
            <a:ext cx="3474720" cy="1234440"/>
          </a:xfrm>
          <a:prstGeom prst="roundRect">
            <a:avLst/>
          </a:prstGeom>
          <a:solidFill>
            <a:srgbClr val="F8EEF8"/>
          </a:solidFill>
          <a:ln w="19050">
            <a:solidFill>
              <a:srgbClr val="7B4D8E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複数計器の最大目盛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Iᵢ,max = Vᵢ,max/Rᵢ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Imax = min(Iᵢ,max)</a:t>
            </a:r>
            <a:endParaRPr lang="ja-JP" sz="1700"/>
          </a:p>
        </p:txBody>
      </p:sp>
      <p:sp>
        <p:nvSpPr>
          <p:cNvPr id="16" name="Method"/>
          <p:cNvSpPr txBox="1"/>
          <p:nvPr/>
        </p:nvSpPr>
        <p:spPr>
          <a:xfrm>
            <a:off x="685800" y="4160520"/>
            <a:ext cx="1088136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解法: ①接続を決める → ②内部抵抗・付加抵抗を回路へ入れる → ③分流・分圧を使う → ④各最大目盛を個別確認</a:t>
            </a:r>
            <a:endParaRPr lang="ja-JP" sz="1700"/>
          </a:p>
          <a:p>
            <a:pPr algn="l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固定過去問: R8上 問16 / R7上 問16 / R6上 問16</a:t>
            </a:r>
            <a:endParaRPr lang="ja-JP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2600" b="1">
                <a:solidFill>
                  <a:srgbClr val="163A5F"/>
                </a:solidFill>
                <a:latin typeface="Aptos"/>
                <a:ea typeface="Yu Gothic"/>
              </a:rPr>
              <a:t>抵抗測定と測定誤差 — 平衡条件と計器損失</a:t>
            </a:r>
            <a:endParaRPr lang="ja-JP" sz="2600"/>
          </a:p>
        </p:txBody>
      </p:sp>
      <p:sp>
        <p:nvSpPr>
          <p:cNvPr id="3" name="Subtitle"/>
          <p:cNvSpPr txBox="1"/>
          <p:nvPr/>
        </p:nvSpPr>
        <p:spPr>
          <a:xfrm>
            <a:off x="429768" y="64008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200" b="0">
                <a:solidFill>
                  <a:srgbClr val="5B6B7A"/>
                </a:solidFill>
                <a:latin typeface="Aptos"/>
                <a:ea typeface="Yu Gothic"/>
              </a:rPr>
              <a:t>ブリッジ・零位法・CT/VTは「何を比較・変換して測るか」を押さえる</a:t>
            </a:r>
            <a:endParaRPr lang="ja-JP" sz="1200"/>
          </a:p>
        </p:txBody>
      </p:sp>
      <p:sp>
        <p:nvSpPr>
          <p:cNvPr id="10" name="Bridge"/>
          <p:cNvSpPr/>
          <p:nvPr/>
        </p:nvSpPr>
        <p:spPr>
          <a:xfrm>
            <a:off x="548640" y="1143000"/>
            <a:ext cx="5303520" cy="141732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3D6D99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ホイートストンブリッジ（零位法）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平衡: R₁/R₂ = R₃/Rₓ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Rₓ = R₂R₃/R₁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平衡時は検流計電流 = 0</a:t>
            </a:r>
            <a:endParaRPr lang="ja-JP" sz="1700"/>
          </a:p>
        </p:txBody>
      </p:sp>
      <p:sp>
        <p:nvSpPr>
          <p:cNvPr id="11" name="Error"/>
          <p:cNvSpPr/>
          <p:nvPr/>
        </p:nvSpPr>
        <p:spPr>
          <a:xfrm>
            <a:off x="6217920" y="1143000"/>
            <a:ext cx="5303520" cy="141732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C57A00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真値・測定値・誤差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e = xₘ − xₜ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相対誤差 δ = (xₘ−xₜ)/xₜ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計器損失: Pₐ = I²Rₐ</a:t>
            </a:r>
            <a:endParaRPr lang="ja-JP" sz="1700"/>
          </a:p>
        </p:txBody>
      </p:sp>
      <p:sp>
        <p:nvSpPr>
          <p:cNvPr id="12" name="Pot"/>
          <p:cNvSpPr/>
          <p:nvPr/>
        </p:nvSpPr>
        <p:spPr>
          <a:xfrm>
            <a:off x="548640" y="2880360"/>
            <a:ext cx="3383280" cy="1143000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電位差計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既知電圧と比較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平衡点で零位測定</a:t>
            </a:r>
            <a:endParaRPr lang="ja-JP" sz="1600"/>
          </a:p>
        </p:txBody>
      </p:sp>
      <p:sp>
        <p:nvSpPr>
          <p:cNvPr id="13" name="CT"/>
          <p:cNvSpPr/>
          <p:nvPr/>
        </p:nvSpPr>
        <p:spPr>
          <a:xfrm>
            <a:off x="4251960" y="2880360"/>
            <a:ext cx="3383280" cy="1143000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CT（変流器）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大電流 → 測定側電流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Iₚ/Iₛ = Nₛ/Nₚ</a:t>
            </a:r>
            <a:endParaRPr lang="ja-JP" sz="1600"/>
          </a:p>
        </p:txBody>
      </p:sp>
      <p:sp>
        <p:nvSpPr>
          <p:cNvPr id="14" name="VT"/>
          <p:cNvSpPr/>
          <p:nvPr/>
        </p:nvSpPr>
        <p:spPr>
          <a:xfrm>
            <a:off x="7955279" y="2880360"/>
            <a:ext cx="3383280" cy="1143000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VT（変圧器）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高電圧 → 測定側電圧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Vₚ/Vₛ = Nₚ/Nₛ</a:t>
            </a:r>
            <a:endParaRPr lang="ja-JP" sz="1600"/>
          </a:p>
        </p:txBody>
      </p:sp>
      <p:sp>
        <p:nvSpPr>
          <p:cNvPr id="15" name="Method2"/>
          <p:cNvSpPr txBox="1"/>
          <p:nvPr/>
        </p:nvSpPr>
        <p:spPr>
          <a:xfrm>
            <a:off x="685800" y="4389120"/>
            <a:ext cx="10789920" cy="10515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誤差問題: ①計器なしの真値 → ②内部抵抗を入れた測定値 → ③同じ物理量で比較</a:t>
            </a:r>
            <a:endParaRPr lang="ja-JP" sz="1700"/>
          </a:p>
          <a:p>
            <a:pPr algn="l"/>
            <a:r>
              <a:rPr lang="ja-JP" sz="1700" b="0">
                <a:solidFill>
                  <a:srgbClr val="222222"/>
                </a:solidFill>
                <a:latin typeface="Aptos"/>
                <a:ea typeface="Yu Gothic"/>
              </a:rPr>
              <a:t>固定過去問: R6下 問16 / R6上 問14 / R5下 問16</a:t>
            </a:r>
            <a:endParaRPr lang="ja-JP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2600" b="1">
                <a:solidFill>
                  <a:srgbClr val="163A5F"/>
                </a:solidFill>
                <a:latin typeface="Aptos"/>
                <a:ea typeface="Yu Gothic"/>
              </a:rPr>
              <a:t>指示計器・波形観測・A/D変換</a:t>
            </a:r>
            <a:endParaRPr lang="ja-JP" sz="2600"/>
          </a:p>
        </p:txBody>
      </p:sp>
      <p:sp>
        <p:nvSpPr>
          <p:cNvPr id="3" name="Subtitle"/>
          <p:cNvSpPr txBox="1"/>
          <p:nvPr/>
        </p:nvSpPr>
        <p:spPr>
          <a:xfrm>
            <a:off x="429768" y="64008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200" b="0">
                <a:solidFill>
                  <a:srgbClr val="5B6B7A"/>
                </a:solidFill>
                <a:latin typeface="Aptos"/>
                <a:ea typeface="Yu Gothic"/>
              </a:rPr>
              <a:t>平均値／実効値を区別し、ディジタル計測の3段階を混同しない</a:t>
            </a:r>
            <a:endParaRPr lang="ja-JP" sz="1200"/>
          </a:p>
        </p:txBody>
      </p:sp>
      <p:sp>
        <p:nvSpPr>
          <p:cNvPr id="10" name="Rect"/>
          <p:cNvSpPr/>
          <p:nvPr/>
        </p:nvSpPr>
        <p:spPr>
          <a:xfrm>
            <a:off x="548640" y="1097280"/>
            <a:ext cx="3657600" cy="164592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3D6D99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整流形電圧計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整流平均値 Vav,rect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実効値 Vrms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波形率 Kf = Vrms/Vav,rect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正弦波: Kf ≈ 1.11</a:t>
            </a:r>
            <a:endParaRPr lang="ja-JP" sz="1600"/>
          </a:p>
        </p:txBody>
      </p:sp>
      <p:sp>
        <p:nvSpPr>
          <p:cNvPr id="11" name="Scope"/>
          <p:cNvSpPr/>
          <p:nvPr/>
        </p:nvSpPr>
        <p:spPr>
          <a:xfrm>
            <a:off x="4434840" y="1097280"/>
            <a:ext cx="3337560" cy="1645920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波形観測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横軸 = 時間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縦軸 = 電圧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T = n·td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f = 1/T</a:t>
            </a:r>
            <a:endParaRPr lang="ja-JP" sz="1600"/>
          </a:p>
        </p:txBody>
      </p:sp>
      <p:sp>
        <p:nvSpPr>
          <p:cNvPr id="12" name="ADC"/>
          <p:cNvSpPr/>
          <p:nvPr/>
        </p:nvSpPr>
        <p:spPr>
          <a:xfrm>
            <a:off x="8001000" y="1097280"/>
            <a:ext cx="3520440" cy="164592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C57A00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A/D変換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標本化: 時間を離散化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量子化: 振幅を離散化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符号化: 数値を符号へ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Δ ≈ VFS/2ᴺ</a:t>
            </a:r>
            <a:endParaRPr lang="ja-JP" sz="1600"/>
          </a:p>
        </p:txBody>
      </p:sp>
      <p:sp>
        <p:nvSpPr>
          <p:cNvPr id="13" name="Flow1"/>
          <p:cNvSpPr/>
          <p:nvPr/>
        </p:nvSpPr>
        <p:spPr>
          <a:xfrm>
            <a:off x="822960" y="3246120"/>
            <a:ext cx="2011680" cy="713232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777777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Aptos"/>
                <a:ea typeface="Yu Gothic"/>
              </a:rPr>
              <a:t>アナログ信号</a:t>
            </a:r>
            <a:endParaRPr lang="ja-JP" sz="1600"/>
          </a:p>
        </p:txBody>
      </p:sp>
      <p:cxnSp>
        <p:nvCxnSpPr>
          <p:cNvPr id="14" name="arrow1"/>
          <p:cNvCxnSpPr/>
          <p:nvPr/>
        </p:nvCxnSpPr>
        <p:spPr>
          <a:xfrm>
            <a:off x="2852928" y="3602736"/>
            <a:ext cx="621791" cy="0"/>
          </a:xfrm>
          <a:prstGeom prst="line">
            <a:avLst/>
          </a:prstGeom>
          <a:ln w="28575">
            <a:solidFill>
              <a:srgbClr val="777777"/>
            </a:solidFill>
            <a:tailEnd type="triangle"/>
            <a:headEnd type="none"/>
          </a:ln>
        </p:spPr>
      </p:cxnSp>
      <p:sp>
        <p:nvSpPr>
          <p:cNvPr id="15" name="Flow2"/>
          <p:cNvSpPr/>
          <p:nvPr/>
        </p:nvSpPr>
        <p:spPr>
          <a:xfrm>
            <a:off x="3520440" y="3246120"/>
            <a:ext cx="1828800" cy="713232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3D6D99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Aptos"/>
                <a:ea typeface="Yu Gothic"/>
              </a:rPr>
              <a:t>標本化</a:t>
            </a:r>
            <a:endParaRPr lang="ja-JP" sz="1600"/>
          </a:p>
        </p:txBody>
      </p:sp>
      <p:cxnSp>
        <p:nvCxnSpPr>
          <p:cNvPr id="16" name="arrow2"/>
          <p:cNvCxnSpPr/>
          <p:nvPr/>
        </p:nvCxnSpPr>
        <p:spPr>
          <a:xfrm>
            <a:off x="5367528" y="3602736"/>
            <a:ext cx="621791" cy="0"/>
          </a:xfrm>
          <a:prstGeom prst="line">
            <a:avLst/>
          </a:prstGeom>
          <a:ln w="28575">
            <a:solidFill>
              <a:srgbClr val="777777"/>
            </a:solidFill>
            <a:tailEnd type="triangle"/>
            <a:headEnd type="none"/>
          </a:ln>
        </p:spPr>
      </p:cxnSp>
      <p:sp>
        <p:nvSpPr>
          <p:cNvPr id="17" name="Flow3"/>
          <p:cNvSpPr/>
          <p:nvPr/>
        </p:nvSpPr>
        <p:spPr>
          <a:xfrm>
            <a:off x="6035040" y="3246120"/>
            <a:ext cx="1828800" cy="713232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Aptos"/>
                <a:ea typeface="Yu Gothic"/>
              </a:rPr>
              <a:t>量子化</a:t>
            </a:r>
            <a:endParaRPr lang="ja-JP" sz="1600"/>
          </a:p>
        </p:txBody>
      </p:sp>
      <p:cxnSp>
        <p:nvCxnSpPr>
          <p:cNvPr id="18" name="arrow3"/>
          <p:cNvCxnSpPr/>
          <p:nvPr/>
        </p:nvCxnSpPr>
        <p:spPr>
          <a:xfrm>
            <a:off x="7882127" y="3602736"/>
            <a:ext cx="621792" cy="0"/>
          </a:xfrm>
          <a:prstGeom prst="line">
            <a:avLst/>
          </a:prstGeom>
          <a:ln w="28575">
            <a:solidFill>
              <a:srgbClr val="777777"/>
            </a:solidFill>
            <a:tailEnd type="triangle"/>
            <a:headEnd type="none"/>
          </a:ln>
        </p:spPr>
      </p:cxnSp>
      <p:sp>
        <p:nvSpPr>
          <p:cNvPr id="19" name="Flow4"/>
          <p:cNvSpPr/>
          <p:nvPr/>
        </p:nvSpPr>
        <p:spPr>
          <a:xfrm>
            <a:off x="8549640" y="3246120"/>
            <a:ext cx="1828800" cy="713232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C57A00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Aptos"/>
                <a:ea typeface="Yu Gothic"/>
              </a:rPr>
              <a:t>符号化</a:t>
            </a:r>
            <a:endParaRPr lang="ja-JP" sz="1600"/>
          </a:p>
        </p:txBody>
      </p:sp>
      <p:sp>
        <p:nvSpPr>
          <p:cNvPr id="20" name="Notice"/>
          <p:cNvSpPr txBox="1"/>
          <p:nvPr/>
        </p:nvSpPr>
        <p:spPr>
          <a:xfrm>
            <a:off x="685800" y="4389120"/>
            <a:ext cx="10789920" cy="10972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非正弦波: 「真の実効値」と「整流平均値から換算した指示値」を区別する。FFTは時間波形表示の必須条件ではない。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固定過去問: R7下 問14 / R4下 問14</a:t>
            </a:r>
            <a:endParaRPr lang="ja-JP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2600" b="1">
                <a:solidFill>
                  <a:srgbClr val="163A5F"/>
                </a:solidFill>
                <a:latin typeface="Aptos"/>
                <a:ea typeface="Yu Gothic"/>
              </a:rPr>
              <a:t>East iで「測る」を具体化する — 実装と一般原理は分ける</a:t>
            </a:r>
            <a:endParaRPr lang="ja-JP" sz="2600"/>
          </a:p>
        </p:txBody>
      </p:sp>
      <p:sp>
        <p:nvSpPr>
          <p:cNvPr id="3" name="Subtitle"/>
          <p:cNvSpPr txBox="1"/>
          <p:nvPr/>
        </p:nvSpPr>
        <p:spPr>
          <a:xfrm>
            <a:off x="429768" y="64008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200" b="0">
                <a:solidFill>
                  <a:srgbClr val="5B6B7A"/>
                </a:solidFill>
                <a:latin typeface="Aptos"/>
                <a:ea typeface="Yu Gothic"/>
              </a:rPr>
              <a:t>実車事実は一次資料で確認した範囲のみ。電験の一般的な計測原理へ接続する。</a:t>
            </a:r>
            <a:endParaRPr lang="ja-JP" sz="1200"/>
          </a:p>
        </p:txBody>
      </p:sp>
      <p:sp>
        <p:nvSpPr>
          <p:cNvPr id="10" name="EastFacts"/>
          <p:cNvSpPr txBox="1"/>
          <p:nvPr/>
        </p:nvSpPr>
        <p:spPr>
          <a:xfrm>
            <a:off x="594360" y="1078992"/>
            <a:ext cx="5577840" cy="237744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JR東日本一次資料で確認したE926形 East i の例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・軌道変位検測装置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・動揺／軸箱加速度計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・トロリ線状態・架線相互離隔の測定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・パンタグラフ衝撃／硬点検出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・信号・通信検測</a:t>
            </a:r>
            <a:endParaRPr lang="ja-JP" sz="1600"/>
          </a:p>
          <a:p>
            <a:pPr algn="l"/>
            <a:r>
              <a:rPr lang="ja-JP" sz="1600" b="0">
                <a:solidFill>
                  <a:srgbClr val="222222"/>
                </a:solidFill>
                <a:latin typeface="Aptos"/>
                <a:ea typeface="Yu Gothic"/>
              </a:rPr>
              <a:t>・トロリ線残存直径: レーザー反射を利用</a:t>
            </a:r>
            <a:endParaRPr lang="ja-JP" sz="1600"/>
          </a:p>
        </p:txBody>
      </p:sp>
      <p:sp>
        <p:nvSpPr>
          <p:cNvPr id="11" name="Sense"/>
          <p:cNvSpPr/>
          <p:nvPr/>
        </p:nvSpPr>
        <p:spPr>
          <a:xfrm>
            <a:off x="6583680" y="1234440"/>
            <a:ext cx="1828800" cy="68580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777777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500" b="1">
                <a:solidFill>
                  <a:srgbClr val="222222"/>
                </a:solidFill>
                <a:latin typeface="Aptos"/>
                <a:ea typeface="Yu Gothic"/>
              </a:rPr>
              <a:t>設備の状態</a:t>
            </a:r>
            <a:endParaRPr lang="ja-JP" sz="1500"/>
          </a:p>
        </p:txBody>
      </p:sp>
      <p:cxnSp>
        <p:nvCxnSpPr>
          <p:cNvPr id="12" name="a1"/>
          <p:cNvCxnSpPr/>
          <p:nvPr/>
        </p:nvCxnSpPr>
        <p:spPr>
          <a:xfrm>
            <a:off x="7498079" y="1920240"/>
            <a:ext cx="0" cy="347471"/>
          </a:xfrm>
          <a:prstGeom prst="line">
            <a:avLst/>
          </a:prstGeom>
          <a:ln w="28575">
            <a:solidFill>
              <a:srgbClr val="777777"/>
            </a:solidFill>
            <a:tailEnd type="triangle"/>
            <a:headEnd type="none"/>
          </a:ln>
        </p:spPr>
      </p:cxnSp>
      <p:sp>
        <p:nvSpPr>
          <p:cNvPr id="13" name="Sensor"/>
          <p:cNvSpPr/>
          <p:nvPr/>
        </p:nvSpPr>
        <p:spPr>
          <a:xfrm>
            <a:off x="6583680" y="2304288"/>
            <a:ext cx="1828800" cy="685800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500" b="1">
                <a:solidFill>
                  <a:srgbClr val="222222"/>
                </a:solidFill>
                <a:latin typeface="Aptos"/>
                <a:ea typeface="Yu Gothic"/>
              </a:rPr>
              <a:t>センサ</a:t>
            </a:r>
            <a:endParaRPr lang="ja-JP" sz="1500"/>
          </a:p>
        </p:txBody>
      </p:sp>
      <p:cxnSp>
        <p:nvCxnSpPr>
          <p:cNvPr id="14" name="a2"/>
          <p:cNvCxnSpPr/>
          <p:nvPr/>
        </p:nvCxnSpPr>
        <p:spPr>
          <a:xfrm>
            <a:off x="7498079" y="2990088"/>
            <a:ext cx="0" cy="347471"/>
          </a:xfrm>
          <a:prstGeom prst="line">
            <a:avLst/>
          </a:prstGeom>
          <a:ln w="28575">
            <a:solidFill>
              <a:srgbClr val="777777"/>
            </a:solidFill>
            <a:tailEnd type="triangle"/>
            <a:headEnd type="none"/>
          </a:ln>
        </p:spPr>
      </p:cxnSp>
      <p:sp>
        <p:nvSpPr>
          <p:cNvPr id="15" name="Signal"/>
          <p:cNvSpPr/>
          <p:nvPr/>
        </p:nvSpPr>
        <p:spPr>
          <a:xfrm>
            <a:off x="6583680" y="3374136"/>
            <a:ext cx="1828800" cy="685800"/>
          </a:xfrm>
          <a:prstGeom prst="roundRect">
            <a:avLst/>
          </a:prstGeom>
          <a:solidFill>
            <a:srgbClr val="F2F7EC"/>
          </a:solidFill>
          <a:ln w="19050">
            <a:solidFill>
              <a:srgbClr val="5A7D2B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500" b="1">
                <a:solidFill>
                  <a:srgbClr val="222222"/>
                </a:solidFill>
                <a:latin typeface="Aptos"/>
                <a:ea typeface="Yu Gothic"/>
              </a:rPr>
              <a:t>信号変換</a:t>
            </a:r>
            <a:endParaRPr lang="ja-JP" sz="1500"/>
          </a:p>
        </p:txBody>
      </p:sp>
      <p:cxnSp>
        <p:nvCxnSpPr>
          <p:cNvPr id="16" name="a3"/>
          <p:cNvCxnSpPr/>
          <p:nvPr/>
        </p:nvCxnSpPr>
        <p:spPr>
          <a:xfrm>
            <a:off x="7498079" y="4059936"/>
            <a:ext cx="0" cy="347471"/>
          </a:xfrm>
          <a:prstGeom prst="line">
            <a:avLst/>
          </a:prstGeom>
          <a:ln w="28575">
            <a:solidFill>
              <a:srgbClr val="777777"/>
            </a:solidFill>
            <a:tailEnd type="triangle"/>
            <a:headEnd type="none"/>
          </a:ln>
        </p:spPr>
      </p:cxnSp>
      <p:sp>
        <p:nvSpPr>
          <p:cNvPr id="17" name="AD"/>
          <p:cNvSpPr/>
          <p:nvPr/>
        </p:nvSpPr>
        <p:spPr>
          <a:xfrm>
            <a:off x="6583680" y="4443984"/>
            <a:ext cx="1828800" cy="68580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C57A00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500" b="1">
                <a:solidFill>
                  <a:srgbClr val="222222"/>
                </a:solidFill>
                <a:latin typeface="Aptos"/>
                <a:ea typeface="Yu Gothic"/>
              </a:rPr>
              <a:t>A/D・記録</a:t>
            </a:r>
            <a:endParaRPr lang="ja-JP" sz="1500"/>
          </a:p>
        </p:txBody>
      </p:sp>
      <p:sp>
        <p:nvSpPr>
          <p:cNvPr id="18" name="Analyze"/>
          <p:cNvSpPr/>
          <p:nvPr/>
        </p:nvSpPr>
        <p:spPr>
          <a:xfrm>
            <a:off x="9144000" y="2240280"/>
            <a:ext cx="2011680" cy="914400"/>
          </a:xfrm>
          <a:prstGeom prst="roundRect">
            <a:avLst/>
          </a:prstGeom>
          <a:solidFill>
            <a:srgbClr val="F8EEF8"/>
          </a:solidFill>
          <a:ln w="19050">
            <a:solidFill>
              <a:srgbClr val="7B4D8E"/>
            </a:solidFill>
          </a:ln>
        </p:spPr>
        <p:txBody>
          <a:bodyPr anchor="ctr" wrap="square" lIns="50000" rIns="50000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Aptos"/>
                <a:ea typeface="Yu Gothic"/>
              </a:rPr>
              <a:t>解析</a:t>
            </a:r>
            <a:endParaRPr lang="ja-JP" sz="1600"/>
          </a:p>
          <a:p>
            <a:pPr algn="ctr"/>
            <a:r>
              <a:rPr lang="ja-JP" sz="1600" b="1">
                <a:solidFill>
                  <a:srgbClr val="222222"/>
                </a:solidFill>
                <a:latin typeface="Aptos"/>
                <a:ea typeface="Yu Gothic"/>
              </a:rPr>
              <a:t>→ 保守判断</a:t>
            </a:r>
            <a:endParaRPr lang="ja-JP" sz="1600"/>
          </a:p>
        </p:txBody>
      </p:sp>
      <p:cxnSp>
        <p:nvCxnSpPr>
          <p:cNvPr id="19" name="a4"/>
          <p:cNvCxnSpPr/>
          <p:nvPr/>
        </p:nvCxnSpPr>
        <p:spPr>
          <a:xfrm>
            <a:off x="8430768" y="4773168"/>
            <a:ext cx="713231" cy="-1892807"/>
          </a:xfrm>
          <a:prstGeom prst="line">
            <a:avLst/>
          </a:prstGeom>
          <a:ln w="28575">
            <a:solidFill>
              <a:srgbClr val="777777"/>
            </a:solidFill>
            <a:tailEnd type="triangle"/>
            <a:headEnd type="none"/>
          </a:ln>
        </p:spPr>
      </p:cxnSp>
      <p:sp>
        <p:nvSpPr>
          <p:cNvPr id="20" name="Boundary"/>
          <p:cNvSpPr txBox="1"/>
          <p:nvPr/>
        </p:nvSpPr>
        <p:spPr>
          <a:xfrm>
            <a:off x="594360" y="3886200"/>
            <a:ext cx="5394960" cy="1417320"/>
          </a:xfrm>
          <a:prstGeom prst="rect">
            <a:avLst/>
          </a:prstGeom>
          <a:solidFill>
            <a:srgbClr val="FFF4E5"/>
          </a:solidFill>
          <a:ln>
            <a:noFill/>
          </a:ln>
        </p:spPr>
        <p:txBody>
          <a:bodyPr wrap="square" lIns="90000" rIns="90000" tIns="45000" bIns="45000"/>
          <a:lstStyle/>
          <a:p>
            <a:pPr algn="l"/>
            <a:r>
              <a:rPr lang="ja-JP" sz="1500" b="0">
                <a:solidFill>
                  <a:srgbClr val="7A2E00"/>
                </a:solidFill>
                <a:latin typeface="Aptos"/>
                <a:ea typeface="Yu Gothic"/>
              </a:rPr>
              <a:t>境界</a:t>
            </a:r>
            <a:endParaRPr lang="ja-JP" sz="1500"/>
          </a:p>
          <a:p>
            <a:pPr algn="l"/>
            <a:r>
              <a:rPr lang="ja-JP" sz="1500" b="0">
                <a:solidFill>
                  <a:srgbClr val="7A2E00"/>
                </a:solidFill>
                <a:latin typeface="Aptos"/>
                <a:ea typeface="Yu Gothic"/>
              </a:rPr>
              <a:t>East iが本Topicの電圧計・電流計・分流器・倍率器・CT・VT・ブリッジをすべて直接使用すると断定しない。未確認の内部回路・センサ定数・測定値は推測しない。</a:t>
            </a:r>
            <a:endParaRPr lang="ja-JP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14 East iは何をどう測っている？</dc:title>
  <dc:creator>OpenAI</dc:creator>
  <dcterms:created xsi:type="dcterms:W3CDTF">2026-09-17T12:00:00Z</dcterms:created>
  <dcterms:modified xsi:type="dcterms:W3CDTF">2026-09-17T12:00:00Z</dcterms:modified>
</cp:coreProperties>
</file>