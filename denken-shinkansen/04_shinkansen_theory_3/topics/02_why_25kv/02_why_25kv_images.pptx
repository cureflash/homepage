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なぜ新幹線は25,000Vなのか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電験三種「理論」Topic 02｜高電圧化の一般原理</a:t>
            </a:r>
            <a:endParaRPr lang="ja-JP" sz="1300"/>
          </a:p>
        </p:txBody>
      </p:sp>
      <p:sp>
        <p:nvSpPr>
          <p:cNvPr id="4" name="s0"/>
          <p:cNvSpPr txBox="1"/>
          <p:nvPr/>
        </p:nvSpPr>
        <p:spPr>
          <a:xfrm>
            <a:off x="685800" y="1874519"/>
            <a:ext cx="228600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大きな電力 P</a:t>
            </a:r>
            <a:endParaRPr lang="ja-JP" sz="2100"/>
          </a:p>
        </p:txBody>
      </p:sp>
      <p:sp>
        <p:nvSpPr>
          <p:cNvPr id="5" name="arrow"/>
          <p:cNvSpPr txBox="1"/>
          <p:nvPr/>
        </p:nvSpPr>
        <p:spPr>
          <a:xfrm>
            <a:off x="3017520" y="207568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64748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2500"/>
          </a:p>
        </p:txBody>
      </p:sp>
      <p:sp>
        <p:nvSpPr>
          <p:cNvPr id="6" name="s1"/>
          <p:cNvSpPr txBox="1"/>
          <p:nvPr/>
        </p:nvSpPr>
        <p:spPr>
          <a:xfrm>
            <a:off x="3474720" y="1874519"/>
            <a:ext cx="228600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高い電圧 V</a:t>
            </a:r>
            <a:endParaRPr lang="ja-JP" sz="2100"/>
          </a:p>
        </p:txBody>
      </p:sp>
      <p:sp>
        <p:nvSpPr>
          <p:cNvPr id="7" name="arrow"/>
          <p:cNvSpPr txBox="1"/>
          <p:nvPr/>
        </p:nvSpPr>
        <p:spPr>
          <a:xfrm>
            <a:off x="5806440" y="207568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64748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2500"/>
          </a:p>
        </p:txBody>
      </p:sp>
      <p:sp>
        <p:nvSpPr>
          <p:cNvPr id="8" name="s2"/>
          <p:cNvSpPr txBox="1"/>
          <p:nvPr/>
        </p:nvSpPr>
        <p:spPr>
          <a:xfrm>
            <a:off x="6263640" y="1874519"/>
            <a:ext cx="2286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小さい電流 I</a:t>
            </a:r>
            <a:endParaRPr lang="ja-JP" sz="2100"/>
          </a:p>
        </p:txBody>
      </p:sp>
      <p:sp>
        <p:nvSpPr>
          <p:cNvPr id="9" name="arrow"/>
          <p:cNvSpPr txBox="1"/>
          <p:nvPr/>
        </p:nvSpPr>
        <p:spPr>
          <a:xfrm>
            <a:off x="8595359" y="207568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64748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2500"/>
          </a:p>
        </p:txBody>
      </p:sp>
      <p:sp>
        <p:nvSpPr>
          <p:cNvPr id="10" name="s3"/>
          <p:cNvSpPr txBox="1"/>
          <p:nvPr/>
        </p:nvSpPr>
        <p:spPr>
          <a:xfrm>
            <a:off x="9052559" y="1874519"/>
            <a:ext cx="22860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小さい I²R 損失</a:t>
            </a:r>
            <a:endParaRPr lang="ja-JP" sz="2100"/>
          </a:p>
        </p:txBody>
      </p:sp>
      <p:sp>
        <p:nvSpPr>
          <p:cNvPr id="11" name="formula"/>
          <p:cNvSpPr txBox="1"/>
          <p:nvPr/>
        </p:nvSpPr>
        <p:spPr>
          <a:xfrm>
            <a:off x="1097280" y="3246120"/>
            <a:ext cx="996696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3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同じ電力なら  I = P / V　→　P_loss = I²R = P²R / V²</a:t>
            </a:r>
            <a:endParaRPr lang="ja-JP" sz="2300"/>
          </a:p>
        </p:txBody>
      </p:sp>
      <p:sp>
        <p:nvSpPr>
          <p:cNvPr id="12" name="caveat"/>
          <p:cNvSpPr txBox="1"/>
          <p:nvPr/>
        </p:nvSpPr>
        <p:spPr>
          <a:xfrm>
            <a:off x="1051560" y="4663440"/>
            <a:ext cx="10058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334155"/>
                </a:solidFill>
                <a:latin typeface="Noto Sans CJK JP"/>
                <a:ea typeface="Noto Sans CJK JP"/>
                <a:cs typeface="Noto Sans CJK JP"/>
              </a:rPr>
              <a:t>ここで説明するのは「高電圧化すると電流と抵抗損を抑えられる」という一般原理。25 kVを唯一の最適値とは断定しない。</a:t>
            </a:r>
            <a:endParaRPr lang="ja-JP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まず使う4つの式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記号・単位・用途をセットで覚える</a:t>
            </a:r>
            <a:endParaRPr lang="ja-JP" sz="1300"/>
          </a:p>
        </p:txBody>
      </p:sp>
      <p:sp>
        <p:nvSpPr>
          <p:cNvPr id="4" name="f"/>
          <p:cNvSpPr txBox="1"/>
          <p:nvPr/>
        </p:nvSpPr>
        <p:spPr>
          <a:xfrm>
            <a:off x="731520" y="150876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V = RI</a:t>
            </a:r>
            <a:endParaRPr lang="ja-JP" sz="2500"/>
          </a:p>
        </p:txBody>
      </p:sp>
      <p:sp>
        <p:nvSpPr>
          <p:cNvPr id="5" name="u"/>
          <p:cNvSpPr txBox="1"/>
          <p:nvPr/>
        </p:nvSpPr>
        <p:spPr>
          <a:xfrm>
            <a:off x="731520" y="2240280"/>
            <a:ext cx="507492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電圧・電流・抵抗</a:t>
            </a:r>
            <a:br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単位: V / A / Ω</a:t>
            </a:r>
            <a:endParaRPr lang="ja-JP" sz="1600"/>
          </a:p>
        </p:txBody>
      </p:sp>
      <p:sp>
        <p:nvSpPr>
          <p:cNvPr id="6" name="f"/>
          <p:cNvSpPr txBox="1"/>
          <p:nvPr/>
        </p:nvSpPr>
        <p:spPr>
          <a:xfrm>
            <a:off x="6309359" y="150876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P = VI</a:t>
            </a:r>
            <a:endParaRPr lang="ja-JP" sz="2500"/>
          </a:p>
        </p:txBody>
      </p:sp>
      <p:sp>
        <p:nvSpPr>
          <p:cNvPr id="7" name="u"/>
          <p:cNvSpPr txBox="1"/>
          <p:nvPr/>
        </p:nvSpPr>
        <p:spPr>
          <a:xfrm>
            <a:off x="6309359" y="2240280"/>
            <a:ext cx="507492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電力と電流</a:t>
            </a:r>
            <a:br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単位: W / V / A</a:t>
            </a:r>
            <a:endParaRPr lang="ja-JP" sz="1600"/>
          </a:p>
        </p:txBody>
      </p:sp>
      <p:sp>
        <p:nvSpPr>
          <p:cNvPr id="8" name="f"/>
          <p:cNvSpPr txBox="1"/>
          <p:nvPr/>
        </p:nvSpPr>
        <p:spPr>
          <a:xfrm>
            <a:off x="731520" y="342900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P_loss = I²R</a:t>
            </a:r>
            <a:endParaRPr lang="ja-JP" sz="2500"/>
          </a:p>
        </p:txBody>
      </p:sp>
      <p:sp>
        <p:nvSpPr>
          <p:cNvPr id="9" name="u"/>
          <p:cNvSpPr txBox="1"/>
          <p:nvPr/>
        </p:nvSpPr>
        <p:spPr>
          <a:xfrm>
            <a:off x="731520" y="4160520"/>
            <a:ext cx="507492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抵抗で失われる電力</a:t>
            </a:r>
            <a:br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単位: W</a:t>
            </a:r>
            <a:endParaRPr lang="ja-JP" sz="1600"/>
          </a:p>
        </p:txBody>
      </p:sp>
      <p:sp>
        <p:nvSpPr>
          <p:cNvPr id="10" name="f"/>
          <p:cNvSpPr txBox="1"/>
          <p:nvPr/>
        </p:nvSpPr>
        <p:spPr>
          <a:xfrm>
            <a:off x="6309359" y="342900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5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Q = I²Rt</a:t>
            </a:r>
            <a:endParaRPr lang="ja-JP" sz="2500"/>
          </a:p>
        </p:txBody>
      </p:sp>
      <p:sp>
        <p:nvSpPr>
          <p:cNvPr id="11" name="u"/>
          <p:cNvSpPr txBox="1"/>
          <p:nvPr/>
        </p:nvSpPr>
        <p:spPr>
          <a:xfrm>
            <a:off x="6309359" y="4160520"/>
            <a:ext cx="507492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抵抗で発生する熱量</a:t>
            </a:r>
            <a:br/>
            <a:r>
              <a:rPr lang="ja-JP" sz="16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単位: J</a:t>
            </a:r>
            <a:endParaRPr lang="ja-JP" sz="1600"/>
          </a:p>
        </p:txBody>
      </p:sp>
      <p:sp>
        <p:nvSpPr>
          <p:cNvPr id="12" name="tip"/>
          <p:cNvSpPr txBox="1"/>
          <p:nvPr/>
        </p:nvSpPr>
        <p:spPr>
          <a:xfrm>
            <a:off x="1280160" y="5413248"/>
            <a:ext cx="96012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991B1B"/>
                </a:solidFill>
                <a:latin typeface="Noto Sans CJK JP"/>
                <a:ea typeface="Noto Sans CJK JP"/>
                <a:cs typeface="Noto Sans CJK JP"/>
              </a:rPr>
              <a:t>損失 I²R は「電流の2乗」。電流が1/5なら損失は1/25。</a:t>
            </a:r>
            <a:endParaRPr lang="ja-JP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同じ10 MWを送るなら？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教材用仮定値：送り出し電力 10 MW、送電線抵抗 0.50 Ω</a:t>
            </a:r>
            <a:endParaRPr lang="ja-JP" sz="1300"/>
          </a:p>
        </p:txBody>
      </p:sp>
      <p:sp>
        <p:nvSpPr>
          <p:cNvPr id="4" name="h"/>
          <p:cNvSpPr txBox="1"/>
          <p:nvPr/>
        </p:nvSpPr>
        <p:spPr>
          <a:xfrm>
            <a:off x="685800" y="1417320"/>
            <a:ext cx="3200400" cy="53035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800"/>
          </a:p>
        </p:txBody>
      </p:sp>
      <p:sp>
        <p:nvSpPr>
          <p:cNvPr id="5" name="h"/>
          <p:cNvSpPr txBox="1"/>
          <p:nvPr/>
        </p:nvSpPr>
        <p:spPr>
          <a:xfrm>
            <a:off x="4023360" y="1417320"/>
            <a:ext cx="3474720" cy="53035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 kV</a:t>
            </a:r>
            <a:endParaRPr lang="ja-JP" sz="1800"/>
          </a:p>
        </p:txBody>
      </p:sp>
      <p:sp>
        <p:nvSpPr>
          <p:cNvPr id="6" name="h"/>
          <p:cNvSpPr txBox="1"/>
          <p:nvPr/>
        </p:nvSpPr>
        <p:spPr>
          <a:xfrm>
            <a:off x="7726679" y="1417320"/>
            <a:ext cx="3474720" cy="53035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 kV</a:t>
            </a:r>
            <a:endParaRPr lang="ja-JP" sz="1800"/>
          </a:p>
        </p:txBody>
      </p:sp>
      <p:sp>
        <p:nvSpPr>
          <p:cNvPr id="7" name="cell"/>
          <p:cNvSpPr txBox="1"/>
          <p:nvPr/>
        </p:nvSpPr>
        <p:spPr>
          <a:xfrm>
            <a:off x="685800" y="1993392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電流 I</a:t>
            </a:r>
            <a:endParaRPr lang="ja-JP" sz="1600"/>
          </a:p>
        </p:txBody>
      </p:sp>
      <p:sp>
        <p:nvSpPr>
          <p:cNvPr id="8" name="cell"/>
          <p:cNvSpPr txBox="1"/>
          <p:nvPr/>
        </p:nvSpPr>
        <p:spPr>
          <a:xfrm>
            <a:off x="4023360" y="1993392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400 A</a:t>
            </a:r>
            <a:endParaRPr lang="ja-JP" sz="1600"/>
          </a:p>
        </p:txBody>
      </p:sp>
      <p:sp>
        <p:nvSpPr>
          <p:cNvPr id="9" name="cell"/>
          <p:cNvSpPr txBox="1"/>
          <p:nvPr/>
        </p:nvSpPr>
        <p:spPr>
          <a:xfrm>
            <a:off x="7726679" y="1993392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2,000 A</a:t>
            </a:r>
            <a:endParaRPr lang="ja-JP" sz="1600"/>
          </a:p>
        </p:txBody>
      </p:sp>
      <p:sp>
        <p:nvSpPr>
          <p:cNvPr id="10" name="cell"/>
          <p:cNvSpPr txBox="1"/>
          <p:nvPr/>
        </p:nvSpPr>
        <p:spPr>
          <a:xfrm>
            <a:off x="685800" y="2615184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抵抗損 I²R</a:t>
            </a:r>
            <a:endParaRPr lang="ja-JP" sz="1600"/>
          </a:p>
        </p:txBody>
      </p:sp>
      <p:sp>
        <p:nvSpPr>
          <p:cNvPr id="11" name="cell"/>
          <p:cNvSpPr txBox="1"/>
          <p:nvPr/>
        </p:nvSpPr>
        <p:spPr>
          <a:xfrm>
            <a:off x="4023360" y="261518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80 kW</a:t>
            </a:r>
            <a:endParaRPr lang="ja-JP" sz="1600"/>
          </a:p>
        </p:txBody>
      </p:sp>
      <p:sp>
        <p:nvSpPr>
          <p:cNvPr id="12" name="cell"/>
          <p:cNvSpPr txBox="1"/>
          <p:nvPr/>
        </p:nvSpPr>
        <p:spPr>
          <a:xfrm>
            <a:off x="7726679" y="261518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2.0 MW</a:t>
            </a:r>
            <a:endParaRPr lang="ja-JP" sz="1600"/>
          </a:p>
        </p:txBody>
      </p:sp>
      <p:sp>
        <p:nvSpPr>
          <p:cNvPr id="13" name="cell"/>
          <p:cNvSpPr txBox="1"/>
          <p:nvPr/>
        </p:nvSpPr>
        <p:spPr>
          <a:xfrm>
            <a:off x="685800" y="3236976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電圧降下 IR</a:t>
            </a:r>
            <a:endParaRPr lang="ja-JP" sz="1600"/>
          </a:p>
        </p:txBody>
      </p:sp>
      <p:sp>
        <p:nvSpPr>
          <p:cNvPr id="14" name="cell"/>
          <p:cNvSpPr txBox="1"/>
          <p:nvPr/>
        </p:nvSpPr>
        <p:spPr>
          <a:xfrm>
            <a:off x="4023360" y="3236976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200 V</a:t>
            </a:r>
            <a:endParaRPr lang="ja-JP" sz="1600"/>
          </a:p>
        </p:txBody>
      </p:sp>
      <p:sp>
        <p:nvSpPr>
          <p:cNvPr id="15" name="cell"/>
          <p:cNvSpPr txBox="1"/>
          <p:nvPr/>
        </p:nvSpPr>
        <p:spPr>
          <a:xfrm>
            <a:off x="7726679" y="3236976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1,000 V</a:t>
            </a:r>
            <a:endParaRPr lang="ja-JP" sz="1600"/>
          </a:p>
        </p:txBody>
      </p:sp>
      <p:sp>
        <p:nvSpPr>
          <p:cNvPr id="16" name="cell"/>
          <p:cNvSpPr txBox="1"/>
          <p:nvPr/>
        </p:nvSpPr>
        <p:spPr>
          <a:xfrm>
            <a:off x="685800" y="385876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負荷側電力</a:t>
            </a:r>
            <a:endParaRPr lang="ja-JP" sz="1600"/>
          </a:p>
        </p:txBody>
      </p:sp>
      <p:sp>
        <p:nvSpPr>
          <p:cNvPr id="17" name="cell"/>
          <p:cNvSpPr txBox="1"/>
          <p:nvPr/>
        </p:nvSpPr>
        <p:spPr>
          <a:xfrm>
            <a:off x="4023360" y="385876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9.92 MW</a:t>
            </a:r>
            <a:endParaRPr lang="ja-JP" sz="1600"/>
          </a:p>
        </p:txBody>
      </p:sp>
      <p:sp>
        <p:nvSpPr>
          <p:cNvPr id="18" name="cell"/>
          <p:cNvSpPr txBox="1"/>
          <p:nvPr/>
        </p:nvSpPr>
        <p:spPr>
          <a:xfrm>
            <a:off x="7726679" y="385876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8.0 MW</a:t>
            </a:r>
            <a:endParaRPr lang="ja-JP" sz="1600"/>
          </a:p>
        </p:txBody>
      </p:sp>
      <p:sp>
        <p:nvSpPr>
          <p:cNvPr id="19" name="cell"/>
          <p:cNvSpPr txBox="1"/>
          <p:nvPr/>
        </p:nvSpPr>
        <p:spPr>
          <a:xfrm>
            <a:off x="685800" y="4480560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送電効率</a:t>
            </a:r>
            <a:endParaRPr lang="ja-JP" sz="1600"/>
          </a:p>
        </p:txBody>
      </p:sp>
      <p:sp>
        <p:nvSpPr>
          <p:cNvPr id="20" name="cell"/>
          <p:cNvSpPr txBox="1"/>
          <p:nvPr/>
        </p:nvSpPr>
        <p:spPr>
          <a:xfrm>
            <a:off x="4023360" y="4480560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99.2 %</a:t>
            </a:r>
            <a:endParaRPr lang="ja-JP" sz="1600"/>
          </a:p>
        </p:txBody>
      </p:sp>
      <p:sp>
        <p:nvSpPr>
          <p:cNvPr id="21" name="cell"/>
          <p:cNvSpPr txBox="1"/>
          <p:nvPr/>
        </p:nvSpPr>
        <p:spPr>
          <a:xfrm>
            <a:off x="7726679" y="4480560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80 %</a:t>
            </a:r>
            <a:endParaRPr lang="ja-JP" sz="1600"/>
          </a:p>
        </p:txBody>
      </p:sp>
      <p:sp>
        <p:nvSpPr>
          <p:cNvPr id="22" name="ratio"/>
          <p:cNvSpPr txBox="1"/>
          <p:nvPr/>
        </p:nvSpPr>
        <p:spPr>
          <a:xfrm>
            <a:off x="1188720" y="5330952"/>
            <a:ext cx="978408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000" b="1">
                <a:solidFill>
                  <a:srgbClr val="065F46"/>
                </a:solidFill>
                <a:latin typeface="Noto Sans CJK JP"/>
                <a:ea typeface="Noto Sans CJK JP"/>
                <a:cs typeface="Noto Sans CJK JP"/>
              </a:rPr>
              <a:t>電圧 5倍 → 電流 1/5 → 抵抗損 1/25</a:t>
            </a:r>
            <a:endParaRPr lang="ja-JP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電圧降下は ΔV = IR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送電線抵抗を一つの抵抗として置く「一閉路」モデル</a:t>
            </a:r>
            <a:endParaRPr lang="ja-JP" sz="1300"/>
          </a:p>
        </p:txBody>
      </p:sp>
      <p:sp>
        <p:nvSpPr>
          <p:cNvPr id="4" name="vs"/>
          <p:cNvSpPr txBox="1"/>
          <p:nvPr/>
        </p:nvSpPr>
        <p:spPr>
          <a:xfrm>
            <a:off x="822960" y="1965960"/>
            <a:ext cx="18288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0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送り出し側</a:t>
            </a:r>
            <a:br/>
            <a:r>
              <a:rPr lang="ja-JP" sz="20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V_s</a:t>
            </a:r>
            <a:endParaRPr lang="ja-JP" sz="2000"/>
          </a:p>
        </p:txBody>
      </p:sp>
      <p:sp>
        <p:nvSpPr>
          <p:cNvPr id="5" name="line"/>
          <p:cNvSpPr txBox="1"/>
          <p:nvPr/>
        </p:nvSpPr>
        <p:spPr>
          <a:xfrm>
            <a:off x="2788920" y="205740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lang="ja-JP" sz="2000" b="1">
                <a:solidFill>
                  <a:srgbClr val="334155"/>
                </a:solidFill>
                <a:latin typeface="Noto Sans CJK JP"/>
                <a:ea typeface="Noto Sans CJK JP"/>
                <a:cs typeface="Noto Sans CJK JP"/>
              </a:rPr>
              <a:t>──────  R  ──────→  I</a:t>
            </a:r>
            <a:endParaRPr lang="ja-JP" sz="2000"/>
          </a:p>
        </p:txBody>
      </p:sp>
      <p:sp>
        <p:nvSpPr>
          <p:cNvPr id="6" name="vr"/>
          <p:cNvSpPr txBox="1"/>
          <p:nvPr/>
        </p:nvSpPr>
        <p:spPr>
          <a:xfrm>
            <a:off x="7406640" y="1965960"/>
            <a:ext cx="18288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0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負荷側</a:t>
            </a:r>
            <a:br/>
            <a:r>
              <a:rPr lang="ja-JP" sz="20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V_r</a:t>
            </a:r>
            <a:endParaRPr lang="ja-JP" sz="2000"/>
          </a:p>
        </p:txBody>
      </p:sp>
      <p:sp>
        <p:nvSpPr>
          <p:cNvPr id="7" name="eq"/>
          <p:cNvSpPr txBox="1"/>
          <p:nvPr/>
        </p:nvSpPr>
        <p:spPr>
          <a:xfrm>
            <a:off x="3246120" y="324612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4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ΔV = IR</a:t>
            </a:r>
            <a:br/>
            <a:r>
              <a:rPr lang="ja-JP" sz="24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V_s = V_r + IR</a:t>
            </a:r>
            <a:br/>
            <a:r>
              <a:rPr lang="ja-JP" sz="24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V_r = V_s − IR</a:t>
            </a:r>
            <a:endParaRPr lang="ja-JP" sz="2400"/>
          </a:p>
        </p:txBody>
      </p:sp>
      <p:sp>
        <p:nvSpPr>
          <p:cNvPr id="8" name="check"/>
          <p:cNvSpPr txBox="1"/>
          <p:nvPr/>
        </p:nvSpPr>
        <p:spPr>
          <a:xfrm>
            <a:off x="1325880" y="5102352"/>
            <a:ext cx="960120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1">
                <a:solidFill>
                  <a:srgbClr val="92400E"/>
                </a:solidFill>
                <a:latin typeface="Noto Sans CJK JP"/>
                <a:ea typeface="Noto Sans CJK JP"/>
                <a:cs typeface="Noto Sans CJK JP"/>
              </a:rPr>
              <a:t>抵抗があるなら V_r &lt; V_s。単位は IR = A×Ω = V。</a:t>
            </a:r>
            <a:endParaRPr lang="ja-JP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W・J・Whと送電効率を混同しない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本試験で落としやすい「単位」と「比」の整理</a:t>
            </a:r>
            <a:endParaRPr lang="ja-JP" sz="1300"/>
          </a:p>
        </p:txBody>
      </p:sp>
      <p:sp>
        <p:nvSpPr>
          <p:cNvPr id="4" name="item"/>
          <p:cNvSpPr txBox="1"/>
          <p:nvPr/>
        </p:nvSpPr>
        <p:spPr>
          <a:xfrm>
            <a:off x="640080" y="150876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電力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W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瞬間の仕事率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P = VI</a:t>
            </a:r>
            <a:endParaRPr lang="ja-JP" sz="1700"/>
          </a:p>
        </p:txBody>
      </p:sp>
      <p:sp>
        <p:nvSpPr>
          <p:cNvPr id="5" name="item"/>
          <p:cNvSpPr txBox="1"/>
          <p:nvPr/>
        </p:nvSpPr>
        <p:spPr>
          <a:xfrm>
            <a:off x="4434840" y="150876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熱量・電力量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J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Q = I²Rt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(t は秒)</a:t>
            </a:r>
            <a:endParaRPr lang="ja-JP" sz="1700"/>
          </a:p>
        </p:txBody>
      </p:sp>
      <p:sp>
        <p:nvSpPr>
          <p:cNvPr id="6" name="item"/>
          <p:cNvSpPr txBox="1"/>
          <p:nvPr/>
        </p:nvSpPr>
        <p:spPr>
          <a:xfrm>
            <a:off x="8229600" y="150876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電力量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Wh / kWh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電力[W]×時間[h]</a:t>
            </a:r>
            <a:br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1 kWh = 3.6×10⁶ J</a:t>
            </a:r>
            <a:endParaRPr lang="ja-JP" sz="1700"/>
          </a:p>
        </p:txBody>
      </p:sp>
      <p:sp>
        <p:nvSpPr>
          <p:cNvPr id="7" name="eta"/>
          <p:cNvSpPr txBox="1"/>
          <p:nvPr/>
        </p:nvSpPr>
        <p:spPr>
          <a:xfrm>
            <a:off x="1280160" y="3977639"/>
            <a:ext cx="964692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1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η = P_load / P_send × 100 [%]</a:t>
            </a:r>
            <a:br/>
            <a:r>
              <a:rPr lang="ja-JP" sz="21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抵抗損だけなら  P_send = P_load + P_loss</a:t>
            </a:r>
            <a:endParaRPr lang="ja-JP" sz="2100"/>
          </a:p>
        </p:txBody>
      </p:sp>
      <p:sp>
        <p:nvSpPr>
          <p:cNvPr id="8" name="mist"/>
          <p:cNvSpPr txBox="1"/>
          <p:nvPr/>
        </p:nvSpPr>
        <p:spPr>
          <a:xfrm>
            <a:off x="1463040" y="5230368"/>
            <a:ext cx="92354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991B1B"/>
                </a:solidFill>
                <a:latin typeface="Noto Sans CJK JP"/>
                <a:ea typeface="Noto Sans CJK JP"/>
                <a:cs typeface="Noto Sans CJK JP"/>
              </a:rPr>
              <a:t>逆比 P_send/P_load にしない。損失があれば η &lt; 100%。</a:t>
            </a:r>
            <a:endParaRPr lang="ja-JP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内部抵抗：2条件から r と E を求める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令和7年度下期 理論 問6へ接続する解法</a:t>
            </a:r>
            <a:endParaRPr lang="ja-JP" sz="1300"/>
          </a:p>
        </p:txBody>
      </p:sp>
      <p:sp>
        <p:nvSpPr>
          <p:cNvPr id="4" name="eq"/>
          <p:cNvSpPr txBox="1"/>
          <p:nvPr/>
        </p:nvSpPr>
        <p:spPr>
          <a:xfrm>
            <a:off x="822960" y="1481328"/>
            <a:ext cx="2743200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26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V = E − Ir</a:t>
            </a:r>
            <a:endParaRPr lang="ja-JP" sz="2600"/>
          </a:p>
        </p:txBody>
      </p:sp>
      <p:sp>
        <p:nvSpPr>
          <p:cNvPr id="5" name="conditions"/>
          <p:cNvSpPr txBox="1"/>
          <p:nvPr/>
        </p:nvSpPr>
        <p:spPr>
          <a:xfrm>
            <a:off x="3886200" y="1417320"/>
            <a:ext cx="7132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8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条件1：I₁=2 A, V₁=12 V</a:t>
            </a:r>
            <a:br/>
            <a:r>
              <a:rPr lang="ja-JP" sz="18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条件2：I₂=5 A, V₂=9 V</a:t>
            </a:r>
            <a:endParaRPr lang="ja-JP" sz="1800"/>
          </a:p>
        </p:txBody>
      </p:sp>
      <p:sp>
        <p:nvSpPr>
          <p:cNvPr id="6" name="step"/>
          <p:cNvSpPr txBox="1"/>
          <p:nvPr/>
        </p:nvSpPr>
        <p:spPr>
          <a:xfrm>
            <a:off x="685800" y="2743200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① 2本の式を立てる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12 = E − 2r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9 = E − 5r</a:t>
            </a:r>
            <a:endParaRPr lang="ja-JP" sz="1700"/>
          </a:p>
        </p:txBody>
      </p:sp>
      <p:sp>
        <p:nvSpPr>
          <p:cNvPr id="7" name="step"/>
          <p:cNvSpPr txBox="1"/>
          <p:nvPr/>
        </p:nvSpPr>
        <p:spPr>
          <a:xfrm>
            <a:off x="4480560" y="2743200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② 差を取る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3 = 3r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r = 1 Ω</a:t>
            </a:r>
            <a:endParaRPr lang="ja-JP" sz="1700"/>
          </a:p>
        </p:txBody>
      </p:sp>
      <p:sp>
        <p:nvSpPr>
          <p:cNvPr id="8" name="step"/>
          <p:cNvSpPr txBox="1"/>
          <p:nvPr/>
        </p:nvSpPr>
        <p:spPr>
          <a:xfrm>
            <a:off x="8275320" y="2743200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③ Eへ戻す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12 = E − 2×1</a:t>
            </a:r>
            <a:br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E = 14 V</a:t>
            </a:r>
            <a:endParaRPr lang="ja-JP" sz="1700"/>
          </a:p>
        </p:txBody>
      </p:sp>
      <p:sp>
        <p:nvSpPr>
          <p:cNvPr id="9" name="boundary"/>
          <p:cNvSpPr txBox="1"/>
          <p:nvPr/>
        </p:nvSpPr>
        <p:spPr>
          <a:xfrm>
            <a:off x="1051560" y="4983480"/>
            <a:ext cx="1005840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600" b="1">
                <a:solidFill>
                  <a:srgbClr val="7F1D1D"/>
                </a:solidFill>
                <a:latin typeface="Noto Sans CJK JP"/>
                <a:ea typeface="Noto Sans CJK JP"/>
                <a:cs typeface="Noto Sans CJK JP"/>
              </a:rPr>
              <a:t>ここでは一閉路だけ。直並列回路一般・キルヒホッフ・テブナンへは広げない。</a:t>
            </a:r>
            <a:endParaRPr lang="ja-JP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2700" b="1">
                <a:solidFill>
                  <a:srgbClr val="0B2942"/>
                </a:solidFill>
                <a:latin typeface="Noto Sans CJK JP"/>
                <a:ea typeface="Noto Sans CJK JP"/>
                <a:cs typeface="Noto Sans CJK JP"/>
              </a:rPr>
              <a:t>問題を見たら、この順で処理する</a:t>
            </a:r>
            <a:endParaRPr lang="ja-JP" sz="2700"/>
          </a:p>
        </p:txBody>
      </p:sp>
      <p:sp>
        <p:nvSpPr>
          <p:cNvPr id="3" name="subtitle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lang="ja-JP" sz="1300" b="0">
                <a:solidFill>
                  <a:srgbClr val="475569"/>
                </a:solidFill>
                <a:latin typeface="Noto Sans CJK JP"/>
                <a:ea typeface="Noto Sans CJK JP"/>
                <a:cs typeface="Noto Sans CJK JP"/>
              </a:rPr>
              <a:t>Topic 02の再利用可能な解法アルゴリズム</a:t>
            </a:r>
            <a:endParaRPr lang="ja-JP" sz="1300"/>
          </a:p>
        </p:txBody>
      </p:sp>
      <p:sp>
        <p:nvSpPr>
          <p:cNvPr id="4" name="alg"/>
          <p:cNvSpPr txBox="1"/>
          <p:nvPr/>
        </p:nvSpPr>
        <p:spPr>
          <a:xfrm>
            <a:off x="1097280" y="1325880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1  単位をそろえる（kV→V、MW→W）</a:t>
            </a:r>
            <a:endParaRPr lang="ja-JP" sz="1700"/>
          </a:p>
        </p:txBody>
      </p:sp>
      <p:sp>
        <p:nvSpPr>
          <p:cNvPr id="5" name="alg"/>
          <p:cNvSpPr txBox="1"/>
          <p:nvPr/>
        </p:nvSpPr>
        <p:spPr>
          <a:xfrm>
            <a:off x="1097280" y="1901952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2  電力と電圧から I = P/V</a:t>
            </a:r>
            <a:endParaRPr lang="ja-JP" sz="1700"/>
          </a:p>
        </p:txBody>
      </p:sp>
      <p:sp>
        <p:nvSpPr>
          <p:cNvPr id="6" name="alg"/>
          <p:cNvSpPr txBox="1"/>
          <p:nvPr/>
        </p:nvSpPr>
        <p:spPr>
          <a:xfrm>
            <a:off x="1097280" y="2478024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3  抵抗損なら P_loss = I²R</a:t>
            </a:r>
            <a:endParaRPr lang="ja-JP" sz="1700"/>
          </a:p>
        </p:txBody>
      </p:sp>
      <p:sp>
        <p:nvSpPr>
          <p:cNvPr id="7" name="alg"/>
          <p:cNvSpPr txBox="1"/>
          <p:nvPr/>
        </p:nvSpPr>
        <p:spPr>
          <a:xfrm>
            <a:off x="1097280" y="3054096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4  電圧降下なら ΔV = IR</a:t>
            </a:r>
            <a:endParaRPr lang="ja-JP" sz="1700"/>
          </a:p>
        </p:txBody>
      </p:sp>
      <p:sp>
        <p:nvSpPr>
          <p:cNvPr id="8" name="alg"/>
          <p:cNvSpPr txBox="1"/>
          <p:nvPr/>
        </p:nvSpPr>
        <p:spPr>
          <a:xfrm>
            <a:off x="1097280" y="3630168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5  効率なら η = P_load/P_send</a:t>
            </a:r>
            <a:endParaRPr lang="ja-JP" sz="1700"/>
          </a:p>
        </p:txBody>
      </p:sp>
      <p:sp>
        <p:nvSpPr>
          <p:cNvPr id="9" name="alg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0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6  内部抵抗2条件なら V = E−Ir を2本</a:t>
            </a:r>
            <a:endParaRPr lang="ja-JP" sz="1700"/>
          </a:p>
        </p:txBody>
      </p:sp>
      <p:sp>
        <p:nvSpPr>
          <p:cNvPr id="10" name="alg"/>
          <p:cNvSpPr txBox="1"/>
          <p:nvPr/>
        </p:nvSpPr>
        <p:spPr>
          <a:xfrm>
            <a:off x="1097280" y="4782312"/>
            <a:ext cx="9966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rIns="73152" tIns="73152" bIns="73152"/>
          <a:lstStyle/>
          <a:p>
            <a:pPr algn="l"/>
            <a:r>
              <a:rPr lang="ja-JP" sz="1700" b="1">
                <a:solidFill>
                  <a:srgbClr val="0F172A"/>
                </a:solidFill>
                <a:latin typeface="Noto Sans CJK JP"/>
                <a:ea typeface="Noto Sans CJK JP"/>
                <a:cs typeface="Noto Sans CJK JP"/>
              </a:rPr>
              <a:t>7  最後に桁・単位・増減方向を検算</a:t>
            </a:r>
            <a:endParaRPr lang="ja-JP" sz="1700"/>
          </a:p>
        </p:txBody>
      </p:sp>
      <p:sp>
        <p:nvSpPr>
          <p:cNvPr id="11" name="phys"/>
          <p:cNvSpPr txBox="1"/>
          <p:nvPr/>
        </p:nvSpPr>
        <p:spPr>
          <a:xfrm>
            <a:off x="960120" y="5532120"/>
            <a:ext cx="1028700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73152" rIns="73152" tIns="73152" bIns="73152"/>
          <a:lstStyle/>
          <a:p>
            <a:pPr algn="c"/>
            <a:r>
              <a:rPr lang="ja-JP" sz="1500" b="1">
                <a:solidFill>
                  <a:srgbClr val="065F46"/>
                </a:solidFill>
                <a:latin typeface="Noto Sans CJK JP"/>
                <a:ea typeface="Noto Sans CJK JP"/>
                <a:cs typeface="Noto Sans CJK JP"/>
              </a:rPr>
              <a:t>物理チェック：高電圧 → 小電流 → 小さい I²R 損失 ／ 抵抗があれば負荷側電圧は低い</a:t>
            </a:r>
            <a:endParaRPr lang="ja-JP" sz="15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Microsoft Office PowerPoint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なぜ新幹線は25,000Vなのか</dc:title>
  <dc:creator>OpenAI</dc:creator>
</cp:coreProperties>
</file>