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180000"/>
            <a:ext cx="11300000" cy="6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0000" rIns="120000" tIns="120000" bIns="120000" wrap="square"/>
          <a:lstStyle/>
          <a:p>
            <a:r>
              <a:rPr lang="ja-JP" sz="2800" b="1">
                <a:solidFill>
                  <a:srgbClr val="111827"/>
                </a:solidFill>
              </a:rPr>
              <a:t>Topic 11｜平衡三相交流 ― 120°ずれた3つの交流</a:t>
            </a:r>
            <a:endParaRPr lang="ja-JP" sz="2800"/>
          </a:p>
        </p:txBody>
      </p:sp>
      <p:sp>
        <p:nvSpPr>
          <p:cNvPr id="3" name="Definition"/>
          <p:cNvSpPr txBox="1"/>
          <p:nvPr/>
        </p:nvSpPr>
        <p:spPr>
          <a:xfrm>
            <a:off x="600000" y="1150000"/>
            <a:ext cx="3500000" cy="190000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txBody>
          <a:bodyPr lIns="120000" rIns="120000" tIns="120000" bIns="120000" wrap="square"/>
          <a:lstStyle/>
          <a:p>
            <a:r>
              <a:rPr lang="ja-JP" sz="2200" b="1">
                <a:solidFill>
                  <a:srgbClr val="2563EB"/>
                </a:solidFill>
              </a:rPr>
              <a:t>三相交流</a:t>
            </a:r>
            <a:endParaRPr lang="ja-JP" sz="2200"/>
          </a:p>
          <a:p>
            <a:r>
              <a:rPr lang="ja-JP" sz="1800" b="0">
                <a:solidFill>
                  <a:srgbClr val="111827"/>
                </a:solidFill>
              </a:rPr>
              <a:t>同一周波数・同一大きさ</a:t>
            </a:r>
            <a:endParaRPr lang="ja-JP" sz="1800"/>
          </a:p>
          <a:p>
            <a:r>
              <a:rPr lang="ja-JP" sz="1800" b="0">
                <a:solidFill>
                  <a:srgbClr val="111827"/>
                </a:solidFill>
              </a:rPr>
              <a:t>120°ずつ位相が異なる</a:t>
            </a:r>
            <a:endParaRPr lang="ja-JP" sz="1800"/>
          </a:p>
          <a:p>
            <a:r>
              <a:rPr lang="ja-JP" sz="1800" b="0">
                <a:solidFill>
                  <a:srgbClr val="111827"/>
                </a:solidFill>
              </a:rPr>
              <a:t>相順：a → b → c</a:t>
            </a:r>
            <a:endParaRPr lang="ja-JP" sz="1800"/>
          </a:p>
        </p:txBody>
      </p:sp>
      <p:sp>
        <p:nvSpPr>
          <p:cNvPr id="4" name="Wave"/>
          <p:cNvSpPr txBox="1"/>
          <p:nvPr/>
        </p:nvSpPr>
        <p:spPr>
          <a:xfrm>
            <a:off x="4350000" y="1150000"/>
            <a:ext cx="3500000" cy="1900000"/>
          </a:xfrm>
          <a:prstGeom prst="rect">
            <a:avLst/>
          </a:prstGeom>
          <a:solidFill>
            <a:srgbClr val="ECFDF5"/>
          </a:solidFill>
          <a:ln w="19050">
            <a:solidFill>
              <a:srgbClr val="6EE7B7"/>
            </a:solidFill>
          </a:ln>
        </p:spPr>
        <p:txBody>
          <a:bodyPr lIns="120000" rIns="120000" tIns="120000" bIns="120000" wrap="square"/>
          <a:lstStyle/>
          <a:p>
            <a:r>
              <a:rPr lang="ja-JP" sz="2200" b="1">
                <a:solidFill>
                  <a:srgbClr val="059669"/>
                </a:solidFill>
              </a:rPr>
              <a:t>平衡なら1相分を解く</a:t>
            </a:r>
            <a:endParaRPr lang="ja-JP" sz="2200"/>
          </a:p>
          <a:p>
            <a:r>
              <a:rPr lang="ja-JP" sz="1800" b="0">
                <a:solidFill>
                  <a:srgbClr val="111827"/>
                </a:solidFill>
              </a:rPr>
              <a:t>残り2相も同じ大きさ</a:t>
            </a:r>
            <a:endParaRPr lang="ja-JP" sz="1800"/>
          </a:p>
          <a:p>
            <a:r>
              <a:rPr lang="ja-JP" sz="1800" b="0">
                <a:solidFill>
                  <a:srgbClr val="111827"/>
                </a:solidFill>
              </a:rPr>
              <a:t>→ 1相回路へ落とす</a:t>
            </a:r>
            <a:endParaRPr lang="ja-JP" sz="1800"/>
          </a:p>
          <a:p>
            <a:r>
              <a:rPr lang="ja-JP" sz="1800" b="0">
                <a:solidFill>
                  <a:srgbClr val="111827"/>
                </a:solidFill>
              </a:rPr>
              <a:t>→ 三相全体は3倍</a:t>
            </a:r>
            <a:endParaRPr lang="ja-JP" sz="1800"/>
          </a:p>
        </p:txBody>
      </p:sp>
      <p:sp>
        <p:nvSpPr>
          <p:cNvPr id="5" name="Train"/>
          <p:cNvSpPr txBox="1"/>
          <p:nvPr/>
        </p:nvSpPr>
        <p:spPr>
          <a:xfrm>
            <a:off x="8100000" y="1150000"/>
            <a:ext cx="3500000" cy="1900000"/>
          </a:xfrm>
          <a:prstGeom prst="rect">
            <a:avLst/>
          </a:prstGeom>
          <a:solidFill>
            <a:srgbClr val="FFFBEB"/>
          </a:solidFill>
          <a:ln w="19050">
            <a:solidFill>
              <a:srgbClr val="FCD34D"/>
            </a:solidFill>
          </a:ln>
        </p:spPr>
        <p:txBody>
          <a:bodyPr lIns="120000" rIns="120000" tIns="120000" bIns="120000" wrap="square"/>
          <a:lstStyle/>
          <a:p>
            <a:r>
              <a:rPr lang="ja-JP" sz="2200" b="1">
                <a:solidFill>
                  <a:srgbClr val="D97706"/>
                </a:solidFill>
              </a:rPr>
              <a:t>新幹線との接続</a:t>
            </a:r>
            <a:endParaRPr lang="ja-JP" sz="2200"/>
          </a:p>
          <a:p>
            <a:r>
              <a:rPr lang="ja-JP" sz="1800" b="0">
                <a:solidFill>
                  <a:srgbClr val="111827"/>
                </a:solidFill>
              </a:rPr>
              <a:t>電力系統：三相交流</a:t>
            </a:r>
            <a:endParaRPr lang="ja-JP" sz="1800"/>
          </a:p>
          <a:p>
            <a:r>
              <a:rPr lang="ja-JP" sz="1800" b="0">
                <a:solidFill>
                  <a:srgbClr val="111827"/>
                </a:solidFill>
              </a:rPr>
              <a:t>↓</a:t>
            </a:r>
            <a:endParaRPr lang="ja-JP" sz="1800"/>
          </a:p>
          <a:p>
            <a:r>
              <a:rPr lang="ja-JP" sz="1800" b="0">
                <a:solidFill>
                  <a:srgbClr val="111827"/>
                </a:solidFill>
              </a:rPr>
              <a:t>新幹線：単相25 kV</a:t>
            </a:r>
            <a:endParaRPr lang="ja-JP" sz="1800"/>
          </a:p>
          <a:p>
            <a:r>
              <a:rPr lang="ja-JP" sz="1800" b="0">
                <a:solidFill>
                  <a:srgbClr val="111827"/>
                </a:solidFill>
              </a:rPr>
              <a:t>↓</a:t>
            </a:r>
            <a:endParaRPr lang="ja-JP" sz="1800"/>
          </a:p>
          <a:p>
            <a:r>
              <a:rPr lang="ja-JP" sz="1800" b="0">
                <a:solidFill>
                  <a:srgbClr val="111827"/>
                </a:solidFill>
              </a:rPr>
              <a:t>車内利用：三相交流</a:t>
            </a:r>
            <a:endParaRPr lang="ja-JP" sz="1800"/>
          </a:p>
        </p:txBody>
      </p:sp>
      <p:sp>
        <p:nvSpPr>
          <p:cNvPr id="6" name="Boundary"/>
          <p:cNvSpPr txBox="1"/>
          <p:nvPr/>
        </p:nvSpPr>
        <p:spPr>
          <a:xfrm>
            <a:off x="600000" y="3450000"/>
            <a:ext cx="11000000" cy="1800000"/>
          </a:xfrm>
          <a:prstGeom prst="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txBody>
          <a:bodyPr lIns="120000" rIns="120000" tIns="120000" bIns="120000" wrap="square"/>
          <a:lstStyle/>
          <a:p>
            <a:r>
              <a:rPr lang="ja-JP" sz="2000" b="1">
                <a:solidFill>
                  <a:srgbClr val="DC2626"/>
                </a:solidFill>
              </a:rPr>
              <a:t>このTopicの境界</a:t>
            </a:r>
            <a:endParaRPr lang="ja-JP" sz="2000"/>
          </a:p>
          <a:p>
            <a:r>
              <a:rPr lang="ja-JP" sz="1800" b="0">
                <a:solidFill>
                  <a:srgbClr val="111827"/>
                </a:solidFill>
              </a:rPr>
              <a:t>具体的なき電変圧器結線・不平衡三相・高調波・電力計測・PWMは扱わない。</a:t>
            </a:r>
            <a:endParaRPr lang="ja-JP" sz="1800"/>
          </a:p>
          <a:p>
            <a:r>
              <a:rPr lang="ja-JP" sz="1800" b="0">
                <a:solidFill>
                  <a:srgbClr val="111827"/>
                </a:solidFill>
              </a:rPr>
              <a:t>電験「理論」の平衡三相、Y・Δ、相値/線間値、三相電力に限定する。</a:t>
            </a:r>
            <a:endParaRPr lang="ja-JP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180000"/>
            <a:ext cx="11300000" cy="6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0000" rIns="120000" tIns="120000" bIns="120000" wrap="square"/>
          <a:lstStyle/>
          <a:p>
            <a:r>
              <a:rPr lang="ja-JP" sz="2800" b="1">
                <a:solidFill>
                  <a:srgbClr val="111827"/>
                </a:solidFill>
              </a:rPr>
              <a:t>Y結線｜線間電圧から相電圧へ 1/√3</a:t>
            </a:r>
            <a:endParaRPr lang="ja-JP" sz="2800"/>
          </a:p>
        </p:txBody>
      </p:sp>
      <p:sp>
        <p:nvSpPr>
          <p:cNvPr id="3" name="YFormula"/>
          <p:cNvSpPr txBox="1"/>
          <p:nvPr/>
        </p:nvSpPr>
        <p:spPr>
          <a:xfrm>
            <a:off x="650000" y="1200000"/>
            <a:ext cx="4900000" cy="230000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txBody>
          <a:bodyPr lIns="120000" rIns="120000" tIns="120000" bIns="120000" wrap="square"/>
          <a:lstStyle/>
          <a:p>
            <a:r>
              <a:rPr lang="ja-JP" sz="2300" b="1">
                <a:solidFill>
                  <a:srgbClr val="2563EB"/>
                </a:solidFill>
              </a:rPr>
              <a:t>Y結線の固定関係</a:t>
            </a:r>
            <a:endParaRPr lang="ja-JP" sz="2300"/>
          </a:p>
          <a:p>
            <a:r>
              <a:rPr lang="ja-JP" sz="2600" b="1">
                <a:solidFill>
                  <a:srgbClr val="111827"/>
                </a:solidFill>
              </a:rPr>
              <a:t>VL = √3 Vp</a:t>
            </a:r>
            <a:endParaRPr lang="ja-JP" sz="2600"/>
          </a:p>
          <a:p>
            <a:r>
              <a:rPr lang="ja-JP" sz="2600" b="1">
                <a:solidFill>
                  <a:srgbClr val="111827"/>
                </a:solidFill>
              </a:rPr>
              <a:t>Vp = VL / √3</a:t>
            </a:r>
            <a:endParaRPr lang="ja-JP" sz="2600"/>
          </a:p>
          <a:p>
            <a:r>
              <a:rPr lang="ja-JP" sz="2600" b="1">
                <a:solidFill>
                  <a:srgbClr val="111827"/>
                </a:solidFill>
              </a:rPr>
              <a:t>IL = Ip</a:t>
            </a:r>
            <a:endParaRPr lang="ja-JP" sz="2600"/>
          </a:p>
        </p:txBody>
      </p:sp>
      <p:sp>
        <p:nvSpPr>
          <p:cNvPr id="4" name="YDiagram"/>
          <p:cNvSpPr txBox="1"/>
          <p:nvPr/>
        </p:nvSpPr>
        <p:spPr>
          <a:xfrm>
            <a:off x="6000000" y="1200000"/>
            <a:ext cx="52000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lIns="120000" rIns="120000" tIns="120000" bIns="120000" wrap="square"/>
          <a:lstStyle/>
          <a:p>
            <a:r>
              <a:rPr lang="ja-JP" sz="2100" b="1">
                <a:solidFill>
                  <a:srgbClr val="DC2626"/>
                </a:solidFill>
              </a:rPr>
              <a:t>問題文のVLを枝へ直入れしない</a:t>
            </a:r>
            <a:endParaRPr lang="ja-JP" sz="2100"/>
          </a:p>
          <a:p>
            <a:r>
              <a:rPr lang="ja-JP" sz="1800" b="0">
                <a:solidFill>
                  <a:srgbClr val="111827"/>
                </a:solidFill>
              </a:rPr>
              <a:t>線間電圧 VL</a:t>
            </a:r>
            <a:endParaRPr lang="ja-JP" sz="1800"/>
          </a:p>
          <a:p>
            <a:r>
              <a:rPr lang="ja-JP" sz="1800" b="0">
                <a:solidFill>
                  <a:srgbClr val="111827"/>
                </a:solidFill>
              </a:rPr>
              <a:t>↓ 1/√3</a:t>
            </a:r>
            <a:endParaRPr lang="ja-JP" sz="1800"/>
          </a:p>
          <a:p>
            <a:r>
              <a:rPr lang="ja-JP" sz="1800" b="0">
                <a:solidFill>
                  <a:srgbClr val="111827"/>
                </a:solidFill>
              </a:rPr>
              <a:t>相電圧 Vp</a:t>
            </a:r>
            <a:endParaRPr lang="ja-JP" sz="1800"/>
          </a:p>
          <a:p>
            <a:r>
              <a:rPr lang="ja-JP" sz="1800" b="0">
                <a:solidFill>
                  <a:srgbClr val="111827"/>
                </a:solidFill>
              </a:rPr>
              <a:t>↓ Zで割る</a:t>
            </a:r>
            <a:endParaRPr lang="ja-JP" sz="1800"/>
          </a:p>
          <a:p>
            <a:r>
              <a:rPr lang="ja-JP" sz="1800" b="0">
                <a:solidFill>
                  <a:srgbClr val="111827"/>
                </a:solidFill>
              </a:rPr>
              <a:t>相電流 Ip = 線電流 IL</a:t>
            </a:r>
            <a:endParaRPr lang="ja-JP" sz="1800"/>
          </a:p>
        </p:txBody>
      </p:sp>
      <p:sp>
        <p:nvSpPr>
          <p:cNvPr id="5" name="YAlgo"/>
          <p:cNvSpPr txBox="1"/>
          <p:nvPr/>
        </p:nvSpPr>
        <p:spPr>
          <a:xfrm>
            <a:off x="650000" y="3900000"/>
            <a:ext cx="10450000" cy="1500000"/>
          </a:xfrm>
          <a:prstGeom prst="rect">
            <a:avLst/>
          </a:prstGeom>
          <a:solidFill>
            <a:srgbClr val="ECFDF5"/>
          </a:solidFill>
          <a:ln w="19050">
            <a:solidFill>
              <a:srgbClr val="6EE7B7"/>
            </a:solidFill>
          </a:ln>
        </p:spPr>
        <p:txBody>
          <a:bodyPr lIns="120000" rIns="120000" tIns="120000" bIns="120000" wrap="square"/>
          <a:lstStyle/>
          <a:p>
            <a:r>
              <a:rPr lang="ja-JP" sz="2000" b="1">
                <a:solidFill>
                  <a:srgbClr val="059669"/>
                </a:solidFill>
              </a:rPr>
              <a:t>標準解法</a:t>
            </a:r>
            <a:endParaRPr lang="ja-JP" sz="2000"/>
          </a:p>
          <a:p>
            <a:r>
              <a:rPr lang="ja-JP" sz="1800" b="0">
                <a:solidFill>
                  <a:srgbClr val="111827"/>
                </a:solidFill>
              </a:rPr>
              <a:t>① Yと判定 → ② Vp=VL/√3 → ③ 1相インピーダンスでIpを求める → ④ IL=Ip → ⑤ 三相電力へ</a:t>
            </a:r>
            <a:endParaRPr lang="ja-JP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180000"/>
            <a:ext cx="11300000" cy="6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0000" rIns="120000" tIns="120000" bIns="120000" wrap="square"/>
          <a:lstStyle/>
          <a:p>
            <a:r>
              <a:rPr lang="ja-JP" sz="2800" b="1">
                <a:solidFill>
                  <a:srgbClr val="111827"/>
                </a:solidFill>
              </a:rPr>
              <a:t>Δ結線｜枝には線間電圧、その後に線電流を√3倍</a:t>
            </a:r>
            <a:endParaRPr lang="ja-JP" sz="2800"/>
          </a:p>
        </p:txBody>
      </p:sp>
      <p:sp>
        <p:nvSpPr>
          <p:cNvPr id="3" name="DFormula"/>
          <p:cNvSpPr txBox="1"/>
          <p:nvPr/>
        </p:nvSpPr>
        <p:spPr>
          <a:xfrm>
            <a:off x="650000" y="1200000"/>
            <a:ext cx="4900000" cy="2300000"/>
          </a:xfrm>
          <a:prstGeom prst="rect">
            <a:avLst/>
          </a:prstGeom>
          <a:solidFill>
            <a:srgbClr val="F5F3FF"/>
          </a:solidFill>
          <a:ln w="19050">
            <a:solidFill>
              <a:srgbClr val="C4B5FD"/>
            </a:solidFill>
          </a:ln>
        </p:spPr>
        <p:txBody>
          <a:bodyPr lIns="120000" rIns="120000" tIns="120000" bIns="120000" wrap="square"/>
          <a:lstStyle/>
          <a:p>
            <a:r>
              <a:rPr lang="ja-JP" sz="2300" b="1">
                <a:solidFill>
                  <a:srgbClr val="7C3AED"/>
                </a:solidFill>
              </a:rPr>
              <a:t>Δ結線の固定関係</a:t>
            </a:r>
            <a:endParaRPr lang="ja-JP" sz="2300"/>
          </a:p>
          <a:p>
            <a:r>
              <a:rPr lang="ja-JP" sz="2600" b="1">
                <a:solidFill>
                  <a:srgbClr val="111827"/>
                </a:solidFill>
              </a:rPr>
              <a:t>VL = Vp</a:t>
            </a:r>
            <a:endParaRPr lang="ja-JP" sz="2600"/>
          </a:p>
          <a:p>
            <a:r>
              <a:rPr lang="ja-JP" sz="2600" b="1">
                <a:solidFill>
                  <a:srgbClr val="111827"/>
                </a:solidFill>
              </a:rPr>
              <a:t>IL = √3 Ip</a:t>
            </a:r>
            <a:endParaRPr lang="ja-JP" sz="2600"/>
          </a:p>
          <a:p>
            <a:r>
              <a:rPr lang="ja-JP" sz="2600" b="1">
                <a:solidFill>
                  <a:srgbClr val="111827"/>
                </a:solidFill>
              </a:rPr>
              <a:t>Ip = IL / √3</a:t>
            </a:r>
            <a:endParaRPr lang="ja-JP" sz="2600"/>
          </a:p>
        </p:txBody>
      </p:sp>
      <p:sp>
        <p:nvSpPr>
          <p:cNvPr id="4" name="DDiagram"/>
          <p:cNvSpPr txBox="1"/>
          <p:nvPr/>
        </p:nvSpPr>
        <p:spPr>
          <a:xfrm>
            <a:off x="6000000" y="1200000"/>
            <a:ext cx="52000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lIns="120000" rIns="120000" tIns="120000" bIns="120000" wrap="square"/>
          <a:lstStyle/>
          <a:p>
            <a:r>
              <a:rPr lang="ja-JP" sz="2100" b="1">
                <a:solidFill>
                  <a:srgbClr val="D97706"/>
                </a:solidFill>
              </a:rPr>
              <a:t>各枝へVLがそのまま加わる</a:t>
            </a:r>
            <a:endParaRPr lang="ja-JP" sz="2100"/>
          </a:p>
          <a:p>
            <a:r>
              <a:rPr lang="ja-JP" sz="1800" b="0">
                <a:solidFill>
                  <a:srgbClr val="111827"/>
                </a:solidFill>
              </a:rPr>
              <a:t>線間電圧 VL = 相電圧 Vp</a:t>
            </a:r>
            <a:endParaRPr lang="ja-JP" sz="1800"/>
          </a:p>
          <a:p>
            <a:r>
              <a:rPr lang="ja-JP" sz="1800" b="0">
                <a:solidFill>
                  <a:srgbClr val="111827"/>
                </a:solidFill>
              </a:rPr>
              <a:t>↓ Zで割る</a:t>
            </a:r>
            <a:endParaRPr lang="ja-JP" sz="1800"/>
          </a:p>
          <a:p>
            <a:r>
              <a:rPr lang="ja-JP" sz="1800" b="0">
                <a:solidFill>
                  <a:srgbClr val="111827"/>
                </a:solidFill>
              </a:rPr>
              <a:t>枝電流 Ip</a:t>
            </a:r>
            <a:endParaRPr lang="ja-JP" sz="1800"/>
          </a:p>
          <a:p>
            <a:r>
              <a:rPr lang="ja-JP" sz="1800" b="0">
                <a:solidFill>
                  <a:srgbClr val="111827"/>
                </a:solidFill>
              </a:rPr>
              <a:t>↓ √3倍</a:t>
            </a:r>
            <a:endParaRPr lang="ja-JP" sz="1800"/>
          </a:p>
          <a:p>
            <a:r>
              <a:rPr lang="ja-JP" sz="1800" b="0">
                <a:solidFill>
                  <a:srgbClr val="111827"/>
                </a:solidFill>
              </a:rPr>
              <a:t>線電流 IL</a:t>
            </a:r>
            <a:endParaRPr lang="ja-JP" sz="1800"/>
          </a:p>
        </p:txBody>
      </p:sp>
      <p:sp>
        <p:nvSpPr>
          <p:cNvPr id="5" name="DAlgo"/>
          <p:cNvSpPr txBox="1"/>
          <p:nvPr/>
        </p:nvSpPr>
        <p:spPr>
          <a:xfrm>
            <a:off x="650000" y="3900000"/>
            <a:ext cx="10450000" cy="1500000"/>
          </a:xfrm>
          <a:prstGeom prst="rect">
            <a:avLst/>
          </a:prstGeom>
          <a:solidFill>
            <a:srgbClr val="ECFDF5"/>
          </a:solidFill>
          <a:ln w="19050">
            <a:solidFill>
              <a:srgbClr val="6EE7B7"/>
            </a:solidFill>
          </a:ln>
        </p:spPr>
        <p:txBody>
          <a:bodyPr lIns="120000" rIns="120000" tIns="120000" bIns="120000" wrap="square"/>
          <a:lstStyle/>
          <a:p>
            <a:r>
              <a:rPr lang="ja-JP" sz="2000" b="1">
                <a:solidFill>
                  <a:srgbClr val="059669"/>
                </a:solidFill>
              </a:rPr>
              <a:t>標準解法</a:t>
            </a:r>
            <a:endParaRPr lang="ja-JP" sz="2000"/>
          </a:p>
          <a:p>
            <a:r>
              <a:rPr lang="ja-JP" sz="1800" b="0">
                <a:solidFill>
                  <a:srgbClr val="111827"/>
                </a:solidFill>
              </a:rPr>
              <a:t>① Δと判定 → ② Vp=VL → ③ Ip=VL/Z → ④ 必要ならIL=√3Ip → ⑤ 三相電力へ</a:t>
            </a:r>
            <a:endParaRPr lang="ja-JP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0000" y="180000"/>
            <a:ext cx="11300000" cy="6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20000" rIns="120000" tIns="120000" bIns="120000" wrap="square"/>
          <a:lstStyle/>
          <a:p>
            <a:r>
              <a:rPr lang="ja-JP" sz="2800" b="1">
                <a:solidFill>
                  <a:srgbClr val="111827"/>
                </a:solidFill>
              </a:rPr>
              <a:t>三相電力｜1相分×3 と √3VLILcosφ をつなぐ</a:t>
            </a:r>
            <a:endParaRPr lang="ja-JP" sz="2800"/>
          </a:p>
        </p:txBody>
      </p:sp>
      <p:sp>
        <p:nvSpPr>
          <p:cNvPr id="3" name="Power"/>
          <p:cNvSpPr txBox="1"/>
          <p:nvPr/>
        </p:nvSpPr>
        <p:spPr>
          <a:xfrm>
            <a:off x="550000" y="1100000"/>
            <a:ext cx="5450000" cy="210000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txBody>
          <a:bodyPr lIns="120000" rIns="120000" tIns="120000" bIns="120000" wrap="square"/>
          <a:lstStyle/>
          <a:p>
            <a:r>
              <a:rPr lang="ja-JP" sz="2200" b="1">
                <a:solidFill>
                  <a:srgbClr val="2563EB"/>
                </a:solidFill>
              </a:rPr>
              <a:t>平衡三相の電力</a:t>
            </a:r>
            <a:endParaRPr lang="ja-JP" sz="2200"/>
          </a:p>
          <a:p>
            <a:r>
              <a:rPr lang="ja-JP" sz="2300" b="1">
                <a:solidFill>
                  <a:srgbClr val="111827"/>
                </a:solidFill>
              </a:rPr>
              <a:t>P = 3 Vp Ip cosφ</a:t>
            </a:r>
            <a:endParaRPr lang="ja-JP" sz="2300"/>
          </a:p>
          <a:p>
            <a:r>
              <a:rPr lang="ja-JP" sz="2300" b="1">
                <a:solidFill>
                  <a:srgbClr val="111827"/>
                </a:solidFill>
              </a:rPr>
              <a:t>  = √3 VL IL cosφ</a:t>
            </a:r>
            <a:endParaRPr lang="ja-JP" sz="2300"/>
          </a:p>
          <a:p>
            <a:r>
              <a:rPr lang="ja-JP" sz="2100" b="1">
                <a:solidFill>
                  <a:srgbClr val="111827"/>
                </a:solidFill>
              </a:rPr>
              <a:t>IL = P / (√3 VL cosφ)</a:t>
            </a:r>
            <a:endParaRPr lang="ja-JP" sz="2100"/>
          </a:p>
          <a:p>
            <a:r>
              <a:rPr lang="ja-JP" sz="2100" b="1">
                <a:solidFill>
                  <a:srgbClr val="111827"/>
                </a:solidFill>
              </a:rPr>
              <a:t>Q = √3 VL IL sinφ</a:t>
            </a:r>
            <a:endParaRPr lang="ja-JP" sz="2100"/>
          </a:p>
        </p:txBody>
      </p:sp>
      <p:sp>
        <p:nvSpPr>
          <p:cNvPr id="4" name="Mixed"/>
          <p:cNvSpPr txBox="1"/>
          <p:nvPr/>
        </p:nvSpPr>
        <p:spPr>
          <a:xfrm>
            <a:off x="6300000" y="1100000"/>
            <a:ext cx="5350000" cy="2100000"/>
          </a:xfrm>
          <a:prstGeom prst="rect">
            <a:avLst/>
          </a:prstGeom>
          <a:solidFill>
            <a:srgbClr val="ECFDF5"/>
          </a:solidFill>
          <a:ln w="19050">
            <a:solidFill>
              <a:srgbClr val="6EE7B7"/>
            </a:solidFill>
          </a:ln>
        </p:spPr>
        <p:txBody>
          <a:bodyPr lIns="120000" rIns="120000" tIns="120000" bIns="120000" wrap="square"/>
          <a:lstStyle/>
          <a:p>
            <a:r>
              <a:rPr lang="ja-JP" sz="2200" b="1">
                <a:solidFill>
                  <a:srgbClr val="059669"/>
                </a:solidFill>
              </a:rPr>
              <a:t>Y負荷＋Δ負荷</a:t>
            </a:r>
            <a:endParaRPr lang="ja-JP" sz="2200"/>
          </a:p>
          <a:p>
            <a:r>
              <a:rPr lang="ja-JP" sz="1800" b="0">
                <a:solidFill>
                  <a:srgbClr val="111827"/>
                </a:solidFill>
              </a:rPr>
              <a:t>Y枝：Vp = VL/√3</a:t>
            </a:r>
            <a:endParaRPr lang="ja-JP" sz="1800"/>
          </a:p>
          <a:p>
            <a:r>
              <a:rPr lang="ja-JP" sz="1800" b="0">
                <a:solidFill>
                  <a:srgbClr val="111827"/>
                </a:solidFill>
              </a:rPr>
              <a:t>Δ枝：Vp = VL</a:t>
            </a:r>
            <a:endParaRPr lang="ja-JP" sz="1800"/>
          </a:p>
          <a:p>
            <a:r>
              <a:rPr lang="ja-JP" sz="1800" b="0">
                <a:solidFill>
                  <a:srgbClr val="111827"/>
                </a:solidFill>
              </a:rPr>
              <a:t>各枝を独立に計算</a:t>
            </a:r>
            <a:endParaRPr lang="ja-JP" sz="1800"/>
          </a:p>
          <a:p>
            <a:r>
              <a:rPr lang="ja-JP" sz="1800" b="0">
                <a:solidFill>
                  <a:srgbClr val="111827"/>
                </a:solidFill>
              </a:rPr>
              <a:t>最後に電力を合計</a:t>
            </a:r>
            <a:endParaRPr lang="ja-JP" sz="1800"/>
          </a:p>
          <a:p>
            <a:r>
              <a:rPr lang="ja-JP" sz="1800" b="0">
                <a:solidFill>
                  <a:srgbClr val="111827"/>
                </a:solidFill>
              </a:rPr>
              <a:t>Δコンデンサ：QC = 3VL²/XC</a:t>
            </a:r>
            <a:endParaRPr lang="ja-JP" sz="1800"/>
          </a:p>
        </p:txBody>
      </p:sp>
      <p:sp>
        <p:nvSpPr>
          <p:cNvPr id="5" name="Past"/>
          <p:cNvSpPr txBox="1"/>
          <p:nvPr/>
        </p:nvSpPr>
        <p:spPr>
          <a:xfrm>
            <a:off x="550000" y="3550000"/>
            <a:ext cx="11100000" cy="2000000"/>
          </a:xfrm>
          <a:prstGeom prst="rect">
            <a:avLst/>
          </a:prstGeom>
          <a:solidFill>
            <a:srgbClr val="F5F3FF"/>
          </a:solidFill>
          <a:ln w="19050">
            <a:solidFill>
              <a:srgbClr val="C4B5FD"/>
            </a:solidFill>
          </a:ln>
        </p:spPr>
        <p:txBody>
          <a:bodyPr lIns="120000" rIns="120000" tIns="120000" bIns="120000" wrap="square"/>
          <a:lstStyle/>
          <a:p>
            <a:r>
              <a:rPr lang="ja-JP" sz="1950" b="1">
                <a:solidFill>
                  <a:srgbClr val="7C3AED"/>
                </a:solidFill>
              </a:rPr>
              <a:t>固定過去問 5問・10答案要素 → 可視化 10 / 10</a:t>
            </a:r>
            <a:endParaRPr lang="ja-JP" sz="1950"/>
          </a:p>
          <a:p>
            <a:r>
              <a:rPr lang="ja-JP" sz="1800" b="0">
                <a:solidFill>
                  <a:srgbClr val="111827"/>
                </a:solidFill>
              </a:rPr>
              <a:t>R5下 問15：Y→Δ・三相電力　｜　R4下 問15：Y＋Δ枝電圧</a:t>
            </a:r>
            <a:endParaRPr lang="ja-JP" sz="1800"/>
          </a:p>
          <a:p>
            <a:r>
              <a:rPr lang="ja-JP" sz="1800" b="0">
                <a:solidFill>
                  <a:srgbClr val="111827"/>
                </a:solidFill>
              </a:rPr>
              <a:t>R1 問16：平衡Y・1相等価　｜　H29 問16：Y R-L＋Δコンデンサ</a:t>
            </a:r>
            <a:endParaRPr lang="ja-JP" sz="1800"/>
          </a:p>
          <a:p>
            <a:r>
              <a:rPr lang="ja-JP" sz="1800" b="0">
                <a:solidFill>
                  <a:srgbClr val="111827"/>
                </a:solidFill>
              </a:rPr>
              <a:t>H26 問16：YのP/Q＋Δコンデンサ　　※Topic 08〜10のRLC・力率・Qは既習事項として使用</a:t>
            </a:r>
            <a:endParaRPr lang="ja-JP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111827"/>
      </a:dk1>
      <a:lt1>
        <a:srgbClr val="FFFFFF"/>
      </a:lt1>
      <a:dk2>
        <a:srgbClr val="374151"/>
      </a:dk2>
      <a:lt2>
        <a:srgbClr val="F3F4F6"/>
      </a:lt2>
      <a:accent1>
        <a:srgbClr val="2563EB"/>
      </a:accent1>
      <a:accent2>
        <a:srgbClr val="059669"/>
      </a:accent2>
      <a:accent3>
        <a:srgbClr val="D97706"/>
      </a:accent3>
      <a:accent4>
        <a:srgbClr val="7C3AED"/>
      </a:accent4>
      <a:accent5>
        <a:srgbClr val="DC2626"/>
      </a:accent5>
      <a:accent6>
        <a:srgbClr val="0891B2"/>
      </a:accent6>
      <a:hlink>
        <a:srgbClr val="0563C1"/>
      </a:hlink>
      <a:folHlink>
        <a:srgbClr val="954F72"/>
      </a:folHlink>
    </a:clrScheme>
    <a:fontScheme name="Minimal">
      <a:majorFont>
        <a:latin typeface="Arial"/>
        <a:ea typeface="Noto Sans CJK JP"/>
        <a:cs typeface="Arial"/>
      </a:majorFont>
      <a:minorFont>
        <a:latin typeface="Arial"/>
        <a:ea typeface="Noto Sans CJK JP"/>
        <a:cs typeface="Arial"/>
      </a:minorFont>
    </a:fontScheme>
    <a:fmtScheme name="Minimal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Topic 11 三相交流</dc:title>
  <dc:creator>OpenAI</dc:creator>
  <dcterms:created xsi:type="dcterms:W3CDTF">2026-09-16T11:00:00Z</dcterms:created>
</cp:coreProperties>
</file>