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1695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4F81BD" accent2="C0504D" accent3="9BBB59" accent4="8064A2" accent5="4BACC6" accent6="F79646" bg1="FFFFFF" bg2="EEECE1" folHlink="800080" hlink="0000FF" tx1="000000" tx2="1F497D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65760"/>
            <a:ext cx="11353800" cy="685800"/>
          </a:xfrm>
          <a:prstGeom prst="rect">
            <a:avLst/>
          </a:prstGeom>
          <a:solidFill>
            <a:srgbClr val="F2F6FA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2800" b="1">
                <a:solidFill>
                  <a:srgbClr val="183A5A"/>
                </a:solidFill>
                <a:latin typeface="Yu Gothic"/>
                <a:ea typeface="Yu Gothic"/>
              </a:rPr>
              <a:t>01　微分方程式 → 伝達関数</a:t>
            </a:r>
            <a:endParaRPr lang="ja-JP" sz="2800"/>
          </a:p>
        </p:txBody>
      </p:sp>
      <p:sp>
        <p:nvSpPr>
          <p:cNvPr id="3" name="Body1"/>
          <p:cNvSpPr txBox="1"/>
          <p:nvPr/>
        </p:nvSpPr>
        <p:spPr>
          <a:xfrm>
            <a:off x="685800" y="13716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零初期条件で　G(s)=Y(s)/U(s)</a:t>
            </a:r>
            <a:endParaRPr lang="ja-JP" sz="1900"/>
          </a:p>
        </p:txBody>
      </p:sp>
      <p:sp>
        <p:nvSpPr>
          <p:cNvPr id="4" name="Body2"/>
          <p:cNvSpPr txBox="1"/>
          <p:nvPr/>
        </p:nvSpPr>
        <p:spPr>
          <a:xfrm>
            <a:off x="685800" y="22860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直列：G₁G₂　　並列：G₁+G₂　　単位負帰還：Y/R=G/(1+G)</a:t>
            </a:r>
            <a:endParaRPr lang="ja-JP" sz="1900"/>
          </a:p>
        </p:txBody>
      </p:sp>
      <p:sp>
        <p:nvSpPr>
          <p:cNvPr id="5" name="Body3"/>
          <p:cNvSpPr txBox="1"/>
          <p:nvPr/>
        </p:nvSpPr>
        <p:spPr>
          <a:xfrm>
            <a:off x="685800" y="32004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二種二次：入力・出力を決める → G(s) → 分母・分子を整理 → 極・零点 → 時間応答</a:t>
            </a:r>
            <a:endParaRPr lang="ja-JP" sz="1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65760"/>
            <a:ext cx="11353800" cy="685800"/>
          </a:xfrm>
          <a:prstGeom prst="rect">
            <a:avLst/>
          </a:prstGeom>
          <a:solidFill>
            <a:srgbClr val="F2F6FA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2800" b="1">
                <a:solidFill>
                  <a:srgbClr val="183A5A"/>
                </a:solidFill>
                <a:latin typeface="Yu Gothic"/>
                <a:ea typeface="Yu Gothic"/>
              </a:rPr>
              <a:t>02　極・零点・特性方程式</a:t>
            </a:r>
            <a:endParaRPr lang="ja-JP" sz="2800"/>
          </a:p>
        </p:txBody>
      </p:sp>
      <p:sp>
        <p:nvSpPr>
          <p:cNvPr id="3" name="Body1"/>
          <p:cNvSpPr txBox="1"/>
          <p:nvPr/>
        </p:nvSpPr>
        <p:spPr>
          <a:xfrm>
            <a:off x="685800" y="13716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G(s)=N(s)/D(s)　　零点：N(s)=0　　極：D(s)=0</a:t>
            </a:r>
            <a:endParaRPr lang="ja-JP" sz="1900"/>
          </a:p>
        </p:txBody>
      </p:sp>
      <p:sp>
        <p:nvSpPr>
          <p:cNvPr id="4" name="Body2"/>
          <p:cNvSpPr txBox="1"/>
          <p:nvPr/>
        </p:nvSpPr>
        <p:spPr>
          <a:xfrm>
            <a:off x="685800" y="22860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Re(p)&lt;0：減衰　　Re(p)&gt;0：発散　　複素共役極：振動＋減衰</a:t>
            </a:r>
            <a:endParaRPr lang="ja-JP" sz="1900"/>
          </a:p>
        </p:txBody>
      </p:sp>
      <p:sp>
        <p:nvSpPr>
          <p:cNvPr id="5" name="Body3"/>
          <p:cNvSpPr txBox="1"/>
          <p:nvPr/>
        </p:nvSpPr>
        <p:spPr>
          <a:xfrm>
            <a:off x="685800" y="32004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R7：極 −1,−4／零点 −2　　R4：閉ループ分母→特性方程式　　R3：複素極→振動条件</a:t>
            </a:r>
            <a:endParaRPr lang="ja-JP" sz="1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65760"/>
            <a:ext cx="11353800" cy="685800"/>
          </a:xfrm>
          <a:prstGeom prst="rect">
            <a:avLst/>
          </a:prstGeom>
          <a:solidFill>
            <a:srgbClr val="F2F6FA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2800" b="1">
                <a:solidFill>
                  <a:srgbClr val="183A5A"/>
                </a:solidFill>
                <a:latin typeface="Yu Gothic"/>
                <a:ea typeface="Yu Gothic"/>
              </a:rPr>
              <a:t>03　一次遅れ・ステップ応答・インパルス応答</a:t>
            </a:r>
            <a:endParaRPr lang="ja-JP" sz="2800"/>
          </a:p>
        </p:txBody>
      </p:sp>
      <p:sp>
        <p:nvSpPr>
          <p:cNvPr id="3" name="Body1"/>
          <p:cNvSpPr txBox="1"/>
          <p:nvPr/>
        </p:nvSpPr>
        <p:spPr>
          <a:xfrm>
            <a:off x="685800" y="13716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G(s)=K/(Ts+1)　　極 p=−1/T　　時定数 T</a:t>
            </a:r>
            <a:endParaRPr lang="ja-JP" sz="1900"/>
          </a:p>
        </p:txBody>
      </p:sp>
      <p:sp>
        <p:nvSpPr>
          <p:cNvPr id="4" name="Body2"/>
          <p:cNvSpPr txBox="1"/>
          <p:nvPr/>
        </p:nvSpPr>
        <p:spPr>
          <a:xfrm>
            <a:off x="685800" y="22860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インパルス：(K/T)e^(−t/T)　　ステップ：K(1−e^(−t/T))</a:t>
            </a:r>
            <a:endParaRPr lang="ja-JP" sz="1900"/>
          </a:p>
        </p:txBody>
      </p:sp>
      <p:sp>
        <p:nvSpPr>
          <p:cNvPr id="5" name="Body3"/>
          <p:cNvSpPr txBox="1"/>
          <p:nvPr/>
        </p:nvSpPr>
        <p:spPr>
          <a:xfrm>
            <a:off x="685800" y="32004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教育用速度モデル：M dv/dt + Dv = F → V/F=1/(Ms+D)　　T=M/D, p=−D/M</a:t>
            </a:r>
            <a:endParaRPr lang="ja-JP" sz="1900"/>
          </a:p>
        </p:txBody>
      </p:sp>
      <p:sp>
        <p:nvSpPr>
          <p:cNvPr id="6" name="Body4"/>
          <p:cNvSpPr txBox="1"/>
          <p:nvPr/>
        </p:nvSpPr>
        <p:spPr>
          <a:xfrm>
            <a:off x="685800" y="41148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一定牽引力 F₀：v(t)=(F₀/D)(1−e^(−Dt/M))　※未確認実車定数は使わない</a:t>
            </a:r>
            <a:endParaRPr lang="ja-JP" sz="1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65760"/>
            <a:ext cx="11353800" cy="685800"/>
          </a:xfrm>
          <a:prstGeom prst="rect">
            <a:avLst/>
          </a:prstGeom>
          <a:solidFill>
            <a:srgbClr val="F2F6FA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2800" b="1">
                <a:solidFill>
                  <a:srgbClr val="183A5A"/>
                </a:solidFill>
                <a:latin typeface="Yu Gothic"/>
                <a:ea typeface="Yu Gothic"/>
              </a:rPr>
              <a:t>04　二次遅れ・減衰比・極</a:t>
            </a:r>
            <a:endParaRPr lang="ja-JP" sz="2800"/>
          </a:p>
        </p:txBody>
      </p:sp>
      <p:sp>
        <p:nvSpPr>
          <p:cNvPr id="3" name="Body1"/>
          <p:cNvSpPr txBox="1"/>
          <p:nvPr/>
        </p:nvSpPr>
        <p:spPr>
          <a:xfrm>
            <a:off x="685800" y="13716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標準形：Kgωn² / (s²+2ζωn s+ωn²)</a:t>
            </a:r>
            <a:endParaRPr lang="ja-JP" sz="1900"/>
          </a:p>
        </p:txBody>
      </p:sp>
      <p:sp>
        <p:nvSpPr>
          <p:cNvPr id="4" name="Body2"/>
          <p:cNvSpPr txBox="1"/>
          <p:nvPr/>
        </p:nvSpPr>
        <p:spPr>
          <a:xfrm>
            <a:off x="685800" y="22860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ζ&gt;1：過減衰　　ζ=1：臨界減衰　　0&lt;ζ&lt;1：不足減衰</a:t>
            </a:r>
            <a:endParaRPr lang="ja-JP" sz="1900"/>
          </a:p>
        </p:txBody>
      </p:sp>
      <p:sp>
        <p:nvSpPr>
          <p:cNvPr id="5" name="Body3"/>
          <p:cNvSpPr txBox="1"/>
          <p:nvPr/>
        </p:nvSpPr>
        <p:spPr>
          <a:xfrm>
            <a:off x="685800" y="32004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R3：K/(2s²+2s+K) → K&gt;0.5で振動、K=1なら p=−0.5±j0.5</a:t>
            </a:r>
            <a:endParaRPr lang="ja-JP" sz="1900"/>
          </a:p>
        </p:txBody>
      </p:sp>
      <p:sp>
        <p:nvSpPr>
          <p:cNvPr id="6" name="Body4"/>
          <p:cNvSpPr txBox="1"/>
          <p:nvPr/>
        </p:nvSpPr>
        <p:spPr>
          <a:xfrm>
            <a:off x="685800" y="41148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R2：K/(s²+s+K), ζ=0.8 → ωn=0.625 → K≈0.391　※s²係数を1にして比較</a:t>
            </a:r>
            <a:endParaRPr lang="ja-JP" sz="1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65760"/>
            <a:ext cx="11353800" cy="685800"/>
          </a:xfrm>
          <a:prstGeom prst="rect">
            <a:avLst/>
          </a:prstGeom>
          <a:solidFill>
            <a:srgbClr val="F2F6FA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2800" b="1">
                <a:solidFill>
                  <a:srgbClr val="183A5A"/>
                </a:solidFill>
                <a:latin typeface="Yu Gothic"/>
                <a:ea typeface="Yu Gothic"/>
              </a:rPr>
              <a:t>05　二種二次：固定5問・11対象設問</a:t>
            </a:r>
            <a:endParaRPr lang="ja-JP" sz="2800"/>
          </a:p>
        </p:txBody>
      </p:sp>
      <p:sp>
        <p:nvSpPr>
          <p:cNvPr id="3" name="Body1"/>
          <p:cNvSpPr txBox="1"/>
          <p:nvPr/>
        </p:nvSpPr>
        <p:spPr>
          <a:xfrm>
            <a:off x="685800" y="13716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解法：入力・出力 → G(s) → 分母・分子 → 極・零点 → 入力種類 → 逆変換・検算</a:t>
            </a:r>
            <a:endParaRPr lang="ja-JP" sz="1900"/>
          </a:p>
        </p:txBody>
      </p:sp>
      <p:sp>
        <p:nvSpPr>
          <p:cNvPr id="4" name="Body2"/>
          <p:cNvSpPr txBox="1"/>
          <p:nvPr/>
        </p:nvSpPr>
        <p:spPr>
          <a:xfrm>
            <a:off x="685800" y="22860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R7 (1),(4)｜R6 (1),(3)｜R4 (1),(3)｜R3 (1)〜(4)｜R2 (2) ＝ 11 / 11</a:t>
            </a:r>
            <a:endParaRPr lang="ja-JP" sz="1900"/>
          </a:p>
        </p:txBody>
      </p:sp>
      <p:sp>
        <p:nvSpPr>
          <p:cNvPr id="5" name="Body3"/>
          <p:cNvSpPr txBox="1"/>
          <p:nvPr/>
        </p:nvSpPr>
        <p:spPr>
          <a:xfrm>
            <a:off x="685800" y="32004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範囲外：Topic12 固有値・状態空間／Topic15 周波数応答・dB・ボード線図</a:t>
            </a:r>
            <a:endParaRPr lang="ja-JP" sz="1900"/>
          </a:p>
        </p:txBody>
      </p:sp>
      <p:sp>
        <p:nvSpPr>
          <p:cNvPr id="6" name="Body4"/>
          <p:cNvSpPr txBox="1"/>
          <p:nvPr/>
        </p:nvSpPr>
        <p:spPr>
          <a:xfrm>
            <a:off x="685800" y="4114800"/>
            <a:ext cx="10972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</a:ln>
        </p:spPr>
        <p:txBody>
          <a:bodyPr wrap="square" lIns="152400" rIns="152400" tIns="91440" bIns="91440" anchor="mid"/>
          <a:lstStyle/>
          <a:p>
            <a:pPr marL="0"/>
            <a:r>
              <a:rPr lang="ja-JP" sz="1900">
                <a:solidFill>
                  <a:srgbClr val="20262E"/>
                </a:solidFill>
                <a:latin typeface="Yu Gothic"/>
                <a:ea typeface="Yu Gothic"/>
              </a:rPr>
              <a:t>追加しない：ラウス・フルビッツ一般手順／定常偏差・畳み込みの独立論点化／未確認実車値</a:t>
            </a:r>
            <a:endParaRPr lang="ja-JP" sz="1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Yu Gothic"/>
        <a:cs typeface="Arial"/>
      </a:majorFont>
      <a:minorFont>
        <a:latin typeface="Arial"/>
        <a:ea typeface="Yu Gothic"/>
        <a:cs typeface="Arial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Topic 10 伝達関数・極・零点</dc:title>
  <dc:creator>cureflash/homepage</dc:creator>
  <dcterms:created xsi:type="dcterms:W3CDTF">2026-09-16T00:00:00Z</dcterms:created>
</cp:coreProperties>
</file>