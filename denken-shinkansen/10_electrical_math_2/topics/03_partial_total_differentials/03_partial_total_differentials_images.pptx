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1"/>
          <p:nvPr/>
        </p:nvSpPr>
        <p:spPr>
          <a:xfrm>
            <a:off x="300000" y="120000"/>
            <a:ext cx="116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60000" bIns="60000"/>
          <a:lstStyle/>
          <a:p>
            <a:r>
              <a:rPr lang="ja-JP" sz="2600" b="1">
                <a:solidFill>
                  <a:srgbClr val="17324D"/>
                </a:solidFill>
                <a:ea typeface="Noto Sans CJK JP"/>
              </a:rPr>
              <a:t>偏微分と全微分：まず固定量を読む</a:t>
            </a:r>
          </a:p>
        </p:txBody>
      </p:sp>
      <p:sp>
        <p:nvSpPr>
          <p:cNvPr id="3" name="s3"/>
          <p:cNvSpPr txBox="1"/>
          <p:nvPr/>
        </p:nvSpPr>
        <p:spPr>
          <a:xfrm>
            <a:off x="500000" y="1050000"/>
            <a:ext cx="11200000" cy="4900000"/>
          </a:xfrm>
          <a:prstGeom prst="roundRect">
            <a:avLst/>
          </a:prstGeom>
          <a:solidFill>
            <a:srgbClr val="F7F9FB"/>
          </a:solidFill>
          <a:ln>
            <a:solidFill>
              <a:srgbClr val="D6DEE6"/>
            </a:solidFill>
          </a:ln>
        </p:spPr>
        <p:txBody>
          <a:bodyPr wrap="square" lIns="100000" rIns="100000" tIns="60000" bIns="60000"/>
          <a:lstStyle/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偏微分：1変数だけを変える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∂y/∂x ＝ z を固定した x の局所変化率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例 W(I₁,I₂,θ), I₁,I₂一定 → ∂W/∂θ = −M₀I₁I₂sinθ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/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全微分：複数の微小変化を足す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dy=(∂y/∂x)dx+(∂y/∂z)dz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例 Zₓ={k/(1−k)}Zₛ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dZₓ={Zₛ/(1−k)²}dk+{k/(1−k)}dZₛ</a:t>
            </a:r>
          </a:p>
        </p:txBody>
      </p:sp>
      <p:sp>
        <p:nvSpPr>
          <p:cNvPr id="4" name="s4"/>
          <p:cNvSpPr txBox="1"/>
          <p:nvPr/>
        </p:nvSpPr>
        <p:spPr>
          <a:xfrm>
            <a:off x="650000" y="5000000"/>
            <a:ext cx="10900000" cy="850000"/>
          </a:xfrm>
          <a:prstGeom prst="roundRect">
            <a:avLst/>
          </a:prstGeom>
          <a:solidFill>
            <a:srgbClr val="F2FAF9"/>
          </a:solidFill>
          <a:ln>
            <a:solidFill>
              <a:srgbClr val="C5E2DF"/>
            </a:solidFill>
          </a:ln>
        </p:spPr>
        <p:txBody>
          <a:bodyPr wrap="square" lIns="100000" rIns="100000" tIns="60000" bIns="60000"/>
          <a:lstStyle/>
          <a:p>
            <a:r>
              <a:rPr lang="ja-JP" sz="1350" b="1">
                <a:solidFill>
                  <a:srgbClr val="087F8C"/>
                </a:solidFill>
                <a:ea typeface="Noto Sans CJK JP"/>
              </a:rPr>
              <a:t>判断：変数列挙 → 固定量/変化量 → 1変数なら偏微分、複数なら全微分</a:t>
            </a:r>
          </a:p>
        </p:txBody>
      </p:sp>
      <p:sp>
        <p:nvSpPr>
          <p:cNvPr id="5" name="s5"/>
          <p:cNvSpPr txBox="1"/>
          <p:nvPr/>
        </p:nvSpPr>
        <p:spPr>
          <a:xfrm>
            <a:off x="500000" y="6450000"/>
            <a:ext cx="2800000" cy="23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60000" bIns="60000"/>
          <a:lstStyle/>
          <a:p>
            <a:r>
              <a:rPr lang="ja-JP" sz="850" b="0">
                <a:solidFill>
                  <a:srgbClr val="7B8794"/>
                </a:solidFill>
                <a:ea typeface="Noto Sans CJK JP"/>
              </a:rPr>
              <a:t>電験二種・電気数学｜Topic 03</a:t>
            </a:r>
          </a:p>
        </p:txBody>
      </p:sp>
      <p:sp>
        <p:nvSpPr>
          <p:cNvPr id="6" name="s6"/>
          <p:cNvSpPr txBox="1"/>
          <p:nvPr/>
        </p:nvSpPr>
        <p:spPr>
          <a:xfrm>
            <a:off x="11400000" y="6450000"/>
            <a:ext cx="300000" cy="23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60000" bIns="60000"/>
          <a:lstStyle/>
          <a:p>
            <a:r>
              <a:rPr lang="ja-JP" sz="850" b="0">
                <a:solidFill>
                  <a:srgbClr val="7B8794"/>
                </a:solidFill>
                <a:ea typeface="Noto Sans CJK JP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1"/>
          <p:nvPr/>
        </p:nvSpPr>
        <p:spPr>
          <a:xfrm>
            <a:off x="300000" y="120000"/>
            <a:ext cx="116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60000" bIns="60000"/>
          <a:lstStyle/>
          <a:p>
            <a:r>
              <a:rPr lang="ja-JP" sz="2600" b="1">
                <a:solidFill>
                  <a:srgbClr val="17324D"/>
                </a:solidFill>
                <a:ea typeface="Noto Sans CJK JP"/>
              </a:rPr>
              <a:t>時間依存が入ると全時間微分</a:t>
            </a:r>
          </a:p>
        </p:txBody>
      </p:sp>
      <p:sp>
        <p:nvSpPr>
          <p:cNvPr id="3" name="s3"/>
          <p:cNvSpPr txBox="1"/>
          <p:nvPr/>
        </p:nvSpPr>
        <p:spPr>
          <a:xfrm>
            <a:off x="500000" y="1050000"/>
            <a:ext cx="11200000" cy="4900000"/>
          </a:xfrm>
          <a:prstGeom prst="roundRect">
            <a:avLst/>
          </a:prstGeom>
          <a:solidFill>
            <a:srgbClr val="F7F9FB"/>
          </a:solidFill>
          <a:ln>
            <a:solidFill>
              <a:srgbClr val="D6DEE6"/>
            </a:solidFill>
          </a:ln>
        </p:spPr>
        <p:txBody>
          <a:bodyPr wrap="square" lIns="100000" rIns="100000" tIns="60000" bIns="60000"/>
          <a:lstStyle/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Φ₁ = L₁I₁ + M₀I₂cosθ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/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I₁=I₁(t), I₂=I₂(t), θ=θ(t) なら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dΦ₁/dt = L₁ dI₁/dt + M₀cosθ dI₂/dt − M₀I₂sinθ dθ/dt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/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I₁,I₂一定かつ θ=ωt なら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dΦ₁/dt = −ωM₀I₂sinθ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/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頻出ミス：θ=ωt の係数 dθ/dt を落とす／時間変化する量を勝手に固定する</a:t>
            </a:r>
          </a:p>
        </p:txBody>
      </p:sp>
      <p:sp>
        <p:nvSpPr>
          <p:cNvPr id="4" name="s4"/>
          <p:cNvSpPr txBox="1"/>
          <p:nvPr/>
        </p:nvSpPr>
        <p:spPr>
          <a:xfrm>
            <a:off x="650000" y="5000000"/>
            <a:ext cx="10900000" cy="850000"/>
          </a:xfrm>
          <a:prstGeom prst="roundRect">
            <a:avLst/>
          </a:prstGeom>
          <a:solidFill>
            <a:srgbClr val="F2FAF9"/>
          </a:solidFill>
          <a:ln>
            <a:solidFill>
              <a:srgbClr val="C5E2DF"/>
            </a:solidFill>
          </a:ln>
        </p:spPr>
        <p:txBody>
          <a:bodyPr wrap="square" lIns="100000" rIns="100000" tIns="60000" bIns="60000"/>
          <a:lstStyle/>
          <a:p>
            <a:r>
              <a:rPr lang="ja-JP" sz="1350" b="1">
                <a:solidFill>
                  <a:srgbClr val="087F8C"/>
                </a:solidFill>
                <a:ea typeface="Noto Sans CJK JP"/>
              </a:rPr>
              <a:t>問題条件で 0 になる項を判断する。</a:t>
            </a:r>
          </a:p>
        </p:txBody>
      </p:sp>
      <p:sp>
        <p:nvSpPr>
          <p:cNvPr id="5" name="s5"/>
          <p:cNvSpPr txBox="1"/>
          <p:nvPr/>
        </p:nvSpPr>
        <p:spPr>
          <a:xfrm>
            <a:off x="500000" y="6450000"/>
            <a:ext cx="2800000" cy="23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60000" bIns="60000"/>
          <a:lstStyle/>
          <a:p>
            <a:r>
              <a:rPr lang="ja-JP" sz="850" b="0">
                <a:solidFill>
                  <a:srgbClr val="7B8794"/>
                </a:solidFill>
                <a:ea typeface="Noto Sans CJK JP"/>
              </a:rPr>
              <a:t>電験二種・電気数学｜Topic 03</a:t>
            </a:r>
          </a:p>
        </p:txBody>
      </p:sp>
      <p:sp>
        <p:nvSpPr>
          <p:cNvPr id="6" name="s6"/>
          <p:cNvSpPr txBox="1"/>
          <p:nvPr/>
        </p:nvSpPr>
        <p:spPr>
          <a:xfrm>
            <a:off x="11400000" y="6450000"/>
            <a:ext cx="300000" cy="23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60000" bIns="60000"/>
          <a:lstStyle/>
          <a:p>
            <a:r>
              <a:rPr lang="ja-JP" sz="850" b="0">
                <a:solidFill>
                  <a:srgbClr val="7B8794"/>
                </a:solidFill>
                <a:ea typeface="Noto Sans CJK JP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1"/>
          <p:nvPr/>
        </p:nvSpPr>
        <p:spPr>
          <a:xfrm>
            <a:off x="300000" y="120000"/>
            <a:ext cx="116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60000" bIns="60000"/>
          <a:lstStyle/>
          <a:p>
            <a:r>
              <a:rPr lang="ja-JP" sz="2600" b="1">
                <a:solidFill>
                  <a:srgbClr val="17324D"/>
                </a:solidFill>
                <a:ea typeface="Noto Sans CJK JP"/>
              </a:rPr>
              <a:t>一次近似と相対感度</a:t>
            </a:r>
          </a:p>
        </p:txBody>
      </p:sp>
      <p:sp>
        <p:nvSpPr>
          <p:cNvPr id="3" name="s3"/>
          <p:cNvSpPr txBox="1"/>
          <p:nvPr/>
        </p:nvSpPr>
        <p:spPr>
          <a:xfrm>
            <a:off x="500000" y="1050000"/>
            <a:ext cx="11200000" cy="4900000"/>
          </a:xfrm>
          <a:prstGeom prst="roundRect">
            <a:avLst/>
          </a:prstGeom>
          <a:solidFill>
            <a:srgbClr val="F7F9FB"/>
          </a:solidFill>
          <a:ln>
            <a:solidFill>
              <a:srgbClr val="D6DEE6"/>
            </a:solidFill>
          </a:ln>
        </p:spPr>
        <p:txBody>
          <a:bodyPr wrap="square" lIns="100000" rIns="100000" tIns="60000" bIns="60000"/>
          <a:lstStyle/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一次近似：Δy ≈ dy（有限変化での厳密式ではない）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R=K[(n₀+δ)(p₀+δ)−n₀p₀]=K(n₀δ+p₀δ+δ²)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p₀/n₀≪1, δ/n₀≪1 を確認 → R≈Kn₀δ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/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相対感度：Sₓʸ=(x/y)(∂y/∂x)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G=A/(1+AH) のとき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Sᴬᴳ=1/(1+AH),  Sᴴᴳ=−AH/(1+AH)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AH=100 → Sᴬᴳ≈0.0099, Sᴴᴳ≈−0.9901</a:t>
            </a:r>
          </a:p>
        </p:txBody>
      </p:sp>
      <p:sp>
        <p:nvSpPr>
          <p:cNvPr id="4" name="s4"/>
          <p:cNvSpPr txBox="1"/>
          <p:nvPr/>
        </p:nvSpPr>
        <p:spPr>
          <a:xfrm>
            <a:off x="650000" y="5000000"/>
            <a:ext cx="10900000" cy="850000"/>
          </a:xfrm>
          <a:prstGeom prst="roundRect">
            <a:avLst/>
          </a:prstGeom>
          <a:solidFill>
            <a:srgbClr val="F2FAF9"/>
          </a:solidFill>
          <a:ln>
            <a:solidFill>
              <a:srgbClr val="C5E2DF"/>
            </a:solidFill>
          </a:ln>
        </p:spPr>
        <p:txBody>
          <a:bodyPr wrap="square" lIns="100000" rIns="100000" tIns="60000" bIns="60000"/>
          <a:lstStyle/>
          <a:p>
            <a:r>
              <a:rPr lang="ja-JP" sz="1350" b="1">
                <a:solidFill>
                  <a:srgbClr val="087F8C"/>
                </a:solidFill>
                <a:ea typeface="Noto Sans CJK JP"/>
              </a:rPr>
              <a:t>|AH|≫1 なら A には低感度。ただし H にまで低感度ではない。</a:t>
            </a:r>
          </a:p>
        </p:txBody>
      </p:sp>
      <p:sp>
        <p:nvSpPr>
          <p:cNvPr id="5" name="s5"/>
          <p:cNvSpPr txBox="1"/>
          <p:nvPr/>
        </p:nvSpPr>
        <p:spPr>
          <a:xfrm>
            <a:off x="500000" y="6450000"/>
            <a:ext cx="2800000" cy="23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60000" bIns="60000"/>
          <a:lstStyle/>
          <a:p>
            <a:r>
              <a:rPr lang="ja-JP" sz="850" b="0">
                <a:solidFill>
                  <a:srgbClr val="7B8794"/>
                </a:solidFill>
                <a:ea typeface="Noto Sans CJK JP"/>
              </a:rPr>
              <a:t>電験二種・電気数学｜Topic 03</a:t>
            </a:r>
          </a:p>
        </p:txBody>
      </p:sp>
      <p:sp>
        <p:nvSpPr>
          <p:cNvPr id="6" name="s6"/>
          <p:cNvSpPr txBox="1"/>
          <p:nvPr/>
        </p:nvSpPr>
        <p:spPr>
          <a:xfrm>
            <a:off x="11400000" y="6450000"/>
            <a:ext cx="300000" cy="23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60000" bIns="60000"/>
          <a:lstStyle/>
          <a:p>
            <a:r>
              <a:rPr lang="ja-JP" sz="850" b="0">
                <a:solidFill>
                  <a:srgbClr val="7B8794"/>
                </a:solidFill>
                <a:ea typeface="Noto Sans CJK JP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1"/>
          <p:nvPr/>
        </p:nvSpPr>
        <p:spPr>
          <a:xfrm>
            <a:off x="300000" y="120000"/>
            <a:ext cx="11600000" cy="65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60000" bIns="60000"/>
          <a:lstStyle/>
          <a:p>
            <a:r>
              <a:rPr lang="ja-JP" sz="2600" b="1">
                <a:solidFill>
                  <a:srgbClr val="17324D"/>
                </a:solidFill>
                <a:ea typeface="Noto Sans CJK JP"/>
              </a:rPr>
              <a:t>過去問対応マップと参照元</a:t>
            </a:r>
          </a:p>
        </p:txBody>
      </p:sp>
      <p:sp>
        <p:nvSpPr>
          <p:cNvPr id="3" name="s3"/>
          <p:cNvSpPr txBox="1"/>
          <p:nvPr/>
        </p:nvSpPr>
        <p:spPr>
          <a:xfrm>
            <a:off x="500000" y="1050000"/>
            <a:ext cx="11200000" cy="4900000"/>
          </a:xfrm>
          <a:prstGeom prst="roundRect">
            <a:avLst/>
          </a:prstGeom>
          <a:solidFill>
            <a:srgbClr val="F7F9FB"/>
          </a:solidFill>
          <a:ln>
            <a:solidFill>
              <a:srgbClr val="D6DEE6"/>
            </a:solidFill>
          </a:ln>
        </p:spPr>
        <p:txBody>
          <a:bodyPr wrap="square" lIns="100000" rIns="100000" tIns="60000" bIns="60000"/>
          <a:lstStyle/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R7 一次 理論 問2 (2)〜(5)：偏微分／全時間微分　∂W/∂θ, dΦ/dt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R7 一次 理論 問4 (1)〜(3)：全微分／一次近似　Zₓ={k/(1−k)}Zₛ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R6 一次 理論 問8 (1)〜(3)：近似／相対感度　G=A/(1+AH)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R1 一次 理論 問1 (1)〜(4)：時間偏微分　J=∂D/∂t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H21 一次 理論 問7 (1)〜(2)：一次近似　二次微小項の除外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/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一次資料：電気技術者試験センター（R7/R6/R1/H21 一次理論）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https://www.shiken.or.jp/chief/second/qa/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参考：denken-ou.com / e-sysnet.com / オーム社　参照日 2026-09-13</a:t>
            </a:r>
          </a:p>
          <a:p>
            <a:r>
              <a:rPr lang="ja-JP" sz="1700" b="0">
                <a:solidFill>
                  <a:srgbClr val="17324D"/>
                </a:solidFill>
                <a:ea typeface="Noto Sans CJK JP"/>
              </a:rPr>
              <a:t>詳細URL・公式解答照合は source Markdown の EXAM_ALIGNMENT を正本とする。</a:t>
            </a:r>
          </a:p>
        </p:txBody>
      </p:sp>
      <p:sp>
        <p:nvSpPr>
          <p:cNvPr id="4" name="s4"/>
          <p:cNvSpPr txBox="1"/>
          <p:nvPr/>
        </p:nvSpPr>
        <p:spPr>
          <a:xfrm>
            <a:off x="650000" y="5000000"/>
            <a:ext cx="10900000" cy="850000"/>
          </a:xfrm>
          <a:prstGeom prst="roundRect">
            <a:avLst/>
          </a:prstGeom>
          <a:solidFill>
            <a:srgbClr val="F2FAF9"/>
          </a:solidFill>
          <a:ln>
            <a:solidFill>
              <a:srgbClr val="C5E2DF"/>
            </a:solidFill>
          </a:ln>
        </p:spPr>
        <p:txBody>
          <a:bodyPr wrap="square" lIns="100000" rIns="100000" tIns="60000" bIns="60000"/>
          <a:lstStyle/>
          <a:p>
            <a:r>
              <a:rPr lang="ja-JP" sz="1350" b="1">
                <a:solidFill>
                  <a:srgbClr val="087F8C"/>
                </a:solidFill>
                <a:ea typeface="Noto Sans CJK JP"/>
              </a:rPr>
              <a:t>新幹線は概念モデル y=f(V,f,s,…) の全微分まで。未確認実車値・極値・微分方程式・一般行列・最適化は追加しない。</a:t>
            </a:r>
          </a:p>
        </p:txBody>
      </p:sp>
      <p:sp>
        <p:nvSpPr>
          <p:cNvPr id="5" name="s5"/>
          <p:cNvSpPr txBox="1"/>
          <p:nvPr/>
        </p:nvSpPr>
        <p:spPr>
          <a:xfrm>
            <a:off x="500000" y="6450000"/>
            <a:ext cx="2800000" cy="23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60000" bIns="60000"/>
          <a:lstStyle/>
          <a:p>
            <a:r>
              <a:rPr lang="ja-JP" sz="850" b="0">
                <a:solidFill>
                  <a:srgbClr val="7B8794"/>
                </a:solidFill>
                <a:ea typeface="Noto Sans CJK JP"/>
              </a:rPr>
              <a:t>電験二種・電気数学｜Topic 03</a:t>
            </a:r>
          </a:p>
        </p:txBody>
      </p:sp>
      <p:sp>
        <p:nvSpPr>
          <p:cNvPr id="6" name="s6"/>
          <p:cNvSpPr txBox="1"/>
          <p:nvPr/>
        </p:nvSpPr>
        <p:spPr>
          <a:xfrm>
            <a:off x="11400000" y="6450000"/>
            <a:ext cx="300000" cy="23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00000" rIns="100000" tIns="60000" bIns="60000"/>
          <a:lstStyle/>
          <a:p>
            <a:r>
              <a:rPr lang="ja-JP" sz="850" b="0">
                <a:solidFill>
                  <a:srgbClr val="7B8794"/>
                </a:solidFill>
                <a:ea typeface="Noto Sans CJK JP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">
  <a:themeElements>
    <a:clrScheme name="m">
      <a:dk1>
        <a:srgbClr val="000000"/>
      </a:dk1>
      <a:lt1>
        <a:srgbClr val="FFFFFF"/>
      </a:lt1>
      <a:dk2>
        <a:srgbClr val="17324D"/>
      </a:dk2>
      <a:lt2>
        <a:srgbClr val="F2F5F8"/>
      </a:lt2>
      <a:accent1>
        <a:srgbClr val="087F8C"/>
      </a:accent1>
      <a:accent2>
        <a:srgbClr val="C57200"/>
      </a:accent2>
      <a:accent3>
        <a:srgbClr val="2B7A4B"/>
      </a:accent3>
      <a:accent4>
        <a:srgbClr val="C8362E"/>
      </a:accent4>
      <a:accent5>
        <a:srgbClr val="607286"/>
      </a:accent5>
      <a:accent6>
        <a:srgbClr val="7B8794"/>
      </a:accent6>
      <a:hlink>
        <a:srgbClr val="0000FF"/>
      </a:hlink>
      <a:folHlink>
        <a:srgbClr val="800080"/>
      </a:folHlink>
    </a:clrScheme>
    <a:fontScheme name="m">
      <a:majorFont>
        <a:latin typeface="Aptos"/>
        <a:ea typeface="Noto Sans CJK JP"/>
        <a:cs typeface=""/>
      </a:majorFont>
      <a:minorFont>
        <a:latin typeface="Aptos"/>
        <a:ea typeface="Noto Sans CJK JP"/>
        <a:cs typeface=""/>
      </a:minorFont>
    </a:fontScheme>
    <a:fmtScheme name="m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