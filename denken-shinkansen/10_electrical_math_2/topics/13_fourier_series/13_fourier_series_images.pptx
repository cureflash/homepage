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"/>
          <p:cNvSpPr txBox="1"/>
          <p:nvPr/>
        </p:nvSpPr>
        <p:spPr>
          <a:xfrm>
            <a:off x="350000" y="220000"/>
            <a:ext cx="11490000" cy="720000"/>
          </a:xfrm>
          <a:prstGeom prst="roundRect">
            <a:avLst/>
          </a:prstGeom>
          <a:solidFill>
            <a:srgbClr val="183649"/>
          </a:solidFill>
          <a:ln w="12700">
            <a:solidFill>
              <a:srgbClr val="183649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2300" b="1">
                <a:solidFill>
                  <a:srgbClr val="FFFFFF"/>
                </a:solidFill>
              </a:rPr>
              <a:t>フーリエ級数：周期波形を「基本波＋高調波」で読む</a:t>
            </a:r>
          </a:p>
        </p:txBody>
      </p:sp>
      <p:sp>
        <p:nvSpPr>
          <p:cNvPr id="2" name="x"/>
          <p:cNvSpPr txBox="1"/>
          <p:nvPr/>
        </p:nvSpPr>
        <p:spPr>
          <a:xfrm>
            <a:off x="550000" y="1200000"/>
            <a:ext cx="11090000" cy="5200000"/>
          </a:xfrm>
          <a:prstGeom prst="roundRect">
            <a:avLst/>
          </a:prstGeom>
          <a:solidFill>
            <a:srgbClr val="E8F2F7"/>
          </a:solidFill>
          <a:ln w="12700">
            <a:solidFill>
              <a:srgbClr val="CBD6DC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1540" b="0">
                <a:solidFill>
                  <a:srgbClr val="263238"/>
                </a:solidFill>
              </a:rPr>
              <a:t>固定 EXAM_ALIGNMENT：第二種公式過去問 3問・5対象設問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周期波形 ＝ 直流成分 ＋ 基本波 ＋ 2次・3次・…高調波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H28 二次 問3：3n次高調波の有無／線間波形の実効値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H24 一次 問3：5次・7次を位相で低減／基本波の合成振幅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H22 一次 問3：PWM基本波振幅 → 相実効値 → 線間実効値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到達目標：対称性・三相位相・実効値・位相合成まで使って本試験型を処理する。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"/>
          <p:cNvSpPr txBox="1"/>
          <p:nvPr/>
        </p:nvSpPr>
        <p:spPr>
          <a:xfrm>
            <a:off x="350000" y="220000"/>
            <a:ext cx="11490000" cy="720000"/>
          </a:xfrm>
          <a:prstGeom prst="roundRect">
            <a:avLst/>
          </a:prstGeom>
          <a:solidFill>
            <a:srgbClr val="183649"/>
          </a:solidFill>
          <a:ln w="12700">
            <a:solidFill>
              <a:srgbClr val="183649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2300" b="1">
                <a:solidFill>
                  <a:srgbClr val="FFFFFF"/>
                </a:solidFill>
              </a:rPr>
              <a:t>1. フーリエ係数と対称性</a:t>
            </a:r>
          </a:p>
        </p:txBody>
      </p:sp>
      <p:sp>
        <p:nvSpPr>
          <p:cNvPr id="2" name="x"/>
          <p:cNvSpPr txBox="1"/>
          <p:nvPr/>
        </p:nvSpPr>
        <p:spPr>
          <a:xfrm>
            <a:off x="550000" y="1200000"/>
            <a:ext cx="11090000" cy="520000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CBD6DC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1540" b="0">
                <a:solidFill>
                  <a:srgbClr val="263238"/>
                </a:solidFill>
              </a:rPr>
              <a:t>f(θ)=a₀/2+Σ[aₙcos(nθ)+bₙsin(nθ)]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aₙ=(1/π)∫f(θ)cos(nθ)dθ　　bₙ=(1/π)∫f(θ)sin(nθ)dθ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偶関数 → bₙ=0　／　奇関数 → a₀=aₙ=0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半波対称 f(θ+π)=-f(θ) → 偶数次高調波=0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方形波：bₙ=E_d/(nπ){1-(-1)ⁿ}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偶数 n：0　／　奇数 n：2E_d/(nπ)</a:t>
            </a:r>
          </a:p>
          <a:p>
            <a:pPr algn="l"/>
            <a:r>
              <a:rPr lang="ja-JP" sz="1540" b="0">
                <a:solidFill>
                  <a:srgbClr val="B75D16"/>
                </a:solidFill>
              </a:rPr>
              <a:t>→ H28 (3)：3次・9次…も相電圧には存在する。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"/>
          <p:cNvSpPr txBox="1"/>
          <p:nvPr/>
        </p:nvSpPr>
        <p:spPr>
          <a:xfrm>
            <a:off x="350000" y="220000"/>
            <a:ext cx="11490000" cy="720000"/>
          </a:xfrm>
          <a:prstGeom prst="roundRect">
            <a:avLst/>
          </a:prstGeom>
          <a:solidFill>
            <a:srgbClr val="183649"/>
          </a:solidFill>
          <a:ln w="12700">
            <a:solidFill>
              <a:srgbClr val="183649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2300" b="1">
                <a:solidFill>
                  <a:srgbClr val="FFFFFF"/>
                </a:solidFill>
              </a:rPr>
              <a:t>2. 三相の 3n 次高調波は線間差で消える</a:t>
            </a:r>
          </a:p>
        </p:txBody>
      </p:sp>
      <p:sp>
        <p:nvSpPr>
          <p:cNvPr id="2" name="x"/>
          <p:cNvSpPr txBox="1"/>
          <p:nvPr/>
        </p:nvSpPr>
        <p:spPr>
          <a:xfrm>
            <a:off x="550000" y="1200000"/>
            <a:ext cx="11090000" cy="5200000"/>
          </a:xfrm>
          <a:prstGeom prst="roundRect">
            <a:avLst/>
          </a:prstGeom>
          <a:solidFill>
            <a:srgbClr val="E8F2F7"/>
          </a:solidFill>
          <a:ln w="12700">
            <a:solidFill>
              <a:srgbClr val="CBD6DC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1540" b="0">
                <a:solidFill>
                  <a:srgbClr val="263238"/>
                </a:solidFill>
              </a:rPr>
              <a:t>H28 二次「機械・制御」問3 (3)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各相の n 次高調波の位相差は n×120°。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3n 次では 3n×120°=360°×n → 3相が同相。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線間電圧：v_RS = v_RO - v_SO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3n次成分：V₃ₙ − V₃ₙ = 0</a:t>
            </a:r>
          </a:p>
          <a:p/>
          <a:p>
            <a:pPr algn="l"/>
            <a:r>
              <a:rPr lang="ja-JP" sz="1540" b="0">
                <a:solidFill>
                  <a:srgbClr val="B75D16"/>
                </a:solidFill>
              </a:rPr>
              <a:t>結論：相電圧に含まれる3n次成分は、線間電圧で打ち消される。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"/>
          <p:cNvSpPr txBox="1"/>
          <p:nvPr/>
        </p:nvSpPr>
        <p:spPr>
          <a:xfrm>
            <a:off x="350000" y="220000"/>
            <a:ext cx="11490000" cy="720000"/>
          </a:xfrm>
          <a:prstGeom prst="roundRect">
            <a:avLst/>
          </a:prstGeom>
          <a:solidFill>
            <a:srgbClr val="183649"/>
          </a:solidFill>
          <a:ln w="12700">
            <a:solidFill>
              <a:srgbClr val="183649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2300" b="1">
                <a:solidFill>
                  <a:srgbClr val="FFFFFF"/>
                </a:solidFill>
              </a:rPr>
              <a:t>3. 非正弦波の実効値は「波形そのもの」を二乗平均</a:t>
            </a:r>
          </a:p>
        </p:txBody>
      </p:sp>
      <p:sp>
        <p:nvSpPr>
          <p:cNvPr id="2" name="x"/>
          <p:cNvSpPr txBox="1"/>
          <p:nvPr/>
        </p:nvSpPr>
        <p:spPr>
          <a:xfrm>
            <a:off x="550000" y="1200000"/>
            <a:ext cx="11090000" cy="520000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CBD6DC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1540" b="0">
                <a:solidFill>
                  <a:srgbClr val="263238"/>
                </a:solidFill>
              </a:rPr>
              <a:t>H28 二次「機械・制御」問3 (4)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X_rms = √{ (1/T) ∫₀ᵀ x²(t) dt }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区分一定波形：各区間の「値² × 継続時間」を足し、1周期で割って平方根。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|v_RS|=E_d の区間合計が 4π/3、残りは0。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E₀=√{(1/2π)E_d²(4π/3)} = √(2/3) E_d</a:t>
            </a:r>
          </a:p>
          <a:p/>
          <a:p>
            <a:pPr algn="l"/>
            <a:r>
              <a:rPr lang="ja-JP" sz="1540" b="0">
                <a:solidFill>
                  <a:srgbClr val="B75D16"/>
                </a:solidFill>
              </a:rPr>
              <a:t>→ 検算：0 &lt; √(2/3)E_d &lt; E_d。最大値÷√2を機械適用しない。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x"/>
          <p:cNvSpPr txBox="1"/>
          <p:nvPr/>
        </p:nvSpPr>
        <p:spPr>
          <a:xfrm>
            <a:off x="350000" y="220000"/>
            <a:ext cx="11490000" cy="720000"/>
          </a:xfrm>
          <a:prstGeom prst="roundRect">
            <a:avLst/>
          </a:prstGeom>
          <a:solidFill>
            <a:srgbClr val="183649"/>
          </a:solidFill>
          <a:ln w="12700">
            <a:solidFill>
              <a:srgbClr val="183649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2300" b="1">
                <a:solidFill>
                  <a:srgbClr val="FFFFFF"/>
                </a:solidFill>
              </a:rPr>
              <a:t>4. 位相合成と PWM 基本波：次数 n を掛けて考える</a:t>
            </a:r>
          </a:p>
        </p:txBody>
      </p:sp>
      <p:sp>
        <p:nvSpPr>
          <p:cNvPr id="2" name="x"/>
          <p:cNvSpPr txBox="1"/>
          <p:nvPr/>
        </p:nvSpPr>
        <p:spPr>
          <a:xfrm>
            <a:off x="550000" y="1200000"/>
            <a:ext cx="11090000" cy="5200000"/>
          </a:xfrm>
          <a:prstGeom prst="roundRect">
            <a:avLst/>
          </a:prstGeom>
          <a:solidFill>
            <a:srgbClr val="F1F7F1"/>
          </a:solidFill>
          <a:ln w="12700">
            <a:solidFill>
              <a:srgbClr val="CBD6DC"/>
            </a:solidFill>
          </a:ln>
        </p:spPr>
        <p:txBody>
          <a:bodyPr wrap="square" lIns="130000" rIns="130000" tIns="90000" bIns="90000"/>
          <a:lstStyle/>
          <a:p>
            <a:pPr algn="l"/>
            <a:r>
              <a:rPr lang="ja-JP" sz="1540" b="0">
                <a:solidFill>
                  <a:srgbClr val="263238"/>
                </a:solidFill>
              </a:rPr>
              <a:t>H24 (4)(5) ＋ H22 (3)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sin(nθ)+sin n(θ−φ)=2cos(nφ/2)sin(nθ−nφ/2)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φ=π/6：基本波 1.932倍、5次 0.518倍、7次 0.518倍</a:t>
            </a:r>
          </a:p>
          <a:p>
            <a:pPr algn="l"/>
            <a:r>
              <a:rPr lang="ja-JP" sz="1540" b="0">
                <a:solidFill>
                  <a:srgbClr val="B75D16"/>
                </a:solidFill>
              </a:rPr>
              <a:t>→ 5次・7次を同時に低減し、基本波は2倍未満。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PWM：相電圧基本波最大値=(E_d/2)k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相実効値=E_d k/(2√2) → 線間実効値=√3 E_d k/(2√2)</a:t>
            </a:r>
          </a:p>
          <a:p/>
          <a:p>
            <a:pPr algn="l"/>
            <a:r>
              <a:rPr lang="ja-JP" sz="1540" b="0">
                <a:solidFill>
                  <a:srgbClr val="263238"/>
                </a:solidFill>
              </a:rPr>
              <a:t>固定3問・5対象設問の可視化：5 / 5</a:t>
            </a:r>
          </a:p>
          <a:p>
            <a:pPr algn="l"/>
            <a:r>
              <a:rPr lang="ja-JP" sz="1540" b="0">
                <a:solidFill>
                  <a:srgbClr val="263238"/>
                </a:solidFill>
              </a:rPr>
              <a:t>範囲外：FFT・dB・周波数応答・PWM制御一般は扱わない。</a:t>
            </a:r>
          </a:p>
        </p:txBody>
      </p:sp>
    </p:spTree>
  </p:cSld>
</p:sld>
</file>