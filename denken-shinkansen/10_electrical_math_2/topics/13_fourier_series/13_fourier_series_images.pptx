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67AE"/>
          </a:solidFill>
          <a:ln>
            <a:noFill/>
          </a:ln>
        </p:spPr>
      </p:sp>
      <p:sp>
        <p:nvSpPr>
          <p:cNvPr id="3" name="Title"/>
          <p:cNvSpPr/>
          <p:nvPr/>
        </p:nvSpPr>
        <p:spPr>
          <a:xfrm>
            <a:off x="384048" y="164592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2200" b="1">
                <a:solidFill>
                  <a:srgbClr val="232B34"/>
                </a:solidFill>
                <a:latin typeface="Noto Sans CJK JP"/>
                <a:ea typeface="Noto Sans CJK JP"/>
              </a:rPr>
              <a:t>周期波形は「基本波＋高調波」に分けて読む</a:t>
            </a:r>
            <a:endParaRPr lang="ja-JP" sz="2200"/>
          </a:p>
        </p:txBody>
      </p:sp>
      <p:sp>
        <p:nvSpPr>
          <p:cNvPr id="4" name="Subtitle"/>
          <p:cNvSpPr/>
          <p:nvPr/>
        </p:nvSpPr>
        <p:spPr>
          <a:xfrm>
            <a:off x="402336" y="603504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800" b="0">
                <a:solidFill>
                  <a:srgbClr val="5F6B78"/>
                </a:solidFill>
                <a:latin typeface="Noto Sans CJK JP"/>
                <a:ea typeface="Noto Sans CJK JP"/>
              </a:rPr>
              <a:t>固定範囲：周期関数・フーリエ係数・基本波・高調波・実効値</a:t>
            </a:r>
            <a:endParaRPr lang="ja-JP" sz="800"/>
          </a:p>
        </p:txBody>
      </p:sp>
      <p:sp>
        <p:nvSpPr>
          <p:cNvPr id="10" name="Panel"/>
          <p:cNvSpPr/>
          <p:nvPr/>
        </p:nvSpPr>
        <p:spPr>
          <a:xfrm>
            <a:off x="411480" y="1051560"/>
            <a:ext cx="6812280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1" name="Panel"/>
          <p:cNvSpPr/>
          <p:nvPr/>
        </p:nvSpPr>
        <p:spPr>
          <a:xfrm>
            <a:off x="7406640" y="1051560"/>
            <a:ext cx="437083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2" name="Lhead"/>
          <p:cNvSpPr/>
          <p:nvPr/>
        </p:nvSpPr>
        <p:spPr>
          <a:xfrm>
            <a:off x="685800" y="1325880"/>
            <a:ext cx="612648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周期波形を正弦波の和として読む</a:t>
            </a:r>
            <a:endParaRPr lang="ja-JP" sz="1400"/>
          </a:p>
        </p:txBody>
      </p:sp>
      <p:sp>
        <p:nvSpPr>
          <p:cNvPr id="13" name="Formula"/>
          <p:cNvSpPr/>
          <p:nvPr/>
        </p:nvSpPr>
        <p:spPr>
          <a:xfrm>
            <a:off x="731520" y="1920240"/>
            <a:ext cx="6126480" cy="502920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800" b="1">
                <a:solidFill>
                  <a:srgbClr val="2A67AE"/>
                </a:solidFill>
                <a:latin typeface="Noto Sans CJK JP"/>
                <a:ea typeface="Noto Sans CJK JP"/>
              </a:rPr>
              <a:t>f(θ)=a₀/2 + Σ[aₙ cos(nθ)+bₙ sin(nθ)]</a:t>
            </a:r>
            <a:endParaRPr lang="ja-JP" sz="1800"/>
          </a:p>
        </p:txBody>
      </p:sp>
      <p:sp>
        <p:nvSpPr>
          <p:cNvPr id="14" name="Meaning"/>
          <p:cNvSpPr/>
          <p:nvPr/>
        </p:nvSpPr>
        <p:spPr>
          <a:xfrm>
            <a:off x="868680" y="2788920"/>
            <a:ext cx="580644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300" b="0">
                <a:solidFill>
                  <a:srgbClr val="232B34"/>
                </a:solidFill>
                <a:latin typeface="Noto Sans CJK JP"/>
                <a:ea typeface="Noto Sans CJK JP"/>
              </a:rPr>
              <a:t>基本波 n=1</a:t>
            </a:r>
            <a:endParaRPr lang="ja-JP" sz="1300"/>
          </a:p>
          <a:p>
            <a:pPr algn="l"/>
            <a:r>
              <a:rPr lang="ja-JP" sz="1300" b="0">
                <a:solidFill>
                  <a:srgbClr val="232B34"/>
                </a:solidFill>
                <a:latin typeface="Noto Sans CJK JP"/>
                <a:ea typeface="Noto Sans CJK JP"/>
              </a:rPr>
              <a:t>高調波 n=2,3,…</a:t>
            </a:r>
            <a:endParaRPr lang="ja-JP" sz="1300"/>
          </a:p>
          <a:p>
            <a:pPr algn="l"/>
            <a:r>
              <a:rPr lang="ja-JP" sz="1300" b="0">
                <a:solidFill>
                  <a:srgbClr val="232B34"/>
                </a:solidFill>
                <a:latin typeface="Noto Sans CJK JP"/>
                <a:ea typeface="Noto Sans CJK JP"/>
              </a:rPr>
              <a:t>実効値は非正弦波でも定義から求める</a:t>
            </a:r>
            <a:endParaRPr lang="ja-JP" sz="1300"/>
          </a:p>
        </p:txBody>
      </p:sp>
      <p:sp>
        <p:nvSpPr>
          <p:cNvPr id="15" name="Rhead"/>
          <p:cNvSpPr/>
          <p:nvPr/>
        </p:nvSpPr>
        <p:spPr>
          <a:xfrm>
            <a:off x="7699248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本試験で見る4つの視点</a:t>
            </a:r>
            <a:endParaRPr lang="ja-JP" sz="1400"/>
          </a:p>
        </p:txBody>
      </p:sp>
      <p:sp>
        <p:nvSpPr>
          <p:cNvPr id="16" name="Points"/>
          <p:cNvSpPr/>
          <p:nvPr/>
        </p:nvSpPr>
        <p:spPr>
          <a:xfrm>
            <a:off x="7726679" y="1874519"/>
            <a:ext cx="3474720" cy="3154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200" b="0">
                <a:solidFill>
                  <a:srgbClr val="232B34"/>
                </a:solidFill>
                <a:latin typeface="Noto Sans CJK JP"/>
                <a:ea typeface="Noto Sans CJK JP"/>
              </a:rPr>
              <a:t>① 周期性：1周期を固定</a:t>
            </a:r>
            <a:endParaRPr lang="ja-JP" sz="1200"/>
          </a:p>
          <a:p>
            <a:pPr algn="l"/>
            <a:r>
              <a:rPr lang="ja-JP" sz="1200" b="0">
                <a:solidFill>
                  <a:srgbClr val="232B34"/>
                </a:solidFill>
                <a:latin typeface="Noto Sans CJK JP"/>
                <a:ea typeface="Noto Sans CJK JP"/>
              </a:rPr>
              <a:t>② 対称性：消える係数を先に判定</a:t>
            </a:r>
            <a:endParaRPr lang="ja-JP" sz="1200"/>
          </a:p>
          <a:p>
            <a:pPr algn="l"/>
            <a:r>
              <a:rPr lang="ja-JP" sz="1200" b="0">
                <a:solidFill>
                  <a:srgbClr val="232B34"/>
                </a:solidFill>
                <a:latin typeface="Noto Sans CJK JP"/>
                <a:ea typeface="Noto Sans CJK JP"/>
              </a:rPr>
              <a:t>③ 高調波：次数と位相を読む</a:t>
            </a:r>
            <a:endParaRPr lang="ja-JP" sz="1200"/>
          </a:p>
          <a:p>
            <a:pPr algn="l"/>
            <a:r>
              <a:rPr lang="ja-JP" sz="1200" b="0">
                <a:solidFill>
                  <a:srgbClr val="232B34"/>
                </a:solidFill>
                <a:latin typeface="Noto Sans CJK JP"/>
                <a:ea typeface="Noto Sans CJK JP"/>
              </a:rPr>
              <a:t>④ 実効値：二乗平均平方根</a:t>
            </a:r>
            <a:endParaRPr lang="ja-JP" sz="1200"/>
          </a:p>
        </p:txBody>
      </p:sp>
      <p:sp>
        <p:nvSpPr>
          <p:cNvPr id="17" name="Boundary"/>
          <p:cNvSpPr/>
          <p:nvPr/>
        </p:nvSpPr>
        <p:spPr>
          <a:xfrm>
            <a:off x="7699248" y="5440680"/>
            <a:ext cx="3566160" cy="384048"/>
          </a:xfrm>
          <a:prstGeom prst="rect">
            <a:avLst/>
          </a:prstGeom>
          <a:solidFill>
            <a:srgbClr val="FFF6F6"/>
          </a:solidFill>
          <a:ln w="12700">
            <a:solidFill>
              <a:srgbClr val="F0D0D0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C74A49"/>
                </a:solidFill>
                <a:latin typeface="Noto Sans CJK JP"/>
                <a:ea typeface="Noto Sans CJK JP"/>
              </a:rPr>
              <a:t>Topic 14 フーリエ変換・FFTへは進まない</a:t>
            </a:r>
            <a:endParaRPr lang="ja-JP" sz="900"/>
          </a:p>
        </p:txBody>
      </p:sp>
      <p:sp>
        <p:nvSpPr>
          <p:cNvPr id="90" name="FooterL"/>
          <p:cNvSpPr/>
          <p:nvPr/>
        </p:nvSpPr>
        <p:spPr>
          <a:xfrm>
            <a:off x="411480" y="6547104"/>
            <a:ext cx="2011680" cy="146304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電験二種・電気数学</a:t>
            </a:r>
            <a:endParaRPr lang="ja-JP" sz="600"/>
          </a:p>
        </p:txBody>
      </p:sp>
      <p:sp>
        <p:nvSpPr>
          <p:cNvPr id="91" name="FooterR"/>
          <p:cNvSpPr/>
          <p:nvPr/>
        </p:nvSpPr>
        <p:spPr>
          <a:xfrm>
            <a:off x="11475720" y="6547104"/>
            <a:ext cx="320040" cy="146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r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1</a:t>
            </a:r>
            <a:endParaRPr lang="ja-JP" sz="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67AE"/>
          </a:solidFill>
          <a:ln>
            <a:noFill/>
          </a:ln>
        </p:spPr>
      </p:sp>
      <p:sp>
        <p:nvSpPr>
          <p:cNvPr id="3" name="Title"/>
          <p:cNvSpPr/>
          <p:nvPr/>
        </p:nvSpPr>
        <p:spPr>
          <a:xfrm>
            <a:off x="384048" y="164592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2200" b="1">
                <a:solidFill>
                  <a:srgbClr val="232B34"/>
                </a:solidFill>
                <a:latin typeface="Noto Sans CJK JP"/>
                <a:ea typeface="Noto Sans CJK JP"/>
              </a:rPr>
              <a:t>対称性から、残る高調波を絞る</a:t>
            </a:r>
            <a:endParaRPr lang="ja-JP" sz="2200"/>
          </a:p>
        </p:txBody>
      </p:sp>
      <p:sp>
        <p:nvSpPr>
          <p:cNvPr id="4" name="Subtitle"/>
          <p:cNvSpPr/>
          <p:nvPr/>
        </p:nvSpPr>
        <p:spPr>
          <a:xfrm>
            <a:off x="402336" y="603504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800" b="0">
                <a:solidFill>
                  <a:srgbClr val="5F6B78"/>
                </a:solidFill>
                <a:latin typeface="Noto Sans CJK JP"/>
                <a:ea typeface="Noto Sans CJK JP"/>
              </a:rPr>
              <a:t>H28 二次「機械・制御」問3 (3) に接続</a:t>
            </a:r>
            <a:endParaRPr lang="ja-JP" sz="800"/>
          </a:p>
        </p:txBody>
      </p:sp>
      <p:sp>
        <p:nvSpPr>
          <p:cNvPr id="10" name="Panel"/>
          <p:cNvSpPr/>
          <p:nvPr/>
        </p:nvSpPr>
        <p:spPr>
          <a:xfrm>
            <a:off x="411480" y="1051560"/>
            <a:ext cx="5623560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1" name="Panel"/>
          <p:cNvSpPr/>
          <p:nvPr/>
        </p:nvSpPr>
        <p:spPr>
          <a:xfrm>
            <a:off x="6236208" y="1051560"/>
            <a:ext cx="5541264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2" name="LeftHead"/>
          <p:cNvSpPr/>
          <p:nvPr/>
        </p:nvSpPr>
        <p:spPr>
          <a:xfrm>
            <a:off x="685800" y="132588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半波対称の方形波</a:t>
            </a:r>
            <a:endParaRPr lang="ja-JP" sz="1400"/>
          </a:p>
        </p:txBody>
      </p:sp>
      <p:sp>
        <p:nvSpPr>
          <p:cNvPr id="13" name="Sym"/>
          <p:cNvSpPr/>
          <p:nvPr/>
        </p:nvSpPr>
        <p:spPr>
          <a:xfrm>
            <a:off x="777240" y="2011680"/>
            <a:ext cx="4892040" cy="594360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2100" b="1">
                <a:solidFill>
                  <a:srgbClr val="2A67AE"/>
                </a:solidFill>
                <a:latin typeface="Noto Sans CJK JP"/>
                <a:ea typeface="Noto Sans CJK JP"/>
              </a:rPr>
              <a:t>f(θ+π)=−f(θ)</a:t>
            </a:r>
            <a:endParaRPr lang="ja-JP" sz="2100"/>
          </a:p>
        </p:txBody>
      </p:sp>
      <p:sp>
        <p:nvSpPr>
          <p:cNvPr id="14" name="Even"/>
          <p:cNvSpPr/>
          <p:nvPr/>
        </p:nvSpPr>
        <p:spPr>
          <a:xfrm>
            <a:off x="777240" y="2788920"/>
            <a:ext cx="4892040" cy="566928"/>
          </a:xfrm>
          <a:prstGeom prst="rect">
            <a:avLst/>
          </a:prstGeom>
          <a:solidFill>
            <a:srgbClr val="F4FBF6"/>
          </a:solidFill>
          <a:ln w="12700">
            <a:solidFill>
              <a:srgbClr val="D4EBDD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800" b="1">
                <a:solidFill>
                  <a:srgbClr val="2F8F59"/>
                </a:solidFill>
                <a:latin typeface="Noto Sans CJK JP"/>
                <a:ea typeface="Noto Sans CJK JP"/>
              </a:rPr>
              <a:t>→ 偶数次高調波 = 0</a:t>
            </a:r>
            <a:endParaRPr lang="ja-JP" sz="1800"/>
          </a:p>
        </p:txBody>
      </p:sp>
      <p:sp>
        <p:nvSpPr>
          <p:cNvPr id="15" name="RightHead"/>
          <p:cNvSpPr/>
          <p:nvPr/>
        </p:nvSpPr>
        <p:spPr>
          <a:xfrm>
            <a:off x="6510528" y="13258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残る正弦係数 bₙ</a:t>
            </a:r>
            <a:endParaRPr lang="ja-JP" sz="1400"/>
          </a:p>
        </p:txBody>
      </p:sp>
      <p:sp>
        <p:nvSpPr>
          <p:cNvPr id="16" name="bn"/>
          <p:cNvSpPr/>
          <p:nvPr/>
        </p:nvSpPr>
        <p:spPr>
          <a:xfrm>
            <a:off x="6583680" y="1938528"/>
            <a:ext cx="448056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800" b="1">
                <a:solidFill>
                  <a:srgbClr val="232B34"/>
                </a:solidFill>
                <a:latin typeface="Noto Sans CJK JP"/>
                <a:ea typeface="Noto Sans CJK JP"/>
              </a:rPr>
              <a:t>bₙ = E/(nπ){1−(−1)ⁿ}</a:t>
            </a:r>
            <a:endParaRPr lang="ja-JP" sz="1800"/>
          </a:p>
        </p:txBody>
      </p:sp>
      <p:sp>
        <p:nvSpPr>
          <p:cNvPr id="20" name="bar1"/>
          <p:cNvSpPr/>
          <p:nvPr/>
        </p:nvSpPr>
        <p:spPr>
          <a:xfrm>
            <a:off x="6903720" y="3108960"/>
            <a:ext cx="457200" cy="2331720"/>
          </a:xfrm>
          <a:prstGeom prst="rect">
            <a:avLst/>
          </a:prstGeom>
          <a:solidFill>
            <a:srgbClr val="2A67AE"/>
          </a:solidFill>
          <a:ln>
            <a:noFill/>
          </a:ln>
        </p:spPr>
      </p:sp>
      <p:sp>
        <p:nvSpPr>
          <p:cNvPr id="30" name="n1"/>
          <p:cNvSpPr/>
          <p:nvPr/>
        </p:nvSpPr>
        <p:spPr>
          <a:xfrm>
            <a:off x="6858000" y="550468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1</a:t>
            </a:r>
            <a:endParaRPr lang="ja-JP" sz="900"/>
          </a:p>
        </p:txBody>
      </p:sp>
      <p:sp>
        <p:nvSpPr>
          <p:cNvPr id="21" name="bar3"/>
          <p:cNvSpPr/>
          <p:nvPr/>
        </p:nvSpPr>
        <p:spPr>
          <a:xfrm>
            <a:off x="7863840" y="4663440"/>
            <a:ext cx="457200" cy="777240"/>
          </a:xfrm>
          <a:prstGeom prst="rect">
            <a:avLst/>
          </a:prstGeom>
          <a:solidFill>
            <a:srgbClr val="E57D24"/>
          </a:solidFill>
          <a:ln>
            <a:noFill/>
          </a:ln>
        </p:spPr>
      </p:sp>
      <p:sp>
        <p:nvSpPr>
          <p:cNvPr id="31" name="n3"/>
          <p:cNvSpPr/>
          <p:nvPr/>
        </p:nvSpPr>
        <p:spPr>
          <a:xfrm>
            <a:off x="7818120" y="550468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3</a:t>
            </a:r>
            <a:endParaRPr lang="ja-JP" sz="900"/>
          </a:p>
        </p:txBody>
      </p:sp>
      <p:sp>
        <p:nvSpPr>
          <p:cNvPr id="22" name="bar5"/>
          <p:cNvSpPr/>
          <p:nvPr/>
        </p:nvSpPr>
        <p:spPr>
          <a:xfrm>
            <a:off x="8823960" y="4965192"/>
            <a:ext cx="457200" cy="475488"/>
          </a:xfrm>
          <a:prstGeom prst="rect">
            <a:avLst/>
          </a:prstGeom>
          <a:solidFill>
            <a:srgbClr val="E57D24"/>
          </a:solidFill>
          <a:ln>
            <a:noFill/>
          </a:ln>
        </p:spPr>
      </p:sp>
      <p:sp>
        <p:nvSpPr>
          <p:cNvPr id="32" name="n5"/>
          <p:cNvSpPr/>
          <p:nvPr/>
        </p:nvSpPr>
        <p:spPr>
          <a:xfrm>
            <a:off x="8778240" y="550468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5</a:t>
            </a:r>
            <a:endParaRPr lang="ja-JP" sz="900"/>
          </a:p>
        </p:txBody>
      </p:sp>
      <p:sp>
        <p:nvSpPr>
          <p:cNvPr id="23" name="bar7"/>
          <p:cNvSpPr/>
          <p:nvPr/>
        </p:nvSpPr>
        <p:spPr>
          <a:xfrm>
            <a:off x="9784080" y="5102352"/>
            <a:ext cx="457200" cy="338328"/>
          </a:xfrm>
          <a:prstGeom prst="rect">
            <a:avLst/>
          </a:prstGeom>
          <a:solidFill>
            <a:srgbClr val="E57D24"/>
          </a:solidFill>
          <a:ln>
            <a:noFill/>
          </a:ln>
        </p:spPr>
      </p:sp>
      <p:sp>
        <p:nvSpPr>
          <p:cNvPr id="33" name="n7"/>
          <p:cNvSpPr/>
          <p:nvPr/>
        </p:nvSpPr>
        <p:spPr>
          <a:xfrm>
            <a:off x="9738360" y="550468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7</a:t>
            </a:r>
            <a:endParaRPr lang="ja-JP" sz="900"/>
          </a:p>
        </p:txBody>
      </p:sp>
      <p:sp>
        <p:nvSpPr>
          <p:cNvPr id="40" name="rule"/>
          <p:cNvSpPr/>
          <p:nvPr/>
        </p:nvSpPr>
        <p:spPr>
          <a:xfrm>
            <a:off x="6537960" y="2761488"/>
            <a:ext cx="4526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1300" b="1">
                <a:solidFill>
                  <a:srgbClr val="E57D24"/>
                </a:solidFill>
                <a:latin typeface="Noto Sans CJK JP"/>
                <a:ea typeface="Noto Sans CJK JP"/>
              </a:rPr>
              <a:t>偶数 n → 0</a:t>
            </a:r>
            <a:endParaRPr lang="ja-JP" sz="1300"/>
          </a:p>
          <a:p>
            <a:pPr algn="c"/>
            <a:r>
              <a:rPr lang="ja-JP" sz="1300" b="1">
                <a:solidFill>
                  <a:srgbClr val="E57D24"/>
                </a:solidFill>
                <a:latin typeface="Noto Sans CJK JP"/>
                <a:ea typeface="Noto Sans CJK JP"/>
              </a:rPr>
              <a:t>奇数 n → 2E/(nπ)</a:t>
            </a:r>
            <a:endParaRPr lang="ja-JP" sz="1300"/>
          </a:p>
        </p:txBody>
      </p:sp>
      <p:sp>
        <p:nvSpPr>
          <p:cNvPr id="41" name="label"/>
          <p:cNvSpPr/>
          <p:nvPr/>
        </p:nvSpPr>
        <p:spPr>
          <a:xfrm>
            <a:off x="6583680" y="5815584"/>
            <a:ext cx="44348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0">
                <a:solidFill>
                  <a:srgbClr val="5F6B78"/>
                </a:solidFill>
                <a:latin typeface="Noto Sans CJK JP"/>
                <a:ea typeface="Noto Sans CJK JP"/>
              </a:rPr>
              <a:t>基本波(1次)・3次・5次・7次…が残る</a:t>
            </a:r>
            <a:endParaRPr lang="ja-JP" sz="900"/>
          </a:p>
        </p:txBody>
      </p:sp>
      <p:sp>
        <p:nvSpPr>
          <p:cNvPr id="90" name="FooterL"/>
          <p:cNvSpPr/>
          <p:nvPr/>
        </p:nvSpPr>
        <p:spPr>
          <a:xfrm>
            <a:off x="411480" y="6547104"/>
            <a:ext cx="2011680" cy="146304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電験二種・電気数学</a:t>
            </a:r>
            <a:endParaRPr lang="ja-JP" sz="600"/>
          </a:p>
        </p:txBody>
      </p:sp>
      <p:sp>
        <p:nvSpPr>
          <p:cNvPr id="91" name="FooterR"/>
          <p:cNvSpPr/>
          <p:nvPr/>
        </p:nvSpPr>
        <p:spPr>
          <a:xfrm>
            <a:off x="11475720" y="6547104"/>
            <a:ext cx="320040" cy="146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r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2</a:t>
            </a:r>
            <a:endParaRPr lang="ja-JP" sz="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67AE"/>
          </a:solidFill>
          <a:ln>
            <a:noFill/>
          </a:ln>
        </p:spPr>
      </p:sp>
      <p:sp>
        <p:nvSpPr>
          <p:cNvPr id="3" name="Title"/>
          <p:cNvSpPr/>
          <p:nvPr/>
        </p:nvSpPr>
        <p:spPr>
          <a:xfrm>
            <a:off x="384048" y="164592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2200" b="1">
                <a:solidFill>
                  <a:srgbClr val="232B34"/>
                </a:solidFill>
                <a:latin typeface="Noto Sans CJK JP"/>
                <a:ea typeface="Noto Sans CJK JP"/>
              </a:rPr>
              <a:t>三相では 3n 次高調波が線間電圧で打ち消される</a:t>
            </a:r>
            <a:endParaRPr lang="ja-JP" sz="2200"/>
          </a:p>
        </p:txBody>
      </p:sp>
      <p:sp>
        <p:nvSpPr>
          <p:cNvPr id="4" name="Subtitle"/>
          <p:cNvSpPr/>
          <p:nvPr/>
        </p:nvSpPr>
        <p:spPr>
          <a:xfrm>
            <a:off x="402336" y="603504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800" b="0">
                <a:solidFill>
                  <a:srgbClr val="5F6B78"/>
                </a:solidFill>
                <a:latin typeface="Noto Sans CJK JP"/>
                <a:ea typeface="Noto Sans CJK JP"/>
              </a:rPr>
              <a:t>H28 二次「機械・制御」問3 (3) — 位相差だけで説明する</a:t>
            </a:r>
            <a:endParaRPr lang="ja-JP" sz="800"/>
          </a:p>
        </p:txBody>
      </p:sp>
      <p:sp>
        <p:nvSpPr>
          <p:cNvPr id="10" name="Panel"/>
          <p:cNvSpPr/>
          <p:nvPr/>
        </p:nvSpPr>
        <p:spPr>
          <a:xfrm>
            <a:off x="411480" y="1051560"/>
            <a:ext cx="5623560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1" name="Panel"/>
          <p:cNvSpPr/>
          <p:nvPr/>
        </p:nvSpPr>
        <p:spPr>
          <a:xfrm>
            <a:off x="6236208" y="1051560"/>
            <a:ext cx="5541264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2" name="lh"/>
          <p:cNvSpPr/>
          <p:nvPr/>
        </p:nvSpPr>
        <p:spPr>
          <a:xfrm>
            <a:off x="685800" y="132588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相Rと相S：基本波は120°差</a:t>
            </a:r>
            <a:endParaRPr lang="ja-JP" sz="1400"/>
          </a:p>
        </p:txBody>
      </p:sp>
      <p:sp>
        <p:nvSpPr>
          <p:cNvPr id="13" name="phase"/>
          <p:cNvSpPr/>
          <p:nvPr/>
        </p:nvSpPr>
        <p:spPr>
          <a:xfrm>
            <a:off x="777240" y="2011680"/>
            <a:ext cx="4892040" cy="621792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800" b="1">
                <a:solidFill>
                  <a:srgbClr val="2A67AE"/>
                </a:solidFill>
                <a:latin typeface="Noto Sans CJK JP"/>
                <a:ea typeface="Noto Sans CJK JP"/>
              </a:rPr>
              <a:t>n次成分の相差 = n × 120°</a:t>
            </a:r>
            <a:endParaRPr lang="ja-JP" sz="1800"/>
          </a:p>
        </p:txBody>
      </p:sp>
      <p:sp>
        <p:nvSpPr>
          <p:cNvPr id="14" name="3n"/>
          <p:cNvSpPr/>
          <p:nvPr/>
        </p:nvSpPr>
        <p:spPr>
          <a:xfrm>
            <a:off x="777240" y="2834640"/>
            <a:ext cx="4892040" cy="658368"/>
          </a:xfrm>
          <a:prstGeom prst="rect">
            <a:avLst/>
          </a:prstGeom>
          <a:solidFill>
            <a:srgbClr val="F4FBF6"/>
          </a:solidFill>
          <a:ln w="12700">
            <a:solidFill>
              <a:srgbClr val="D4EBDD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600" b="1">
                <a:solidFill>
                  <a:srgbClr val="2F8F59"/>
                </a:solidFill>
                <a:latin typeface="Noto Sans CJK JP"/>
                <a:ea typeface="Noto Sans CJK JP"/>
              </a:rPr>
              <a:t>n=3m → 3m×120° = m×360°</a:t>
            </a:r>
            <a:endParaRPr lang="ja-JP" sz="1600"/>
          </a:p>
        </p:txBody>
      </p:sp>
      <p:sp>
        <p:nvSpPr>
          <p:cNvPr id="15" name="same"/>
          <p:cNvSpPr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1400" b="0">
                <a:solidFill>
                  <a:srgbClr val="232B34"/>
                </a:solidFill>
                <a:latin typeface="Noto Sans CJK JP"/>
                <a:ea typeface="Noto Sans CJK JP"/>
              </a:rPr>
              <a:t>3n次は各相で同相</a:t>
            </a:r>
            <a:endParaRPr lang="ja-JP" sz="1400"/>
          </a:p>
          <a:p>
            <a:pPr algn="c"/>
            <a:r>
              <a:rPr lang="ja-JP" sz="1400" b="0">
                <a:solidFill>
                  <a:srgbClr val="232B34"/>
                </a:solidFill>
                <a:latin typeface="Noto Sans CJK JP"/>
                <a:ea typeface="Noto Sans CJK JP"/>
              </a:rPr>
              <a:t>→ 線間差では打ち消される</a:t>
            </a:r>
            <a:endParaRPr lang="ja-JP" sz="1400"/>
          </a:p>
        </p:txBody>
      </p:sp>
      <p:sp>
        <p:nvSpPr>
          <p:cNvPr id="16" name="rh"/>
          <p:cNvSpPr/>
          <p:nvPr/>
        </p:nvSpPr>
        <p:spPr>
          <a:xfrm>
            <a:off x="6510528" y="13258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線間電圧での結論</a:t>
            </a:r>
            <a:endParaRPr lang="ja-JP" sz="1400"/>
          </a:p>
        </p:txBody>
      </p:sp>
      <p:sp>
        <p:nvSpPr>
          <p:cNvPr id="17" name="vro"/>
          <p:cNvSpPr/>
          <p:nvPr/>
        </p:nvSpPr>
        <p:spPr>
          <a:xfrm>
            <a:off x="6629400" y="2057400"/>
            <a:ext cx="1920240" cy="566928"/>
          </a:xfrm>
          <a:prstGeom prst="rect">
            <a:avLst/>
          </a:prstGeom>
          <a:solidFill>
            <a:srgbClr val="EFF6FD"/>
          </a:solidFill>
          <a:ln w="12700">
            <a:solidFill>
              <a:srgbClr val="BFD6EC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2A67AE"/>
                </a:solidFill>
                <a:latin typeface="Noto Sans CJK JP"/>
                <a:ea typeface="Noto Sans CJK JP"/>
              </a:rPr>
              <a:t>vRO(3n)</a:t>
            </a:r>
            <a:endParaRPr lang="ja-JP" sz="1500"/>
          </a:p>
        </p:txBody>
      </p:sp>
      <p:sp>
        <p:nvSpPr>
          <p:cNvPr id="18" name="minus"/>
          <p:cNvSpPr/>
          <p:nvPr/>
        </p:nvSpPr>
        <p:spPr>
          <a:xfrm>
            <a:off x="8641080" y="2057400"/>
            <a:ext cx="5029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2000" b="1">
                <a:solidFill>
                  <a:srgbClr val="232B34"/>
                </a:solidFill>
                <a:latin typeface="Noto Sans CJK JP"/>
                <a:ea typeface="Noto Sans CJK JP"/>
              </a:rPr>
              <a:t>−</a:t>
            </a:r>
            <a:endParaRPr lang="ja-JP" sz="2000"/>
          </a:p>
        </p:txBody>
      </p:sp>
      <p:sp>
        <p:nvSpPr>
          <p:cNvPr id="19" name="vso"/>
          <p:cNvSpPr/>
          <p:nvPr/>
        </p:nvSpPr>
        <p:spPr>
          <a:xfrm>
            <a:off x="9189720" y="2057400"/>
            <a:ext cx="1920240" cy="566928"/>
          </a:xfrm>
          <a:prstGeom prst="rect">
            <a:avLst/>
          </a:prstGeom>
          <a:solidFill>
            <a:srgbClr val="FFF5EC"/>
          </a:solidFill>
          <a:ln w="12700">
            <a:solidFill>
              <a:srgbClr val="F3D2B5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E57D24"/>
                </a:solidFill>
                <a:latin typeface="Noto Sans CJK JP"/>
                <a:ea typeface="Noto Sans CJK JP"/>
              </a:rPr>
              <a:t>vSO(3n)</a:t>
            </a:r>
            <a:endParaRPr lang="ja-JP" sz="1500"/>
          </a:p>
        </p:txBody>
      </p:sp>
      <p:sp>
        <p:nvSpPr>
          <p:cNvPr id="20" name="eq"/>
          <p:cNvSpPr/>
          <p:nvPr/>
        </p:nvSpPr>
        <p:spPr>
          <a:xfrm>
            <a:off x="6675120" y="2926080"/>
            <a:ext cx="4389120" cy="566928"/>
          </a:xfrm>
          <a:prstGeom prst="rect">
            <a:avLst/>
          </a:prstGeom>
          <a:solidFill>
            <a:srgbClr val="FFF6F6"/>
          </a:solidFill>
          <a:ln w="12700">
            <a:solidFill>
              <a:srgbClr val="F0D0D0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2400" b="1">
                <a:solidFill>
                  <a:srgbClr val="C74A49"/>
                </a:solidFill>
                <a:latin typeface="Noto Sans CJK JP"/>
                <a:ea typeface="Noto Sans CJK JP"/>
              </a:rPr>
              <a:t>= 0</a:t>
            </a:r>
            <a:endParaRPr lang="ja-JP" sz="2400"/>
          </a:p>
        </p:txBody>
      </p:sp>
      <p:sp>
        <p:nvSpPr>
          <p:cNvPr id="21" name="vrs"/>
          <p:cNvSpPr/>
          <p:nvPr/>
        </p:nvSpPr>
        <p:spPr>
          <a:xfrm>
            <a:off x="6629400" y="3767328"/>
            <a:ext cx="44805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1700" b="1">
                <a:solidFill>
                  <a:srgbClr val="232B34"/>
                </a:solidFill>
                <a:latin typeface="Noto Sans CJK JP"/>
                <a:ea typeface="Noto Sans CJK JP"/>
              </a:rPr>
              <a:t>vRS = vRO − vSO</a:t>
            </a:r>
            <a:endParaRPr lang="ja-JP" sz="1700"/>
          </a:p>
        </p:txBody>
      </p:sp>
      <p:sp>
        <p:nvSpPr>
          <p:cNvPr id="22" name="note"/>
          <p:cNvSpPr/>
          <p:nvPr/>
        </p:nvSpPr>
        <p:spPr>
          <a:xfrm>
            <a:off x="6629400" y="4617720"/>
            <a:ext cx="44805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1100" b="0">
                <a:solidFill>
                  <a:srgbClr val="5F6B78"/>
                </a:solidFill>
                <a:latin typeface="Noto Sans CJK JP"/>
                <a:ea typeface="Noto Sans CJK JP"/>
              </a:rPr>
              <a:t>相電圧には3次・9次…を含み得る</a:t>
            </a:r>
            <a:endParaRPr lang="ja-JP" sz="1100"/>
          </a:p>
          <a:p>
            <a:pPr algn="c"/>
            <a:r>
              <a:rPr lang="ja-JP" sz="1100" b="0">
                <a:solidFill>
                  <a:srgbClr val="5F6B78"/>
                </a:solidFill>
                <a:latin typeface="Noto Sans CJK JP"/>
                <a:ea typeface="Noto Sans CJK JP"/>
              </a:rPr>
              <a:t>線間電圧では3n次が消える</a:t>
            </a:r>
            <a:endParaRPr lang="ja-JP" sz="1100"/>
          </a:p>
        </p:txBody>
      </p:sp>
      <p:sp>
        <p:nvSpPr>
          <p:cNvPr id="90" name="FooterL"/>
          <p:cNvSpPr/>
          <p:nvPr/>
        </p:nvSpPr>
        <p:spPr>
          <a:xfrm>
            <a:off x="411480" y="6547104"/>
            <a:ext cx="2011680" cy="146304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電験二種・電気数学</a:t>
            </a:r>
            <a:endParaRPr lang="ja-JP" sz="600"/>
          </a:p>
        </p:txBody>
      </p:sp>
      <p:sp>
        <p:nvSpPr>
          <p:cNvPr id="91" name="FooterR"/>
          <p:cNvSpPr/>
          <p:nvPr/>
        </p:nvSpPr>
        <p:spPr>
          <a:xfrm>
            <a:off x="11475720" y="6547104"/>
            <a:ext cx="320040" cy="146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r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3</a:t>
            </a:r>
            <a:endParaRPr lang="ja-JP" sz="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67AE"/>
          </a:solidFill>
          <a:ln>
            <a:noFill/>
          </a:ln>
        </p:spPr>
      </p:sp>
      <p:sp>
        <p:nvSpPr>
          <p:cNvPr id="3" name="Title"/>
          <p:cNvSpPr/>
          <p:nvPr/>
        </p:nvSpPr>
        <p:spPr>
          <a:xfrm>
            <a:off x="384048" y="164592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2200" b="1">
                <a:solidFill>
                  <a:srgbClr val="232B34"/>
                </a:solidFill>
                <a:latin typeface="Noto Sans CJK JP"/>
                <a:ea typeface="Noto Sans CJK JP"/>
              </a:rPr>
              <a:t>実効値と位相合成：二種で使う計算を図で整理</a:t>
            </a:r>
            <a:endParaRPr lang="ja-JP" sz="2200"/>
          </a:p>
        </p:txBody>
      </p:sp>
      <p:sp>
        <p:nvSpPr>
          <p:cNvPr id="4" name="Subtitle"/>
          <p:cNvSpPr/>
          <p:nvPr/>
        </p:nvSpPr>
        <p:spPr>
          <a:xfrm>
            <a:off x="402336" y="603504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800" b="0">
                <a:solidFill>
                  <a:srgbClr val="5F6B78"/>
                </a:solidFill>
                <a:latin typeface="Noto Sans CJK JP"/>
                <a:ea typeface="Noto Sans CJK JP"/>
              </a:rPr>
              <a:t>H28 二次 問3 (4)／H24 一次「機械」問3 (4)〜(5)</a:t>
            </a:r>
            <a:endParaRPr lang="ja-JP" sz="800"/>
          </a:p>
        </p:txBody>
      </p:sp>
      <p:sp>
        <p:nvSpPr>
          <p:cNvPr id="10" name="Panel"/>
          <p:cNvSpPr/>
          <p:nvPr/>
        </p:nvSpPr>
        <p:spPr>
          <a:xfrm>
            <a:off x="411480" y="1051560"/>
            <a:ext cx="5623560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1" name="Panel"/>
          <p:cNvSpPr/>
          <p:nvPr/>
        </p:nvSpPr>
        <p:spPr>
          <a:xfrm>
            <a:off x="6236208" y="1051560"/>
            <a:ext cx="5541264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2" name="lh"/>
          <p:cNvSpPr/>
          <p:nvPr/>
        </p:nvSpPr>
        <p:spPr>
          <a:xfrm>
            <a:off x="685800" y="13258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A. 非正弦波の実効値</a:t>
            </a:r>
            <a:endParaRPr lang="ja-JP" sz="1400"/>
          </a:p>
        </p:txBody>
      </p:sp>
      <p:sp>
        <p:nvSpPr>
          <p:cNvPr id="13" name="rms"/>
          <p:cNvSpPr/>
          <p:nvPr/>
        </p:nvSpPr>
        <p:spPr>
          <a:xfrm>
            <a:off x="777240" y="1965960"/>
            <a:ext cx="4846320" cy="640080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800" b="1">
                <a:solidFill>
                  <a:srgbClr val="2A67AE"/>
                </a:solidFill>
                <a:latin typeface="Noto Sans CJK JP"/>
                <a:ea typeface="Noto Sans CJK JP"/>
              </a:rPr>
              <a:t>Xrms = √{(1/2π)∫x² dθ}</a:t>
            </a:r>
            <a:endParaRPr lang="ja-JP" sz="1800"/>
          </a:p>
        </p:txBody>
      </p:sp>
      <p:sp>
        <p:nvSpPr>
          <p:cNvPr id="14" name="case"/>
          <p:cNvSpPr/>
          <p:nvPr/>
        </p:nvSpPr>
        <p:spPr>
          <a:xfrm>
            <a:off x="777240" y="2788920"/>
            <a:ext cx="4846320" cy="1143000"/>
          </a:xfrm>
          <a:prstGeom prst="rect">
            <a:avLst/>
          </a:prstGeom>
          <a:solidFill>
            <a:srgbClr val="FFF6F6"/>
          </a:solidFill>
          <a:ln w="12700">
            <a:solidFill>
              <a:srgbClr val="F0D0D0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600" b="1">
                <a:solidFill>
                  <a:srgbClr val="C74A49"/>
                </a:solidFill>
                <a:latin typeface="Noto Sans CJK JP"/>
                <a:ea typeface="Noto Sans CJK JP"/>
              </a:rPr>
              <a:t>|v|=E の合計区間が 4π/3</a:t>
            </a:r>
            <a:endParaRPr lang="ja-JP" sz="1600"/>
          </a:p>
          <a:p>
            <a:pPr algn="c"/>
            <a:r>
              <a:rPr lang="ja-JP" sz="1600" b="1">
                <a:solidFill>
                  <a:srgbClr val="C74A49"/>
                </a:solidFill>
                <a:latin typeface="Noto Sans CJK JP"/>
                <a:ea typeface="Noto Sans CJK JP"/>
              </a:rPr>
              <a:t>→ Xrms = √(2/3) E</a:t>
            </a:r>
            <a:endParaRPr lang="ja-JP" sz="1600"/>
          </a:p>
        </p:txBody>
      </p:sp>
      <p:sp>
        <p:nvSpPr>
          <p:cNvPr id="15" name="rh"/>
          <p:cNvSpPr/>
          <p:nvPr/>
        </p:nvSpPr>
        <p:spPr>
          <a:xfrm>
            <a:off x="6510528" y="13258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B. 同次数正弦波の位相合成</a:t>
            </a:r>
            <a:endParaRPr lang="ja-JP" sz="1400"/>
          </a:p>
        </p:txBody>
      </p:sp>
      <p:sp>
        <p:nvSpPr>
          <p:cNvPr id="16" name="sum"/>
          <p:cNvSpPr/>
          <p:nvPr/>
        </p:nvSpPr>
        <p:spPr>
          <a:xfrm>
            <a:off x="6537960" y="1874519"/>
            <a:ext cx="4572000" cy="1051560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2A67AE"/>
                </a:solidFill>
                <a:latin typeface="Noto Sans CJK JP"/>
                <a:ea typeface="Noto Sans CJK JP"/>
              </a:rPr>
              <a:t>sin(nθ)+sin[n(θ−φ)]</a:t>
            </a:r>
            <a:endParaRPr lang="ja-JP" sz="1500"/>
          </a:p>
          <a:p>
            <a:pPr algn="c"/>
            <a:r>
              <a:rPr lang="ja-JP" sz="1500" b="1">
                <a:solidFill>
                  <a:srgbClr val="2A67AE"/>
                </a:solidFill>
                <a:latin typeface="Noto Sans CJK JP"/>
                <a:ea typeface="Noto Sans CJK JP"/>
              </a:rPr>
              <a:t>= 2cos(nφ/2) sin(nθ−nφ/2)</a:t>
            </a:r>
            <a:endParaRPr lang="ja-JP" sz="1500"/>
          </a:p>
        </p:txBody>
      </p:sp>
      <p:sp>
        <p:nvSpPr>
          <p:cNvPr id="17" name="amp"/>
          <p:cNvSpPr/>
          <p:nvPr/>
        </p:nvSpPr>
        <p:spPr>
          <a:xfrm>
            <a:off x="6583680" y="3154680"/>
            <a:ext cx="4480560" cy="594360"/>
          </a:xfrm>
          <a:prstGeom prst="rect">
            <a:avLst/>
          </a:prstGeom>
          <a:solidFill>
            <a:srgbClr val="FFF8F1"/>
          </a:solidFill>
          <a:ln w="12700">
            <a:solidFill>
              <a:srgbClr val="F3D2B5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E57D24"/>
                </a:solidFill>
                <a:latin typeface="Noto Sans CJK JP"/>
                <a:ea typeface="Noto Sans CJK JP"/>
              </a:rPr>
              <a:t>合成振幅 = 2|cos(nφ/2)|</a:t>
            </a:r>
            <a:endParaRPr lang="ja-JP" sz="1500"/>
          </a:p>
        </p:txBody>
      </p:sp>
      <p:sp>
        <p:nvSpPr>
          <p:cNvPr id="18" name="rows"/>
          <p:cNvSpPr/>
          <p:nvPr/>
        </p:nvSpPr>
        <p:spPr>
          <a:xfrm>
            <a:off x="6629400" y="3931920"/>
            <a:ext cx="43891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100" b="0">
                <a:solidFill>
                  <a:srgbClr val="232B34"/>
                </a:solidFill>
                <a:latin typeface="Noto Sans CJK JP"/>
                <a:ea typeface="Noto Sans CJK JP"/>
              </a:rPr>
              <a:t>基本波 n=1：2|cos(φ/2)|</a:t>
            </a:r>
            <a:endParaRPr lang="ja-JP" sz="1100"/>
          </a:p>
          <a:p>
            <a:pPr algn="l"/>
            <a:r>
              <a:rPr lang="ja-JP" sz="1100" b="0">
                <a:solidFill>
                  <a:srgbClr val="232B34"/>
                </a:solidFill>
                <a:latin typeface="Noto Sans CJK JP"/>
                <a:ea typeface="Noto Sans CJK JP"/>
              </a:rPr>
              <a:t>5次 n=5：2|cos(5φ/2)|</a:t>
            </a:r>
            <a:endParaRPr lang="ja-JP" sz="1100"/>
          </a:p>
          <a:p>
            <a:pPr algn="l"/>
            <a:r>
              <a:rPr lang="ja-JP" sz="1100" b="0">
                <a:solidFill>
                  <a:srgbClr val="232B34"/>
                </a:solidFill>
                <a:latin typeface="Noto Sans CJK JP"/>
                <a:ea typeface="Noto Sans CJK JP"/>
              </a:rPr>
              <a:t>7次 n=7：2|cos(7φ/2)|</a:t>
            </a:r>
            <a:endParaRPr lang="ja-JP" sz="1100"/>
          </a:p>
        </p:txBody>
      </p:sp>
      <p:sp>
        <p:nvSpPr>
          <p:cNvPr id="19" name="phi"/>
          <p:cNvSpPr/>
          <p:nvPr/>
        </p:nvSpPr>
        <p:spPr>
          <a:xfrm>
            <a:off x="6629400" y="5504688"/>
            <a:ext cx="43891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φ=π/6 で 5次・7次を同時に低減</a:t>
            </a:r>
            <a:endParaRPr lang="ja-JP" sz="900"/>
          </a:p>
        </p:txBody>
      </p:sp>
      <p:sp>
        <p:nvSpPr>
          <p:cNvPr id="90" name="FooterL"/>
          <p:cNvSpPr/>
          <p:nvPr/>
        </p:nvSpPr>
        <p:spPr>
          <a:xfrm>
            <a:off x="411480" y="6547104"/>
            <a:ext cx="2011680" cy="146304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電験二種・電気数学</a:t>
            </a:r>
            <a:endParaRPr lang="ja-JP" sz="600"/>
          </a:p>
        </p:txBody>
      </p:sp>
      <p:sp>
        <p:nvSpPr>
          <p:cNvPr id="91" name="FooterR"/>
          <p:cNvSpPr/>
          <p:nvPr/>
        </p:nvSpPr>
        <p:spPr>
          <a:xfrm>
            <a:off x="11475720" y="6547104"/>
            <a:ext cx="320040" cy="146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r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4</a:t>
            </a:r>
            <a:endParaRPr lang="ja-JP" sz="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67AE"/>
          </a:solidFill>
          <a:ln>
            <a:noFill/>
          </a:ln>
        </p:spPr>
      </p:sp>
      <p:sp>
        <p:nvSpPr>
          <p:cNvPr id="3" name="Title"/>
          <p:cNvSpPr/>
          <p:nvPr/>
        </p:nvSpPr>
        <p:spPr>
          <a:xfrm>
            <a:off x="384048" y="164592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2200" b="1">
                <a:solidFill>
                  <a:srgbClr val="232B34"/>
                </a:solidFill>
                <a:latin typeface="Noto Sans CJK JP"/>
                <a:ea typeface="Noto Sans CJK JP"/>
              </a:rPr>
              <a:t>PWM 基本波を「最大値 → 実効値 → 線間値」へ変換する</a:t>
            </a:r>
            <a:endParaRPr lang="ja-JP" sz="2200"/>
          </a:p>
        </p:txBody>
      </p:sp>
      <p:sp>
        <p:nvSpPr>
          <p:cNvPr id="4" name="Subtitle"/>
          <p:cNvSpPr/>
          <p:nvPr/>
        </p:nvSpPr>
        <p:spPr>
          <a:xfrm>
            <a:off x="402336" y="603504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800" b="0">
                <a:solidFill>
                  <a:srgbClr val="5F6B78"/>
                </a:solidFill>
                <a:latin typeface="Noto Sans CJK JP"/>
                <a:ea typeface="Noto Sans CJK JP"/>
              </a:rPr>
              <a:t>H22 一次「機械」問3 (3) — 与えられた基本波振幅だけを使う</a:t>
            </a:r>
            <a:endParaRPr lang="ja-JP" sz="800"/>
          </a:p>
        </p:txBody>
      </p:sp>
      <p:sp>
        <p:nvSpPr>
          <p:cNvPr id="10" name="Panel"/>
          <p:cNvSpPr/>
          <p:nvPr/>
        </p:nvSpPr>
        <p:spPr>
          <a:xfrm>
            <a:off x="411480" y="1051560"/>
            <a:ext cx="6583680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1" name="Panel"/>
          <p:cNvSpPr/>
          <p:nvPr/>
        </p:nvSpPr>
        <p:spPr>
          <a:xfrm>
            <a:off x="7205472" y="1051560"/>
            <a:ext cx="4562856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</p:spPr>
      </p:sp>
      <p:sp>
        <p:nvSpPr>
          <p:cNvPr id="12" name="lh"/>
          <p:cNvSpPr/>
          <p:nvPr/>
        </p:nvSpPr>
        <p:spPr>
          <a:xfrm>
            <a:off x="713232" y="132588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基本波振幅から線間電圧実効値まで</a:t>
            </a:r>
            <a:endParaRPr lang="ja-JP" sz="1400"/>
          </a:p>
        </p:txBody>
      </p:sp>
      <p:sp>
        <p:nvSpPr>
          <p:cNvPr id="13" name="b1"/>
          <p:cNvSpPr/>
          <p:nvPr/>
        </p:nvSpPr>
        <p:spPr>
          <a:xfrm>
            <a:off x="914400" y="1874519"/>
            <a:ext cx="5440680" cy="658368"/>
          </a:xfrm>
          <a:prstGeom prst="rect">
            <a:avLst/>
          </a:prstGeom>
          <a:solidFill>
            <a:srgbClr val="F5F8FC"/>
          </a:solidFill>
          <a:ln w="12700">
            <a:solidFill>
              <a:srgbClr val="D9E0E6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2A67AE"/>
                </a:solidFill>
                <a:latin typeface="Noto Sans CJK JP"/>
                <a:ea typeface="Noto Sans CJK JP"/>
              </a:rPr>
              <a:t>相電圧基本波 最大値　E_d k / 2</a:t>
            </a:r>
            <a:endParaRPr lang="ja-JP" sz="1500"/>
          </a:p>
        </p:txBody>
      </p:sp>
      <p:sp>
        <p:nvSpPr>
          <p:cNvPr id="14" name="arr1"/>
          <p:cNvSpPr/>
          <p:nvPr/>
        </p:nvSpPr>
        <p:spPr>
          <a:xfrm>
            <a:off x="2743200" y="2560320"/>
            <a:ext cx="17373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↓  × 1/√2</a:t>
            </a:r>
            <a:endParaRPr lang="ja-JP" sz="900"/>
          </a:p>
        </p:txBody>
      </p:sp>
      <p:sp>
        <p:nvSpPr>
          <p:cNvPr id="15" name="b2"/>
          <p:cNvSpPr/>
          <p:nvPr/>
        </p:nvSpPr>
        <p:spPr>
          <a:xfrm>
            <a:off x="914400" y="2907792"/>
            <a:ext cx="5440680" cy="658368"/>
          </a:xfrm>
          <a:prstGeom prst="rect">
            <a:avLst/>
          </a:prstGeom>
          <a:solidFill>
            <a:srgbClr val="F8F5FD"/>
          </a:solidFill>
          <a:ln w="12700">
            <a:solidFill>
              <a:srgbClr val="D9D0EA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7054A3"/>
                </a:solidFill>
                <a:latin typeface="Noto Sans CJK JP"/>
                <a:ea typeface="Noto Sans CJK JP"/>
              </a:rPr>
              <a:t>相電圧基本波 実効値　E_d k / (2√2)</a:t>
            </a:r>
            <a:endParaRPr lang="ja-JP" sz="1500"/>
          </a:p>
        </p:txBody>
      </p:sp>
      <p:sp>
        <p:nvSpPr>
          <p:cNvPr id="16" name="arr2"/>
          <p:cNvSpPr/>
          <p:nvPr/>
        </p:nvSpPr>
        <p:spPr>
          <a:xfrm>
            <a:off x="2743200" y="3593592"/>
            <a:ext cx="17373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c"/>
            <a:r>
              <a:rPr lang="ja-JP" sz="900" b="1">
                <a:solidFill>
                  <a:srgbClr val="5F6B78"/>
                </a:solidFill>
                <a:latin typeface="Noto Sans CJK JP"/>
                <a:ea typeface="Noto Sans CJK JP"/>
              </a:rPr>
              <a:t>↓  × √3</a:t>
            </a:r>
            <a:endParaRPr lang="ja-JP" sz="900"/>
          </a:p>
        </p:txBody>
      </p:sp>
      <p:sp>
        <p:nvSpPr>
          <p:cNvPr id="17" name="b3"/>
          <p:cNvSpPr/>
          <p:nvPr/>
        </p:nvSpPr>
        <p:spPr>
          <a:xfrm>
            <a:off x="914400" y="3941063"/>
            <a:ext cx="5440680" cy="713232"/>
          </a:xfrm>
          <a:prstGeom prst="rect">
            <a:avLst/>
          </a:prstGeom>
          <a:solidFill>
            <a:srgbClr val="F4FBF6"/>
          </a:solidFill>
          <a:ln w="12700">
            <a:solidFill>
              <a:srgbClr val="D4EBDD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500" b="1">
                <a:solidFill>
                  <a:srgbClr val="2F8F59"/>
                </a:solidFill>
                <a:latin typeface="Noto Sans CJK JP"/>
                <a:ea typeface="Noto Sans CJK JP"/>
              </a:rPr>
              <a:t>線間電圧基本波 実効値　√3 E_d k / (2√2)</a:t>
            </a:r>
            <a:endParaRPr lang="ja-JP" sz="1500"/>
          </a:p>
        </p:txBody>
      </p:sp>
      <p:sp>
        <p:nvSpPr>
          <p:cNvPr id="18" name="rh"/>
          <p:cNvSpPr/>
          <p:nvPr/>
        </p:nvSpPr>
        <p:spPr>
          <a:xfrm>
            <a:off x="7479792" y="13258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400" b="1">
                <a:solidFill>
                  <a:srgbClr val="232B34"/>
                </a:solidFill>
                <a:latin typeface="Noto Sans CJK JP"/>
                <a:ea typeface="Noto Sans CJK JP"/>
              </a:rPr>
              <a:t>固定3問・5対象設問への接続</a:t>
            </a:r>
            <a:endParaRPr lang="ja-JP" sz="1400"/>
          </a:p>
        </p:txBody>
      </p:sp>
      <p:sp>
        <p:nvSpPr>
          <p:cNvPr id="19" name="map"/>
          <p:cNvSpPr/>
          <p:nvPr/>
        </p:nvSpPr>
        <p:spPr>
          <a:xfrm>
            <a:off x="7452360" y="1874519"/>
            <a:ext cx="388620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1000" b="0">
                <a:solidFill>
                  <a:srgbClr val="232B34"/>
                </a:solidFill>
                <a:latin typeface="Noto Sans CJK JP"/>
                <a:ea typeface="Noto Sans CJK JP"/>
              </a:rPr>
              <a:t>H28 二次 (3)　3n次の打消し　→ S3</a:t>
            </a:r>
            <a:endParaRPr lang="ja-JP" sz="1000"/>
          </a:p>
          <a:p>
            <a:pPr algn="l"/>
            <a:r>
              <a:rPr lang="ja-JP" sz="1000" b="0">
                <a:solidFill>
                  <a:srgbClr val="232B34"/>
                </a:solidFill>
                <a:latin typeface="Noto Sans CJK JP"/>
                <a:ea typeface="Noto Sans CJK JP"/>
              </a:rPr>
              <a:t>H28 二次 (4)　非正弦波実効値　→ S4</a:t>
            </a:r>
            <a:endParaRPr lang="ja-JP" sz="1000"/>
          </a:p>
          <a:p>
            <a:pPr algn="l"/>
            <a:r>
              <a:rPr lang="ja-JP" sz="1000" b="0">
                <a:solidFill>
                  <a:srgbClr val="232B34"/>
                </a:solidFill>
                <a:latin typeface="Noto Sans CJK JP"/>
                <a:ea typeface="Noto Sans CJK JP"/>
              </a:rPr>
              <a:t>H24 一次 (4)　5次・7次位相低減　→ S4</a:t>
            </a:r>
            <a:endParaRPr lang="ja-JP" sz="1000"/>
          </a:p>
          <a:p>
            <a:pPr algn="l"/>
            <a:r>
              <a:rPr lang="ja-JP" sz="1000" b="0">
                <a:solidFill>
                  <a:srgbClr val="232B34"/>
                </a:solidFill>
                <a:latin typeface="Noto Sans CJK JP"/>
                <a:ea typeface="Noto Sans CJK JP"/>
              </a:rPr>
              <a:t>H24 一次 (5)　基本波位相合成　→ S4</a:t>
            </a:r>
            <a:endParaRPr lang="ja-JP" sz="1000"/>
          </a:p>
          <a:p>
            <a:pPr algn="l"/>
            <a:r>
              <a:rPr lang="ja-JP" sz="1000" b="0">
                <a:solidFill>
                  <a:srgbClr val="232B34"/>
                </a:solidFill>
                <a:latin typeface="Noto Sans CJK JP"/>
                <a:ea typeface="Noto Sans CJK JP"/>
              </a:rPr>
              <a:t>H22 一次 (3)　最大値→相RMS→線間RMS　→ S5</a:t>
            </a:r>
            <a:endParaRPr lang="ja-JP" sz="1000"/>
          </a:p>
        </p:txBody>
      </p:sp>
      <p:sp>
        <p:nvSpPr>
          <p:cNvPr id="20" name="pass"/>
          <p:cNvSpPr/>
          <p:nvPr/>
        </p:nvSpPr>
        <p:spPr>
          <a:xfrm>
            <a:off x="7498079" y="5230368"/>
            <a:ext cx="3794760" cy="621792"/>
          </a:xfrm>
          <a:prstGeom prst="rect">
            <a:avLst/>
          </a:prstGeom>
          <a:solidFill>
            <a:srgbClr val="F4FBF6"/>
          </a:solidFill>
          <a:ln w="12700">
            <a:solidFill>
              <a:srgbClr val="D4EBDD"/>
            </a:solidFill>
          </a:ln>
        </p:spPr>
        <p:txBody>
          <a:bodyPr lIns="60000" rIns="60000" tIns="30000" bIns="30000" anchor="ctr"/>
          <a:lstStyle/>
          <a:p>
            <a:pPr algn="c"/>
            <a:r>
              <a:rPr lang="ja-JP" sz="1200" b="1">
                <a:solidFill>
                  <a:srgbClr val="2F8F59"/>
                </a:solidFill>
                <a:latin typeface="Noto Sans CJK JP"/>
                <a:ea typeface="Noto Sans CJK JP"/>
              </a:rPr>
              <a:t>固定過去問 3問・5対象設問</a:t>
            </a:r>
            <a:endParaRPr lang="ja-JP" sz="1200"/>
          </a:p>
          <a:p>
            <a:pPr algn="c"/>
            <a:r>
              <a:rPr lang="ja-JP" sz="1200" b="1">
                <a:solidFill>
                  <a:srgbClr val="2F8F59"/>
                </a:solidFill>
                <a:latin typeface="Noto Sans CJK JP"/>
                <a:ea typeface="Noto Sans CJK JP"/>
              </a:rPr>
              <a:t>可視化 5 / 5</a:t>
            </a:r>
            <a:endParaRPr lang="ja-JP" sz="1200"/>
          </a:p>
        </p:txBody>
      </p:sp>
      <p:sp>
        <p:nvSpPr>
          <p:cNvPr id="90" name="FooterL"/>
          <p:cNvSpPr/>
          <p:nvPr/>
        </p:nvSpPr>
        <p:spPr>
          <a:xfrm>
            <a:off x="411480" y="6547104"/>
            <a:ext cx="2011680" cy="146304"/>
          </a:xfrm>
          <a:prstGeom prst="rect">
            <a:avLst/>
          </a:prstGeom>
          <a:noFill/>
          <a:ln>
            <a:noFill/>
          </a:ln>
        </p:spPr>
        <p:txBody>
          <a:bodyPr lIns="60000" rIns="60000" tIns="30000" bIns="30000" anchor="ctr"/>
          <a:lstStyle/>
          <a:p>
            <a:pPr algn="l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電験二種・電気数学</a:t>
            </a:r>
            <a:endParaRPr lang="ja-JP" sz="600"/>
          </a:p>
        </p:txBody>
      </p:sp>
      <p:sp>
        <p:nvSpPr>
          <p:cNvPr id="91" name="FooterR"/>
          <p:cNvSpPr/>
          <p:nvPr/>
        </p:nvSpPr>
        <p:spPr>
          <a:xfrm>
            <a:off x="11475720" y="6547104"/>
            <a:ext cx="320040" cy="1463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60000" rIns="60000" tIns="30000" bIns="30000" anchor="ctr"/>
          <a:lstStyle/>
          <a:p>
            <a:pPr algn="r"/>
            <a:r>
              <a:rPr lang="ja-JP" sz="600" b="0">
                <a:solidFill>
                  <a:srgbClr val="777777"/>
                </a:solidFill>
                <a:latin typeface="Noto Sans CJK JP"/>
                <a:ea typeface="Noto Sans CJK JP"/>
              </a:rPr>
              <a:t>5</a:t>
            </a:r>
            <a:endParaRPr lang="ja-JP" sz="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232B34"/>
      </a:dk2>
      <a:lt2>
        <a:srgbClr val="F5F7F9"/>
      </a:lt2>
      <a:accent1>
        <a:srgbClr val="2A67AE"/>
      </a:accent1>
      <a:accent2>
        <a:srgbClr val="E57D24"/>
      </a:accent2>
      <a:accent3>
        <a:srgbClr val="2F8F59"/>
      </a:accent3>
      <a:accent4>
        <a:srgbClr val="7054A3"/>
      </a:accent4>
      <a:accent5>
        <a:srgbClr val="C74A49"/>
      </a:accent5>
      <a:accent6>
        <a:srgbClr val="5F6B78"/>
      </a:accent6>
      <a:hlink>
        <a:srgbClr val="0000FF"/>
      </a:hlink>
      <a:folHlink>
        <a:srgbClr val="800080"/>
      </a:folHlink>
    </a:clrScheme>
    <a:fontScheme name="Minimal">
      <a:majorFont>
        <a:latin typeface="Noto Sans CJK JP"/>
        <a:ea typeface="Noto Sans CJK JP"/>
        <a:cs typeface="Arial"/>
      </a:majorFont>
      <a:minorFont>
        <a:latin typeface="Noto Sans CJK JP"/>
        <a:ea typeface="Noto Sans CJK JP"/>
        <a:cs typeface="Arial"/>
      </a:minorFont>
    </a:fontScheme>
    <a:fmtScheme name="Minimal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</Slides>
  <Notes>0</Notes>
  <HiddenSlides>0</HiddenSlides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Topic 13 フーリエ級数</dc:title>
  <dc:subject>電験二種 電気数学</dc:subject>
  <dc:creator/>
  <cp:lastModifiedBy/>
  <dcterms:created xsi:type="dcterms:W3CDTF">2026-09-17T00:00:00Z</dcterms:created>
  <dcterms:modified xsi:type="dcterms:W3CDTF">2026-09-17T00:00:00Z</dcterms:modified>
</cp:coreProperties>
</file>