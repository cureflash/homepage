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複素数とフェーザ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/>
            </a:pPr>
            <a:r>
              <a:t>直交形式  a + jb        極形式  r∠θ = reʲθ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加減算 → 直交形式      乗除算 → 極形式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j = eʲ⁹⁰° ：フェーザを反時計回りに90°回転</a:t>
            </a:r>
          </a:p>
          <a:p>
            <a:pPr>
              <a:spcAft>
                <a:spcPts val="400"/>
              </a:spcAft>
              <a:defRPr sz="2000"/>
            </a:pPr>
            <a:r>
              <a:t>共役 z* = a − jb、zz* = |z|² → 複素除算の基本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3 − j4 = 5∠−53.13°   ／   1/(3 − j4) = 0.12 + j0.16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R・L・Cを複素インピーダンスにする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/>
            </a:pPr>
            <a:r>
              <a:t>R： Z = R</a:t>
            </a:r>
          </a:p>
          <a:p>
            <a:pPr>
              <a:spcAft>
                <a:spcPts val="400"/>
              </a:spcAft>
              <a:defRPr sz="2000"/>
            </a:pPr>
            <a:r>
              <a:t>L： Z = jωL</a:t>
            </a:r>
          </a:p>
          <a:p>
            <a:pPr>
              <a:spcAft>
                <a:spcPts val="400"/>
              </a:spcAft>
              <a:defRPr sz="2000"/>
            </a:pPr>
            <a:r>
              <a:t>C： Z = 1/(jωC) = −j/(ωC)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V = ZI → I = V/Z</a:t>
            </a:r>
          </a:p>
          <a:p>
            <a:pPr>
              <a:spcAft>
                <a:spcPts val="400"/>
              </a:spcAft>
              <a:defRPr sz="2000"/>
            </a:pPr>
            <a:r>
              <a:t>直列：Zを加算　／　並列：Y = 1/Zを加算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例  Z = 8 + j6 = 10∠36.87° Ω</a:t>
            </a:r>
          </a:p>
          <a:p>
            <a:pPr>
              <a:spcAft>
                <a:spcPts val="400"/>
              </a:spcAft>
              <a:defRPr sz="2000"/>
            </a:pPr>
            <a:r>
              <a:t>V = 200∠0° V → I = 20∠−36.87° A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頻出ミス：1/j = −j。容量性リアクタンスの符号を逆にしない。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複素電力 S = VI*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/>
            </a:pPr>
            <a:r>
              <a:t>S = VI* = P + jQ</a:t>
            </a:r>
          </a:p>
          <a:p>
            <a:pPr>
              <a:spcAft>
                <a:spcPts val="400"/>
              </a:spcAft>
              <a:defRPr sz="2000"/>
            </a:pPr>
            <a:r>
              <a:t>P = Re(S) [W]　Q = Im(S) [var]　|S| = VI [VA]</a:t>
            </a:r>
          </a:p>
          <a:p>
            <a:pPr>
              <a:spcAft>
                <a:spcPts val="400"/>
              </a:spcAft>
              <a:defRPr sz="2000"/>
            </a:pPr>
            <a:r>
              <a:t>力率 cosφ = P/|S|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Z = R + jX なら  S = Z|I|²</a:t>
            </a:r>
          </a:p>
          <a:p>
            <a:pPr>
              <a:spcAft>
                <a:spcPts val="400"/>
              </a:spcAft>
              <a:defRPr sz="2000"/>
            </a:pPr>
            <a:r>
              <a:t>→ P = |I|²R、Q = |I|²X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例  V = 200∠0° V、I = 20∠−36.87° A</a:t>
            </a:r>
          </a:p>
          <a:p>
            <a:pPr>
              <a:spcAft>
                <a:spcPts val="400"/>
              </a:spcAft>
              <a:defRPr sz="2000"/>
            </a:pPr>
            <a:r>
              <a:t>S = 4000∠36.87° = 3200 + j2400 VA</a:t>
            </a:r>
          </a:p>
          <a:p>
            <a:pPr>
              <a:spcAft>
                <a:spcPts val="400"/>
              </a:spcAft>
              <a:defRPr sz="2000"/>
            </a:pPr>
            <a:r>
              <a:t>力率 = 0.8（遅れ）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本試験での解法ルート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442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/>
            </a:pPr>
            <a:r>
              <a:t>① 基準フェーザを決める</a:t>
            </a:r>
          </a:p>
          <a:p>
            <a:pPr>
              <a:spcAft>
                <a:spcPts val="400"/>
              </a:spcAft>
              <a:defRPr sz="2000"/>
            </a:pPr>
            <a:r>
              <a:t>② ω = 2πf、各素子を R・jωL・1/(jωC) にする</a:t>
            </a:r>
          </a:p>
          <a:p>
            <a:pPr>
              <a:spcAft>
                <a:spcPts val="400"/>
              </a:spcAft>
              <a:defRPr sz="2000"/>
            </a:pPr>
            <a:r>
              <a:t>③ 直列/並列・変成器 a²Z・テブナン等価で回路を整理</a:t>
            </a:r>
          </a:p>
          <a:p>
            <a:pPr>
              <a:spcAft>
                <a:spcPts val="400"/>
              </a:spcAft>
              <a:defRPr sz="2000"/>
            </a:pPr>
            <a:r>
              <a:t>④ 複素演算（加減は直交、乗除は極形式）</a:t>
            </a:r>
          </a:p>
          <a:p>
            <a:pPr>
              <a:spcAft>
                <a:spcPts val="400"/>
              </a:spcAft>
              <a:defRPr sz="2000"/>
            </a:pPr>
            <a:r>
              <a:t>⑤ |I|・偏角・S = VI* を求める</a:t>
            </a:r>
          </a:p>
          <a:p>
            <a:pPr>
              <a:spcAft>
                <a:spcPts val="400"/>
              </a:spcAft>
              <a:defRPr sz="2000"/>
            </a:pPr>
            <a:r>
              <a:t>⑥ 別式・符号・単位で検算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相互インダクタンス：±jωM はドット極性と基準方向から決める</a:t>
            </a:r>
          </a:p>
          <a:p>
            <a:pPr>
              <a:spcAft>
                <a:spcPts val="400"/>
              </a:spcAft>
              <a:defRPr sz="2000"/>
            </a:pPr>
          </a:p>
          <a:p>
            <a:pPr>
              <a:spcAft>
                <a:spcPts val="400"/>
              </a:spcAft>
              <a:defRPr sz="2000"/>
            </a:pPr>
            <a:r>
              <a:t>対応：R7問3／R6問5／R5問4／R4問5／R3問4</a:t>
            </a:r>
          </a:p>
          <a:p>
            <a:pPr>
              <a:spcAft>
                <a:spcPts val="400"/>
              </a:spcAft>
              <a:defRPr sz="2000"/>
            </a:pPr>
            <a:r>
              <a:t>※過去問原文・図は複製せず、必要技能のみ整理。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