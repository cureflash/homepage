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2400" b="1" dirty="0">
                <a:solidFill>
                  <a:srgbClr val="19304E"/>
                </a:solidFill>
                <a:latin typeface="Noto Sans CJK JP"/>
                <a:ea typeface="Noto Sans CJK JP"/>
              </a:rPr>
              <a:t>04 微分による極値・最適条件</a:t>
            </a:r>
            <a:endParaRPr lang="ja-JP" sz="2400"/>
          </a:p>
        </p:txBody>
      </p:sp>
      <p:sp>
        <p:nvSpPr>
          <p:cNvPr id="2" name="Shape 2"/>
          <p:cNvSpPr/>
          <p:nvPr/>
        </p:nvSpPr>
        <p:spPr>
          <a:xfrm>
            <a:off x="530352" y="731520"/>
            <a:ext cx="10972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50" b="0" dirty="0">
                <a:solidFill>
                  <a:srgbClr val="787D82"/>
                </a:solidFill>
                <a:latin typeface="Noto Sans CJK JP"/>
                <a:ea typeface="Noto Sans CJK JP"/>
              </a:rPr>
              <a:t>電験二種：停留点だけでなく、定義域・端点・微分不能点まで含めて最適点を判定する</a:t>
            </a:r>
            <a:endParaRPr lang="ja-JP" sz="1050"/>
          </a:p>
        </p:txBody>
      </p:sp>
      <p:sp>
        <p:nvSpPr>
          <p:cNvPr id="3" name="Shap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DCE2EA"/>
          </a:solidFill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0" b="0" dirty="0">
                <a:solidFill>
                  <a:srgbClr val="DCE2EA"/>
                </a:solidFill>
                <a:latin typeface="Noto Sans CJK JP"/>
                <a:ea typeface="Noto Sans CJK JP"/>
              </a:rPr>
              <a:t/>
            </a:r>
            <a:endParaRPr lang="ja-JP" sz="100"/>
          </a:p>
        </p:txBody>
      </p:sp>
      <p:sp>
        <p:nvSpPr>
          <p:cNvPr id="4" name="Shape 4"/>
          <p:cNvSpPr/>
          <p:nvPr/>
        </p:nvSpPr>
        <p:spPr>
          <a:xfrm>
            <a:off x="594360" y="1417320"/>
            <a:ext cx="5257800" cy="434340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167A8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750" b="1" dirty="0">
                <a:solidFill>
                  <a:srgbClr val="19304E"/>
                </a:solidFill>
                <a:latin typeface="Noto Sans CJK JP"/>
                <a:ea typeface="Noto Sans CJK JP"/>
              </a:rPr>
              <a:t>極値判定の順序</a:t>
            </a:r>
            <a:endParaRPr lang="ja-JP" sz="175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1. 最大化・最小化する量を f(x) に整理</a:t>
            </a:r>
            <a:endParaRPr lang="ja-JP" sz="14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2. x の物理的な定義域を確認</a:t>
            </a:r>
            <a:endParaRPr lang="ja-JP" sz="14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3. 微分可能な内点で f'(x)=0</a:t>
            </a:r>
            <a:endParaRPr lang="ja-JP" sz="14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4. f' の符号変化 / f'' で判定</a:t>
            </a:r>
            <a:endParaRPr lang="ja-JP" sz="14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5. 端点・微分不能点も比較</a:t>
            </a:r>
            <a:endParaRPr lang="ja-JP" sz="1400"/>
          </a:p>
        </p:txBody>
      </p:sp>
      <p:sp>
        <p:nvSpPr>
          <p:cNvPr id="5" name="Shape 5"/>
          <p:cNvSpPr/>
          <p:nvPr/>
        </p:nvSpPr>
        <p:spPr>
          <a:xfrm>
            <a:off x="6263640" y="1417320"/>
            <a:ext cx="5394960" cy="118872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167A8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700" b="1" dirty="0">
                <a:solidFill>
                  <a:srgbClr val="3167A8"/>
                </a:solidFill>
                <a:latin typeface="Noto Sans CJK JP"/>
                <a:ea typeface="Noto Sans CJK JP"/>
              </a:rPr>
              <a:t>候補を出す</a:t>
            </a:r>
            <a:endParaRPr lang="ja-JP" sz="17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f'(x)=0 は『候補』であって確定ではない</a:t>
            </a:r>
            <a:endParaRPr lang="ja-JP" sz="1400"/>
          </a:p>
        </p:txBody>
      </p:sp>
      <p:sp>
        <p:nvSpPr>
          <p:cNvPr id="6" name="Shape 6"/>
          <p:cNvSpPr/>
          <p:nvPr/>
        </p:nvSpPr>
        <p:spPr>
          <a:xfrm>
            <a:off x="6263640" y="2788920"/>
            <a:ext cx="5394960" cy="128016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7825A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700" b="1" dirty="0">
                <a:solidFill>
                  <a:srgbClr val="37825A"/>
                </a:solidFill>
                <a:latin typeface="Noto Sans CJK JP"/>
                <a:ea typeface="Noto Sans CJK JP"/>
              </a:rPr>
              <a:t>判定する</a:t>
            </a:r>
            <a:endParaRPr lang="ja-JP" sz="17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f'：+→− なら極大、−→+ なら極小</a:t>
            </a:r>
            <a:endParaRPr lang="ja-JP" sz="14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f''(x₀)&lt;0 なら極大、&gt;0 なら極小</a:t>
            </a:r>
            <a:endParaRPr lang="ja-JP" sz="1400"/>
          </a:p>
        </p:txBody>
      </p:sp>
      <p:sp>
        <p:nvSpPr>
          <p:cNvPr id="7" name="Shape 7"/>
          <p:cNvSpPr/>
          <p:nvPr/>
        </p:nvSpPr>
        <p:spPr>
          <a:xfrm>
            <a:off x="6263640" y="4343400"/>
            <a:ext cx="5394960" cy="123444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E67E22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700" b="1" dirty="0">
                <a:solidFill>
                  <a:srgbClr val="E67E22"/>
                </a:solidFill>
                <a:latin typeface="Noto Sans CJK JP"/>
                <a:ea typeface="Noto Sans CJK JP"/>
              </a:rPr>
              <a:t>取りこぼさない</a:t>
            </a:r>
            <a:endParaRPr lang="ja-JP" sz="17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R&gt;0, s&gt;0 などの定義域を先に確認</a:t>
            </a:r>
            <a:endParaRPr lang="ja-JP" sz="1400"/>
          </a:p>
          <a:p>
            <a:pPr algn="l"/>
            <a:r>
              <a:rPr lang="ja-JP" sz="1400" b="0" dirty="0">
                <a:solidFill>
                  <a:srgbClr val="282D32"/>
                </a:solidFill>
                <a:latin typeface="Noto Sans CJK JP"/>
                <a:ea typeface="Noto Sans CJK JP"/>
              </a:rPr>
              <a:t>端点・微分不能点も候補に入れる</a:t>
            </a:r>
            <a:endParaRPr lang="ja-JP" sz="1400"/>
          </a:p>
        </p:txBody>
      </p:sp>
      <p:sp>
        <p:nvSpPr>
          <p:cNvPr id="8" name="Shape 8"/>
          <p:cNvSpPr/>
          <p:nvPr/>
        </p:nvSpPr>
        <p:spPr>
          <a:xfrm>
            <a:off x="548640" y="6528816"/>
            <a:ext cx="109728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r"/>
            <a:r>
              <a:rPr lang="ja-JP" sz="760" b="0" dirty="0">
                <a:solidFill>
                  <a:srgbClr val="787D82"/>
                </a:solidFill>
                <a:latin typeface="Noto Sans CJK JP"/>
                <a:ea typeface="Noto Sans CJK JP"/>
              </a:rPr>
              <a:t>固定範囲：一変数関数の極値／二階微分判定／パラメータ依存</a:t>
            </a:r>
            <a:endParaRPr lang="ja-JP" sz="7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2400" b="1" dirty="0">
                <a:solidFill>
                  <a:srgbClr val="19304E"/>
                </a:solidFill>
                <a:latin typeface="Noto Sans CJK JP"/>
                <a:ea typeface="Noto Sans CJK JP"/>
              </a:rPr>
              <a:t>最大電力・最大効率：最大化を一変数最適化へ変える</a:t>
            </a:r>
            <a:endParaRPr lang="ja-JP" sz="2400"/>
          </a:p>
        </p:txBody>
      </p:sp>
      <p:sp>
        <p:nvSpPr>
          <p:cNvPr id="10" name="Shape 10"/>
          <p:cNvSpPr/>
          <p:nvPr/>
        </p:nvSpPr>
        <p:spPr>
          <a:xfrm>
            <a:off x="530352" y="731520"/>
            <a:ext cx="10972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50" b="0" dirty="0">
                <a:solidFill>
                  <a:srgbClr val="787D82"/>
                </a:solidFill>
                <a:latin typeface="Noto Sans CJK JP"/>
                <a:ea typeface="Noto Sans CJK JP"/>
              </a:rPr>
              <a:t>R7一次理論 問5・問3、R8一次機械 問3への接続</a:t>
            </a:r>
            <a:endParaRPr lang="ja-JP" sz="1050"/>
          </a:p>
        </p:txBody>
      </p:sp>
      <p:sp>
        <p:nvSpPr>
          <p:cNvPr id="11" name="Shape 11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DCE2EA"/>
          </a:solidFill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0" b="0" dirty="0">
                <a:solidFill>
                  <a:srgbClr val="DCE2EA"/>
                </a:solidFill>
                <a:latin typeface="Noto Sans CJK JP"/>
                <a:ea typeface="Noto Sans CJK JP"/>
              </a:rPr>
              <a:t/>
            </a:r>
            <a:endParaRPr lang="ja-JP" sz="100"/>
          </a:p>
        </p:txBody>
      </p:sp>
      <p:sp>
        <p:nvSpPr>
          <p:cNvPr id="12" name="Shape 12"/>
          <p:cNvSpPr/>
          <p:nvPr/>
        </p:nvSpPr>
        <p:spPr>
          <a:xfrm>
            <a:off x="594360" y="1417320"/>
            <a:ext cx="5303520" cy="182880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167A8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800" b="1" dirty="0">
                <a:solidFill>
                  <a:srgbClr val="3167A8"/>
                </a:solidFill>
                <a:latin typeface="Noto Sans CJK JP"/>
                <a:ea typeface="Noto Sans CJK JP"/>
              </a:rPr>
              <a:t>最大電力</a:t>
            </a:r>
            <a:endParaRPr lang="ja-JP" sz="1800"/>
          </a:p>
          <a:p>
            <a:pPr algn="l"/>
            <a:r>
              <a:rPr lang="ja-JP" sz="1500" b="0" dirty="0">
                <a:solidFill>
                  <a:srgbClr val="282D32"/>
                </a:solidFill>
                <a:latin typeface="Noto Sans CJK JP"/>
                <a:ea typeface="Noto Sans CJK JP"/>
              </a:rPr>
              <a:t>P(R)=16R/(R+1)²</a:t>
            </a:r>
            <a:endParaRPr lang="ja-JP" sz="1500"/>
          </a:p>
          <a:p>
            <a:pPr algn="l"/>
            <a:r>
              <a:rPr lang="ja-JP" sz="1500" b="0" dirty="0">
                <a:solidFill>
                  <a:srgbClr val="282D32"/>
                </a:solidFill>
                <a:latin typeface="Noto Sans CJK JP"/>
                <a:ea typeface="Noto Sans CJK JP"/>
              </a:rPr>
              <a:t>dP/dR=0 → R=1 Ω</a:t>
            </a:r>
            <a:endParaRPr lang="ja-JP" sz="1500"/>
          </a:p>
          <a:p>
            <a:pPr algn="l"/>
            <a:r>
              <a:rPr lang="ja-JP" sz="1350" b="0" dirty="0">
                <a:solidFill>
                  <a:srgbClr val="282D32"/>
                </a:solidFill>
                <a:latin typeface="Noto Sans CJK JP"/>
                <a:ea typeface="Noto Sans CJK JP"/>
              </a:rPr>
              <a:t>R&lt;1: P↑  →  R=1: 最大  →  R&gt;1: P↓</a:t>
            </a:r>
            <a:endParaRPr lang="ja-JP" sz="1350"/>
          </a:p>
          <a:p>
            <a:pPr algn="l"/>
            <a:r>
              <a:rPr lang="ja-JP" sz="1450" b="1" dirty="0">
                <a:solidFill>
                  <a:srgbClr val="282D32"/>
                </a:solidFill>
                <a:latin typeface="Noto Sans CJK JP"/>
                <a:ea typeface="Noto Sans CJK JP"/>
              </a:rPr>
              <a:t>Pmax=4 W</a:t>
            </a:r>
            <a:endParaRPr lang="ja-JP" sz="1450"/>
          </a:p>
        </p:txBody>
      </p:sp>
      <p:sp>
        <p:nvSpPr>
          <p:cNvPr id="13" name="Shape 13"/>
          <p:cNvSpPr/>
          <p:nvPr/>
        </p:nvSpPr>
        <p:spPr>
          <a:xfrm>
            <a:off x="594360" y="3520440"/>
            <a:ext cx="5303520" cy="196596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167A8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800" b="1" dirty="0">
                <a:solidFill>
                  <a:srgbClr val="3167A8"/>
                </a:solidFill>
                <a:latin typeface="Noto Sans CJK JP"/>
                <a:ea typeface="Noto Sans CJK JP"/>
              </a:rPr>
              <a:t>交流RL負荷</a:t>
            </a:r>
            <a:endParaRPr lang="ja-JP" sz="1800"/>
          </a:p>
          <a:p>
            <a:pPr algn="l"/>
            <a:r>
              <a:rPr lang="ja-JP" sz="1450" b="0" dirty="0">
                <a:solidFill>
                  <a:srgbClr val="282D32"/>
                </a:solidFill>
                <a:latin typeface="Noto Sans CJK JP"/>
                <a:ea typeface="Noto Sans CJK JP"/>
              </a:rPr>
              <a:t>P(R)=RE²/{R²+(ωL)²}</a:t>
            </a:r>
            <a:endParaRPr lang="ja-JP" sz="1450"/>
          </a:p>
          <a:p>
            <a:pPr algn="l"/>
            <a:r>
              <a:rPr lang="ja-JP" sz="1500" b="1" dirty="0">
                <a:solidFill>
                  <a:srgbClr val="282D32"/>
                </a:solidFill>
                <a:latin typeface="Noto Sans CJK JP"/>
                <a:ea typeface="Noto Sans CJK JP"/>
              </a:rPr>
              <a:t>R=ωL で最大電力</a:t>
            </a:r>
            <a:endParaRPr lang="ja-JP" sz="1500"/>
          </a:p>
          <a:p>
            <a:pPr algn="l"/>
            <a:r>
              <a:rPr lang="ja-JP" sz="1250" b="0" dirty="0">
                <a:solidFill>
                  <a:srgbClr val="282D32"/>
                </a:solidFill>
                <a:latin typeface="Noto Sans CJK JP"/>
                <a:ea typeface="Noto Sans CJK JP"/>
              </a:rPr>
              <a:t>コンデンサ接続時は L,C,ω を固定し R だけ最適化</a:t>
            </a:r>
            <a:endParaRPr lang="ja-JP" sz="1250"/>
          </a:p>
        </p:txBody>
      </p:sp>
      <p:sp>
        <p:nvSpPr>
          <p:cNvPr id="14" name="Shape 14"/>
          <p:cNvSpPr/>
          <p:nvPr/>
        </p:nvSpPr>
        <p:spPr>
          <a:xfrm>
            <a:off x="6263640" y="1417320"/>
            <a:ext cx="5394960" cy="406908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7825A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800" b="1" dirty="0">
                <a:solidFill>
                  <a:srgbClr val="37825A"/>
                </a:solidFill>
                <a:latin typeface="Noto Sans CJK JP"/>
                <a:ea typeface="Noto Sans CJK JP"/>
              </a:rPr>
              <a:t>変圧器の最大効率</a:t>
            </a:r>
            <a:endParaRPr lang="ja-JP" sz="1800"/>
          </a:p>
          <a:p>
            <a:pPr algn="l"/>
            <a:r>
              <a:rPr lang="ja-JP" sz="1450" b="0" dirty="0">
                <a:solidFill>
                  <a:srgbClr val="282D32"/>
                </a:solidFill>
                <a:latin typeface="Noto Sans CJK JP"/>
                <a:ea typeface="Noto Sans CJK JP"/>
              </a:rPr>
              <a:t>η=αPN/(αPN+Pi+α²PcN)</a:t>
            </a:r>
            <a:endParaRPr lang="ja-JP" sz="1450"/>
          </a:p>
          <a:p>
            <a:pPr algn="l"/>
            <a:r>
              <a:rPr lang="ja-JP" sz="1450" b="0" dirty="0">
                <a:solidFill>
                  <a:srgbClr val="282D32"/>
                </a:solidFill>
                <a:latin typeface="Noto Sans CJK JP"/>
                <a:ea typeface="Noto Sans CJK JP"/>
              </a:rPr>
              <a:t>= PN/{PN+Pi/α+αPcN}</a:t>
            </a:r>
            <a:endParaRPr lang="ja-JP" sz="1450"/>
          </a:p>
          <a:p>
            <a:pPr algn="l"/>
            <a:r>
              <a:rPr lang="ja-JP" sz="1350" b="1" dirty="0">
                <a:solidFill>
                  <a:srgbClr val="37825A"/>
                </a:solidFill>
                <a:latin typeface="Noto Sans CJK JP"/>
                <a:ea typeface="Noto Sans CJK JP"/>
              </a:rPr>
              <a:t>↓ 分母の可変部を最小化</a:t>
            </a:r>
            <a:endParaRPr lang="ja-JP" sz="1350"/>
          </a:p>
          <a:p>
            <a:pPr algn="l"/>
            <a:r>
              <a:rPr lang="ja-JP" sz="1500" b="0" dirty="0">
                <a:solidFill>
                  <a:srgbClr val="282D32"/>
                </a:solidFill>
                <a:latin typeface="Noto Sans CJK JP"/>
                <a:ea typeface="Noto Sans CJK JP"/>
              </a:rPr>
              <a:t>g(α)=Pi/α+αPcN</a:t>
            </a:r>
            <a:endParaRPr lang="ja-JP" sz="1500"/>
          </a:p>
          <a:p>
            <a:pPr algn="l"/>
            <a:r>
              <a:rPr lang="ja-JP" sz="1450" b="0" dirty="0">
                <a:solidFill>
                  <a:srgbClr val="282D32"/>
                </a:solidFill>
                <a:latin typeface="Noto Sans CJK JP"/>
                <a:ea typeface="Noto Sans CJK JP"/>
              </a:rPr>
              <a:t>g'(α)=−Pi/α²+PcN=0</a:t>
            </a:r>
            <a:endParaRPr lang="ja-JP" sz="1450"/>
          </a:p>
          <a:p>
            <a:pPr algn="l"/>
            <a:r>
              <a:rPr lang="ja-JP" sz="1550" b="1" dirty="0">
                <a:solidFill>
                  <a:srgbClr val="282D32"/>
                </a:solidFill>
                <a:latin typeface="Noto Sans CJK JP"/>
                <a:ea typeface="Noto Sans CJK JP"/>
              </a:rPr>
              <a:t>Pi=α²PcN=Pc</a:t>
            </a:r>
            <a:endParaRPr lang="ja-JP" sz="1550"/>
          </a:p>
          <a:p>
            <a:pPr algn="l"/>
            <a:r>
              <a:rPr lang="ja-JP" sz="1450" b="1" dirty="0">
                <a:solidFill>
                  <a:srgbClr val="37825A"/>
                </a:solidFill>
                <a:latin typeface="Noto Sans CJK JP"/>
                <a:ea typeface="Noto Sans CJK JP"/>
              </a:rPr>
              <a:t>最大効率条件：鉄損＝実負荷時銅損</a:t>
            </a:r>
            <a:endParaRPr lang="ja-JP" sz="1450"/>
          </a:p>
        </p:txBody>
      </p:sp>
      <p:sp>
        <p:nvSpPr>
          <p:cNvPr id="15" name="Shape 15"/>
          <p:cNvSpPr/>
          <p:nvPr/>
        </p:nvSpPr>
        <p:spPr>
          <a:xfrm>
            <a:off x="548640" y="6528816"/>
            <a:ext cx="109728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r"/>
            <a:r>
              <a:rPr lang="ja-JP" sz="760" b="0" dirty="0">
                <a:solidFill>
                  <a:srgbClr val="787D82"/>
                </a:solidFill>
                <a:latin typeface="Noto Sans CJK JP"/>
                <a:ea typeface="Noto Sans CJK JP"/>
              </a:rPr>
              <a:t>注意：鉄損＝定格銅損ではない。</a:t>
            </a:r>
            <a:endParaRPr lang="ja-JP" sz="7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2400" b="1" dirty="0">
                <a:solidFill>
                  <a:srgbClr val="19304E"/>
                </a:solidFill>
                <a:latin typeface="Noto Sans CJK JP"/>
                <a:ea typeface="Noto Sans CJK JP"/>
              </a:rPr>
              <a:t>誘導電動機：最大トルク点と最大トルク値は別に読む</a:t>
            </a:r>
            <a:endParaRPr lang="ja-JP" sz="2400"/>
          </a:p>
        </p:txBody>
      </p:sp>
      <p:sp>
        <p:nvSpPr>
          <p:cNvPr id="17" name="Shape 17"/>
          <p:cNvSpPr/>
          <p:nvPr/>
        </p:nvSpPr>
        <p:spPr>
          <a:xfrm>
            <a:off x="530352" y="731520"/>
            <a:ext cx="10972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50" b="0" dirty="0">
                <a:solidFill>
                  <a:srgbClr val="787D82"/>
                </a:solidFill>
                <a:latin typeface="Noto Sans CJK JP"/>
                <a:ea typeface="Noto Sans CJK JP"/>
              </a:rPr>
              <a:t>R7一次機械 問2、R3二次 機械・制御 問1への接続</a:t>
            </a:r>
            <a:endParaRPr lang="ja-JP" sz="1050"/>
          </a:p>
        </p:txBody>
      </p:sp>
      <p:sp>
        <p:nvSpPr>
          <p:cNvPr id="18" name="Shape 18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DCE2EA"/>
          </a:solidFill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0" b="0" dirty="0">
                <a:solidFill>
                  <a:srgbClr val="DCE2EA"/>
                </a:solidFill>
                <a:latin typeface="Noto Sans CJK JP"/>
                <a:ea typeface="Noto Sans CJK JP"/>
              </a:rPr>
              <a:t/>
            </a:r>
            <a:endParaRPr lang="ja-JP" sz="100"/>
          </a:p>
        </p:txBody>
      </p:sp>
      <p:sp>
        <p:nvSpPr>
          <p:cNvPr id="19" name="Shape 19"/>
          <p:cNvSpPr/>
          <p:nvPr/>
        </p:nvSpPr>
        <p:spPr>
          <a:xfrm>
            <a:off x="594360" y="1417320"/>
            <a:ext cx="5486400" cy="192024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167A8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800" b="1" dirty="0">
                <a:solidFill>
                  <a:srgbClr val="3167A8"/>
                </a:solidFill>
                <a:latin typeface="Noto Sans CJK JP"/>
                <a:ea typeface="Noto Sans CJK JP"/>
              </a:rPr>
              <a:t>最大トルク時滑り</a:t>
            </a:r>
            <a:endParaRPr lang="ja-JP" sz="1800"/>
          </a:p>
          <a:p>
            <a:pPr algn="l"/>
            <a:r>
              <a:rPr lang="ja-JP" sz="1550" b="0" dirty="0">
                <a:solidFill>
                  <a:srgbClr val="282D32"/>
                </a:solidFill>
                <a:latin typeface="Noto Sans CJK JP"/>
                <a:ea typeface="Noto Sans CJK JP"/>
              </a:rPr>
              <a:t>sₘ = r'₂ / √(r₁²+X²)</a:t>
            </a:r>
            <a:endParaRPr lang="ja-JP" sz="1550"/>
          </a:p>
          <a:p>
            <a:pPr algn="l"/>
            <a:r>
              <a:rPr lang="ja-JP" sz="1500" b="1" dirty="0">
                <a:solidFill>
                  <a:srgbClr val="3167A8"/>
                </a:solidFill>
                <a:latin typeface="Noto Sans CJK JP"/>
                <a:ea typeface="Noto Sans CJK JP"/>
              </a:rPr>
              <a:t>r'₂ を2倍 → sₘ も2倍</a:t>
            </a:r>
            <a:endParaRPr lang="ja-JP" sz="1500"/>
          </a:p>
          <a:p>
            <a:pPr algn="l"/>
            <a:r>
              <a:rPr lang="ja-JP" sz="1350" b="0" dirty="0">
                <a:solidFill>
                  <a:srgbClr val="282D32"/>
                </a:solidFill>
                <a:latin typeface="Noto Sans CJK JP"/>
                <a:ea typeface="Noto Sans CJK JP"/>
              </a:rPr>
              <a:t>最適点はパラメータで移動する</a:t>
            </a:r>
            <a:endParaRPr lang="ja-JP" sz="1350"/>
          </a:p>
        </p:txBody>
      </p:sp>
      <p:sp>
        <p:nvSpPr>
          <p:cNvPr id="20" name="Shape 20"/>
          <p:cNvSpPr/>
          <p:nvPr/>
        </p:nvSpPr>
        <p:spPr>
          <a:xfrm>
            <a:off x="594360" y="3611880"/>
            <a:ext cx="5486400" cy="1874519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37825A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800" b="1" dirty="0">
                <a:solidFill>
                  <a:srgbClr val="37825A"/>
                </a:solidFill>
                <a:latin typeface="Noto Sans CJK JP"/>
                <a:ea typeface="Noto Sans CJK JP"/>
              </a:rPr>
              <a:t>二次で使える判定</a:t>
            </a:r>
            <a:endParaRPr lang="ja-JP" sz="1800"/>
          </a:p>
          <a:p>
            <a:pPr algn="l"/>
            <a:r>
              <a:rPr lang="ja-JP" sz="1300" b="0" dirty="0">
                <a:solidFill>
                  <a:srgbClr val="282D32"/>
                </a:solidFill>
                <a:latin typeface="Noto Sans CJK JP"/>
                <a:ea typeface="Noto Sans CJK JP"/>
              </a:rPr>
              <a:t>D(s)=s(r₁²+x²)+2r₁r'₂+r'₂²/s</a:t>
            </a:r>
            <a:endParaRPr lang="ja-JP" sz="1300"/>
          </a:p>
          <a:p>
            <a:pPr algn="l"/>
            <a:r>
              <a:rPr lang="ja-JP" sz="1450" b="0" dirty="0">
                <a:solidFill>
                  <a:srgbClr val="282D32"/>
                </a:solidFill>
                <a:latin typeface="Noto Sans CJK JP"/>
                <a:ea typeface="Noto Sans CJK JP"/>
              </a:rPr>
              <a:t>D'(s)=0, D''(s)&gt;0</a:t>
            </a:r>
            <a:endParaRPr lang="ja-JP" sz="1450"/>
          </a:p>
          <a:p>
            <a:pPr algn="l"/>
            <a:r>
              <a:rPr lang="ja-JP" sz="1500" b="1" dirty="0">
                <a:solidFill>
                  <a:srgbClr val="37825A"/>
                </a:solidFill>
                <a:latin typeface="Noto Sans CJK JP"/>
                <a:ea typeface="Noto Sans CJK JP"/>
              </a:rPr>
              <a:t>D が最小 → 元のトルク T は最大</a:t>
            </a:r>
            <a:endParaRPr lang="ja-JP" sz="1500"/>
          </a:p>
        </p:txBody>
      </p:sp>
      <p:sp>
        <p:nvSpPr>
          <p:cNvPr id="21" name="Shape 21"/>
          <p:cNvSpPr/>
          <p:nvPr/>
        </p:nvSpPr>
        <p:spPr>
          <a:xfrm>
            <a:off x="6355080" y="1417320"/>
            <a:ext cx="5257800" cy="192024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E67E22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800" b="1" dirty="0">
                <a:solidFill>
                  <a:srgbClr val="E67E22"/>
                </a:solidFill>
                <a:latin typeface="Noto Sans CJK JP"/>
                <a:ea typeface="Noto Sans CJK JP"/>
              </a:rPr>
              <a:t>最大値のパラメータ依存</a:t>
            </a:r>
            <a:endParaRPr lang="ja-JP" sz="1800"/>
          </a:p>
          <a:p>
            <a:pPr algn="l"/>
            <a:r>
              <a:rPr lang="ja-JP" sz="1500" b="0" dirty="0">
                <a:solidFill>
                  <a:srgbClr val="282D32"/>
                </a:solidFill>
                <a:latin typeface="Noto Sans CJK JP"/>
                <a:ea typeface="Noto Sans CJK JP"/>
              </a:rPr>
              <a:t>整理後の Tₘ に r'₂ が現れない</a:t>
            </a:r>
            <a:endParaRPr lang="ja-JP" sz="1500"/>
          </a:p>
          <a:p>
            <a:pPr algn="l"/>
            <a:r>
              <a:rPr lang="ja-JP" sz="1500" b="1" dirty="0">
                <a:solidFill>
                  <a:srgbClr val="E67E22"/>
                </a:solidFill>
                <a:latin typeface="Noto Sans CJK JP"/>
                <a:ea typeface="Noto Sans CJK JP"/>
              </a:rPr>
              <a:t>r'₂ を変えても Tₘ は不変</a:t>
            </a:r>
            <a:endParaRPr lang="ja-JP" sz="1500"/>
          </a:p>
          <a:p>
            <a:pPr algn="l"/>
            <a:r>
              <a:rPr lang="ja-JP" sz="1350" b="0" dirty="0">
                <a:solidFill>
                  <a:srgbClr val="282D32"/>
                </a:solidFill>
                <a:latin typeface="Noto Sans CJK JP"/>
                <a:ea typeface="Noto Sans CJK JP"/>
              </a:rPr>
              <a:t>「最大となる位置」と「最大値」を分けて読む</a:t>
            </a:r>
            <a:endParaRPr lang="ja-JP" sz="1350"/>
          </a:p>
        </p:txBody>
      </p:sp>
      <p:sp>
        <p:nvSpPr>
          <p:cNvPr id="22" name="Shape 22"/>
          <p:cNvSpPr/>
          <p:nvPr/>
        </p:nvSpPr>
        <p:spPr>
          <a:xfrm>
            <a:off x="6355080" y="3611880"/>
            <a:ext cx="5257800" cy="1874519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19304E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800" b="1" dirty="0">
                <a:solidFill>
                  <a:srgbClr val="19304E"/>
                </a:solidFill>
                <a:latin typeface="Noto Sans CJK JP"/>
                <a:ea typeface="Noto Sans CJK JP"/>
              </a:rPr>
              <a:t>品質ゲート上の要点</a:t>
            </a:r>
            <a:endParaRPr lang="ja-JP" sz="1800"/>
          </a:p>
          <a:p>
            <a:pPr algn="l"/>
            <a:r>
              <a:rPr lang="ja-JP" sz="1370" b="0" dirty="0">
                <a:solidFill>
                  <a:srgbClr val="282D32"/>
                </a:solidFill>
                <a:latin typeface="Noto Sans CJK JP"/>
                <a:ea typeface="Noto Sans CJK JP"/>
              </a:rPr>
              <a:t>s&gt;0 の定義域を使って正根を採用</a:t>
            </a:r>
            <a:endParaRPr lang="ja-JP" sz="1370"/>
          </a:p>
          <a:p>
            <a:pPr algn="l"/>
            <a:r>
              <a:rPr lang="ja-JP" sz="1370" b="0" dirty="0">
                <a:solidFill>
                  <a:srgbClr val="282D32"/>
                </a:solidFill>
                <a:latin typeface="Noto Sans CJK JP"/>
                <a:ea typeface="Noto Sans CJK JP"/>
              </a:rPr>
              <a:t>f' の +→− または D''&gt;0 で最大を確認</a:t>
            </a:r>
            <a:endParaRPr lang="ja-JP" sz="1370"/>
          </a:p>
          <a:p>
            <a:pPr algn="l"/>
            <a:r>
              <a:rPr lang="ja-JP" sz="1370" b="0" dirty="0">
                <a:solidFill>
                  <a:srgbClr val="282D32"/>
                </a:solidFill>
                <a:latin typeface="Noto Sans CJK JP"/>
                <a:ea typeface="Noto Sans CJK JP"/>
              </a:rPr>
              <a:t>式の意味・条件まで説明できること</a:t>
            </a:r>
            <a:endParaRPr lang="ja-JP" sz="1370"/>
          </a:p>
        </p:txBody>
      </p:sp>
      <p:sp>
        <p:nvSpPr>
          <p:cNvPr id="23" name="Shape 23"/>
          <p:cNvSpPr/>
          <p:nvPr/>
        </p:nvSpPr>
        <p:spPr>
          <a:xfrm>
            <a:off x="548640" y="6528816"/>
            <a:ext cx="109728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r"/>
            <a:r>
              <a:rPr lang="ja-JP" sz="760" b="0" dirty="0">
                <a:solidFill>
                  <a:srgbClr val="787D82"/>
                </a:solidFill>
                <a:latin typeface="Noto Sans CJK JP"/>
                <a:ea typeface="Noto Sans CJK JP"/>
              </a:rPr>
              <a:t>多変数最適化・数値最適化は先取りしない。</a:t>
            </a:r>
            <a:endParaRPr lang="ja-JP" sz="7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2400" b="1" dirty="0">
                <a:solidFill>
                  <a:srgbClr val="19304E"/>
                </a:solidFill>
                <a:latin typeface="Noto Sans CJK JP"/>
                <a:ea typeface="Noto Sans CJK JP"/>
              </a:rPr>
              <a:t>解法フロー：停留点がない最適点も拾う</a:t>
            </a:r>
            <a:endParaRPr lang="ja-JP" sz="2400"/>
          </a:p>
        </p:txBody>
      </p:sp>
      <p:sp>
        <p:nvSpPr>
          <p:cNvPr id="25" name="Shape 25"/>
          <p:cNvSpPr/>
          <p:nvPr/>
        </p:nvSpPr>
        <p:spPr>
          <a:xfrm>
            <a:off x="530352" y="731520"/>
            <a:ext cx="109728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50" b="0" dirty="0">
                <a:solidFill>
                  <a:srgbClr val="787D82"/>
                </a:solidFill>
                <a:latin typeface="Noto Sans CJK JP"/>
                <a:ea typeface="Noto Sans CJK JP"/>
              </a:rPr>
              <a:t>R7二次 機械・制御 問1の |E−1| を含め、固定EXAM_ALIGNMENT 6問・18項目へ接続</a:t>
            </a:r>
            <a:endParaRPr lang="ja-JP" sz="1050"/>
          </a:p>
        </p:txBody>
      </p:sp>
      <p:sp>
        <p:nvSpPr>
          <p:cNvPr id="26" name="Shape 26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DCE2EA"/>
          </a:solidFill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00" b="0" dirty="0">
                <a:solidFill>
                  <a:srgbClr val="DCE2EA"/>
                </a:solidFill>
                <a:latin typeface="Noto Sans CJK JP"/>
                <a:ea typeface="Noto Sans CJK JP"/>
              </a:rPr>
              <a:t/>
            </a:r>
            <a:endParaRPr lang="ja-JP" sz="100"/>
          </a:p>
        </p:txBody>
      </p:sp>
      <p:sp>
        <p:nvSpPr>
          <p:cNvPr id="27" name="Ellipse 27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1</a:t>
            </a:r>
            <a:endParaRPr/>
          </a:p>
        </p:txBody>
      </p:sp>
      <p:sp>
        <p:nvSpPr>
          <p:cNvPr id="28" name="Shape 28"/>
          <p:cNvSpPr/>
          <p:nvPr/>
        </p:nvSpPr>
        <p:spPr>
          <a:xfrm>
            <a:off x="1161288" y="1399032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目的量を f(x) に整理</a:t>
            </a:r>
            <a:endParaRPr lang="ja-JP" sz="1180"/>
          </a:p>
        </p:txBody>
      </p:sp>
      <p:sp>
        <p:nvSpPr>
          <p:cNvPr id="29" name="Ellipse 29"/>
          <p:cNvSpPr/>
          <p:nvPr/>
        </p:nvSpPr>
        <p:spPr>
          <a:xfrm>
            <a:off x="3931920" y="1417320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2</a:t>
            </a:r>
            <a:endParaRPr/>
          </a:p>
        </p:txBody>
      </p:sp>
      <p:sp>
        <p:nvSpPr>
          <p:cNvPr id="30" name="Shape 30"/>
          <p:cNvSpPr/>
          <p:nvPr/>
        </p:nvSpPr>
        <p:spPr>
          <a:xfrm>
            <a:off x="4498848" y="1399032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定義域を確認</a:t>
            </a:r>
            <a:endParaRPr lang="ja-JP" sz="1180"/>
          </a:p>
        </p:txBody>
      </p:sp>
      <p:sp>
        <p:nvSpPr>
          <p:cNvPr id="31" name="Ellipse 31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3</a:t>
            </a:r>
            <a:endParaRPr/>
          </a:p>
        </p:txBody>
      </p:sp>
      <p:sp>
        <p:nvSpPr>
          <p:cNvPr id="32" name="Shape 32"/>
          <p:cNvSpPr/>
          <p:nvPr/>
        </p:nvSpPr>
        <p:spPr>
          <a:xfrm>
            <a:off x="1161288" y="2450592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パラメータを固定</a:t>
            </a:r>
            <a:endParaRPr lang="ja-JP" sz="1180"/>
          </a:p>
        </p:txBody>
      </p:sp>
      <p:sp>
        <p:nvSpPr>
          <p:cNvPr id="33" name="Ellipse 33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4</a:t>
            </a:r>
            <a:endParaRPr/>
          </a:p>
        </p:txBody>
      </p:sp>
      <p:sp>
        <p:nvSpPr>
          <p:cNvPr id="34" name="Shape 34"/>
          <p:cNvSpPr/>
          <p:nvPr/>
        </p:nvSpPr>
        <p:spPr>
          <a:xfrm>
            <a:off x="4498848" y="2450592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f'(x)=0 で内点候補</a:t>
            </a:r>
            <a:endParaRPr lang="ja-JP" sz="1180"/>
          </a:p>
        </p:txBody>
      </p:sp>
      <p:sp>
        <p:nvSpPr>
          <p:cNvPr id="35" name="Ellipse 35"/>
          <p:cNvSpPr/>
          <p:nvPr/>
        </p:nvSpPr>
        <p:spPr>
          <a:xfrm>
            <a:off x="594360" y="3520439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5</a:t>
            </a:r>
            <a:endParaRPr/>
          </a:p>
        </p:txBody>
      </p:sp>
      <p:sp>
        <p:nvSpPr>
          <p:cNvPr id="36" name="Shape 36"/>
          <p:cNvSpPr/>
          <p:nvPr/>
        </p:nvSpPr>
        <p:spPr>
          <a:xfrm>
            <a:off x="1161288" y="3502151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符号変化 / f'' で判定</a:t>
            </a:r>
            <a:endParaRPr lang="ja-JP" sz="1180"/>
          </a:p>
        </p:txBody>
      </p:sp>
      <p:sp>
        <p:nvSpPr>
          <p:cNvPr id="37" name="Ellipse 37"/>
          <p:cNvSpPr/>
          <p:nvPr/>
        </p:nvSpPr>
        <p:spPr>
          <a:xfrm>
            <a:off x="3931920" y="3520439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6</a:t>
            </a:r>
            <a:endParaRPr/>
          </a:p>
        </p:txBody>
      </p:sp>
      <p:sp>
        <p:nvSpPr>
          <p:cNvPr id="38" name="Shape 38"/>
          <p:cNvSpPr/>
          <p:nvPr/>
        </p:nvSpPr>
        <p:spPr>
          <a:xfrm>
            <a:off x="4498848" y="3502151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端点・微分不能点を比較</a:t>
            </a:r>
            <a:endParaRPr lang="ja-JP" sz="1180"/>
          </a:p>
        </p:txBody>
      </p:sp>
      <p:sp>
        <p:nvSpPr>
          <p:cNvPr id="39" name="Ellipse 39"/>
          <p:cNvSpPr/>
          <p:nvPr/>
        </p:nvSpPr>
        <p:spPr>
          <a:xfrm>
            <a:off x="594360" y="4572000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7</a:t>
            </a:r>
            <a:endParaRPr/>
          </a:p>
        </p:txBody>
      </p:sp>
      <p:sp>
        <p:nvSpPr>
          <p:cNvPr id="40" name="Shape 40"/>
          <p:cNvSpPr/>
          <p:nvPr/>
        </p:nvSpPr>
        <p:spPr>
          <a:xfrm>
            <a:off x="1161288" y="4553712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元の式へ戻して最大・最小値</a:t>
            </a:r>
            <a:endParaRPr lang="ja-JP" sz="1180"/>
          </a:p>
        </p:txBody>
      </p:sp>
      <p:sp>
        <p:nvSpPr>
          <p:cNvPr id="41" name="Ellipse 41"/>
          <p:cNvSpPr/>
          <p:nvPr/>
        </p:nvSpPr>
        <p:spPr>
          <a:xfrm>
            <a:off x="3931920" y="4572000"/>
            <a:ext cx="457200" cy="457200"/>
          </a:xfrm>
          <a:prstGeom prst="ellipse">
            <a:avLst/>
          </a:prstGeom>
          <a:solidFill>
            <a:srgbClr val="19304E"/>
          </a:solidFill>
          <a:noFill/>
        </p:spPr>
        <p:txBody>
          <a:bodyPr anchor="ctr"/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Noto Sans CJK JP"/>
                <a:ea typeface="Noto Sans CJK JP"/>
              </a:rPr>
              <a:t>8</a:t>
            </a:r>
            <a:endParaRPr/>
          </a:p>
        </p:txBody>
      </p:sp>
      <p:sp>
        <p:nvSpPr>
          <p:cNvPr id="42" name="Shape 42"/>
          <p:cNvSpPr/>
          <p:nvPr/>
        </p:nvSpPr>
        <p:spPr>
          <a:xfrm>
            <a:off x="4498848" y="4553712"/>
            <a:ext cx="2560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80" b="0" dirty="0">
                <a:solidFill>
                  <a:srgbClr val="282D32"/>
                </a:solidFill>
                <a:latin typeface="Noto Sans CJK JP"/>
                <a:ea typeface="Noto Sans CJK JP"/>
              </a:rPr>
              <a:t>単位・条件・依存を確認</a:t>
            </a:r>
            <a:endParaRPr lang="ja-JP" sz="1180"/>
          </a:p>
        </p:txBody>
      </p:sp>
      <p:cxnSp>
        <p:nvCxnSpPr>
          <p:cNvPr id="43" name="Connector 43"/>
          <p:cNvCxnSpPr/>
          <p:nvPr/>
        </p:nvCxnSpPr>
        <p:spPr>
          <a:xfrm>
            <a:off x="7955279" y="1965960"/>
            <a:ext cx="1691641" cy="1828800"/>
          </a:xfrm>
          <a:prstGeom prst="line">
            <a:avLst/>
          </a:prstGeom>
          <a:ln w="30000">
            <a:solidFill>
              <a:srgbClr val="3167A8"/>
            </a:solidFill>
          </a:ln>
        </p:spPr>
      </p:cxnSp>
      <p:cxnSp>
        <p:nvCxnSpPr>
          <p:cNvPr id="44" name="Connector 44"/>
          <p:cNvCxnSpPr/>
          <p:nvPr/>
        </p:nvCxnSpPr>
        <p:spPr>
          <a:xfrm flipV="1">
            <a:off x="9646920" y="1965960"/>
            <a:ext cx="1691640" cy="1828800"/>
          </a:xfrm>
          <a:prstGeom prst="line">
            <a:avLst/>
          </a:prstGeom>
          <a:ln w="30000">
            <a:solidFill>
              <a:srgbClr val="3167A8"/>
            </a:solidFill>
          </a:ln>
        </p:spPr>
      </p:cxnSp>
      <p:sp>
        <p:nvSpPr>
          <p:cNvPr id="45" name="Shape 45"/>
          <p:cNvSpPr/>
          <p:nvPr/>
        </p:nvSpPr>
        <p:spPr>
          <a:xfrm>
            <a:off x="7909560" y="1417320"/>
            <a:ext cx="35661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450" b="1" dirty="0">
                <a:solidFill>
                  <a:srgbClr val="3167A8"/>
                </a:solidFill>
                <a:latin typeface="Noto Sans CJK JP"/>
                <a:ea typeface="Noto Sans CJK JP"/>
              </a:rPr>
              <a:t>I(E)=|E−1|/Xs</a:t>
            </a:r>
            <a:endParaRPr lang="ja-JP" sz="1450"/>
          </a:p>
        </p:txBody>
      </p:sp>
      <p:sp>
        <p:nvSpPr>
          <p:cNvPr id="46" name="Shape 46"/>
          <p:cNvSpPr/>
          <p:nvPr/>
        </p:nvSpPr>
        <p:spPr>
          <a:xfrm>
            <a:off x="8915400" y="3337560"/>
            <a:ext cx="2423160" cy="68580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B43C3C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100" b="1" dirty="0">
                <a:solidFill>
                  <a:srgbClr val="282D32"/>
                </a:solidFill>
                <a:latin typeface="Noto Sans CJK JP"/>
                <a:ea typeface="Noto Sans CJK JP"/>
              </a:rPr>
              <a:t>E=1.0 p.u.
微分不能点・最小</a:t>
            </a:r>
            <a:endParaRPr lang="ja-JP" sz="1100"/>
          </a:p>
        </p:txBody>
      </p:sp>
      <p:sp>
        <p:nvSpPr>
          <p:cNvPr id="47" name="Shape 47"/>
          <p:cNvSpPr/>
          <p:nvPr/>
        </p:nvSpPr>
        <p:spPr>
          <a:xfrm>
            <a:off x="7680960" y="4251960"/>
            <a:ext cx="3977639" cy="1143000"/>
          </a:xfrm>
          <a:prstGeom prst="roundRect">
            <a:avLst/>
          </a:prstGeom>
          <a:solidFill>
            <a:srgbClr val="F5F7FA"/>
          </a:solidFill>
          <a:ln w="50000">
            <a:solidFill>
              <a:srgbClr val="B43C3C"/>
            </a:solidFill>
          </a:ln>
        </p:spPr>
        <p:txBody>
          <a:bodyPr wrap="square" anchor="ctr" lIns="109728" rIns="91440" tIns="54864" bIns="36576"/>
          <a:lstStyle/>
          <a:p>
            <a:pPr algn="l"/>
            <a:r>
              <a:rPr lang="ja-JP" sz="1650" b="1" dirty="0">
                <a:solidFill>
                  <a:srgbClr val="B43C3C"/>
                </a:solidFill>
                <a:latin typeface="Noto Sans CJK JP"/>
                <a:ea typeface="Noto Sans CJK JP"/>
              </a:rPr>
              <a:t>微分不能点の例</a:t>
            </a:r>
            <a:endParaRPr lang="ja-JP" sz="1650"/>
          </a:p>
          <a:p>
            <a:pPr algn="l"/>
            <a:r>
              <a:rPr lang="ja-JP" sz="1380" b="0" dirty="0">
                <a:solidFill>
                  <a:srgbClr val="282D32"/>
                </a:solidFill>
                <a:latin typeface="Noto Sans CJK JP"/>
                <a:ea typeface="Noto Sans CJK JP"/>
              </a:rPr>
              <a:t>E=1.0 p.u. で I=0</a:t>
            </a:r>
            <a:endParaRPr lang="ja-JP" sz="1380"/>
          </a:p>
          <a:p>
            <a:pPr algn="l"/>
            <a:r>
              <a:rPr lang="ja-JP" sz="1320" b="0" dirty="0">
                <a:solidFill>
                  <a:srgbClr val="282D32"/>
                </a:solidFill>
                <a:latin typeface="Noto Sans CJK JP"/>
                <a:ea typeface="Noto Sans CJK JP"/>
              </a:rPr>
              <a:t>ここでは dI/dE=0 を使わない</a:t>
            </a:r>
            <a:endParaRPr lang="ja-JP" sz="1320"/>
          </a:p>
        </p:txBody>
      </p:sp>
      <p:sp>
        <p:nvSpPr>
          <p:cNvPr id="48" name="Shape 48"/>
          <p:cNvSpPr/>
          <p:nvPr/>
        </p:nvSpPr>
        <p:spPr>
          <a:xfrm>
            <a:off x="548640" y="6528816"/>
            <a:ext cx="109728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09728" rIns="91440" tIns="54864" bIns="36576"/>
          <a:lstStyle/>
          <a:p>
            <a:pPr algn="r"/>
            <a:r>
              <a:rPr lang="ja-JP" sz="760" b="0" dirty="0">
                <a:solidFill>
                  <a:srgbClr val="787D82"/>
                </a:solidFill>
                <a:latin typeface="Noto Sans CJK JP"/>
                <a:ea typeface="Noto Sans CJK JP"/>
              </a:rPr>
              <a:t>品質ゲート：一次4問＋二次2問、計6問・18対象項目。</a:t>
            </a:r>
            <a:endParaRPr lang="ja-JP" sz="7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9304E"/>
      </a:dk2>
      <a:lt2>
        <a:srgbClr val="F5F7FA"/>
      </a:lt2>
      <a:accent1>
        <a:srgbClr val="3167A8"/>
      </a:accent1>
      <a:accent2>
        <a:srgbClr val="37825A"/>
      </a:accent2>
      <a:accent3>
        <a:srgbClr val="E67E22"/>
      </a:accent3>
      <a:accent4>
        <a:srgbClr val="B43C3C"/>
      </a:accent4>
      <a:accent5>
        <a:srgbClr val="7F8C8D"/>
      </a:accent5>
      <a:accent6>
        <a:srgbClr val="95A5A6"/>
      </a:accent6>
      <a:hlink>
        <a:srgbClr val="0000FF"/>
      </a:hlink>
      <a:folHlink>
        <a:srgbClr val="800080"/>
      </a:folHlink>
    </a:clrScheme>
    <a:fontScheme name="Minimal">
      <a:majorFont>
        <a:latin typeface="Noto Sans CJK JP"/>
        <a:ea typeface="Noto Sans CJK JP"/>
        <a:cs typeface="Arial"/>
      </a:majorFont>
      <a:minorFont>
        <a:latin typeface="Noto Sans CJK JP"/>
        <a:ea typeface="Noto Sans CJK JP"/>
        <a:cs typeface="Arial"/>
      </a:minorFont>
    </a:fontScheme>
    <a:fmtScheme name="Minimal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0</Notes>
  <HiddenSlides>0</HiddenSlides>
  <ScaleCrop>false</ScaleCrop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微分による極値・最適条件 - 解説画像</dc:title>
  <dc:subject>電験二種 電気数学</dc:subject>
  <dc:creator>cureflash/homepage</dc:creator>
  <dcterms:created xsi:type="dcterms:W3CDTF">2026-09-13T16:03:05Z</dcterms:created>
  <dcterms:modified xsi:type="dcterms:W3CDTF">2026-09-13T16:03:05Z</dcterms:modified>
</cp:coreProperties>
</file>