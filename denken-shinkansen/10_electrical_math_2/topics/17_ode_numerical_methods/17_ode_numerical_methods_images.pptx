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A2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56032"/>
            <a:ext cx="11155680" cy="502920"/>
          </a:xfrm>
          <a:prstGeom prst="rect">
            <a:avLst/>
          </a:prstGeom>
          <a:noFill/>
        </p:spPr>
        <p:txBody>
          <a:bodyPr wrap="none">
            <a:spAutoFit/>
          </a:bodyPr>
          <a:lstStyle/>
          <a:p>
            <a:pPr>
              <a:defRPr sz="2700" b="1">
                <a:solidFill>
                  <a:srgbClr val="1A2B4A"/>
                </a:solidFill>
                <a:latin typeface="Noto Sans CJK JP"/>
              </a:defRPr>
            </a:pPr>
            <a:r>
              <a:t>常微分方程式の数値解法</a:t>
            </a:r>
          </a:p>
        </p:txBody>
      </p:sp>
      <p:sp>
        <p:nvSpPr>
          <p:cNvPr id="4" name="TextBox 3"/>
          <p:cNvSpPr txBox="1"/>
          <p:nvPr/>
        </p:nvSpPr>
        <p:spPr>
          <a:xfrm>
            <a:off x="530352" y="758952"/>
            <a:ext cx="10972800" cy="347472"/>
          </a:xfrm>
          <a:prstGeom prst="rect">
            <a:avLst/>
          </a:prstGeom>
          <a:noFill/>
        </p:spPr>
        <p:txBody>
          <a:bodyPr wrap="none">
            <a:spAutoFit/>
          </a:bodyPr>
          <a:lstStyle/>
          <a:p>
            <a:pPr>
              <a:defRPr sz="1200">
                <a:solidFill>
                  <a:srgbClr val="5C6774"/>
                </a:solidFill>
                <a:latin typeface="Noto Sans CJK JP"/>
              </a:defRPr>
            </a:pPr>
            <a:r>
              <a:t>初期値問題を「時間刻みで追跡する」ための最小セット</a:t>
            </a:r>
          </a:p>
        </p:txBody>
      </p:sp>
      <p:sp>
        <p:nvSpPr>
          <p:cNvPr id="5" name="Rounded Rectangle 4"/>
          <p:cNvSpPr/>
          <p:nvPr/>
        </p:nvSpPr>
        <p:spPr>
          <a:xfrm>
            <a:off x="548640" y="1234440"/>
            <a:ext cx="3657600" cy="4480560"/>
          </a:xfrm>
          <a:prstGeom prst="roundRect">
            <a:avLst/>
          </a:prstGeom>
          <a:solidFill>
            <a:srgbClr val="FFFFFF"/>
          </a:solidFill>
          <a:ln w="12700">
            <a:solidFill>
              <a:srgbClr val="DFE4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13232" y="1344168"/>
            <a:ext cx="3328416" cy="347472"/>
          </a:xfrm>
          <a:prstGeom prst="rect">
            <a:avLst/>
          </a:prstGeom>
          <a:noFill/>
        </p:spPr>
        <p:txBody>
          <a:bodyPr wrap="none">
            <a:spAutoFit/>
          </a:bodyPr>
          <a:lstStyle/>
          <a:p>
            <a:pPr>
              <a:defRPr sz="1700" b="1">
                <a:solidFill>
                  <a:srgbClr val="1A2B4A"/>
                </a:solidFill>
                <a:latin typeface="Noto Sans CJK JP"/>
              </a:defRPr>
            </a:pPr>
            <a:r>
              <a:t>1. 初期値問題</a:t>
            </a:r>
          </a:p>
        </p:txBody>
      </p:sp>
      <p:sp>
        <p:nvSpPr>
          <p:cNvPr id="7" name="Rounded Rectangle 6"/>
          <p:cNvSpPr/>
          <p:nvPr/>
        </p:nvSpPr>
        <p:spPr>
          <a:xfrm>
            <a:off x="868680" y="1828800"/>
            <a:ext cx="3017520" cy="868680"/>
          </a:xfrm>
          <a:prstGeom prst="roundRect">
            <a:avLst/>
          </a:prstGeom>
          <a:solidFill>
            <a:srgbClr val="F0F5FA"/>
          </a:solidFill>
          <a:ln>
            <a:solidFill>
              <a:srgbClr val="BBC9D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200" b="1">
                <a:solidFill>
                  <a:srgbClr val="1A2B4A"/>
                </a:solidFill>
                <a:latin typeface="Noto Sans Mono CJK JP"/>
              </a:defRPr>
            </a:pPr>
            <a:r>
              <a:t>dy/dt = f(t, y)</a:t>
            </a:r>
            <a:br/>
            <a:r>
              <a:t>y(t₀) = y₀</a:t>
            </a:r>
          </a:p>
        </p:txBody>
      </p:sp>
      <p:sp>
        <p:nvSpPr>
          <p:cNvPr id="8" name="TextBox 7"/>
          <p:cNvSpPr txBox="1"/>
          <p:nvPr/>
        </p:nvSpPr>
        <p:spPr>
          <a:xfrm>
            <a:off x="868680" y="2880360"/>
            <a:ext cx="2971800" cy="2103120"/>
          </a:xfrm>
          <a:prstGeom prst="rect">
            <a:avLst/>
          </a:prstGeom>
          <a:noFill/>
        </p:spPr>
        <p:txBody>
          <a:bodyPr wrap="square" lIns="54864" rIns="54864" tIns="18288" bIns="18288">
            <a:spAutoFit/>
          </a:bodyPr>
          <a:lstStyle/>
          <a:p>
            <a:pPr>
              <a:spcAft>
                <a:spcPts val="700"/>
              </a:spcAft>
              <a:defRPr sz="1400">
                <a:solidFill>
                  <a:srgbClr val="20252D"/>
                </a:solidFill>
                <a:latin typeface="Noto Sans CJK JP"/>
              </a:defRPr>
            </a:pPr>
            <a:r>
              <a:t>• 微分方程式だけでなく初期値が必要</a:t>
            </a:r>
          </a:p>
          <a:p>
            <a:pPr>
              <a:spcAft>
                <a:spcPts val="700"/>
              </a:spcAft>
              <a:defRPr sz="1400">
                <a:solidFill>
                  <a:srgbClr val="20252D"/>
                </a:solidFill>
                <a:latin typeface="Noto Sans CJK JP"/>
              </a:defRPr>
            </a:pPr>
            <a:r>
              <a:t>• 回路なら KCL/KVL から dy/dt の形へ</a:t>
            </a:r>
          </a:p>
          <a:p>
            <a:pPr>
              <a:spcAft>
                <a:spcPts val="700"/>
              </a:spcAft>
              <a:defRPr sz="1400">
                <a:solidFill>
                  <a:srgbClr val="20252D"/>
                </a:solidFill>
                <a:latin typeface="Noto Sans CJK JP"/>
              </a:defRPr>
            </a:pPr>
            <a:r>
              <a:t>• 列車なら運動方程式から dv/dt の形へ</a:t>
            </a:r>
          </a:p>
          <a:p>
            <a:pPr>
              <a:spcAft>
                <a:spcPts val="700"/>
              </a:spcAft>
              <a:defRPr sz="1400">
                <a:solidFill>
                  <a:srgbClr val="20252D"/>
                </a:solidFill>
                <a:latin typeface="Noto Sans CJK JP"/>
              </a:defRPr>
            </a:pPr>
            <a:r>
              <a:t>• 単位・符号・定常値を先に確認</a:t>
            </a:r>
          </a:p>
        </p:txBody>
      </p:sp>
      <p:sp>
        <p:nvSpPr>
          <p:cNvPr id="9" name="Rounded Rectangle 8"/>
          <p:cNvSpPr/>
          <p:nvPr/>
        </p:nvSpPr>
        <p:spPr>
          <a:xfrm>
            <a:off x="4434840" y="1234440"/>
            <a:ext cx="7178040" cy="4480560"/>
          </a:xfrm>
          <a:prstGeom prst="roundRect">
            <a:avLst/>
          </a:prstGeom>
          <a:solidFill>
            <a:srgbClr val="FFFFFF"/>
          </a:solidFill>
          <a:ln w="12700">
            <a:solidFill>
              <a:srgbClr val="DFE4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99431" y="1344168"/>
            <a:ext cx="6848855" cy="347472"/>
          </a:xfrm>
          <a:prstGeom prst="rect">
            <a:avLst/>
          </a:prstGeom>
          <a:noFill/>
        </p:spPr>
        <p:txBody>
          <a:bodyPr wrap="none">
            <a:spAutoFit/>
          </a:bodyPr>
          <a:lstStyle/>
          <a:p>
            <a:pPr>
              <a:defRPr sz="1700" b="1">
                <a:solidFill>
                  <a:srgbClr val="1A2B4A"/>
                </a:solidFill>
                <a:latin typeface="Noto Sans CJK JP"/>
              </a:defRPr>
            </a:pPr>
            <a:r>
              <a:t>2. Euler法の更新</a:t>
            </a:r>
          </a:p>
        </p:txBody>
      </p:sp>
      <p:sp>
        <p:nvSpPr>
          <p:cNvPr id="11" name="Rounded Rectangle 10"/>
          <p:cNvSpPr/>
          <p:nvPr/>
        </p:nvSpPr>
        <p:spPr>
          <a:xfrm>
            <a:off x="4800600" y="1828800"/>
            <a:ext cx="6400800" cy="658368"/>
          </a:xfrm>
          <a:prstGeom prst="roundRect">
            <a:avLst/>
          </a:prstGeom>
          <a:solidFill>
            <a:srgbClr val="F0F5FA"/>
          </a:solidFill>
          <a:ln>
            <a:solidFill>
              <a:srgbClr val="BBC9D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300" b="1">
                <a:solidFill>
                  <a:srgbClr val="1A2B4A"/>
                </a:solidFill>
                <a:latin typeface="Noto Sans Mono CJK JP"/>
              </a:defRPr>
            </a:pPr>
            <a:r>
              <a:t>tₙ₊₁ = tₙ + h</a:t>
            </a:r>
          </a:p>
        </p:txBody>
      </p:sp>
      <p:sp>
        <p:nvSpPr>
          <p:cNvPr id="12" name="Rounded Rectangle 11"/>
          <p:cNvSpPr/>
          <p:nvPr/>
        </p:nvSpPr>
        <p:spPr>
          <a:xfrm>
            <a:off x="4800600" y="2670048"/>
            <a:ext cx="6400800" cy="777240"/>
          </a:xfrm>
          <a:prstGeom prst="roundRect">
            <a:avLst/>
          </a:prstGeom>
          <a:solidFill>
            <a:srgbClr val="F0F5FA"/>
          </a:solidFill>
          <a:ln>
            <a:solidFill>
              <a:srgbClr val="BBC9D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300" b="1">
                <a:solidFill>
                  <a:srgbClr val="1A2B4A"/>
                </a:solidFill>
                <a:latin typeface="Noto Sans Mono CJK JP"/>
              </a:defRPr>
            </a:pPr>
            <a:r>
              <a:t>yₙ₊₁ = yₙ + h f(tₙ, yₙ)</a:t>
            </a:r>
          </a:p>
        </p:txBody>
      </p:sp>
      <p:sp>
        <p:nvSpPr>
          <p:cNvPr id="13" name="Rounded Rectangle 12"/>
          <p:cNvSpPr/>
          <p:nvPr/>
        </p:nvSpPr>
        <p:spPr>
          <a:xfrm>
            <a:off x="4709160" y="3794760"/>
            <a:ext cx="960120" cy="685800"/>
          </a:xfrm>
          <a:prstGeom prst="roundRect">
            <a:avLst/>
          </a:prstGeom>
          <a:solidFill>
            <a:srgbClr val="EAF0F7"/>
          </a:solidFill>
          <a:ln>
            <a:solidFill>
              <a:srgbClr val="2F6FB2"/>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1A2B4A"/>
                </a:solidFill>
                <a:latin typeface="Noto Sans CJK JP"/>
              </a:defRPr>
            </a:pPr>
            <a:r>
              <a:t>式を整理</a:t>
            </a:r>
          </a:p>
        </p:txBody>
      </p:sp>
      <p:sp>
        <p:nvSpPr>
          <p:cNvPr id="14" name="Right Arrow 13"/>
          <p:cNvSpPr/>
          <p:nvPr/>
        </p:nvSpPr>
        <p:spPr>
          <a:xfrm>
            <a:off x="5550408" y="3968496"/>
            <a:ext cx="320040" cy="301752"/>
          </a:xfrm>
          <a:prstGeom prst="rightArrow">
            <a:avLst/>
          </a:prstGeom>
          <a:solidFill>
            <a:srgbClr val="A4B1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5806440" y="3794760"/>
            <a:ext cx="960120" cy="685800"/>
          </a:xfrm>
          <a:prstGeom prst="roundRect">
            <a:avLst/>
          </a:prstGeom>
          <a:solidFill>
            <a:srgbClr val="EAF0F7"/>
          </a:solidFill>
          <a:ln>
            <a:solidFill>
              <a:srgbClr val="2F6FB2"/>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1A2B4A"/>
                </a:solidFill>
                <a:latin typeface="Noto Sans CJK JP"/>
              </a:defRPr>
            </a:pPr>
            <a:r>
              <a:t>初期値</a:t>
            </a:r>
          </a:p>
        </p:txBody>
      </p:sp>
      <p:sp>
        <p:nvSpPr>
          <p:cNvPr id="16" name="Right Arrow 15"/>
          <p:cNvSpPr/>
          <p:nvPr/>
        </p:nvSpPr>
        <p:spPr>
          <a:xfrm>
            <a:off x="6647688" y="3968496"/>
            <a:ext cx="320040" cy="301752"/>
          </a:xfrm>
          <a:prstGeom prst="rightArrow">
            <a:avLst/>
          </a:prstGeom>
          <a:solidFill>
            <a:srgbClr val="A4B1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903720" y="3794760"/>
            <a:ext cx="960120" cy="685800"/>
          </a:xfrm>
          <a:prstGeom prst="roundRect">
            <a:avLst/>
          </a:prstGeom>
          <a:solidFill>
            <a:srgbClr val="EAF0F7"/>
          </a:solidFill>
          <a:ln>
            <a:solidFill>
              <a:srgbClr val="2F6FB2"/>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1A2B4A"/>
                </a:solidFill>
                <a:latin typeface="Noto Sans CJK JP"/>
              </a:defRPr>
            </a:pPr>
            <a:r>
              <a:t>刻み幅 h</a:t>
            </a:r>
          </a:p>
        </p:txBody>
      </p:sp>
      <p:sp>
        <p:nvSpPr>
          <p:cNvPr id="18" name="Right Arrow 17"/>
          <p:cNvSpPr/>
          <p:nvPr/>
        </p:nvSpPr>
        <p:spPr>
          <a:xfrm>
            <a:off x="7744968" y="3968496"/>
            <a:ext cx="320040" cy="301752"/>
          </a:xfrm>
          <a:prstGeom prst="rightArrow">
            <a:avLst/>
          </a:prstGeom>
          <a:solidFill>
            <a:srgbClr val="A4B1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8001000" y="3794760"/>
            <a:ext cx="960120" cy="685800"/>
          </a:xfrm>
          <a:prstGeom prst="roundRect">
            <a:avLst/>
          </a:prstGeom>
          <a:solidFill>
            <a:srgbClr val="EAF0F7"/>
          </a:solidFill>
          <a:ln>
            <a:solidFill>
              <a:srgbClr val="2F6FB2"/>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1A2B4A"/>
                </a:solidFill>
                <a:latin typeface="Noto Sans CJK JP"/>
              </a:defRPr>
            </a:pPr>
            <a:r>
              <a:t>傾き f</a:t>
            </a:r>
          </a:p>
        </p:txBody>
      </p:sp>
      <p:sp>
        <p:nvSpPr>
          <p:cNvPr id="20" name="Right Arrow 19"/>
          <p:cNvSpPr/>
          <p:nvPr/>
        </p:nvSpPr>
        <p:spPr>
          <a:xfrm>
            <a:off x="8842248" y="3968496"/>
            <a:ext cx="320040" cy="301752"/>
          </a:xfrm>
          <a:prstGeom prst="rightArrow">
            <a:avLst/>
          </a:prstGeom>
          <a:solidFill>
            <a:srgbClr val="A4B1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9098280" y="3794760"/>
            <a:ext cx="960120" cy="685800"/>
          </a:xfrm>
          <a:prstGeom prst="roundRect">
            <a:avLst/>
          </a:prstGeom>
          <a:solidFill>
            <a:srgbClr val="EAF0F7"/>
          </a:solidFill>
          <a:ln>
            <a:solidFill>
              <a:srgbClr val="2F6FB2"/>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1A2B4A"/>
                </a:solidFill>
                <a:latin typeface="Noto Sans CJK JP"/>
              </a:defRPr>
            </a:pPr>
            <a:r>
              <a:t>1歩更新</a:t>
            </a:r>
          </a:p>
        </p:txBody>
      </p:sp>
      <p:sp>
        <p:nvSpPr>
          <p:cNvPr id="22" name="Right Arrow 21"/>
          <p:cNvSpPr/>
          <p:nvPr/>
        </p:nvSpPr>
        <p:spPr>
          <a:xfrm>
            <a:off x="9939528" y="3968496"/>
            <a:ext cx="320040" cy="301752"/>
          </a:xfrm>
          <a:prstGeom prst="rightArrow">
            <a:avLst/>
          </a:prstGeom>
          <a:solidFill>
            <a:srgbClr val="A4B1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10195560" y="3794760"/>
            <a:ext cx="960120" cy="685800"/>
          </a:xfrm>
          <a:prstGeom prst="roundRect">
            <a:avLst/>
          </a:prstGeom>
          <a:solidFill>
            <a:srgbClr val="E9F5EE"/>
          </a:solidFill>
          <a:ln>
            <a:solidFill>
              <a:srgbClr val="408C5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1A2B4A"/>
                </a:solidFill>
                <a:latin typeface="Noto Sans CJK JP"/>
              </a:defRPr>
            </a:pPr>
            <a:r>
              <a:t>検算</a:t>
            </a:r>
          </a:p>
        </p:txBody>
      </p:sp>
      <p:sp>
        <p:nvSpPr>
          <p:cNvPr id="24" name="TextBox 23"/>
          <p:cNvSpPr txBox="1"/>
          <p:nvPr/>
        </p:nvSpPr>
        <p:spPr>
          <a:xfrm>
            <a:off x="4800600" y="4828032"/>
            <a:ext cx="6446520" cy="566928"/>
          </a:xfrm>
          <a:prstGeom prst="rect">
            <a:avLst/>
          </a:prstGeom>
          <a:noFill/>
        </p:spPr>
        <p:txBody>
          <a:bodyPr wrap="square" lIns="45720" rIns="45720">
            <a:spAutoFit/>
          </a:bodyPr>
          <a:lstStyle/>
          <a:p>
            <a:pPr algn="ctr">
              <a:defRPr sz="1600" b="1">
                <a:solidFill>
                  <a:srgbClr val="BA4545"/>
                </a:solidFill>
                <a:latin typeface="Noto Sans CJK JP"/>
              </a:defRPr>
            </a:pPr>
            <a:r>
              <a:t>検算は「刻み幅変更・解析解・定常値」のいずれかで行う。</a:t>
            </a:r>
          </a:p>
        </p:txBody>
      </p:sp>
      <p:sp>
        <p:nvSpPr>
          <p:cNvPr id="25" name="TextBox 24"/>
          <p:cNvSpPr txBox="1"/>
          <p:nvPr/>
        </p:nvSpPr>
        <p:spPr>
          <a:xfrm>
            <a:off x="10744200" y="6428232"/>
            <a:ext cx="914400" cy="228600"/>
          </a:xfrm>
          <a:prstGeom prst="rect">
            <a:avLst/>
          </a:prstGeom>
          <a:noFill/>
        </p:spPr>
        <p:txBody>
          <a:bodyPr wrap="square" lIns="45720" rIns="45720">
            <a:spAutoFit/>
          </a:bodyPr>
          <a:lstStyle/>
          <a:p>
            <a:pPr algn="r">
              <a:defRPr sz="900" b="0">
                <a:solidFill>
                  <a:srgbClr val="5C6774"/>
                </a:solidFill>
                <a:latin typeface="Noto Sans CJK JP"/>
              </a:defRPr>
            </a:pPr>
            <a:r>
              <a:t>Topic 17  |  1/5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A2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56032"/>
            <a:ext cx="11155680" cy="502920"/>
          </a:xfrm>
          <a:prstGeom prst="rect">
            <a:avLst/>
          </a:prstGeom>
          <a:noFill/>
        </p:spPr>
        <p:txBody>
          <a:bodyPr wrap="none">
            <a:spAutoFit/>
          </a:bodyPr>
          <a:lstStyle/>
          <a:p>
            <a:pPr>
              <a:defRPr sz="2700" b="1">
                <a:solidFill>
                  <a:srgbClr val="1A2B4A"/>
                </a:solidFill>
                <a:latin typeface="Noto Sans CJK JP"/>
              </a:defRPr>
            </a:pPr>
            <a:r>
              <a:t>Euler法と刻み幅</a:t>
            </a:r>
          </a:p>
        </p:txBody>
      </p:sp>
      <p:sp>
        <p:nvSpPr>
          <p:cNvPr id="4" name="TextBox 3"/>
          <p:cNvSpPr txBox="1"/>
          <p:nvPr/>
        </p:nvSpPr>
        <p:spPr>
          <a:xfrm>
            <a:off x="530352" y="758952"/>
            <a:ext cx="10972800" cy="347472"/>
          </a:xfrm>
          <a:prstGeom prst="rect">
            <a:avLst/>
          </a:prstGeom>
          <a:noFill/>
        </p:spPr>
        <p:txBody>
          <a:bodyPr wrap="none">
            <a:spAutoFit/>
          </a:bodyPr>
          <a:lstStyle/>
          <a:p>
            <a:pPr>
              <a:defRPr sz="1200">
                <a:solidFill>
                  <a:srgbClr val="5C6774"/>
                </a:solidFill>
                <a:latin typeface="Noto Sans CJK JP"/>
              </a:defRPr>
            </a:pPr>
            <a:r>
              <a:t>dy/dt = -y,  y(0)=1 で誤差の挙動を見る</a:t>
            </a:r>
          </a:p>
        </p:txBody>
      </p:sp>
      <p:sp>
        <p:nvSpPr>
          <p:cNvPr id="5" name="Rounded Rectangle 4"/>
          <p:cNvSpPr/>
          <p:nvPr/>
        </p:nvSpPr>
        <p:spPr>
          <a:xfrm>
            <a:off x="548640" y="1170432"/>
            <a:ext cx="4572000" cy="4892040"/>
          </a:xfrm>
          <a:prstGeom prst="roundRect">
            <a:avLst/>
          </a:prstGeom>
          <a:solidFill>
            <a:srgbClr val="FFFFFF"/>
          </a:solidFill>
          <a:ln w="12700">
            <a:solidFill>
              <a:srgbClr val="DFE4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13232" y="1280160"/>
            <a:ext cx="4242816" cy="347472"/>
          </a:xfrm>
          <a:prstGeom prst="rect">
            <a:avLst/>
          </a:prstGeom>
          <a:noFill/>
        </p:spPr>
        <p:txBody>
          <a:bodyPr wrap="none">
            <a:spAutoFit/>
          </a:bodyPr>
          <a:lstStyle/>
          <a:p>
            <a:pPr>
              <a:defRPr sz="1700" b="1">
                <a:solidFill>
                  <a:srgbClr val="1A2B4A"/>
                </a:solidFill>
                <a:latin typeface="Noto Sans CJK JP"/>
              </a:defRPr>
            </a:pPr>
            <a:r>
              <a:t>更新式</a:t>
            </a:r>
          </a:p>
        </p:txBody>
      </p:sp>
      <p:sp>
        <p:nvSpPr>
          <p:cNvPr id="7" name="Rounded Rectangle 6"/>
          <p:cNvSpPr/>
          <p:nvPr/>
        </p:nvSpPr>
        <p:spPr>
          <a:xfrm>
            <a:off x="868680" y="1783080"/>
            <a:ext cx="3931920" cy="658368"/>
          </a:xfrm>
          <a:prstGeom prst="roundRect">
            <a:avLst/>
          </a:prstGeom>
          <a:solidFill>
            <a:srgbClr val="F0F5FA"/>
          </a:solidFill>
          <a:ln>
            <a:solidFill>
              <a:srgbClr val="BBC9D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100" b="1">
                <a:solidFill>
                  <a:srgbClr val="1A2B4A"/>
                </a:solidFill>
                <a:latin typeface="Noto Sans Mono CJK JP"/>
              </a:defRPr>
            </a:pPr>
            <a:r>
              <a:t>yₙ₊₁ = (1-h)yₙ</a:t>
            </a:r>
          </a:p>
        </p:txBody>
      </p:sp>
      <p:sp>
        <p:nvSpPr>
          <p:cNvPr id="8" name="TextBox 7"/>
          <p:cNvSpPr txBox="1"/>
          <p:nvPr/>
        </p:nvSpPr>
        <p:spPr>
          <a:xfrm>
            <a:off x="868680" y="2697480"/>
            <a:ext cx="3886200" cy="411480"/>
          </a:xfrm>
          <a:prstGeom prst="rect">
            <a:avLst/>
          </a:prstGeom>
          <a:noFill/>
        </p:spPr>
        <p:txBody>
          <a:bodyPr wrap="square" lIns="45720" rIns="45720">
            <a:spAutoFit/>
          </a:bodyPr>
          <a:lstStyle/>
          <a:p>
            <a:pPr algn="l">
              <a:defRPr sz="1600" b="1">
                <a:solidFill>
                  <a:srgbClr val="1A2B4A"/>
                </a:solidFill>
                <a:latin typeface="Noto Sans CJK JP"/>
              </a:defRPr>
            </a:pPr>
            <a:r>
              <a:t>h = 0.25 の4ステップ</a:t>
            </a:r>
          </a:p>
        </p:txBody>
      </p:sp>
      <p:sp>
        <p:nvSpPr>
          <p:cNvPr id="9" name="Rounded Rectangle 8"/>
          <p:cNvSpPr/>
          <p:nvPr/>
        </p:nvSpPr>
        <p:spPr>
          <a:xfrm>
            <a:off x="868680" y="3246120"/>
            <a:ext cx="621792" cy="585216"/>
          </a:xfrm>
          <a:prstGeom prst="roundRect">
            <a:avLst/>
          </a:prstGeom>
          <a:solidFill>
            <a:srgbClr val="EFF5FC"/>
          </a:solidFill>
          <a:ln>
            <a:solidFill>
              <a:srgbClr val="2F6FB2"/>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a:solidFill>
                  <a:srgbClr val="20252D"/>
                </a:solidFill>
                <a:latin typeface="Noto Sans Mono CJK JP"/>
              </a:defRPr>
            </a:pPr>
            <a:r>
              <a:t>1.000000</a:t>
            </a:r>
          </a:p>
        </p:txBody>
      </p:sp>
      <p:sp>
        <p:nvSpPr>
          <p:cNvPr id="10" name="Right Arrow 9"/>
          <p:cNvSpPr/>
          <p:nvPr/>
        </p:nvSpPr>
        <p:spPr>
          <a:xfrm>
            <a:off x="1435607" y="3401568"/>
            <a:ext cx="219456" cy="228600"/>
          </a:xfrm>
          <a:prstGeom prst="rightArrow">
            <a:avLst/>
          </a:prstGeom>
          <a:solidFill>
            <a:srgbClr val="A4B1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1636776" y="3246120"/>
            <a:ext cx="621792" cy="585216"/>
          </a:xfrm>
          <a:prstGeom prst="roundRect">
            <a:avLst/>
          </a:prstGeom>
          <a:solidFill>
            <a:srgbClr val="EFF5FC"/>
          </a:solidFill>
          <a:ln>
            <a:solidFill>
              <a:srgbClr val="2F6FB2"/>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a:solidFill>
                  <a:srgbClr val="20252D"/>
                </a:solidFill>
                <a:latin typeface="Noto Sans Mono CJK JP"/>
              </a:defRPr>
            </a:pPr>
            <a:r>
              <a:t>0.750000</a:t>
            </a:r>
          </a:p>
        </p:txBody>
      </p:sp>
      <p:sp>
        <p:nvSpPr>
          <p:cNvPr id="12" name="Right Arrow 11"/>
          <p:cNvSpPr/>
          <p:nvPr/>
        </p:nvSpPr>
        <p:spPr>
          <a:xfrm>
            <a:off x="2203704" y="3401568"/>
            <a:ext cx="219456" cy="228600"/>
          </a:xfrm>
          <a:prstGeom prst="rightArrow">
            <a:avLst/>
          </a:prstGeom>
          <a:solidFill>
            <a:srgbClr val="A4B1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2404872" y="3246120"/>
            <a:ext cx="621792" cy="585216"/>
          </a:xfrm>
          <a:prstGeom prst="roundRect">
            <a:avLst/>
          </a:prstGeom>
          <a:solidFill>
            <a:srgbClr val="EFF5FC"/>
          </a:solidFill>
          <a:ln>
            <a:solidFill>
              <a:srgbClr val="2F6FB2"/>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a:solidFill>
                  <a:srgbClr val="20252D"/>
                </a:solidFill>
                <a:latin typeface="Noto Sans Mono CJK JP"/>
              </a:defRPr>
            </a:pPr>
            <a:r>
              <a:t>0.562500</a:t>
            </a:r>
          </a:p>
        </p:txBody>
      </p:sp>
      <p:sp>
        <p:nvSpPr>
          <p:cNvPr id="14" name="Right Arrow 13"/>
          <p:cNvSpPr/>
          <p:nvPr/>
        </p:nvSpPr>
        <p:spPr>
          <a:xfrm>
            <a:off x="2971800" y="3401568"/>
            <a:ext cx="219456" cy="228600"/>
          </a:xfrm>
          <a:prstGeom prst="rightArrow">
            <a:avLst/>
          </a:prstGeom>
          <a:solidFill>
            <a:srgbClr val="A4B1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3172968" y="3246120"/>
            <a:ext cx="621792" cy="585216"/>
          </a:xfrm>
          <a:prstGeom prst="roundRect">
            <a:avLst/>
          </a:prstGeom>
          <a:solidFill>
            <a:srgbClr val="EFF5FC"/>
          </a:solidFill>
          <a:ln>
            <a:solidFill>
              <a:srgbClr val="2F6FB2"/>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a:solidFill>
                  <a:srgbClr val="20252D"/>
                </a:solidFill>
                <a:latin typeface="Noto Sans Mono CJK JP"/>
              </a:defRPr>
            </a:pPr>
            <a:r>
              <a:t>0.421875</a:t>
            </a:r>
          </a:p>
        </p:txBody>
      </p:sp>
      <p:sp>
        <p:nvSpPr>
          <p:cNvPr id="16" name="Right Arrow 15"/>
          <p:cNvSpPr/>
          <p:nvPr/>
        </p:nvSpPr>
        <p:spPr>
          <a:xfrm>
            <a:off x="3739896" y="3401568"/>
            <a:ext cx="219456" cy="228600"/>
          </a:xfrm>
          <a:prstGeom prst="rightArrow">
            <a:avLst/>
          </a:prstGeom>
          <a:solidFill>
            <a:srgbClr val="A4B1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3941063" y="3246120"/>
            <a:ext cx="621792" cy="585216"/>
          </a:xfrm>
          <a:prstGeom prst="roundRect">
            <a:avLst/>
          </a:prstGeom>
          <a:solidFill>
            <a:srgbClr val="EFF5FC"/>
          </a:solidFill>
          <a:ln>
            <a:solidFill>
              <a:srgbClr val="2F6FB2"/>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a:solidFill>
                  <a:srgbClr val="20252D"/>
                </a:solidFill>
                <a:latin typeface="Noto Sans Mono CJK JP"/>
              </a:defRPr>
            </a:pPr>
            <a:r>
              <a:t>0.316406</a:t>
            </a:r>
          </a:p>
        </p:txBody>
      </p:sp>
      <p:sp>
        <p:nvSpPr>
          <p:cNvPr id="18" name="Rounded Rectangle 17"/>
          <p:cNvSpPr/>
          <p:nvPr/>
        </p:nvSpPr>
        <p:spPr>
          <a:xfrm>
            <a:off x="868680" y="4160520"/>
            <a:ext cx="3931920" cy="731520"/>
          </a:xfrm>
          <a:prstGeom prst="roundRect">
            <a:avLst/>
          </a:prstGeom>
          <a:solidFill>
            <a:srgbClr val="F7F1E8"/>
          </a:solidFill>
          <a:ln>
            <a:solidFill>
              <a:srgbClr val="BBC9D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800" b="1">
                <a:solidFill>
                  <a:srgbClr val="1A2B4A"/>
                </a:solidFill>
                <a:latin typeface="Noto Sans Mono CJK JP"/>
              </a:defRPr>
            </a:pPr>
            <a:r>
              <a:t>解析解:  y(1)=e⁻¹=0.367879...</a:t>
            </a:r>
          </a:p>
        </p:txBody>
      </p:sp>
      <p:sp>
        <p:nvSpPr>
          <p:cNvPr id="19" name="TextBox 18"/>
          <p:cNvSpPr txBox="1"/>
          <p:nvPr/>
        </p:nvSpPr>
        <p:spPr>
          <a:xfrm>
            <a:off x="868680" y="5074920"/>
            <a:ext cx="3886200" cy="548640"/>
          </a:xfrm>
          <a:prstGeom prst="rect">
            <a:avLst/>
          </a:prstGeom>
          <a:noFill/>
        </p:spPr>
        <p:txBody>
          <a:bodyPr wrap="square" lIns="45720" rIns="45720">
            <a:spAutoFit/>
          </a:bodyPr>
          <a:lstStyle/>
          <a:p>
            <a:pPr algn="ctr">
              <a:defRPr sz="1400" b="1">
                <a:solidFill>
                  <a:srgbClr val="BA4545"/>
                </a:solidFill>
                <a:latin typeface="Noto Sans CJK JP"/>
              </a:defRPr>
            </a:pPr>
            <a:r>
              <a:t>絶対誤差 = |0.31640625 - 0.367879...|</a:t>
            </a:r>
            <a:br/>
            <a:r>
              <a:t>= 0.051473...</a:t>
            </a:r>
          </a:p>
        </p:txBody>
      </p:sp>
      <p:sp>
        <p:nvSpPr>
          <p:cNvPr id="20" name="Rounded Rectangle 19"/>
          <p:cNvSpPr/>
          <p:nvPr/>
        </p:nvSpPr>
        <p:spPr>
          <a:xfrm>
            <a:off x="5349240" y="1170432"/>
            <a:ext cx="6263640" cy="4892040"/>
          </a:xfrm>
          <a:prstGeom prst="roundRect">
            <a:avLst/>
          </a:prstGeom>
          <a:solidFill>
            <a:srgbClr val="FFFFFF"/>
          </a:solidFill>
          <a:ln w="12700">
            <a:solidFill>
              <a:srgbClr val="DFE4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513831" y="1280160"/>
            <a:ext cx="5934455" cy="347472"/>
          </a:xfrm>
          <a:prstGeom prst="rect">
            <a:avLst/>
          </a:prstGeom>
          <a:noFill/>
        </p:spPr>
        <p:txBody>
          <a:bodyPr wrap="none">
            <a:spAutoFit/>
          </a:bodyPr>
          <a:lstStyle/>
          <a:p>
            <a:pPr>
              <a:defRPr sz="1700" b="1">
                <a:solidFill>
                  <a:srgbClr val="1A2B4A"/>
                </a:solidFill>
                <a:latin typeface="Noto Sans CJK JP"/>
              </a:defRPr>
            </a:pPr>
            <a:r>
              <a:t>刻み幅を変えて比較</a:t>
            </a:r>
          </a:p>
        </p:txBody>
      </p:sp>
      <p:sp>
        <p:nvSpPr>
          <p:cNvPr id="22" name="Rectangle 21"/>
          <p:cNvSpPr/>
          <p:nvPr/>
        </p:nvSpPr>
        <p:spPr>
          <a:xfrm>
            <a:off x="5669280" y="1828800"/>
            <a:ext cx="1463040" cy="457200"/>
          </a:xfrm>
          <a:prstGeom prst="rect">
            <a:avLst/>
          </a:prstGeom>
          <a:solidFill>
            <a:srgbClr val="1A2B4A"/>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latin typeface="Noto Sans CJK JP"/>
              </a:defRPr>
            </a:pPr>
            <a:r>
              <a:t>h</a:t>
            </a:r>
          </a:p>
        </p:txBody>
      </p:sp>
      <p:sp>
        <p:nvSpPr>
          <p:cNvPr id="23" name="Rectangle 22"/>
          <p:cNvSpPr/>
          <p:nvPr/>
        </p:nvSpPr>
        <p:spPr>
          <a:xfrm>
            <a:off x="7452360" y="1828800"/>
            <a:ext cx="1737360" cy="457200"/>
          </a:xfrm>
          <a:prstGeom prst="rect">
            <a:avLst/>
          </a:prstGeom>
          <a:solidFill>
            <a:srgbClr val="1A2B4A"/>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latin typeface="Noto Sans CJK JP"/>
              </a:defRPr>
            </a:pPr>
            <a:r>
              <a:t>Euler y(1)</a:t>
            </a:r>
          </a:p>
        </p:txBody>
      </p:sp>
      <p:sp>
        <p:nvSpPr>
          <p:cNvPr id="24" name="Rectangle 23"/>
          <p:cNvSpPr/>
          <p:nvPr/>
        </p:nvSpPr>
        <p:spPr>
          <a:xfrm>
            <a:off x="9464040" y="1828800"/>
            <a:ext cx="1737360" cy="457200"/>
          </a:xfrm>
          <a:prstGeom prst="rect">
            <a:avLst/>
          </a:prstGeom>
          <a:solidFill>
            <a:srgbClr val="1A2B4A"/>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latin typeface="Noto Sans CJK JP"/>
              </a:defRPr>
            </a:pPr>
            <a:r>
              <a:t>絶対誤差</a:t>
            </a:r>
          </a:p>
        </p:txBody>
      </p:sp>
      <p:sp>
        <p:nvSpPr>
          <p:cNvPr id="25" name="Rectangle 24"/>
          <p:cNvSpPr/>
          <p:nvPr/>
        </p:nvSpPr>
        <p:spPr>
          <a:xfrm>
            <a:off x="5669280" y="2304288"/>
            <a:ext cx="1463040" cy="548640"/>
          </a:xfrm>
          <a:prstGeom prst="rect">
            <a:avLst/>
          </a:prstGeom>
          <a:solidFill>
            <a:srgbClr val="FFFFFF"/>
          </a:solidFill>
          <a:ln>
            <a:solidFill>
              <a:srgbClr val="DFE4E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a:solidFill>
                  <a:srgbClr val="20252D"/>
                </a:solidFill>
                <a:latin typeface="Noto Sans Mono CJK JP"/>
              </a:defRPr>
            </a:pPr>
            <a:r>
              <a:t>0.5000</a:t>
            </a:r>
          </a:p>
        </p:txBody>
      </p:sp>
      <p:sp>
        <p:nvSpPr>
          <p:cNvPr id="26" name="Rectangle 25"/>
          <p:cNvSpPr/>
          <p:nvPr/>
        </p:nvSpPr>
        <p:spPr>
          <a:xfrm>
            <a:off x="7452360" y="2304288"/>
            <a:ext cx="1737360" cy="548640"/>
          </a:xfrm>
          <a:prstGeom prst="rect">
            <a:avLst/>
          </a:prstGeom>
          <a:solidFill>
            <a:srgbClr val="FFFFFF"/>
          </a:solidFill>
          <a:ln>
            <a:solidFill>
              <a:srgbClr val="DFE4E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a:solidFill>
                  <a:srgbClr val="20252D"/>
                </a:solidFill>
                <a:latin typeface="Noto Sans Mono CJK JP"/>
              </a:defRPr>
            </a:pPr>
            <a:r>
              <a:t>0.250000</a:t>
            </a:r>
          </a:p>
        </p:txBody>
      </p:sp>
      <p:sp>
        <p:nvSpPr>
          <p:cNvPr id="27" name="Rectangle 26"/>
          <p:cNvSpPr/>
          <p:nvPr/>
        </p:nvSpPr>
        <p:spPr>
          <a:xfrm>
            <a:off x="9464040" y="2304288"/>
            <a:ext cx="1737360" cy="548640"/>
          </a:xfrm>
          <a:prstGeom prst="rect">
            <a:avLst/>
          </a:prstGeom>
          <a:solidFill>
            <a:srgbClr val="FFFFFF"/>
          </a:solidFill>
          <a:ln>
            <a:solidFill>
              <a:srgbClr val="DFE4E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a:solidFill>
                  <a:srgbClr val="20252D"/>
                </a:solidFill>
                <a:latin typeface="Noto Sans Mono CJK JP"/>
              </a:defRPr>
            </a:pPr>
            <a:r>
              <a:t>0.117879</a:t>
            </a:r>
          </a:p>
        </p:txBody>
      </p:sp>
      <p:sp>
        <p:nvSpPr>
          <p:cNvPr id="28" name="Rectangle 27"/>
          <p:cNvSpPr/>
          <p:nvPr/>
        </p:nvSpPr>
        <p:spPr>
          <a:xfrm>
            <a:off x="5669280" y="2898648"/>
            <a:ext cx="1463040" cy="548640"/>
          </a:xfrm>
          <a:prstGeom prst="rect">
            <a:avLst/>
          </a:prstGeom>
          <a:solidFill>
            <a:srgbClr val="F5F7FA"/>
          </a:solidFill>
          <a:ln>
            <a:solidFill>
              <a:srgbClr val="DFE4E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a:solidFill>
                  <a:srgbClr val="20252D"/>
                </a:solidFill>
                <a:latin typeface="Noto Sans Mono CJK JP"/>
              </a:defRPr>
            </a:pPr>
            <a:r>
              <a:t>0.2500</a:t>
            </a:r>
          </a:p>
        </p:txBody>
      </p:sp>
      <p:sp>
        <p:nvSpPr>
          <p:cNvPr id="29" name="Rectangle 28"/>
          <p:cNvSpPr/>
          <p:nvPr/>
        </p:nvSpPr>
        <p:spPr>
          <a:xfrm>
            <a:off x="7452360" y="2898648"/>
            <a:ext cx="1737360" cy="548640"/>
          </a:xfrm>
          <a:prstGeom prst="rect">
            <a:avLst/>
          </a:prstGeom>
          <a:solidFill>
            <a:srgbClr val="F5F7FA"/>
          </a:solidFill>
          <a:ln>
            <a:solidFill>
              <a:srgbClr val="DFE4E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a:solidFill>
                  <a:srgbClr val="20252D"/>
                </a:solidFill>
                <a:latin typeface="Noto Sans Mono CJK JP"/>
              </a:defRPr>
            </a:pPr>
            <a:r>
              <a:t>0.316406</a:t>
            </a:r>
          </a:p>
        </p:txBody>
      </p:sp>
      <p:sp>
        <p:nvSpPr>
          <p:cNvPr id="30" name="Rectangle 29"/>
          <p:cNvSpPr/>
          <p:nvPr/>
        </p:nvSpPr>
        <p:spPr>
          <a:xfrm>
            <a:off x="9464040" y="2898648"/>
            <a:ext cx="1737360" cy="548640"/>
          </a:xfrm>
          <a:prstGeom prst="rect">
            <a:avLst/>
          </a:prstGeom>
          <a:solidFill>
            <a:srgbClr val="F5F7FA"/>
          </a:solidFill>
          <a:ln>
            <a:solidFill>
              <a:srgbClr val="DFE4E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a:solidFill>
                  <a:srgbClr val="20252D"/>
                </a:solidFill>
                <a:latin typeface="Noto Sans Mono CJK JP"/>
              </a:defRPr>
            </a:pPr>
            <a:r>
              <a:t>0.051473</a:t>
            </a:r>
          </a:p>
        </p:txBody>
      </p:sp>
      <p:sp>
        <p:nvSpPr>
          <p:cNvPr id="31" name="Rectangle 30"/>
          <p:cNvSpPr/>
          <p:nvPr/>
        </p:nvSpPr>
        <p:spPr>
          <a:xfrm>
            <a:off x="5669280" y="3493008"/>
            <a:ext cx="1463040" cy="548640"/>
          </a:xfrm>
          <a:prstGeom prst="rect">
            <a:avLst/>
          </a:prstGeom>
          <a:solidFill>
            <a:srgbClr val="FFFFFF"/>
          </a:solidFill>
          <a:ln>
            <a:solidFill>
              <a:srgbClr val="DFE4E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a:solidFill>
                  <a:srgbClr val="20252D"/>
                </a:solidFill>
                <a:latin typeface="Noto Sans Mono CJK JP"/>
              </a:defRPr>
            </a:pPr>
            <a:r>
              <a:t>0.1250</a:t>
            </a:r>
          </a:p>
        </p:txBody>
      </p:sp>
      <p:sp>
        <p:nvSpPr>
          <p:cNvPr id="32" name="Rectangle 31"/>
          <p:cNvSpPr/>
          <p:nvPr/>
        </p:nvSpPr>
        <p:spPr>
          <a:xfrm>
            <a:off x="7452360" y="3493008"/>
            <a:ext cx="1737360" cy="548640"/>
          </a:xfrm>
          <a:prstGeom prst="rect">
            <a:avLst/>
          </a:prstGeom>
          <a:solidFill>
            <a:srgbClr val="FFFFFF"/>
          </a:solidFill>
          <a:ln>
            <a:solidFill>
              <a:srgbClr val="DFE4E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a:solidFill>
                  <a:srgbClr val="20252D"/>
                </a:solidFill>
                <a:latin typeface="Noto Sans Mono CJK JP"/>
              </a:defRPr>
            </a:pPr>
            <a:r>
              <a:t>0.343609</a:t>
            </a:r>
          </a:p>
        </p:txBody>
      </p:sp>
      <p:sp>
        <p:nvSpPr>
          <p:cNvPr id="33" name="Rectangle 32"/>
          <p:cNvSpPr/>
          <p:nvPr/>
        </p:nvSpPr>
        <p:spPr>
          <a:xfrm>
            <a:off x="9464040" y="3493008"/>
            <a:ext cx="1737360" cy="548640"/>
          </a:xfrm>
          <a:prstGeom prst="rect">
            <a:avLst/>
          </a:prstGeom>
          <a:solidFill>
            <a:srgbClr val="FFFFFF"/>
          </a:solidFill>
          <a:ln>
            <a:solidFill>
              <a:srgbClr val="DFE4E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a:solidFill>
                  <a:srgbClr val="20252D"/>
                </a:solidFill>
                <a:latin typeface="Noto Sans Mono CJK JP"/>
              </a:defRPr>
            </a:pPr>
            <a:r>
              <a:t>0.024271</a:t>
            </a:r>
          </a:p>
        </p:txBody>
      </p:sp>
      <p:sp>
        <p:nvSpPr>
          <p:cNvPr id="34" name="Rectangle 33"/>
          <p:cNvSpPr/>
          <p:nvPr/>
        </p:nvSpPr>
        <p:spPr>
          <a:xfrm>
            <a:off x="5669280" y="4087368"/>
            <a:ext cx="1463040" cy="548640"/>
          </a:xfrm>
          <a:prstGeom prst="rect">
            <a:avLst/>
          </a:prstGeom>
          <a:solidFill>
            <a:srgbClr val="F5F7FA"/>
          </a:solidFill>
          <a:ln>
            <a:solidFill>
              <a:srgbClr val="DFE4E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a:solidFill>
                  <a:srgbClr val="20252D"/>
                </a:solidFill>
                <a:latin typeface="Noto Sans Mono CJK JP"/>
              </a:defRPr>
            </a:pPr>
            <a:r>
              <a:t>0.0625</a:t>
            </a:r>
          </a:p>
        </p:txBody>
      </p:sp>
      <p:sp>
        <p:nvSpPr>
          <p:cNvPr id="35" name="Rectangle 34"/>
          <p:cNvSpPr/>
          <p:nvPr/>
        </p:nvSpPr>
        <p:spPr>
          <a:xfrm>
            <a:off x="7452360" y="4087368"/>
            <a:ext cx="1737360" cy="548640"/>
          </a:xfrm>
          <a:prstGeom prst="rect">
            <a:avLst/>
          </a:prstGeom>
          <a:solidFill>
            <a:srgbClr val="F5F7FA"/>
          </a:solidFill>
          <a:ln>
            <a:solidFill>
              <a:srgbClr val="DFE4E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a:solidFill>
                  <a:srgbClr val="20252D"/>
                </a:solidFill>
                <a:latin typeface="Noto Sans Mono CJK JP"/>
              </a:defRPr>
            </a:pPr>
            <a:r>
              <a:t>0.356074</a:t>
            </a:r>
          </a:p>
        </p:txBody>
      </p:sp>
      <p:sp>
        <p:nvSpPr>
          <p:cNvPr id="36" name="Rectangle 35"/>
          <p:cNvSpPr/>
          <p:nvPr/>
        </p:nvSpPr>
        <p:spPr>
          <a:xfrm>
            <a:off x="9464040" y="4087368"/>
            <a:ext cx="1737360" cy="548640"/>
          </a:xfrm>
          <a:prstGeom prst="rect">
            <a:avLst/>
          </a:prstGeom>
          <a:solidFill>
            <a:srgbClr val="F5F7FA"/>
          </a:solidFill>
          <a:ln>
            <a:solidFill>
              <a:srgbClr val="DFE4E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a:solidFill>
                  <a:srgbClr val="20252D"/>
                </a:solidFill>
                <a:latin typeface="Noto Sans Mono CJK JP"/>
              </a:defRPr>
            </a:pPr>
            <a:r>
              <a:t>0.011805</a:t>
            </a:r>
          </a:p>
        </p:txBody>
      </p:sp>
      <p:sp>
        <p:nvSpPr>
          <p:cNvPr id="37" name="TextBox 36"/>
          <p:cNvSpPr txBox="1"/>
          <p:nvPr/>
        </p:nvSpPr>
        <p:spPr>
          <a:xfrm>
            <a:off x="5650992" y="4956048"/>
            <a:ext cx="5486400" cy="384048"/>
          </a:xfrm>
          <a:prstGeom prst="rect">
            <a:avLst/>
          </a:prstGeom>
          <a:noFill/>
        </p:spPr>
        <p:txBody>
          <a:bodyPr wrap="square" lIns="45720" rIns="45720">
            <a:spAutoFit/>
          </a:bodyPr>
          <a:lstStyle/>
          <a:p>
            <a:pPr algn="ctr">
              <a:defRPr sz="1500" b="1">
                <a:solidFill>
                  <a:srgbClr val="408C5C"/>
                </a:solidFill>
                <a:latin typeface="Noto Sans CJK JP"/>
              </a:defRPr>
            </a:pPr>
            <a:r>
              <a:t>この例では h を小さくすると誤差が単調に減少</a:t>
            </a:r>
          </a:p>
        </p:txBody>
      </p:sp>
      <p:sp>
        <p:nvSpPr>
          <p:cNvPr id="38" name="Rectangle 37"/>
          <p:cNvSpPr/>
          <p:nvPr/>
        </p:nvSpPr>
        <p:spPr>
          <a:xfrm>
            <a:off x="6035040" y="5413248"/>
            <a:ext cx="4572000" cy="82296"/>
          </a:xfrm>
          <a:prstGeom prst="rect">
            <a:avLst/>
          </a:prstGeom>
          <a:solidFill>
            <a:srgbClr val="2391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6035040" y="5559552"/>
            <a:ext cx="1996407" cy="82296"/>
          </a:xfrm>
          <a:prstGeom prst="rect">
            <a:avLst/>
          </a:prstGeom>
          <a:solidFill>
            <a:srgbClr val="2391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6035040" y="5705856"/>
            <a:ext cx="941363" cy="82296"/>
          </a:xfrm>
          <a:prstGeom prst="rect">
            <a:avLst/>
          </a:prstGeom>
          <a:solidFill>
            <a:srgbClr val="2391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6035040" y="5852160"/>
            <a:ext cx="457863" cy="82296"/>
          </a:xfrm>
          <a:prstGeom prst="rect">
            <a:avLst/>
          </a:prstGeom>
          <a:solidFill>
            <a:srgbClr val="2391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10744200" y="6428232"/>
            <a:ext cx="914400" cy="228600"/>
          </a:xfrm>
          <a:prstGeom prst="rect">
            <a:avLst/>
          </a:prstGeom>
          <a:noFill/>
        </p:spPr>
        <p:txBody>
          <a:bodyPr wrap="square" lIns="45720" rIns="45720">
            <a:spAutoFit/>
          </a:bodyPr>
          <a:lstStyle/>
          <a:p>
            <a:pPr algn="r">
              <a:defRPr sz="900" b="0">
                <a:solidFill>
                  <a:srgbClr val="5C6774"/>
                </a:solidFill>
                <a:latin typeface="Noto Sans CJK JP"/>
              </a:defRPr>
            </a:pPr>
            <a:r>
              <a:t>Topic 17  |  2/5</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A2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56032"/>
            <a:ext cx="11155680" cy="502920"/>
          </a:xfrm>
          <a:prstGeom prst="rect">
            <a:avLst/>
          </a:prstGeom>
          <a:noFill/>
        </p:spPr>
        <p:txBody>
          <a:bodyPr wrap="none">
            <a:spAutoFit/>
          </a:bodyPr>
          <a:lstStyle/>
          <a:p>
            <a:pPr>
              <a:defRPr sz="2700" b="1">
                <a:solidFill>
                  <a:srgbClr val="1A2B4A"/>
                </a:solidFill>
                <a:latin typeface="Noto Sans CJK JP"/>
              </a:defRPr>
            </a:pPr>
            <a:r>
              <a:t>RL過渡をEuler法で追う</a:t>
            </a:r>
          </a:p>
        </p:txBody>
      </p:sp>
      <p:sp>
        <p:nvSpPr>
          <p:cNvPr id="4" name="TextBox 3"/>
          <p:cNvSpPr txBox="1"/>
          <p:nvPr/>
        </p:nvSpPr>
        <p:spPr>
          <a:xfrm>
            <a:off x="530352" y="758952"/>
            <a:ext cx="10972800" cy="347472"/>
          </a:xfrm>
          <a:prstGeom prst="rect">
            <a:avLst/>
          </a:prstGeom>
          <a:noFill/>
        </p:spPr>
        <p:txBody>
          <a:bodyPr wrap="none">
            <a:spAutoFit/>
          </a:bodyPr>
          <a:lstStyle/>
          <a:p>
            <a:pPr>
              <a:defRPr sz="1200">
                <a:solidFill>
                  <a:srgbClr val="5C6774"/>
                </a:solidFill>
                <a:latin typeface="Noto Sans CJK JP"/>
              </a:defRPr>
            </a:pPr>
            <a:r>
              <a:t>解析解を知る回路で、数値解の更新と誤差検算を同時に練習</a:t>
            </a:r>
          </a:p>
        </p:txBody>
      </p:sp>
      <p:sp>
        <p:nvSpPr>
          <p:cNvPr id="5" name="Rounded Rectangle 4"/>
          <p:cNvSpPr/>
          <p:nvPr/>
        </p:nvSpPr>
        <p:spPr>
          <a:xfrm>
            <a:off x="548640" y="1170432"/>
            <a:ext cx="3840480" cy="4892040"/>
          </a:xfrm>
          <a:prstGeom prst="roundRect">
            <a:avLst/>
          </a:prstGeom>
          <a:solidFill>
            <a:srgbClr val="FFFFFF"/>
          </a:solidFill>
          <a:ln w="12700">
            <a:solidFill>
              <a:srgbClr val="DFE4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13232" y="1280160"/>
            <a:ext cx="3511296" cy="347472"/>
          </a:xfrm>
          <a:prstGeom prst="rect">
            <a:avLst/>
          </a:prstGeom>
          <a:noFill/>
        </p:spPr>
        <p:txBody>
          <a:bodyPr wrap="none">
            <a:spAutoFit/>
          </a:bodyPr>
          <a:lstStyle/>
          <a:p>
            <a:pPr>
              <a:defRPr sz="1700" b="1">
                <a:solidFill>
                  <a:srgbClr val="1A2B4A"/>
                </a:solidFill>
                <a:latin typeface="Noto Sans CJK JP"/>
              </a:defRPr>
            </a:pPr>
            <a:r>
              <a:t>回路式 → 初期値問題</a:t>
            </a:r>
          </a:p>
        </p:txBody>
      </p:sp>
      <p:sp>
        <p:nvSpPr>
          <p:cNvPr id="7" name="Rounded Rectangle 6"/>
          <p:cNvSpPr/>
          <p:nvPr/>
        </p:nvSpPr>
        <p:spPr>
          <a:xfrm>
            <a:off x="822960" y="1737360"/>
            <a:ext cx="3291840" cy="749808"/>
          </a:xfrm>
          <a:prstGeom prst="roundRect">
            <a:avLst/>
          </a:prstGeom>
          <a:solidFill>
            <a:srgbClr val="F0F5FA"/>
          </a:solidFill>
          <a:ln>
            <a:solidFill>
              <a:srgbClr val="BBC9D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900" b="1">
                <a:solidFill>
                  <a:srgbClr val="1A2B4A"/>
                </a:solidFill>
                <a:latin typeface="Noto Sans Mono CJK JP"/>
              </a:defRPr>
            </a:pPr>
            <a:r>
              <a:t>L di/dt + Ri = V</a:t>
            </a:r>
          </a:p>
        </p:txBody>
      </p:sp>
      <p:sp>
        <p:nvSpPr>
          <p:cNvPr id="8" name="Rounded Rectangle 7"/>
          <p:cNvSpPr/>
          <p:nvPr/>
        </p:nvSpPr>
        <p:spPr>
          <a:xfrm>
            <a:off x="822960" y="2670048"/>
            <a:ext cx="3291840" cy="749808"/>
          </a:xfrm>
          <a:prstGeom prst="roundRect">
            <a:avLst/>
          </a:prstGeom>
          <a:solidFill>
            <a:srgbClr val="F0F5FA"/>
          </a:solidFill>
          <a:ln>
            <a:solidFill>
              <a:srgbClr val="BBC9D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900" b="1">
                <a:solidFill>
                  <a:srgbClr val="1A2B4A"/>
                </a:solidFill>
                <a:latin typeface="Noto Sans Mono CJK JP"/>
              </a:defRPr>
            </a:pPr>
            <a:r>
              <a:t>di/dt = (V-Ri)/L</a:t>
            </a:r>
          </a:p>
        </p:txBody>
      </p:sp>
      <p:sp>
        <p:nvSpPr>
          <p:cNvPr id="9" name="TextBox 8"/>
          <p:cNvSpPr txBox="1"/>
          <p:nvPr/>
        </p:nvSpPr>
        <p:spPr>
          <a:xfrm>
            <a:off x="868680" y="3611880"/>
            <a:ext cx="3154680" cy="1234440"/>
          </a:xfrm>
          <a:prstGeom prst="rect">
            <a:avLst/>
          </a:prstGeom>
          <a:noFill/>
        </p:spPr>
        <p:txBody>
          <a:bodyPr wrap="square" lIns="54864" rIns="54864" tIns="18288" bIns="18288">
            <a:spAutoFit/>
          </a:bodyPr>
          <a:lstStyle/>
          <a:p>
            <a:pPr>
              <a:spcAft>
                <a:spcPts val="700"/>
              </a:spcAft>
              <a:defRPr sz="1400">
                <a:solidFill>
                  <a:srgbClr val="20252D"/>
                </a:solidFill>
                <a:latin typeface="Noto Sans CJK JP"/>
              </a:defRPr>
            </a:pPr>
            <a:r>
              <a:t>• V=100 V, R=10 Ω, L=2 H</a:t>
            </a:r>
          </a:p>
          <a:p>
            <a:pPr>
              <a:spcAft>
                <a:spcPts val="700"/>
              </a:spcAft>
              <a:defRPr sz="1400">
                <a:solidFill>
                  <a:srgbClr val="20252D"/>
                </a:solidFill>
                <a:latin typeface="Noto Sans CJK JP"/>
              </a:defRPr>
            </a:pPr>
            <a:r>
              <a:t>• i(0)=0 A, 定常値=10 A</a:t>
            </a:r>
          </a:p>
          <a:p>
            <a:pPr>
              <a:spcAft>
                <a:spcPts val="700"/>
              </a:spcAft>
              <a:defRPr sz="1400">
                <a:solidFill>
                  <a:srgbClr val="20252D"/>
                </a:solidFill>
                <a:latin typeface="Noto Sans CJK JP"/>
              </a:defRPr>
            </a:pPr>
            <a:r>
              <a:t>• 時定数 τ=L/R=0.20 s</a:t>
            </a:r>
          </a:p>
        </p:txBody>
      </p:sp>
      <p:sp>
        <p:nvSpPr>
          <p:cNvPr id="10" name="Rounded Rectangle 9"/>
          <p:cNvSpPr/>
          <p:nvPr/>
        </p:nvSpPr>
        <p:spPr>
          <a:xfrm>
            <a:off x="822960" y="4983480"/>
            <a:ext cx="3291840" cy="658368"/>
          </a:xfrm>
          <a:prstGeom prst="roundRect">
            <a:avLst/>
          </a:prstGeom>
          <a:solidFill>
            <a:srgbClr val="F7F1E8"/>
          </a:solidFill>
          <a:ln>
            <a:solidFill>
              <a:srgbClr val="BBC9D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1A2B4A"/>
                </a:solidFill>
                <a:latin typeface="Noto Sans Mono CJK JP"/>
              </a:defRPr>
            </a:pPr>
            <a:r>
              <a:t>解析解: i=10(1-e⁻⁵ᵗ)</a:t>
            </a:r>
          </a:p>
        </p:txBody>
      </p:sp>
      <p:sp>
        <p:nvSpPr>
          <p:cNvPr id="11" name="Rounded Rectangle 10"/>
          <p:cNvSpPr/>
          <p:nvPr/>
        </p:nvSpPr>
        <p:spPr>
          <a:xfrm>
            <a:off x="4617720" y="1170432"/>
            <a:ext cx="6995160" cy="4892040"/>
          </a:xfrm>
          <a:prstGeom prst="roundRect">
            <a:avLst/>
          </a:prstGeom>
          <a:solidFill>
            <a:srgbClr val="FFFFFF"/>
          </a:solidFill>
          <a:ln w="12700">
            <a:solidFill>
              <a:srgbClr val="DFE4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82312" y="1280160"/>
            <a:ext cx="6665976" cy="347472"/>
          </a:xfrm>
          <a:prstGeom prst="rect">
            <a:avLst/>
          </a:prstGeom>
          <a:noFill/>
        </p:spPr>
        <p:txBody>
          <a:bodyPr wrap="none">
            <a:spAutoFit/>
          </a:bodyPr>
          <a:lstStyle/>
          <a:p>
            <a:pPr>
              <a:defRPr sz="1700" b="1">
                <a:solidFill>
                  <a:srgbClr val="1A2B4A"/>
                </a:solidFill>
                <a:latin typeface="Noto Sans CJK JP"/>
              </a:defRPr>
            </a:pPr>
            <a:r>
              <a:t>t = 0.40 s まで計算</a:t>
            </a:r>
          </a:p>
        </p:txBody>
      </p:sp>
      <p:sp>
        <p:nvSpPr>
          <p:cNvPr id="13" name="TextBox 12"/>
          <p:cNvSpPr txBox="1"/>
          <p:nvPr/>
        </p:nvSpPr>
        <p:spPr>
          <a:xfrm>
            <a:off x="4919472" y="1764792"/>
            <a:ext cx="2834640" cy="320040"/>
          </a:xfrm>
          <a:prstGeom prst="rect">
            <a:avLst/>
          </a:prstGeom>
          <a:noFill/>
        </p:spPr>
        <p:txBody>
          <a:bodyPr wrap="square" lIns="45720" rIns="45720">
            <a:spAutoFit/>
          </a:bodyPr>
          <a:lstStyle/>
          <a:p>
            <a:pPr algn="ctr">
              <a:defRPr sz="1600" b="1">
                <a:solidFill>
                  <a:srgbClr val="2F6FB2"/>
                </a:solidFill>
                <a:latin typeface="Noto Sans CJK JP"/>
              </a:defRPr>
            </a:pPr>
            <a:r>
              <a:t>h = 0.10 s</a:t>
            </a:r>
          </a:p>
        </p:txBody>
      </p:sp>
      <p:sp>
        <p:nvSpPr>
          <p:cNvPr id="14" name="TextBox 13"/>
          <p:cNvSpPr txBox="1"/>
          <p:nvPr/>
        </p:nvSpPr>
        <p:spPr>
          <a:xfrm>
            <a:off x="8229600" y="1764792"/>
            <a:ext cx="2834640" cy="320040"/>
          </a:xfrm>
          <a:prstGeom prst="rect">
            <a:avLst/>
          </a:prstGeom>
          <a:noFill/>
        </p:spPr>
        <p:txBody>
          <a:bodyPr wrap="square" lIns="45720" rIns="45720">
            <a:spAutoFit/>
          </a:bodyPr>
          <a:lstStyle/>
          <a:p>
            <a:pPr algn="ctr">
              <a:defRPr sz="1600" b="1">
                <a:solidFill>
                  <a:srgbClr val="23918D"/>
                </a:solidFill>
                <a:latin typeface="Noto Sans CJK JP"/>
              </a:defRPr>
            </a:pPr>
            <a:r>
              <a:t>h = 0.05 s</a:t>
            </a:r>
          </a:p>
        </p:txBody>
      </p:sp>
      <p:sp>
        <p:nvSpPr>
          <p:cNvPr id="15" name="Rounded Rectangle 14"/>
          <p:cNvSpPr/>
          <p:nvPr/>
        </p:nvSpPr>
        <p:spPr>
          <a:xfrm>
            <a:off x="4919472" y="2176272"/>
            <a:ext cx="2834640" cy="594360"/>
          </a:xfrm>
          <a:prstGeom prst="roundRect">
            <a:avLst/>
          </a:prstGeom>
          <a:solidFill>
            <a:srgbClr val="F0F5FA"/>
          </a:solidFill>
          <a:ln>
            <a:solidFill>
              <a:srgbClr val="BBC9D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1A2B4A"/>
                </a:solidFill>
                <a:latin typeface="Noto Sans Mono CJK JP"/>
              </a:defRPr>
            </a:pPr>
            <a:r>
              <a:t>0 → 5 → 7.5 → 8.75 → 9.375 A</a:t>
            </a:r>
          </a:p>
        </p:txBody>
      </p:sp>
      <p:sp>
        <p:nvSpPr>
          <p:cNvPr id="16" name="Rounded Rectangle 15"/>
          <p:cNvSpPr/>
          <p:nvPr/>
        </p:nvSpPr>
        <p:spPr>
          <a:xfrm>
            <a:off x="8229600" y="2176272"/>
            <a:ext cx="2834640" cy="594360"/>
          </a:xfrm>
          <a:prstGeom prst="roundRect">
            <a:avLst/>
          </a:prstGeom>
          <a:solidFill>
            <a:srgbClr val="F0F5FA"/>
          </a:solidFill>
          <a:ln>
            <a:solidFill>
              <a:srgbClr val="BBC9D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1A2B4A"/>
                </a:solidFill>
                <a:latin typeface="Noto Sans Mono CJK JP"/>
              </a:defRPr>
            </a:pPr>
            <a:r>
              <a:t>8刻み → 8.998871 A</a:t>
            </a:r>
          </a:p>
        </p:txBody>
      </p:sp>
      <p:sp>
        <p:nvSpPr>
          <p:cNvPr id="17" name="TextBox 16"/>
          <p:cNvSpPr txBox="1"/>
          <p:nvPr/>
        </p:nvSpPr>
        <p:spPr>
          <a:xfrm>
            <a:off x="4937760" y="3054096"/>
            <a:ext cx="2834640" cy="384048"/>
          </a:xfrm>
          <a:prstGeom prst="rect">
            <a:avLst/>
          </a:prstGeom>
          <a:noFill/>
        </p:spPr>
        <p:txBody>
          <a:bodyPr wrap="square" lIns="45720" rIns="45720">
            <a:spAutoFit/>
          </a:bodyPr>
          <a:lstStyle/>
          <a:p>
            <a:pPr algn="ctr">
              <a:defRPr sz="1400" b="1">
                <a:solidFill>
                  <a:srgbClr val="BA4545"/>
                </a:solidFill>
                <a:latin typeface="Noto Sans CJK JP"/>
              </a:defRPr>
            </a:pPr>
            <a:r>
              <a:t>絶対誤差 0.728353 A</a:t>
            </a:r>
          </a:p>
        </p:txBody>
      </p:sp>
      <p:sp>
        <p:nvSpPr>
          <p:cNvPr id="18" name="TextBox 17"/>
          <p:cNvSpPr txBox="1"/>
          <p:nvPr/>
        </p:nvSpPr>
        <p:spPr>
          <a:xfrm>
            <a:off x="8229600" y="3054096"/>
            <a:ext cx="2834640" cy="384048"/>
          </a:xfrm>
          <a:prstGeom prst="rect">
            <a:avLst/>
          </a:prstGeom>
          <a:noFill/>
        </p:spPr>
        <p:txBody>
          <a:bodyPr wrap="square" lIns="45720" rIns="45720">
            <a:spAutoFit/>
          </a:bodyPr>
          <a:lstStyle/>
          <a:p>
            <a:pPr algn="ctr">
              <a:defRPr sz="1400" b="1">
                <a:solidFill>
                  <a:srgbClr val="408C5C"/>
                </a:solidFill>
                <a:latin typeface="Noto Sans CJK JP"/>
              </a:defRPr>
            </a:pPr>
            <a:r>
              <a:t>絶対誤差 0.352224 A</a:t>
            </a:r>
          </a:p>
        </p:txBody>
      </p:sp>
      <p:sp>
        <p:nvSpPr>
          <p:cNvPr id="19" name="Rounded Rectangle 18"/>
          <p:cNvSpPr/>
          <p:nvPr/>
        </p:nvSpPr>
        <p:spPr>
          <a:xfrm>
            <a:off x="5623560" y="3767328"/>
            <a:ext cx="4983480" cy="731520"/>
          </a:xfrm>
          <a:prstGeom prst="roundRect">
            <a:avLst/>
          </a:prstGeom>
          <a:solidFill>
            <a:srgbClr val="F7F1E8"/>
          </a:solidFill>
          <a:ln>
            <a:solidFill>
              <a:srgbClr val="BBC9D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900" b="1">
                <a:solidFill>
                  <a:srgbClr val="1A2B4A"/>
                </a:solidFill>
                <a:latin typeface="Noto Sans Mono CJK JP"/>
              </a:defRPr>
            </a:pPr>
            <a:r>
              <a:t>解析解 i(0.40)=8.646647 A</a:t>
            </a:r>
          </a:p>
        </p:txBody>
      </p:sp>
      <p:sp>
        <p:nvSpPr>
          <p:cNvPr id="20" name="Rectangle 19"/>
          <p:cNvSpPr/>
          <p:nvPr/>
        </p:nvSpPr>
        <p:spPr>
          <a:xfrm>
            <a:off x="5074920" y="5486400"/>
            <a:ext cx="5760720" cy="13716"/>
          </a:xfrm>
          <a:prstGeom prst="rect">
            <a:avLst/>
          </a:prstGeom>
          <a:solidFill>
            <a:srgbClr val="5C67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074920" y="4709160"/>
            <a:ext cx="13716" cy="777240"/>
          </a:xfrm>
          <a:prstGeom prst="rect">
            <a:avLst/>
          </a:prstGeom>
          <a:solidFill>
            <a:srgbClr val="5C67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2" name="Connector 21"/>
          <p:cNvCxnSpPr/>
          <p:nvPr/>
        </p:nvCxnSpPr>
        <p:spPr>
          <a:xfrm flipV="1">
            <a:off x="5074920" y="5314475"/>
            <a:ext cx="720089" cy="171925"/>
          </a:xfrm>
          <a:prstGeom prst="line">
            <a:avLst/>
          </a:prstGeom>
          <a:ln w="25400">
            <a:solidFill>
              <a:srgbClr val="DE843B"/>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V="1">
            <a:off x="5795009" y="5180579"/>
            <a:ext cx="720091" cy="133896"/>
          </a:xfrm>
          <a:prstGeom prst="line">
            <a:avLst/>
          </a:prstGeom>
          <a:ln w="25400">
            <a:solidFill>
              <a:srgbClr val="DE843B"/>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V="1">
            <a:off x="6515100" y="5076302"/>
            <a:ext cx="720090" cy="104277"/>
          </a:xfrm>
          <a:prstGeom prst="line">
            <a:avLst/>
          </a:prstGeom>
          <a:ln w="25400">
            <a:solidFill>
              <a:srgbClr val="DE843B"/>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V="1">
            <a:off x="7235190" y="4995090"/>
            <a:ext cx="720089" cy="81212"/>
          </a:xfrm>
          <a:prstGeom prst="line">
            <a:avLst/>
          </a:prstGeom>
          <a:ln w="25400">
            <a:solidFill>
              <a:srgbClr val="DE843B"/>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V="1">
            <a:off x="7955279" y="4931842"/>
            <a:ext cx="720091" cy="63248"/>
          </a:xfrm>
          <a:prstGeom prst="line">
            <a:avLst/>
          </a:prstGeom>
          <a:ln w="25400">
            <a:solidFill>
              <a:srgbClr val="DE843B"/>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V="1">
            <a:off x="8675370" y="4882585"/>
            <a:ext cx="720090" cy="49257"/>
          </a:xfrm>
          <a:prstGeom prst="line">
            <a:avLst/>
          </a:prstGeom>
          <a:ln w="25400">
            <a:solidFill>
              <a:srgbClr val="DE843B"/>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V="1">
            <a:off x="9395460" y="4844224"/>
            <a:ext cx="720090" cy="38361"/>
          </a:xfrm>
          <a:prstGeom prst="line">
            <a:avLst/>
          </a:prstGeom>
          <a:ln w="25400">
            <a:solidFill>
              <a:srgbClr val="DE843B"/>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flipV="1">
            <a:off x="10115550" y="4814347"/>
            <a:ext cx="720090" cy="29877"/>
          </a:xfrm>
          <a:prstGeom prst="line">
            <a:avLst/>
          </a:prstGeom>
          <a:ln w="25400">
            <a:solidFill>
              <a:srgbClr val="DE843B"/>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V="1">
            <a:off x="5074920" y="5097780"/>
            <a:ext cx="1440180" cy="388620"/>
          </a:xfrm>
          <a:prstGeom prst="line">
            <a:avLst/>
          </a:prstGeom>
          <a:ln w="25400">
            <a:solidFill>
              <a:srgbClr val="2F6FB2"/>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flipV="1">
            <a:off x="6515100" y="4903470"/>
            <a:ext cx="1440179" cy="194310"/>
          </a:xfrm>
          <a:prstGeom prst="line">
            <a:avLst/>
          </a:prstGeom>
          <a:ln w="25400">
            <a:solidFill>
              <a:srgbClr val="2F6FB2"/>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flipV="1">
            <a:off x="7955279" y="4806315"/>
            <a:ext cx="1440181" cy="97155"/>
          </a:xfrm>
          <a:prstGeom prst="line">
            <a:avLst/>
          </a:prstGeom>
          <a:ln w="25400">
            <a:solidFill>
              <a:srgbClr val="2F6FB2"/>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flipV="1">
            <a:off x="9395460" y="4757737"/>
            <a:ext cx="1440180" cy="48578"/>
          </a:xfrm>
          <a:prstGeom prst="line">
            <a:avLst/>
          </a:prstGeom>
          <a:ln w="25400">
            <a:solidFill>
              <a:srgbClr val="2F6FB2"/>
            </a:solidFill>
          </a:ln>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5166360" y="5623560"/>
            <a:ext cx="5577840" cy="292608"/>
          </a:xfrm>
          <a:prstGeom prst="rect">
            <a:avLst/>
          </a:prstGeom>
          <a:noFill/>
        </p:spPr>
        <p:txBody>
          <a:bodyPr wrap="square" lIns="45720" rIns="45720">
            <a:spAutoFit/>
          </a:bodyPr>
          <a:lstStyle/>
          <a:p>
            <a:pPr algn="ctr">
              <a:defRPr sz="1100" b="0">
                <a:solidFill>
                  <a:srgbClr val="5C6774"/>
                </a:solidFill>
                <a:latin typeface="Noto Sans CJK JP"/>
              </a:defRPr>
            </a:pPr>
            <a:r>
              <a:t>橙: 解析解   青: Euler (h=0.10 s)</a:t>
            </a:r>
          </a:p>
        </p:txBody>
      </p:sp>
      <p:sp>
        <p:nvSpPr>
          <p:cNvPr id="35" name="TextBox 34"/>
          <p:cNvSpPr txBox="1"/>
          <p:nvPr/>
        </p:nvSpPr>
        <p:spPr>
          <a:xfrm>
            <a:off x="10744200" y="6428232"/>
            <a:ext cx="914400" cy="228600"/>
          </a:xfrm>
          <a:prstGeom prst="rect">
            <a:avLst/>
          </a:prstGeom>
          <a:noFill/>
        </p:spPr>
        <p:txBody>
          <a:bodyPr wrap="square" lIns="45720" rIns="45720">
            <a:spAutoFit/>
          </a:bodyPr>
          <a:lstStyle/>
          <a:p>
            <a:pPr algn="r">
              <a:defRPr sz="900" b="0">
                <a:solidFill>
                  <a:srgbClr val="5C6774"/>
                </a:solidFill>
                <a:latin typeface="Noto Sans CJK JP"/>
              </a:defRPr>
            </a:pPr>
            <a:r>
              <a:t>Topic 17  |  3/5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A2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56032"/>
            <a:ext cx="11155680" cy="502920"/>
          </a:xfrm>
          <a:prstGeom prst="rect">
            <a:avLst/>
          </a:prstGeom>
          <a:noFill/>
        </p:spPr>
        <p:txBody>
          <a:bodyPr wrap="none">
            <a:spAutoFit/>
          </a:bodyPr>
          <a:lstStyle/>
          <a:p>
            <a:pPr>
              <a:defRPr sz="2700" b="1">
                <a:solidFill>
                  <a:srgbClr val="1A2B4A"/>
                </a:solidFill>
                <a:latin typeface="Noto Sans CJK JP"/>
              </a:defRPr>
            </a:pPr>
            <a:r>
              <a:t>簡略列車モデルを時間発展させる</a:t>
            </a:r>
          </a:p>
        </p:txBody>
      </p:sp>
      <p:sp>
        <p:nvSpPr>
          <p:cNvPr id="4" name="TextBox 3"/>
          <p:cNvSpPr txBox="1"/>
          <p:nvPr/>
        </p:nvSpPr>
        <p:spPr>
          <a:xfrm>
            <a:off x="530352" y="758952"/>
            <a:ext cx="10972800" cy="347472"/>
          </a:xfrm>
          <a:prstGeom prst="rect">
            <a:avLst/>
          </a:prstGeom>
          <a:noFill/>
        </p:spPr>
        <p:txBody>
          <a:bodyPr wrap="none">
            <a:spAutoFit/>
          </a:bodyPr>
          <a:lstStyle/>
          <a:p>
            <a:pPr>
              <a:defRPr sz="1200">
                <a:solidFill>
                  <a:srgbClr val="5C6774"/>
                </a:solidFill>
                <a:latin typeface="Noto Sans CJK JP"/>
              </a:defRPr>
            </a:pPr>
            <a:r>
              <a:t>実車値ではなく教育用の仮定モデルとして、速度と位置を同時更新</a:t>
            </a:r>
          </a:p>
        </p:txBody>
      </p:sp>
      <p:sp>
        <p:nvSpPr>
          <p:cNvPr id="5" name="Rounded Rectangle 4"/>
          <p:cNvSpPr/>
          <p:nvPr/>
        </p:nvSpPr>
        <p:spPr>
          <a:xfrm>
            <a:off x="548640" y="1170432"/>
            <a:ext cx="4754880" cy="4892040"/>
          </a:xfrm>
          <a:prstGeom prst="roundRect">
            <a:avLst/>
          </a:prstGeom>
          <a:solidFill>
            <a:srgbClr val="FFFFFF"/>
          </a:solidFill>
          <a:ln w="12700">
            <a:solidFill>
              <a:srgbClr val="DFE4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13232" y="1280160"/>
            <a:ext cx="4425696" cy="347472"/>
          </a:xfrm>
          <a:prstGeom prst="rect">
            <a:avLst/>
          </a:prstGeom>
          <a:noFill/>
        </p:spPr>
        <p:txBody>
          <a:bodyPr wrap="none">
            <a:spAutoFit/>
          </a:bodyPr>
          <a:lstStyle/>
          <a:p>
            <a:pPr>
              <a:defRPr sz="1700" b="1">
                <a:solidFill>
                  <a:srgbClr val="1A2B4A"/>
                </a:solidFill>
                <a:latin typeface="Noto Sans CJK JP"/>
              </a:defRPr>
            </a:pPr>
            <a:r>
              <a:t>運動方程式</a:t>
            </a:r>
          </a:p>
        </p:txBody>
      </p:sp>
      <p:sp>
        <p:nvSpPr>
          <p:cNvPr id="7" name="Rounded Rectangle 6"/>
          <p:cNvSpPr/>
          <p:nvPr/>
        </p:nvSpPr>
        <p:spPr>
          <a:xfrm>
            <a:off x="868680" y="1755648"/>
            <a:ext cx="4114800" cy="713232"/>
          </a:xfrm>
          <a:prstGeom prst="roundRect">
            <a:avLst/>
          </a:prstGeom>
          <a:solidFill>
            <a:srgbClr val="F0F5FA"/>
          </a:solidFill>
          <a:ln>
            <a:solidFill>
              <a:srgbClr val="BBC9D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700" b="1">
                <a:solidFill>
                  <a:srgbClr val="1A2B4A"/>
                </a:solidFill>
                <a:latin typeface="Noto Sans Mono CJK JP"/>
              </a:defRPr>
            </a:pPr>
            <a:r>
              <a:t>m dv/dt = Ftraction(v) - Fresistance(v)</a:t>
            </a:r>
          </a:p>
        </p:txBody>
      </p:sp>
      <p:sp>
        <p:nvSpPr>
          <p:cNvPr id="8" name="Rounded Rectangle 7"/>
          <p:cNvSpPr/>
          <p:nvPr/>
        </p:nvSpPr>
        <p:spPr>
          <a:xfrm>
            <a:off x="868680" y="2633472"/>
            <a:ext cx="4114800" cy="713232"/>
          </a:xfrm>
          <a:prstGeom prst="roundRect">
            <a:avLst/>
          </a:prstGeom>
          <a:solidFill>
            <a:srgbClr val="F0F5FA"/>
          </a:solidFill>
          <a:ln>
            <a:solidFill>
              <a:srgbClr val="BBC9D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800" b="1">
                <a:solidFill>
                  <a:srgbClr val="1A2B4A"/>
                </a:solidFill>
                <a:latin typeface="Noto Sans Mono CJK JP"/>
              </a:defRPr>
            </a:pPr>
            <a:r>
              <a:t>dv/dt = 0.5 - 0.0025v</a:t>
            </a:r>
          </a:p>
        </p:txBody>
      </p:sp>
      <p:sp>
        <p:nvSpPr>
          <p:cNvPr id="9" name="Rounded Rectangle 8"/>
          <p:cNvSpPr/>
          <p:nvPr/>
        </p:nvSpPr>
        <p:spPr>
          <a:xfrm>
            <a:off x="868680" y="3511296"/>
            <a:ext cx="4114800" cy="713232"/>
          </a:xfrm>
          <a:prstGeom prst="roundRect">
            <a:avLst/>
          </a:prstGeom>
          <a:solidFill>
            <a:srgbClr val="F0F5FA"/>
          </a:solidFill>
          <a:ln>
            <a:solidFill>
              <a:srgbClr val="BBC9D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000" b="1">
                <a:solidFill>
                  <a:srgbClr val="1A2B4A"/>
                </a:solidFill>
                <a:latin typeface="Noto Sans Mono CJK JP"/>
              </a:defRPr>
            </a:pPr>
            <a:r>
              <a:t>dx/dt = v</a:t>
            </a:r>
          </a:p>
        </p:txBody>
      </p:sp>
      <p:sp>
        <p:nvSpPr>
          <p:cNvPr id="10" name="TextBox 9"/>
          <p:cNvSpPr txBox="1"/>
          <p:nvPr/>
        </p:nvSpPr>
        <p:spPr>
          <a:xfrm>
            <a:off x="868680" y="4498848"/>
            <a:ext cx="4114800" cy="1078992"/>
          </a:xfrm>
          <a:prstGeom prst="rect">
            <a:avLst/>
          </a:prstGeom>
          <a:noFill/>
        </p:spPr>
        <p:txBody>
          <a:bodyPr wrap="square" lIns="54864" rIns="54864" tIns="18288" bIns="18288">
            <a:spAutoFit/>
          </a:bodyPr>
          <a:lstStyle/>
          <a:p>
            <a:pPr>
              <a:spcAft>
                <a:spcPts val="700"/>
              </a:spcAft>
              <a:defRPr sz="1300">
                <a:solidFill>
                  <a:srgbClr val="20252D"/>
                </a:solidFill>
                <a:latin typeface="Noto Sans CJK JP"/>
              </a:defRPr>
            </a:pPr>
            <a:r>
              <a:t>• h=20 s, v(0)=0, x(0)=0</a:t>
            </a:r>
          </a:p>
          <a:p>
            <a:pPr>
              <a:spcAft>
                <a:spcPts val="700"/>
              </a:spcAft>
              <a:defRPr sz="1300">
                <a:solidFill>
                  <a:srgbClr val="20252D"/>
                </a:solidFill>
                <a:latin typeface="Noto Sans CJK JP"/>
              </a:defRPr>
            </a:pPr>
            <a:r>
              <a:t>• 各刻みの始点値 vₙ で速度・位置を更新</a:t>
            </a:r>
          </a:p>
          <a:p>
            <a:pPr>
              <a:spcAft>
                <a:spcPts val="700"/>
              </a:spcAft>
              <a:defRPr sz="1300">
                <a:solidFill>
                  <a:srgbClr val="20252D"/>
                </a:solidFill>
                <a:latin typeface="Noto Sans CJK JP"/>
              </a:defRPr>
            </a:pPr>
            <a:r>
              <a:t>• 係数は教材用仮定値。実車値ではない</a:t>
            </a:r>
          </a:p>
        </p:txBody>
      </p:sp>
      <p:sp>
        <p:nvSpPr>
          <p:cNvPr id="11" name="Rounded Rectangle 10"/>
          <p:cNvSpPr/>
          <p:nvPr/>
        </p:nvSpPr>
        <p:spPr>
          <a:xfrm>
            <a:off x="5532120" y="1170432"/>
            <a:ext cx="6080760" cy="4892040"/>
          </a:xfrm>
          <a:prstGeom prst="roundRect">
            <a:avLst/>
          </a:prstGeom>
          <a:solidFill>
            <a:srgbClr val="FFFFFF"/>
          </a:solidFill>
          <a:ln w="12700">
            <a:solidFill>
              <a:srgbClr val="DFE4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696712" y="1280160"/>
            <a:ext cx="5751576" cy="347472"/>
          </a:xfrm>
          <a:prstGeom prst="rect">
            <a:avLst/>
          </a:prstGeom>
          <a:noFill/>
        </p:spPr>
        <p:txBody>
          <a:bodyPr wrap="none">
            <a:spAutoFit/>
          </a:bodyPr>
          <a:lstStyle/>
          <a:p>
            <a:pPr>
              <a:defRPr sz="1700" b="1">
                <a:solidFill>
                  <a:srgbClr val="1A2B4A"/>
                </a:solidFill>
                <a:latin typeface="Noto Sans CJK JP"/>
              </a:defRPr>
            </a:pPr>
            <a:r>
              <a:t>Euler更新結果</a:t>
            </a:r>
          </a:p>
        </p:txBody>
      </p:sp>
      <p:sp>
        <p:nvSpPr>
          <p:cNvPr id="13" name="Rectangle 12"/>
          <p:cNvSpPr/>
          <p:nvPr/>
        </p:nvSpPr>
        <p:spPr>
          <a:xfrm>
            <a:off x="5806440" y="1792224"/>
            <a:ext cx="1417320" cy="457200"/>
          </a:xfrm>
          <a:prstGeom prst="rect">
            <a:avLst/>
          </a:prstGeom>
          <a:solidFill>
            <a:srgbClr val="1A2B4A"/>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latin typeface="Noto Sans CJK JP"/>
              </a:defRPr>
            </a:pPr>
            <a:r>
              <a:t>時刻</a:t>
            </a:r>
          </a:p>
        </p:txBody>
      </p:sp>
      <p:sp>
        <p:nvSpPr>
          <p:cNvPr id="14" name="Rectangle 13"/>
          <p:cNvSpPr/>
          <p:nvPr/>
        </p:nvSpPr>
        <p:spPr>
          <a:xfrm>
            <a:off x="7452360" y="1792224"/>
            <a:ext cx="1691640" cy="457200"/>
          </a:xfrm>
          <a:prstGeom prst="rect">
            <a:avLst/>
          </a:prstGeom>
          <a:solidFill>
            <a:srgbClr val="1A2B4A"/>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latin typeface="Noto Sans CJK JP"/>
              </a:defRPr>
            </a:pPr>
            <a:r>
              <a:t>速度 v</a:t>
            </a:r>
          </a:p>
        </p:txBody>
      </p:sp>
      <p:sp>
        <p:nvSpPr>
          <p:cNvPr id="15" name="Rectangle 14"/>
          <p:cNvSpPr/>
          <p:nvPr/>
        </p:nvSpPr>
        <p:spPr>
          <a:xfrm>
            <a:off x="9372600" y="1792224"/>
            <a:ext cx="1691640" cy="457200"/>
          </a:xfrm>
          <a:prstGeom prst="rect">
            <a:avLst/>
          </a:prstGeom>
          <a:solidFill>
            <a:srgbClr val="1A2B4A"/>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latin typeface="Noto Sans CJK JP"/>
              </a:defRPr>
            </a:pPr>
            <a:r>
              <a:t>位置 x</a:t>
            </a:r>
          </a:p>
        </p:txBody>
      </p:sp>
      <p:sp>
        <p:nvSpPr>
          <p:cNvPr id="16" name="Rectangle 15"/>
          <p:cNvSpPr/>
          <p:nvPr/>
        </p:nvSpPr>
        <p:spPr>
          <a:xfrm>
            <a:off x="5806440" y="2267712"/>
            <a:ext cx="1417320" cy="548640"/>
          </a:xfrm>
          <a:prstGeom prst="rect">
            <a:avLst/>
          </a:prstGeom>
          <a:solidFill>
            <a:srgbClr val="FFFFFF"/>
          </a:solidFill>
          <a:ln>
            <a:solidFill>
              <a:srgbClr val="DFE4E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a:solidFill>
                  <a:srgbClr val="20252D"/>
                </a:solidFill>
                <a:latin typeface="Noto Sans Mono CJK JP"/>
              </a:defRPr>
            </a:pPr>
            <a:r>
              <a:t>0 s</a:t>
            </a:r>
          </a:p>
        </p:txBody>
      </p:sp>
      <p:sp>
        <p:nvSpPr>
          <p:cNvPr id="17" name="Rectangle 16"/>
          <p:cNvSpPr/>
          <p:nvPr/>
        </p:nvSpPr>
        <p:spPr>
          <a:xfrm>
            <a:off x="7452360" y="2267712"/>
            <a:ext cx="1691640" cy="548640"/>
          </a:xfrm>
          <a:prstGeom prst="rect">
            <a:avLst/>
          </a:prstGeom>
          <a:solidFill>
            <a:srgbClr val="FFFFFF"/>
          </a:solidFill>
          <a:ln>
            <a:solidFill>
              <a:srgbClr val="DFE4E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a:solidFill>
                  <a:srgbClr val="20252D"/>
                </a:solidFill>
                <a:latin typeface="Noto Sans Mono CJK JP"/>
              </a:defRPr>
            </a:pPr>
            <a:r>
              <a:t>0.000 m/s</a:t>
            </a:r>
          </a:p>
        </p:txBody>
      </p:sp>
      <p:sp>
        <p:nvSpPr>
          <p:cNvPr id="18" name="Rectangle 17"/>
          <p:cNvSpPr/>
          <p:nvPr/>
        </p:nvSpPr>
        <p:spPr>
          <a:xfrm>
            <a:off x="9372600" y="2267712"/>
            <a:ext cx="1691640" cy="548640"/>
          </a:xfrm>
          <a:prstGeom prst="rect">
            <a:avLst/>
          </a:prstGeom>
          <a:solidFill>
            <a:srgbClr val="FFFFFF"/>
          </a:solidFill>
          <a:ln>
            <a:solidFill>
              <a:srgbClr val="DFE4E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a:solidFill>
                  <a:srgbClr val="20252D"/>
                </a:solidFill>
                <a:latin typeface="Noto Sans Mono CJK JP"/>
              </a:defRPr>
            </a:pPr>
            <a:r>
              <a:t>0 m</a:t>
            </a:r>
          </a:p>
        </p:txBody>
      </p:sp>
      <p:sp>
        <p:nvSpPr>
          <p:cNvPr id="19" name="Rectangle 18"/>
          <p:cNvSpPr/>
          <p:nvPr/>
        </p:nvSpPr>
        <p:spPr>
          <a:xfrm>
            <a:off x="5806440" y="2871216"/>
            <a:ext cx="1417320" cy="548640"/>
          </a:xfrm>
          <a:prstGeom prst="rect">
            <a:avLst/>
          </a:prstGeom>
          <a:solidFill>
            <a:srgbClr val="F5F7FA"/>
          </a:solidFill>
          <a:ln>
            <a:solidFill>
              <a:srgbClr val="DFE4E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a:solidFill>
                  <a:srgbClr val="20252D"/>
                </a:solidFill>
                <a:latin typeface="Noto Sans Mono CJK JP"/>
              </a:defRPr>
            </a:pPr>
            <a:r>
              <a:t>20 s</a:t>
            </a:r>
          </a:p>
        </p:txBody>
      </p:sp>
      <p:sp>
        <p:nvSpPr>
          <p:cNvPr id="20" name="Rectangle 19"/>
          <p:cNvSpPr/>
          <p:nvPr/>
        </p:nvSpPr>
        <p:spPr>
          <a:xfrm>
            <a:off x="7452360" y="2871216"/>
            <a:ext cx="1691640" cy="548640"/>
          </a:xfrm>
          <a:prstGeom prst="rect">
            <a:avLst/>
          </a:prstGeom>
          <a:solidFill>
            <a:srgbClr val="F5F7FA"/>
          </a:solidFill>
          <a:ln>
            <a:solidFill>
              <a:srgbClr val="DFE4E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a:solidFill>
                  <a:srgbClr val="20252D"/>
                </a:solidFill>
                <a:latin typeface="Noto Sans Mono CJK JP"/>
              </a:defRPr>
            </a:pPr>
            <a:r>
              <a:t>10.000 m/s</a:t>
            </a:r>
          </a:p>
        </p:txBody>
      </p:sp>
      <p:sp>
        <p:nvSpPr>
          <p:cNvPr id="21" name="Rectangle 20"/>
          <p:cNvSpPr/>
          <p:nvPr/>
        </p:nvSpPr>
        <p:spPr>
          <a:xfrm>
            <a:off x="9372600" y="2871216"/>
            <a:ext cx="1691640" cy="548640"/>
          </a:xfrm>
          <a:prstGeom prst="rect">
            <a:avLst/>
          </a:prstGeom>
          <a:solidFill>
            <a:srgbClr val="F5F7FA"/>
          </a:solidFill>
          <a:ln>
            <a:solidFill>
              <a:srgbClr val="DFE4E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a:solidFill>
                  <a:srgbClr val="20252D"/>
                </a:solidFill>
                <a:latin typeface="Noto Sans Mono CJK JP"/>
              </a:defRPr>
            </a:pPr>
            <a:r>
              <a:t>0 m</a:t>
            </a:r>
          </a:p>
        </p:txBody>
      </p:sp>
      <p:sp>
        <p:nvSpPr>
          <p:cNvPr id="22" name="Rectangle 21"/>
          <p:cNvSpPr/>
          <p:nvPr/>
        </p:nvSpPr>
        <p:spPr>
          <a:xfrm>
            <a:off x="5806440" y="3474720"/>
            <a:ext cx="1417320" cy="548640"/>
          </a:xfrm>
          <a:prstGeom prst="rect">
            <a:avLst/>
          </a:prstGeom>
          <a:solidFill>
            <a:srgbClr val="FFFFFF"/>
          </a:solidFill>
          <a:ln>
            <a:solidFill>
              <a:srgbClr val="DFE4E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a:solidFill>
                  <a:srgbClr val="20252D"/>
                </a:solidFill>
                <a:latin typeface="Noto Sans Mono CJK JP"/>
              </a:defRPr>
            </a:pPr>
            <a:r>
              <a:t>40 s</a:t>
            </a:r>
          </a:p>
        </p:txBody>
      </p:sp>
      <p:sp>
        <p:nvSpPr>
          <p:cNvPr id="23" name="Rectangle 22"/>
          <p:cNvSpPr/>
          <p:nvPr/>
        </p:nvSpPr>
        <p:spPr>
          <a:xfrm>
            <a:off x="7452360" y="3474720"/>
            <a:ext cx="1691640" cy="548640"/>
          </a:xfrm>
          <a:prstGeom prst="rect">
            <a:avLst/>
          </a:prstGeom>
          <a:solidFill>
            <a:srgbClr val="FFFFFF"/>
          </a:solidFill>
          <a:ln>
            <a:solidFill>
              <a:srgbClr val="DFE4E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a:solidFill>
                  <a:srgbClr val="20252D"/>
                </a:solidFill>
                <a:latin typeface="Noto Sans Mono CJK JP"/>
              </a:defRPr>
            </a:pPr>
            <a:r>
              <a:t>19.500 m/s</a:t>
            </a:r>
          </a:p>
        </p:txBody>
      </p:sp>
      <p:sp>
        <p:nvSpPr>
          <p:cNvPr id="24" name="Rectangle 23"/>
          <p:cNvSpPr/>
          <p:nvPr/>
        </p:nvSpPr>
        <p:spPr>
          <a:xfrm>
            <a:off x="9372600" y="3474720"/>
            <a:ext cx="1691640" cy="548640"/>
          </a:xfrm>
          <a:prstGeom prst="rect">
            <a:avLst/>
          </a:prstGeom>
          <a:solidFill>
            <a:srgbClr val="FFFFFF"/>
          </a:solidFill>
          <a:ln>
            <a:solidFill>
              <a:srgbClr val="DFE4E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a:solidFill>
                  <a:srgbClr val="20252D"/>
                </a:solidFill>
                <a:latin typeface="Noto Sans Mono CJK JP"/>
              </a:defRPr>
            </a:pPr>
            <a:r>
              <a:t>200 m</a:t>
            </a:r>
          </a:p>
        </p:txBody>
      </p:sp>
      <p:sp>
        <p:nvSpPr>
          <p:cNvPr id="25" name="Rectangle 24"/>
          <p:cNvSpPr/>
          <p:nvPr/>
        </p:nvSpPr>
        <p:spPr>
          <a:xfrm>
            <a:off x="5806440" y="4078224"/>
            <a:ext cx="1417320" cy="548640"/>
          </a:xfrm>
          <a:prstGeom prst="rect">
            <a:avLst/>
          </a:prstGeom>
          <a:solidFill>
            <a:srgbClr val="F5F7FA"/>
          </a:solidFill>
          <a:ln>
            <a:solidFill>
              <a:srgbClr val="DFE4E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a:solidFill>
                  <a:srgbClr val="20252D"/>
                </a:solidFill>
                <a:latin typeface="Noto Sans Mono CJK JP"/>
              </a:defRPr>
            </a:pPr>
            <a:r>
              <a:t>60 s</a:t>
            </a:r>
          </a:p>
        </p:txBody>
      </p:sp>
      <p:sp>
        <p:nvSpPr>
          <p:cNvPr id="26" name="Rectangle 25"/>
          <p:cNvSpPr/>
          <p:nvPr/>
        </p:nvSpPr>
        <p:spPr>
          <a:xfrm>
            <a:off x="7452360" y="4078224"/>
            <a:ext cx="1691640" cy="548640"/>
          </a:xfrm>
          <a:prstGeom prst="rect">
            <a:avLst/>
          </a:prstGeom>
          <a:solidFill>
            <a:srgbClr val="F5F7FA"/>
          </a:solidFill>
          <a:ln>
            <a:solidFill>
              <a:srgbClr val="DFE4E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a:solidFill>
                  <a:srgbClr val="20252D"/>
                </a:solidFill>
                <a:latin typeface="Noto Sans Mono CJK JP"/>
              </a:defRPr>
            </a:pPr>
            <a:r>
              <a:t>28.525 m/s</a:t>
            </a:r>
          </a:p>
        </p:txBody>
      </p:sp>
      <p:sp>
        <p:nvSpPr>
          <p:cNvPr id="27" name="Rectangle 26"/>
          <p:cNvSpPr/>
          <p:nvPr/>
        </p:nvSpPr>
        <p:spPr>
          <a:xfrm>
            <a:off x="9372600" y="4078224"/>
            <a:ext cx="1691640" cy="548640"/>
          </a:xfrm>
          <a:prstGeom prst="rect">
            <a:avLst/>
          </a:prstGeom>
          <a:solidFill>
            <a:srgbClr val="F5F7FA"/>
          </a:solidFill>
          <a:ln>
            <a:solidFill>
              <a:srgbClr val="DFE4E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a:solidFill>
                  <a:srgbClr val="20252D"/>
                </a:solidFill>
                <a:latin typeface="Noto Sans Mono CJK JP"/>
              </a:defRPr>
            </a:pPr>
            <a:r>
              <a:t>590 m</a:t>
            </a:r>
          </a:p>
        </p:txBody>
      </p:sp>
      <p:sp>
        <p:nvSpPr>
          <p:cNvPr id="28" name="Rounded Rectangle 27"/>
          <p:cNvSpPr/>
          <p:nvPr/>
        </p:nvSpPr>
        <p:spPr>
          <a:xfrm>
            <a:off x="5870448" y="4892040"/>
            <a:ext cx="5257800" cy="658368"/>
          </a:xfrm>
          <a:prstGeom prst="roundRect">
            <a:avLst/>
          </a:prstGeom>
          <a:solidFill>
            <a:srgbClr val="F0F5FA"/>
          </a:solidFill>
          <a:ln>
            <a:solidFill>
              <a:srgbClr val="BBC9D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500" b="1">
                <a:solidFill>
                  <a:srgbClr val="1A2B4A"/>
                </a:solidFill>
                <a:latin typeface="Noto Sans Mono CJK JP"/>
              </a:defRPr>
            </a:pPr>
            <a:r>
              <a:t>vₙ₊₁ = vₙ + 20(0.5 - 0.0025vₙ)</a:t>
            </a:r>
          </a:p>
        </p:txBody>
      </p:sp>
      <p:sp>
        <p:nvSpPr>
          <p:cNvPr id="29" name="Rounded Rectangle 28"/>
          <p:cNvSpPr/>
          <p:nvPr/>
        </p:nvSpPr>
        <p:spPr>
          <a:xfrm>
            <a:off x="5870448" y="5614416"/>
            <a:ext cx="5257800" cy="502920"/>
          </a:xfrm>
          <a:prstGeom prst="roundRect">
            <a:avLst/>
          </a:prstGeom>
          <a:solidFill>
            <a:srgbClr val="F0F5FA"/>
          </a:solidFill>
          <a:ln>
            <a:solidFill>
              <a:srgbClr val="BBC9D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500" b="1">
                <a:solidFill>
                  <a:srgbClr val="1A2B4A"/>
                </a:solidFill>
                <a:latin typeface="Noto Sans Mono CJK JP"/>
              </a:defRPr>
            </a:pPr>
            <a:r>
              <a:t>xₙ₊₁ = xₙ + 20vₙ</a:t>
            </a:r>
          </a:p>
        </p:txBody>
      </p:sp>
      <p:sp>
        <p:nvSpPr>
          <p:cNvPr id="30" name="TextBox 29"/>
          <p:cNvSpPr txBox="1"/>
          <p:nvPr/>
        </p:nvSpPr>
        <p:spPr>
          <a:xfrm>
            <a:off x="10744200" y="6428232"/>
            <a:ext cx="914400" cy="228600"/>
          </a:xfrm>
          <a:prstGeom prst="rect">
            <a:avLst/>
          </a:prstGeom>
          <a:noFill/>
        </p:spPr>
        <p:txBody>
          <a:bodyPr wrap="square" lIns="45720" rIns="45720">
            <a:spAutoFit/>
          </a:bodyPr>
          <a:lstStyle/>
          <a:p>
            <a:pPr algn="r">
              <a:defRPr sz="900" b="0">
                <a:solidFill>
                  <a:srgbClr val="5C6774"/>
                </a:solidFill>
                <a:latin typeface="Noto Sans CJK JP"/>
              </a:defRPr>
            </a:pPr>
            <a:r>
              <a:t>Topic 17  |  4/5</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A2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56032"/>
            <a:ext cx="11155680" cy="502920"/>
          </a:xfrm>
          <a:prstGeom prst="rect">
            <a:avLst/>
          </a:prstGeom>
          <a:noFill/>
        </p:spPr>
        <p:txBody>
          <a:bodyPr wrap="none">
            <a:spAutoFit/>
          </a:bodyPr>
          <a:lstStyle/>
          <a:p>
            <a:pPr>
              <a:defRPr sz="2700" b="1">
                <a:solidFill>
                  <a:srgbClr val="1A2B4A"/>
                </a:solidFill>
                <a:latin typeface="Noto Sans CJK JP"/>
              </a:defRPr>
            </a:pPr>
            <a:r>
              <a:t>Runge-Kutta法の概念と試験への接続</a:t>
            </a:r>
          </a:p>
        </p:txBody>
      </p:sp>
      <p:sp>
        <p:nvSpPr>
          <p:cNvPr id="4" name="TextBox 3"/>
          <p:cNvSpPr txBox="1"/>
          <p:nvPr/>
        </p:nvSpPr>
        <p:spPr>
          <a:xfrm>
            <a:off x="530352" y="758952"/>
            <a:ext cx="10972800" cy="347472"/>
          </a:xfrm>
          <a:prstGeom prst="rect">
            <a:avLst/>
          </a:prstGeom>
          <a:noFill/>
        </p:spPr>
        <p:txBody>
          <a:bodyPr wrap="none">
            <a:spAutoFit/>
          </a:bodyPr>
          <a:lstStyle/>
          <a:p>
            <a:pPr>
              <a:defRPr sz="1200">
                <a:solidFill>
                  <a:srgbClr val="5C6774"/>
                </a:solidFill>
                <a:latin typeface="Noto Sans CJK JP"/>
              </a:defRPr>
            </a:pPr>
            <a:r>
              <a:t>本Topicでは概念まで。確認済み第二種過去問は解析的な過渡問題への隣接接続として扱う</a:t>
            </a:r>
          </a:p>
        </p:txBody>
      </p:sp>
      <p:sp>
        <p:nvSpPr>
          <p:cNvPr id="5" name="Rounded Rectangle 4"/>
          <p:cNvSpPr/>
          <p:nvPr/>
        </p:nvSpPr>
        <p:spPr>
          <a:xfrm>
            <a:off x="548640" y="1170432"/>
            <a:ext cx="4892040" cy="4892040"/>
          </a:xfrm>
          <a:prstGeom prst="roundRect">
            <a:avLst/>
          </a:prstGeom>
          <a:solidFill>
            <a:srgbClr val="FFFFFF"/>
          </a:solidFill>
          <a:ln w="12700">
            <a:solidFill>
              <a:srgbClr val="DFE4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13232" y="1280160"/>
            <a:ext cx="4562855" cy="347472"/>
          </a:xfrm>
          <a:prstGeom prst="rect">
            <a:avLst/>
          </a:prstGeom>
          <a:noFill/>
        </p:spPr>
        <p:txBody>
          <a:bodyPr wrap="none">
            <a:spAutoFit/>
          </a:bodyPr>
          <a:lstStyle/>
          <a:p>
            <a:pPr>
              <a:defRPr sz="1700" b="1">
                <a:solidFill>
                  <a:srgbClr val="1A2B4A"/>
                </a:solidFill>
                <a:latin typeface="Noto Sans CJK JP"/>
              </a:defRPr>
            </a:pPr>
            <a:r>
              <a:t>Runge-Kutta法: 1刻みで複数の傾きを見る</a:t>
            </a:r>
          </a:p>
        </p:txBody>
      </p:sp>
      <p:sp>
        <p:nvSpPr>
          <p:cNvPr id="7" name="Rectangle 6"/>
          <p:cNvSpPr/>
          <p:nvPr/>
        </p:nvSpPr>
        <p:spPr>
          <a:xfrm>
            <a:off x="960120" y="4389120"/>
            <a:ext cx="3931920" cy="13716"/>
          </a:xfrm>
          <a:prstGeom prst="rect">
            <a:avLst/>
          </a:prstGeom>
          <a:solidFill>
            <a:srgbClr val="5C67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960120" y="1828800"/>
            <a:ext cx="13716" cy="2560320"/>
          </a:xfrm>
          <a:prstGeom prst="rect">
            <a:avLst/>
          </a:prstGeom>
          <a:solidFill>
            <a:srgbClr val="5C67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9" name="Connector 8"/>
          <p:cNvCxnSpPr/>
          <p:nvPr/>
        </p:nvCxnSpPr>
        <p:spPr>
          <a:xfrm flipV="1">
            <a:off x="960120" y="3611880"/>
            <a:ext cx="685800" cy="320040"/>
          </a:xfrm>
          <a:prstGeom prst="line">
            <a:avLst/>
          </a:prstGeom>
          <a:ln w="30480">
            <a:solidFill>
              <a:srgbClr val="23918D"/>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V="1">
            <a:off x="1645920" y="3246120"/>
            <a:ext cx="685800" cy="365760"/>
          </a:xfrm>
          <a:prstGeom prst="line">
            <a:avLst/>
          </a:prstGeom>
          <a:ln w="30480">
            <a:solidFill>
              <a:srgbClr val="23918D"/>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V="1">
            <a:off x="2331720" y="2926080"/>
            <a:ext cx="685800" cy="320040"/>
          </a:xfrm>
          <a:prstGeom prst="line">
            <a:avLst/>
          </a:prstGeom>
          <a:ln w="30480">
            <a:solidFill>
              <a:srgbClr val="23918D"/>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V="1">
            <a:off x="3017520" y="2670048"/>
            <a:ext cx="685800" cy="256032"/>
          </a:xfrm>
          <a:prstGeom prst="line">
            <a:avLst/>
          </a:prstGeom>
          <a:ln w="30480">
            <a:solidFill>
              <a:srgbClr val="23918D"/>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V="1">
            <a:off x="3703320" y="2496312"/>
            <a:ext cx="685800" cy="173736"/>
          </a:xfrm>
          <a:prstGeom prst="line">
            <a:avLst/>
          </a:prstGeom>
          <a:ln w="30480">
            <a:solidFill>
              <a:srgbClr val="23918D"/>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V="1">
            <a:off x="978408" y="3694176"/>
            <a:ext cx="512064" cy="219456"/>
          </a:xfrm>
          <a:prstGeom prst="line">
            <a:avLst/>
          </a:prstGeom>
          <a:ln w="25400">
            <a:solidFill>
              <a:srgbClr val="DE843B"/>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1069848" y="3483864"/>
            <a:ext cx="457200" cy="256032"/>
          </a:xfrm>
          <a:prstGeom prst="rect">
            <a:avLst/>
          </a:prstGeom>
          <a:noFill/>
        </p:spPr>
        <p:txBody>
          <a:bodyPr wrap="square" lIns="45720" rIns="45720">
            <a:spAutoFit/>
          </a:bodyPr>
          <a:lstStyle/>
          <a:p>
            <a:pPr algn="ctr">
              <a:defRPr sz="1100" b="1">
                <a:solidFill>
                  <a:srgbClr val="DE843B"/>
                </a:solidFill>
                <a:latin typeface="Noto Sans CJK JP"/>
              </a:defRPr>
            </a:pPr>
            <a:r>
              <a:t>k₁</a:t>
            </a:r>
          </a:p>
        </p:txBody>
      </p:sp>
      <p:cxnSp>
        <p:nvCxnSpPr>
          <p:cNvPr id="16" name="Connector 15"/>
          <p:cNvCxnSpPr/>
          <p:nvPr/>
        </p:nvCxnSpPr>
        <p:spPr>
          <a:xfrm flipV="1">
            <a:off x="2075687" y="3136391"/>
            <a:ext cx="512065" cy="219457"/>
          </a:xfrm>
          <a:prstGeom prst="line">
            <a:avLst/>
          </a:prstGeom>
          <a:ln w="25400">
            <a:solidFill>
              <a:srgbClr val="DE843B"/>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2167127" y="2926079"/>
            <a:ext cx="457200" cy="256032"/>
          </a:xfrm>
          <a:prstGeom prst="rect">
            <a:avLst/>
          </a:prstGeom>
          <a:noFill/>
        </p:spPr>
        <p:txBody>
          <a:bodyPr wrap="square" lIns="45720" rIns="45720">
            <a:spAutoFit/>
          </a:bodyPr>
          <a:lstStyle/>
          <a:p>
            <a:pPr algn="ctr">
              <a:defRPr sz="1100" b="1">
                <a:solidFill>
                  <a:srgbClr val="DE843B"/>
                </a:solidFill>
                <a:latin typeface="Noto Sans CJK JP"/>
              </a:defRPr>
            </a:pPr>
            <a:r>
              <a:t>k₂</a:t>
            </a:r>
          </a:p>
        </p:txBody>
      </p:sp>
      <p:cxnSp>
        <p:nvCxnSpPr>
          <p:cNvPr id="18" name="Connector 17"/>
          <p:cNvCxnSpPr/>
          <p:nvPr/>
        </p:nvCxnSpPr>
        <p:spPr>
          <a:xfrm flipV="1">
            <a:off x="2761487" y="2816352"/>
            <a:ext cx="512065" cy="219456"/>
          </a:xfrm>
          <a:prstGeom prst="line">
            <a:avLst/>
          </a:prstGeom>
          <a:ln w="25400">
            <a:solidFill>
              <a:srgbClr val="DE843B"/>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2852927" y="2606040"/>
            <a:ext cx="457200" cy="256032"/>
          </a:xfrm>
          <a:prstGeom prst="rect">
            <a:avLst/>
          </a:prstGeom>
          <a:noFill/>
        </p:spPr>
        <p:txBody>
          <a:bodyPr wrap="square" lIns="45720" rIns="45720">
            <a:spAutoFit/>
          </a:bodyPr>
          <a:lstStyle/>
          <a:p>
            <a:pPr algn="ctr">
              <a:defRPr sz="1100" b="1">
                <a:solidFill>
                  <a:srgbClr val="DE843B"/>
                </a:solidFill>
                <a:latin typeface="Noto Sans CJK JP"/>
              </a:defRPr>
            </a:pPr>
            <a:r>
              <a:t>k₃</a:t>
            </a:r>
          </a:p>
        </p:txBody>
      </p:sp>
      <p:cxnSp>
        <p:nvCxnSpPr>
          <p:cNvPr id="20" name="Connector 19"/>
          <p:cNvCxnSpPr/>
          <p:nvPr/>
        </p:nvCxnSpPr>
        <p:spPr>
          <a:xfrm flipV="1">
            <a:off x="3813048" y="2450591"/>
            <a:ext cx="512064" cy="219457"/>
          </a:xfrm>
          <a:prstGeom prst="line">
            <a:avLst/>
          </a:prstGeom>
          <a:ln w="25400">
            <a:solidFill>
              <a:srgbClr val="DE843B"/>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3904488" y="2240279"/>
            <a:ext cx="457200" cy="256032"/>
          </a:xfrm>
          <a:prstGeom prst="rect">
            <a:avLst/>
          </a:prstGeom>
          <a:noFill/>
        </p:spPr>
        <p:txBody>
          <a:bodyPr wrap="square" lIns="45720" rIns="45720">
            <a:spAutoFit/>
          </a:bodyPr>
          <a:lstStyle/>
          <a:p>
            <a:pPr algn="ctr">
              <a:defRPr sz="1100" b="1">
                <a:solidFill>
                  <a:srgbClr val="DE843B"/>
                </a:solidFill>
                <a:latin typeface="Noto Sans CJK JP"/>
              </a:defRPr>
            </a:pPr>
            <a:r>
              <a:t>k₄</a:t>
            </a:r>
          </a:p>
        </p:txBody>
      </p:sp>
      <p:sp>
        <p:nvSpPr>
          <p:cNvPr id="22" name="TextBox 21"/>
          <p:cNvSpPr txBox="1"/>
          <p:nvPr/>
        </p:nvSpPr>
        <p:spPr>
          <a:xfrm>
            <a:off x="914400" y="4754880"/>
            <a:ext cx="4160520" cy="822960"/>
          </a:xfrm>
          <a:prstGeom prst="rect">
            <a:avLst/>
          </a:prstGeom>
          <a:noFill/>
        </p:spPr>
        <p:txBody>
          <a:bodyPr wrap="square" lIns="45720" rIns="45720">
            <a:spAutoFit/>
          </a:bodyPr>
          <a:lstStyle/>
          <a:p>
            <a:pPr algn="ctr">
              <a:defRPr sz="1500" b="0">
                <a:solidFill>
                  <a:srgbClr val="20252D"/>
                </a:solidFill>
                <a:latin typeface="Noto Sans CJK JP"/>
              </a:defRPr>
            </a:pPr>
            <a:r>
              <a:t>Euler法は始点の傾き1個。</a:t>
            </a:r>
            <a:br/>
            <a:r>
              <a:t>Runge-Kutta法は刻み途中を含む複数の傾きを組み合わせる。</a:t>
            </a:r>
          </a:p>
        </p:txBody>
      </p:sp>
      <p:sp>
        <p:nvSpPr>
          <p:cNvPr id="23" name="TextBox 22"/>
          <p:cNvSpPr txBox="1"/>
          <p:nvPr/>
        </p:nvSpPr>
        <p:spPr>
          <a:xfrm>
            <a:off x="914400" y="5687568"/>
            <a:ext cx="4160520" cy="310896"/>
          </a:xfrm>
          <a:prstGeom prst="rect">
            <a:avLst/>
          </a:prstGeom>
          <a:noFill/>
        </p:spPr>
        <p:txBody>
          <a:bodyPr wrap="square" lIns="45720" rIns="45720">
            <a:spAutoFit/>
          </a:bodyPr>
          <a:lstStyle/>
          <a:p>
            <a:pPr algn="ctr">
              <a:defRPr sz="1300" b="1">
                <a:solidFill>
                  <a:srgbClr val="BA4545"/>
                </a:solidFill>
                <a:latin typeface="Noto Sans CJK JP"/>
              </a:defRPr>
            </a:pPr>
            <a:r>
              <a:t>次数一般論・適応刻み・多段法には広げない。</a:t>
            </a:r>
          </a:p>
        </p:txBody>
      </p:sp>
      <p:sp>
        <p:nvSpPr>
          <p:cNvPr id="24" name="Rounded Rectangle 23"/>
          <p:cNvSpPr/>
          <p:nvPr/>
        </p:nvSpPr>
        <p:spPr>
          <a:xfrm>
            <a:off x="5650992" y="1170432"/>
            <a:ext cx="5961888" cy="4892040"/>
          </a:xfrm>
          <a:prstGeom prst="roundRect">
            <a:avLst/>
          </a:prstGeom>
          <a:solidFill>
            <a:srgbClr val="FFFFFF"/>
          </a:solidFill>
          <a:ln w="12700">
            <a:solidFill>
              <a:srgbClr val="DFE4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815583" y="1280160"/>
            <a:ext cx="5632703" cy="347472"/>
          </a:xfrm>
          <a:prstGeom prst="rect">
            <a:avLst/>
          </a:prstGeom>
          <a:noFill/>
        </p:spPr>
        <p:txBody>
          <a:bodyPr wrap="none">
            <a:spAutoFit/>
          </a:bodyPr>
          <a:lstStyle/>
          <a:p>
            <a:pPr>
              <a:defRPr sz="1700" b="1">
                <a:solidFill>
                  <a:srgbClr val="1A2B4A"/>
                </a:solidFill>
                <a:latin typeface="Noto Sans CJK JP"/>
              </a:defRPr>
            </a:pPr>
            <a:r>
              <a:t>第二種過去問への接続と境界</a:t>
            </a:r>
          </a:p>
        </p:txBody>
      </p:sp>
      <p:sp>
        <p:nvSpPr>
          <p:cNvPr id="26" name="TextBox 25"/>
          <p:cNvSpPr txBox="1"/>
          <p:nvPr/>
        </p:nvSpPr>
        <p:spPr>
          <a:xfrm>
            <a:off x="5961888" y="1719072"/>
            <a:ext cx="5303520" cy="384048"/>
          </a:xfrm>
          <a:prstGeom prst="rect">
            <a:avLst/>
          </a:prstGeom>
          <a:noFill/>
        </p:spPr>
        <p:txBody>
          <a:bodyPr wrap="square" lIns="45720" rIns="45720">
            <a:spAutoFit/>
          </a:bodyPr>
          <a:lstStyle/>
          <a:p>
            <a:pPr algn="l">
              <a:defRPr sz="1600" b="1">
                <a:solidFill>
                  <a:srgbClr val="1A2B4A"/>
                </a:solidFill>
                <a:latin typeface="Noto Sans CJK JP"/>
              </a:defRPr>
            </a:pPr>
            <a:r>
              <a:t>接続確認した一次「理論」5問</a:t>
            </a:r>
          </a:p>
        </p:txBody>
      </p:sp>
      <p:sp>
        <p:nvSpPr>
          <p:cNvPr id="27" name="TextBox 26"/>
          <p:cNvSpPr txBox="1"/>
          <p:nvPr/>
        </p:nvSpPr>
        <p:spPr>
          <a:xfrm>
            <a:off x="5961888" y="2139696"/>
            <a:ext cx="5303520" cy="2103120"/>
          </a:xfrm>
          <a:prstGeom prst="rect">
            <a:avLst/>
          </a:prstGeom>
          <a:noFill/>
        </p:spPr>
        <p:txBody>
          <a:bodyPr wrap="square" lIns="54864" rIns="54864" tIns="18288" bIns="18288">
            <a:spAutoFit/>
          </a:bodyPr>
          <a:lstStyle/>
          <a:p>
            <a:pPr>
              <a:spcAft>
                <a:spcPts val="700"/>
              </a:spcAft>
              <a:defRPr sz="1300">
                <a:solidFill>
                  <a:srgbClr val="20252D"/>
                </a:solidFill>
                <a:latin typeface="Noto Sans CJK JP"/>
              </a:defRPr>
            </a:pPr>
            <a:r>
              <a:t>• R8 問6 (1)〜(2): 一次応答の微分方程式・初期値</a:t>
            </a:r>
          </a:p>
          <a:p>
            <a:pPr>
              <a:spcAft>
                <a:spcPts val="700"/>
              </a:spcAft>
              <a:defRPr sz="1300">
                <a:solidFill>
                  <a:srgbClr val="20252D"/>
                </a:solidFill>
                <a:latin typeface="Noto Sans CJK JP"/>
              </a:defRPr>
            </a:pPr>
            <a:r>
              <a:t>• R7 問6 / R6 問4: 過渡応答・定常値・時定数</a:t>
            </a:r>
          </a:p>
          <a:p>
            <a:pPr>
              <a:spcAft>
                <a:spcPts val="700"/>
              </a:spcAft>
              <a:defRPr sz="1300">
                <a:solidFill>
                  <a:srgbClr val="20252D"/>
                </a:solidFill>
                <a:latin typeface="Noto Sans CJK JP"/>
              </a:defRPr>
            </a:pPr>
            <a:r>
              <a:t>• R5 問5 / R4 問4: RL/RC方程式と初期条件</a:t>
            </a:r>
          </a:p>
          <a:p>
            <a:pPr>
              <a:spcAft>
                <a:spcPts val="700"/>
              </a:spcAft>
              <a:defRPr sz="1300">
                <a:solidFill>
                  <a:srgbClr val="20252D"/>
                </a:solidFill>
                <a:latin typeface="Noto Sans CJK JP"/>
              </a:defRPr>
            </a:pPr>
            <a:r>
              <a:t>• 直接Euler法・Runge-Kutta法を要求する確認済み問題: 0問</a:t>
            </a:r>
          </a:p>
          <a:p>
            <a:pPr>
              <a:spcAft>
                <a:spcPts val="700"/>
              </a:spcAft>
              <a:defRPr sz="1300">
                <a:solidFill>
                  <a:srgbClr val="20252D"/>
                </a:solidFill>
                <a:latin typeface="Noto Sans CJK JP"/>
              </a:defRPr>
            </a:pPr>
            <a:r>
              <a:t>• この5問を固定品質ゲート件数へ水増ししない</a:t>
            </a:r>
          </a:p>
        </p:txBody>
      </p:sp>
      <p:sp>
        <p:nvSpPr>
          <p:cNvPr id="28" name="TextBox 27"/>
          <p:cNvSpPr txBox="1"/>
          <p:nvPr/>
        </p:nvSpPr>
        <p:spPr>
          <a:xfrm>
            <a:off x="5961888" y="4462272"/>
            <a:ext cx="5303520" cy="320040"/>
          </a:xfrm>
          <a:prstGeom prst="rect">
            <a:avLst/>
          </a:prstGeom>
          <a:noFill/>
        </p:spPr>
        <p:txBody>
          <a:bodyPr wrap="square" lIns="45720" rIns="45720">
            <a:spAutoFit/>
          </a:bodyPr>
          <a:lstStyle/>
          <a:p>
            <a:pPr algn="l">
              <a:defRPr sz="1500" b="1">
                <a:solidFill>
                  <a:srgbClr val="BA4545"/>
                </a:solidFill>
                <a:latin typeface="Noto Sans CJK JP"/>
              </a:defRPr>
            </a:pPr>
            <a:r>
              <a:t>頻出ミス</a:t>
            </a:r>
          </a:p>
        </p:txBody>
      </p:sp>
      <p:sp>
        <p:nvSpPr>
          <p:cNvPr id="29" name="TextBox 28"/>
          <p:cNvSpPr txBox="1"/>
          <p:nvPr/>
        </p:nvSpPr>
        <p:spPr>
          <a:xfrm>
            <a:off x="5961888" y="4800600"/>
            <a:ext cx="5303520" cy="1024128"/>
          </a:xfrm>
          <a:prstGeom prst="rect">
            <a:avLst/>
          </a:prstGeom>
          <a:noFill/>
        </p:spPr>
        <p:txBody>
          <a:bodyPr wrap="square" lIns="54864" rIns="54864" tIns="18288" bIns="18288">
            <a:spAutoFit/>
          </a:bodyPr>
          <a:lstStyle/>
          <a:p>
            <a:pPr>
              <a:spcAft>
                <a:spcPts val="700"/>
              </a:spcAft>
              <a:defRPr sz="1200">
                <a:solidFill>
                  <a:srgbClr val="20252D"/>
                </a:solidFill>
                <a:latin typeface="Noto Sans CJK JP"/>
              </a:defRPr>
            </a:pPr>
            <a:r>
              <a:t>• 初期値を入れない</a:t>
            </a:r>
          </a:p>
          <a:p>
            <a:pPr>
              <a:spcAft>
                <a:spcPts val="700"/>
              </a:spcAft>
              <a:defRPr sz="1200">
                <a:solidFill>
                  <a:srgbClr val="20252D"/>
                </a:solidFill>
                <a:latin typeface="Noto Sans CJK JP"/>
              </a:defRPr>
            </a:pPr>
            <a:r>
              <a:t>• hの単位をそろえない</a:t>
            </a:r>
          </a:p>
          <a:p>
            <a:pPr>
              <a:spcAft>
                <a:spcPts val="700"/>
              </a:spcAft>
              <a:defRPr sz="1200">
                <a:solidFill>
                  <a:srgbClr val="20252D"/>
                </a:solidFill>
                <a:latin typeface="Noto Sans CJK JP"/>
              </a:defRPr>
            </a:pPr>
            <a:r>
              <a:t>• 更新時点を混在させる</a:t>
            </a:r>
          </a:p>
          <a:p>
            <a:pPr>
              <a:spcAft>
                <a:spcPts val="700"/>
              </a:spcAft>
              <a:defRPr sz="1200">
                <a:solidFill>
                  <a:srgbClr val="20252D"/>
                </a:solidFill>
                <a:latin typeface="Noto Sans CJK JP"/>
              </a:defRPr>
            </a:pPr>
            <a:r>
              <a:t>• 教育用列車係数を実車値と扱う</a:t>
            </a:r>
          </a:p>
        </p:txBody>
      </p:sp>
      <p:sp>
        <p:nvSpPr>
          <p:cNvPr id="30" name="TextBox 29"/>
          <p:cNvSpPr txBox="1"/>
          <p:nvPr/>
        </p:nvSpPr>
        <p:spPr>
          <a:xfrm>
            <a:off x="10744200" y="6428232"/>
            <a:ext cx="914400" cy="228600"/>
          </a:xfrm>
          <a:prstGeom prst="rect">
            <a:avLst/>
          </a:prstGeom>
          <a:noFill/>
        </p:spPr>
        <p:txBody>
          <a:bodyPr wrap="square" lIns="45720" rIns="45720">
            <a:spAutoFit/>
          </a:bodyPr>
          <a:lstStyle/>
          <a:p>
            <a:pPr algn="r">
              <a:defRPr sz="900" b="0">
                <a:solidFill>
                  <a:srgbClr val="5C6774"/>
                </a:solidFill>
                <a:latin typeface="Noto Sans CJK JP"/>
              </a:defRPr>
            </a:pPr>
            <a:r>
              <a:t>Topic 17  |  5/5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