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0000" y="460000"/>
            <a:ext cx="10950000" cy="5900000"/>
          </a:xfrm>
          <a:prstGeom prst="rect">
            <a:avLst/>
          </a:prstGeom>
          <a:noFill/>
        </p:spPr>
        <p:txBody>
          <a:bodyPr wrap="square" lIns="90000" tIns="90000" rIns="90000" bIns="90000"/>
          <a:lstStyle/>
          <a:p>
            <a:r>
              <a:rPr lang="ja-JP" sz="3000" b="1"/>
              <a:t>運転曲線を微積分で読む</a:t>
            </a:r>
            <a:endParaRPr lang="ja-JP" sz="3000"/>
          </a:p>
          <a:p>
            <a:pPr marL="0" indent="0"/>
            <a:r>
              <a:rPr lang="ja-JP" sz="1800"/>
              <a:t>中心式: v = dx/dt,  a = dv/dt,  a = v dv/dx</a:t>
            </a:r>
            <a:endParaRPr lang="ja-JP" sz="1800"/>
          </a:p>
          <a:p>
            <a:pPr marL="0" indent="0"/>
            <a:r>
              <a:rPr lang="ja-JP" sz="1800"/>
              <a:t>距離: x = ∫v dt　所要時間: t = ∫dx/v(x)　仕事: E = ∫F dx</a:t>
            </a:r>
            <a:endParaRPr lang="ja-JP" sz="1800"/>
          </a:p>
          <a:p>
            <a:pPr marL="0" indent="0"/>
            <a:r>
              <a:rPr lang="ja-JP" sz="1800"/>
              <a:t>x-t の傾き = 速度 / v-t の傾き = 加速度 / v-t の面積 = 距離</a:t>
            </a:r>
            <a:endParaRPr lang="ja-JP" sz="1800"/>
          </a:p>
          <a:p>
            <a:pPr marL="0" indent="0"/>
            <a:r>
              <a:rPr lang="ja-JP" sz="1800"/>
              <a:t>v-x は位置ごとの速度。時間は 1/v(x) を位置で積分する。</a:t>
            </a:r>
            <a:endParaRPr lang="ja-JP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0000" y="460000"/>
            <a:ext cx="10950000" cy="5900000"/>
          </a:xfrm>
          <a:prstGeom prst="rect">
            <a:avLst/>
          </a:prstGeom>
          <a:noFill/>
        </p:spPr>
        <p:txBody>
          <a:bodyPr wrap="square" lIns="90000" tIns="90000" rIns="90000" bIns="90000"/>
          <a:lstStyle/>
          <a:p>
            <a:r>
              <a:rPr lang="ja-JP" sz="3000" b="1"/>
              <a:t>時間領域: F → a → v → x</a:t>
            </a:r>
            <a:endParaRPr lang="ja-JP" sz="3000"/>
          </a:p>
          <a:p>
            <a:pPr marL="0" indent="0"/>
            <a:r>
              <a:rPr lang="ja-JP" sz="1800"/>
              <a:t>F = ma → a(t) = F(t)/m → v(t) = v0 + ∫a dt → x(t) = x0 + ∫v dt</a:t>
            </a:r>
            <a:endParaRPr lang="ja-JP" sz="1800"/>
          </a:p>
          <a:p>
            <a:pPr marL="0" indent="0"/>
            <a:r>
              <a:rPr lang="ja-JP" sz="1800"/>
              <a:t>初期条件 v(0), x(0) を積分定数へ反映し、区間が変われば分けて積分する。</a:t>
            </a:r>
            <a:endParaRPr lang="ja-JP" sz="1800"/>
          </a:p>
          <a:p>
            <a:pPr marL="0" indent="0"/>
            <a:r>
              <a:rPr lang="ja-JP" sz="1800"/>
              <a:t>対応: R5 一次理論 問6 (1)〜(5) / R3 一次理論 問6 (1)〜(5)</a:t>
            </a:r>
            <a:endParaRPr lang="ja-JP" sz="1800"/>
          </a:p>
          <a:p>
            <a:pPr marL="0" indent="0"/>
            <a:r>
              <a:rPr lang="ja-JP" sz="1800"/>
              <a:t>H28 一次理論 問4 (1)〜(3): E=V/l → F=eE → a=F/m*</a:t>
            </a:r>
            <a:endParaRPr lang="ja-JP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0000" y="460000"/>
            <a:ext cx="10950000" cy="5900000"/>
          </a:xfrm>
          <a:prstGeom prst="rect">
            <a:avLst/>
          </a:prstGeom>
          <a:noFill/>
        </p:spPr>
        <p:txBody>
          <a:bodyPr wrap="square" lIns="90000" tIns="90000" rIns="90000" bIns="90000"/>
          <a:lstStyle/>
          <a:p>
            <a:r>
              <a:rPr lang="ja-JP" sz="3000" b="1"/>
              <a:t>位置領域: a = v dv/dx</a:t>
            </a:r>
            <a:endParaRPr lang="ja-JP" sz="3000"/>
          </a:p>
          <a:p>
            <a:pPr marL="0" indent="0"/>
            <a:r>
              <a:rPr lang="ja-JP" sz="1800"/>
              <a:t>連鎖律: a = dv/dt = (dv/dx)(dx/dt) = v dv/dx</a:t>
            </a:r>
            <a:endParaRPr lang="ja-JP" sz="1800"/>
          </a:p>
          <a:p>
            <a:pPr marL="0" indent="0"/>
            <a:r>
              <a:rPr lang="ja-JP" sz="1800"/>
              <a:t>速度―位置曲線 v(x) から所要時間: t = ∫ dx / v(x)</a:t>
            </a:r>
            <a:endParaRPr lang="ja-JP" sz="1800"/>
          </a:p>
          <a:p>
            <a:pPr marL="0" indent="0"/>
            <a:r>
              <a:rPr lang="ja-JP" sz="1800"/>
              <a:t>速度―時間曲線 v(t) から距離: x = ∫ v dt</a:t>
            </a:r>
            <a:endParaRPr lang="ja-JP" sz="1800"/>
          </a:p>
          <a:p>
            <a:pPr marL="0" indent="0"/>
            <a:r>
              <a:rPr lang="ja-JP" sz="1800"/>
              <a:t>v=0 を含む端点では積分可能性と区間設定を確認する。</a:t>
            </a:r>
            <a:endParaRPr lang="ja-JP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0000" y="460000"/>
            <a:ext cx="10950000" cy="5900000"/>
          </a:xfrm>
          <a:prstGeom prst="rect">
            <a:avLst/>
          </a:prstGeom>
          <a:noFill/>
        </p:spPr>
        <p:txBody>
          <a:bodyPr wrap="square" lIns="90000" tIns="90000" rIns="90000" bIns="90000"/>
          <a:lstStyle/>
          <a:p>
            <a:r>
              <a:rPr lang="ja-JP" sz="3000" b="1"/>
              <a:t>仕事・加速・回生エネルギー</a:t>
            </a:r>
            <a:endParaRPr lang="ja-JP" sz="3000"/>
          </a:p>
          <a:p>
            <a:pPr marL="0" indent="0"/>
            <a:r>
              <a:rPr lang="ja-JP" sz="1800"/>
              <a:t>牽引仕事: E = ∫F dx = ∫Fv dt = ∫P dt</a:t>
            </a:r>
            <a:endParaRPr lang="ja-JP" sz="1800"/>
          </a:p>
          <a:p>
            <a:pPr marL="0" indent="0"/>
            <a:r>
              <a:rPr lang="ja-JP" sz="1800"/>
              <a:t>並進: P = Fv　回転: P = Tω。トルク差・力差は加速度へつながる。</a:t>
            </a:r>
            <a:endParaRPr lang="ja-JP" sz="1800"/>
          </a:p>
          <a:p>
            <a:pPr marL="0" indent="0"/>
            <a:r>
              <a:rPr lang="ja-JP" sz="1800"/>
              <a:t>入力エネルギー &gt; 出力・損失なら運動エネルギーが増加し、加速する。</a:t>
            </a:r>
            <a:endParaRPr lang="ja-JP" sz="1800"/>
          </a:p>
          <a:p>
            <a:pPr marL="0" indent="0"/>
            <a:r>
              <a:rPr lang="ja-JP" sz="1800"/>
              <a:t>対応: H25 一次機械 問3 (1) / H23 二次電力・管理 問5 (1)-[A]</a:t>
            </a:r>
            <a:endParaRPr lang="ja-JP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0000" y="460000"/>
            <a:ext cx="10950000" cy="5900000"/>
          </a:xfrm>
          <a:prstGeom prst="rect">
            <a:avLst/>
          </a:prstGeom>
          <a:noFill/>
        </p:spPr>
        <p:txBody>
          <a:bodyPr wrap="square" lIns="90000" tIns="90000" rIns="90000" bIns="90000"/>
          <a:lstStyle/>
          <a:p>
            <a:r>
              <a:rPr lang="ja-JP" sz="3000" b="1"/>
              <a:t>固定EXAM_ALIGNMENT と範囲境界</a:t>
            </a:r>
            <a:endParaRPr lang="ja-JP" sz="3000"/>
          </a:p>
          <a:p>
            <a:pPr marL="0" indent="0"/>
            <a:r>
              <a:rPr lang="ja-JP" sz="1800"/>
              <a:t>R5理論問6: 5項目 / R3理論問6: 5項目 / H28理論問4: 3項目</a:t>
            </a:r>
            <a:endParaRPr lang="ja-JP" sz="1800"/>
          </a:p>
          <a:p>
            <a:pPr marL="0" indent="0"/>
            <a:r>
              <a:rPr lang="ja-JP" sz="1800"/>
              <a:t>H25機械問3: 1項目 / H23二次電力・管理問5: 1項目　合計 15 / 15</a:t>
            </a:r>
            <a:endParaRPr lang="ja-JP" sz="1800"/>
          </a:p>
          <a:p>
            <a:pPr marL="0" indent="0"/>
            <a:r>
              <a:rPr lang="ja-JP" sz="1800"/>
              <a:t>範囲外: 一階・二階ODE一般論、ラプラス変換、伝達関数、半導体移動度、インバータ制御、ガバナ特性</a:t>
            </a:r>
            <a:endParaRPr lang="ja-JP" sz="1800"/>
          </a:p>
          <a:p>
            <a:pPr marL="0" indent="0"/>
            <a:r>
              <a:rPr lang="ja-JP" sz="1800"/>
              <a:t>実在ダイヤと詳細な実車運転曲線を区別。未確認の実車値・回生効率は追加しない。</a:t>
            </a:r>
            <a:endParaRPr lang="ja-JP" sz="1800"/>
          </a:p>
        </p:txBody>
      </p:sp>
    </p:spTree>
  </p:cSld>
  <p:clrMapOvr>
    <a:masterClrMapping/>
  </p:clrMapOvr>
</p:sld>
</file>