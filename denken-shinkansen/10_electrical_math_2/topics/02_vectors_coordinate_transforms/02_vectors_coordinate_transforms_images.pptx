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250000" y="90000"/>
            <a:ext cx="6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800" b="1">
                <a:solidFill>
                  <a:srgbClr val="06B6D4"/>
                </a:solidFill>
                <a:latin typeface="Noto Sans CJK JP"/>
                <a:ea typeface="Noto Sans CJK JP"/>
              </a:rPr>
              <a:t>02</a:t>
            </a:r>
            <a:endParaRPr lang="ja-JP" sz="1800"/>
          </a:p>
        </p:txBody>
      </p:sp>
      <p:sp>
        <p:nvSpPr>
          <p:cNvPr id="4" name="TextBox 4"/>
          <p:cNvSpPr txBox="1"/>
          <p:nvPr/>
        </p:nvSpPr>
        <p:spPr>
          <a:xfrm>
            <a:off x="900000" y="70000"/>
            <a:ext cx="100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2200" b="1">
                <a:solidFill>
                  <a:srgbClr val="FFFFFF"/>
                </a:solidFill>
                <a:latin typeface="Noto Sans CJK JP"/>
                <a:ea typeface="Noto Sans CJK JP"/>
              </a:rPr>
              <a:t>ベクトルは成分まで落として使う</a:t>
            </a:r>
            <a:endParaRPr lang="ja-JP" sz="2200"/>
          </a:p>
        </p:txBody>
      </p:sp>
      <p:sp>
        <p:nvSpPr>
          <p:cNvPr id="5" name="Shape 5"/>
          <p:cNvSpPr/>
          <p:nvPr/>
        </p:nvSpPr>
        <p:spPr>
          <a:xfrm>
            <a:off x="350000" y="900000"/>
            <a:ext cx="5300000" cy="52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50000" y="1100000"/>
            <a:ext cx="17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300" b="1">
                <a:solidFill>
                  <a:srgbClr val="2563EB"/>
                </a:solidFill>
                <a:latin typeface="Noto Sans CJK JP"/>
                <a:ea typeface="Noto Sans CJK JP"/>
              </a:rPr>
              <a:t>成分表示</a:t>
            </a:r>
            <a:endParaRPr lang="ja-JP" sz="1300"/>
          </a:p>
        </p:txBody>
      </p:sp>
      <p:sp>
        <p:nvSpPr>
          <p:cNvPr id="7" name="TextBox 7"/>
          <p:cNvSpPr txBox="1"/>
          <p:nvPr/>
        </p:nvSpPr>
        <p:spPr>
          <a:xfrm>
            <a:off x="700000" y="1750000"/>
            <a:ext cx="4400000" cy="4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2200" b="1">
                <a:solidFill>
                  <a:srgbClr val="12263F"/>
                </a:solidFill>
                <a:latin typeface="Noto Sans CJK JP"/>
                <a:ea typeface="Noto Sans CJK JP"/>
              </a:rPr>
              <a:t>v = vx ex + vy ey + vz ez</a:t>
            </a:r>
            <a:endParaRPr lang="ja-JP" sz="2200"/>
          </a:p>
        </p:txBody>
      </p:sp>
      <p:sp>
        <p:nvSpPr>
          <p:cNvPr id="8" name="TextBox 8"/>
          <p:cNvSpPr txBox="1"/>
          <p:nvPr/>
        </p:nvSpPr>
        <p:spPr>
          <a:xfrm>
            <a:off x="700000" y="2350000"/>
            <a:ext cx="44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800" b="1">
                <a:solidFill>
                  <a:srgbClr val="0F172A"/>
                </a:solidFill>
                <a:latin typeface="Noto Sans CJK JP"/>
                <a:ea typeface="Noto Sans CJK JP"/>
              </a:rPr>
              <a:t>|v| = √(vx²+vy²+vz²)</a:t>
            </a:r>
            <a:endParaRPr lang="ja-JP" sz="1800"/>
          </a:p>
        </p:txBody>
      </p:sp>
      <p:sp>
        <p:nvSpPr>
          <p:cNvPr id="9" name="TextBox 9"/>
          <p:cNvSpPr txBox="1"/>
          <p:nvPr/>
        </p:nvSpPr>
        <p:spPr>
          <a:xfrm>
            <a:off x="700000" y="2850000"/>
            <a:ext cx="44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</a:rPr>
              <a:t>単位ベクトル = v / |v|</a:t>
            </a:r>
            <a:endParaRPr lang="ja-JP" sz="1700"/>
          </a:p>
        </p:txBody>
      </p:sp>
      <p:sp>
        <p:nvSpPr>
          <p:cNvPr id="10" name="TextBox 10"/>
          <p:cNvSpPr txBox="1"/>
          <p:nvPr/>
        </p:nvSpPr>
        <p:spPr>
          <a:xfrm>
            <a:off x="700000" y="3550000"/>
            <a:ext cx="44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450">
                <a:solidFill>
                  <a:srgbClr val="475569"/>
                </a:solidFill>
                <a:latin typeface="Noto Sans CJK JP"/>
                <a:ea typeface="Noto Sans CJK JP"/>
              </a:rPr>
              <a:t>基底 ex, ey, ez は方向。vx, vy, vz は成分。</a:t>
            </a:r>
            <a:endParaRPr lang="ja-JP" sz="1450"/>
          </a:p>
        </p:txBody>
      </p:sp>
      <p:sp>
        <p:nvSpPr>
          <p:cNvPr id="11" name="Shape 11"/>
          <p:cNvSpPr/>
          <p:nvPr/>
        </p:nvSpPr>
        <p:spPr>
          <a:xfrm>
            <a:off x="6000000" y="900000"/>
            <a:ext cx="5800000" cy="52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300000" y="1150000"/>
            <a:ext cx="30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600" b="1">
                <a:solidFill>
                  <a:srgbClr val="12263F"/>
                </a:solidFill>
                <a:latin typeface="Noto Sans CJK JP"/>
                <a:ea typeface="Noto Sans CJK JP"/>
              </a:rPr>
              <a:t>本試験でやること</a:t>
            </a:r>
            <a:endParaRPr lang="ja-JP" sz="1600"/>
          </a:p>
        </p:txBody>
      </p:sp>
      <p:sp>
        <p:nvSpPr>
          <p:cNvPr id="13" name="TextBox 13"/>
          <p:cNvSpPr txBox="1"/>
          <p:nvPr/>
        </p:nvSpPr>
        <p:spPr>
          <a:xfrm>
            <a:off x="6350000" y="1800000"/>
            <a:ext cx="49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600" b="1">
                <a:solidFill>
                  <a:srgbClr val="12263F"/>
                </a:solidFill>
                <a:latin typeface="Noto Sans CJK JP"/>
                <a:ea typeface="Noto Sans CJK JP"/>
              </a:rPr>
              <a:t>1  座標系と正方向を固定</a:t>
            </a:r>
            <a:endParaRPr lang="ja-JP" sz="1600"/>
          </a:p>
        </p:txBody>
      </p:sp>
      <p:sp>
        <p:nvSpPr>
          <p:cNvPr id="14" name="TextBox 14"/>
          <p:cNvSpPr txBox="1"/>
          <p:nvPr/>
        </p:nvSpPr>
        <p:spPr>
          <a:xfrm>
            <a:off x="6350000" y="2450000"/>
            <a:ext cx="49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600" b="1">
                <a:solidFill>
                  <a:srgbClr val="12263F"/>
                </a:solidFill>
                <a:latin typeface="Noto Sans CJK JP"/>
                <a:ea typeface="Noto Sans CJK JP"/>
              </a:rPr>
              <a:t>2  ベクトルを成分化</a:t>
            </a:r>
            <a:endParaRPr lang="ja-JP" sz="1600"/>
          </a:p>
        </p:txBody>
      </p:sp>
      <p:sp>
        <p:nvSpPr>
          <p:cNvPr id="15" name="TextBox 15"/>
          <p:cNvSpPr txBox="1"/>
          <p:nvPr/>
        </p:nvSpPr>
        <p:spPr>
          <a:xfrm>
            <a:off x="6350000" y="3100000"/>
            <a:ext cx="5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550" b="1">
                <a:solidFill>
                  <a:srgbClr val="12263F"/>
                </a:solidFill>
                <a:latin typeface="Noto Sans CJK JP"/>
                <a:ea typeface="Noto Sans CJK JP"/>
              </a:rPr>
              <a:t>3  必要方向へ射影して成分を取り出す</a:t>
            </a:r>
            <a:endParaRPr lang="ja-JP" sz="1550"/>
          </a:p>
        </p:txBody>
      </p:sp>
      <p:sp>
        <p:nvSpPr>
          <p:cNvPr id="16" name="TextBox 16"/>
          <p:cNvSpPr txBox="1"/>
          <p:nvPr/>
        </p:nvSpPr>
        <p:spPr>
          <a:xfrm>
            <a:off x="6350000" y="3850000"/>
            <a:ext cx="49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600" b="1">
                <a:solidFill>
                  <a:srgbClr val="12263F"/>
                </a:solidFill>
                <a:latin typeface="Noto Sans CJK JP"/>
                <a:ea typeface="Noto Sans CJK JP"/>
              </a:rPr>
              <a:t>4  符号と単位を検算</a:t>
            </a:r>
            <a:endParaRPr lang="ja-JP" sz="1600"/>
          </a:p>
        </p:txBody>
      </p:sp>
      <p:sp>
        <p:nvSpPr>
          <p:cNvPr id="17" name="TextBox 17"/>
          <p:cNvSpPr txBox="1"/>
          <p:nvPr/>
        </p:nvSpPr>
        <p:spPr>
          <a:xfrm>
            <a:off x="6350000" y="5000000"/>
            <a:ext cx="4900000" cy="4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450" b="1">
                <a:solidFill>
                  <a:srgbClr val="EA580C"/>
                </a:solidFill>
                <a:latin typeface="Noto Sans CJK JP"/>
                <a:ea typeface="Noto Sans CJK JP"/>
              </a:rPr>
              <a:t>対応: R8 理論 問1 / R1 理論 問5</a:t>
            </a:r>
            <a:endParaRPr lang="ja-JP" sz="14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250000" y="90000"/>
            <a:ext cx="6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800" b="1">
                <a:solidFill>
                  <a:srgbClr val="06B6D4"/>
                </a:solidFill>
                <a:latin typeface="Noto Sans CJK JP"/>
                <a:ea typeface="Noto Sans CJK JP"/>
              </a:rPr>
              <a:t>02</a:t>
            </a:r>
            <a:endParaRPr lang="ja-JP" sz="1800"/>
          </a:p>
        </p:txBody>
      </p:sp>
      <p:sp>
        <p:nvSpPr>
          <p:cNvPr id="4" name="TextBox 4"/>
          <p:cNvSpPr txBox="1"/>
          <p:nvPr/>
        </p:nvSpPr>
        <p:spPr>
          <a:xfrm>
            <a:off x="900000" y="70000"/>
            <a:ext cx="100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2200" b="1">
                <a:solidFill>
                  <a:srgbClr val="FFFFFF"/>
                </a:solidFill>
                <a:latin typeface="Noto Sans CJK JP"/>
                <a:ea typeface="Noto Sans CJK JP"/>
              </a:rPr>
              <a:t>内積で射影、外積で方向を決める</a:t>
            </a:r>
            <a:endParaRPr lang="ja-JP" sz="2200"/>
          </a:p>
        </p:txBody>
      </p:sp>
      <p:sp>
        <p:nvSpPr>
          <p:cNvPr id="5" name="Shape 5"/>
          <p:cNvSpPr/>
          <p:nvPr/>
        </p:nvSpPr>
        <p:spPr>
          <a:xfrm>
            <a:off x="350000" y="900000"/>
            <a:ext cx="5600000" cy="52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50000" y="1100000"/>
            <a:ext cx="19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400" b="1">
                <a:solidFill>
                  <a:srgbClr val="2563EB"/>
                </a:solidFill>
                <a:latin typeface="Noto Sans CJK JP"/>
                <a:ea typeface="Noto Sans CJK JP"/>
              </a:rPr>
              <a:t>内積 = 射影</a:t>
            </a:r>
            <a:endParaRPr lang="ja-JP" sz="1400"/>
          </a:p>
        </p:txBody>
      </p:sp>
      <p:sp>
        <p:nvSpPr>
          <p:cNvPr id="7" name="TextBox 7"/>
          <p:cNvSpPr txBox="1"/>
          <p:nvPr/>
        </p:nvSpPr>
        <p:spPr>
          <a:xfrm>
            <a:off x="650000" y="1800000"/>
            <a:ext cx="5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2200" b="1">
                <a:solidFill>
                  <a:srgbClr val="12263F"/>
                </a:solidFill>
                <a:latin typeface="Noto Sans CJK JP"/>
                <a:ea typeface="Noto Sans CJK JP"/>
              </a:rPr>
              <a:t>a・b = |a||b|cosθ</a:t>
            </a:r>
            <a:endParaRPr lang="ja-JP" sz="2200"/>
          </a:p>
        </p:txBody>
      </p:sp>
      <p:sp>
        <p:nvSpPr>
          <p:cNvPr id="8" name="TextBox 8"/>
          <p:cNvSpPr txBox="1"/>
          <p:nvPr/>
        </p:nvSpPr>
        <p:spPr>
          <a:xfrm>
            <a:off x="650000" y="2500000"/>
            <a:ext cx="500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900" b="1">
                <a:solidFill>
                  <a:srgbClr val="06B6D4"/>
                </a:solidFill>
                <a:latin typeface="Noto Sans CJK JP"/>
                <a:ea typeface="Noto Sans CJK JP"/>
              </a:rPr>
              <a:t>an = a・n</a:t>
            </a:r>
            <a:endParaRPr lang="ja-JP" sz="1900"/>
          </a:p>
        </p:txBody>
      </p:sp>
      <p:sp>
        <p:nvSpPr>
          <p:cNvPr id="9" name="TextBox 9"/>
          <p:cNvSpPr txBox="1"/>
          <p:nvPr/>
        </p:nvSpPr>
        <p:spPr>
          <a:xfrm>
            <a:off x="650000" y="3400000"/>
            <a:ext cx="5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450">
                <a:solidFill>
                  <a:srgbClr val="475569"/>
                </a:solidFill>
                <a:latin typeface="Noto Sans CJK JP"/>
                <a:ea typeface="Noto Sans CJK JP"/>
              </a:rPr>
              <a:t>cosθ は「その方向へどれだけ乗るか」</a:t>
            </a:r>
            <a:endParaRPr lang="ja-JP" sz="1450"/>
          </a:p>
        </p:txBody>
      </p:sp>
      <p:sp>
        <p:nvSpPr>
          <p:cNvPr id="10" name="Shape 10"/>
          <p:cNvSpPr/>
          <p:nvPr/>
        </p:nvSpPr>
        <p:spPr>
          <a:xfrm>
            <a:off x="6250000" y="900000"/>
            <a:ext cx="5600000" cy="52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550000" y="1100000"/>
            <a:ext cx="2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400" b="1">
                <a:solidFill>
                  <a:srgbClr val="EA580C"/>
                </a:solidFill>
                <a:latin typeface="Noto Sans CJK JP"/>
                <a:ea typeface="Noto Sans CJK JP"/>
              </a:rPr>
              <a:t>外積 = 向きと大きさ</a:t>
            </a:r>
            <a:endParaRPr lang="ja-JP" sz="1400"/>
          </a:p>
        </p:txBody>
      </p:sp>
      <p:sp>
        <p:nvSpPr>
          <p:cNvPr id="12" name="TextBox 12"/>
          <p:cNvSpPr txBox="1"/>
          <p:nvPr/>
        </p:nvSpPr>
        <p:spPr>
          <a:xfrm>
            <a:off x="6550000" y="1800000"/>
            <a:ext cx="5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2200" b="1">
                <a:solidFill>
                  <a:srgbClr val="12263F"/>
                </a:solidFill>
                <a:latin typeface="Noto Sans CJK JP"/>
                <a:ea typeface="Noto Sans CJK JP"/>
              </a:rPr>
              <a:t>F = q(v × B)</a:t>
            </a:r>
            <a:endParaRPr lang="ja-JP" sz="2200"/>
          </a:p>
        </p:txBody>
      </p:sp>
      <p:sp>
        <p:nvSpPr>
          <p:cNvPr id="13" name="TextBox 13"/>
          <p:cNvSpPr txBox="1"/>
          <p:nvPr/>
        </p:nvSpPr>
        <p:spPr>
          <a:xfrm>
            <a:off x="6550000" y="2500000"/>
            <a:ext cx="500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900" b="1">
                <a:solidFill>
                  <a:srgbClr val="0F172A"/>
                </a:solidFill>
                <a:latin typeface="Noto Sans CJK JP"/>
                <a:ea typeface="Noto Sans CJK JP"/>
              </a:rPr>
              <a:t>|v×B| = |v||B|sinθ</a:t>
            </a:r>
            <a:endParaRPr lang="ja-JP" sz="1900"/>
          </a:p>
        </p:txBody>
      </p:sp>
      <p:sp>
        <p:nvSpPr>
          <p:cNvPr id="14" name="TextBox 14"/>
          <p:cNvSpPr txBox="1"/>
          <p:nvPr/>
        </p:nvSpPr>
        <p:spPr>
          <a:xfrm>
            <a:off x="6550000" y="3350000"/>
            <a:ext cx="50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450" b="1">
                <a:solidFill>
                  <a:srgbClr val="DC2626"/>
                </a:solidFill>
                <a:latin typeface="Noto Sans CJK JP"/>
                <a:ea typeface="Noto Sans CJK JP"/>
              </a:rPr>
              <a:t>右手則で v×B を決める。q&lt;0 なら力 F は反転。</a:t>
            </a:r>
            <a:endParaRPr lang="ja-JP" sz="1450"/>
          </a:p>
        </p:txBody>
      </p:sp>
      <p:sp>
        <p:nvSpPr>
          <p:cNvPr id="15" name="TextBox 15"/>
          <p:cNvSpPr txBox="1"/>
          <p:nvPr/>
        </p:nvSpPr>
        <p:spPr>
          <a:xfrm>
            <a:off x="6550000" y="5000000"/>
            <a:ext cx="5000000" cy="4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450" b="1">
                <a:solidFill>
                  <a:srgbClr val="EA580C"/>
                </a:solidFill>
                <a:latin typeface="Noto Sans CJK JP"/>
                <a:ea typeface="Noto Sans CJK JP"/>
              </a:rPr>
              <a:t>対応: R8 理論 問2 / R7 理論 問7</a:t>
            </a:r>
            <a:endParaRPr lang="ja-JP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250000" y="90000"/>
            <a:ext cx="6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800" b="1">
                <a:solidFill>
                  <a:srgbClr val="06B6D4"/>
                </a:solidFill>
                <a:latin typeface="Noto Sans CJK JP"/>
                <a:ea typeface="Noto Sans CJK JP"/>
              </a:rPr>
              <a:t>02</a:t>
            </a:r>
            <a:endParaRPr lang="ja-JP" sz="1800"/>
          </a:p>
        </p:txBody>
      </p:sp>
      <p:sp>
        <p:nvSpPr>
          <p:cNvPr id="4" name="TextBox 4"/>
          <p:cNvSpPr txBox="1"/>
          <p:nvPr/>
        </p:nvSpPr>
        <p:spPr>
          <a:xfrm>
            <a:off x="900000" y="70000"/>
            <a:ext cx="100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2200" b="1">
                <a:solidFill>
                  <a:srgbClr val="FFFFFF"/>
                </a:solidFill>
                <a:latin typeface="Noto Sans CJK JP"/>
                <a:ea typeface="Noto Sans CJK JP"/>
              </a:rPr>
              <a:t>本試験は「成分化 → 必要成分だけ残す」</a:t>
            </a:r>
            <a:endParaRPr lang="ja-JP" sz="2200"/>
          </a:p>
        </p:txBody>
      </p:sp>
      <p:sp>
        <p:nvSpPr>
          <p:cNvPr id="5" name="Shape 5"/>
          <p:cNvSpPr/>
          <p:nvPr/>
        </p:nvSpPr>
        <p:spPr>
          <a:xfrm>
            <a:off x="350000" y="900000"/>
            <a:ext cx="6500000" cy="52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50000" y="1100000"/>
            <a:ext cx="27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400" b="1">
                <a:solidFill>
                  <a:srgbClr val="2563EB"/>
                </a:solidFill>
                <a:latin typeface="Noto Sans CJK JP"/>
                <a:ea typeface="Noto Sans CJK JP"/>
              </a:rPr>
              <a:t>標準解法アルゴリズム</a:t>
            </a:r>
            <a:endParaRPr lang="ja-JP" sz="1400"/>
          </a:p>
        </p:txBody>
      </p:sp>
      <p:sp>
        <p:nvSpPr>
          <p:cNvPr id="7" name="TextBox 7"/>
          <p:cNvSpPr txBox="1"/>
          <p:nvPr/>
        </p:nvSpPr>
        <p:spPr>
          <a:xfrm>
            <a:off x="700000" y="1700000"/>
            <a:ext cx="5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500" b="1">
                <a:solidFill>
                  <a:srgbClr val="12263F"/>
                </a:solidFill>
                <a:latin typeface="Noto Sans CJK JP"/>
                <a:ea typeface="Noto Sans CJK JP"/>
              </a:rPr>
              <a:t>1  座標系と正方向を固定</a:t>
            </a:r>
            <a:endParaRPr lang="ja-JP" sz="1500"/>
          </a:p>
        </p:txBody>
      </p:sp>
      <p:sp>
        <p:nvSpPr>
          <p:cNvPr id="8" name="TextBox 8"/>
          <p:cNvSpPr txBox="1"/>
          <p:nvPr/>
        </p:nvSpPr>
        <p:spPr>
          <a:xfrm>
            <a:off x="700000" y="2300000"/>
            <a:ext cx="5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500" b="1">
                <a:solidFill>
                  <a:srgbClr val="12263F"/>
                </a:solidFill>
                <a:latin typeface="Noto Sans CJK JP"/>
                <a:ea typeface="Noto Sans CJK JP"/>
              </a:rPr>
              <a:t>2  ベクトルを成分化</a:t>
            </a:r>
            <a:endParaRPr lang="ja-JP" sz="1500"/>
          </a:p>
        </p:txBody>
      </p:sp>
      <p:sp>
        <p:nvSpPr>
          <p:cNvPr id="9" name="TextBox 9"/>
          <p:cNvSpPr txBox="1"/>
          <p:nvPr/>
        </p:nvSpPr>
        <p:spPr>
          <a:xfrm>
            <a:off x="700000" y="2900000"/>
            <a:ext cx="5600000" cy="5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450" b="1">
                <a:solidFill>
                  <a:srgbClr val="12263F"/>
                </a:solidFill>
                <a:latin typeface="Noto Sans CJK JP"/>
                <a:ea typeface="Noto Sans CJK JP"/>
              </a:rPr>
              <a:t>3  射影→内積 / 方向→外積 / 座標変更→回転</a:t>
            </a:r>
            <a:endParaRPr lang="ja-JP" sz="1450"/>
          </a:p>
        </p:txBody>
      </p:sp>
      <p:sp>
        <p:nvSpPr>
          <p:cNvPr id="10" name="TextBox 10"/>
          <p:cNvSpPr txBox="1"/>
          <p:nvPr/>
        </p:nvSpPr>
        <p:spPr>
          <a:xfrm>
            <a:off x="700000" y="3650000"/>
            <a:ext cx="5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500" b="1">
                <a:solidFill>
                  <a:srgbClr val="12263F"/>
                </a:solidFill>
                <a:latin typeface="Noto Sans CJK JP"/>
                <a:ea typeface="Noto Sans CJK JP"/>
              </a:rPr>
              <a:t>4  対称性で不要成分を消す</a:t>
            </a:r>
            <a:endParaRPr lang="ja-JP" sz="1500"/>
          </a:p>
        </p:txBody>
      </p:sp>
      <p:sp>
        <p:nvSpPr>
          <p:cNvPr id="11" name="TextBox 11"/>
          <p:cNvSpPr txBox="1"/>
          <p:nvPr/>
        </p:nvSpPr>
        <p:spPr>
          <a:xfrm>
            <a:off x="700000" y="4250000"/>
            <a:ext cx="5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500" b="1">
                <a:solidFill>
                  <a:srgbClr val="12263F"/>
                </a:solidFill>
                <a:latin typeface="Noto Sans CJK JP"/>
                <a:ea typeface="Noto Sans CJK JP"/>
              </a:rPr>
              <a:t>5  符号・単位を検算</a:t>
            </a:r>
            <a:endParaRPr lang="ja-JP" sz="1500"/>
          </a:p>
        </p:txBody>
      </p:sp>
      <p:sp>
        <p:nvSpPr>
          <p:cNvPr id="12" name="Shape 12"/>
          <p:cNvSpPr/>
          <p:nvPr/>
        </p:nvSpPr>
        <p:spPr>
          <a:xfrm>
            <a:off x="7100000" y="900000"/>
            <a:ext cx="4700000" cy="52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400000" y="1100000"/>
            <a:ext cx="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400" b="1">
                <a:solidFill>
                  <a:srgbClr val="06B6D4"/>
                </a:solidFill>
                <a:latin typeface="Noto Sans CJK JP"/>
                <a:ea typeface="Noto Sans CJK JP"/>
              </a:rPr>
              <a:t>120°ベクトル</a:t>
            </a:r>
            <a:endParaRPr lang="ja-JP" sz="1400"/>
          </a:p>
        </p:txBody>
      </p:sp>
      <p:sp>
        <p:nvSpPr>
          <p:cNvPr id="14" name="TextBox 14"/>
          <p:cNvSpPr txBox="1"/>
          <p:nvPr/>
        </p:nvSpPr>
        <p:spPr>
          <a:xfrm>
            <a:off x="7400000" y="1750000"/>
            <a:ext cx="41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450">
                <a:solidFill>
                  <a:srgbClr val="475569"/>
                </a:solidFill>
                <a:latin typeface="Noto Sans CJK JP"/>
                <a:ea typeface="Noto Sans CJK JP"/>
              </a:rPr>
              <a:t>平衡した3本は120°ずつ回転し、幾何学的な合成は0。</a:t>
            </a:r>
            <a:endParaRPr lang="ja-JP" sz="1450"/>
          </a:p>
        </p:txBody>
      </p:sp>
      <p:sp>
        <p:nvSpPr>
          <p:cNvPr id="15" name="TextBox 15"/>
          <p:cNvSpPr txBox="1"/>
          <p:nvPr/>
        </p:nvSpPr>
        <p:spPr>
          <a:xfrm>
            <a:off x="7400000" y="300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350" b="1">
                <a:solidFill>
                  <a:srgbClr val="12263F"/>
                </a:solidFill>
                <a:latin typeface="Noto Sans CJK JP"/>
                <a:ea typeface="Noto Sans CJK JP"/>
              </a:rPr>
              <a:t>R8 問1  射影・成分</a:t>
            </a:r>
            <a:endParaRPr lang="ja-JP" sz="1350"/>
          </a:p>
        </p:txBody>
      </p:sp>
      <p:sp>
        <p:nvSpPr>
          <p:cNvPr id="16" name="TextBox 16"/>
          <p:cNvSpPr txBox="1"/>
          <p:nvPr/>
        </p:nvSpPr>
        <p:spPr>
          <a:xfrm>
            <a:off x="7400000" y="350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350" b="1">
                <a:solidFill>
                  <a:srgbClr val="12263F"/>
                </a:solidFill>
                <a:latin typeface="Noto Sans CJK JP"/>
                <a:ea typeface="Noto Sans CJK JP"/>
              </a:rPr>
              <a:t>R8 問2  外積・対称性</a:t>
            </a:r>
            <a:endParaRPr lang="ja-JP" sz="1350"/>
          </a:p>
        </p:txBody>
      </p:sp>
      <p:sp>
        <p:nvSpPr>
          <p:cNvPr id="17" name="TextBox 17"/>
          <p:cNvSpPr txBox="1"/>
          <p:nvPr/>
        </p:nvSpPr>
        <p:spPr>
          <a:xfrm>
            <a:off x="7400000" y="400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350" b="1">
                <a:solidFill>
                  <a:srgbClr val="12263F"/>
                </a:solidFill>
                <a:latin typeface="Noto Sans CJK JP"/>
                <a:ea typeface="Noto Sans CJK JP"/>
              </a:rPr>
              <a:t>R7 問2  回転・cosθ</a:t>
            </a:r>
            <a:endParaRPr lang="ja-JP" sz="1350"/>
          </a:p>
        </p:txBody>
      </p:sp>
      <p:sp>
        <p:nvSpPr>
          <p:cNvPr id="18" name="TextBox 18"/>
          <p:cNvSpPr txBox="1"/>
          <p:nvPr/>
        </p:nvSpPr>
        <p:spPr>
          <a:xfrm>
            <a:off x="7400000" y="450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350" b="1">
                <a:solidFill>
                  <a:srgbClr val="12263F"/>
                </a:solidFill>
                <a:latin typeface="Noto Sans CJK JP"/>
                <a:ea typeface="Noto Sans CJK JP"/>
              </a:rPr>
              <a:t>R7 問7  q(v×B)</a:t>
            </a:r>
            <a:endParaRPr lang="ja-JP" sz="1350"/>
          </a:p>
        </p:txBody>
      </p:sp>
      <p:sp>
        <p:nvSpPr>
          <p:cNvPr id="19" name="TextBox 19"/>
          <p:cNvSpPr txBox="1"/>
          <p:nvPr/>
        </p:nvSpPr>
        <p:spPr>
          <a:xfrm>
            <a:off x="7400000" y="500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ja-JP" sz="1350" b="1">
                <a:solidFill>
                  <a:srgbClr val="12263F"/>
                </a:solidFill>
                <a:latin typeface="Noto Sans CJK JP"/>
                <a:ea typeface="Noto Sans CJK JP"/>
              </a:rPr>
              <a:t>R1 問5  r と x,y成分</a:t>
            </a:r>
            <a:endParaRPr lang="ja-JP" sz="1350"/>
          </a:p>
        </p:txBody>
      </p:sp>
      <p:sp>
        <p:nvSpPr>
          <p:cNvPr id="20" name="TextBox 20"/>
          <p:cNvSpPr txBox="1"/>
          <p:nvPr/>
        </p:nvSpPr>
        <p:spPr>
          <a:xfrm>
            <a:off x="7400000" y="560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300" b="1">
                <a:solidFill>
                  <a:srgbClr val="DC2626"/>
                </a:solidFill>
                <a:latin typeface="Noto Sans CJK JP"/>
                <a:ea typeface="Noto Sans CJK JP"/>
              </a:rPr>
              <a:t>次: 完成教材だけで5問を独立再解答</a:t>
            </a:r>
            <a:endParaRPr lang="ja-JP" sz="1300"/>
          </a:p>
        </p:txBody>
      </p:sp>
    </p:spTree>
  </p:cSld>
  <p:clrMapOvr>
    <a:masterClrMapping/>
  </p:clrMapOvr>
</p:sld>
</file>