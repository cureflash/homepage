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50000"/>
            <a:ext cx="10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2600" b="1">
                <a:solidFill>
                  <a:srgbClr val="1E2A38"/>
                </a:solidFill>
                <a:latin typeface="Noto Sans CJK JP"/>
                <a:ea typeface="Noto Sans CJK JP"/>
              </a:rPr>
              <a:t>1｜KVL → 連立方程式 → A x = b</a:t>
            </a:r>
            <a:endParaRPr lang="ja-JP" sz="2600"/>
          </a:p>
        </p:txBody>
      </p:sp>
      <p:sp>
        <p:nvSpPr>
          <p:cNvPr id="3" name="Tag"/>
          <p:cNvSpPr txBox="1"/>
          <p:nvPr/>
        </p:nvSpPr>
        <p:spPr>
          <a:xfrm>
            <a:off x="10850000" y="300000"/>
            <a:ext cx="1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ctr"/>
            <a:r>
              <a:rPr lang="ja-JP" sz="1200" b="1">
                <a:solidFill>
                  <a:srgbClr val="2C63A0"/>
                </a:solidFill>
                <a:latin typeface="Noto Sans CJK JP"/>
                <a:ea typeface="Noto Sans CJK JP"/>
              </a:rPr>
              <a:t>R8 問3</a:t>
            </a:r>
            <a:endParaRPr lang="ja-JP" sz="1200"/>
          </a:p>
        </p:txBody>
      </p:sp>
      <p:sp>
        <p:nvSpPr>
          <p:cNvPr id="4" name="Body"/>
          <p:cNvSpPr txBox="1"/>
          <p:nvPr/>
        </p:nvSpPr>
        <p:spPr>
          <a:xfrm>
            <a:off x="550000" y="1200000"/>
            <a:ext cx="110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共有抵抗 r をもつ2閉路：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(R1+r)Ia − rIb = E1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−rIa + (R2+r)Ib = E2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共有枝電流は Ia−Ib。非対角成分 −r はKVLから生じる。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行列表現： [R1+r  −r; −r  R2+r] [Ia;Ib] = [E1;E2]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手順：方向決定 → KVL → 未知数順固定 → Ax=b → 元の式へ代入して検算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接続：R8 問3(1)(2)／R6 問3(1)／R1 問6(5)</a:t>
            </a:r>
            <a:endParaRPr lang="ja-JP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50000"/>
            <a:ext cx="10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2600" b="1">
                <a:solidFill>
                  <a:srgbClr val="1E2A38"/>
                </a:solidFill>
                <a:latin typeface="Noto Sans CJK JP"/>
                <a:ea typeface="Noto Sans CJK JP"/>
              </a:rPr>
              <a:t>2｜閉路電流と枝電流：符号を図から作る</a:t>
            </a:r>
            <a:endParaRPr lang="ja-JP" sz="2600"/>
          </a:p>
        </p:txBody>
      </p:sp>
      <p:sp>
        <p:nvSpPr>
          <p:cNvPr id="3" name="Tag"/>
          <p:cNvSpPr txBox="1"/>
          <p:nvPr/>
        </p:nvSpPr>
        <p:spPr>
          <a:xfrm>
            <a:off x="10850000" y="300000"/>
            <a:ext cx="1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ctr"/>
            <a:r>
              <a:rPr lang="ja-JP" sz="1200" b="1">
                <a:solidFill>
                  <a:srgbClr val="2C63A0"/>
                </a:solidFill>
                <a:latin typeface="Noto Sans CJK JP"/>
                <a:ea typeface="Noto Sans CJK JP"/>
              </a:rPr>
              <a:t>R1 問6</a:t>
            </a:r>
            <a:endParaRPr lang="ja-JP" sz="1200"/>
          </a:p>
        </p:txBody>
      </p:sp>
      <p:sp>
        <p:nvSpPr>
          <p:cNvPr id="4" name="Body"/>
          <p:cNvSpPr txBox="1"/>
          <p:nvPr/>
        </p:nvSpPr>
        <p:spPr>
          <a:xfrm>
            <a:off x="550000" y="1200000"/>
            <a:ext cx="110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共有枝を逆向きに通る閉路電流 I1, I3： Ibranch = I1 − I3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基準方向と両方が逆： Ibranch = −I2 − I3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負の解は計算ミスではない。−2 A なら実際の向きが仮定と逆で 2 A。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閉路電流と共有枝の枝電流を同一視しない。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頻出ミス：矢印なしで符号を暗記／負値を絶対値へ直す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接続：R6 問3(1)(2)／R1 問6(3)(4)(5)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50000"/>
            <a:ext cx="10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2600" b="1">
                <a:solidFill>
                  <a:srgbClr val="1E2A38"/>
                </a:solidFill>
                <a:latin typeface="Noto Sans CJK JP"/>
                <a:ea typeface="Noto Sans CJK JP"/>
              </a:rPr>
              <a:t>3｜KCL → 節点方程式 → アドミタンス行列 I = YV</a:t>
            </a:r>
            <a:endParaRPr lang="ja-JP" sz="2600"/>
          </a:p>
        </p:txBody>
      </p:sp>
      <p:sp>
        <p:nvSpPr>
          <p:cNvPr id="3" name="Tag"/>
          <p:cNvSpPr txBox="1"/>
          <p:nvPr/>
        </p:nvSpPr>
        <p:spPr>
          <a:xfrm>
            <a:off x="10850000" y="300000"/>
            <a:ext cx="1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ctr"/>
            <a:r>
              <a:rPr lang="ja-JP" sz="1200" b="1">
                <a:solidFill>
                  <a:srgbClr val="2C63A0"/>
                </a:solidFill>
                <a:latin typeface="Noto Sans CJK JP"/>
                <a:ea typeface="Noto Sans CJK JP"/>
              </a:rPr>
              <a:t>R4 問3</a:t>
            </a:r>
            <a:endParaRPr lang="ja-JP" sz="1200"/>
          </a:p>
        </p:txBody>
      </p:sp>
      <p:sp>
        <p:nvSpPr>
          <p:cNvPr id="4" name="Body"/>
          <p:cNvSpPr txBox="1"/>
          <p:nvPr/>
        </p:nvSpPr>
        <p:spPr>
          <a:xfrm>
            <a:off x="550000" y="1200000"/>
            <a:ext cx="110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2節点のKCL：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I1=(Y1+Y12)V1 − Y12V2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I2=−Y12V1 + (Y2+Y12)V2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I = [Y1+Y12  −Y12; −Y12  Y2+Y12] V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対角：その節点につながるYの和／非対角：節点間Yの負値。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扱うのは線形な節点方程式を行列へまとめるところまで。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電力潮流詳細、Newton–Raphson法、非線形反復計算は扱わない。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接続：R4 問3(1)(3)／R1 問2(4)</a:t>
            </a:r>
            <a:endParaRPr lang="ja-JP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50000"/>
            <a:ext cx="10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2600" b="1">
                <a:solidFill>
                  <a:srgbClr val="1E2A38"/>
                </a:solidFill>
                <a:latin typeface="Noto Sans CJK JP"/>
                <a:ea typeface="Noto Sans CJK JP"/>
              </a:rPr>
              <a:t>4｜2×2逆行列と複素係数：交流でも同じ手順</a:t>
            </a:r>
            <a:endParaRPr lang="ja-JP" sz="2600"/>
          </a:p>
        </p:txBody>
      </p:sp>
      <p:sp>
        <p:nvSpPr>
          <p:cNvPr id="3" name="Tag"/>
          <p:cNvSpPr txBox="1"/>
          <p:nvPr/>
        </p:nvSpPr>
        <p:spPr>
          <a:xfrm>
            <a:off x="10850000" y="300000"/>
            <a:ext cx="1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ctr"/>
            <a:r>
              <a:rPr lang="ja-JP" sz="1200" b="1">
                <a:solidFill>
                  <a:srgbClr val="2C63A0"/>
                </a:solidFill>
                <a:latin typeface="Noto Sans CJK JP"/>
                <a:ea typeface="Noto Sans CJK JP"/>
              </a:rPr>
              <a:t>R1 問2</a:t>
            </a:r>
            <a:endParaRPr lang="ja-JP" sz="1200"/>
          </a:p>
        </p:txBody>
      </p:sp>
      <p:sp>
        <p:nvSpPr>
          <p:cNvPr id="4" name="Body"/>
          <p:cNvSpPr txBox="1"/>
          <p:nvPr/>
        </p:nvSpPr>
        <p:spPr>
          <a:xfrm>
            <a:off x="550000" y="1200000"/>
            <a:ext cx="110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A=[a b; c d]、ad−bc≠0 のとき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A⁻¹ = 1/(ad−bc) [d −b; −c a]、Ax=b ⇒ x=A⁻¹b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交流定常回路： Z=R+jωL、Y=1/R+jωC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係数が複素数でも Ax=b の演算は同じ。途中で実数部だけにしない。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例：V=(4−j3)E/5 → |V|=E、∠V=−tan⁻¹(3/4)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実効値フェーザなら v(t)=√2E cos(ωt−tan⁻¹(3/4))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接続：R1 問2(3)(4)(5)</a:t>
            </a:r>
            <a:endParaRPr lang="ja-JP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50000"/>
            <a:ext cx="10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2600" b="1">
                <a:solidFill>
                  <a:srgbClr val="1E2A38"/>
                </a:solidFill>
                <a:latin typeface="Noto Sans CJK JP"/>
                <a:ea typeface="Noto Sans CJK JP"/>
              </a:rPr>
              <a:t>5｜本試験フローと固定EXAM_ALIGNMENT 5問・12設問</a:t>
            </a:r>
            <a:endParaRPr lang="ja-JP" sz="2600"/>
          </a:p>
        </p:txBody>
      </p:sp>
      <p:sp>
        <p:nvSpPr>
          <p:cNvPr id="3" name="Tag"/>
          <p:cNvSpPr txBox="1"/>
          <p:nvPr/>
        </p:nvSpPr>
        <p:spPr>
          <a:xfrm>
            <a:off x="10850000" y="300000"/>
            <a:ext cx="1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ctr"/>
            <a:r>
              <a:rPr lang="ja-JP" sz="1200" b="1">
                <a:solidFill>
                  <a:srgbClr val="2C63A0"/>
                </a:solidFill>
                <a:latin typeface="Noto Sans CJK JP"/>
                <a:ea typeface="Noto Sans CJK JP"/>
              </a:rPr>
              <a:t>12 / 12</a:t>
            </a:r>
            <a:endParaRPr lang="ja-JP" sz="1200"/>
          </a:p>
        </p:txBody>
      </p:sp>
      <p:sp>
        <p:nvSpPr>
          <p:cNvPr id="4" name="Body"/>
          <p:cNvSpPr txBox="1"/>
          <p:nvPr/>
        </p:nvSpPr>
        <p:spPr>
          <a:xfrm>
            <a:off x="550000" y="1200000"/>
            <a:ext cx="110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anchor="t"/>
          <a:lstStyle/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解法：未知量・正方向 → KCL/KVL → 未知数順固定 → Ax=b / I=YV → 解く → 交流なら偏角へ → 検算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固定：R8 問3(1)(2)／R6 問3(1)(2)／R4 問3(1)(3)／R1 問2(3)(4)(5)／R1 問6(3)(4)(5)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可視化接続：12 / 12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固定境界：Topic 12 固有値・固有ベクトル、状態空間、電力潮流詳細、Newton–Raphson、行列式・余因子展開の独立論点化、未確認実車値 → 追加0件</a:t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E2A38"/>
                </a:solidFill>
                <a:latin typeface="Noto Sans CJK JP"/>
                <a:ea typeface="Noto Sans CJK JP"/>
              </a:rPr>
              <a:t>次工程：完成後独立再解答（教材だけで固定12設問を再度解く）</a:t>
            </a:r>
            <a:endParaRPr lang="ja-JP" sz="1700"/>
          </a:p>
        </p:txBody>
      </p:sp>
    </p:spTree>
  </p:cSld>
  <p:clrMapOvr>
    <a:masterClrMapping/>
  </p:clrMapOvr>
</p:sld>
</file>