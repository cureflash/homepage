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411480" y="64465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電験二種 電気数学 </a:t>
            </a:r>
            <a:r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19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9235440" y="6446520"/>
            <a:ext cx="2514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最適化入門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59040" y="6446520"/>
            <a:ext cx="273960" cy="20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5EE8C5-2003-400D-86C6-338003772805}" type="slidenum"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Noto Sans CJK JP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320040"/>
            <a:ext cx="11155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1. </a:t>
            </a:r>
            <a:r>
              <a:rPr b="1" lang="zh-CN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目的関数と制約条件を分ける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594360" y="1234440"/>
            <a:ext cx="3245760" cy="1325520"/>
          </a:xfrm>
          <a:prstGeom prst="roundRect">
            <a:avLst>
              <a:gd name="adj" fmla="val 5517"/>
            </a:avLst>
          </a:prstGeom>
          <a:solidFill>
            <a:srgbClr val="eaf3f9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58880" y="1353240"/>
            <a:ext cx="2916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変数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758880" y="1746360"/>
            <a:ext cx="29167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P1, P2 [MW]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つの設備へ配分する出力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4069080" y="1234440"/>
            <a:ext cx="3611520" cy="1325520"/>
          </a:xfrm>
          <a:prstGeom prst="roundRect">
            <a:avLst>
              <a:gd name="adj" fmla="val 5517"/>
            </a:avLst>
          </a:prstGeom>
          <a:solidFill>
            <a:srgbClr val="fff3d6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233600" y="1353240"/>
            <a:ext cx="3282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目的関数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233600" y="1746360"/>
            <a:ext cx="32824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C = P1² + 2P2²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→ C </a:t>
            </a: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を小さくしたい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7909560" y="1234440"/>
            <a:ext cx="3657240" cy="1325520"/>
          </a:xfrm>
          <a:prstGeom prst="roundRect">
            <a:avLst>
              <a:gd name="adj" fmla="val 5517"/>
            </a:avLst>
          </a:prstGeom>
          <a:solidFill>
            <a:srgbClr val="dff4ee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8074080" y="1353240"/>
            <a:ext cx="332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制約条件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8074080" y="1746360"/>
            <a:ext cx="33282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P1 + P2 = 12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P1 ≥ 0,  P2 ≥ 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31520" y="2971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7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実行可能点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 flipV="1">
            <a:off x="1188720" y="3429000"/>
            <a:ext cx="3657600" cy="1828800"/>
          </a:xfrm>
          <a:prstGeom prst="line">
            <a:avLst/>
          </a:prstGeom>
          <a:ln w="19050">
            <a:solidFill>
              <a:srgbClr val="b8c4d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1188720" y="5257800"/>
            <a:ext cx="3657600" cy="360"/>
          </a:xfrm>
          <a:prstGeom prst="line">
            <a:avLst/>
          </a:prstGeom>
          <a:ln w="19050">
            <a:solidFill>
              <a:srgbClr val="b8c4d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685800" y="32461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P2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4572000" y="539496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P1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 rot="19980000">
            <a:off x="2103120" y="41328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P1 + P2 = 12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3154680" y="3858840"/>
            <a:ext cx="164160" cy="1641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3328560" y="3730680"/>
            <a:ext cx="639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(8,4)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3886200" y="4526280"/>
            <a:ext cx="164160" cy="164160"/>
          </a:xfrm>
          <a:prstGeom prst="ellipse">
            <a:avLst/>
          </a:prstGeom>
          <a:solidFill>
            <a:srgbClr val="c33b3b"/>
          </a:solidFill>
          <a:ln w="12700">
            <a:solidFill>
              <a:srgbClr val="c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4096440" y="4462200"/>
            <a:ext cx="14626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33b3b"/>
                </a:solidFill>
                <a:effectLst/>
                <a:uFillTx/>
                <a:latin typeface="Noto Sans CJK JP"/>
                <a:ea typeface="Noto Sans CJK JP"/>
              </a:rPr>
              <a:t>(8,5) </a:t>
            </a:r>
            <a:r>
              <a:rPr b="0" lang="zh-CN" sz="1100" strike="noStrike" u="none">
                <a:solidFill>
                  <a:srgbClr val="c33b3b"/>
                </a:solidFill>
                <a:effectLst/>
                <a:uFillTx/>
                <a:latin typeface="Noto Sans CJK JP"/>
                <a:ea typeface="Noto Sans CJK JP"/>
              </a:rPr>
              <a:t>は制約外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0"/>
          <p:cNvSpPr/>
          <p:nvPr/>
        </p:nvSpPr>
        <p:spPr>
          <a:xfrm>
            <a:off x="5852160" y="3063240"/>
            <a:ext cx="539460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524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6016680" y="3182040"/>
            <a:ext cx="5065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読む順序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2"/>
          <p:cNvSpPr/>
          <p:nvPr/>
        </p:nvSpPr>
        <p:spPr>
          <a:xfrm>
            <a:off x="6016680" y="3575160"/>
            <a:ext cx="506556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① 動かせる量は何か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② 良くしたい量は何か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③ 必ず守る条件・上下限は何か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④ 制約を満たす点だけで比較する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6035040" y="521208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trike="noStrike" u="none">
                <a:solidFill>
                  <a:srgbClr val="c33b3b"/>
                </a:solidFill>
                <a:effectLst/>
                <a:uFillTx/>
                <a:latin typeface="Noto Sans CJK JP"/>
                <a:ea typeface="Noto Sans CJK JP"/>
              </a:rPr>
              <a:t>目的関数と制約条件を混同すると、微分する式そのものを誤る。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sldNum" idx="6"/>
          </p:nvPr>
        </p:nvSpPr>
        <p:spPr>
          <a:xfrm>
            <a:off x="11759040" y="6446520"/>
            <a:ext cx="273960" cy="20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DA35B-7B4A-4AB4-B20D-D2B3D048EB63}" type="slidenum"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02920" y="320040"/>
            <a:ext cx="11155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2. 1</a:t>
            </a:r>
            <a:r>
              <a:rPr b="1" lang="zh-CN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変数化とラグランジュ未定乗数法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30280" y="868680"/>
            <a:ext cx="10972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等式制約 </a:t>
            </a:r>
            <a:r>
              <a:rPr b="0" lang="en-US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P1 + P2 = 12</a:t>
            </a: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、目的関数 </a:t>
            </a:r>
            <a:r>
              <a:rPr b="0" lang="en-US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C = P1² + 2P2²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594360" y="123444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868680" y="148140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方法</a:t>
            </a: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A: 1</a:t>
            </a: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変数へ消去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1005840" y="2057400"/>
            <a:ext cx="2377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P2 = 12 − P1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005840" y="2606040"/>
            <a:ext cx="4388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C(P1) = P1² + 2(12−P1)²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       = 3P1² − 48P1 + 288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1005840" y="3611880"/>
            <a:ext cx="4480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dC/dP1 = 6P1 − 48 = 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→ P1 = 8 MW,  P2 = 4 MW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005840" y="480060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一変数極値の一般論は </a:t>
            </a:r>
            <a:r>
              <a:rPr b="0" lang="en-US" sz="13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Topic 04 </a:t>
            </a:r>
            <a:r>
              <a:rPr b="0" lang="zh-CN" sz="13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の既知事項を使う。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6263640" y="1234440"/>
            <a:ext cx="53215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6537960" y="1481400"/>
            <a:ext cx="3382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方法</a:t>
            </a: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B: </a:t>
            </a: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ラグランジュ法の入口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6537960" y="2030040"/>
            <a:ext cx="45716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L = P1² + 2P2² + λ(P1 + P2 − 12)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6583680" y="2697480"/>
            <a:ext cx="43887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∂L/∂P1 = 2P1 + λ =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∂L/∂P2 = 4P2 + λ =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∂L/∂λ  = P1 + P2 − 12 =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6583680" y="4069080"/>
            <a:ext cx="43887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2P1 = 4P2  →  P1 = 2P2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P1 + P2 = 12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→ P1 = 8 MW,  P2 = 4 MW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6537960" y="525780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L=f+λg </a:t>
            </a:r>
            <a:r>
              <a:rPr b="0" lang="zh-CN" sz="13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を作り、偏微分条件と制約式を同時に解く。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7"/>
          </p:nvPr>
        </p:nvSpPr>
        <p:spPr>
          <a:xfrm>
            <a:off x="11759040" y="6446520"/>
            <a:ext cx="273960" cy="20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340B0-2845-49BF-B551-AFAC88A298E3}" type="slidenum"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320040"/>
            <a:ext cx="11155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3. </a:t>
            </a:r>
            <a:r>
              <a:rPr b="1" lang="zh-CN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ラグランジュ解が範囲外なら境界を調べる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30280" y="868680"/>
            <a:ext cx="10972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合計</a:t>
            </a:r>
            <a:r>
              <a:rPr b="0" lang="en-US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10 MW</a:t>
            </a: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8 ≤ P1 ≤ 10 MW</a:t>
            </a: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、</a:t>
            </a:r>
            <a:r>
              <a:rPr b="0" lang="en-US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0 ≤ P2 ≤ 2 MW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640080" y="1298520"/>
            <a:ext cx="3200040" cy="1416960"/>
          </a:xfrm>
          <a:prstGeom prst="roundRect">
            <a:avLst>
              <a:gd name="adj" fmla="val 5161"/>
            </a:avLst>
          </a:prstGeom>
          <a:solidFill>
            <a:srgbClr val="eaf3f9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804600" y="1417320"/>
            <a:ext cx="287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等式制約だけで解く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804600" y="1810440"/>
            <a:ext cx="28710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P1 = 20/3 ≈ 6.67 MW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P2 = 10/3 ≈ 3.33 MW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3968640" y="1810440"/>
            <a:ext cx="685440" cy="383760"/>
          </a:xfrm>
          <a:prstGeom prst="chevron">
            <a:avLst>
              <a:gd name="adj" fmla="val 50000"/>
            </a:avLst>
          </a:prstGeom>
          <a:solidFill>
            <a:srgbClr val="b7d4e8"/>
          </a:solidFill>
          <a:ln w="12700">
            <a:solidFill>
              <a:srgbClr val="b7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4773240" y="1298520"/>
            <a:ext cx="2971440" cy="1416960"/>
          </a:xfrm>
          <a:prstGeom prst="roundRect">
            <a:avLst>
              <a:gd name="adj" fmla="val 5161"/>
            </a:avLst>
          </a:prstGeom>
          <a:solidFill>
            <a:srgbClr val="fde9e7"/>
          </a:solidFill>
          <a:ln w="15240">
            <a:solidFill>
              <a:srgbClr val="c3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937760" y="1417320"/>
            <a:ext cx="2642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範囲を照合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4937760" y="1810440"/>
            <a:ext cx="2642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P1 ≥ 8 </a:t>
            </a: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を破る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P2 ≤ 2 </a:t>
            </a: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を破る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9"/>
          <p:cNvSpPr/>
          <p:nvPr/>
        </p:nvSpPr>
        <p:spPr>
          <a:xfrm>
            <a:off x="7882200" y="1810440"/>
            <a:ext cx="685440" cy="383760"/>
          </a:xfrm>
          <a:prstGeom prst="chevron">
            <a:avLst>
              <a:gd name="adj" fmla="val 50000"/>
            </a:avLst>
          </a:prstGeom>
          <a:solidFill>
            <a:srgbClr val="b7d4e8"/>
          </a:solidFill>
          <a:ln w="12700">
            <a:solidFill>
              <a:srgbClr val="b7d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8686800" y="1298520"/>
            <a:ext cx="2880000" cy="1416960"/>
          </a:xfrm>
          <a:prstGeom prst="roundRect">
            <a:avLst>
              <a:gd name="adj" fmla="val 5161"/>
            </a:avLst>
          </a:prstGeom>
          <a:solidFill>
            <a:srgbClr val="fff3d6"/>
          </a:solidFill>
          <a:ln w="15240">
            <a:solidFill>
              <a:srgbClr val="c97a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8851320" y="1417320"/>
            <a:ext cx="2550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候補を棄却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8851320" y="1810440"/>
            <a:ext cx="25509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停留条件だけでは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263b50"/>
                </a:solidFill>
                <a:effectLst/>
                <a:uFillTx/>
                <a:latin typeface="Noto Sans CJK JP"/>
                <a:ea typeface="Noto Sans CJK JP"/>
              </a:rPr>
              <a:t>最終解にならない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731520" y="3246120"/>
            <a:ext cx="1083528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005840" y="34930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実行可能範囲へ戻す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1005840" y="4005000"/>
            <a:ext cx="3337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P2 = 10 − P1,   8 ≤ P1 ≤ 10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4389120" y="3822120"/>
            <a:ext cx="4023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C(P1) = 3P1² − 40P1 + 200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この範囲では </a:t>
            </a:r>
            <a:r>
              <a:rPr b="0" lang="en-US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dC/dP1 &gt; 0 → </a:t>
            </a:r>
            <a:r>
              <a:rPr b="0" lang="zh-CN" sz="17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左端で最小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7"/>
          <p:cNvSpPr/>
          <p:nvPr/>
        </p:nvSpPr>
        <p:spPr>
          <a:xfrm>
            <a:off x="8595360" y="3657600"/>
            <a:ext cx="2468520" cy="1051200"/>
          </a:xfrm>
          <a:prstGeom prst="roundRect">
            <a:avLst>
              <a:gd name="adj" fmla="val 16667"/>
            </a:avLst>
          </a:prstGeom>
          <a:solidFill>
            <a:srgbClr val="dff4ee"/>
          </a:solidFill>
          <a:ln w="15240">
            <a:solidFill>
              <a:srgbClr val="2f7d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8869680" y="3822120"/>
            <a:ext cx="19198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P1 = 8 MW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P2 = 2 MW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C = 72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1005840" y="4800600"/>
            <a:ext cx="68576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検算</a:t>
            </a:r>
            <a:r>
              <a:rPr b="0" lang="en-US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: </a:t>
            </a:r>
            <a:r>
              <a:rPr b="0" lang="zh-CN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右端 </a:t>
            </a:r>
            <a:r>
              <a:rPr b="0" lang="en-US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P1=10, P2=0 </a:t>
            </a:r>
            <a:r>
              <a:rPr b="0" lang="zh-CN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では </a:t>
            </a:r>
            <a:r>
              <a:rPr b="0" lang="en-US" sz="14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C=100 → 72 &lt; 100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1097280" y="571500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trike="noStrike" u="none">
                <a:solidFill>
                  <a:srgbClr val="c33b3b"/>
                </a:solidFill>
                <a:effectLst/>
                <a:uFillTx/>
                <a:latin typeface="Noto Sans CJK JP"/>
                <a:ea typeface="Noto Sans CJK JP"/>
              </a:rPr>
              <a:t>候補点 → 制約 → 境界 → 単位・総量を確認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8"/>
          </p:nvPr>
        </p:nvSpPr>
        <p:spPr>
          <a:xfrm>
            <a:off x="11759040" y="6446520"/>
            <a:ext cx="273960" cy="20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EECE2B-D3AE-42AD-8012-1952774EE1CE}" type="slidenum"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02920" y="320040"/>
            <a:ext cx="11155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4. </a:t>
            </a:r>
            <a:r>
              <a:rPr b="1" lang="zh-CN" sz="26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電験・新幹線への接続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30280" y="868680"/>
            <a:ext cx="10972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最適化法を直接出題した過去問としては扱わない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594360" y="1143000"/>
            <a:ext cx="5211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第二種二次「電力・管理」 接続確認 </a:t>
            </a:r>
            <a:r>
              <a:rPr b="1" lang="en-US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5</a:t>
            </a: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Table 0"/>
          <p:cNvGraphicFramePr/>
          <p:nvPr/>
        </p:nvGraphicFramePr>
        <p:xfrm>
          <a:off x="594360" y="1600200"/>
          <a:ext cx="6034680" cy="307188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3566160"/>
              </a:tblGrid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問題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主論点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本</a:t>
                      </a:r>
                      <a:r>
                        <a:rPr b="1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Topic</a:t>
                      </a:r>
                      <a:r>
                        <a:rPr b="1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での見方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R7 </a:t>
                      </a: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</a:t>
                      </a: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6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需給調整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変数と需給条件を分ける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R4 </a:t>
                      </a: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</a:t>
                      </a: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1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調整池・水量収支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水量収支を制約として読む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R1 </a:t>
                      </a: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</a:t>
                      </a: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4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配電損失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損失を評価量として分ける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H25 </a:t>
                      </a: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</a:t>
                      </a: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6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揚水・経済性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評価軸と運用条件を分ける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H23 </a:t>
                      </a: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問</a:t>
                      </a:r>
                      <a:r>
                        <a:rPr b="0" lang="en-US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6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負荷率・損失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tIns="63720" bIns="63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zh-CN" sz="1150" strike="noStrike" u="none">
                          <a:solidFill>
                            <a:srgbClr val="172b4d"/>
                          </a:solidFill>
                          <a:effectLst/>
                          <a:uFillTx/>
                          <a:latin typeface="Noto Sans CJK JP"/>
                          <a:ea typeface="Noto Sans CJK JP"/>
                        </a:rPr>
                        <a:t>定義量と計算条件を分ける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b8c4d1"/>
                      </a:solidFill>
                      <a:prstDash val="solid"/>
                    </a:lnL>
                    <a:lnR w="12240">
                      <a:solidFill>
                        <a:srgbClr val="b8c4d1"/>
                      </a:solidFill>
                      <a:prstDash val="solid"/>
                    </a:lnR>
                    <a:lnT w="12240">
                      <a:solidFill>
                        <a:srgbClr val="b8c4d1"/>
                      </a:solidFill>
                      <a:prstDash val="solid"/>
                    </a:lnT>
                    <a:lnB w="12240">
                      <a:solidFill>
                        <a:srgbClr val="b8c4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Shape 3"/>
          <p:cNvSpPr/>
          <p:nvPr/>
        </p:nvSpPr>
        <p:spPr>
          <a:xfrm>
            <a:off x="6995160" y="1143000"/>
            <a:ext cx="452592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8c4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7269480" y="1444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8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新幹線への概念接続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7360920" y="20847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c97a16"/>
                </a:solidFill>
                <a:effectLst/>
                <a:uFillTx/>
                <a:latin typeface="Noto Sans CJK JP"/>
                <a:ea typeface="Noto Sans CJK JP"/>
              </a:rPr>
              <a:t>目的関数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7360920" y="2395800"/>
            <a:ext cx="3657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E(u,v,w) = </a:t>
            </a:r>
            <a:r>
              <a:rPr b="0" lang="zh-CN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消費エネルギーを表すモデル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7360920" y="303588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2f7d67"/>
                </a:solidFill>
                <a:effectLst/>
                <a:uFillTx/>
                <a:latin typeface="Noto Sans CJK JP"/>
                <a:ea typeface="Noto Sans CJK JP"/>
              </a:rPr>
              <a:t>制約条件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7360920" y="3346560"/>
            <a:ext cx="3657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T(u,v,w) = T₀  </a:t>
            </a:r>
            <a:r>
              <a:rPr b="0" lang="zh-CN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（所要時間を維持）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360920" y="3977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trike="noStrike" u="none">
                <a:solidFill>
                  <a:srgbClr val="1f4e79"/>
                </a:solidFill>
                <a:effectLst/>
                <a:uFillTx/>
                <a:latin typeface="Noto Sans CJK JP"/>
                <a:ea typeface="Noto Sans CJK JP"/>
              </a:rPr>
              <a:t>変数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7360920" y="427932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u,v,w = </a:t>
            </a:r>
            <a:r>
              <a:rPr b="0" lang="zh-CN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加速・惰行・制動パターンの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0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教育用パラメータ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868680" y="5532120"/>
            <a:ext cx="10698120" cy="594000"/>
          </a:xfrm>
          <a:prstGeom prst="roundRect">
            <a:avLst>
              <a:gd name="adj" fmla="val 16667"/>
            </a:avLst>
          </a:prstGeom>
          <a:solidFill>
            <a:srgbClr val="edf2f7"/>
          </a:solidFill>
          <a:ln w="12700">
            <a:solidFill>
              <a:srgbClr val="d2da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1097280" y="5696640"/>
            <a:ext cx="10240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直接最適化・ラグランジュ法要求</a:t>
            </a:r>
            <a:r>
              <a:rPr b="1" lang="en-US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: 0</a:t>
            </a:r>
            <a:r>
              <a:rPr b="1" lang="zh-CN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問　｜　接続確認</a:t>
            </a:r>
            <a:r>
              <a:rPr b="1" lang="en-US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: 5</a:t>
            </a:r>
            <a:r>
              <a:rPr b="1" lang="zh-CN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問　｜　固定品質ゲートへの水増し</a:t>
            </a:r>
            <a:r>
              <a:rPr b="1" lang="en-US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: 0</a:t>
            </a:r>
            <a:r>
              <a:rPr b="1" lang="zh-CN" sz="1350" strike="noStrike" u="none">
                <a:solidFill>
                  <a:srgbClr val="172b4d"/>
                </a:solidFill>
                <a:effectLst/>
                <a:uFillTx/>
                <a:latin typeface="Noto Sans CJK JP"/>
                <a:ea typeface="Noto Sans CJK JP"/>
              </a:rPr>
              <a:t>件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9"/>
          </p:nvPr>
        </p:nvSpPr>
        <p:spPr>
          <a:xfrm>
            <a:off x="11759040" y="6446520"/>
            <a:ext cx="273960" cy="20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BCA15D-7F61-4DE7-93A1-D3C0AFB17191}" type="slidenum">
              <a:rPr b="0" lang="en-US" sz="900" strike="noStrike" u="none">
                <a:solidFill>
                  <a:srgbClr val="667085"/>
                </a:solidFill>
                <a:effectLst/>
                <a:uFillTx/>
                <a:latin typeface="Noto Sans CJK JP"/>
                <a:ea typeface="Noto Sans CJK JP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 pitchFamily="0" charset="1"/>
        <a:ea typeface=""/>
        <a:cs typeface=""/>
      </a:majorFont>
      <a:minorFont>
        <a:latin typeface="Noto Sans CJK JP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cureflash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2026-09-18T13:51:33Z</dcterms:created>
  <dc:creator>cureflash/homepage</dc:creator>
  <dc:description/>
  <dc:language>en-US</dc:language>
  <cp:lastModifiedBy>cureflash/homepage</cp:lastModifiedBy>
  <dcterms:modified xsi:type="dcterms:W3CDTF">2026-09-18T13:51:33Z</dcterms:modified>
  <cp:revision>1</cp:revision>
  <dc:subject>電験二種 電気数学 Topic 19 最適化入門</dc:subject>
  <dc:title>19 最適化入門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</vt:r8>
  </property>
  <property fmtid="{D5CDD505-2E9C-101B-9397-08002B2CF9AE}" pid="3" name="PresentationFormat">
    <vt:lpwstr>On-screen Show (16:9)</vt:lpwstr>
  </property>
  <property fmtid="{D5CDD505-2E9C-101B-9397-08002B2CF9AE}" pid="4" name="Slides">
    <vt:r8>5</vt:r8>
  </property>
</Properties>
</file>