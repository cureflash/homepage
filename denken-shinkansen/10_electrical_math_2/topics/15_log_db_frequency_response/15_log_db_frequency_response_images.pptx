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4A73"/>
          </a:solidFill>
          <a:ln w="12700">
            <a:solidFill>
              <a:srgbClr val="214A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0" y="6473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電験二種・電気数学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dBと代表因子：傾き・折れ点・位相を読む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ボード線図は「因子分解 → dB加算 → 傾き変化」の順で組み立てる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10789920" cy="585216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35024"/>
            <a:ext cx="10570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 log₁₀ |G₁G₂| = 20 log₁₀|G₁| + 20 log₁₀|G₂|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1828800" cy="658368"/>
          </a:xfrm>
          <a:prstGeom prst="rect">
            <a:avLst/>
          </a:prstGeom>
          <a:solidFill>
            <a:srgbClr val="214A73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15798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因子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2468880" y="2084832"/>
            <a:ext cx="3749040" cy="658368"/>
          </a:xfrm>
          <a:prstGeom prst="rect">
            <a:avLst/>
          </a:prstGeom>
          <a:solidFill>
            <a:srgbClr val="214A73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2157984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ゲイン[dB]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217920" y="2084832"/>
            <a:ext cx="1920240" cy="658368"/>
          </a:xfrm>
          <a:prstGeom prst="rect">
            <a:avLst/>
          </a:prstGeom>
          <a:solidFill>
            <a:srgbClr val="214A73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2157984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傾き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138160" y="2084832"/>
            <a:ext cx="3337560" cy="658368"/>
          </a:xfrm>
          <a:prstGeom prst="rect">
            <a:avLst/>
          </a:prstGeom>
          <a:solidFill>
            <a:srgbClr val="214A73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0456" y="2157984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位相 / 折れ点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1828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281635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  (K&gt;0)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468880" y="2743200"/>
            <a:ext cx="3749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51176" y="2816352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20log₁₀K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1920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2816352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dB/dec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138160" y="2743200"/>
            <a:ext cx="33375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0456" y="2816352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3401568"/>
            <a:ext cx="182880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" y="347472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1/(Tᴵs)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0" y="3401568"/>
            <a:ext cx="374904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51176" y="3474720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−20log₁₀Tᴵ −20log₁₀ω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3401568"/>
            <a:ext cx="192024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474720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−20 dB/dec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3401568"/>
            <a:ext cx="33375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3474720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−90°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059936"/>
            <a:ext cx="1828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" y="413308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1/(1+Ts)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468880" y="4059936"/>
            <a:ext cx="37490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51176" y="4133088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−10log₁₀(1+(ωT)²)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0" y="4059936"/>
            <a:ext cx="19202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4133088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→ −20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8160" y="4059936"/>
            <a:ext cx="333756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0456" y="4133088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ωb=1/T,  −atan(ωT)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718304"/>
            <a:ext cx="182880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" y="479145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1+Ts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468880" y="4718304"/>
            <a:ext cx="374904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51176" y="4791456"/>
            <a:ext cx="3584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+10log₁₀(1+(ωT)²)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17920" y="4718304"/>
            <a:ext cx="192024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4791456"/>
            <a:ext cx="1755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→ +20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38160" y="4718304"/>
            <a:ext cx="3337560" cy="658368"/>
          </a:xfrm>
          <a:prstGeom prst="rect">
            <a:avLst/>
          </a:prstGeom>
          <a:solidFill>
            <a:srgbClr val="F8FAFC"/>
          </a:solidFill>
          <a:ln w="10160">
            <a:solidFill>
              <a:srgbClr val="CAD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0456" y="4791456"/>
            <a:ext cx="31729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ωb=1/T,  +atan(ωT)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713232" y="5650992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E5F2EC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57790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R5型の基準点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77824" y="6126480"/>
            <a:ext cx="4882896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ω=0.1 rad/s で 0 dB の積分要素 ⇒ 1/(0.1Tᴵ)=1 ⇒ Tᴵ=10 s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172200" y="5650992"/>
            <a:ext cx="5212080" cy="566928"/>
          </a:xfrm>
          <a:prstGeom prst="roundRect">
            <a:avLst>
              <a:gd name="adj" fmla="val 8065"/>
            </a:avLst>
          </a:prstGeom>
          <a:solidFill>
            <a:srgbClr val="FFF3D6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57790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B1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H30型 PI要素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336792" y="6126480"/>
            <a:ext cx="4882896" cy="-36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C(s)=10(s+10)/s：ωb=10 rad/s、傾き −20 → 0 dB/dec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周波数応答：振幅比と位相を同時に読む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R4型は |G(jω)|、R6型は高周波の arg G(jω) を使う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2743200" cy="100584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36776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4A73"/>
                </a:solidFill>
              </a:rPr>
              <a:t>入力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14A73"/>
                </a:solidFill>
              </a:rPr>
              <a:t>u(t)=A sin(ωt)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85032" y="1609344"/>
            <a:ext cx="960120" cy="621792"/>
          </a:xfrm>
          <a:prstGeom prst="chevron">
            <a:avLst/>
          </a:prstGeom>
          <a:solidFill>
            <a:srgbClr val="2F6FA5"/>
          </a:solidFill>
          <a:ln w="12700">
            <a:solidFill>
              <a:srgbClr val="2F6F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92040" y="1417320"/>
            <a:ext cx="24231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800" y="166420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212B"/>
                </a:solidFill>
              </a:rPr>
              <a:t>G(jω)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571232" y="1609344"/>
            <a:ext cx="960120" cy="621792"/>
          </a:xfrm>
          <a:prstGeom prst="chevron">
            <a:avLst/>
          </a:prstGeom>
          <a:solidFill>
            <a:srgbClr val="2F6FA5"/>
          </a:solidFill>
          <a:ln w="12700">
            <a:solidFill>
              <a:srgbClr val="2F6F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59952" y="1417320"/>
            <a:ext cx="2697480" cy="1005840"/>
          </a:xfrm>
          <a:prstGeom prst="roundRect">
            <a:avLst/>
          </a:prstGeom>
          <a:solidFill>
            <a:srgbClr val="E5F2EC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158191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D5A"/>
                </a:solidFill>
              </a:rPr>
              <a:t>出力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F7D5A"/>
                </a:solidFill>
              </a:rPr>
              <a:t>A|G(jω)|・位相差 arg G(jω)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" y="2788920"/>
            <a:ext cx="53949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2916936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R4型：定常振幅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7824" y="3264408"/>
            <a:ext cx="5065776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|Tᴱᴿ(j)| = √(3202/26802) = 0.34564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入力振幅 2 のとき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 = 2|Tᴱᴿ(j)| = 0.691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355080" y="2788920"/>
            <a:ext cx="5102352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916936"/>
            <a:ext cx="4773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R6型：高周波位相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3264408"/>
            <a:ext cx="4773168" cy="1728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G(s)=(3s+14)/[(s+2)(s+3)]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ω→∞ では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G(jω) ≈ 3jω/(jω)² = −3j/ω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⇒ arg G → −90°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01968" y="4754880"/>
            <a:ext cx="4590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dirty="0">
                <a:solidFill>
                  <a:srgbClr val="667085"/>
                </a:solidFill>
              </a:rPr>
              <a:t>高周波では「最高次項だけ残す → j の次数から位相を読む」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13232" y="5440680"/>
            <a:ext cx="10744200" cy="658368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513832"/>
            <a:ext cx="105247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G(jω)=a+jb   ⇒   |G|=√(a²+b²) ,   arg G=atan2(b,a)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ゲイン余裕・位相余裕と帯域幅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H23一次「機械」問7型：0 dB点と −180°点を取り違えない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3566160" cy="1335024"/>
          </a:xfrm>
          <a:prstGeom prst="roundRect">
            <a:avLst>
              <a:gd name="adj" fmla="val 3425"/>
            </a:avLst>
          </a:prstGeom>
          <a:solidFill>
            <a:srgbClr val="EAF2F9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4996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ゲイン交差角周波数 ωgc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1847088"/>
            <a:ext cx="32369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|G(jωgc)|=1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20log₁₀|G(jωgc)|=0 dB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80560" y="1371600"/>
            <a:ext cx="3566160" cy="1335024"/>
          </a:xfrm>
          <a:prstGeom prst="roundRect">
            <a:avLst>
              <a:gd name="adj" fmla="val 3425"/>
            </a:avLst>
          </a:prstGeom>
          <a:solidFill>
            <a:srgbClr val="E5F2EC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5152" y="1499616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5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位相余裕 PM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45152" y="1847088"/>
            <a:ext cx="323697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 = 180° + arg G(jωgc)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75320" y="1371600"/>
            <a:ext cx="3246120" cy="1335024"/>
          </a:xfrm>
          <a:prstGeom prst="roundRect">
            <a:avLst>
              <a:gd name="adj" fmla="val 3425"/>
            </a:avLst>
          </a:prstGeom>
          <a:solidFill>
            <a:srgbClr val="FFF3D6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9912" y="1499616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B1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ゲイン余裕 GM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39912" y="1847088"/>
            <a:ext cx="29169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arg G(jωpc)=−180°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GM[dB]=−20log₁₀|G(jωpc)|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2971800"/>
            <a:ext cx="5440680" cy="24231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99816"/>
            <a:ext cx="5111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例：G(s)=K/[s(Ts+1)],  ωgc=1,  PM=45°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" y="3447288"/>
            <a:ext cx="5111496" cy="1819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位相条件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−90°−atan(T)=−135°  ⇒  T=1 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 dB条件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K/√(1+T²)=1  ⇒  K=√2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2944368"/>
            <a:ext cx="50109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3328416"/>
            <a:ext cx="0" cy="1719072"/>
          </a:xfrm>
          <a:prstGeom prst="line">
            <a:avLst/>
          </a:prstGeom>
          <a:noFill/>
          <a:ln w="15240">
            <a:solidFill>
              <a:srgbClr val="1721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931920"/>
            <a:ext cx="4187952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382219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0 dB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0" y="3419856"/>
            <a:ext cx="3611880" cy="1234440"/>
          </a:xfrm>
          <a:prstGeom prst="line">
            <a:avLst/>
          </a:prstGeom>
          <a:noFill/>
          <a:ln w="31750">
            <a:solidFill>
              <a:srgbClr val="2F6F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23960" y="3886200"/>
            <a:ext cx="91440" cy="91440"/>
          </a:xfrm>
          <a:prstGeom prst="ellipse">
            <a:avLst/>
          </a:prstGeom>
          <a:solidFill>
            <a:srgbClr val="A33D3D"/>
          </a:solidFill>
          <a:ln w="12700">
            <a:solidFill>
              <a:srgbClr val="A3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3264408"/>
            <a:ext cx="0" cy="1645920"/>
          </a:xfrm>
          <a:prstGeom prst="line">
            <a:avLst/>
          </a:prstGeom>
          <a:noFill/>
          <a:ln w="12700">
            <a:solidFill>
              <a:srgbClr val="A33D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58784" y="491947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33D3D"/>
                </a:solidFill>
              </a:rPr>
              <a:t>ωgc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9601200" y="30358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ゲイン線図（概念）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6949440" y="510235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12B"/>
                </a:solidFill>
              </a:rPr>
              <a:t>ωgcは0 dB交差。PMは同じ周波数での位相から求める。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5669280"/>
            <a:ext cx="10835640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12700">
            <a:solidFill>
              <a:srgbClr val="CAD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797296"/>
            <a:ext cx="10506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4A7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帯域幅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0392" y="6144768"/>
            <a:ext cx="10506456" cy="-73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閉ループ特性が低周波値から −3 dB（振幅比 1/√2）まで低下する周波数。ωgc・帯域幅は応答速度との関係を読む尺度。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667085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denken-shinkansen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対数・dB・周波数応答</dc:title>
  <dc:subject>電験二種 電気数学 Topic 15 対数・dB・周波数応答</dc:subject>
  <dc:creator>cureflash</dc:creator>
  <cp:lastModifiedBy>cureflash</cp:lastModifiedBy>
  <cp:revision>1</cp:revision>
  <dcterms:created xsi:type="dcterms:W3CDTF">2026-09-17T13:25:23Z</dcterms:created>
  <dcterms:modified xsi:type="dcterms:W3CDTF">2026-09-17T13:25:23Z</dcterms:modified>
</cp:coreProperties>
</file>