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18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600" b="1">
                <a:solidFill>
                  <a:srgbClr val="17365D"/>
                </a:solidFill>
                <a:latin typeface="Noto Sans CJK JP"/>
                <a:ea typeface="Noto Sans CJK JP"/>
              </a:rPr>
              <a:t>Topic 08　二階常微分方程式｜本試験の解法経路</a:t>
            </a:r>
            <a:endParaRPr lang="ja-JP" sz="2600"/>
          </a:p>
        </p:txBody>
      </p:sp>
      <p:sp>
        <p:nvSpPr>
          <p:cNvPr id="3" name="Shape 3"/>
          <p:cNvSpPr/>
          <p:nvPr/>
        </p:nvSpPr>
        <p:spPr>
          <a:xfrm>
            <a:off x="500000" y="900000"/>
            <a:ext cx="11200000" cy="250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ja-JP" sz="18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</p:txBody>
      </p:sp>
      <p:sp>
        <p:nvSpPr>
          <p:cNvPr id="10" name="Shape 10"/>
          <p:cNvSpPr/>
          <p:nvPr/>
        </p:nvSpPr>
        <p:spPr>
          <a:xfrm>
            <a:off x="5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物理・回路式</a:t>
            </a:r>
            <a:endParaRPr lang="ja-JP" sz="1700"/>
          </a:p>
        </p:txBody>
      </p:sp>
      <p:sp>
        <p:nvSpPr>
          <p:cNvPr id="30" name="Text 30"/>
          <p:cNvSpPr txBox="1"/>
          <p:nvPr/>
        </p:nvSpPr>
        <p:spPr>
          <a:xfrm>
            <a:off x="2000000" y="195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5B9BD5"/>
                </a:solidFill>
                <a:latin typeface="Noto Sans CJK JP"/>
                <a:ea typeface="Noto Sans CJK JP"/>
              </a:rPr>
              <a:t>→</a:t>
            </a:r>
            <a:endParaRPr lang="ja-JP" sz="2600"/>
          </a:p>
        </p:txBody>
      </p:sp>
      <p:sp>
        <p:nvSpPr>
          <p:cNvPr id="11" name="Shape 11"/>
          <p:cNvSpPr/>
          <p:nvPr/>
        </p:nvSpPr>
        <p:spPr>
          <a:xfrm>
            <a:off x="24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二階方程式</a:t>
            </a:r>
            <a:endParaRPr lang="ja-JP" sz="1700"/>
          </a:p>
        </p:txBody>
      </p:sp>
      <p:sp>
        <p:nvSpPr>
          <p:cNvPr id="31" name="Text 31"/>
          <p:cNvSpPr txBox="1"/>
          <p:nvPr/>
        </p:nvSpPr>
        <p:spPr>
          <a:xfrm>
            <a:off x="3900000" y="195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5B9BD5"/>
                </a:solidFill>
                <a:latin typeface="Noto Sans CJK JP"/>
                <a:ea typeface="Noto Sans CJK JP"/>
              </a:rPr>
              <a:t>→</a:t>
            </a:r>
            <a:endParaRPr lang="ja-JP" sz="2600"/>
          </a:p>
        </p:txBody>
      </p:sp>
      <p:sp>
        <p:nvSpPr>
          <p:cNvPr id="12" name="Shape 12"/>
          <p:cNvSpPr/>
          <p:nvPr/>
        </p:nvSpPr>
        <p:spPr>
          <a:xfrm>
            <a:off x="43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特性方程式</a:t>
            </a:r>
            <a:endParaRPr lang="ja-JP" sz="1700"/>
          </a:p>
        </p:txBody>
      </p:sp>
      <p:sp>
        <p:nvSpPr>
          <p:cNvPr id="32" name="Text 32"/>
          <p:cNvSpPr txBox="1"/>
          <p:nvPr/>
        </p:nvSpPr>
        <p:spPr>
          <a:xfrm>
            <a:off x="5800000" y="195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5B9BD5"/>
                </a:solidFill>
                <a:latin typeface="Noto Sans CJK JP"/>
                <a:ea typeface="Noto Sans CJK JP"/>
              </a:rPr>
              <a:t>→</a:t>
            </a:r>
            <a:endParaRPr lang="ja-JP" sz="2600"/>
          </a:p>
        </p:txBody>
      </p:sp>
      <p:sp>
        <p:nvSpPr>
          <p:cNvPr id="13" name="Shape 13"/>
          <p:cNvSpPr/>
          <p:nvPr/>
        </p:nvSpPr>
        <p:spPr>
          <a:xfrm>
            <a:off x="62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根を分類</a:t>
            </a:r>
            <a:endParaRPr lang="ja-JP" sz="1700"/>
          </a:p>
        </p:txBody>
      </p:sp>
      <p:sp>
        <p:nvSpPr>
          <p:cNvPr id="33" name="Text 33"/>
          <p:cNvSpPr txBox="1"/>
          <p:nvPr/>
        </p:nvSpPr>
        <p:spPr>
          <a:xfrm>
            <a:off x="7700000" y="195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5B9BD5"/>
                </a:solidFill>
                <a:latin typeface="Noto Sans CJK JP"/>
                <a:ea typeface="Noto Sans CJK JP"/>
              </a:rPr>
              <a:t>→</a:t>
            </a:r>
            <a:endParaRPr lang="ja-JP" sz="2600"/>
          </a:p>
        </p:txBody>
      </p:sp>
      <p:sp>
        <p:nvSpPr>
          <p:cNvPr id="14" name="Shape 14"/>
          <p:cNvSpPr/>
          <p:nvPr/>
        </p:nvSpPr>
        <p:spPr>
          <a:xfrm>
            <a:off x="81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初期条件 2個</a:t>
            </a:r>
            <a:endParaRPr lang="ja-JP" sz="1700"/>
          </a:p>
        </p:txBody>
      </p:sp>
      <p:sp>
        <p:nvSpPr>
          <p:cNvPr id="34" name="Text 34"/>
          <p:cNvSpPr txBox="1"/>
          <p:nvPr/>
        </p:nvSpPr>
        <p:spPr>
          <a:xfrm>
            <a:off x="9600000" y="1950000"/>
            <a:ext cx="4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600" b="1">
                <a:solidFill>
                  <a:srgbClr val="5B9BD5"/>
                </a:solidFill>
                <a:latin typeface="Noto Sans CJK JP"/>
                <a:ea typeface="Noto Sans CJK JP"/>
              </a:rPr>
              <a:t>→</a:t>
            </a:r>
            <a:endParaRPr lang="ja-JP" sz="2600"/>
          </a:p>
        </p:txBody>
      </p:sp>
      <p:sp>
        <p:nvSpPr>
          <p:cNvPr id="15" name="Shape 15"/>
          <p:cNvSpPr/>
          <p:nvPr/>
        </p:nvSpPr>
        <p:spPr>
          <a:xfrm>
            <a:off x="10000000" y="1800000"/>
            <a:ext cx="1550000" cy="9000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700" b="1">
                <a:solidFill>
                  <a:srgbClr val="222222"/>
                </a:solidFill>
                <a:latin typeface="Noto Sans CJK JP"/>
                <a:ea typeface="Noto Sans CJK JP"/>
              </a:rPr>
              <a:t>時間応答</a:t>
            </a:r>
            <a:endParaRPr lang="ja-JP" sz="1700"/>
          </a:p>
        </p:txBody>
      </p:sp>
      <p:sp>
        <p:nvSpPr>
          <p:cNvPr id="40" name="Text 40"/>
          <p:cNvSpPr txBox="1"/>
          <p:nvPr/>
        </p:nvSpPr>
        <p:spPr>
          <a:xfrm>
            <a:off x="700000" y="33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100" b="0">
                <a:solidFill>
                  <a:srgbClr val="222222"/>
                </a:solidFill>
                <a:latin typeface="Noto Sans CJK JP"/>
                <a:ea typeface="Noto Sans CJK JP"/>
              </a:rPr>
              <a:t>a y''+b y'+cy=f(t) → a r²+b r+c=0</a:t>
            </a:r>
            <a:endParaRPr lang="ja-JP" sz="2100"/>
          </a:p>
          <a:p>
            <a:pPr algn="ctr"/>
            <a:r>
              <a:rPr lang="ja-JP" sz="2100" b="0">
                <a:solidFill>
                  <a:srgbClr val="222222"/>
                </a:solidFill>
                <a:latin typeface="Noto Sans CJK JP"/>
                <a:ea typeface="Noto Sans CJK JP"/>
              </a:rPr>
              <a:t>回路名で公式を選ばず、完成した方程式の係数を読む。</a:t>
            </a:r>
            <a:endParaRPr lang="ja-JP" sz="2100"/>
          </a:p>
        </p:txBody>
      </p:sp>
      <p:sp>
        <p:nvSpPr>
          <p:cNvPr id="41" name="Text 41"/>
          <p:cNvSpPr txBox="1"/>
          <p:nvPr/>
        </p:nvSpPr>
        <p:spPr>
          <a:xfrm>
            <a:off x="700000" y="50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100" b="1">
                <a:solidFill>
                  <a:srgbClr val="2F5597"/>
                </a:solidFill>
                <a:latin typeface="Noto Sans CJK JP"/>
                <a:ea typeface="Noto Sans CJK JP"/>
              </a:rPr>
              <a:t>固定EXAM_ALIGNMENT：一次5問・15小問</a:t>
            </a:r>
            <a:endParaRPr lang="ja-JP"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18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600" b="1">
                <a:solidFill>
                  <a:srgbClr val="17365D"/>
                </a:solidFill>
                <a:latin typeface="Noto Sans CJK JP"/>
                <a:ea typeface="Noto Sans CJK JP"/>
              </a:rPr>
              <a:t>根の形と減衰を1枚で対応させる</a:t>
            </a:r>
            <a:endParaRPr lang="ja-JP" sz="2600"/>
          </a:p>
        </p:txBody>
      </p:sp>
      <p:sp>
        <p:nvSpPr>
          <p:cNvPr id="3" name="Shape 3"/>
          <p:cNvSpPr/>
          <p:nvPr/>
        </p:nvSpPr>
        <p:spPr>
          <a:xfrm>
            <a:off x="500000" y="900000"/>
            <a:ext cx="11200000" cy="250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ja-JP" sz="18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3500000" cy="2800000"/>
          </a:xfrm>
          <a:prstGeom prst="roundRect">
            <a:avLst/>
          </a:prstGeom>
          <a:solidFill>
            <a:srgbClr val="EEF5EA"/>
          </a:solidFill>
          <a:ln w="12700">
            <a:solidFill>
              <a:srgbClr val="70AD47"/>
            </a:solidFill>
          </a:ln>
        </p:spPr>
        <p:txBody>
          <a:bodyPr wrap="square" anchor="ctr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D &gt; 0 / ζ &gt; 1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過減衰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r₁,r₂：異なる実根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y=C₁e^(r₁t)+C₂e^(r₂t)</a:t>
            </a:r>
            <a:endParaRPr lang="ja-JP" sz="1700"/>
          </a:p>
        </p:txBody>
      </p:sp>
      <p:sp>
        <p:nvSpPr>
          <p:cNvPr id="11" name="Shape 11"/>
          <p:cNvSpPr/>
          <p:nvPr/>
        </p:nvSpPr>
        <p:spPr>
          <a:xfrm>
            <a:off x="4400000" y="1600000"/>
            <a:ext cx="3500000" cy="280000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ED7D31"/>
            </a:solidFill>
          </a:ln>
        </p:spPr>
        <p:txBody>
          <a:bodyPr wrap="square" anchor="ctr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D = 0 / ζ = 1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臨界減衰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r：重根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y=(C₁+C₂t)e^(rt)</a:t>
            </a:r>
            <a:endParaRPr lang="ja-JP" sz="1700"/>
          </a:p>
        </p:txBody>
      </p:sp>
      <p:sp>
        <p:nvSpPr>
          <p:cNvPr id="12" name="Shape 12"/>
          <p:cNvSpPr/>
          <p:nvPr/>
        </p:nvSpPr>
        <p:spPr>
          <a:xfrm>
            <a:off x="8300000" y="1600000"/>
            <a:ext cx="3500000" cy="28000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C00000"/>
            </a:solidFill>
          </a:ln>
        </p:spPr>
        <p:txBody>
          <a:bodyPr wrap="square" anchor="ctr"/>
          <a:lstStyle/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D &lt; 0 / 0&lt;ζ&lt;1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不足減衰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−α ± jω_d</a:t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700"/>
          </a:p>
          <a:p>
            <a:pPr algn="ctr"/>
            <a:r>
              <a:rPr lang="ja-JP" sz="1700" b="0">
                <a:solidFill>
                  <a:srgbClr val="222222"/>
                </a:solidFill>
                <a:latin typeface="Noto Sans CJK JP"/>
                <a:ea typeface="Noto Sans CJK JP"/>
              </a:rPr>
              <a:t>e^(−αt){C₁cosω_dt+C₂sinω_dt}</a:t>
            </a:r>
            <a:endParaRPr lang="ja-JP" sz="1700"/>
          </a:p>
        </p:txBody>
      </p:sp>
      <p:sp>
        <p:nvSpPr>
          <p:cNvPr id="30" name="Text 30"/>
          <p:cNvSpPr txBox="1"/>
          <p:nvPr/>
        </p:nvSpPr>
        <p:spPr>
          <a:xfrm>
            <a:off x="700000" y="4800000"/>
            <a:ext cx="108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900" b="0">
                <a:solidFill>
                  <a:srgbClr val="222222"/>
                </a:solidFill>
                <a:latin typeface="Noto Sans CJK JP"/>
                <a:ea typeface="Noto Sans CJK JP"/>
              </a:rPr>
              <a:t>標準形： y´´+2ζωₙy´+ωₙ²y=forcing　　ω_d=ωₙ√(1−ζ²)</a:t>
            </a:r>
            <a:endParaRPr lang="ja-JP" sz="1900"/>
          </a:p>
          <a:p>
            <a:pPr algn="ctr"/>
            <a:r>
              <a:rPr lang="ja-JP" sz="1900" b="0">
                <a:solidFill>
                  <a:srgbClr val="222222"/>
                </a:solidFill>
                <a:latin typeface="Noto Sans CJK JP"/>
                <a:ea typeface="Noto Sans CJK JP"/>
              </a:rPr>
              <a:t>ωₙ（固有角周波数）と ω_d（減衰振動角周波数）を混同しない。</a:t>
            </a:r>
            <a:endParaRPr lang="ja-JP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18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600" b="1">
                <a:solidFill>
                  <a:srgbClr val="17365D"/>
                </a:solidFill>
                <a:latin typeface="Noto Sans CJK JP"/>
                <a:ea typeface="Noto Sans CJK JP"/>
              </a:rPr>
              <a:t>直列RLC：KVLから二階方程式へ</a:t>
            </a:r>
            <a:endParaRPr lang="ja-JP" sz="2600"/>
          </a:p>
        </p:txBody>
      </p:sp>
      <p:sp>
        <p:nvSpPr>
          <p:cNvPr id="3" name="Shape 3"/>
          <p:cNvSpPr/>
          <p:nvPr/>
        </p:nvSpPr>
        <p:spPr>
          <a:xfrm>
            <a:off x="500000" y="900000"/>
            <a:ext cx="11200000" cy="250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ja-JP" sz="18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</p:txBody>
      </p:sp>
      <p:sp>
        <p:nvSpPr>
          <p:cNvPr id="10" name="Shape 10"/>
          <p:cNvSpPr/>
          <p:nvPr/>
        </p:nvSpPr>
        <p:spPr>
          <a:xfrm>
            <a:off x="700000" y="1600000"/>
            <a:ext cx="5200000" cy="2500000"/>
          </a:xfrm>
          <a:prstGeom prst="roundRect">
            <a:avLst/>
          </a:prstGeom>
          <a:solidFill>
            <a:srgbClr val="EDF3F9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KVL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L di/dt + Ri + q/C = 0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i=q´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↓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Lq´´+Rq´+q/C=0</a:t>
            </a:r>
            <a:endParaRPr lang="ja-JP" sz="1950"/>
          </a:p>
        </p:txBody>
      </p:sp>
      <p:sp>
        <p:nvSpPr>
          <p:cNvPr id="11" name="Shape 11"/>
          <p:cNvSpPr/>
          <p:nvPr/>
        </p:nvSpPr>
        <p:spPr>
          <a:xfrm>
            <a:off x="6500000" y="1600000"/>
            <a:ext cx="5000000" cy="2500000"/>
          </a:xfrm>
          <a:prstGeom prst="roundRect">
            <a:avLst/>
          </a:prstGeom>
          <a:solidFill>
            <a:srgbClr val="F3F6F4"/>
          </a:solidFill>
          <a:ln w="12700">
            <a:solidFill>
              <a:srgbClr val="70AD47"/>
            </a:solidFill>
          </a:ln>
        </p:spPr>
        <p:txBody>
          <a:bodyPr wrap="square" anchor="ctr"/>
          <a:lstStyle/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標準形と比較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ωₙ = 1/√(LC)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ζ = (R/2)√(C/L)</a:t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950"/>
          </a:p>
          <a:p>
            <a:pPr algn="ctr"/>
            <a:r>
              <a:rPr lang="ja-JP" sz="1950" b="0">
                <a:solidFill>
                  <a:srgbClr val="222222"/>
                </a:solidFill>
                <a:latin typeface="Noto Sans CJK JP"/>
                <a:ea typeface="Noto Sans CJK JP"/>
              </a:rPr>
              <a:t>完成した一次微分係数から読む</a:t>
            </a:r>
            <a:endParaRPr lang="ja-JP" sz="1950"/>
          </a:p>
        </p:txBody>
      </p:sp>
      <p:sp>
        <p:nvSpPr>
          <p:cNvPr id="20" name="Text 20"/>
          <p:cNvSpPr txBox="1"/>
          <p:nvPr/>
        </p:nvSpPr>
        <p:spPr>
          <a:xfrm>
            <a:off x="700000" y="44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900" b="1">
                <a:solidFill>
                  <a:srgbClr val="222222"/>
                </a:solidFill>
                <a:latin typeface="Noto Sans CJK JP"/>
                <a:ea typeface="Noto Sans CJK JP"/>
              </a:rPr>
              <a:t>初期条件： v_C(0+)=v_C(0−)　／　i_L(0+)=i_L(0−)</a:t>
            </a:r>
            <a:endParaRPr lang="ja-JP" sz="1900"/>
          </a:p>
          <a:p>
            <a:pPr algn="ctr"/>
            <a:r>
              <a:rPr lang="ja-JP" sz="1900" b="1">
                <a:solidFill>
                  <a:srgbClr val="222222"/>
                </a:solidFill>
                <a:latin typeface="Noto Sans CJK JP"/>
                <a:ea typeface="Noto Sans CJK JP"/>
              </a:rPr>
              <a:t>必要な初期微分値は t=0+ のKVLから求める。</a:t>
            </a:r>
            <a:endParaRPr lang="ja-JP" sz="1900"/>
          </a:p>
        </p:txBody>
      </p:sp>
      <p:sp>
        <p:nvSpPr>
          <p:cNvPr id="21" name="Text 21"/>
          <p:cNvSpPr txBox="1"/>
          <p:nvPr/>
        </p:nvSpPr>
        <p:spPr>
          <a:xfrm>
            <a:off x="700000" y="555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700" b="0">
                <a:solidFill>
                  <a:srgbClr val="9C5700"/>
                </a:solidFill>
                <a:latin typeface="Noto Sans CJK JP"/>
                <a:ea typeface="Noto Sans CJK JP"/>
              </a:rPr>
              <a:t>R8問6型：i_L=−dq/dt → L i_L´´+2R i_L´+i_L/C=0　→ ζ=R√(C/L)</a:t>
            </a:r>
            <a:endParaRPr lang="ja-JP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18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600" b="1">
                <a:solidFill>
                  <a:srgbClr val="17365D"/>
                </a:solidFill>
                <a:latin typeface="Noto Sans CJK JP"/>
                <a:ea typeface="Noto Sans CJK JP"/>
              </a:rPr>
              <a:t>H28 問3型：二実根＋初期条件2個</a:t>
            </a:r>
            <a:endParaRPr lang="ja-JP" sz="2600"/>
          </a:p>
        </p:txBody>
      </p:sp>
      <p:sp>
        <p:nvSpPr>
          <p:cNvPr id="3" name="Shape 3"/>
          <p:cNvSpPr/>
          <p:nvPr/>
        </p:nvSpPr>
        <p:spPr>
          <a:xfrm>
            <a:off x="500000" y="900000"/>
            <a:ext cx="11200000" cy="250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ja-JP" sz="18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</p:txBody>
      </p:sp>
      <p:sp>
        <p:nvSpPr>
          <p:cNvPr id="10" name="Shape 10"/>
          <p:cNvSpPr/>
          <p:nvPr/>
        </p:nvSpPr>
        <p:spPr>
          <a:xfrm>
            <a:off x="450000" y="1800000"/>
            <a:ext cx="1900000" cy="12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4472C4"/>
            </a:solidFill>
          </a:ln>
        </p:spPr>
        <p:txBody>
          <a:bodyPr wrap="square" anchor="ctr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方程式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q´´+6q´+5q=0</a:t>
            </a:r>
            <a:endParaRPr lang="ja-JP" sz="1600"/>
          </a:p>
        </p:txBody>
      </p:sp>
      <p:sp>
        <p:nvSpPr>
          <p:cNvPr id="30" name="Text 30"/>
          <p:cNvSpPr txBox="1"/>
          <p:nvPr/>
        </p:nvSpPr>
        <p:spPr>
          <a:xfrm>
            <a:off x="2300000" y="210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300" b="1">
                <a:solidFill>
                  <a:srgbClr val="4472C4"/>
                </a:solidFill>
                <a:latin typeface="Noto Sans CJK JP"/>
                <a:ea typeface="Noto Sans CJK JP"/>
              </a:rPr>
              <a:t>→</a:t>
            </a:r>
            <a:endParaRPr lang="ja-JP" sz="2300"/>
          </a:p>
        </p:txBody>
      </p:sp>
      <p:sp>
        <p:nvSpPr>
          <p:cNvPr id="11" name="Shape 11"/>
          <p:cNvSpPr/>
          <p:nvPr/>
        </p:nvSpPr>
        <p:spPr>
          <a:xfrm>
            <a:off x="2700000" y="1800000"/>
            <a:ext cx="1900000" cy="12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4472C4"/>
            </a:solidFill>
          </a:ln>
        </p:spPr>
        <p:txBody>
          <a:bodyPr wrap="square" anchor="ctr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特性方程式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(r+1)(r+5)=0</a:t>
            </a:r>
            <a:endParaRPr lang="ja-JP" sz="1600"/>
          </a:p>
        </p:txBody>
      </p:sp>
      <p:sp>
        <p:nvSpPr>
          <p:cNvPr id="31" name="Text 31"/>
          <p:cNvSpPr txBox="1"/>
          <p:nvPr/>
        </p:nvSpPr>
        <p:spPr>
          <a:xfrm>
            <a:off x="4550000" y="210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300" b="1">
                <a:solidFill>
                  <a:srgbClr val="4472C4"/>
                </a:solidFill>
                <a:latin typeface="Noto Sans CJK JP"/>
                <a:ea typeface="Noto Sans CJK JP"/>
              </a:rPr>
              <a:t>→</a:t>
            </a:r>
            <a:endParaRPr lang="ja-JP" sz="2300"/>
          </a:p>
        </p:txBody>
      </p:sp>
      <p:sp>
        <p:nvSpPr>
          <p:cNvPr id="12" name="Shape 12"/>
          <p:cNvSpPr/>
          <p:nvPr/>
        </p:nvSpPr>
        <p:spPr>
          <a:xfrm>
            <a:off x="4950000" y="1800000"/>
            <a:ext cx="1900000" cy="12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4472C4"/>
            </a:solidFill>
          </a:ln>
        </p:spPr>
        <p:txBody>
          <a:bodyPr wrap="square" anchor="ctr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二実根</a:t>
            </a:r>
            <a:endParaRPr lang="ja-JP" sz="1600"/>
          </a:p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r=−1, −5</a:t>
            </a:r>
            <a:endParaRPr lang="ja-JP" sz="1600"/>
          </a:p>
        </p:txBody>
      </p:sp>
      <p:sp>
        <p:nvSpPr>
          <p:cNvPr id="32" name="Text 32"/>
          <p:cNvSpPr txBox="1"/>
          <p:nvPr/>
        </p:nvSpPr>
        <p:spPr>
          <a:xfrm>
            <a:off x="6800000" y="210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300" b="1">
                <a:solidFill>
                  <a:srgbClr val="4472C4"/>
                </a:solidFill>
                <a:latin typeface="Noto Sans CJK JP"/>
                <a:ea typeface="Noto Sans CJK JP"/>
              </a:rPr>
              <a:t>→</a:t>
            </a:r>
            <a:endParaRPr lang="ja-JP" sz="2300"/>
          </a:p>
        </p:txBody>
      </p:sp>
      <p:sp>
        <p:nvSpPr>
          <p:cNvPr id="13" name="Shape 13"/>
          <p:cNvSpPr/>
          <p:nvPr/>
        </p:nvSpPr>
        <p:spPr>
          <a:xfrm>
            <a:off x="7200000" y="1800000"/>
            <a:ext cx="1900000" cy="12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4472C4"/>
            </a:solidFill>
          </a:ln>
        </p:spPr>
        <p:txBody>
          <a:bodyPr wrap="square" anchor="ctr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一般解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q=C₁e^(−t)+C₂e^(−5t)</a:t>
            </a:r>
            <a:endParaRPr lang="ja-JP" sz="1600"/>
          </a:p>
        </p:txBody>
      </p:sp>
      <p:sp>
        <p:nvSpPr>
          <p:cNvPr id="33" name="Text 33"/>
          <p:cNvSpPr txBox="1"/>
          <p:nvPr/>
        </p:nvSpPr>
        <p:spPr>
          <a:xfrm>
            <a:off x="9050000" y="2100000"/>
            <a:ext cx="3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300" b="1">
                <a:solidFill>
                  <a:srgbClr val="4472C4"/>
                </a:solidFill>
                <a:latin typeface="Noto Sans CJK JP"/>
                <a:ea typeface="Noto Sans CJK JP"/>
              </a:rPr>
              <a:t>→</a:t>
            </a:r>
            <a:endParaRPr lang="ja-JP" sz="2300"/>
          </a:p>
        </p:txBody>
      </p:sp>
      <p:sp>
        <p:nvSpPr>
          <p:cNvPr id="14" name="Shape 14"/>
          <p:cNvSpPr/>
          <p:nvPr/>
        </p:nvSpPr>
        <p:spPr>
          <a:xfrm>
            <a:off x="9450000" y="1800000"/>
            <a:ext cx="1900000" cy="1200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4472C4"/>
            </a:solidFill>
          </a:ln>
        </p:spPr>
        <p:txBody>
          <a:bodyPr wrap="square" anchor="ctr"/>
          <a:lstStyle/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定数決定</a:t>
            </a:r>
            <a:endParaRPr lang="ja-JP" sz="1600"/>
          </a:p>
          <a:p>
            <a:pPr algn="ctr"/>
            <a:r>
              <a:rPr lang="ja-JP" sz="1600" b="0">
                <a:solidFill>
                  <a:srgbClr val="222222"/>
                </a:solidFill>
                <a:latin typeface="Noto Sans CJK JP"/>
                <a:ea typeface="Noto Sans CJK JP"/>
              </a:rPr>
              <a:t>q(0), q´(0)</a:t>
            </a:r>
            <a:endParaRPr lang="ja-JP" sz="1600"/>
          </a:p>
        </p:txBody>
      </p:sp>
      <p:sp>
        <p:nvSpPr>
          <p:cNvPr id="40" name="Text 40"/>
          <p:cNvSpPr txBox="1"/>
          <p:nvPr/>
        </p:nvSpPr>
        <p:spPr>
          <a:xfrm>
            <a:off x="700000" y="3900000"/>
            <a:ext cx="108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2000" b="0">
                <a:solidFill>
                  <a:srgbClr val="222222"/>
                </a:solidFill>
                <a:latin typeface="Noto Sans CJK JP"/>
                <a:ea typeface="Noto Sans CJK JP"/>
              </a:rPr>
              <a:t>検算：①2条件を満たす　②特性根を満たす　③符号・単位が整合</a:t>
            </a:r>
            <a:endParaRPr lang="ja-JP" sz="2000"/>
          </a:p>
          <a:p>
            <a:pPr algn="ctr"/>
            <a:r>
              <a:rPr lang="ja-JP" sz="2000" b="0">
                <a:solidFill>
                  <a:srgbClr val="222222"/>
                </a:solidFill>
                <a:latin typeface="Noto Sans CJK JP"/>
                <a:ea typeface="Noto Sans CJK JP"/>
              </a:rPr>
              <a:t>一階問題のように初期値1個だけで定数を決めない。</a:t>
            </a:r>
            <a:endParaRPr lang="ja-JP" sz="2000"/>
          </a:p>
        </p:txBody>
      </p:sp>
      <p:sp>
        <p:nvSpPr>
          <p:cNvPr id="41" name="Text 41"/>
          <p:cNvSpPr txBox="1"/>
          <p:nvPr/>
        </p:nvSpPr>
        <p:spPr>
          <a:xfrm>
            <a:off x="700000" y="5450000"/>
            <a:ext cx="108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2F5597"/>
                </a:solidFill>
                <a:latin typeface="Noto Sans CJK JP"/>
                <a:ea typeface="Noto Sans CJK JP"/>
              </a:rPr>
              <a:t>H28問3 (1)〜(5) の解法経路をこの順序で再現する。</a:t>
            </a:r>
            <a:endParaRPr lang="ja-JP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0000" y="180000"/>
            <a:ext cx="112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ja-JP" sz="2600" b="1">
                <a:solidFill>
                  <a:srgbClr val="17365D"/>
                </a:solidFill>
                <a:latin typeface="Noto Sans CJK JP"/>
                <a:ea typeface="Noto Sans CJK JP"/>
              </a:rPr>
              <a:t>固定EXAM_ALIGNMENTと範囲境界</a:t>
            </a:r>
            <a:endParaRPr lang="ja-JP" sz="2600"/>
          </a:p>
        </p:txBody>
      </p:sp>
      <p:sp>
        <p:nvSpPr>
          <p:cNvPr id="3" name="Shape 3"/>
          <p:cNvSpPr/>
          <p:nvPr/>
        </p:nvSpPr>
        <p:spPr>
          <a:xfrm>
            <a:off x="500000" y="900000"/>
            <a:ext cx="11200000" cy="250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</a:ln>
        </p:spPr>
        <p:txBody>
          <a:bodyPr wrap="square" anchor="ctr"/>
          <a:lstStyle/>
          <a:p>
            <a:pPr algn="ctr"/>
            <a:r>
              <a:rPr lang="ja-JP" sz="1800" b="0">
                <a:solidFill>
                  <a:srgbClr val="222222"/>
                </a:solidFill>
                <a:latin typeface="Noto Sans CJK JP"/>
                <a:ea typeface="Noto Sans CJK JP"/>
              </a:rPr>
              <a:t/>
            </a:r>
            <a:endParaRPr lang="ja-JP" sz="1800"/>
          </a:p>
        </p:txBody>
      </p:sp>
      <p:sp>
        <p:nvSpPr>
          <p:cNvPr id="10" name="Shape 10"/>
          <p:cNvSpPr/>
          <p:nvPr/>
        </p:nvSpPr>
        <p:spPr>
          <a:xfrm>
            <a:off x="500000" y="1450000"/>
            <a:ext cx="11200000" cy="500000"/>
          </a:xfrm>
          <a:prstGeom prst="rect">
            <a:avLst/>
          </a:prstGeom>
          <a:solidFill>
            <a:srgbClr val="D9EAF7"/>
          </a:solidFill>
          <a:ln w="12700">
            <a:solidFill>
              <a:srgbClr val="5B9BD5"/>
            </a:solidFill>
          </a:ln>
        </p:spPr>
        <p:txBody>
          <a:bodyPr wrap="square" anchor="ctr"/>
          <a:lstStyle/>
          <a:p>
            <a:pPr algn="ctr"/>
            <a:r>
              <a:rPr lang="ja-JP" sz="1600" b="1">
                <a:solidFill>
                  <a:srgbClr val="222222"/>
                </a:solidFill>
                <a:latin typeface="Noto Sans CJK JP"/>
                <a:ea typeface="Noto Sans CJK JP"/>
              </a:rPr>
              <a:t>過去問　　　　　　　 対象　　　 教材で再現する経路</a:t>
            </a:r>
            <a:endParaRPr lang="ja-JP" sz="1600"/>
          </a:p>
        </p:txBody>
      </p:sp>
      <p:sp>
        <p:nvSpPr>
          <p:cNvPr id="20" name="Shape 20"/>
          <p:cNvSpPr/>
          <p:nvPr/>
        </p:nvSpPr>
        <p:spPr>
          <a:xfrm>
            <a:off x="500000" y="1950000"/>
            <a:ext cx="112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anchor="ctr"/>
          <a:lstStyle/>
          <a:p>
            <a:pPr algn="ctr"/>
            <a:r>
              <a:rPr lang="ja-JP" sz="1500" b="0">
                <a:solidFill>
                  <a:srgbClr val="222222"/>
                </a:solidFill>
                <a:latin typeface="Noto Sans CJK JP"/>
                <a:ea typeface="Noto Sans CJK JP"/>
              </a:rPr>
              <a:t>R8 理論 問1　　　　 (4)〜(5)　　　復元力 → 二階式 → ωₙ・周期</a:t>
            </a:r>
            <a:endParaRPr lang="ja-JP" sz="1500"/>
          </a:p>
        </p:txBody>
      </p:sp>
      <p:sp>
        <p:nvSpPr>
          <p:cNvPr id="21" name="Shape 21"/>
          <p:cNvSpPr/>
          <p:nvPr/>
        </p:nvSpPr>
        <p:spPr>
          <a:xfrm>
            <a:off x="500000" y="2550000"/>
            <a:ext cx="11200000" cy="6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 wrap="square" anchor="ctr"/>
          <a:lstStyle/>
          <a:p>
            <a:pPr algn="ctr"/>
            <a:r>
              <a:rPr lang="ja-JP" sz="1500" b="0">
                <a:solidFill>
                  <a:srgbClr val="222222"/>
                </a:solidFill>
                <a:latin typeface="Noto Sans CJK JP"/>
                <a:ea typeface="Noto Sans CJK JP"/>
              </a:rPr>
              <a:t>R8 理論 問6　　　　 (3)〜(4)　　　i_L=−dq/dt → 2R係数 → 二階式</a:t>
            </a:r>
            <a:endParaRPr lang="ja-JP" sz="1500"/>
          </a:p>
        </p:txBody>
      </p:sp>
      <p:sp>
        <p:nvSpPr>
          <p:cNvPr id="22" name="Shape 22"/>
          <p:cNvSpPr/>
          <p:nvPr/>
        </p:nvSpPr>
        <p:spPr>
          <a:xfrm>
            <a:off x="500000" y="3150000"/>
            <a:ext cx="112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anchor="ctr"/>
          <a:lstStyle/>
          <a:p>
            <a:pPr algn="ctr"/>
            <a:r>
              <a:rPr lang="ja-JP" sz="1500" b="0">
                <a:solidFill>
                  <a:srgbClr val="222222"/>
                </a:solidFill>
                <a:latin typeface="Noto Sans CJK JP"/>
                <a:ea typeface="Noto Sans CJK JP"/>
              </a:rPr>
              <a:t>R3 理論 問5　　　　 (1)〜(4)　　　RLC初期条件・KVL・連続性</a:t>
            </a:r>
            <a:endParaRPr lang="ja-JP" sz="1500"/>
          </a:p>
        </p:txBody>
      </p:sp>
      <p:sp>
        <p:nvSpPr>
          <p:cNvPr id="23" name="Shape 23"/>
          <p:cNvSpPr/>
          <p:nvPr/>
        </p:nvSpPr>
        <p:spPr>
          <a:xfrm>
            <a:off x="500000" y="3750000"/>
            <a:ext cx="11200000" cy="600000"/>
          </a:xfrm>
          <a:prstGeom prst="rect">
            <a:avLst/>
          </a:prstGeom>
          <a:solidFill>
            <a:srgbClr val="F7F9FC"/>
          </a:solidFill>
          <a:ln w="12700">
            <a:solidFill>
              <a:srgbClr val="D9E2F3"/>
            </a:solidFill>
          </a:ln>
        </p:spPr>
        <p:txBody>
          <a:bodyPr wrap="square" anchor="ctr"/>
          <a:lstStyle/>
          <a:p>
            <a:pPr algn="ctr"/>
            <a:r>
              <a:rPr lang="ja-JP" sz="1500" b="0">
                <a:solidFill>
                  <a:srgbClr val="222222"/>
                </a:solidFill>
                <a:latin typeface="Noto Sans CJK JP"/>
                <a:ea typeface="Noto Sans CJK JP"/>
              </a:rPr>
              <a:t>H28 理論 問3　　　　 (1)〜(5)　　　二実根・指数応答・定数決定</a:t>
            </a:r>
            <a:endParaRPr lang="ja-JP" sz="1500"/>
          </a:p>
        </p:txBody>
      </p:sp>
      <p:sp>
        <p:nvSpPr>
          <p:cNvPr id="24" name="Shape 24"/>
          <p:cNvSpPr/>
          <p:nvPr/>
        </p:nvSpPr>
        <p:spPr>
          <a:xfrm>
            <a:off x="500000" y="4350000"/>
            <a:ext cx="11200000" cy="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3"/>
            </a:solidFill>
          </a:ln>
        </p:spPr>
        <p:txBody>
          <a:bodyPr wrap="square" anchor="ctr"/>
          <a:lstStyle/>
          <a:p>
            <a:pPr algn="ctr"/>
            <a:r>
              <a:rPr lang="ja-JP" sz="1500" b="0">
                <a:solidFill>
                  <a:srgbClr val="222222"/>
                </a:solidFill>
                <a:latin typeface="Noto Sans CJK JP"/>
                <a:ea typeface="Noto Sans CJK JP"/>
              </a:rPr>
              <a:t>H24 理論 問3　　　　 (1)〜(2)　　　KVL → 二階方程式への入口</a:t>
            </a:r>
            <a:endParaRPr lang="ja-JP" sz="1500"/>
          </a:p>
        </p:txBody>
      </p:sp>
      <p:sp>
        <p:nvSpPr>
          <p:cNvPr id="40" name="Text 40"/>
          <p:cNvSpPr txBox="1"/>
          <p:nvPr/>
        </p:nvSpPr>
        <p:spPr>
          <a:xfrm>
            <a:off x="700000" y="51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ja-JP" sz="1800" b="1">
                <a:solidFill>
                  <a:srgbClr val="17365D"/>
                </a:solidFill>
                <a:latin typeface="Noto Sans CJK JP"/>
                <a:ea typeface="Noto Sans CJK JP"/>
              </a:rPr>
              <a:t>合計：一次5問・15小問　｜　制作前独立再解答 15 / 15 PASS</a:t>
            </a:r>
            <a:endParaRPr lang="ja-JP" sz="1800"/>
          </a:p>
          <a:p>
            <a:pPr algn="ctr"/>
            <a:r>
              <a:rPr lang="ja-JP" sz="1800" b="1">
                <a:solidFill>
                  <a:srgbClr val="17365D"/>
                </a:solidFill>
                <a:latin typeface="Noto Sans CJK JP"/>
                <a:ea typeface="Noto Sans CJK JP"/>
              </a:rPr>
              <a:t>範囲外：ラプラス変換、伝達関数、極・零点、未確認実車値。</a:t>
            </a:r>
            <a:endParaRPr lang="ja-JP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7365D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