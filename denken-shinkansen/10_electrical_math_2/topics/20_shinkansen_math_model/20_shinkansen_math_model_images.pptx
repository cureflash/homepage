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/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3B5B"/>
          </a:solidFill>
          <a:ln w="12700">
            <a:solidFill>
              <a:srgbClr val="1F3B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 電気数学｜Topic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06640" y="6510528"/>
            <a:ext cx="4370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図表・計算例：自作／数値は教育用仮定値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1828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2800" b="1">
                <a:solidFill>
                  <a:srgbClr val="172B4D"/>
                </a:solidFill>
                <a:latin typeface="Noto Sans CJK JP"/>
                <a:ea typeface="Noto Sans CJK JP"/>
                <a:cs typeface="Noto Sans CJK JP"/>
              </a:rPr>
              <a:t>Topic 20｜新幹線を数式モデルだけで走らせる</a:t>
            </a:r>
            <a:endParaRPr lang="ja-JP" sz="2800"/>
          </a:p>
        </p:txBody>
      </p:sp>
      <p:sp>
        <p:nvSpPr>
          <p:cNvPr id="3" name="Subtitle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11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固定範囲のみを一つの計算フローへ統合</a:t>
            </a:r>
            <a:endParaRPr lang="ja-JP" sz="1100"/>
          </a:p>
        </p:txBody>
      </p:sp>
      <p:sp>
        <p:nvSpPr>
          <p:cNvPr id="4" name="flow0"/>
          <p:cNvSpPr txBox="1"/>
          <p:nvPr/>
        </p:nvSpPr>
        <p:spPr>
          <a:xfrm>
            <a:off x="5029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牽引力・走行抵抗</a:t>
            </a:r>
            <a:endParaRPr lang="ja-JP" sz="1300"/>
          </a:p>
        </p:txBody>
      </p:sp>
      <p:sp>
        <p:nvSpPr>
          <p:cNvPr id="5" name="flow1"/>
          <p:cNvSpPr txBox="1"/>
          <p:nvPr/>
        </p:nvSpPr>
        <p:spPr>
          <a:xfrm>
            <a:off x="21031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運動方程式</a:t>
            </a:r>
            <a:endParaRPr lang="ja-JP" sz="1300"/>
          </a:p>
        </p:txBody>
      </p:sp>
      <p:sp>
        <p:nvSpPr>
          <p:cNvPr id="6" name="flow2"/>
          <p:cNvSpPr txBox="1"/>
          <p:nvPr/>
        </p:nvSpPr>
        <p:spPr>
          <a:xfrm>
            <a:off x="37033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数値積分</a:t>
            </a:r>
            <a:endParaRPr lang="ja-JP" sz="1300"/>
          </a:p>
        </p:txBody>
      </p:sp>
      <p:sp>
        <p:nvSpPr>
          <p:cNvPr id="7" name="flow3"/>
          <p:cNvSpPr txBox="1"/>
          <p:nvPr/>
        </p:nvSpPr>
        <p:spPr>
          <a:xfrm>
            <a:off x="53035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速度・位置</a:t>
            </a:r>
            <a:endParaRPr lang="ja-JP" sz="1300"/>
          </a:p>
        </p:txBody>
      </p:sp>
      <p:sp>
        <p:nvSpPr>
          <p:cNvPr id="8" name="flow4"/>
          <p:cNvSpPr txBox="1"/>
          <p:nvPr/>
        </p:nvSpPr>
        <p:spPr>
          <a:xfrm>
            <a:off x="69037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消費・回生電力</a:t>
            </a:r>
            <a:endParaRPr lang="ja-JP" sz="1300"/>
          </a:p>
        </p:txBody>
      </p:sp>
      <p:sp>
        <p:nvSpPr>
          <p:cNvPr id="9" name="flow5"/>
          <p:cNvSpPr txBox="1"/>
          <p:nvPr/>
        </p:nvSpPr>
        <p:spPr>
          <a:xfrm>
            <a:off x="85039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簡略制御モデル</a:t>
            </a:r>
            <a:endParaRPr lang="ja-JP" sz="1300"/>
          </a:p>
        </p:txBody>
      </p:sp>
      <p:sp>
        <p:nvSpPr>
          <p:cNvPr id="10" name="flow6"/>
          <p:cNvSpPr txBox="1"/>
          <p:nvPr/>
        </p:nvSpPr>
        <p:spPr>
          <a:xfrm>
            <a:off x="10104120" y="1417320"/>
            <a:ext cx="141732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3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PWM波形・FFT</a:t>
            </a:r>
            <a:endParaRPr lang="ja-JP" sz="1300"/>
          </a:p>
        </p:txBody>
      </p:sp>
      <p:sp>
        <p:nvSpPr>
          <p:cNvPr id="20" name="gate"/>
          <p:cNvSpPr txBox="1"/>
          <p:nvPr/>
        </p:nvSpPr>
        <p:spPr>
          <a:xfrm>
            <a:off x="594360" y="2788920"/>
            <a:ext cx="10972800" cy="2331720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7FB69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20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二種対応品質ゲート</a:t>
            </a:r>
            <a:endParaRPr lang="ja-JP" sz="20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接続確認した第二種公式過去問：5問</a:t>
            </a:r>
            <a:endParaRPr lang="ja-JP" sz="17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統合モデル自体を直接要求する確認済み過去問：0問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接続5問の直接対応件数への水増し：0件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未確認実車値・仕様外算法の追加：0件</a:t>
            </a:r>
            <a:endParaRPr lang="ja-JP" sz="1600"/>
          </a:p>
        </p:txBody>
      </p:sp>
      <p:sp>
        <p:nvSpPr>
          <p:cNvPr id="21" name="foot"/>
          <p:cNvSpPr txBox="1"/>
          <p:nvPr/>
        </p:nvSpPr>
        <p:spPr>
          <a:xfrm>
            <a:off x="640080" y="57607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ctr"/>
            <a:r>
              <a:rPr lang="ja-JP" sz="13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目的：既習数学を再講義せず、変数・単位・符号規約を保って接続する。</a:t>
            </a:r>
            <a:endParaRPr lang="ja-JP"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2800" b="1">
                <a:solidFill>
                  <a:srgbClr val="172B4D"/>
                </a:solidFill>
                <a:latin typeface="Noto Sans CJK JP"/>
                <a:ea typeface="Noto Sans CJK JP"/>
                <a:cs typeface="Noto Sans CJK JP"/>
              </a:rPr>
              <a:t>1｜力 → 速度 → 位置 → 仕事</a:t>
            </a:r>
            <a:endParaRPr lang="ja-JP" sz="2800"/>
          </a:p>
        </p:txBody>
      </p:sp>
      <p:sp>
        <p:nvSpPr>
          <p:cNvPr id="3" name="Subtitle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11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例題1：教育用仮定値だけでエネルギー収支まで検算</a:t>
            </a:r>
            <a:endParaRPr lang="ja-JP" sz="1100"/>
          </a:p>
        </p:txBody>
      </p:sp>
      <p:sp>
        <p:nvSpPr>
          <p:cNvPr id="4" name="conditions"/>
          <p:cNvSpPr txBox="1"/>
          <p:nvPr/>
        </p:nvSpPr>
        <p:spPr>
          <a:xfrm>
            <a:off x="548640" y="1325880"/>
            <a:ext cx="31546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条件</a:t>
            </a:r>
            <a:endParaRPr lang="ja-JP" sz="1800"/>
          </a:p>
          <a:p>
            <a:pPr algn="l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m = 5000 kg</a:t>
            </a:r>
            <a:endParaRPr lang="ja-JP" sz="1600"/>
          </a:p>
          <a:p>
            <a:pPr algn="l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Ftraction = 15000 N</a:t>
            </a:r>
            <a:endParaRPr lang="ja-JP" sz="1600"/>
          </a:p>
          <a:p>
            <a:pPr algn="l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Fresistance = 5000 N</a:t>
            </a:r>
            <a:endParaRPr lang="ja-JP" sz="1600"/>
          </a:p>
          <a:p>
            <a:pPr algn="l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v0 = 4 m/s</a:t>
            </a:r>
            <a:endParaRPr lang="ja-JP" sz="1600"/>
          </a:p>
          <a:p>
            <a:pPr algn="l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Δt = 2 s</a:t>
            </a:r>
            <a:endParaRPr lang="ja-JP" sz="1600"/>
          </a:p>
        </p:txBody>
      </p:sp>
      <p:sp>
        <p:nvSpPr>
          <p:cNvPr id="5" name="calc"/>
          <p:cNvSpPr txBox="1"/>
          <p:nvPr/>
        </p:nvSpPr>
        <p:spPr>
          <a:xfrm>
            <a:off x="3931920" y="1325880"/>
            <a:ext cx="3657600" cy="43434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7EA6C4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運動と位置</a:t>
            </a:r>
            <a:endParaRPr lang="ja-JP" sz="18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Fnet = 10000 N</a:t>
            </a:r>
            <a:endParaRPr lang="ja-JP" sz="17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a = Fnet / m = 2 m/s²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v1 = 4 + 2×2 = 8 m/s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Δx = (4+8)/2 × 2 = 12 m</a:t>
            </a:r>
            <a:endParaRPr lang="ja-JP" sz="1600"/>
          </a:p>
        </p:txBody>
      </p:sp>
      <p:sp>
        <p:nvSpPr>
          <p:cNvPr id="6" name="check"/>
          <p:cNvSpPr txBox="1"/>
          <p:nvPr/>
        </p:nvSpPr>
        <p:spPr>
          <a:xfrm>
            <a:off x="7818120" y="1325880"/>
            <a:ext cx="3794760" cy="434340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4A64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仕事・電力の検算</a:t>
            </a:r>
            <a:endParaRPr lang="ja-JP" sz="18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Wtraction = 180 kJ</a:t>
            </a:r>
            <a:endParaRPr lang="ja-JP" sz="17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ΔK = 120 kJ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Wresistance = 60 kJ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∫Pdt = 180 kJ</a:t>
            </a:r>
            <a:endParaRPr lang="ja-JP" sz="1600"/>
          </a:p>
          <a:p>
            <a:pPr algn="ctr"/>
            <a:r>
              <a:rPr lang="ja-JP" sz="1500" b="1">
                <a:solidFill>
                  <a:srgbClr val="8A4B08"/>
                </a:solidFill>
                <a:latin typeface="Noto Sans CJK JP"/>
                <a:ea typeface="Noto Sans CJK JP"/>
                <a:cs typeface="Noto Sans CJK JP"/>
              </a:rPr>
              <a:t>FΔx = ∫Pdt = ΔK + Wresistance</a:t>
            </a:r>
            <a:endParaRPr lang="ja-JP"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2800" b="1">
                <a:solidFill>
                  <a:srgbClr val="172B4D"/>
                </a:solidFill>
                <a:latin typeface="Noto Sans CJK JP"/>
                <a:ea typeface="Noto Sans CJK JP"/>
                <a:cs typeface="Noto Sans CJK JP"/>
              </a:rPr>
              <a:t>2｜同じ一次運動を時間領域とラプラス領域で見る</a:t>
            </a:r>
            <a:endParaRPr lang="ja-JP" sz="2800"/>
          </a:p>
        </p:txBody>
      </p:sp>
      <p:sp>
        <p:nvSpPr>
          <p:cNvPr id="3" name="Subtitle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11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例題2：解析解とEuler法を照合し、刻み幅による差を確認</a:t>
            </a:r>
            <a:endParaRPr lang="ja-JP" sz="1100"/>
          </a:p>
        </p:txBody>
      </p:sp>
      <p:sp>
        <p:nvSpPr>
          <p:cNvPr id="4" name="model"/>
          <p:cNvSpPr txBox="1"/>
          <p:nvPr/>
        </p:nvSpPr>
        <p:spPr>
          <a:xfrm>
            <a:off x="594360" y="1325880"/>
            <a:ext cx="3474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一次モデル</a:t>
            </a:r>
            <a:endParaRPr lang="ja-JP" sz="1800"/>
          </a:p>
          <a:p>
            <a:pPr algn="ctr"/>
            <a:r>
              <a:rPr lang="ja-JP" sz="18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6 dv/dt + 2v = 12</a:t>
            </a:r>
            <a:endParaRPr lang="ja-JP" sz="18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v(0)=0</a:t>
            </a:r>
            <a:endParaRPr lang="ja-JP" sz="16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G(s)=1/(6s+2)</a:t>
            </a:r>
            <a:endParaRPr lang="ja-JP" sz="17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τ = 3 s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定常速度 = 6 m/s</a:t>
            </a:r>
            <a:endParaRPr lang="ja-JP" sz="1600"/>
          </a:p>
        </p:txBody>
      </p:sp>
      <p:sp>
        <p:nvSpPr>
          <p:cNvPr id="5" name="analytic"/>
          <p:cNvSpPr txBox="1"/>
          <p:nvPr/>
        </p:nvSpPr>
        <p:spPr>
          <a:xfrm>
            <a:off x="4297680" y="1325880"/>
            <a:ext cx="3474720" cy="438912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7EA6C4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解析解</a:t>
            </a:r>
            <a:endParaRPr lang="ja-JP" sz="18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v(t)=6(1−e^(−t/3))</a:t>
            </a:r>
            <a:endParaRPr lang="ja-JP" sz="17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t = 3 s</a:t>
            </a:r>
            <a:endParaRPr lang="ja-JP" sz="16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v(3)=3.792723... m/s</a:t>
            </a:r>
            <a:endParaRPr lang="ja-JP" sz="1700"/>
          </a:p>
          <a:p>
            <a:pPr algn="ctr"/>
            <a:r>
              <a:rPr lang="ja-JP" sz="15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時間応答と伝達関数は</a:t>
            </a:r>
            <a:endParaRPr lang="ja-JP" sz="1500"/>
          </a:p>
          <a:p>
            <a:pPr algn="ctr"/>
            <a:r>
              <a:rPr lang="ja-JP" sz="15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同じモデルの別表現</a:t>
            </a:r>
            <a:endParaRPr lang="ja-JP" sz="1500"/>
          </a:p>
        </p:txBody>
      </p:sp>
      <p:sp>
        <p:nvSpPr>
          <p:cNvPr id="6" name="euler"/>
          <p:cNvSpPr txBox="1"/>
          <p:nvPr/>
        </p:nvSpPr>
        <p:spPr>
          <a:xfrm>
            <a:off x="8001000" y="1325880"/>
            <a:ext cx="3611880" cy="438912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4A64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Euler法 Δt=1 s</a:t>
            </a:r>
            <a:endParaRPr lang="ja-JP" sz="18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v0 = 0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v1 = 2.0000</a:t>
            </a:r>
            <a:endParaRPr lang="ja-JP" sz="16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v2 = 3.3333</a:t>
            </a:r>
            <a:endParaRPr lang="ja-JP" sz="16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v3 = 4.2222 m/s</a:t>
            </a:r>
            <a:endParaRPr lang="ja-JP" sz="1700"/>
          </a:p>
          <a:p>
            <a:pPr algn="ctr"/>
            <a:r>
              <a:rPr lang="ja-JP" sz="1500" b="1">
                <a:solidFill>
                  <a:srgbClr val="8A4B08"/>
                </a:solidFill>
                <a:latin typeface="Noto Sans CJK JP"/>
                <a:ea typeface="Noto Sans CJK JP"/>
                <a:cs typeface="Noto Sans CJK JP"/>
              </a:rPr>
              <a:t>解析解との差 ≈ 0.4295 m/s</a:t>
            </a:r>
            <a:endParaRPr lang="ja-JP"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2800" b="1">
                <a:solidFill>
                  <a:srgbClr val="172B4D"/>
                </a:solidFill>
                <a:latin typeface="Noto Sans CJK JP"/>
                <a:ea typeface="Noto Sans CJK JP"/>
                <a:cs typeface="Noto Sans CJK JP"/>
              </a:rPr>
              <a:t>3｜回生は符号を途中で変えない</a:t>
            </a:r>
            <a:endParaRPr lang="ja-JP" sz="2800"/>
          </a:p>
        </p:txBody>
      </p:sp>
      <p:sp>
        <p:nvSpPr>
          <p:cNvPr id="3" name="Subtitle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11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例題3：負の機械電力と、正で表示する回収量を分離</a:t>
            </a:r>
            <a:endParaRPr lang="ja-JP" sz="1100"/>
          </a:p>
        </p:txBody>
      </p:sp>
      <p:sp>
        <p:nvSpPr>
          <p:cNvPr id="4" name="regen"/>
          <p:cNvSpPr txBox="1"/>
          <p:nvPr/>
        </p:nvSpPr>
        <p:spPr>
          <a:xfrm>
            <a:off x="594360" y="132588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回生区間（教育用）</a:t>
            </a:r>
            <a:endParaRPr lang="ja-JP" sz="1800"/>
          </a:p>
          <a:p>
            <a:pPr algn="ctr"/>
            <a:r>
              <a:rPr lang="ja-JP" sz="16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m=3000 kg, Fregen=−6000 N</a:t>
            </a:r>
            <a:endParaRPr lang="ja-JP" sz="16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v : 12 → 10 → 8 → 6 m/s</a:t>
            </a:r>
            <a:endParaRPr lang="ja-JP" sz="1700"/>
          </a:p>
          <a:p>
            <a:pPr algn="ctr"/>
            <a:r>
              <a:rPr lang="ja-JP" sz="17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Δx = 27 m</a:t>
            </a:r>
            <a:endParaRPr lang="ja-JP" sz="1700"/>
          </a:p>
          <a:p>
            <a:pPr algn="ctr"/>
            <a:r>
              <a:rPr lang="ja-JP" sz="1700" b="1">
                <a:solidFill>
                  <a:srgbClr val="B54708"/>
                </a:solidFill>
                <a:latin typeface="Noto Sans CJK JP"/>
                <a:ea typeface="Noto Sans CJK JP"/>
                <a:cs typeface="Noto Sans CJK JP"/>
              </a:rPr>
              <a:t>E_signed = Fregen Δx = −162 kJ</a:t>
            </a:r>
            <a:endParaRPr lang="ja-JP" sz="1700"/>
          </a:p>
          <a:p>
            <a:pPr algn="ctr"/>
            <a:r>
              <a:rPr lang="ja-JP" sz="1600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ΔK = −162 kJ  → 一致</a:t>
            </a:r>
            <a:endParaRPr lang="ja-JP" sz="1600"/>
          </a:p>
        </p:txBody>
      </p:sp>
      <p:sp>
        <p:nvSpPr>
          <p:cNvPr id="5" name="sign"/>
          <p:cNvSpPr txBox="1"/>
          <p:nvPr/>
        </p:nvSpPr>
        <p:spPr>
          <a:xfrm>
            <a:off x="6217920" y="1325880"/>
            <a:ext cx="5349240" cy="4480560"/>
          </a:xfrm>
          <a:prstGeom prst="roundRect">
            <a:avLst/>
          </a:prstGeom>
          <a:solidFill>
            <a:srgbClr val="FFF7E8"/>
          </a:solidFill>
          <a:ln w="12700">
            <a:solidFill>
              <a:srgbClr val="D4A64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8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表示規約</a:t>
            </a:r>
            <a:endParaRPr lang="ja-JP" sz="1800"/>
          </a:p>
          <a:p>
            <a:pPr algn="ctr"/>
            <a:r>
              <a:rPr lang="ja-JP" sz="15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機械側の符号付きエネルギー</a:t>
            </a:r>
            <a:endParaRPr lang="ja-JP" sz="1500"/>
          </a:p>
          <a:p>
            <a:pPr algn="ctr"/>
            <a:r>
              <a:rPr lang="ja-JP" sz="2300" b="1">
                <a:solidFill>
                  <a:srgbClr val="B54708"/>
                </a:solidFill>
                <a:latin typeface="Noto Sans CJK JP"/>
                <a:ea typeface="Noto Sans CJK JP"/>
                <a:cs typeface="Noto Sans CJK JP"/>
              </a:rPr>
              <a:t>−162 kJ</a:t>
            </a:r>
            <a:endParaRPr lang="ja-JP" sz="2300"/>
          </a:p>
          <a:p>
            <a:pPr algn="ctr"/>
            <a:r>
              <a:rPr lang="ja-JP" sz="15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回収量を正で表示するなら</a:t>
            </a:r>
            <a:endParaRPr lang="ja-JP" sz="1500"/>
          </a:p>
          <a:p>
            <a:pPr algn="ctr"/>
            <a:r>
              <a:rPr lang="ja-JP" sz="20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Eregen_mechanical = 162 kJ</a:t>
            </a:r>
            <a:endParaRPr lang="ja-JP" sz="2000"/>
          </a:p>
          <a:p>
            <a:pPr algn="ctr"/>
            <a:r>
              <a:rPr lang="ja-JP" sz="1500" b="1">
                <a:solidFill>
                  <a:srgbClr val="8A4B08"/>
                </a:solidFill>
                <a:latin typeface="Noto Sans CJK JP"/>
                <a:ea typeface="Noto Sans CJK JP"/>
                <a:cs typeface="Noto Sans CJK JP"/>
              </a:rPr>
              <a:t>これは電気側の実回収電力量ではない</a:t>
            </a:r>
            <a:endParaRPr lang="ja-JP"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2800" b="1">
                <a:solidFill>
                  <a:srgbClr val="172B4D"/>
                </a:solidFill>
                <a:latin typeface="Noto Sans CJK JP"/>
                <a:ea typeface="Noto Sans CJK JP"/>
                <a:cs typeface="Noto Sans CJK JP"/>
              </a:rPr>
              <a:t>4｜PWM波形 → サンプリング → FFT</a:t>
            </a:r>
            <a:endParaRPr lang="ja-JP" sz="2800"/>
          </a:p>
        </p:txBody>
      </p:sp>
      <p:sp>
        <p:nvSpPr>
          <p:cNvPr id="3" name="Subtitle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18288" bIns="18288" anchor="ctr"/>
          <a:lstStyle/>
          <a:p>
            <a:pPr algn="l"/>
            <a:r>
              <a:rPr lang="ja-JP" sz="11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FFTを使う前に、まずサンプリング条件と周波数軸を確認</a:t>
            </a:r>
            <a:endParaRPr lang="ja-JP" sz="1100"/>
          </a:p>
        </p:txBody>
      </p:sp>
      <p:sp>
        <p:nvSpPr>
          <p:cNvPr id="4" name="sampling"/>
          <p:cNvSpPr txBox="1"/>
          <p:nvPr/>
        </p:nvSpPr>
        <p:spPr>
          <a:xfrm>
            <a:off x="548640" y="1280160"/>
            <a:ext cx="47548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A8C1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代理波形</a:t>
            </a:r>
            <a:endParaRPr lang="ja-JP" sz="1700"/>
          </a:p>
          <a:p>
            <a:pPr algn="ctr"/>
            <a:r>
              <a:rPr lang="ja-JP" sz="15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x(t)=sin(2π·10t)+(1/4)sin(2π·30t)</a:t>
            </a:r>
            <a:endParaRPr lang="ja-JP" sz="1500"/>
          </a:p>
          <a:p>
            <a:pPr algn="ctr"/>
            <a:r>
              <a:rPr lang="ja-JP" sz="16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fmax = 30 Hz</a:t>
            </a:r>
            <a:endParaRPr lang="ja-JP" sz="1600"/>
          </a:p>
          <a:p>
            <a:pPr algn="ctr"/>
            <a:r>
              <a:rPr lang="ja-JP" sz="1500" b="1">
                <a:solidFill>
                  <a:srgbClr val="B54708"/>
                </a:solidFill>
                <a:latin typeface="Noto Sans CJK JP"/>
                <a:ea typeface="Noto Sans CJK JP"/>
                <a:cs typeface="Noto Sans CJK JP"/>
              </a:rPr>
              <a:t>fs=50 Hz → 50 &gt; 60 を満たさない</a:t>
            </a:r>
            <a:endParaRPr lang="ja-JP" sz="1500"/>
          </a:p>
          <a:p>
            <a:pPr algn="ctr"/>
            <a:r>
              <a:rPr lang="ja-JP" sz="15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fs=80 Hz, N=8 → Δf=10 Hz</a:t>
            </a:r>
            <a:endParaRPr lang="ja-JP" sz="1500"/>
          </a:p>
        </p:txBody>
      </p:sp>
      <p:sp>
        <p:nvSpPr>
          <p:cNvPr id="5" name="bins"/>
          <p:cNvSpPr txBox="1"/>
          <p:nvPr/>
        </p:nvSpPr>
        <p:spPr>
          <a:xfrm>
            <a:off x="5532120" y="1280160"/>
            <a:ext cx="6080760" cy="2286000"/>
          </a:xfrm>
          <a:prstGeom prst="roundRect">
            <a:avLst/>
          </a:prstGeom>
          <a:solidFill>
            <a:srgbClr val="F2F7FB"/>
          </a:solidFill>
          <a:ln w="12700">
            <a:solidFill>
              <a:srgbClr val="7EA6C4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周波数ビン</a:t>
            </a:r>
            <a:endParaRPr lang="ja-JP" sz="1700"/>
          </a:p>
          <a:p>
            <a:pPr algn="ctr"/>
            <a:r>
              <a:rPr lang="ja-JP" sz="20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10 Hz → k=1</a:t>
            </a:r>
            <a:endParaRPr lang="ja-JP" sz="2000"/>
          </a:p>
          <a:p>
            <a:pPr algn="ctr"/>
            <a:r>
              <a:rPr lang="ja-JP" sz="20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30 Hz → k=3</a:t>
            </a:r>
            <a:endParaRPr lang="ja-JP" sz="2000"/>
          </a:p>
          <a:p>
            <a:pPr algn="ctr"/>
            <a:r>
              <a:rPr lang="ja-JP" sz="1400">
                <a:solidFill>
                  <a:srgbClr val="5E6C84"/>
                </a:solidFill>
                <a:latin typeface="Noto Sans CJK JP"/>
                <a:ea typeface="Noto Sans CJK JP"/>
                <a:cs typeface="Noto Sans CJK JP"/>
              </a:rPr>
              <a:t>FFTはDFTと同じ離散周波数成分を効率よく求める計算手段</a:t>
            </a:r>
            <a:endParaRPr lang="ja-JP" sz="1400"/>
          </a:p>
        </p:txBody>
      </p:sp>
      <p:sp>
        <p:nvSpPr>
          <p:cNvPr id="6" name="mapping"/>
          <p:cNvSpPr txBox="1"/>
          <p:nvPr/>
        </p:nvSpPr>
        <p:spPr>
          <a:xfrm>
            <a:off x="548640" y="3840480"/>
            <a:ext cx="11064240" cy="1965960"/>
          </a:xfrm>
          <a:prstGeom prst="roundRect">
            <a:avLst/>
          </a:prstGeom>
          <a:solidFill>
            <a:srgbClr val="EAF4EF"/>
          </a:solidFill>
          <a:ln w="12700">
            <a:solidFill>
              <a:srgbClr val="7FB69A"/>
            </a:solidFill>
          </a:ln>
        </p:spPr>
        <p:txBody>
          <a:bodyPr wrap="square" lIns="73152" rIns="73152" tIns="73152" bIns="73152" anchor="ctr"/>
          <a:lstStyle/>
          <a:p>
            <a:pPr algn="ctr"/>
            <a:r>
              <a:rPr lang="ja-JP" sz="1700" b="1">
                <a:solidFill>
                  <a:srgbClr val="17324D"/>
                </a:solidFill>
                <a:latin typeface="Noto Sans CJK JP"/>
                <a:ea typeface="Noto Sans CJK JP"/>
                <a:cs typeface="Noto Sans CJK JP"/>
              </a:rPr>
              <a:t>第二種公式過去問との接続（直接対応としては数えない）</a:t>
            </a:r>
            <a:endParaRPr lang="ja-JP" sz="1700"/>
          </a:p>
          <a:p>
            <a:pPr algn="ctr"/>
            <a:r>
              <a:rPr lang="ja-JP" sz="13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R8 理論 問6：微分方程式｜R6 法規 問4：時間積算｜R7 二次 機械・制御 問4：伝達関数</a:t>
            </a:r>
            <a:endParaRPr lang="ja-JP" sz="1300"/>
          </a:p>
          <a:p>
            <a:pPr algn="ctr"/>
            <a:r>
              <a:rPr lang="ja-JP" sz="1300">
                <a:solidFill>
                  <a:srgbClr val="243447"/>
                </a:solidFill>
                <a:latin typeface="Noto Sans CJK JP"/>
                <a:ea typeface="Noto Sans CJK JP"/>
                <a:cs typeface="Noto Sans CJK JP"/>
              </a:rPr>
              <a:t>H28 二次 機械・制御 問3：周期波形・高調波｜R3 機械 問8：サンプリング定理</a:t>
            </a:r>
            <a:endParaRPr lang="ja-JP" sz="1300"/>
          </a:p>
          <a:p>
            <a:pPr algn="ctr"/>
            <a:r>
              <a:rPr lang="ja-JP" sz="1500" b="1">
                <a:solidFill>
                  <a:srgbClr val="276749"/>
                </a:solidFill>
                <a:latin typeface="Noto Sans CJK JP"/>
                <a:ea typeface="Noto Sans CJK JP"/>
                <a:cs typeface="Noto Sans CJK JP"/>
              </a:rPr>
              <a:t>接続5問 / 直接要求0問 / 件数水増し0件</a:t>
            </a:r>
            <a:endParaRPr lang="ja-JP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0</Notes>
  <HiddenSlides>0</HiddenSlides>
  <MMClips>0</MMClips>
  <ScaleCrop>false</ScaleCrop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Topic 20 新幹線を数式モデルだけで走らせる</dc:title>
  <dc:creator>OpenAI</dc:creator>
  <dcterms:created xsi:type="dcterms:W3CDTF">2026-09-19T00:00:00Z</dcterms:created>
</cp:coreProperties>
</file>