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770"/>
                </a:solidFill>
                <a:latin typeface="Noto Sans CJK JP"/>
              </a:rPr>
              <a:t>電験三種 電気数学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37376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5C6770"/>
                </a:solidFill>
                <a:latin typeface="Noto Sans CJK JP"/>
              </a:rPr>
              <a:t>積分 速度曲線の面積は距離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37376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5C6770"/>
                </a:solidFill>
                <a:latin typeface="Noto Sans CJK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3832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243447"/>
                </a:solidFill>
                <a:latin typeface="Noto Sans CJK JP"/>
              </a:rPr>
              <a:t>定積分は「符号付き面積」を数値にする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0467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5C6770"/>
                </a:solidFill>
                <a:latin typeface="Noto Sans CJK JP"/>
              </a:rPr>
              <a:t>原始関数 → 上端 − 下端。正負をそのまま足し合わせる。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4069080"/>
            <a:ext cx="4617720" cy="0"/>
          </a:xfrm>
          <a:prstGeom prst="line">
            <a:avLst/>
          </a:prstGeom>
          <a:ln w="17780">
            <a:solidFill>
              <a:srgbClr val="1E25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68680" y="1417320"/>
            <a:ext cx="0" cy="3108960"/>
          </a:xfrm>
          <a:prstGeom prst="line">
            <a:avLst/>
          </a:prstGeom>
          <a:ln w="17780">
            <a:solidFill>
              <a:srgbClr val="1E25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22392" y="4096512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1E252C"/>
                </a:solidFill>
                <a:latin typeface="Noto Sans CJK JP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35331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1E252C"/>
                </a:solidFill>
                <a:latin typeface="Noto Sans CJK JP"/>
              </a:rPr>
              <a:t>f(x)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904488"/>
            <a:ext cx="98755" cy="164591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4011" y="3795613"/>
            <a:ext cx="98755" cy="273466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3622" y="3688456"/>
            <a:ext cx="98755" cy="380623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3233" y="3584705"/>
            <a:ext cx="98755" cy="484374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72844" y="3485998"/>
            <a:ext cx="98755" cy="583081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62456" y="3393890"/>
            <a:ext cx="98755" cy="675189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52067" y="3309835"/>
            <a:ext cx="98755" cy="759244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41678" y="3235158"/>
            <a:ext cx="98755" cy="833921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31289" y="3171037"/>
            <a:ext cx="98755" cy="898042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20900" y="3118482"/>
            <a:ext cx="98755" cy="950597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10512" y="3078324"/>
            <a:ext cx="98755" cy="990755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00123" y="3051194"/>
            <a:ext cx="98755" cy="1017885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89734" y="3037522"/>
            <a:ext cx="98755" cy="1031557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79345" y="3037522"/>
            <a:ext cx="98755" cy="1031557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68956" y="3051194"/>
            <a:ext cx="98755" cy="1017885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58568" y="3078324"/>
            <a:ext cx="98755" cy="990755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48179" y="3118482"/>
            <a:ext cx="98755" cy="950597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37790" y="3171037"/>
            <a:ext cx="98755" cy="898042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27401" y="3235158"/>
            <a:ext cx="98755" cy="833921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17012" y="3309835"/>
            <a:ext cx="98755" cy="759244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06624" y="3393890"/>
            <a:ext cx="98755" cy="675189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96235" y="3485998"/>
            <a:ext cx="98755" cy="583081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85846" y="3584705"/>
            <a:ext cx="98755" cy="484374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75457" y="3688456"/>
            <a:ext cx="98755" cy="380623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65068" y="3795613"/>
            <a:ext cx="98755" cy="273466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54680" y="3904488"/>
            <a:ext cx="98755" cy="164591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44291" y="4013362"/>
            <a:ext cx="98755" cy="55717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33902" y="4069080"/>
            <a:ext cx="98755" cy="51439"/>
          </a:xfrm>
          <a:prstGeom prst="rect">
            <a:avLst/>
          </a:prstGeom>
          <a:solidFill>
            <a:srgbClr val="F3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23513" y="4069080"/>
            <a:ext cx="98755" cy="155190"/>
          </a:xfrm>
          <a:prstGeom prst="rect">
            <a:avLst/>
          </a:prstGeom>
          <a:solidFill>
            <a:srgbClr val="F3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13124" y="4069080"/>
            <a:ext cx="98755" cy="253897"/>
          </a:xfrm>
          <a:prstGeom prst="rect">
            <a:avLst/>
          </a:prstGeom>
          <a:solidFill>
            <a:srgbClr val="F3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02736" y="4069080"/>
            <a:ext cx="98755" cy="346005"/>
          </a:xfrm>
          <a:prstGeom prst="rect">
            <a:avLst/>
          </a:prstGeom>
          <a:solidFill>
            <a:srgbClr val="F3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92347" y="4069080"/>
            <a:ext cx="98755" cy="430060"/>
          </a:xfrm>
          <a:prstGeom prst="rect">
            <a:avLst/>
          </a:prstGeom>
          <a:solidFill>
            <a:srgbClr val="F3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781958" y="4069080"/>
            <a:ext cx="98755" cy="504737"/>
          </a:xfrm>
          <a:prstGeom prst="rect">
            <a:avLst/>
          </a:prstGeom>
          <a:solidFill>
            <a:srgbClr val="F3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71569" y="4069080"/>
            <a:ext cx="98755" cy="568858"/>
          </a:xfrm>
          <a:prstGeom prst="rect">
            <a:avLst/>
          </a:prstGeom>
          <a:solidFill>
            <a:srgbClr val="F3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961180" y="4069080"/>
            <a:ext cx="98755" cy="621413"/>
          </a:xfrm>
          <a:prstGeom prst="rect">
            <a:avLst/>
          </a:prstGeom>
          <a:solidFill>
            <a:srgbClr val="F3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050791" y="4069080"/>
            <a:ext cx="98755" cy="661571"/>
          </a:xfrm>
          <a:prstGeom prst="rect">
            <a:avLst/>
          </a:prstGeom>
          <a:solidFill>
            <a:srgbClr val="F3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40403" y="4069080"/>
            <a:ext cx="98755" cy="688701"/>
          </a:xfrm>
          <a:prstGeom prst="rect">
            <a:avLst/>
          </a:prstGeom>
          <a:solidFill>
            <a:srgbClr val="F3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30014" y="4069080"/>
            <a:ext cx="98755" cy="702373"/>
          </a:xfrm>
          <a:prstGeom prst="rect">
            <a:avLst/>
          </a:prstGeom>
          <a:solidFill>
            <a:srgbClr val="F3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19625" y="4069080"/>
            <a:ext cx="98755" cy="702373"/>
          </a:xfrm>
          <a:prstGeom prst="rect">
            <a:avLst/>
          </a:prstGeom>
          <a:solidFill>
            <a:srgbClr val="F3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09236" y="4069080"/>
            <a:ext cx="98755" cy="688701"/>
          </a:xfrm>
          <a:prstGeom prst="rect">
            <a:avLst/>
          </a:prstGeom>
          <a:solidFill>
            <a:srgbClr val="F3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98848" y="4069080"/>
            <a:ext cx="98755" cy="661571"/>
          </a:xfrm>
          <a:prstGeom prst="rect">
            <a:avLst/>
          </a:prstGeom>
          <a:solidFill>
            <a:srgbClr val="F3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88459" y="4069080"/>
            <a:ext cx="98755" cy="621413"/>
          </a:xfrm>
          <a:prstGeom prst="rect">
            <a:avLst/>
          </a:prstGeom>
          <a:solidFill>
            <a:srgbClr val="F3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05348" y="4013362"/>
            <a:ext cx="98755" cy="55717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 flipV="1">
            <a:off x="914400" y="3795613"/>
            <a:ext cx="89611" cy="108875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004011" y="3688456"/>
            <a:ext cx="89611" cy="107157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093622" y="3584705"/>
            <a:ext cx="89611" cy="103751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183233" y="3485998"/>
            <a:ext cx="89611" cy="98707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272844" y="3393890"/>
            <a:ext cx="89612" cy="92108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362456" y="3309835"/>
            <a:ext cx="89611" cy="84055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452067" y="3235158"/>
            <a:ext cx="89611" cy="74677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541678" y="3171037"/>
            <a:ext cx="89611" cy="64121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631289" y="3118482"/>
            <a:ext cx="89611" cy="52555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720900" y="3078324"/>
            <a:ext cx="89612" cy="40158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810512" y="3051194"/>
            <a:ext cx="89611" cy="27130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900123" y="3037522"/>
            <a:ext cx="89611" cy="13672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989734" y="3037522"/>
            <a:ext cx="89611" cy="0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79345" y="3037522"/>
            <a:ext cx="89611" cy="13672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168956" y="3051194"/>
            <a:ext cx="89612" cy="27130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258568" y="3078324"/>
            <a:ext cx="89611" cy="40158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348179" y="3118482"/>
            <a:ext cx="89611" cy="52555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437790" y="3171037"/>
            <a:ext cx="89611" cy="64121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527401" y="3235158"/>
            <a:ext cx="89611" cy="74677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617012" y="3309835"/>
            <a:ext cx="89612" cy="84055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706624" y="3393890"/>
            <a:ext cx="89611" cy="92108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796235" y="3485998"/>
            <a:ext cx="89611" cy="98707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885846" y="3584705"/>
            <a:ext cx="89611" cy="103751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975457" y="3688456"/>
            <a:ext cx="89611" cy="107157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065068" y="3795613"/>
            <a:ext cx="89612" cy="108875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154680" y="3904488"/>
            <a:ext cx="89611" cy="108874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244291" y="4013362"/>
            <a:ext cx="89611" cy="107157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333902" y="4120519"/>
            <a:ext cx="89611" cy="103751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423513" y="4224270"/>
            <a:ext cx="89611" cy="98707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513124" y="4322977"/>
            <a:ext cx="89612" cy="92108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3602736" y="4415085"/>
            <a:ext cx="89611" cy="84055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692347" y="4499140"/>
            <a:ext cx="89611" cy="74677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781958" y="4573817"/>
            <a:ext cx="89611" cy="64121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871569" y="4637938"/>
            <a:ext cx="89611" cy="52555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961180" y="4690493"/>
            <a:ext cx="89611" cy="40158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050791" y="4730651"/>
            <a:ext cx="89612" cy="27130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140403" y="4757781"/>
            <a:ext cx="89611" cy="13672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230014" y="4771453"/>
            <a:ext cx="89611" cy="0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319625" y="4757781"/>
            <a:ext cx="89611" cy="13672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4409236" y="4730651"/>
            <a:ext cx="89612" cy="27130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4498848" y="4690493"/>
            <a:ext cx="89611" cy="40158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4588459" y="4637938"/>
            <a:ext cx="89611" cy="52555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678070" y="4573817"/>
            <a:ext cx="89611" cy="64121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767681" y="4499140"/>
            <a:ext cx="89611" cy="74677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857292" y="4415085"/>
            <a:ext cx="89612" cy="84055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946904" y="4322977"/>
            <a:ext cx="89611" cy="92108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036515" y="4224270"/>
            <a:ext cx="89611" cy="98707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126126" y="4120519"/>
            <a:ext cx="89611" cy="103751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215737" y="4013362"/>
            <a:ext cx="89611" cy="107157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305348" y="3904488"/>
            <a:ext cx="89612" cy="108874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1078992" y="4617720"/>
            <a:ext cx="1325880" cy="365760"/>
          </a:xfrm>
          <a:prstGeom prst="roundRect">
            <a:avLst/>
          </a:prstGeom>
          <a:solidFill>
            <a:srgbClr val="DCEAF5"/>
          </a:solidFill>
          <a:ln w="12700"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06424" y="4626864"/>
            <a:ext cx="1271016" cy="347472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150" b="1">
                <a:solidFill>
                  <a:srgbClr val="3D6F9E"/>
                </a:solidFill>
                <a:latin typeface="Noto Sans CJK JP"/>
              </a:rPr>
              <a:t>正の面積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456432" y="4617720"/>
            <a:ext cx="1325880" cy="365760"/>
          </a:xfrm>
          <a:prstGeom prst="roundRect">
            <a:avLst/>
          </a:prstGeom>
          <a:solidFill>
            <a:srgbClr val="F3E2E2"/>
          </a:solidFill>
          <a:ln w="12700">
            <a:solidFill>
              <a:srgbClr val="F3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483863" y="4626864"/>
            <a:ext cx="1271016" cy="347472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150" b="1">
                <a:solidFill>
                  <a:srgbClr val="B45858"/>
                </a:solidFill>
                <a:latin typeface="Noto Sans CJK JP"/>
              </a:rPr>
              <a:t>負の面積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989320" y="1444752"/>
            <a:ext cx="5257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035040" y="1472184"/>
            <a:ext cx="5166360" cy="603503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243447"/>
                </a:solidFill>
                <a:latin typeface="Noto Sans CJK JP"/>
              </a:rPr>
              <a:t>∫ₐᵇ f(x) dx = F(b) − F(a)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989320" y="2304288"/>
            <a:ext cx="5257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035040" y="2331720"/>
            <a:ext cx="5166360" cy="603503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43447"/>
                </a:solidFill>
                <a:latin typeface="Noto Sans CJK JP"/>
              </a:rPr>
              <a:t>定積分 = 正の面積 − 負側の面積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053328" y="327355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E252C"/>
                </a:solidFill>
                <a:latin typeface="Noto Sans CJK JP"/>
              </a:rPr>
              <a:t>不定積分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315200" y="323697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700" b="0">
                <a:solidFill>
                  <a:srgbClr val="243447"/>
                </a:solidFill>
                <a:latin typeface="Noto Sans CJK JP"/>
              </a:rPr>
              <a:t>∫ f(x) dx = F(x) + 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053328" y="3794760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5C6770"/>
                </a:solidFill>
                <a:latin typeface="Noto Sans CJK JP"/>
              </a:rPr>
              <a:t>定積分では +C は相殺される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053328" y="431596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1E252C"/>
                </a:solidFill>
                <a:latin typeface="Noto Sans CJK JP"/>
              </a:rPr>
              <a:t>検算：積分結果を微分して元の関数へ戻るか確認する。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6928" y="6108192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770"/>
                </a:solidFill>
                <a:latin typeface="Noto Sans CJK JP"/>
              </a:rPr>
              <a:t>固定過去問への基礎：符号付き面積・正弦波定積分・蓄積量の読み方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770"/>
                </a:solidFill>
                <a:latin typeface="Noto Sans CJK JP"/>
              </a:rPr>
              <a:t>電験三種 電気数学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37376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5C6770"/>
                </a:solidFill>
                <a:latin typeface="Noto Sans CJK JP"/>
              </a:rPr>
              <a:t>積分 速度曲線の面積は距離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37376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5C6770"/>
                </a:solidFill>
                <a:latin typeface="Noto Sans CJK JP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3832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243447"/>
                </a:solidFill>
                <a:latin typeface="Noto Sans CJK JP"/>
              </a:rPr>
              <a:t>波形の平均値 = 「面積 ÷ 区間長」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0467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5C6770"/>
                </a:solidFill>
                <a:latin typeface="Noto Sans CJK JP"/>
              </a:rPr>
              <a:t>固定過去問では、積分公式より先に「非零区間」と「平均を取る区間」を決める。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4572000"/>
            <a:ext cx="5349240" cy="0"/>
          </a:xfrm>
          <a:prstGeom prst="line">
            <a:avLst/>
          </a:prstGeom>
          <a:ln w="17780">
            <a:solidFill>
              <a:srgbClr val="1E25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68680" y="1417320"/>
            <a:ext cx="0" cy="3154680"/>
          </a:xfrm>
          <a:prstGeom prst="line">
            <a:avLst/>
          </a:prstGeom>
          <a:ln w="17780">
            <a:solidFill>
              <a:srgbClr val="1E25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08192" y="462686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1E252C"/>
                </a:solidFill>
                <a:latin typeface="Noto Sans CJK JP"/>
              </a:rPr>
              <a:t>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38988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1E252C"/>
                </a:solidFill>
                <a:latin typeface="Noto Sans CJK JP"/>
              </a:rPr>
              <a:t>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4503" y="2608827"/>
            <a:ext cx="108813" cy="1963172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54172" y="2544934"/>
            <a:ext cx="108813" cy="2027065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3842" y="2489040"/>
            <a:ext cx="108813" cy="2082959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2441367"/>
            <a:ext cx="108813" cy="2130632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53181" y="2402102"/>
            <a:ext cx="108813" cy="2169897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52851" y="2371401"/>
            <a:ext cx="108813" cy="2200598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52520" y="2349385"/>
            <a:ext cx="108813" cy="2222614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52190" y="2336140"/>
            <a:ext cx="108813" cy="2235859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51860" y="2331720"/>
            <a:ext cx="108813" cy="2240280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51529" y="2336140"/>
            <a:ext cx="108813" cy="2235859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1199" y="2349385"/>
            <a:ext cx="108813" cy="2222614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50868" y="2371401"/>
            <a:ext cx="108813" cy="2200598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50538" y="2402102"/>
            <a:ext cx="108813" cy="2169897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50208" y="2441367"/>
            <a:ext cx="108813" cy="2130632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49877" y="2489040"/>
            <a:ext cx="108813" cy="2082959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49547" y="2544934"/>
            <a:ext cx="108813" cy="2027065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49216" y="2608827"/>
            <a:ext cx="108813" cy="1963172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8886" y="2680469"/>
            <a:ext cx="108813" cy="1891530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48556" y="2759575"/>
            <a:ext cx="108813" cy="1812424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48225" y="2845834"/>
            <a:ext cx="108813" cy="1726165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47895" y="2938906"/>
            <a:ext cx="108813" cy="1633093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47564" y="3038422"/>
            <a:ext cx="108813" cy="1533577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7234" y="3143991"/>
            <a:ext cx="108813" cy="1428008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46904" y="3255196"/>
            <a:ext cx="108813" cy="1316803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46573" y="3371597"/>
            <a:ext cx="108813" cy="1200402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46243" y="3492736"/>
            <a:ext cx="108813" cy="1079263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45912" y="3618135"/>
            <a:ext cx="108813" cy="953864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45582" y="3747297"/>
            <a:ext cx="108813" cy="824702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45252" y="3879715"/>
            <a:ext cx="108813" cy="692284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544921" y="4014865"/>
            <a:ext cx="108813" cy="557134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44591" y="4152213"/>
            <a:ext cx="108813" cy="419786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44260" y="4291218"/>
            <a:ext cx="108813" cy="280781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43930" y="4431331"/>
            <a:ext cx="108813" cy="140668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960120" y="4431331"/>
            <a:ext cx="99669" cy="140669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59789" y="4291218"/>
            <a:ext cx="99670" cy="140113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159459" y="4152213"/>
            <a:ext cx="99669" cy="139005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259128" y="4014865"/>
            <a:ext cx="99670" cy="137348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358798" y="3879715"/>
            <a:ext cx="99670" cy="135150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458468" y="3747297"/>
            <a:ext cx="99669" cy="132418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558137" y="3618135"/>
            <a:ext cx="99670" cy="129162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657807" y="3492736"/>
            <a:ext cx="99669" cy="125399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757476" y="3371597"/>
            <a:ext cx="99670" cy="121139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857146" y="3255196"/>
            <a:ext cx="99670" cy="116401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956816" y="3143991"/>
            <a:ext cx="99669" cy="111205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056485" y="3038422"/>
            <a:ext cx="99670" cy="105569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156155" y="2938906"/>
            <a:ext cx="99669" cy="99516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255824" y="2845834"/>
            <a:ext cx="99670" cy="93072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355494" y="2759575"/>
            <a:ext cx="99670" cy="86259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455164" y="2680469"/>
            <a:ext cx="99669" cy="79106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554833" y="2608827"/>
            <a:ext cx="99670" cy="71642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654503" y="2544934"/>
            <a:ext cx="99669" cy="63893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754172" y="2489040"/>
            <a:ext cx="99670" cy="55894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853842" y="2441367"/>
            <a:ext cx="99670" cy="47673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953512" y="2402102"/>
            <a:ext cx="99669" cy="39265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053181" y="2371401"/>
            <a:ext cx="99670" cy="30701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152851" y="2349385"/>
            <a:ext cx="99669" cy="22016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252520" y="2336140"/>
            <a:ext cx="99670" cy="13245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352190" y="2331720"/>
            <a:ext cx="99670" cy="4420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451860" y="2331720"/>
            <a:ext cx="99669" cy="4420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551529" y="2336140"/>
            <a:ext cx="99670" cy="13245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651199" y="2349385"/>
            <a:ext cx="99669" cy="22016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750868" y="2371401"/>
            <a:ext cx="99670" cy="30701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850538" y="2402102"/>
            <a:ext cx="99670" cy="39265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950208" y="2441367"/>
            <a:ext cx="99669" cy="47673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049877" y="2489040"/>
            <a:ext cx="99670" cy="55894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149547" y="2544934"/>
            <a:ext cx="99669" cy="63893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249216" y="2608827"/>
            <a:ext cx="99670" cy="71642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348886" y="2680469"/>
            <a:ext cx="99670" cy="79106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448556" y="2759575"/>
            <a:ext cx="99669" cy="86259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548225" y="2845834"/>
            <a:ext cx="99670" cy="93072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647895" y="2938906"/>
            <a:ext cx="99669" cy="99516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747564" y="3038422"/>
            <a:ext cx="99670" cy="105569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847234" y="3143991"/>
            <a:ext cx="99670" cy="111205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946904" y="3255196"/>
            <a:ext cx="99669" cy="116401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46573" y="3371597"/>
            <a:ext cx="99670" cy="121139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46243" y="3492736"/>
            <a:ext cx="99669" cy="125399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245912" y="3618135"/>
            <a:ext cx="99670" cy="129162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345582" y="3747297"/>
            <a:ext cx="99670" cy="132418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445252" y="3879715"/>
            <a:ext cx="99669" cy="135150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544921" y="4014865"/>
            <a:ext cx="99670" cy="137348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644591" y="4152213"/>
            <a:ext cx="99669" cy="139005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744260" y="4291218"/>
            <a:ext cx="99670" cy="140113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843930" y="4431331"/>
            <a:ext cx="99670" cy="140669"/>
          </a:xfrm>
          <a:prstGeom prst="line">
            <a:avLst/>
          </a:prstGeom>
          <a:ln w="2540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654503" y="2423160"/>
            <a:ext cx="0" cy="2148840"/>
          </a:xfrm>
          <a:prstGeom prst="line">
            <a:avLst/>
          </a:prstGeom>
          <a:ln w="16510">
            <a:solidFill>
              <a:srgbClr val="B4585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2581351" y="4617720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B45858"/>
                </a:solidFill>
                <a:latin typeface="Noto Sans CJK JP"/>
              </a:rPr>
              <a:t>α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879592" y="4617720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E252C"/>
                </a:solidFill>
                <a:latin typeface="Noto Sans CJK JP"/>
              </a:rPr>
              <a:t>π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51560" y="4919472"/>
            <a:ext cx="1874519" cy="365760"/>
          </a:xfrm>
          <a:prstGeom prst="roundRect">
            <a:avLst/>
          </a:prstGeom>
          <a:solidFill>
            <a:srgbClr val="DCEAF5"/>
          </a:solidFill>
          <a:ln w="12700"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78992" y="4928616"/>
            <a:ext cx="1819655" cy="347472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150" b="1">
                <a:solidFill>
                  <a:srgbClr val="3D6F9E"/>
                </a:solidFill>
                <a:latin typeface="Noto Sans CJK JP"/>
              </a:rPr>
              <a:t>① 非零区間を決める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108960" y="4919472"/>
            <a:ext cx="1572768" cy="365760"/>
          </a:xfrm>
          <a:prstGeom prst="roundRect">
            <a:avLst/>
          </a:prstGeom>
          <a:solidFill>
            <a:srgbClr val="EDF2F6"/>
          </a:solidFill>
          <a:ln w="12700">
            <a:solidFill>
              <a:srgbClr val="ED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136391" y="4928616"/>
            <a:ext cx="1517904" cy="347472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150" b="1">
                <a:solidFill>
                  <a:srgbClr val="243447"/>
                </a:solidFill>
                <a:latin typeface="Noto Sans CJK JP"/>
              </a:rPr>
              <a:t>② 積分する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28032" y="4919472"/>
            <a:ext cx="1783080" cy="365760"/>
          </a:xfrm>
          <a:prstGeom prst="roundRect">
            <a:avLst/>
          </a:prstGeom>
          <a:solidFill>
            <a:srgbClr val="DDEBE4"/>
          </a:solidFill>
          <a:ln w="12700">
            <a:solidFill>
              <a:srgbClr val="DD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855464" y="4928616"/>
            <a:ext cx="1728216" cy="347472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150" b="1">
                <a:solidFill>
                  <a:srgbClr val="4D7F68"/>
                </a:solidFill>
                <a:latin typeface="Noto Sans CJK JP"/>
              </a:rPr>
              <a:t>③ 区間長で割る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720840" y="1508760"/>
            <a:ext cx="466344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766559" y="1536192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43447"/>
                </a:solidFill>
                <a:latin typeface="Noto Sans CJK JP"/>
              </a:rPr>
              <a:t>Vavg = (1/π) ∫ₐ^π √2 V sinθ dθ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720840" y="2395728"/>
            <a:ext cx="466344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766559" y="242316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43447"/>
                </a:solidFill>
                <a:latin typeface="Noto Sans CJK JP"/>
              </a:rPr>
              <a:t>= (√2 V / π)(1 + cosα)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720840" y="343814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E252C"/>
                </a:solidFill>
                <a:latin typeface="Noto Sans CJK JP"/>
              </a:rPr>
              <a:t>区分波形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818120" y="3328416"/>
            <a:ext cx="3429000" cy="74980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1E252C"/>
                </a:solidFill>
                <a:latin typeface="Noto Sans CJK JP"/>
              </a:rPr>
              <a:t>値が0の区間、式が変わる区間を分ける。
全波・半波・6パルスでも「面積÷繰返し区間」は同じ。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720840" y="4462272"/>
            <a:ext cx="4572000" cy="53035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5C6770"/>
                </a:solidFill>
                <a:latin typeface="Noto Sans CJK JP"/>
              </a:rPr>
              <a:t>対応：R8上 機械16／R3 機械16／H28 機械16／H24 機械10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6928" y="6108192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770"/>
                </a:solidFill>
                <a:latin typeface="Noto Sans CJK JP"/>
              </a:rPr>
              <a:t>機器構造の追加解説ではなく、問題図から積分区間・平均区間を読み取る数学操作に限定。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770"/>
                </a:solidFill>
                <a:latin typeface="Noto Sans CJK JP"/>
              </a:rPr>
              <a:t>電験三種 電気数学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37376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5C6770"/>
                </a:solidFill>
                <a:latin typeface="Noto Sans CJK JP"/>
              </a:rPr>
              <a:t>積分 速度曲線の面積は距離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37376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5C6770"/>
                </a:solidFill>
                <a:latin typeface="Noto Sans CJK JP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3832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243447"/>
                </a:solidFill>
                <a:latin typeface="Noto Sans CJK JP"/>
              </a:rPr>
              <a:t>二重積分形A-D変換器は「蓄積量のつり合い」で読む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0467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5C6770"/>
                </a:solidFill>
                <a:latin typeface="Noto Sans CJK JP"/>
              </a:rPr>
              <a:t>正方向へためた面積を、逆符号の基準電圧で打ち消す。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4572000"/>
            <a:ext cx="6583680" cy="0"/>
          </a:xfrm>
          <a:prstGeom prst="line">
            <a:avLst/>
          </a:prstGeom>
          <a:ln w="17780">
            <a:solidFill>
              <a:srgbClr val="1E25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68680" y="1417320"/>
            <a:ext cx="0" cy="3154680"/>
          </a:xfrm>
          <a:prstGeom prst="line">
            <a:avLst/>
          </a:prstGeom>
          <a:ln w="17780">
            <a:solidFill>
              <a:srgbClr val="1E25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42631" y="4608576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1E252C"/>
                </a:solidFill>
                <a:latin typeface="Noto Sans CJK JP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362456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E252C"/>
                </a:solidFill>
                <a:latin typeface="Noto Sans CJK JP"/>
              </a:rPr>
              <a:t>積分器
出力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051560" y="2057400"/>
            <a:ext cx="2834640" cy="2514600"/>
          </a:xfrm>
          <a:prstGeom prst="line">
            <a:avLst/>
          </a:prstGeom>
          <a:ln w="3302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86200" y="2057400"/>
            <a:ext cx="2834640" cy="2514600"/>
          </a:xfrm>
          <a:prstGeom prst="line">
            <a:avLst/>
          </a:prstGeom>
          <a:ln w="33020">
            <a:solidFill>
              <a:srgbClr val="B4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886200" y="2057400"/>
            <a:ext cx="0" cy="2514600"/>
          </a:xfrm>
          <a:prstGeom prst="line">
            <a:avLst/>
          </a:prstGeom>
          <a:ln w="13970">
            <a:solidFill>
              <a:srgbClr val="CBD3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95728" y="46177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3D6F9E"/>
                </a:solidFill>
                <a:latin typeface="Noto Sans CJK JP"/>
              </a:rPr>
              <a:t>T₁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6177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B45858"/>
                </a:solidFill>
                <a:latin typeface="Noto Sans CJK JP"/>
              </a:rPr>
              <a:t>T₂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1975104"/>
            <a:ext cx="1920240" cy="384048"/>
          </a:xfrm>
          <a:prstGeom prst="roundRect">
            <a:avLst/>
          </a:prstGeom>
          <a:solidFill>
            <a:srgbClr val="DCEAF5"/>
          </a:solidFill>
          <a:ln w="12700"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36192" y="1984248"/>
            <a:ext cx="1865376" cy="365759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150" b="1">
                <a:solidFill>
                  <a:srgbClr val="3D6F9E"/>
                </a:solidFill>
                <a:latin typeface="Noto Sans CJK JP"/>
              </a:rPr>
              <a:t>入力 Vx で積分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1975104"/>
            <a:ext cx="2331720" cy="384048"/>
          </a:xfrm>
          <a:prstGeom prst="roundRect">
            <a:avLst/>
          </a:prstGeom>
          <a:solidFill>
            <a:srgbClr val="F3E2E2"/>
          </a:solidFill>
          <a:ln w="12700">
            <a:solidFill>
              <a:srgbClr val="F3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1984248"/>
            <a:ext cx="2276856" cy="365759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150" b="1">
                <a:solidFill>
                  <a:srgbClr val="B45858"/>
                </a:solidFill>
                <a:latin typeface="Noto Sans CJK JP"/>
              </a:rPr>
              <a:t>基準 Vr で逆向きに積分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1572768"/>
            <a:ext cx="333756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160020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43447"/>
                </a:solidFill>
                <a:latin typeface="Noto Sans CJK JP"/>
              </a:rPr>
              <a:t>k Vx T₁ = k Vr T₂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2377440"/>
            <a:ext cx="333756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2404872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243447"/>
                </a:solidFill>
                <a:latin typeface="Noto Sans CJK JP"/>
              </a:rPr>
              <a:t>Vx = (T₂ / T₁) Vr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331927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E252C"/>
                </a:solidFill>
                <a:latin typeface="Noto Sans CJK JP"/>
              </a:rPr>
              <a:t>見るべきもの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218688"/>
            <a:ext cx="2011680" cy="9601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E252C"/>
                </a:solidFill>
                <a:latin typeface="Noto Sans CJK JP"/>
              </a:rPr>
              <a:t>・正負の蓄積量
・戻り切る条件
・時間比 T₂/T₁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590288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5C6770"/>
                </a:solidFill>
                <a:latin typeface="Noto Sans CJK JP"/>
              </a:rPr>
              <a:t>対応：R1 理論 問18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108192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770"/>
                </a:solidFill>
                <a:latin typeface="Noto Sans CJK JP"/>
              </a:rPr>
              <a:t>積分器の装置構造を暗記するのではなく、積分 = 時間方向の面積・蓄積量として処理する。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770"/>
                </a:solidFill>
                <a:latin typeface="Noto Sans CJK JP"/>
              </a:rPr>
              <a:t>電験三種 電気数学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37376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5C6770"/>
                </a:solidFill>
                <a:latin typeface="Noto Sans CJK JP"/>
              </a:rPr>
              <a:t>積分 速度曲線の面積は距離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37376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5C6770"/>
                </a:solidFill>
                <a:latin typeface="Noto Sans CJK JP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3832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243447"/>
                </a:solidFill>
                <a:latin typeface="Noto Sans CJK JP"/>
              </a:rPr>
              <a:t>速度―時間グラフの面積が走行距離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0467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5C6770"/>
                </a:solidFill>
                <a:latin typeface="Noto Sans CJK JP"/>
              </a:rPr>
              <a:t>加速・定速・制動は区間ごとに積分し、最後に合計する。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4800600"/>
            <a:ext cx="6766560" cy="0"/>
          </a:xfrm>
          <a:prstGeom prst="line">
            <a:avLst/>
          </a:prstGeom>
          <a:ln w="17780">
            <a:solidFill>
              <a:srgbClr val="1E25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68680" y="1417320"/>
            <a:ext cx="0" cy="3383280"/>
          </a:xfrm>
          <a:prstGeom prst="line">
            <a:avLst/>
          </a:prstGeom>
          <a:ln w="17780">
            <a:solidFill>
              <a:srgbClr val="1E25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42631" y="48463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1E252C"/>
                </a:solidFill>
                <a:latin typeface="Noto Sans CJK JP"/>
              </a:rPr>
              <a:t>t [s]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37160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E252C"/>
                </a:solidFill>
                <a:latin typeface="Noto Sans CJK JP"/>
              </a:rPr>
              <a:t>v [m/s]</a:t>
            </a:r>
          </a:p>
        </p:txBody>
      </p:sp>
      <p:sp>
        <p:nvSpPr>
          <p:cNvPr id="12" name="Freeform 11"/>
          <p:cNvSpPr/>
          <p:nvPr/>
        </p:nvSpPr>
        <p:spPr>
          <a:xfrm>
            <a:off x="1051560" y="2103120"/>
            <a:ext cx="1828800" cy="27432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0"/>
                </a:moveTo>
                <a:moveTo>
                  <a:pt x="0" y="3"/>
                </a:moveTo>
                <a:lnTo>
                  <a:pt x="2" y="0"/>
                </a:lnTo>
                <a:lnTo>
                  <a:pt x="2" y="3"/>
                </a:lnTo>
                <a:close/>
              </a:path>
            </a:pathLst>
          </a:cu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880360" y="210312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moveTo>
                  <a:pt x="0" y="3"/>
                </a:moveTo>
                <a:lnTo>
                  <a:pt x="0" y="0"/>
                </a:lnTo>
                <a:lnTo>
                  <a:pt x="3" y="0"/>
                </a:lnTo>
                <a:lnTo>
                  <a:pt x="3" y="3"/>
                </a:lnTo>
                <a:close/>
              </a:path>
            </a:pathLst>
          </a:custGeom>
          <a:solidFill>
            <a:srgbClr val="DD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486400" y="2103120"/>
            <a:ext cx="1828800" cy="27432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0"/>
                </a:moveTo>
                <a:moveTo>
                  <a:pt x="0" y="0"/>
                </a:moveTo>
                <a:lnTo>
                  <a:pt x="2" y="3"/>
                </a:lnTo>
                <a:lnTo>
                  <a:pt x="0" y="3"/>
                </a:lnTo>
                <a:close/>
              </a:path>
            </a:pathLst>
          </a:custGeom>
          <a:solidFill>
            <a:srgbClr val="F3E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1051560" y="2103120"/>
            <a:ext cx="1828800" cy="2697480"/>
          </a:xfrm>
          <a:prstGeom prst="line">
            <a:avLst/>
          </a:prstGeom>
          <a:ln w="3302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80360" y="2103120"/>
            <a:ext cx="2606040" cy="0"/>
          </a:xfrm>
          <a:prstGeom prst="line">
            <a:avLst/>
          </a:prstGeom>
          <a:ln w="3302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86400" y="2103120"/>
            <a:ext cx="1828800" cy="2697480"/>
          </a:xfrm>
          <a:prstGeom prst="line">
            <a:avLst/>
          </a:prstGeom>
          <a:ln w="33020">
            <a:solidFill>
              <a:srgbClr val="3D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87552" y="484632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E252C"/>
                </a:solidFill>
                <a:latin typeface="Noto Sans CJK JP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484632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E252C"/>
                </a:solidFill>
                <a:latin typeface="Noto Sans CJK JP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484632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E252C"/>
                </a:solidFill>
                <a:latin typeface="Noto Sans CJK JP"/>
              </a:rPr>
              <a:t>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484632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E252C"/>
                </a:solidFill>
                <a:latin typeface="Noto Sans CJK JP"/>
              </a:rPr>
              <a:t>70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5102352"/>
            <a:ext cx="1078992" cy="365760"/>
          </a:xfrm>
          <a:prstGeom prst="roundRect">
            <a:avLst/>
          </a:prstGeom>
          <a:solidFill>
            <a:srgbClr val="DCEAF5"/>
          </a:solidFill>
          <a:ln w="12700"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3312" y="5111496"/>
            <a:ext cx="1024127" cy="347472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150" b="1">
                <a:solidFill>
                  <a:srgbClr val="3D6F9E"/>
                </a:solidFill>
                <a:latin typeface="Noto Sans CJK JP"/>
              </a:rPr>
              <a:t>200 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5102352"/>
            <a:ext cx="1078992" cy="365760"/>
          </a:xfrm>
          <a:prstGeom prst="roundRect">
            <a:avLst/>
          </a:prstGeom>
          <a:solidFill>
            <a:srgbClr val="DDEBE4"/>
          </a:solidFill>
          <a:ln w="12700">
            <a:solidFill>
              <a:srgbClr val="DD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39312" y="5111496"/>
            <a:ext cx="1024127" cy="347472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150" b="1">
                <a:solidFill>
                  <a:srgbClr val="4D7F68"/>
                </a:solidFill>
                <a:latin typeface="Noto Sans CJK JP"/>
              </a:rPr>
              <a:t>600 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102352"/>
            <a:ext cx="1078992" cy="365760"/>
          </a:xfrm>
          <a:prstGeom prst="roundRect">
            <a:avLst/>
          </a:prstGeom>
          <a:solidFill>
            <a:srgbClr val="F3E7D2"/>
          </a:solidFill>
          <a:ln w="12700">
            <a:solidFill>
              <a:srgbClr val="F3E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71032" y="5111496"/>
            <a:ext cx="1024127" cy="347472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150" b="1">
                <a:solidFill>
                  <a:srgbClr val="9A6A28"/>
                </a:solidFill>
                <a:latin typeface="Noto Sans CJK JP"/>
              </a:rPr>
              <a:t>200 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73568" y="1508760"/>
            <a:ext cx="35204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9288" y="1536192"/>
            <a:ext cx="3429000" cy="566928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100" b="1">
                <a:solidFill>
                  <a:srgbClr val="243447"/>
                </a:solidFill>
                <a:latin typeface="Noto Sans CJK JP"/>
              </a:rPr>
              <a:t>x = ∫ v(t) dt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73568" y="2331720"/>
            <a:ext cx="352044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9288" y="2359151"/>
            <a:ext cx="3429000" cy="731520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243447"/>
                </a:solidFill>
                <a:latin typeface="Noto Sans CJK JP"/>
              </a:rPr>
              <a:t>x = 200 + 600 + 200
= 1000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340156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E252C"/>
                </a:solidFill>
                <a:latin typeface="Noto Sans CJK JP"/>
              </a:rPr>
              <a:t>単位チェック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3346704"/>
            <a:ext cx="2057400" cy="310896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243447"/>
                </a:solidFill>
                <a:latin typeface="Noto Sans CJK JP"/>
              </a:rPr>
              <a:t>(m/s) × s = 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4096512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5C6770"/>
                </a:solidFill>
                <a:latin typeface="Noto Sans CJK JP"/>
              </a:rPr>
              <a:t>※ 0–20 s, 20–50 s, 50–70 s の値は積分説明用の仮定。実車値ではない。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108192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770"/>
                </a:solidFill>
                <a:latin typeface="Noto Sans CJK JP"/>
              </a:rPr>
              <a:t>系列SPEC固定：速度―時間グラフの面積から走行距離を求める。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770"/>
                </a:solidFill>
                <a:latin typeface="Noto Sans CJK JP"/>
              </a:rPr>
              <a:t>電験三種 電気数学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37376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5C6770"/>
                </a:solidFill>
                <a:latin typeface="Noto Sans CJK JP"/>
              </a:rPr>
              <a:t>積分 速度曲線の面積は距離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37376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r"/>
            <a:r>
              <a:rPr sz="900" b="0">
                <a:solidFill>
                  <a:srgbClr val="5C6770"/>
                </a:solidFill>
                <a:latin typeface="Noto Sans CJK JP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3832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243447"/>
                </a:solidFill>
                <a:latin typeface="Noto Sans CJK JP"/>
              </a:rPr>
              <a:t>運転曲線を積分で読む：距離・時間・一定加速度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0467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5C6770"/>
                </a:solidFill>
                <a:latin typeface="Noto Sans CJK JP"/>
              </a:rPr>
              <a:t>何を積分するかは「与えられた変数」と「求める量」で決める。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89888"/>
            <a:ext cx="5349240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45920"/>
            <a:ext cx="1920240" cy="384048"/>
          </a:xfrm>
          <a:prstGeom prst="roundRect">
            <a:avLst/>
          </a:prstGeom>
          <a:solidFill>
            <a:srgbClr val="DCEAF5"/>
          </a:solidFill>
          <a:ln w="12700"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55064"/>
            <a:ext cx="1865376" cy="365759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150" b="1">
                <a:solidFill>
                  <a:srgbClr val="3D6F9E"/>
                </a:solidFill>
                <a:latin typeface="Noto Sans CJK JP"/>
              </a:rPr>
              <a:t>位置 x に対する速度 v(x)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267712"/>
            <a:ext cx="47548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295144"/>
            <a:ext cx="4663440" cy="585215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243447"/>
                </a:solidFill>
                <a:latin typeface="Noto Sans CJK JP"/>
              </a:rPr>
              <a:t>v = dx/dt  →  dt = dx/v(x)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127248"/>
            <a:ext cx="47548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79"/>
            <a:ext cx="4663440" cy="585215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100" b="1">
                <a:solidFill>
                  <a:srgbClr val="243447"/>
                </a:solidFill>
                <a:latin typeface="Noto Sans CJK JP"/>
              </a:rPr>
              <a:t>t = ∫ₓ₀ˣ₁ dx / v(x)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069080"/>
            <a:ext cx="4617720" cy="65836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250" b="0">
                <a:solidFill>
                  <a:srgbClr val="1E252C"/>
                </a:solidFill>
                <a:latin typeface="Noto Sans CJK JP"/>
              </a:rPr>
              <a:t>注意：v(x)=0 を含む区間では、単純に割って積分できない場合がある。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010912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4D7F68"/>
                </a:solidFill>
                <a:latin typeface="Noto Sans CJK JP"/>
              </a:rPr>
              <a:t>求める量：所要時間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389888"/>
            <a:ext cx="5230368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1645920"/>
            <a:ext cx="1920240" cy="384048"/>
          </a:xfrm>
          <a:prstGeom prst="roundRect">
            <a:avLst/>
          </a:prstGeom>
          <a:solidFill>
            <a:srgbClr val="F3E7D2"/>
          </a:solidFill>
          <a:ln w="12700">
            <a:solidFill>
              <a:srgbClr val="F3E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1655064"/>
            <a:ext cx="1865376" cy="365759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150" b="1">
                <a:solidFill>
                  <a:srgbClr val="9A6A28"/>
                </a:solidFill>
                <a:latin typeface="Noto Sans CJK JP"/>
              </a:rPr>
              <a:t>一定加速度の導出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2212848"/>
            <a:ext cx="4663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240279"/>
            <a:ext cx="4572000" cy="493776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43447"/>
                </a:solidFill>
                <a:latin typeface="Noto Sans CJK JP"/>
              </a:rPr>
              <a:t>a = v · dv/dx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2889504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700" b="0">
                <a:solidFill>
                  <a:srgbClr val="243447"/>
                </a:solidFill>
                <a:latin typeface="Noto Sans CJK JP"/>
              </a:rPr>
              <a:t>v dv = a dx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331927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5C6770"/>
                </a:solidFill>
                <a:latin typeface="Noto Sans CJK JP"/>
              </a:rPr>
              <a:t>↓  初期値 (x₀, v₀) から定積分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3749039"/>
            <a:ext cx="4663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776472"/>
            <a:ext cx="4572000" cy="603503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243447"/>
                </a:solidFill>
                <a:latin typeface="Noto Sans CJK JP"/>
              </a:rPr>
              <a:t>v² − v₀² = 2a(x − x₀)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754880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1E252C"/>
                </a:solidFill>
                <a:latin typeface="Noto Sans CJK JP"/>
              </a:rPr>
              <a:t>x₀=0 と置けるときだけ  v²−v₀²=2ax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108192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770"/>
                </a:solidFill>
                <a:latin typeface="Noto Sans CJK JP"/>
              </a:rPr>
              <a:t>固定範囲外の Topic 09（電荷・磁束・電力量・仕事）、Topic 10（指数関数・微分方程式）、Topic 11（一般特性曲線）は扱わない。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