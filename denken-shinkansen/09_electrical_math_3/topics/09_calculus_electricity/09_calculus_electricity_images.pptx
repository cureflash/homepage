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3000"/>
              <a:t>Topic 09  微積分で電気を読む</a:t>
            </a:r>
            <a:endParaRPr lang="ja-JP" sz="3000"/>
          </a:p>
        </p:txBody>
      </p:sp>
      <p:sp>
        <p:nvSpPr>
          <p:cNvPr id="3" name="Derivative"/>
          <p:cNvSpPr txBox="1"/>
          <p:nvPr/>
        </p:nvSpPr>
        <p:spPr>
          <a:xfrm>
            <a:off x="600000" y="1200000"/>
            <a:ext cx="5250000" cy="1750000"/>
          </a:xfrm>
          <a:prstGeom prst="rect">
            <a:avLst/>
          </a:prstGeom>
          <a:solidFill>
            <a:srgbClr val="EEF4FB"/>
          </a:solidFill>
          <a:ln w="12700">
            <a:solidFill>
              <a:srgbClr val="4472C4"/>
            </a:solidFill>
          </a:ln>
        </p:spPr>
        <p:txBody>
          <a:bodyPr wrap="square"/>
          <a:lstStyle/>
          <a:p>
            <a:r>
              <a:rPr lang="ja-JP" sz="2500" b="1"/>
              <a:t>微分＝変化率</a:t>
            </a:r>
            <a:endParaRPr lang="ja-JP" sz="2500"/>
          </a:p>
          <a:p>
            <a:r>
              <a:rPr lang="ja-JP" sz="2500"/>
              <a:t>i = dq/dt</a:t>
            </a:r>
            <a:endParaRPr lang="ja-JP" sz="2500"/>
          </a:p>
          <a:p>
            <a:r>
              <a:rPr lang="ja-JP" sz="2500"/>
              <a:t>e = -N dΦ/dt</a:t>
            </a:r>
            <a:endParaRPr lang="ja-JP" sz="2500"/>
          </a:p>
        </p:txBody>
      </p:sp>
      <p:sp>
        <p:nvSpPr>
          <p:cNvPr id="4" name="Integral"/>
          <p:cNvSpPr txBox="1"/>
          <p:nvPr/>
        </p:nvSpPr>
        <p:spPr>
          <a:xfrm>
            <a:off x="6500000" y="1200000"/>
            <a:ext cx="5100000" cy="2200000"/>
          </a:xfrm>
          <a:prstGeom prst="rect">
            <a:avLst/>
          </a:prstGeom>
          <a:solidFill>
            <a:srgbClr val="F2F7EE"/>
          </a:solidFill>
          <a:ln w="12700">
            <a:solidFill>
              <a:srgbClr val="70AD47"/>
            </a:solidFill>
          </a:ln>
        </p:spPr>
        <p:txBody>
          <a:bodyPr wrap="square"/>
          <a:lstStyle/>
          <a:p>
            <a:r>
              <a:rPr lang="ja-JP" sz="2500" b="1"/>
              <a:t>積分＝蓄積量</a:t>
            </a:r>
            <a:endParaRPr lang="ja-JP" sz="2500"/>
          </a:p>
          <a:p>
            <a:r>
              <a:rPr lang="ja-JP" sz="2500"/>
              <a:t>q = ∫ i dt</a:t>
            </a:r>
            <a:endParaRPr lang="ja-JP" sz="2500"/>
          </a:p>
          <a:p>
            <a:r>
              <a:rPr lang="ja-JP" sz="2500"/>
              <a:t>E = ∫ P dt</a:t>
            </a:r>
            <a:endParaRPr lang="ja-JP" sz="2500"/>
          </a:p>
          <a:p>
            <a:r>
              <a:rPr lang="ja-JP" sz="2500"/>
              <a:t>W = ∫ F dx</a:t>
            </a:r>
            <a:endParaRPr lang="ja-JP" sz="2500"/>
          </a:p>
        </p:txBody>
      </p:sp>
      <p:sp>
        <p:nvSpPr>
          <p:cNvPr id="5" name="Units"/>
          <p:cNvSpPr txBox="1"/>
          <p:nvPr/>
        </p:nvSpPr>
        <p:spPr>
          <a:xfrm>
            <a:off x="900000" y="4100000"/>
            <a:ext cx="10300000" cy="1500000"/>
          </a:xfrm>
          <a:prstGeom prst="rect">
            <a:avLst/>
          </a:prstGeom>
          <a:solidFill>
            <a:srgbClr val="FFF6E8"/>
          </a:solidFill>
          <a:ln w="12700">
            <a:solidFill>
              <a:srgbClr val="ED7D31"/>
            </a:solidFill>
          </a:ln>
        </p:spPr>
        <p:txBody>
          <a:bodyPr wrap="square"/>
          <a:lstStyle/>
          <a:p>
            <a:r>
              <a:rPr lang="ja-JP" sz="2300" b="1"/>
              <a:t>式に迷ったら単位で判定</a:t>
            </a:r>
            <a:endParaRPr lang="ja-JP" sz="2300"/>
          </a:p>
          <a:p>
            <a:r>
              <a:rPr lang="ja-JP" sz="2300"/>
              <a:t>C/s = A   A·s = C   Wb/s = V   W·s = J   N·m = J</a:t>
            </a:r>
            <a:endParaRPr lang="ja-JP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3000"/>
              <a:t>電流と電気量：傾きと面積</a:t>
            </a:r>
            <a:endParaRPr lang="ja-JP" sz="3000"/>
          </a:p>
        </p:txBody>
      </p:sp>
      <p:sp>
        <p:nvSpPr>
          <p:cNvPr id="3" name="Q"/>
          <p:cNvSpPr txBox="1"/>
          <p:nvPr/>
        </p:nvSpPr>
        <p:spPr>
          <a:xfrm>
            <a:off x="650000" y="1150000"/>
            <a:ext cx="4800000" cy="2000000"/>
          </a:xfrm>
          <a:prstGeom prst="rect">
            <a:avLst/>
          </a:prstGeom>
          <a:solidFill>
            <a:srgbClr val="EEF4FB"/>
          </a:solidFill>
          <a:ln w="12700">
            <a:solidFill>
              <a:srgbClr val="4472C4"/>
            </a:solidFill>
          </a:ln>
        </p:spPr>
        <p:txBody>
          <a:bodyPr wrap="square"/>
          <a:lstStyle/>
          <a:p>
            <a:r>
              <a:rPr lang="ja-JP" sz="2450" b="1"/>
              <a:t>q(t) の傾き → 電流 i(t)</a:t>
            </a:r>
            <a:endParaRPr lang="ja-JP" sz="2450"/>
          </a:p>
          <a:p>
            <a:r>
              <a:rPr lang="ja-JP" sz="2450"/>
              <a:t>i = dq/dt</a:t>
            </a:r>
            <a:endParaRPr lang="ja-JP" sz="2450"/>
          </a:p>
          <a:p>
            <a:r>
              <a:rPr lang="ja-JP" sz="2450"/>
              <a:t>一定電流なら q = It</a:t>
            </a:r>
            <a:endParaRPr lang="ja-JP" sz="2450"/>
          </a:p>
        </p:txBody>
      </p:sp>
      <p:sp>
        <p:nvSpPr>
          <p:cNvPr id="4" name="I"/>
          <p:cNvSpPr txBox="1"/>
          <p:nvPr/>
        </p:nvSpPr>
        <p:spPr>
          <a:xfrm>
            <a:off x="6500000" y="1150000"/>
            <a:ext cx="4800000" cy="2000000"/>
          </a:xfrm>
          <a:prstGeom prst="rect">
            <a:avLst/>
          </a:prstGeom>
          <a:solidFill>
            <a:srgbClr val="F2F7EE"/>
          </a:solidFill>
          <a:ln w="12700">
            <a:solidFill>
              <a:srgbClr val="70AD47"/>
            </a:solidFill>
          </a:ln>
        </p:spPr>
        <p:txBody>
          <a:bodyPr wrap="square"/>
          <a:lstStyle/>
          <a:p>
            <a:r>
              <a:rPr lang="ja-JP" sz="2450" b="1"/>
              <a:t>i(t) の面積 → 電気量 q</a:t>
            </a:r>
            <a:endParaRPr lang="ja-JP" sz="2450"/>
          </a:p>
          <a:p>
            <a:r>
              <a:rPr lang="ja-JP" sz="2450"/>
              <a:t>q = ∫ i dt</a:t>
            </a:r>
            <a:endParaRPr lang="ja-JP" sz="2450"/>
          </a:p>
          <a:p>
            <a:r>
              <a:rPr lang="ja-JP" sz="2450"/>
              <a:t>A·s = C</a:t>
            </a:r>
            <a:endParaRPr lang="ja-JP" sz="2450"/>
          </a:p>
        </p:txBody>
      </p:sp>
      <p:cxnSp>
        <p:nvCxnSpPr>
          <p:cNvPr id="5" name="arrow1"/>
          <p:cNvCxnSpPr/>
          <p:nvPr/>
        </p:nvCxnSpPr>
        <p:spPr>
          <a:xfrm>
            <a:off x="5200000" y="2150000"/>
            <a:ext cx="1150000" cy="0"/>
          </a:xfrm>
          <a:prstGeom prst="line">
            <a:avLst/>
          </a:prstGeom>
          <a:ln w="38100">
            <a:solidFill>
              <a:srgbClr val="7F7F7F"/>
            </a:solidFill>
          </a:ln>
        </p:spPr>
      </p:cxnSp>
      <p:sp>
        <p:nvSpPr>
          <p:cNvPr id="6" name="Check"/>
          <p:cNvSpPr txBox="1"/>
          <p:nvPr/>
        </p:nvSpPr>
        <p:spPr>
          <a:xfrm>
            <a:off x="950000" y="3850000"/>
            <a:ext cx="9800000" cy="1400000"/>
          </a:xfrm>
          <a:prstGeom prst="rect">
            <a:avLst/>
          </a:prstGeom>
          <a:solidFill>
            <a:srgbClr val="FFF6E8"/>
          </a:solidFill>
          <a:ln w="12700">
            <a:solidFill>
              <a:srgbClr val="ED7D31"/>
            </a:solidFill>
          </a:ln>
        </p:spPr>
        <p:txBody>
          <a:bodyPr wrap="square"/>
          <a:lstStyle/>
          <a:p>
            <a:r>
              <a:rPr lang="ja-JP" sz="2100"/>
              <a:t>グラフ問題: 最大値×全時間ではなく、時間変化を積分する。</a:t>
            </a:r>
            <a:endParaRPr lang="ja-JP" sz="2100"/>
          </a:p>
          <a:p>
            <a:r>
              <a:rPr lang="ja-JP" sz="2100"/>
              <a:t>固定5問への基礎: 「変化率」と「蓄積」の向きを単位で見分ける。</a:t>
            </a:r>
            <a:endParaRPr lang="ja-JP"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3000"/>
              <a:t>磁束変化から誘導起電力へ</a:t>
            </a:r>
            <a:endParaRPr lang="ja-JP" sz="3000"/>
          </a:p>
        </p:txBody>
      </p:sp>
      <p:sp>
        <p:nvSpPr>
          <p:cNvPr id="3" name="Formula"/>
          <p:cNvSpPr txBox="1"/>
          <p:nvPr/>
        </p:nvSpPr>
        <p:spPr>
          <a:xfrm>
            <a:off x="650000" y="1150000"/>
            <a:ext cx="5200000" cy="1800000"/>
          </a:xfrm>
          <a:prstGeom prst="rect">
            <a:avLst/>
          </a:prstGeom>
          <a:solidFill>
            <a:srgbClr val="EEF4FB"/>
          </a:solidFill>
          <a:ln w="12700">
            <a:solidFill>
              <a:srgbClr val="4472C4"/>
            </a:solidFill>
          </a:ln>
        </p:spPr>
        <p:txBody>
          <a:bodyPr wrap="square"/>
          <a:lstStyle/>
          <a:p>
            <a:r>
              <a:rPr lang="ja-JP" sz="2400" b="1"/>
              <a:t>ファラデーの法則</a:t>
            </a:r>
            <a:endParaRPr lang="ja-JP" sz="2400"/>
          </a:p>
          <a:p>
            <a:r>
              <a:rPr lang="ja-JP" sz="2400"/>
              <a:t>e = -N dΦ/dt</a:t>
            </a:r>
            <a:endParaRPr lang="ja-JP" sz="2400"/>
          </a:p>
          <a:p>
            <a:r>
              <a:rPr lang="ja-JP" sz="2400"/>
              <a:t>直線変化: |e| = N|ΔΦ/Δt|</a:t>
            </a:r>
            <a:endParaRPr lang="ja-JP" sz="2400"/>
          </a:p>
        </p:txBody>
      </p:sp>
      <p:sp>
        <p:nvSpPr>
          <p:cNvPr id="4" name="Lenz"/>
          <p:cNvSpPr txBox="1"/>
          <p:nvPr/>
        </p:nvSpPr>
        <p:spPr>
          <a:xfrm>
            <a:off x="6500000" y="1150000"/>
            <a:ext cx="5000000" cy="2500000"/>
          </a:xfrm>
          <a:prstGeom prst="rect">
            <a:avLst/>
          </a:prstGeom>
          <a:solidFill>
            <a:srgbClr val="FCEEEE"/>
          </a:solidFill>
          <a:ln w="12700">
            <a:solidFill>
              <a:srgbClr val="C00000"/>
            </a:solidFill>
          </a:ln>
        </p:spPr>
        <p:txBody>
          <a:bodyPr wrap="square"/>
          <a:lstStyle/>
          <a:p>
            <a:r>
              <a:rPr lang="ja-JP" sz="2100" b="1"/>
              <a:t>負号＝レンツの法則</a:t>
            </a:r>
            <a:endParaRPr lang="ja-JP" sz="2100"/>
          </a:p>
          <a:p>
            <a:r>
              <a:rPr lang="ja-JP" sz="2100"/>
              <a:t>1. 磁束が増える/減るを判定</a:t>
            </a:r>
            <a:endParaRPr lang="ja-JP" sz="2100"/>
          </a:p>
          <a:p>
            <a:r>
              <a:rPr lang="ja-JP" sz="2100"/>
              <a:t>2. 変化を妨げる誘導磁束</a:t>
            </a:r>
            <a:endParaRPr lang="ja-JP" sz="2100"/>
          </a:p>
          <a:p>
            <a:r>
              <a:rPr lang="ja-JP" sz="2100"/>
              <a:t>3. 巻線方向から電流方向</a:t>
            </a:r>
            <a:endParaRPr lang="ja-JP" sz="2100"/>
          </a:p>
          <a:p>
            <a:r>
              <a:rPr lang="ja-JP" sz="2100"/>
              <a:t>4. 大きさを式で計算</a:t>
            </a:r>
            <a:endParaRPr lang="ja-JP" sz="2100"/>
          </a:p>
        </p:txBody>
      </p:sp>
      <p:sp>
        <p:nvSpPr>
          <p:cNvPr id="5" name="Map"/>
          <p:cNvSpPr txBox="1"/>
          <p:nvPr/>
        </p:nvSpPr>
        <p:spPr>
          <a:xfrm>
            <a:off x="850000" y="4200000"/>
            <a:ext cx="10100000" cy="1200000"/>
          </a:xfrm>
          <a:prstGeom prst="rect">
            <a:avLst/>
          </a:prstGeom>
          <a:solidFill>
            <a:srgbClr val="F2F7EE"/>
          </a:solidFill>
          <a:ln w="12700">
            <a:solidFill>
              <a:srgbClr val="70AD47"/>
            </a:solidFill>
          </a:ln>
        </p:spPr>
        <p:txBody>
          <a:bodyPr wrap="square"/>
          <a:lstStyle/>
          <a:p>
            <a:r>
              <a:rPr lang="ja-JP" sz="2050"/>
              <a:t>R6下 理論 問3 → 磁束変化率から起電力</a:t>
            </a:r>
            <a:endParaRPr lang="ja-JP" sz="2050"/>
          </a:p>
          <a:p>
            <a:r>
              <a:rPr lang="ja-JP" sz="2050"/>
              <a:t>R3 理論 問4 → 磁束鎖交数 NΦ・レンツの法則・起電力</a:t>
            </a:r>
            <a:endParaRPr lang="ja-JP" sz="2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3000"/>
              <a:t>電力―時間グラフ：差の面積を区分積分</a:t>
            </a:r>
            <a:endParaRPr lang="ja-JP" sz="3000"/>
          </a:p>
        </p:txBody>
      </p:sp>
      <p:sp>
        <p:nvSpPr>
          <p:cNvPr id="3" name="Energy"/>
          <p:cNvSpPr txBox="1"/>
          <p:nvPr/>
        </p:nvSpPr>
        <p:spPr>
          <a:xfrm>
            <a:off x="650000" y="1150000"/>
            <a:ext cx="5200000" cy="1800000"/>
          </a:xfrm>
          <a:prstGeom prst="rect">
            <a:avLst/>
          </a:prstGeom>
          <a:solidFill>
            <a:srgbClr val="EEF4FB"/>
          </a:solidFill>
          <a:ln w="12700">
            <a:solidFill>
              <a:srgbClr val="4472C4"/>
            </a:solidFill>
          </a:ln>
        </p:spPr>
        <p:txBody>
          <a:bodyPr wrap="square"/>
          <a:lstStyle/>
          <a:p>
            <a:r>
              <a:rPr lang="ja-JP" sz="2400" b="1"/>
              <a:t>電力の時間積分＝電力量</a:t>
            </a:r>
            <a:endParaRPr lang="ja-JP" sz="2400"/>
          </a:p>
          <a:p>
            <a:r>
              <a:rPr lang="ja-JP" sz="2400"/>
              <a:t>E = ∫ P dt</a:t>
            </a:r>
            <a:endParaRPr lang="ja-JP" sz="2400"/>
          </a:p>
          <a:p>
            <a:r>
              <a:rPr lang="ja-JP" sz="2400"/>
              <a:t>一定電力なら E = Pt</a:t>
            </a:r>
            <a:endParaRPr lang="ja-JP" sz="2400"/>
          </a:p>
        </p:txBody>
      </p:sp>
      <p:sp>
        <p:nvSpPr>
          <p:cNvPr id="4" name="Steps"/>
          <p:cNvSpPr txBox="1"/>
          <p:nvPr/>
        </p:nvSpPr>
        <p:spPr>
          <a:xfrm>
            <a:off x="6500000" y="1150000"/>
            <a:ext cx="5000000" cy="2600000"/>
          </a:xfrm>
          <a:prstGeom prst="rect">
            <a:avLst/>
          </a:prstGeom>
          <a:solidFill>
            <a:srgbClr val="F2F7EE"/>
          </a:solidFill>
          <a:ln w="12700">
            <a:solidFill>
              <a:srgbClr val="70AD47"/>
            </a:solidFill>
          </a:ln>
        </p:spPr>
        <p:txBody>
          <a:bodyPr wrap="square"/>
          <a:lstStyle/>
          <a:p>
            <a:r>
              <a:rPr lang="ja-JP" sz="2050" b="1"/>
              <a:t>2本の電力曲線があるとき</a:t>
            </a:r>
            <a:endParaRPr lang="ja-JP" sz="2050"/>
          </a:p>
          <a:p>
            <a:r>
              <a:rPr lang="ja-JP" sz="2050"/>
              <a:t>1. 交点を求める</a:t>
            </a:r>
            <a:endParaRPr lang="ja-JP" sz="2050"/>
          </a:p>
          <a:p>
            <a:r>
              <a:rPr lang="ja-JP" sz="2050"/>
              <a:t>2. 式が変わる時刻でも区切る</a:t>
            </a:r>
            <a:endParaRPr lang="ja-JP" sz="2050"/>
          </a:p>
          <a:p>
            <a:r>
              <a:rPr lang="ja-JP" sz="2050"/>
              <a:t>3. 必要な電力差だけ積分</a:t>
            </a:r>
            <a:endParaRPr lang="ja-JP" sz="2050"/>
          </a:p>
          <a:p>
            <a:r>
              <a:rPr lang="ja-JP" sz="2050"/>
              <a:t>4. kW×h = kWh を確認</a:t>
            </a:r>
            <a:endParaRPr lang="ja-JP" sz="2050"/>
          </a:p>
        </p:txBody>
      </p:sp>
      <p:sp>
        <p:nvSpPr>
          <p:cNvPr id="5" name="Map"/>
          <p:cNvSpPr txBox="1"/>
          <p:nvPr/>
        </p:nvSpPr>
        <p:spPr>
          <a:xfrm>
            <a:off x="850000" y="4300000"/>
            <a:ext cx="10100000" cy="1400000"/>
          </a:xfrm>
          <a:prstGeom prst="rect">
            <a:avLst/>
          </a:prstGeom>
          <a:solidFill>
            <a:srgbClr val="FFF6E8"/>
          </a:solidFill>
          <a:ln w="12700">
            <a:solidFill>
              <a:srgbClr val="ED7D31"/>
            </a:solidFill>
          </a:ln>
        </p:spPr>
        <p:txBody>
          <a:bodyPr wrap="square"/>
          <a:lstStyle/>
          <a:p>
            <a:r>
              <a:rPr lang="ja-JP" sz="2050"/>
              <a:t>R7上 法規 問13 / H29 法規 問13 → 区分積分</a:t>
            </a:r>
            <a:endParaRPr lang="ja-JP" sz="2050"/>
          </a:p>
          <a:p>
            <a:r>
              <a:rPr lang="ja-JP" sz="2050"/>
              <a:t>新幹線接続も同じ方法：走行電力・回生電力を時間積分（値は仮定例のみ）</a:t>
            </a:r>
            <a:endParaRPr lang="ja-JP" sz="2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ja-JP" sz="3000"/>
              <a:t>力―距離グラフ：面積が仕事</a:t>
            </a:r>
            <a:endParaRPr lang="ja-JP" sz="3000"/>
          </a:p>
        </p:txBody>
      </p:sp>
      <p:sp>
        <p:nvSpPr>
          <p:cNvPr id="3" name="Work"/>
          <p:cNvSpPr txBox="1"/>
          <p:nvPr/>
        </p:nvSpPr>
        <p:spPr>
          <a:xfrm>
            <a:off x="650000" y="1150000"/>
            <a:ext cx="5200000" cy="1800000"/>
          </a:xfrm>
          <a:prstGeom prst="rect">
            <a:avLst/>
          </a:prstGeom>
          <a:solidFill>
            <a:srgbClr val="EEF4FB"/>
          </a:solidFill>
          <a:ln w="12700">
            <a:solidFill>
              <a:srgbClr val="4472C4"/>
            </a:solidFill>
          </a:ln>
        </p:spPr>
        <p:txBody>
          <a:bodyPr wrap="square"/>
          <a:lstStyle/>
          <a:p>
            <a:r>
              <a:rPr lang="ja-JP" sz="2400" b="1"/>
              <a:t>力の距離積分＝仕事</a:t>
            </a:r>
            <a:endParaRPr lang="ja-JP" sz="2400"/>
          </a:p>
          <a:p>
            <a:r>
              <a:rPr lang="ja-JP" sz="2400"/>
              <a:t>W = ∫ F dx</a:t>
            </a:r>
            <a:endParaRPr lang="ja-JP" sz="2400"/>
          </a:p>
          <a:p>
            <a:r>
              <a:rPr lang="ja-JP" sz="2400"/>
              <a:t>一定力なら W = Fs</a:t>
            </a:r>
            <a:endParaRPr lang="ja-JP" sz="2400"/>
          </a:p>
        </p:txBody>
      </p:sp>
      <p:sp>
        <p:nvSpPr>
          <p:cNvPr id="4" name="Units"/>
          <p:cNvSpPr txBox="1"/>
          <p:nvPr/>
        </p:nvSpPr>
        <p:spPr>
          <a:xfrm>
            <a:off x="6500000" y="1150000"/>
            <a:ext cx="5000000" cy="1800000"/>
          </a:xfrm>
          <a:prstGeom prst="rect">
            <a:avLst/>
          </a:prstGeom>
          <a:solidFill>
            <a:srgbClr val="F2F7EE"/>
          </a:solidFill>
          <a:ln w="12700">
            <a:solidFill>
              <a:srgbClr val="70AD47"/>
            </a:solidFill>
          </a:ln>
        </p:spPr>
        <p:txBody>
          <a:bodyPr wrap="square"/>
          <a:lstStyle/>
          <a:p>
            <a:r>
              <a:rPr lang="ja-JP" sz="2400" b="1"/>
              <a:t>単位の連鎖</a:t>
            </a:r>
            <a:endParaRPr lang="ja-JP" sz="2400"/>
          </a:p>
          <a:p>
            <a:r>
              <a:rPr lang="ja-JP" sz="2400"/>
              <a:t>N·m = J</a:t>
            </a:r>
            <a:endParaRPr lang="ja-JP" sz="2400"/>
          </a:p>
          <a:p>
            <a:r>
              <a:rPr lang="ja-JP" sz="2400"/>
              <a:t>J/s = W</a:t>
            </a:r>
            <a:endParaRPr lang="ja-JP" sz="2400"/>
          </a:p>
        </p:txBody>
      </p:sp>
      <p:sp>
        <p:nvSpPr>
          <p:cNvPr id="5" name="Map"/>
          <p:cNvSpPr txBox="1"/>
          <p:nvPr/>
        </p:nvSpPr>
        <p:spPr>
          <a:xfrm>
            <a:off x="850000" y="3850000"/>
            <a:ext cx="10100000" cy="1500000"/>
          </a:xfrm>
          <a:prstGeom prst="rect">
            <a:avLst/>
          </a:prstGeom>
          <a:solidFill>
            <a:srgbClr val="FFF6E8"/>
          </a:solidFill>
          <a:ln w="12700">
            <a:solidFill>
              <a:srgbClr val="ED7D31"/>
            </a:solidFill>
          </a:ln>
        </p:spPr>
        <p:txBody>
          <a:bodyPr wrap="square"/>
          <a:lstStyle/>
          <a:p>
            <a:r>
              <a:rPr lang="ja-JP" sz="2050"/>
              <a:t>R7上 電力 問1 → 力 → 仕事 → 仕事率の単位関係</a:t>
            </a:r>
            <a:endParaRPr lang="ja-JP" sz="2050"/>
          </a:p>
          <a:p>
            <a:r>
              <a:rPr lang="ja-JP" sz="2050"/>
              <a:t>試験での共通手順：量と単位を読む → 微分/積分を選ぶ → 区間を分ける → 単位で検算</a:t>
            </a:r>
            <a:endParaRPr lang="ja-JP" sz="2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70AD47"/>
      </a:accent3>
      <a:accent4>
        <a:srgbClr val="A5A5A5"/>
      </a:accent4>
      <a:accent5>
        <a:srgbClr val="5B9BD5"/>
      </a:accent5>
      <a:accent6>
        <a:srgbClr val="FFC000"/>
      </a:accent6>
      <a:hlink>
        <a:srgbClr val="0563C1"/>
      </a:hlink>
      <a:folHlink>
        <a:srgbClr val="954F72"/>
      </a:folHlink>
    </a:clrScheme>
    <a:fontScheme name="Minimal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Minimal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