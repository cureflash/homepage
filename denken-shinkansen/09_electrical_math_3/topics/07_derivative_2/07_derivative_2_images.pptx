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inim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mid" wrap="square"/>
          <a:lstStyle/>
          <a:p>
            <a:pPr algn="l"/>
            <a:r>
              <a:rPr lang="ja-JP" sz="2600" b="1">
                <a:solidFill>
                  <a:srgbClr val="16324F"/>
                </a:solidFill>
                <a:latin typeface="Aptos"/>
                <a:ea typeface="Yu Gothic"/>
              </a:rPr>
              <a:t>微分②：位置 → 速度 → 加速度</a:t>
            </a:r>
            <a:endParaRPr lang="ja-JP" sz="2600"/>
          </a:p>
        </p:txBody>
      </p:sp>
      <p:sp>
        <p:nvSpPr>
          <p:cNvPr id="3" name="TextBox 3"/>
          <p:cNvSpPr txBox="1"/>
          <p:nvPr/>
        </p:nvSpPr>
        <p:spPr>
          <a:xfrm>
            <a:off x="438912" y="713232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mid" wrap="square"/>
          <a:lstStyle/>
          <a:p>
            <a:pPr algn="l"/>
            <a:r>
              <a:rPr lang="ja-JP" sz="1100" b="0">
                <a:solidFill>
                  <a:srgbClr val="5B6573"/>
                </a:solidFill>
                <a:latin typeface="Aptos"/>
                <a:ea typeface="Yu Gothic"/>
              </a:rPr>
              <a:t>Topic 07 / 二階微分をグラフと数式で対応させる</a:t>
            </a:r>
            <a:endParaRPr lang="ja-JP" sz="1100"/>
          </a:p>
        </p:txBody>
      </p:sp>
      <p:sp>
        <p:nvSpPr>
          <p:cNvPr id="4" name="Line 4"/>
          <p:cNvSpPr/>
          <p:nvPr/>
        </p:nvSpPr>
        <p:spPr>
          <a:xfrm flipH="0" flipV="0">
            <a:off x="411480" y="1051560"/>
            <a:ext cx="11338560" cy="1"/>
          </a:xfrm>
          <a:prstGeom prst="line">
            <a:avLst/>
          </a:prstGeom>
          <a:ln w="12700">
            <a:solidFill>
              <a:srgbClr val="D9E2EC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502920" y="1325880"/>
            <a:ext cx="3246120" cy="68580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9E2EC"/>
            </a:solidFill>
          </a:ln>
        </p:spPr>
        <p:txBody>
          <a:bodyPr lIns="73152" rIns="73152" tIns="73152" bIns="73152" anchor="mid" wrap="square"/>
          <a:lstStyle/>
          <a:p>
            <a:pPr algn="ctr"/>
            <a:r>
              <a:rPr lang="ja-JP" sz="2200" b="1">
                <a:solidFill>
                  <a:srgbClr val="1F2937"/>
                </a:solidFill>
                <a:latin typeface="Aptos"/>
                <a:ea typeface="Yu Gothic"/>
              </a:rPr>
              <a:t>位置  x(t)</a:t>
            </a:r>
            <a:endParaRPr lang="ja-JP" sz="2200"/>
          </a:p>
        </p:txBody>
      </p:sp>
      <p:sp>
        <p:nvSpPr>
          <p:cNvPr id="6" name="TextBox 6"/>
          <p:cNvSpPr txBox="1"/>
          <p:nvPr/>
        </p:nvSpPr>
        <p:spPr>
          <a:xfrm>
            <a:off x="4069080" y="1325880"/>
            <a:ext cx="3246120" cy="68580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9E2EC"/>
            </a:solidFill>
          </a:ln>
        </p:spPr>
        <p:txBody>
          <a:bodyPr lIns="73152" rIns="73152" tIns="73152" bIns="73152" anchor="mid" wrap="square"/>
          <a:lstStyle/>
          <a:p>
            <a:pPr algn="ctr"/>
            <a:r>
              <a:rPr lang="ja-JP" sz="2200" b="1">
                <a:solidFill>
                  <a:srgbClr val="1F2937"/>
                </a:solidFill>
                <a:latin typeface="Aptos"/>
                <a:ea typeface="Yu Gothic"/>
              </a:rPr>
              <a:t>速度  v(t)=dx/dt</a:t>
            </a:r>
            <a:endParaRPr lang="ja-JP" sz="2200"/>
          </a:p>
        </p:txBody>
      </p:sp>
      <p:sp>
        <p:nvSpPr>
          <p:cNvPr id="7" name="TextBox 7"/>
          <p:cNvSpPr txBox="1"/>
          <p:nvPr/>
        </p:nvSpPr>
        <p:spPr>
          <a:xfrm>
            <a:off x="7635240" y="1325880"/>
            <a:ext cx="3703320" cy="68580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9E2EC"/>
            </a:solidFill>
          </a:ln>
        </p:spPr>
        <p:txBody>
          <a:bodyPr lIns="73152" rIns="73152" tIns="73152" bIns="73152" anchor="mid" wrap="square"/>
          <a:lstStyle/>
          <a:p>
            <a:pPr algn="ctr"/>
            <a:r>
              <a:rPr lang="ja-JP" sz="2000" b="1">
                <a:solidFill>
                  <a:srgbClr val="1F2937"/>
                </a:solidFill>
                <a:latin typeface="Aptos"/>
                <a:ea typeface="Yu Gothic"/>
              </a:rPr>
              <a:t>加速度  a(t)=dv/dt=d²x/dt²</a:t>
            </a:r>
            <a:endParaRPr lang="ja-JP" sz="2000"/>
          </a:p>
        </p:txBody>
      </p:sp>
      <p:sp>
        <p:nvSpPr>
          <p:cNvPr id="8" name="Line 8"/>
          <p:cNvSpPr/>
          <p:nvPr/>
        </p:nvSpPr>
        <p:spPr>
          <a:xfrm flipH="0" flipV="0">
            <a:off x="3703320" y="1673352"/>
            <a:ext cx="338328" cy="1"/>
          </a:xfrm>
          <a:prstGeom prst="line">
            <a:avLst/>
          </a:prstGeom>
          <a:ln w="38100">
            <a:solidFill>
              <a:srgbClr val="D97706"/>
            </a:solidFill>
            <a:tailEnd type="none"/>
            <a:headEnd type="triangle"/>
          </a:ln>
        </p:spPr>
      </p:sp>
      <p:sp>
        <p:nvSpPr>
          <p:cNvPr id="9" name="TextBox 9"/>
          <p:cNvSpPr txBox="1"/>
          <p:nvPr/>
        </p:nvSpPr>
        <p:spPr>
          <a:xfrm>
            <a:off x="3337560" y="1097280"/>
            <a:ext cx="1051560" cy="32004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mid" wrap="square"/>
          <a:lstStyle/>
          <a:p>
            <a:pPr algn="ctr"/>
            <a:r>
              <a:rPr lang="ja-JP" sz="1100" b="1">
                <a:solidFill>
                  <a:srgbClr val="D97706"/>
                </a:solidFill>
                <a:latin typeface="Aptos"/>
                <a:ea typeface="Yu Gothic"/>
              </a:rPr>
              <a:t>微分</a:t>
            </a:r>
            <a:endParaRPr lang="ja-JP" sz="1100"/>
          </a:p>
        </p:txBody>
      </p:sp>
      <p:sp>
        <p:nvSpPr>
          <p:cNvPr id="10" name="Line 10"/>
          <p:cNvSpPr/>
          <p:nvPr/>
        </p:nvSpPr>
        <p:spPr>
          <a:xfrm flipH="0" flipV="0">
            <a:off x="7333488" y="1673352"/>
            <a:ext cx="274320" cy="1"/>
          </a:xfrm>
          <a:prstGeom prst="line">
            <a:avLst/>
          </a:prstGeom>
          <a:ln w="38100">
            <a:solidFill>
              <a:srgbClr val="D97706"/>
            </a:solidFill>
            <a:tailEnd type="none"/>
            <a:headEnd type="triangle"/>
          </a:ln>
        </p:spPr>
      </p:sp>
      <p:sp>
        <p:nvSpPr>
          <p:cNvPr id="11" name="TextBox 11"/>
          <p:cNvSpPr txBox="1"/>
          <p:nvPr/>
        </p:nvSpPr>
        <p:spPr>
          <a:xfrm>
            <a:off x="6949440" y="1097280"/>
            <a:ext cx="1051560" cy="32004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mid" wrap="square"/>
          <a:lstStyle/>
          <a:p>
            <a:pPr algn="ctr"/>
            <a:r>
              <a:rPr lang="ja-JP" sz="1100" b="1">
                <a:solidFill>
                  <a:srgbClr val="D97706"/>
                </a:solidFill>
                <a:latin typeface="Aptos"/>
                <a:ea typeface="Yu Gothic"/>
              </a:rPr>
              <a:t>微分</a:t>
            </a:r>
            <a:endParaRPr lang="ja-JP" sz="1100"/>
          </a:p>
        </p:txBody>
      </p:sp>
      <p:sp>
        <p:nvSpPr>
          <p:cNvPr id="12" name="Line 12"/>
          <p:cNvSpPr/>
          <p:nvPr/>
        </p:nvSpPr>
        <p:spPr>
          <a:xfrm flipH="0" flipV="1">
            <a:off x="777240" y="2423160"/>
            <a:ext cx="1" cy="2313432"/>
          </a:xfrm>
          <a:prstGeom prst="line">
            <a:avLst/>
          </a:prstGeom>
          <a:ln w="19050">
            <a:solidFill>
              <a:srgbClr val="5B6573"/>
            </a:solidFill>
          </a:ln>
        </p:spPr>
      </p:sp>
      <p:sp>
        <p:nvSpPr>
          <p:cNvPr id="13" name="Line 13"/>
          <p:cNvSpPr/>
          <p:nvPr/>
        </p:nvSpPr>
        <p:spPr>
          <a:xfrm flipH="0" flipV="0">
            <a:off x="777240" y="4736592"/>
            <a:ext cx="2788920" cy="1"/>
          </a:xfrm>
          <a:prstGeom prst="line">
            <a:avLst/>
          </a:prstGeom>
          <a:ln w="19050">
            <a:solidFill>
              <a:srgbClr val="5B6573"/>
            </a:solidFill>
          </a:ln>
        </p:spPr>
      </p:sp>
      <p:sp>
        <p:nvSpPr>
          <p:cNvPr id="14" name="Line 14"/>
          <p:cNvSpPr/>
          <p:nvPr/>
        </p:nvSpPr>
        <p:spPr>
          <a:xfrm flipH="0" flipV="1">
            <a:off x="4343400" y="2423160"/>
            <a:ext cx="1" cy="2313432"/>
          </a:xfrm>
          <a:prstGeom prst="line">
            <a:avLst/>
          </a:prstGeom>
          <a:ln w="19050">
            <a:solidFill>
              <a:srgbClr val="5B6573"/>
            </a:solidFill>
          </a:ln>
        </p:spPr>
      </p:sp>
      <p:sp>
        <p:nvSpPr>
          <p:cNvPr id="15" name="Line 15"/>
          <p:cNvSpPr/>
          <p:nvPr/>
        </p:nvSpPr>
        <p:spPr>
          <a:xfrm flipH="0" flipV="0">
            <a:off x="4343400" y="4736592"/>
            <a:ext cx="2788920" cy="1"/>
          </a:xfrm>
          <a:prstGeom prst="line">
            <a:avLst/>
          </a:prstGeom>
          <a:ln w="19050">
            <a:solidFill>
              <a:srgbClr val="5B6573"/>
            </a:solidFill>
          </a:ln>
        </p:spPr>
      </p:sp>
      <p:sp>
        <p:nvSpPr>
          <p:cNvPr id="16" name="Line 16"/>
          <p:cNvSpPr/>
          <p:nvPr/>
        </p:nvSpPr>
        <p:spPr>
          <a:xfrm flipH="0" flipV="1">
            <a:off x="7909560" y="2423160"/>
            <a:ext cx="1" cy="2313432"/>
          </a:xfrm>
          <a:prstGeom prst="line">
            <a:avLst/>
          </a:prstGeom>
          <a:ln w="19050">
            <a:solidFill>
              <a:srgbClr val="5B6573"/>
            </a:solidFill>
          </a:ln>
        </p:spPr>
      </p:sp>
      <p:sp>
        <p:nvSpPr>
          <p:cNvPr id="17" name="Line 17"/>
          <p:cNvSpPr/>
          <p:nvPr/>
        </p:nvSpPr>
        <p:spPr>
          <a:xfrm flipH="0" flipV="0">
            <a:off x="7909560" y="4736592"/>
            <a:ext cx="2788919" cy="1"/>
          </a:xfrm>
          <a:prstGeom prst="line">
            <a:avLst/>
          </a:prstGeom>
          <a:ln w="19050">
            <a:solidFill>
              <a:srgbClr val="5B6573"/>
            </a:solidFill>
          </a:ln>
        </p:spPr>
      </p:sp>
      <p:sp>
        <p:nvSpPr>
          <p:cNvPr id="18" name="Line 18"/>
          <p:cNvSpPr/>
          <p:nvPr/>
        </p:nvSpPr>
        <p:spPr>
          <a:xfrm flipH="0" flipV="1">
            <a:off x="896112" y="4462272"/>
            <a:ext cx="429768" cy="155447"/>
          </a:xfrm>
          <a:prstGeom prst="line">
            <a:avLst/>
          </a:prstGeom>
          <a:ln w="38100">
            <a:solidFill>
              <a:srgbClr val="2F6B9A"/>
            </a:solidFill>
          </a:ln>
        </p:spPr>
      </p:sp>
      <p:sp>
        <p:nvSpPr>
          <p:cNvPr id="19" name="Line 19"/>
          <p:cNvSpPr/>
          <p:nvPr/>
        </p:nvSpPr>
        <p:spPr>
          <a:xfrm flipH="0" flipV="1">
            <a:off x="1325880" y="4160520"/>
            <a:ext cx="429768" cy="301752"/>
          </a:xfrm>
          <a:prstGeom prst="line">
            <a:avLst/>
          </a:prstGeom>
          <a:ln w="38100">
            <a:solidFill>
              <a:srgbClr val="2F6B9A"/>
            </a:solidFill>
          </a:ln>
        </p:spPr>
      </p:sp>
      <p:sp>
        <p:nvSpPr>
          <p:cNvPr id="20" name="Line 20"/>
          <p:cNvSpPr/>
          <p:nvPr/>
        </p:nvSpPr>
        <p:spPr>
          <a:xfrm flipH="0" flipV="1">
            <a:off x="1755648" y="3730752"/>
            <a:ext cx="429768" cy="429767"/>
          </a:xfrm>
          <a:prstGeom prst="line">
            <a:avLst/>
          </a:prstGeom>
          <a:ln w="38100">
            <a:solidFill>
              <a:srgbClr val="2F6B9A"/>
            </a:solidFill>
          </a:ln>
        </p:spPr>
      </p:sp>
      <p:sp>
        <p:nvSpPr>
          <p:cNvPr id="21" name="Line 21"/>
          <p:cNvSpPr/>
          <p:nvPr/>
        </p:nvSpPr>
        <p:spPr>
          <a:xfrm flipH="0" flipV="1">
            <a:off x="2185416" y="3136392"/>
            <a:ext cx="429767" cy="594359"/>
          </a:xfrm>
          <a:prstGeom prst="line">
            <a:avLst/>
          </a:prstGeom>
          <a:ln w="38100">
            <a:solidFill>
              <a:srgbClr val="2F6B9A"/>
            </a:solidFill>
          </a:ln>
        </p:spPr>
      </p:sp>
      <p:sp>
        <p:nvSpPr>
          <p:cNvPr id="22" name="Line 22"/>
          <p:cNvSpPr/>
          <p:nvPr/>
        </p:nvSpPr>
        <p:spPr>
          <a:xfrm flipH="0" flipV="1">
            <a:off x="2615184" y="2487168"/>
            <a:ext cx="429768" cy="649224"/>
          </a:xfrm>
          <a:prstGeom prst="line">
            <a:avLst/>
          </a:prstGeom>
          <a:ln w="38100">
            <a:solidFill>
              <a:srgbClr val="2F6B9A"/>
            </a:solidFill>
          </a:ln>
        </p:spPr>
      </p:sp>
      <p:sp>
        <p:nvSpPr>
          <p:cNvPr id="23" name="Line 23"/>
          <p:cNvSpPr/>
          <p:nvPr/>
        </p:nvSpPr>
        <p:spPr>
          <a:xfrm flipH="0" flipV="1">
            <a:off x="4498848" y="2606040"/>
            <a:ext cx="2377439" cy="1828799"/>
          </a:xfrm>
          <a:prstGeom prst="line">
            <a:avLst/>
          </a:prstGeom>
          <a:ln w="38100">
            <a:solidFill>
              <a:srgbClr val="2E7D7A"/>
            </a:solidFill>
          </a:ln>
        </p:spPr>
      </p:sp>
      <p:sp>
        <p:nvSpPr>
          <p:cNvPr id="24" name="Line 24"/>
          <p:cNvSpPr/>
          <p:nvPr/>
        </p:nvSpPr>
        <p:spPr>
          <a:xfrm flipH="0" flipV="0">
            <a:off x="8065008" y="3310128"/>
            <a:ext cx="2386583" cy="1"/>
          </a:xfrm>
          <a:prstGeom prst="line">
            <a:avLst/>
          </a:prstGeom>
          <a:ln w="38100">
            <a:solidFill>
              <a:srgbClr val="D97706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914400" y="4864608"/>
            <a:ext cx="2651760" cy="50292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mid" wrap="square"/>
          <a:lstStyle/>
          <a:p>
            <a:pPr algn="ctr"/>
            <a:r>
              <a:rPr lang="ja-JP" sz="1500" b="1">
                <a:solidFill>
                  <a:srgbClr val="2F6B9A"/>
                </a:solidFill>
                <a:latin typeface="Aptos"/>
                <a:ea typeface="Yu Gothic"/>
              </a:rPr>
              <a:t>x が二次関数</a:t>
            </a:r>
            <a:endParaRPr lang="ja-JP" sz="1500"/>
          </a:p>
        </p:txBody>
      </p:sp>
      <p:sp>
        <p:nvSpPr>
          <p:cNvPr id="26" name="TextBox 26"/>
          <p:cNvSpPr txBox="1"/>
          <p:nvPr/>
        </p:nvSpPr>
        <p:spPr>
          <a:xfrm>
            <a:off x="4480560" y="4864608"/>
            <a:ext cx="2651760" cy="50292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mid" wrap="square"/>
          <a:lstStyle/>
          <a:p>
            <a:pPr algn="ctr"/>
            <a:r>
              <a:rPr lang="ja-JP" sz="1500" b="1">
                <a:solidFill>
                  <a:srgbClr val="2E7D7A"/>
                </a:solidFill>
                <a:latin typeface="Aptos"/>
                <a:ea typeface="Yu Gothic"/>
              </a:rPr>
              <a:t>v は一次関数</a:t>
            </a:r>
            <a:endParaRPr lang="ja-JP" sz="1500"/>
          </a:p>
        </p:txBody>
      </p:sp>
      <p:sp>
        <p:nvSpPr>
          <p:cNvPr id="27" name="TextBox 27"/>
          <p:cNvSpPr txBox="1"/>
          <p:nvPr/>
        </p:nvSpPr>
        <p:spPr>
          <a:xfrm>
            <a:off x="8046720" y="4864608"/>
            <a:ext cx="2651760" cy="50292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mid" wrap="square"/>
          <a:lstStyle/>
          <a:p>
            <a:pPr algn="ctr"/>
            <a:r>
              <a:rPr lang="ja-JP" sz="1500" b="1">
                <a:solidFill>
                  <a:srgbClr val="D97706"/>
                </a:solidFill>
                <a:latin typeface="Aptos"/>
                <a:ea typeface="Yu Gothic"/>
              </a:rPr>
              <a:t>a は定数</a:t>
            </a:r>
            <a:endParaRPr lang="ja-JP" sz="1500"/>
          </a:p>
        </p:txBody>
      </p:sp>
      <p:sp>
        <p:nvSpPr>
          <p:cNvPr id="28" name="TextBox 28"/>
          <p:cNvSpPr txBox="1"/>
          <p:nvPr/>
        </p:nvSpPr>
        <p:spPr>
          <a:xfrm>
            <a:off x="731520" y="5504688"/>
            <a:ext cx="7406640" cy="457200"/>
          </a:xfrm>
          <a:prstGeom prst="roundRect">
            <a:avLst/>
          </a:prstGeom>
          <a:solidFill>
            <a:srgbClr val="FFF8E8"/>
          </a:solidFill>
          <a:ln w="12700">
            <a:solidFill>
              <a:srgbClr val="F2D28B"/>
            </a:solidFill>
          </a:ln>
        </p:spPr>
        <p:txBody>
          <a:bodyPr lIns="73152" rIns="73152" tIns="73152" bIns="73152" anchor="mid" wrap="square"/>
          <a:lstStyle/>
          <a:p>
            <a:pPr algn="l"/>
            <a:r>
              <a:rPr lang="ja-JP" sz="1700" b="1">
                <a:solidFill>
                  <a:srgbClr val="1F2937"/>
                </a:solidFill>
                <a:latin typeface="Aptos"/>
                <a:ea typeface="Yu Gothic"/>
              </a:rPr>
              <a:t>例：x=x₀+v₀t+(1/2)at²  →  v=v₀+at  →  d²x/dt²=a</a:t>
            </a:r>
            <a:endParaRPr lang="ja-JP" sz="1700"/>
          </a:p>
        </p:txBody>
      </p:sp>
      <p:sp>
        <p:nvSpPr>
          <p:cNvPr id="29" name="TextBox 29"/>
          <p:cNvSpPr txBox="1"/>
          <p:nvPr/>
        </p:nvSpPr>
        <p:spPr>
          <a:xfrm>
            <a:off x="8275320" y="5413248"/>
            <a:ext cx="3200400" cy="640080"/>
          </a:xfrm>
          <a:prstGeom prst="roundRect">
            <a:avLst/>
          </a:prstGeom>
          <a:solidFill>
            <a:srgbClr val="FFF0F0"/>
          </a:solidFill>
          <a:ln w="12700">
            <a:solidFill>
              <a:srgbClr val="F2B5B5"/>
            </a:solidFill>
          </a:ln>
        </p:spPr>
        <p:txBody>
          <a:bodyPr lIns="73152" rIns="73152" tIns="73152" bIns="73152" anchor="mid" wrap="square"/>
          <a:lstStyle/>
          <a:p>
            <a:pPr algn="ctr"/>
            <a:r>
              <a:rPr lang="ja-JP" sz="1400" b="1">
                <a:solidFill>
                  <a:srgbClr val="B42318"/>
                </a:solidFill>
                <a:latin typeface="Aptos"/>
                <a:ea typeface="Yu Gothic"/>
              </a:rPr>
              <a:t>注意：d²x/dt² は</a:t>
            </a:r>
            <a:endParaRPr lang="ja-JP" sz="1400"/>
          </a:p>
          <a:p>
            <a:pPr algn="ctr"/>
            <a:r>
              <a:rPr lang="ja-JP" sz="1400" b="1">
                <a:solidFill>
                  <a:srgbClr val="B42318"/>
                </a:solidFill>
                <a:latin typeface="Aptos"/>
                <a:ea typeface="Yu Gothic"/>
              </a:rPr>
              <a:t>(dx/dt)² ではない</a:t>
            </a:r>
            <a:endParaRPr lang="ja-JP"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30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mid" wrap="square"/>
          <a:lstStyle/>
          <a:p>
            <a:pPr algn="l"/>
            <a:r>
              <a:rPr lang="ja-JP" sz="2600" b="1">
                <a:solidFill>
                  <a:srgbClr val="16324F"/>
                </a:solidFill>
                <a:latin typeface="Aptos"/>
                <a:ea typeface="Yu Gothic"/>
              </a:rPr>
              <a:t>速度と加速度の符号 / 連鎖律</a:t>
            </a:r>
            <a:endParaRPr lang="ja-JP" sz="2600"/>
          </a:p>
        </p:txBody>
      </p:sp>
      <p:sp>
        <p:nvSpPr>
          <p:cNvPr id="31" name="TextBox 31"/>
          <p:cNvSpPr txBox="1"/>
          <p:nvPr/>
        </p:nvSpPr>
        <p:spPr>
          <a:xfrm>
            <a:off x="438912" y="713232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mid" wrap="square"/>
          <a:lstStyle/>
          <a:p>
            <a:pPr algn="l"/>
            <a:r>
              <a:rPr lang="ja-JP" sz="1100" b="0">
                <a:solidFill>
                  <a:srgbClr val="5B6573"/>
                </a:solidFill>
                <a:latin typeface="Aptos"/>
                <a:ea typeface="Yu Gothic"/>
              </a:rPr>
              <a:t>「a&lt;0＝必ず減速」ではない。v と a を組み合わせて判断する</a:t>
            </a:r>
            <a:endParaRPr lang="ja-JP" sz="1100"/>
          </a:p>
        </p:txBody>
      </p:sp>
      <p:sp>
        <p:nvSpPr>
          <p:cNvPr id="32" name="Line 32"/>
          <p:cNvSpPr/>
          <p:nvPr/>
        </p:nvSpPr>
        <p:spPr>
          <a:xfrm flipH="0" flipV="0">
            <a:off x="411480" y="1051560"/>
            <a:ext cx="11338560" cy="1"/>
          </a:xfrm>
          <a:prstGeom prst="line">
            <a:avLst/>
          </a:prstGeom>
          <a:ln w="12700">
            <a:solidFill>
              <a:srgbClr val="D9E2EC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502920" y="1325880"/>
            <a:ext cx="5486400" cy="420624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txBody>
          <a:bodyPr lIns="73152" rIns="73152" tIns="73152" bIns="73152" anchor="mid" wrap="square"/>
          <a:lstStyle/>
          <a:p>
            <a:pPr algn="ctr"/>
            <a:r>
              <a:rPr lang="ja-JP" sz="1700" b="1">
                <a:solidFill>
                  <a:srgbClr val="FFFFFF"/>
                </a:solidFill>
                <a:latin typeface="Aptos"/>
                <a:ea typeface="Yu Gothic"/>
              </a:rPr>
              <a:t>速度 v と加速度 a の符号</a:t>
            </a:r>
            <a:endParaRPr lang="ja-JP" sz="1700"/>
          </a:p>
        </p:txBody>
      </p:sp>
      <p:sp>
        <p:nvSpPr>
          <p:cNvPr id="34" name="TextBox 34"/>
          <p:cNvSpPr txBox="1"/>
          <p:nvPr/>
        </p:nvSpPr>
        <p:spPr>
          <a:xfrm>
            <a:off x="594360" y="1810512"/>
            <a:ext cx="1417320" cy="576072"/>
          </a:xfrm>
          <a:prstGeom prst="rect">
            <a:avLst/>
          </a:prstGeom>
          <a:solidFill>
            <a:srgbClr val="F4F7FA"/>
          </a:solidFill>
          <a:ln w="12700">
            <a:solidFill>
              <a:srgbClr val="D9E2EC"/>
            </a:solidFill>
          </a:ln>
        </p:spPr>
        <p:txBody>
          <a:bodyPr lIns="73152" rIns="73152" tIns="73152" bIns="73152" anchor="mid" wrap="square"/>
          <a:lstStyle/>
          <a:p>
            <a:pPr algn="ctr"/>
            <a:r>
              <a:rPr lang="ja-JP" sz="1500" b="1">
                <a:solidFill>
                  <a:srgbClr val="1F2937"/>
                </a:solidFill>
                <a:latin typeface="Aptos"/>
                <a:ea typeface="Yu Gothic"/>
              </a:rPr>
              <a:t>v &gt; 0</a:t>
            </a:r>
            <a:endParaRPr lang="ja-JP" sz="1500"/>
          </a:p>
        </p:txBody>
      </p:sp>
      <p:sp>
        <p:nvSpPr>
          <p:cNvPr id="35" name="TextBox 35"/>
          <p:cNvSpPr txBox="1"/>
          <p:nvPr/>
        </p:nvSpPr>
        <p:spPr>
          <a:xfrm>
            <a:off x="2057400" y="1810512"/>
            <a:ext cx="1417320" cy="576072"/>
          </a:xfrm>
          <a:prstGeom prst="rect">
            <a:avLst/>
          </a:prstGeom>
          <a:solidFill>
            <a:srgbClr val="F4F7FA"/>
          </a:solidFill>
          <a:ln w="12700">
            <a:solidFill>
              <a:srgbClr val="D9E2EC"/>
            </a:solidFill>
          </a:ln>
        </p:spPr>
        <p:txBody>
          <a:bodyPr lIns="73152" rIns="73152" tIns="73152" bIns="73152" anchor="mid" wrap="square"/>
          <a:lstStyle/>
          <a:p>
            <a:pPr algn="ctr"/>
            <a:r>
              <a:rPr lang="ja-JP" sz="1500" b="1">
                <a:solidFill>
                  <a:srgbClr val="1F2937"/>
                </a:solidFill>
                <a:latin typeface="Aptos"/>
                <a:ea typeface="Yu Gothic"/>
              </a:rPr>
              <a:t>a &gt; 0</a:t>
            </a:r>
            <a:endParaRPr lang="ja-JP" sz="1500"/>
          </a:p>
        </p:txBody>
      </p:sp>
      <p:sp>
        <p:nvSpPr>
          <p:cNvPr id="36" name="TextBox 36"/>
          <p:cNvSpPr txBox="1"/>
          <p:nvPr/>
        </p:nvSpPr>
        <p:spPr>
          <a:xfrm>
            <a:off x="3520440" y="1810512"/>
            <a:ext cx="2331720" cy="576072"/>
          </a:xfrm>
          <a:prstGeom prst="rect">
            <a:avLst/>
          </a:prstGeom>
          <a:solidFill>
            <a:srgbClr val="F4FAF6"/>
          </a:solidFill>
          <a:ln w="12700">
            <a:solidFill>
              <a:srgbClr val="D9E2EC"/>
            </a:solidFill>
          </a:ln>
        </p:spPr>
        <p:txBody>
          <a:bodyPr lIns="73152" rIns="73152" tIns="73152" bIns="73152" anchor="mid" wrap="square"/>
          <a:lstStyle/>
          <a:p>
            <a:pPr algn="ctr"/>
            <a:r>
              <a:rPr lang="ja-JP" sz="1500" b="1">
                <a:solidFill>
                  <a:srgbClr val="287A4B"/>
                </a:solidFill>
                <a:latin typeface="Aptos"/>
                <a:ea typeface="Yu Gothic"/>
              </a:rPr>
              <a:t>速さ増加</a:t>
            </a:r>
            <a:endParaRPr lang="ja-JP" sz="1500"/>
          </a:p>
        </p:txBody>
      </p:sp>
      <p:sp>
        <p:nvSpPr>
          <p:cNvPr id="37" name="TextBox 37"/>
          <p:cNvSpPr txBox="1"/>
          <p:nvPr/>
        </p:nvSpPr>
        <p:spPr>
          <a:xfrm>
            <a:off x="594360" y="2468880"/>
            <a:ext cx="1417320" cy="576072"/>
          </a:xfrm>
          <a:prstGeom prst="rect">
            <a:avLst/>
          </a:prstGeom>
          <a:solidFill>
            <a:srgbClr val="F4F7FA"/>
          </a:solidFill>
          <a:ln w="12700">
            <a:solidFill>
              <a:srgbClr val="D9E2EC"/>
            </a:solidFill>
          </a:ln>
        </p:spPr>
        <p:txBody>
          <a:bodyPr lIns="73152" rIns="73152" tIns="73152" bIns="73152" anchor="mid" wrap="square"/>
          <a:lstStyle/>
          <a:p>
            <a:pPr algn="ctr"/>
            <a:r>
              <a:rPr lang="ja-JP" sz="1500" b="1">
                <a:solidFill>
                  <a:srgbClr val="1F2937"/>
                </a:solidFill>
                <a:latin typeface="Aptos"/>
                <a:ea typeface="Yu Gothic"/>
              </a:rPr>
              <a:t>v &gt; 0</a:t>
            </a:r>
            <a:endParaRPr lang="ja-JP" sz="1500"/>
          </a:p>
        </p:txBody>
      </p:sp>
      <p:sp>
        <p:nvSpPr>
          <p:cNvPr id="38" name="TextBox 38"/>
          <p:cNvSpPr txBox="1"/>
          <p:nvPr/>
        </p:nvSpPr>
        <p:spPr>
          <a:xfrm>
            <a:off x="2057400" y="2468880"/>
            <a:ext cx="1417320" cy="576072"/>
          </a:xfrm>
          <a:prstGeom prst="rect">
            <a:avLst/>
          </a:prstGeom>
          <a:solidFill>
            <a:srgbClr val="F4F7FA"/>
          </a:solidFill>
          <a:ln w="12700">
            <a:solidFill>
              <a:srgbClr val="D9E2EC"/>
            </a:solidFill>
          </a:ln>
        </p:spPr>
        <p:txBody>
          <a:bodyPr lIns="73152" rIns="73152" tIns="73152" bIns="73152" anchor="mid" wrap="square"/>
          <a:lstStyle/>
          <a:p>
            <a:pPr algn="ctr"/>
            <a:r>
              <a:rPr lang="ja-JP" sz="1500" b="1">
                <a:solidFill>
                  <a:srgbClr val="1F2937"/>
                </a:solidFill>
                <a:latin typeface="Aptos"/>
                <a:ea typeface="Yu Gothic"/>
              </a:rPr>
              <a:t>a &lt; 0</a:t>
            </a:r>
            <a:endParaRPr lang="ja-JP" sz="1500"/>
          </a:p>
        </p:txBody>
      </p:sp>
      <p:sp>
        <p:nvSpPr>
          <p:cNvPr id="39" name="TextBox 39"/>
          <p:cNvSpPr txBox="1"/>
          <p:nvPr/>
        </p:nvSpPr>
        <p:spPr>
          <a:xfrm>
            <a:off x="3520440" y="2468880"/>
            <a:ext cx="2331720" cy="576072"/>
          </a:xfrm>
          <a:prstGeom prst="rect">
            <a:avLst/>
          </a:prstGeom>
          <a:solidFill>
            <a:srgbClr val="FFF8ED"/>
          </a:solidFill>
          <a:ln w="12700">
            <a:solidFill>
              <a:srgbClr val="D9E2EC"/>
            </a:solidFill>
          </a:ln>
        </p:spPr>
        <p:txBody>
          <a:bodyPr lIns="73152" rIns="73152" tIns="73152" bIns="73152" anchor="mid" wrap="square"/>
          <a:lstStyle/>
          <a:p>
            <a:pPr algn="ctr"/>
            <a:r>
              <a:rPr lang="ja-JP" sz="1500" b="1">
                <a:solidFill>
                  <a:srgbClr val="D97706"/>
                </a:solidFill>
                <a:latin typeface="Aptos"/>
                <a:ea typeface="Yu Gothic"/>
              </a:rPr>
              <a:t>速さ減少</a:t>
            </a:r>
            <a:endParaRPr lang="ja-JP" sz="1500"/>
          </a:p>
        </p:txBody>
      </p:sp>
      <p:sp>
        <p:nvSpPr>
          <p:cNvPr id="40" name="TextBox 40"/>
          <p:cNvSpPr txBox="1"/>
          <p:nvPr/>
        </p:nvSpPr>
        <p:spPr>
          <a:xfrm>
            <a:off x="594360" y="3127248"/>
            <a:ext cx="1417320" cy="576072"/>
          </a:xfrm>
          <a:prstGeom prst="rect">
            <a:avLst/>
          </a:prstGeom>
          <a:solidFill>
            <a:srgbClr val="F4F7FA"/>
          </a:solidFill>
          <a:ln w="12700">
            <a:solidFill>
              <a:srgbClr val="D9E2EC"/>
            </a:solidFill>
          </a:ln>
        </p:spPr>
        <p:txBody>
          <a:bodyPr lIns="73152" rIns="73152" tIns="73152" bIns="73152" anchor="mid" wrap="square"/>
          <a:lstStyle/>
          <a:p>
            <a:pPr algn="ctr"/>
            <a:r>
              <a:rPr lang="ja-JP" sz="1500" b="1">
                <a:solidFill>
                  <a:srgbClr val="1F2937"/>
                </a:solidFill>
                <a:latin typeface="Aptos"/>
                <a:ea typeface="Yu Gothic"/>
              </a:rPr>
              <a:t>v &lt; 0</a:t>
            </a:r>
            <a:endParaRPr lang="ja-JP" sz="1500"/>
          </a:p>
        </p:txBody>
      </p:sp>
      <p:sp>
        <p:nvSpPr>
          <p:cNvPr id="41" name="TextBox 41"/>
          <p:cNvSpPr txBox="1"/>
          <p:nvPr/>
        </p:nvSpPr>
        <p:spPr>
          <a:xfrm>
            <a:off x="2057400" y="3127248"/>
            <a:ext cx="1417320" cy="576072"/>
          </a:xfrm>
          <a:prstGeom prst="rect">
            <a:avLst/>
          </a:prstGeom>
          <a:solidFill>
            <a:srgbClr val="F4F7FA"/>
          </a:solidFill>
          <a:ln w="12700">
            <a:solidFill>
              <a:srgbClr val="D9E2EC"/>
            </a:solidFill>
          </a:ln>
        </p:spPr>
        <p:txBody>
          <a:bodyPr lIns="73152" rIns="73152" tIns="73152" bIns="73152" anchor="mid" wrap="square"/>
          <a:lstStyle/>
          <a:p>
            <a:pPr algn="ctr"/>
            <a:r>
              <a:rPr lang="ja-JP" sz="1500" b="1">
                <a:solidFill>
                  <a:srgbClr val="1F2937"/>
                </a:solidFill>
                <a:latin typeface="Aptos"/>
                <a:ea typeface="Yu Gothic"/>
              </a:rPr>
              <a:t>a &lt; 0</a:t>
            </a:r>
            <a:endParaRPr lang="ja-JP" sz="1500"/>
          </a:p>
        </p:txBody>
      </p:sp>
      <p:sp>
        <p:nvSpPr>
          <p:cNvPr id="42" name="TextBox 42"/>
          <p:cNvSpPr txBox="1"/>
          <p:nvPr/>
        </p:nvSpPr>
        <p:spPr>
          <a:xfrm>
            <a:off x="3520440" y="3127248"/>
            <a:ext cx="2331720" cy="576072"/>
          </a:xfrm>
          <a:prstGeom prst="rect">
            <a:avLst/>
          </a:prstGeom>
          <a:solidFill>
            <a:srgbClr val="F4FAF6"/>
          </a:solidFill>
          <a:ln w="12700">
            <a:solidFill>
              <a:srgbClr val="D9E2EC"/>
            </a:solidFill>
          </a:ln>
        </p:spPr>
        <p:txBody>
          <a:bodyPr lIns="73152" rIns="73152" tIns="73152" bIns="73152" anchor="mid" wrap="square"/>
          <a:lstStyle/>
          <a:p>
            <a:pPr algn="ctr"/>
            <a:r>
              <a:rPr lang="ja-JP" sz="1500" b="1">
                <a:solidFill>
                  <a:srgbClr val="287A4B"/>
                </a:solidFill>
                <a:latin typeface="Aptos"/>
                <a:ea typeface="Yu Gothic"/>
              </a:rPr>
              <a:t>速さ増加</a:t>
            </a:r>
            <a:endParaRPr lang="ja-JP" sz="1500"/>
          </a:p>
        </p:txBody>
      </p:sp>
      <p:sp>
        <p:nvSpPr>
          <p:cNvPr id="43" name="TextBox 43"/>
          <p:cNvSpPr txBox="1"/>
          <p:nvPr/>
        </p:nvSpPr>
        <p:spPr>
          <a:xfrm>
            <a:off x="594360" y="3785615"/>
            <a:ext cx="1417320" cy="576072"/>
          </a:xfrm>
          <a:prstGeom prst="rect">
            <a:avLst/>
          </a:prstGeom>
          <a:solidFill>
            <a:srgbClr val="F4F7FA"/>
          </a:solidFill>
          <a:ln w="12700">
            <a:solidFill>
              <a:srgbClr val="D9E2EC"/>
            </a:solidFill>
          </a:ln>
        </p:spPr>
        <p:txBody>
          <a:bodyPr lIns="73152" rIns="73152" tIns="73152" bIns="73152" anchor="mid" wrap="square"/>
          <a:lstStyle/>
          <a:p>
            <a:pPr algn="ctr"/>
            <a:r>
              <a:rPr lang="ja-JP" sz="1500" b="1">
                <a:solidFill>
                  <a:srgbClr val="1F2937"/>
                </a:solidFill>
                <a:latin typeface="Aptos"/>
                <a:ea typeface="Yu Gothic"/>
              </a:rPr>
              <a:t>v &lt; 0</a:t>
            </a:r>
            <a:endParaRPr lang="ja-JP" sz="1500"/>
          </a:p>
        </p:txBody>
      </p:sp>
      <p:sp>
        <p:nvSpPr>
          <p:cNvPr id="44" name="TextBox 44"/>
          <p:cNvSpPr txBox="1"/>
          <p:nvPr/>
        </p:nvSpPr>
        <p:spPr>
          <a:xfrm>
            <a:off x="2057400" y="3785615"/>
            <a:ext cx="1417320" cy="576072"/>
          </a:xfrm>
          <a:prstGeom prst="rect">
            <a:avLst/>
          </a:prstGeom>
          <a:solidFill>
            <a:srgbClr val="F4F7FA"/>
          </a:solidFill>
          <a:ln w="12700">
            <a:solidFill>
              <a:srgbClr val="D9E2EC"/>
            </a:solidFill>
          </a:ln>
        </p:spPr>
        <p:txBody>
          <a:bodyPr lIns="73152" rIns="73152" tIns="73152" bIns="73152" anchor="mid" wrap="square"/>
          <a:lstStyle/>
          <a:p>
            <a:pPr algn="ctr"/>
            <a:r>
              <a:rPr lang="ja-JP" sz="1500" b="1">
                <a:solidFill>
                  <a:srgbClr val="1F2937"/>
                </a:solidFill>
                <a:latin typeface="Aptos"/>
                <a:ea typeface="Yu Gothic"/>
              </a:rPr>
              <a:t>a &gt; 0</a:t>
            </a:r>
            <a:endParaRPr lang="ja-JP" sz="1500"/>
          </a:p>
        </p:txBody>
      </p:sp>
      <p:sp>
        <p:nvSpPr>
          <p:cNvPr id="45" name="TextBox 45"/>
          <p:cNvSpPr txBox="1"/>
          <p:nvPr/>
        </p:nvSpPr>
        <p:spPr>
          <a:xfrm>
            <a:off x="3520440" y="3785615"/>
            <a:ext cx="2331720" cy="576072"/>
          </a:xfrm>
          <a:prstGeom prst="rect">
            <a:avLst/>
          </a:prstGeom>
          <a:solidFill>
            <a:srgbClr val="FFF8ED"/>
          </a:solidFill>
          <a:ln w="12700">
            <a:solidFill>
              <a:srgbClr val="D9E2EC"/>
            </a:solidFill>
          </a:ln>
        </p:spPr>
        <p:txBody>
          <a:bodyPr lIns="73152" rIns="73152" tIns="73152" bIns="73152" anchor="mid" wrap="square"/>
          <a:lstStyle/>
          <a:p>
            <a:pPr algn="ctr"/>
            <a:r>
              <a:rPr lang="ja-JP" sz="1500" b="1">
                <a:solidFill>
                  <a:srgbClr val="D97706"/>
                </a:solidFill>
                <a:latin typeface="Aptos"/>
                <a:ea typeface="Yu Gothic"/>
              </a:rPr>
              <a:t>速さ減少</a:t>
            </a:r>
            <a:endParaRPr lang="ja-JP" sz="1500"/>
          </a:p>
        </p:txBody>
      </p:sp>
      <p:sp>
        <p:nvSpPr>
          <p:cNvPr id="46" name="TextBox 46"/>
          <p:cNvSpPr txBox="1"/>
          <p:nvPr/>
        </p:nvSpPr>
        <p:spPr>
          <a:xfrm>
            <a:off x="594360" y="4590288"/>
            <a:ext cx="5257800" cy="77724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9E2EC"/>
            </a:solidFill>
          </a:ln>
        </p:spPr>
        <p:txBody>
          <a:bodyPr lIns="73152" rIns="73152" tIns="73152" bIns="73152" anchor="mid" wrap="square"/>
          <a:lstStyle/>
          <a:p>
            <a:pPr algn="l"/>
            <a:r>
              <a:rPr lang="ja-JP" sz="1300" b="0">
                <a:solidFill>
                  <a:srgbClr val="1F2937"/>
                </a:solidFill>
                <a:latin typeface="Aptos"/>
                <a:ea typeface="Yu Gothic"/>
              </a:rPr>
              <a:t>列車を進行方向を正とする典型例</a:t>
            </a:r>
            <a:endParaRPr lang="ja-JP" sz="1300"/>
          </a:p>
          <a:p>
            <a:pPr algn="l"/>
            <a:r>
              <a:rPr lang="ja-JP" sz="1300" b="0">
                <a:solidFill>
                  <a:srgbClr val="1F2937"/>
                </a:solidFill>
                <a:latin typeface="Aptos"/>
                <a:ea typeface="Yu Gothic"/>
              </a:rPr>
              <a:t>加速：v&gt;0,a&gt;0　定速：v&gt;0,a=0　制動：v&gt;0,a&lt;0</a:t>
            </a:r>
            <a:endParaRPr lang="ja-JP" sz="1300"/>
          </a:p>
        </p:txBody>
      </p:sp>
      <p:sp>
        <p:nvSpPr>
          <p:cNvPr id="47" name="TextBox 47"/>
          <p:cNvSpPr txBox="1"/>
          <p:nvPr/>
        </p:nvSpPr>
        <p:spPr>
          <a:xfrm>
            <a:off x="6309360" y="1325880"/>
            <a:ext cx="5166360" cy="420624"/>
          </a:xfrm>
          <a:prstGeom prst="rect">
            <a:avLst/>
          </a:prstGeom>
          <a:solidFill>
            <a:srgbClr val="2E7D7A"/>
          </a:solidFill>
          <a:ln>
            <a:noFill/>
          </a:ln>
        </p:spPr>
        <p:txBody>
          <a:bodyPr lIns="73152" rIns="73152" tIns="73152" bIns="73152" anchor="mid" wrap="square"/>
          <a:lstStyle/>
          <a:p>
            <a:pPr algn="ctr"/>
            <a:r>
              <a:rPr lang="ja-JP" sz="1700" b="1">
                <a:solidFill>
                  <a:srgbClr val="FFFFFF"/>
                </a:solidFill>
                <a:latin typeface="Aptos"/>
                <a:ea typeface="Yu Gothic"/>
              </a:rPr>
              <a:t>位置を横軸にした速度曲線</a:t>
            </a:r>
            <a:endParaRPr lang="ja-JP" sz="1700"/>
          </a:p>
        </p:txBody>
      </p:sp>
      <p:sp>
        <p:nvSpPr>
          <p:cNvPr id="48" name="TextBox 48"/>
          <p:cNvSpPr txBox="1"/>
          <p:nvPr/>
        </p:nvSpPr>
        <p:spPr>
          <a:xfrm>
            <a:off x="6629400" y="1874519"/>
            <a:ext cx="4572000" cy="64008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mid" wrap="square"/>
          <a:lstStyle/>
          <a:p>
            <a:pPr algn="ctr"/>
            <a:r>
              <a:rPr lang="ja-JP" sz="2100" b="1">
                <a:solidFill>
                  <a:srgbClr val="2E7D7A"/>
                </a:solidFill>
                <a:latin typeface="Aptos"/>
                <a:ea typeface="Yu Gothic"/>
              </a:rPr>
              <a:t>dv/dt = (dv/dx)(dx/dt)</a:t>
            </a:r>
            <a:endParaRPr lang="ja-JP" sz="2100"/>
          </a:p>
        </p:txBody>
      </p:sp>
      <p:sp>
        <p:nvSpPr>
          <p:cNvPr id="49" name="TextBox 49"/>
          <p:cNvSpPr txBox="1"/>
          <p:nvPr/>
        </p:nvSpPr>
        <p:spPr>
          <a:xfrm>
            <a:off x="6629400" y="2670048"/>
            <a:ext cx="4572000" cy="64008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mid" wrap="square"/>
          <a:lstStyle/>
          <a:p>
            <a:pPr algn="ctr"/>
            <a:r>
              <a:rPr lang="ja-JP" sz="2100" b="1">
                <a:solidFill>
                  <a:srgbClr val="2F6B9A"/>
                </a:solidFill>
                <a:latin typeface="Aptos"/>
                <a:ea typeface="Yu Gothic"/>
              </a:rPr>
              <a:t>dx/dt = v</a:t>
            </a:r>
            <a:endParaRPr lang="ja-JP" sz="2100"/>
          </a:p>
        </p:txBody>
      </p:sp>
      <p:sp>
        <p:nvSpPr>
          <p:cNvPr id="50" name="Line 50"/>
          <p:cNvSpPr/>
          <p:nvPr/>
        </p:nvSpPr>
        <p:spPr>
          <a:xfrm flipH="0" flipV="0">
            <a:off x="8887968" y="3310128"/>
            <a:ext cx="1" cy="347471"/>
          </a:xfrm>
          <a:prstGeom prst="line">
            <a:avLst/>
          </a:prstGeom>
          <a:ln w="38100">
            <a:solidFill>
              <a:srgbClr val="D97706"/>
            </a:solidFill>
            <a:tailEnd type="none"/>
            <a:headEnd type="triangle"/>
          </a:ln>
        </p:spPr>
      </p:sp>
      <p:sp>
        <p:nvSpPr>
          <p:cNvPr id="51" name="TextBox 51"/>
          <p:cNvSpPr txBox="1"/>
          <p:nvPr/>
        </p:nvSpPr>
        <p:spPr>
          <a:xfrm>
            <a:off x="6629400" y="3685032"/>
            <a:ext cx="4572000" cy="786384"/>
          </a:xfrm>
          <a:prstGeom prst="roundRect">
            <a:avLst/>
          </a:prstGeom>
          <a:solidFill>
            <a:srgbClr val="EAF6F5"/>
          </a:solidFill>
          <a:ln w="12700">
            <a:solidFill>
              <a:srgbClr val="9ED1CE"/>
            </a:solidFill>
          </a:ln>
        </p:spPr>
        <p:txBody>
          <a:bodyPr lIns="73152" rIns="73152" tIns="73152" bIns="73152" anchor="mid" wrap="square"/>
          <a:lstStyle/>
          <a:p>
            <a:pPr algn="ctr"/>
            <a:r>
              <a:rPr lang="ja-JP" sz="2700" b="1">
                <a:solidFill>
                  <a:srgbClr val="2E7D7A"/>
                </a:solidFill>
                <a:latin typeface="Aptos"/>
                <a:ea typeface="Yu Gothic"/>
              </a:rPr>
              <a:t>a = v · dv/dx</a:t>
            </a:r>
            <a:endParaRPr lang="ja-JP" sz="2700"/>
          </a:p>
        </p:txBody>
      </p:sp>
      <p:sp>
        <p:nvSpPr>
          <p:cNvPr id="52" name="TextBox 52"/>
          <p:cNvSpPr txBox="1"/>
          <p:nvPr/>
        </p:nvSpPr>
        <p:spPr>
          <a:xfrm>
            <a:off x="6629400" y="4736592"/>
            <a:ext cx="4572000" cy="64008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mid" wrap="square"/>
          <a:lstStyle/>
          <a:p>
            <a:pPr algn="ctr"/>
            <a:r>
              <a:rPr lang="ja-JP" sz="1300" b="0">
                <a:solidFill>
                  <a:srgbClr val="1F2937"/>
                </a:solidFill>
                <a:latin typeface="Aptos"/>
                <a:ea typeface="Yu Gothic"/>
              </a:rPr>
              <a:t>v(x) の傾き dv/dx と</a:t>
            </a:r>
            <a:endParaRPr lang="ja-JP" sz="1300"/>
          </a:p>
          <a:p>
            <a:pPr algn="ctr"/>
            <a:r>
              <a:rPr lang="ja-JP" sz="1300" b="0">
                <a:solidFill>
                  <a:srgbClr val="1F2937"/>
                </a:solidFill>
                <a:latin typeface="Aptos"/>
                <a:ea typeface="Yu Gothic"/>
              </a:rPr>
              <a:t>その位置の速度 v から加速度を読む</a:t>
            </a:r>
            <a:endParaRPr lang="ja-JP" sz="1300"/>
          </a:p>
        </p:txBody>
      </p:sp>
      <p:sp>
        <p:nvSpPr>
          <p:cNvPr id="53" name="TextBox 53"/>
          <p:cNvSpPr txBox="1"/>
          <p:nvPr/>
        </p:nvSpPr>
        <p:spPr>
          <a:xfrm>
            <a:off x="6629400" y="5486400"/>
            <a:ext cx="4572000" cy="502920"/>
          </a:xfrm>
          <a:prstGeom prst="roundRect">
            <a:avLst/>
          </a:prstGeom>
          <a:solidFill>
            <a:srgbClr val="FFF0F0"/>
          </a:solidFill>
          <a:ln w="12700">
            <a:solidFill>
              <a:srgbClr val="F2B5B5"/>
            </a:solidFill>
          </a:ln>
        </p:spPr>
        <p:txBody>
          <a:bodyPr lIns="73152" rIns="73152" tIns="73152" bIns="73152" anchor="mid" wrap="square"/>
          <a:lstStyle/>
          <a:p>
            <a:pPr algn="ctr"/>
            <a:r>
              <a:rPr lang="ja-JP" sz="1300" b="1">
                <a:solidFill>
                  <a:srgbClr val="B42318"/>
                </a:solidFill>
                <a:latin typeface="Aptos"/>
                <a:ea typeface="Yu Gothic"/>
              </a:rPr>
              <a:t>v=0 で a/v に割り算しない</a:t>
            </a:r>
            <a:endParaRPr lang="ja-JP" sz="1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Box 54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mid" wrap="square"/>
          <a:lstStyle/>
          <a:p>
            <a:pPr algn="l"/>
            <a:r>
              <a:rPr lang="ja-JP" sz="2600" b="1">
                <a:solidFill>
                  <a:srgbClr val="16324F"/>
                </a:solidFill>
                <a:latin typeface="Aptos"/>
                <a:ea typeface="Yu Gothic"/>
              </a:rPr>
              <a:t>最大・最小：可変抵抗の電力を微分する</a:t>
            </a:r>
            <a:endParaRPr lang="ja-JP" sz="2600"/>
          </a:p>
        </p:txBody>
      </p:sp>
      <p:sp>
        <p:nvSpPr>
          <p:cNvPr id="55" name="TextBox 55"/>
          <p:cNvSpPr txBox="1"/>
          <p:nvPr/>
        </p:nvSpPr>
        <p:spPr>
          <a:xfrm>
            <a:off x="438912" y="713232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mid" wrap="square"/>
          <a:lstStyle/>
          <a:p>
            <a:pPr algn="l"/>
            <a:r>
              <a:rPr lang="ja-JP" sz="1100" b="0">
                <a:solidFill>
                  <a:srgbClr val="5B6573"/>
                </a:solidFill>
                <a:latin typeface="Aptos"/>
                <a:ea typeface="Yu Gothic"/>
              </a:rPr>
              <a:t>回路式 → 一変数関数 → 微分 → 導関数の符号で極大を確定</a:t>
            </a:r>
            <a:endParaRPr lang="ja-JP" sz="1100"/>
          </a:p>
        </p:txBody>
      </p:sp>
      <p:sp>
        <p:nvSpPr>
          <p:cNvPr id="56" name="Line 56"/>
          <p:cNvSpPr/>
          <p:nvPr/>
        </p:nvSpPr>
        <p:spPr>
          <a:xfrm flipH="0" flipV="0">
            <a:off x="411480" y="1051560"/>
            <a:ext cx="11338560" cy="1"/>
          </a:xfrm>
          <a:prstGeom prst="line">
            <a:avLst/>
          </a:prstGeom>
          <a:ln w="12700">
            <a:solidFill>
              <a:srgbClr val="D9E2EC"/>
            </a:solidFill>
          </a:ln>
        </p:spPr>
      </p:sp>
      <p:sp>
        <p:nvSpPr>
          <p:cNvPr id="57" name="Circle 57"/>
          <p:cNvSpPr/>
          <p:nvPr/>
        </p:nvSpPr>
        <p:spPr>
          <a:xfrm>
            <a:off x="548640" y="1417320"/>
            <a:ext cx="475488" cy="475488"/>
          </a:xfrm>
          <a:prstGeom prst="ellipse">
            <a:avLst/>
          </a:prstGeom>
          <a:solidFill>
            <a:srgbClr val="EAF1F8"/>
          </a:solidFill>
          <a:ln w="19050">
            <a:solidFill>
              <a:srgbClr val="2F6B9A"/>
            </a:solidFill>
          </a:ln>
        </p:spPr>
        <p:txBody>
          <a:bodyPr anchor="ctr"/>
          <a:lstStyle/>
          <a:p>
            <a:pPr algn="ctr"/>
            <a:r>
              <a:rPr lang="ja-JP" sz="1500" b="1">
                <a:solidFill>
                  <a:srgbClr val="1F2937"/>
                </a:solidFill>
                <a:latin typeface="Aptos"/>
                <a:ea typeface="Yu Gothic"/>
              </a:rPr>
              <a:t>1</a:t>
            </a:r>
            <a:endParaRPr lang="ja-JP"/>
          </a:p>
        </p:txBody>
      </p:sp>
      <p:sp>
        <p:nvSpPr>
          <p:cNvPr id="58" name="TextBox 58"/>
          <p:cNvSpPr txBox="1"/>
          <p:nvPr/>
        </p:nvSpPr>
        <p:spPr>
          <a:xfrm>
            <a:off x="1133856" y="1307592"/>
            <a:ext cx="1572768" cy="34747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mid" wrap="square"/>
          <a:lstStyle/>
          <a:p>
            <a:pPr algn="l"/>
            <a:r>
              <a:rPr lang="ja-JP" sz="1300" b="1">
                <a:solidFill>
                  <a:srgbClr val="16324F"/>
                </a:solidFill>
                <a:latin typeface="Aptos"/>
                <a:ea typeface="Yu Gothic"/>
              </a:rPr>
              <a:t>変数を決める</a:t>
            </a:r>
            <a:endParaRPr lang="ja-JP" sz="1300"/>
          </a:p>
        </p:txBody>
      </p:sp>
      <p:sp>
        <p:nvSpPr>
          <p:cNvPr id="59" name="TextBox 59"/>
          <p:cNvSpPr txBox="1"/>
          <p:nvPr/>
        </p:nvSpPr>
        <p:spPr>
          <a:xfrm>
            <a:off x="1133856" y="1664208"/>
            <a:ext cx="1691640" cy="65836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9E2EC"/>
            </a:solidFill>
          </a:ln>
        </p:spPr>
        <p:txBody>
          <a:bodyPr lIns="73152" rIns="73152" tIns="73152" bIns="73152" anchor="mid" wrap="square"/>
          <a:lstStyle/>
          <a:p>
            <a:pPr algn="ctr"/>
            <a:r>
              <a:rPr lang="ja-JP" sz="1100" b="0">
                <a:solidFill>
                  <a:srgbClr val="1F2937"/>
                </a:solidFill>
                <a:latin typeface="Aptos"/>
                <a:ea typeface="Yu Gothic"/>
              </a:rPr>
              <a:t>可変抵抗 R</a:t>
            </a:r>
            <a:endParaRPr lang="ja-JP" sz="1100"/>
          </a:p>
        </p:txBody>
      </p:sp>
      <p:sp>
        <p:nvSpPr>
          <p:cNvPr id="60" name="Line 60"/>
          <p:cNvSpPr/>
          <p:nvPr/>
        </p:nvSpPr>
        <p:spPr>
          <a:xfrm flipH="0" flipV="0">
            <a:off x="2852928" y="1984248"/>
            <a:ext cx="237743" cy="1"/>
          </a:xfrm>
          <a:prstGeom prst="line">
            <a:avLst/>
          </a:prstGeom>
          <a:ln w="31750">
            <a:solidFill>
              <a:srgbClr val="D97706"/>
            </a:solidFill>
            <a:tailEnd type="none"/>
            <a:headEnd type="triangle"/>
          </a:ln>
        </p:spPr>
      </p:sp>
      <p:sp>
        <p:nvSpPr>
          <p:cNvPr id="61" name="Circle 61"/>
          <p:cNvSpPr/>
          <p:nvPr/>
        </p:nvSpPr>
        <p:spPr>
          <a:xfrm>
            <a:off x="2862072" y="1417320"/>
            <a:ext cx="475488" cy="475488"/>
          </a:xfrm>
          <a:prstGeom prst="ellipse">
            <a:avLst/>
          </a:prstGeom>
          <a:solidFill>
            <a:srgbClr val="EAF1F8"/>
          </a:solidFill>
          <a:ln w="19050">
            <a:solidFill>
              <a:srgbClr val="2F6B9A"/>
            </a:solidFill>
          </a:ln>
        </p:spPr>
        <p:txBody>
          <a:bodyPr anchor="ctr"/>
          <a:lstStyle/>
          <a:p>
            <a:pPr algn="ctr"/>
            <a:r>
              <a:rPr lang="ja-JP" sz="1500" b="1">
                <a:solidFill>
                  <a:srgbClr val="1F2937"/>
                </a:solidFill>
                <a:latin typeface="Aptos"/>
                <a:ea typeface="Yu Gothic"/>
              </a:rPr>
              <a:t>2</a:t>
            </a:r>
            <a:endParaRPr lang="ja-JP"/>
          </a:p>
        </p:txBody>
      </p:sp>
      <p:sp>
        <p:nvSpPr>
          <p:cNvPr id="62" name="TextBox 62"/>
          <p:cNvSpPr txBox="1"/>
          <p:nvPr/>
        </p:nvSpPr>
        <p:spPr>
          <a:xfrm>
            <a:off x="3447288" y="1307592"/>
            <a:ext cx="1572768" cy="34747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mid" wrap="square"/>
          <a:lstStyle/>
          <a:p>
            <a:pPr algn="l"/>
            <a:r>
              <a:rPr lang="ja-JP" sz="1300" b="1">
                <a:solidFill>
                  <a:srgbClr val="16324F"/>
                </a:solidFill>
                <a:latin typeface="Aptos"/>
                <a:ea typeface="Yu Gothic"/>
              </a:rPr>
              <a:t>関数にする</a:t>
            </a:r>
            <a:endParaRPr lang="ja-JP" sz="1300"/>
          </a:p>
        </p:txBody>
      </p:sp>
      <p:sp>
        <p:nvSpPr>
          <p:cNvPr id="63" name="TextBox 63"/>
          <p:cNvSpPr txBox="1"/>
          <p:nvPr/>
        </p:nvSpPr>
        <p:spPr>
          <a:xfrm>
            <a:off x="3447288" y="1664208"/>
            <a:ext cx="1691640" cy="65836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9E2EC"/>
            </a:solidFill>
          </a:ln>
        </p:spPr>
        <p:txBody>
          <a:bodyPr lIns="73152" rIns="73152" tIns="73152" bIns="73152" anchor="mid" wrap="square"/>
          <a:lstStyle/>
          <a:p>
            <a:pPr algn="ctr"/>
            <a:r>
              <a:rPr lang="ja-JP" sz="1100" b="0">
                <a:solidFill>
                  <a:srgbClr val="1F2937"/>
                </a:solidFill>
                <a:latin typeface="Aptos"/>
                <a:ea typeface="Yu Gothic"/>
              </a:rPr>
              <a:t>P(R)=C R/(A+BR)²</a:t>
            </a:r>
            <a:endParaRPr lang="ja-JP" sz="1100"/>
          </a:p>
        </p:txBody>
      </p:sp>
      <p:sp>
        <p:nvSpPr>
          <p:cNvPr id="64" name="Line 64"/>
          <p:cNvSpPr/>
          <p:nvPr/>
        </p:nvSpPr>
        <p:spPr>
          <a:xfrm flipH="0" flipV="0">
            <a:off x="5166360" y="1984248"/>
            <a:ext cx="237743" cy="1"/>
          </a:xfrm>
          <a:prstGeom prst="line">
            <a:avLst/>
          </a:prstGeom>
          <a:ln w="31750">
            <a:solidFill>
              <a:srgbClr val="D97706"/>
            </a:solidFill>
            <a:tailEnd type="none"/>
            <a:headEnd type="triangle"/>
          </a:ln>
        </p:spPr>
      </p:sp>
      <p:sp>
        <p:nvSpPr>
          <p:cNvPr id="65" name="Circle 65"/>
          <p:cNvSpPr/>
          <p:nvPr/>
        </p:nvSpPr>
        <p:spPr>
          <a:xfrm>
            <a:off x="5175504" y="1417320"/>
            <a:ext cx="475488" cy="475488"/>
          </a:xfrm>
          <a:prstGeom prst="ellipse">
            <a:avLst/>
          </a:prstGeom>
          <a:solidFill>
            <a:srgbClr val="EAF1F8"/>
          </a:solidFill>
          <a:ln w="19050">
            <a:solidFill>
              <a:srgbClr val="2F6B9A"/>
            </a:solidFill>
          </a:ln>
        </p:spPr>
        <p:txBody>
          <a:bodyPr anchor="ctr"/>
          <a:lstStyle/>
          <a:p>
            <a:pPr algn="ctr"/>
            <a:r>
              <a:rPr lang="ja-JP" sz="1500" b="1">
                <a:solidFill>
                  <a:srgbClr val="1F2937"/>
                </a:solidFill>
                <a:latin typeface="Aptos"/>
                <a:ea typeface="Yu Gothic"/>
              </a:rPr>
              <a:t>3</a:t>
            </a:r>
            <a:endParaRPr lang="ja-JP"/>
          </a:p>
        </p:txBody>
      </p:sp>
      <p:sp>
        <p:nvSpPr>
          <p:cNvPr id="66" name="TextBox 66"/>
          <p:cNvSpPr txBox="1"/>
          <p:nvPr/>
        </p:nvSpPr>
        <p:spPr>
          <a:xfrm>
            <a:off x="5760720" y="1307592"/>
            <a:ext cx="1572768" cy="34747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mid" wrap="square"/>
          <a:lstStyle/>
          <a:p>
            <a:pPr algn="l"/>
            <a:r>
              <a:rPr lang="ja-JP" sz="1300" b="1">
                <a:solidFill>
                  <a:srgbClr val="16324F"/>
                </a:solidFill>
                <a:latin typeface="Aptos"/>
                <a:ea typeface="Yu Gothic"/>
              </a:rPr>
              <a:t>微分する</a:t>
            </a:r>
            <a:endParaRPr lang="ja-JP" sz="1300"/>
          </a:p>
        </p:txBody>
      </p:sp>
      <p:sp>
        <p:nvSpPr>
          <p:cNvPr id="67" name="TextBox 67"/>
          <p:cNvSpPr txBox="1"/>
          <p:nvPr/>
        </p:nvSpPr>
        <p:spPr>
          <a:xfrm>
            <a:off x="5760720" y="1664208"/>
            <a:ext cx="1691640" cy="65836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9E2EC"/>
            </a:solidFill>
          </a:ln>
        </p:spPr>
        <p:txBody>
          <a:bodyPr lIns="73152" rIns="73152" tIns="73152" bIns="73152" anchor="mid" wrap="square"/>
          <a:lstStyle/>
          <a:p>
            <a:pPr algn="ctr"/>
            <a:r>
              <a:rPr lang="ja-JP" sz="1100" b="0">
                <a:solidFill>
                  <a:srgbClr val="1F2937"/>
                </a:solidFill>
                <a:latin typeface="Aptos"/>
                <a:ea typeface="Yu Gothic"/>
              </a:rPr>
              <a:t>dP/dR=C(A−BR)/(A+BR)³</a:t>
            </a:r>
            <a:endParaRPr lang="ja-JP" sz="1100"/>
          </a:p>
        </p:txBody>
      </p:sp>
      <p:sp>
        <p:nvSpPr>
          <p:cNvPr id="68" name="Line 68"/>
          <p:cNvSpPr/>
          <p:nvPr/>
        </p:nvSpPr>
        <p:spPr>
          <a:xfrm flipH="0" flipV="0">
            <a:off x="7479792" y="1984248"/>
            <a:ext cx="237743" cy="1"/>
          </a:xfrm>
          <a:prstGeom prst="line">
            <a:avLst/>
          </a:prstGeom>
          <a:ln w="31750">
            <a:solidFill>
              <a:srgbClr val="D97706"/>
            </a:solidFill>
            <a:tailEnd type="none"/>
            <a:headEnd type="triangle"/>
          </a:ln>
        </p:spPr>
      </p:sp>
      <p:sp>
        <p:nvSpPr>
          <p:cNvPr id="69" name="Circle 69"/>
          <p:cNvSpPr/>
          <p:nvPr/>
        </p:nvSpPr>
        <p:spPr>
          <a:xfrm>
            <a:off x="7488936" y="1417320"/>
            <a:ext cx="475488" cy="475488"/>
          </a:xfrm>
          <a:prstGeom prst="ellipse">
            <a:avLst/>
          </a:prstGeom>
          <a:solidFill>
            <a:srgbClr val="EAF1F8"/>
          </a:solidFill>
          <a:ln w="19050">
            <a:solidFill>
              <a:srgbClr val="2F6B9A"/>
            </a:solidFill>
          </a:ln>
        </p:spPr>
        <p:txBody>
          <a:bodyPr anchor="ctr"/>
          <a:lstStyle/>
          <a:p>
            <a:pPr algn="ctr"/>
            <a:r>
              <a:rPr lang="ja-JP" sz="1500" b="1">
                <a:solidFill>
                  <a:srgbClr val="1F2937"/>
                </a:solidFill>
                <a:latin typeface="Aptos"/>
                <a:ea typeface="Yu Gothic"/>
              </a:rPr>
              <a:t>4</a:t>
            </a:r>
            <a:endParaRPr lang="ja-JP"/>
          </a:p>
        </p:txBody>
      </p:sp>
      <p:sp>
        <p:nvSpPr>
          <p:cNvPr id="70" name="TextBox 70"/>
          <p:cNvSpPr txBox="1"/>
          <p:nvPr/>
        </p:nvSpPr>
        <p:spPr>
          <a:xfrm>
            <a:off x="8074152" y="1307592"/>
            <a:ext cx="1572768" cy="34747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mid" wrap="square"/>
          <a:lstStyle/>
          <a:p>
            <a:pPr algn="l"/>
            <a:r>
              <a:rPr lang="ja-JP" sz="1300" b="1">
                <a:solidFill>
                  <a:srgbClr val="16324F"/>
                </a:solidFill>
                <a:latin typeface="Aptos"/>
                <a:ea typeface="Yu Gothic"/>
              </a:rPr>
              <a:t>符号を見る</a:t>
            </a:r>
            <a:endParaRPr lang="ja-JP" sz="1300"/>
          </a:p>
        </p:txBody>
      </p:sp>
      <p:sp>
        <p:nvSpPr>
          <p:cNvPr id="71" name="TextBox 71"/>
          <p:cNvSpPr txBox="1"/>
          <p:nvPr/>
        </p:nvSpPr>
        <p:spPr>
          <a:xfrm>
            <a:off x="8074152" y="1664208"/>
            <a:ext cx="1691640" cy="65836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9E2EC"/>
            </a:solidFill>
          </a:ln>
        </p:spPr>
        <p:txBody>
          <a:bodyPr lIns="73152" rIns="73152" tIns="73152" bIns="73152" anchor="mid" wrap="square"/>
          <a:lstStyle/>
          <a:p>
            <a:pPr algn="ctr"/>
            <a:r>
              <a:rPr lang="ja-JP" sz="1100" b="0">
                <a:solidFill>
                  <a:srgbClr val="1F2937"/>
                </a:solidFill>
                <a:latin typeface="Aptos"/>
                <a:ea typeface="Yu Gothic"/>
              </a:rPr>
              <a:t>R&lt;A/B: +  ／  R&gt;A/B: −</a:t>
            </a:r>
            <a:endParaRPr lang="ja-JP" sz="1100"/>
          </a:p>
        </p:txBody>
      </p:sp>
      <p:sp>
        <p:nvSpPr>
          <p:cNvPr id="72" name="Line 72"/>
          <p:cNvSpPr/>
          <p:nvPr/>
        </p:nvSpPr>
        <p:spPr>
          <a:xfrm flipH="0" flipV="0">
            <a:off x="9793224" y="1984248"/>
            <a:ext cx="237743" cy="1"/>
          </a:xfrm>
          <a:prstGeom prst="line">
            <a:avLst/>
          </a:prstGeom>
          <a:ln w="31750">
            <a:solidFill>
              <a:srgbClr val="D97706"/>
            </a:solidFill>
            <a:tailEnd type="none"/>
            <a:headEnd type="triangle"/>
          </a:ln>
        </p:spPr>
      </p:sp>
      <p:sp>
        <p:nvSpPr>
          <p:cNvPr id="73" name="Circle 73"/>
          <p:cNvSpPr/>
          <p:nvPr/>
        </p:nvSpPr>
        <p:spPr>
          <a:xfrm>
            <a:off x="9802367" y="1417320"/>
            <a:ext cx="475488" cy="475488"/>
          </a:xfrm>
          <a:prstGeom prst="ellipse">
            <a:avLst/>
          </a:prstGeom>
          <a:solidFill>
            <a:srgbClr val="EAF1F8"/>
          </a:solidFill>
          <a:ln w="19050">
            <a:solidFill>
              <a:srgbClr val="2F6B9A"/>
            </a:solidFill>
          </a:ln>
        </p:spPr>
        <p:txBody>
          <a:bodyPr anchor="ctr"/>
          <a:lstStyle/>
          <a:p>
            <a:pPr algn="ctr"/>
            <a:r>
              <a:rPr lang="ja-JP" sz="1500" b="1">
                <a:solidFill>
                  <a:srgbClr val="1F2937"/>
                </a:solidFill>
                <a:latin typeface="Aptos"/>
                <a:ea typeface="Yu Gothic"/>
              </a:rPr>
              <a:t>5</a:t>
            </a:r>
            <a:endParaRPr lang="ja-JP"/>
          </a:p>
        </p:txBody>
      </p:sp>
      <p:sp>
        <p:nvSpPr>
          <p:cNvPr id="74" name="TextBox 74"/>
          <p:cNvSpPr txBox="1"/>
          <p:nvPr/>
        </p:nvSpPr>
        <p:spPr>
          <a:xfrm>
            <a:off x="10387584" y="1307592"/>
            <a:ext cx="1572768" cy="34747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mid" wrap="square"/>
          <a:lstStyle/>
          <a:p>
            <a:pPr algn="l"/>
            <a:r>
              <a:rPr lang="ja-JP" sz="1300" b="1">
                <a:solidFill>
                  <a:srgbClr val="16324F"/>
                </a:solidFill>
                <a:latin typeface="Aptos"/>
                <a:ea typeface="Yu Gothic"/>
              </a:rPr>
              <a:t>最大条件</a:t>
            </a:r>
            <a:endParaRPr lang="ja-JP" sz="1300"/>
          </a:p>
        </p:txBody>
      </p:sp>
      <p:sp>
        <p:nvSpPr>
          <p:cNvPr id="75" name="TextBox 75"/>
          <p:cNvSpPr txBox="1"/>
          <p:nvPr/>
        </p:nvSpPr>
        <p:spPr>
          <a:xfrm>
            <a:off x="10387584" y="1664208"/>
            <a:ext cx="1691640" cy="65836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9E2EC"/>
            </a:solidFill>
          </a:ln>
        </p:spPr>
        <p:txBody>
          <a:bodyPr lIns="73152" rIns="73152" tIns="73152" bIns="73152" anchor="mid" wrap="square"/>
          <a:lstStyle/>
          <a:p>
            <a:pPr algn="ctr"/>
            <a:r>
              <a:rPr lang="ja-JP" sz="1100" b="0">
                <a:solidFill>
                  <a:srgbClr val="1F2937"/>
                </a:solidFill>
                <a:latin typeface="Aptos"/>
                <a:ea typeface="Yu Gothic"/>
              </a:rPr>
              <a:t>R=A/B</a:t>
            </a:r>
            <a:endParaRPr lang="ja-JP" sz="1100"/>
          </a:p>
        </p:txBody>
      </p:sp>
      <p:sp>
        <p:nvSpPr>
          <p:cNvPr id="76" name="TextBox 76"/>
          <p:cNvSpPr txBox="1"/>
          <p:nvPr/>
        </p:nvSpPr>
        <p:spPr>
          <a:xfrm>
            <a:off x="594360" y="2788920"/>
            <a:ext cx="5212080" cy="457200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txBody>
          <a:bodyPr lIns="73152" rIns="73152" tIns="73152" bIns="73152" anchor="mid" wrap="square"/>
          <a:lstStyle/>
          <a:p>
            <a:pPr algn="ctr"/>
            <a:r>
              <a:rPr lang="ja-JP" sz="1800" b="1">
                <a:solidFill>
                  <a:srgbClr val="FFFFFF"/>
                </a:solidFill>
                <a:latin typeface="Aptos"/>
                <a:ea typeface="Yu Gothic"/>
              </a:rPr>
              <a:t>例題：P(R)=144R/(R+3)²</a:t>
            </a:r>
            <a:endParaRPr lang="ja-JP" sz="1800"/>
          </a:p>
        </p:txBody>
      </p:sp>
      <p:sp>
        <p:nvSpPr>
          <p:cNvPr id="77" name="TextBox 77"/>
          <p:cNvSpPr txBox="1"/>
          <p:nvPr/>
        </p:nvSpPr>
        <p:spPr>
          <a:xfrm>
            <a:off x="777240" y="3429000"/>
            <a:ext cx="4846320" cy="1097280"/>
          </a:xfrm>
          <a:prstGeom prst="roundRect">
            <a:avLst/>
          </a:prstGeom>
          <a:solidFill>
            <a:srgbClr val="FFF8E8"/>
          </a:solidFill>
          <a:ln w="12700">
            <a:solidFill>
              <a:srgbClr val="F2D28B"/>
            </a:solidFill>
          </a:ln>
        </p:spPr>
        <p:txBody>
          <a:bodyPr lIns="73152" rIns="73152" tIns="73152" bIns="73152" anchor="mid" wrap="square"/>
          <a:lstStyle/>
          <a:p>
            <a:pPr algn="ctr"/>
            <a:r>
              <a:rPr lang="ja-JP" sz="1700" b="1">
                <a:solidFill>
                  <a:srgbClr val="1F2937"/>
                </a:solidFill>
                <a:latin typeface="Aptos"/>
                <a:ea typeface="Yu Gothic"/>
              </a:rPr>
              <a:t>dP/dR = 144(3−R)/(R+3)³</a:t>
            </a:r>
            <a:endParaRPr lang="ja-JP" sz="1700"/>
          </a:p>
          <a:p>
            <a:pPr algn="ctr"/>
            <a:r>
              <a:rPr lang="ja-JP" sz="1700" b="1">
                <a:solidFill>
                  <a:srgbClr val="1F2937"/>
                </a:solidFill>
                <a:latin typeface="Aptos"/>
                <a:ea typeface="Yu Gothic"/>
              </a:rPr>
              <a:t>R&lt;3 で増加、R&gt;3 で減少</a:t>
            </a:r>
            <a:endParaRPr lang="ja-JP" sz="1700"/>
          </a:p>
          <a:p>
            <a:pPr algn="ctr"/>
            <a:r>
              <a:rPr lang="ja-JP" sz="1700" b="1">
                <a:solidFill>
                  <a:srgbClr val="1F2937"/>
                </a:solidFill>
                <a:latin typeface="Aptos"/>
                <a:ea typeface="Yu Gothic"/>
              </a:rPr>
              <a:t>→ R=3 Ω で最大、Pmax=12 W</a:t>
            </a:r>
            <a:endParaRPr lang="ja-JP" sz="1700"/>
          </a:p>
        </p:txBody>
      </p:sp>
      <p:sp>
        <p:nvSpPr>
          <p:cNvPr id="78" name="Line 78"/>
          <p:cNvSpPr/>
          <p:nvPr/>
        </p:nvSpPr>
        <p:spPr>
          <a:xfrm flipH="0" flipV="1">
            <a:off x="6446520" y="2834640"/>
            <a:ext cx="1" cy="1965960"/>
          </a:xfrm>
          <a:prstGeom prst="line">
            <a:avLst/>
          </a:prstGeom>
          <a:ln w="19050">
            <a:solidFill>
              <a:srgbClr val="5B6573"/>
            </a:solidFill>
          </a:ln>
        </p:spPr>
      </p:sp>
      <p:sp>
        <p:nvSpPr>
          <p:cNvPr id="79" name="Line 79"/>
          <p:cNvSpPr/>
          <p:nvPr/>
        </p:nvSpPr>
        <p:spPr>
          <a:xfrm flipH="0" flipV="0">
            <a:off x="6446520" y="4800600"/>
            <a:ext cx="4480559" cy="1"/>
          </a:xfrm>
          <a:prstGeom prst="line">
            <a:avLst/>
          </a:prstGeom>
          <a:ln w="19050">
            <a:solidFill>
              <a:srgbClr val="5B6573"/>
            </a:solidFill>
          </a:ln>
        </p:spPr>
      </p:sp>
      <p:sp>
        <p:nvSpPr>
          <p:cNvPr id="80" name="Line 80"/>
          <p:cNvSpPr/>
          <p:nvPr/>
        </p:nvSpPr>
        <p:spPr>
          <a:xfrm flipH="0" flipV="1">
            <a:off x="6629400" y="4160520"/>
            <a:ext cx="411480" cy="457200"/>
          </a:xfrm>
          <a:prstGeom prst="line">
            <a:avLst/>
          </a:prstGeom>
          <a:ln w="38100">
            <a:solidFill>
              <a:srgbClr val="2F6B9A"/>
            </a:solidFill>
          </a:ln>
        </p:spPr>
      </p:sp>
      <p:sp>
        <p:nvSpPr>
          <p:cNvPr id="81" name="Line 81"/>
          <p:cNvSpPr/>
          <p:nvPr/>
        </p:nvSpPr>
        <p:spPr>
          <a:xfrm flipH="0" flipV="1">
            <a:off x="7040880" y="3703320"/>
            <a:ext cx="411480" cy="457200"/>
          </a:xfrm>
          <a:prstGeom prst="line">
            <a:avLst/>
          </a:prstGeom>
          <a:ln w="38100">
            <a:solidFill>
              <a:srgbClr val="2F6B9A"/>
            </a:solidFill>
          </a:ln>
        </p:spPr>
      </p:sp>
      <p:sp>
        <p:nvSpPr>
          <p:cNvPr id="82" name="Line 82"/>
          <p:cNvSpPr/>
          <p:nvPr/>
        </p:nvSpPr>
        <p:spPr>
          <a:xfrm flipH="0" flipV="1">
            <a:off x="7452360" y="3337560"/>
            <a:ext cx="411479" cy="365759"/>
          </a:xfrm>
          <a:prstGeom prst="line">
            <a:avLst/>
          </a:prstGeom>
          <a:ln w="38100">
            <a:solidFill>
              <a:srgbClr val="2F6B9A"/>
            </a:solidFill>
          </a:ln>
        </p:spPr>
      </p:sp>
      <p:sp>
        <p:nvSpPr>
          <p:cNvPr id="83" name="Line 83"/>
          <p:cNvSpPr/>
          <p:nvPr/>
        </p:nvSpPr>
        <p:spPr>
          <a:xfrm flipH="0" flipV="1">
            <a:off x="7863840" y="3136392"/>
            <a:ext cx="411480" cy="201167"/>
          </a:xfrm>
          <a:prstGeom prst="line">
            <a:avLst/>
          </a:prstGeom>
          <a:ln w="38100">
            <a:solidFill>
              <a:srgbClr val="2F6B9A"/>
            </a:solidFill>
          </a:ln>
        </p:spPr>
      </p:sp>
      <p:sp>
        <p:nvSpPr>
          <p:cNvPr id="84" name="Line 84"/>
          <p:cNvSpPr/>
          <p:nvPr/>
        </p:nvSpPr>
        <p:spPr>
          <a:xfrm flipH="0" flipV="1">
            <a:off x="8275320" y="3090672"/>
            <a:ext cx="411479" cy="45720"/>
          </a:xfrm>
          <a:prstGeom prst="line">
            <a:avLst/>
          </a:prstGeom>
          <a:ln w="38100">
            <a:solidFill>
              <a:srgbClr val="2F6B9A"/>
            </a:solidFill>
          </a:ln>
        </p:spPr>
      </p:sp>
      <p:sp>
        <p:nvSpPr>
          <p:cNvPr id="85" name="Line 85"/>
          <p:cNvSpPr/>
          <p:nvPr/>
        </p:nvSpPr>
        <p:spPr>
          <a:xfrm flipH="0" flipV="0">
            <a:off x="8686800" y="3090672"/>
            <a:ext cx="411479" cy="91440"/>
          </a:xfrm>
          <a:prstGeom prst="line">
            <a:avLst/>
          </a:prstGeom>
          <a:ln w="38100">
            <a:solidFill>
              <a:srgbClr val="2F6B9A"/>
            </a:solidFill>
          </a:ln>
        </p:spPr>
      </p:sp>
      <p:sp>
        <p:nvSpPr>
          <p:cNvPr id="86" name="Line 86"/>
          <p:cNvSpPr/>
          <p:nvPr/>
        </p:nvSpPr>
        <p:spPr>
          <a:xfrm flipH="0" flipV="0">
            <a:off x="9098280" y="3182112"/>
            <a:ext cx="411480" cy="182880"/>
          </a:xfrm>
          <a:prstGeom prst="line">
            <a:avLst/>
          </a:prstGeom>
          <a:ln w="38100">
            <a:solidFill>
              <a:srgbClr val="2F6B9A"/>
            </a:solidFill>
          </a:ln>
        </p:spPr>
      </p:sp>
      <p:sp>
        <p:nvSpPr>
          <p:cNvPr id="87" name="Line 87"/>
          <p:cNvSpPr/>
          <p:nvPr/>
        </p:nvSpPr>
        <p:spPr>
          <a:xfrm flipH="0" flipV="0">
            <a:off x="9509760" y="3364992"/>
            <a:ext cx="411479" cy="246888"/>
          </a:xfrm>
          <a:prstGeom prst="line">
            <a:avLst/>
          </a:prstGeom>
          <a:ln w="38100">
            <a:solidFill>
              <a:srgbClr val="2F6B9A"/>
            </a:solidFill>
          </a:ln>
        </p:spPr>
      </p:sp>
      <p:sp>
        <p:nvSpPr>
          <p:cNvPr id="88" name="Line 88"/>
          <p:cNvSpPr/>
          <p:nvPr/>
        </p:nvSpPr>
        <p:spPr>
          <a:xfrm flipH="0" flipV="0">
            <a:off x="9921240" y="3611880"/>
            <a:ext cx="411480" cy="301752"/>
          </a:xfrm>
          <a:prstGeom prst="line">
            <a:avLst/>
          </a:prstGeom>
          <a:ln w="38100">
            <a:solidFill>
              <a:srgbClr val="2F6B9A"/>
            </a:solidFill>
          </a:ln>
        </p:spPr>
      </p:sp>
      <p:sp>
        <p:nvSpPr>
          <p:cNvPr id="89" name="Line 89"/>
          <p:cNvSpPr/>
          <p:nvPr/>
        </p:nvSpPr>
        <p:spPr>
          <a:xfrm flipH="0" flipV="0">
            <a:off x="10332720" y="3913632"/>
            <a:ext cx="411479" cy="292607"/>
          </a:xfrm>
          <a:prstGeom prst="line">
            <a:avLst/>
          </a:prstGeom>
          <a:ln w="38100">
            <a:solidFill>
              <a:srgbClr val="2F6B9A"/>
            </a:solidFill>
          </a:ln>
        </p:spPr>
      </p:sp>
      <p:sp>
        <p:nvSpPr>
          <p:cNvPr id="90" name="Line 90"/>
          <p:cNvSpPr/>
          <p:nvPr/>
        </p:nvSpPr>
        <p:spPr>
          <a:xfrm flipH="0" flipV="0">
            <a:off x="8686800" y="3090672"/>
            <a:ext cx="1" cy="1709928"/>
          </a:xfrm>
          <a:prstGeom prst="line">
            <a:avLst/>
          </a:prstGeom>
          <a:ln w="19050">
            <a:solidFill>
              <a:srgbClr val="D97706"/>
            </a:solidFill>
            <a:prstDash val="dash"/>
          </a:ln>
        </p:spPr>
      </p:sp>
      <p:sp>
        <p:nvSpPr>
          <p:cNvPr id="91" name="TextBox 91"/>
          <p:cNvSpPr txBox="1"/>
          <p:nvPr/>
        </p:nvSpPr>
        <p:spPr>
          <a:xfrm>
            <a:off x="7955279" y="2606040"/>
            <a:ext cx="1554480" cy="329184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mid" wrap="square"/>
          <a:lstStyle/>
          <a:p>
            <a:pPr algn="ctr"/>
            <a:r>
              <a:rPr lang="ja-JP" sz="1200" b="1">
                <a:solidFill>
                  <a:srgbClr val="D97706"/>
                </a:solidFill>
                <a:latin typeface="Aptos"/>
                <a:ea typeface="Yu Gothic"/>
              </a:rPr>
              <a:t>R=A/B</a:t>
            </a:r>
            <a:endParaRPr lang="ja-JP" sz="1200"/>
          </a:p>
        </p:txBody>
      </p:sp>
      <p:sp>
        <p:nvSpPr>
          <p:cNvPr id="92" name="TextBox 92"/>
          <p:cNvSpPr txBox="1"/>
          <p:nvPr/>
        </p:nvSpPr>
        <p:spPr>
          <a:xfrm>
            <a:off x="6629400" y="4956048"/>
            <a:ext cx="4206240" cy="512064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mid" wrap="square"/>
          <a:lstStyle/>
          <a:p>
            <a:pPr algn="ctr"/>
            <a:r>
              <a:rPr lang="ja-JP" sz="1400" b="1">
                <a:solidFill>
                  <a:srgbClr val="B42318"/>
                </a:solidFill>
                <a:latin typeface="Aptos"/>
                <a:ea typeface="Yu Gothic"/>
              </a:rPr>
              <a:t>f′(R)=0 だけでなく + → − を確認</a:t>
            </a:r>
            <a:endParaRPr lang="ja-JP" sz="1400"/>
          </a:p>
        </p:txBody>
      </p:sp>
      <p:sp>
        <p:nvSpPr>
          <p:cNvPr id="93" name="TextBox 93"/>
          <p:cNvSpPr txBox="1"/>
          <p:nvPr/>
        </p:nvSpPr>
        <p:spPr>
          <a:xfrm>
            <a:off x="640080" y="5166360"/>
            <a:ext cx="5074920" cy="713232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9E2EC"/>
            </a:solidFill>
          </a:ln>
        </p:spPr>
        <p:txBody>
          <a:bodyPr lIns="73152" rIns="73152" tIns="73152" bIns="73152" anchor="mid" wrap="square"/>
          <a:lstStyle/>
          <a:p>
            <a:pPr algn="l"/>
            <a:r>
              <a:rPr lang="ja-JP" sz="1200" b="0">
                <a:solidFill>
                  <a:srgbClr val="1F2937"/>
                </a:solidFill>
                <a:latin typeface="Aptos"/>
                <a:ea typeface="Yu Gothic"/>
              </a:rPr>
              <a:t>固定過去問への接続</a:t>
            </a:r>
            <a:endParaRPr lang="ja-JP" sz="1200"/>
          </a:p>
          <a:p>
            <a:pPr algn="l"/>
            <a:r>
              <a:rPr lang="ja-JP" sz="1200" b="0">
                <a:solidFill>
                  <a:srgbClr val="1F2937"/>
                </a:solidFill>
                <a:latin typeface="Aptos"/>
                <a:ea typeface="Yu Gothic"/>
              </a:rPr>
              <a:t>R3 問7：R=nr → I=E/(2r)　／　R6上 問7：R₂=rR₁/(r+R₁)</a:t>
            </a:r>
            <a:endParaRPr lang="ja-JP"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94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mid" wrap="square"/>
          <a:lstStyle/>
          <a:p>
            <a:pPr algn="l"/>
            <a:r>
              <a:rPr lang="ja-JP" sz="2600" b="1">
                <a:solidFill>
                  <a:srgbClr val="16324F"/>
                </a:solidFill>
                <a:latin typeface="Aptos"/>
                <a:ea typeface="Yu Gothic"/>
              </a:rPr>
              <a:t>固定5過去問への対応</a:t>
            </a:r>
            <a:endParaRPr lang="ja-JP" sz="2600"/>
          </a:p>
        </p:txBody>
      </p:sp>
      <p:sp>
        <p:nvSpPr>
          <p:cNvPr id="95" name="TextBox 95"/>
          <p:cNvSpPr txBox="1"/>
          <p:nvPr/>
        </p:nvSpPr>
        <p:spPr>
          <a:xfrm>
            <a:off x="438912" y="713232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mid" wrap="square"/>
          <a:lstStyle/>
          <a:p>
            <a:pPr algn="l"/>
            <a:r>
              <a:rPr lang="ja-JP" sz="1100" b="0">
                <a:solidFill>
                  <a:srgbClr val="5B6573"/>
                </a:solidFill>
                <a:latin typeface="Aptos"/>
                <a:ea typeface="Yu Gothic"/>
              </a:rPr>
              <a:t>PowerPointもEXAM_ALIGNMENTの固定範囲だけを可視化する</a:t>
            </a:r>
            <a:endParaRPr lang="ja-JP" sz="1100"/>
          </a:p>
        </p:txBody>
      </p:sp>
      <p:sp>
        <p:nvSpPr>
          <p:cNvPr id="96" name="Line 96"/>
          <p:cNvSpPr/>
          <p:nvPr/>
        </p:nvSpPr>
        <p:spPr>
          <a:xfrm flipH="0" flipV="0">
            <a:off x="411480" y="1051560"/>
            <a:ext cx="11338560" cy="1"/>
          </a:xfrm>
          <a:prstGeom prst="line">
            <a:avLst/>
          </a:prstGeom>
          <a:ln w="12700">
            <a:solidFill>
              <a:srgbClr val="D9E2EC"/>
            </a:solidFill>
          </a:ln>
        </p:spPr>
      </p:sp>
      <p:sp>
        <p:nvSpPr>
          <p:cNvPr id="97" name="TextBox 97"/>
          <p:cNvSpPr txBox="1"/>
          <p:nvPr/>
        </p:nvSpPr>
        <p:spPr>
          <a:xfrm>
            <a:off x="594360" y="1325880"/>
            <a:ext cx="2057400" cy="640080"/>
          </a:xfrm>
          <a:prstGeom prst="roundRect">
            <a:avLst/>
          </a:prstGeom>
          <a:solidFill>
            <a:srgbClr val="2F6B9A"/>
          </a:solidFill>
          <a:ln>
            <a:noFill/>
          </a:ln>
        </p:spPr>
        <p:txBody>
          <a:bodyPr lIns="73152" rIns="73152" tIns="73152" bIns="73152" anchor="mid" wrap="square"/>
          <a:lstStyle/>
          <a:p>
            <a:pPr algn="ctr"/>
            <a:r>
              <a:rPr lang="ja-JP" sz="1400" b="1">
                <a:solidFill>
                  <a:srgbClr val="FFFFFF"/>
                </a:solidFill>
                <a:latin typeface="Aptos"/>
                <a:ea typeface="Yu Gothic"/>
              </a:rPr>
              <a:t>R6上 理論 問7</a:t>
            </a:r>
            <a:endParaRPr lang="ja-JP" sz="1400"/>
          </a:p>
        </p:txBody>
      </p:sp>
      <p:sp>
        <p:nvSpPr>
          <p:cNvPr id="98" name="TextBox 98"/>
          <p:cNvSpPr txBox="1"/>
          <p:nvPr/>
        </p:nvSpPr>
        <p:spPr>
          <a:xfrm>
            <a:off x="2788920" y="1325880"/>
            <a:ext cx="6217920" cy="640080"/>
          </a:xfrm>
          <a:prstGeom prst="rect">
            <a:avLst/>
          </a:prstGeom>
          <a:solidFill>
            <a:srgbClr val="F4F7FA"/>
          </a:solidFill>
          <a:ln w="12700">
            <a:solidFill>
              <a:srgbClr val="D9E2EC"/>
            </a:solidFill>
          </a:ln>
        </p:spPr>
        <p:txBody>
          <a:bodyPr lIns="73152" rIns="73152" tIns="73152" bIns="73152" anchor="mid" wrap="square"/>
          <a:lstStyle/>
          <a:p>
            <a:pPr algn="l"/>
            <a:r>
              <a:rPr lang="ja-JP" sz="1400" b="0">
                <a:solidFill>
                  <a:srgbClr val="1F2937"/>
                </a:solidFill>
                <a:latin typeface="Aptos"/>
                <a:ea typeface="Yu Gothic"/>
              </a:rPr>
              <a:t>可変抵抗の電力最大</a:t>
            </a:r>
            <a:endParaRPr lang="ja-JP" sz="1400"/>
          </a:p>
        </p:txBody>
      </p:sp>
      <p:sp>
        <p:nvSpPr>
          <p:cNvPr id="99" name="TextBox 99"/>
          <p:cNvSpPr txBox="1"/>
          <p:nvPr/>
        </p:nvSpPr>
        <p:spPr>
          <a:xfrm>
            <a:off x="9189720" y="1325880"/>
            <a:ext cx="2011680" cy="640080"/>
          </a:xfrm>
          <a:prstGeom prst="rect">
            <a:avLst/>
          </a:prstGeom>
          <a:solidFill>
            <a:srgbClr val="EEF3F8"/>
          </a:solidFill>
          <a:ln w="12700">
            <a:solidFill>
              <a:srgbClr val="D9E2EC"/>
            </a:solidFill>
          </a:ln>
        </p:spPr>
        <p:txBody>
          <a:bodyPr lIns="73152" rIns="73152" tIns="73152" bIns="73152" anchor="mid" wrap="square"/>
          <a:lstStyle/>
          <a:p>
            <a:pPr algn="ctr"/>
            <a:r>
              <a:rPr lang="ja-JP" sz="1300" b="1">
                <a:solidFill>
                  <a:srgbClr val="16324F"/>
                </a:solidFill>
                <a:latin typeface="Aptos"/>
                <a:ea typeface="Yu Gothic"/>
              </a:rPr>
              <a:t>§8・§9・§12</a:t>
            </a:r>
            <a:endParaRPr lang="ja-JP" sz="1300"/>
          </a:p>
        </p:txBody>
      </p:sp>
      <p:sp>
        <p:nvSpPr>
          <p:cNvPr id="100" name="TextBox 100"/>
          <p:cNvSpPr txBox="1"/>
          <p:nvPr/>
        </p:nvSpPr>
        <p:spPr>
          <a:xfrm>
            <a:off x="594360" y="2084831"/>
            <a:ext cx="2057400" cy="640080"/>
          </a:xfrm>
          <a:prstGeom prst="roundRect">
            <a:avLst/>
          </a:prstGeom>
          <a:solidFill>
            <a:srgbClr val="2E7D7A"/>
          </a:solidFill>
          <a:ln>
            <a:noFill/>
          </a:ln>
        </p:spPr>
        <p:txBody>
          <a:bodyPr lIns="73152" rIns="73152" tIns="73152" bIns="73152" anchor="mid" wrap="square"/>
          <a:lstStyle/>
          <a:p>
            <a:pPr algn="ctr"/>
            <a:r>
              <a:rPr lang="ja-JP" sz="1400" b="1">
                <a:solidFill>
                  <a:srgbClr val="FFFFFF"/>
                </a:solidFill>
                <a:latin typeface="Aptos"/>
                <a:ea typeface="Yu Gothic"/>
              </a:rPr>
              <a:t>R5下 理論 問12</a:t>
            </a:r>
            <a:endParaRPr lang="ja-JP" sz="1400"/>
          </a:p>
        </p:txBody>
      </p:sp>
      <p:sp>
        <p:nvSpPr>
          <p:cNvPr id="101" name="TextBox 101"/>
          <p:cNvSpPr txBox="1"/>
          <p:nvPr/>
        </p:nvSpPr>
        <p:spPr>
          <a:xfrm>
            <a:off x="2788920" y="2084831"/>
            <a:ext cx="6217920" cy="640080"/>
          </a:xfrm>
          <a:prstGeom prst="rect">
            <a:avLst/>
          </a:prstGeom>
          <a:solidFill>
            <a:srgbClr val="F4F7FA"/>
          </a:solidFill>
          <a:ln w="12700">
            <a:solidFill>
              <a:srgbClr val="D9E2EC"/>
            </a:solidFill>
          </a:ln>
        </p:spPr>
        <p:txBody>
          <a:bodyPr lIns="73152" rIns="73152" tIns="73152" bIns="73152" anchor="mid" wrap="square"/>
          <a:lstStyle/>
          <a:p>
            <a:pPr algn="l"/>
            <a:r>
              <a:rPr lang="ja-JP" sz="1400" b="0">
                <a:solidFill>
                  <a:srgbClr val="1F2937"/>
                </a:solidFill>
                <a:latin typeface="Aptos"/>
                <a:ea typeface="Yu Gothic"/>
              </a:rPr>
              <a:t>一定加速度：v∝t, x∝t², K∝t²</a:t>
            </a:r>
            <a:endParaRPr lang="ja-JP" sz="1400"/>
          </a:p>
        </p:txBody>
      </p:sp>
      <p:sp>
        <p:nvSpPr>
          <p:cNvPr id="102" name="TextBox 102"/>
          <p:cNvSpPr txBox="1"/>
          <p:nvPr/>
        </p:nvSpPr>
        <p:spPr>
          <a:xfrm>
            <a:off x="9189720" y="2084831"/>
            <a:ext cx="2011680" cy="640080"/>
          </a:xfrm>
          <a:prstGeom prst="rect">
            <a:avLst/>
          </a:prstGeom>
          <a:solidFill>
            <a:srgbClr val="EEF3F8"/>
          </a:solidFill>
          <a:ln w="12700">
            <a:solidFill>
              <a:srgbClr val="D9E2EC"/>
            </a:solidFill>
          </a:ln>
        </p:spPr>
        <p:txBody>
          <a:bodyPr lIns="73152" rIns="73152" tIns="73152" bIns="73152" anchor="mid" wrap="square"/>
          <a:lstStyle/>
          <a:p>
            <a:pPr algn="ctr"/>
            <a:r>
              <a:rPr lang="ja-JP" sz="1300" b="1">
                <a:solidFill>
                  <a:srgbClr val="16324F"/>
                </a:solidFill>
                <a:latin typeface="Aptos"/>
                <a:ea typeface="Yu Gothic"/>
              </a:rPr>
              <a:t>§2〜§6</a:t>
            </a:r>
            <a:endParaRPr lang="ja-JP" sz="1300"/>
          </a:p>
        </p:txBody>
      </p:sp>
      <p:sp>
        <p:nvSpPr>
          <p:cNvPr id="103" name="TextBox 103"/>
          <p:cNvSpPr txBox="1"/>
          <p:nvPr/>
        </p:nvSpPr>
        <p:spPr>
          <a:xfrm>
            <a:off x="594360" y="2843784"/>
            <a:ext cx="2057400" cy="640080"/>
          </a:xfrm>
          <a:prstGeom prst="roundRect">
            <a:avLst/>
          </a:prstGeom>
          <a:solidFill>
            <a:srgbClr val="2F6B9A"/>
          </a:solidFill>
          <a:ln>
            <a:noFill/>
          </a:ln>
        </p:spPr>
        <p:txBody>
          <a:bodyPr lIns="73152" rIns="73152" tIns="73152" bIns="73152" anchor="mid" wrap="square"/>
          <a:lstStyle/>
          <a:p>
            <a:pPr algn="ctr"/>
            <a:r>
              <a:rPr lang="ja-JP" sz="1400" b="1">
                <a:solidFill>
                  <a:srgbClr val="FFFFFF"/>
                </a:solidFill>
                <a:latin typeface="Aptos"/>
                <a:ea typeface="Yu Gothic"/>
              </a:rPr>
              <a:t>R3 理論 問7</a:t>
            </a:r>
            <a:endParaRPr lang="ja-JP" sz="1400"/>
          </a:p>
        </p:txBody>
      </p:sp>
      <p:sp>
        <p:nvSpPr>
          <p:cNvPr id="104" name="TextBox 104"/>
          <p:cNvSpPr txBox="1"/>
          <p:nvPr/>
        </p:nvSpPr>
        <p:spPr>
          <a:xfrm>
            <a:off x="2788920" y="2843784"/>
            <a:ext cx="6217920" cy="640080"/>
          </a:xfrm>
          <a:prstGeom prst="rect">
            <a:avLst/>
          </a:prstGeom>
          <a:solidFill>
            <a:srgbClr val="F4F7FA"/>
          </a:solidFill>
          <a:ln w="12700">
            <a:solidFill>
              <a:srgbClr val="D9E2EC"/>
            </a:solidFill>
          </a:ln>
        </p:spPr>
        <p:txBody>
          <a:bodyPr lIns="73152" rIns="73152" tIns="73152" bIns="73152" anchor="mid" wrap="square"/>
          <a:lstStyle/>
          <a:p>
            <a:pPr algn="l"/>
            <a:r>
              <a:rPr lang="ja-JP" sz="1400" b="0">
                <a:solidFill>
                  <a:srgbClr val="1F2937"/>
                </a:solidFill>
                <a:latin typeface="Aptos"/>
                <a:ea typeface="Yu Gothic"/>
              </a:rPr>
              <a:t>P(R) を微分して最大条件</a:t>
            </a:r>
            <a:endParaRPr lang="ja-JP" sz="1400"/>
          </a:p>
        </p:txBody>
      </p:sp>
      <p:sp>
        <p:nvSpPr>
          <p:cNvPr id="105" name="TextBox 105"/>
          <p:cNvSpPr txBox="1"/>
          <p:nvPr/>
        </p:nvSpPr>
        <p:spPr>
          <a:xfrm>
            <a:off x="9189720" y="2843784"/>
            <a:ext cx="2011680" cy="640080"/>
          </a:xfrm>
          <a:prstGeom prst="rect">
            <a:avLst/>
          </a:prstGeom>
          <a:solidFill>
            <a:srgbClr val="EEF3F8"/>
          </a:solidFill>
          <a:ln w="12700">
            <a:solidFill>
              <a:srgbClr val="D9E2EC"/>
            </a:solidFill>
          </a:ln>
        </p:spPr>
        <p:txBody>
          <a:bodyPr lIns="73152" rIns="73152" tIns="73152" bIns="73152" anchor="mid" wrap="square"/>
          <a:lstStyle/>
          <a:p>
            <a:pPr algn="ctr"/>
            <a:r>
              <a:rPr lang="ja-JP" sz="1300" b="1">
                <a:solidFill>
                  <a:srgbClr val="16324F"/>
                </a:solidFill>
                <a:latin typeface="Aptos"/>
                <a:ea typeface="Yu Gothic"/>
              </a:rPr>
              <a:t>§8・§9</a:t>
            </a:r>
            <a:endParaRPr lang="ja-JP" sz="1300"/>
          </a:p>
        </p:txBody>
      </p:sp>
      <p:sp>
        <p:nvSpPr>
          <p:cNvPr id="106" name="TextBox 106"/>
          <p:cNvSpPr txBox="1"/>
          <p:nvPr/>
        </p:nvSpPr>
        <p:spPr>
          <a:xfrm>
            <a:off x="594360" y="3602736"/>
            <a:ext cx="2057400" cy="640080"/>
          </a:xfrm>
          <a:prstGeom prst="roundRect">
            <a:avLst/>
          </a:prstGeom>
          <a:solidFill>
            <a:srgbClr val="2E7D7A"/>
          </a:solidFill>
          <a:ln>
            <a:noFill/>
          </a:ln>
        </p:spPr>
        <p:txBody>
          <a:bodyPr lIns="73152" rIns="73152" tIns="73152" bIns="73152" anchor="mid" wrap="square"/>
          <a:lstStyle/>
          <a:p>
            <a:pPr algn="ctr"/>
            <a:r>
              <a:rPr lang="ja-JP" sz="1400" b="1">
                <a:solidFill>
                  <a:srgbClr val="FFFFFF"/>
                </a:solidFill>
                <a:latin typeface="Aptos"/>
                <a:ea typeface="Yu Gothic"/>
              </a:rPr>
              <a:t>R1 理論 問12</a:t>
            </a:r>
            <a:endParaRPr lang="ja-JP" sz="1400"/>
          </a:p>
        </p:txBody>
      </p:sp>
      <p:sp>
        <p:nvSpPr>
          <p:cNvPr id="107" name="TextBox 107"/>
          <p:cNvSpPr txBox="1"/>
          <p:nvPr/>
        </p:nvSpPr>
        <p:spPr>
          <a:xfrm>
            <a:off x="2788920" y="3602736"/>
            <a:ext cx="6217920" cy="640080"/>
          </a:xfrm>
          <a:prstGeom prst="rect">
            <a:avLst/>
          </a:prstGeom>
          <a:solidFill>
            <a:srgbClr val="F4F7FA"/>
          </a:solidFill>
          <a:ln w="12700">
            <a:solidFill>
              <a:srgbClr val="D9E2EC"/>
            </a:solidFill>
          </a:ln>
        </p:spPr>
        <p:txBody>
          <a:bodyPr lIns="73152" rIns="73152" tIns="73152" bIns="73152" anchor="mid" wrap="square"/>
          <a:lstStyle/>
          <a:p>
            <a:pPr algn="l"/>
            <a:r>
              <a:rPr lang="ja-JP" sz="1400" b="0">
                <a:solidFill>
                  <a:srgbClr val="1F2937"/>
                </a:solidFill>
                <a:latin typeface="Aptos"/>
                <a:ea typeface="Yu Gothic"/>
              </a:rPr>
              <a:t>a=qE/m と移動時間</a:t>
            </a:r>
            <a:endParaRPr lang="ja-JP" sz="1400"/>
          </a:p>
        </p:txBody>
      </p:sp>
      <p:sp>
        <p:nvSpPr>
          <p:cNvPr id="108" name="TextBox 108"/>
          <p:cNvSpPr txBox="1"/>
          <p:nvPr/>
        </p:nvSpPr>
        <p:spPr>
          <a:xfrm>
            <a:off x="9189720" y="3602736"/>
            <a:ext cx="2011680" cy="640080"/>
          </a:xfrm>
          <a:prstGeom prst="rect">
            <a:avLst/>
          </a:prstGeom>
          <a:solidFill>
            <a:srgbClr val="EEF3F8"/>
          </a:solidFill>
          <a:ln w="12700">
            <a:solidFill>
              <a:srgbClr val="D9E2EC"/>
            </a:solidFill>
          </a:ln>
        </p:spPr>
        <p:txBody>
          <a:bodyPr lIns="73152" rIns="73152" tIns="73152" bIns="73152" anchor="mid" wrap="square"/>
          <a:lstStyle/>
          <a:p>
            <a:pPr algn="ctr"/>
            <a:r>
              <a:rPr lang="ja-JP" sz="1300" b="1">
                <a:solidFill>
                  <a:srgbClr val="16324F"/>
                </a:solidFill>
                <a:latin typeface="Aptos"/>
                <a:ea typeface="Yu Gothic"/>
              </a:rPr>
              <a:t>§5・§6</a:t>
            </a:r>
            <a:endParaRPr lang="ja-JP" sz="1300"/>
          </a:p>
        </p:txBody>
      </p:sp>
      <p:sp>
        <p:nvSpPr>
          <p:cNvPr id="109" name="TextBox 109"/>
          <p:cNvSpPr txBox="1"/>
          <p:nvPr/>
        </p:nvSpPr>
        <p:spPr>
          <a:xfrm>
            <a:off x="594360" y="4361688"/>
            <a:ext cx="2057400" cy="640080"/>
          </a:xfrm>
          <a:prstGeom prst="roundRect">
            <a:avLst/>
          </a:prstGeom>
          <a:solidFill>
            <a:srgbClr val="2F6B9A"/>
          </a:solidFill>
          <a:ln>
            <a:noFill/>
          </a:ln>
        </p:spPr>
        <p:txBody>
          <a:bodyPr lIns="73152" rIns="73152" tIns="73152" bIns="73152" anchor="mid" wrap="square"/>
          <a:lstStyle/>
          <a:p>
            <a:pPr algn="ctr"/>
            <a:r>
              <a:rPr lang="ja-JP" sz="1400" b="1">
                <a:solidFill>
                  <a:srgbClr val="FFFFFF"/>
                </a:solidFill>
                <a:latin typeface="Aptos"/>
                <a:ea typeface="Yu Gothic"/>
              </a:rPr>
              <a:t>H27 理論 問12</a:t>
            </a:r>
            <a:endParaRPr lang="ja-JP" sz="1400"/>
          </a:p>
        </p:txBody>
      </p:sp>
      <p:sp>
        <p:nvSpPr>
          <p:cNvPr id="110" name="TextBox 110"/>
          <p:cNvSpPr txBox="1"/>
          <p:nvPr/>
        </p:nvSpPr>
        <p:spPr>
          <a:xfrm>
            <a:off x="2788920" y="4361688"/>
            <a:ext cx="6217920" cy="640080"/>
          </a:xfrm>
          <a:prstGeom prst="rect">
            <a:avLst/>
          </a:prstGeom>
          <a:solidFill>
            <a:srgbClr val="F4F7FA"/>
          </a:solidFill>
          <a:ln w="12700">
            <a:solidFill>
              <a:srgbClr val="D9E2EC"/>
            </a:solidFill>
          </a:ln>
        </p:spPr>
        <p:txBody>
          <a:bodyPr lIns="73152" rIns="73152" tIns="73152" bIns="73152" anchor="mid" wrap="square"/>
          <a:lstStyle/>
          <a:p>
            <a:pPr algn="l"/>
            <a:r>
              <a:rPr lang="ja-JP" sz="1400" b="0">
                <a:solidFill>
                  <a:srgbClr val="1F2937"/>
                </a:solidFill>
                <a:latin typeface="Aptos"/>
                <a:ea typeface="Yu Gothic"/>
              </a:rPr>
              <a:t>二方向運動を共通時間で接続</a:t>
            </a:r>
            <a:endParaRPr lang="ja-JP" sz="1400"/>
          </a:p>
        </p:txBody>
      </p:sp>
      <p:sp>
        <p:nvSpPr>
          <p:cNvPr id="111" name="TextBox 111"/>
          <p:cNvSpPr txBox="1"/>
          <p:nvPr/>
        </p:nvSpPr>
        <p:spPr>
          <a:xfrm>
            <a:off x="9189720" y="4361688"/>
            <a:ext cx="2011680" cy="640080"/>
          </a:xfrm>
          <a:prstGeom prst="rect">
            <a:avLst/>
          </a:prstGeom>
          <a:solidFill>
            <a:srgbClr val="EEF3F8"/>
          </a:solidFill>
          <a:ln w="12700">
            <a:solidFill>
              <a:srgbClr val="D9E2EC"/>
            </a:solidFill>
          </a:ln>
        </p:spPr>
        <p:txBody>
          <a:bodyPr lIns="73152" rIns="73152" tIns="73152" bIns="73152" anchor="mid" wrap="square"/>
          <a:lstStyle/>
          <a:p>
            <a:pPr algn="ctr"/>
            <a:r>
              <a:rPr lang="ja-JP" sz="1300" b="1">
                <a:solidFill>
                  <a:srgbClr val="16324F"/>
                </a:solidFill>
                <a:latin typeface="Aptos"/>
                <a:ea typeface="Yu Gothic"/>
              </a:rPr>
              <a:t>§6・§7・§12</a:t>
            </a:r>
            <a:endParaRPr lang="ja-JP" sz="1300"/>
          </a:p>
        </p:txBody>
      </p:sp>
      <p:sp>
        <p:nvSpPr>
          <p:cNvPr id="112" name="TextBox 112"/>
          <p:cNvSpPr txBox="1"/>
          <p:nvPr/>
        </p:nvSpPr>
        <p:spPr>
          <a:xfrm>
            <a:off x="594360" y="5303520"/>
            <a:ext cx="5257800" cy="658368"/>
          </a:xfrm>
          <a:prstGeom prst="roundRect">
            <a:avLst/>
          </a:prstGeom>
          <a:solidFill>
            <a:srgbClr val="EDF7F0"/>
          </a:solidFill>
          <a:ln w="12700">
            <a:solidFill>
              <a:srgbClr val="A8D5B8"/>
            </a:solidFill>
          </a:ln>
        </p:spPr>
        <p:txBody>
          <a:bodyPr lIns="73152" rIns="73152" tIns="73152" bIns="73152" anchor="mid" wrap="square"/>
          <a:lstStyle/>
          <a:p>
            <a:pPr algn="ctr"/>
            <a:r>
              <a:rPr lang="ja-JP" sz="1500" b="1">
                <a:solidFill>
                  <a:srgbClr val="287A4B"/>
                </a:solidFill>
                <a:latin typeface="Aptos"/>
                <a:ea typeface="Yu Gothic"/>
              </a:rPr>
              <a:t>制作前独立検証 5/5 PASS</a:t>
            </a:r>
            <a:endParaRPr lang="ja-JP" sz="1500"/>
          </a:p>
          <a:p>
            <a:pPr algn="ctr"/>
            <a:r>
              <a:rPr lang="ja-JP" sz="1500" b="1">
                <a:solidFill>
                  <a:srgbClr val="287A4B"/>
                </a:solidFill>
                <a:latin typeface="Aptos"/>
                <a:ea typeface="Yu Gothic"/>
              </a:rPr>
              <a:t>練習12問 独立計算QA 12/12 PASS</a:t>
            </a:r>
            <a:endParaRPr lang="ja-JP" sz="1500"/>
          </a:p>
        </p:txBody>
      </p:sp>
      <p:sp>
        <p:nvSpPr>
          <p:cNvPr id="113" name="TextBox 113"/>
          <p:cNvSpPr txBox="1"/>
          <p:nvPr/>
        </p:nvSpPr>
        <p:spPr>
          <a:xfrm>
            <a:off x="6126480" y="5303520"/>
            <a:ext cx="5074920" cy="658368"/>
          </a:xfrm>
          <a:prstGeom prst="roundRect">
            <a:avLst/>
          </a:prstGeom>
          <a:solidFill>
            <a:srgbClr val="FFF8E8"/>
          </a:solidFill>
          <a:ln w="12700">
            <a:solidFill>
              <a:srgbClr val="F2D28B"/>
            </a:solidFill>
          </a:ln>
        </p:spPr>
        <p:txBody>
          <a:bodyPr lIns="73152" rIns="73152" tIns="73152" bIns="73152" anchor="mid" wrap="square"/>
          <a:lstStyle/>
          <a:p>
            <a:pPr algn="ctr"/>
            <a:r>
              <a:rPr lang="ja-JP" sz="1300" b="1">
                <a:solidFill>
                  <a:srgbClr val="D97706"/>
                </a:solidFill>
                <a:latin typeface="Aptos"/>
                <a:ea typeface="Yu Gothic"/>
              </a:rPr>
              <a:t>範囲外は後続Topicへ</a:t>
            </a:r>
            <a:endParaRPr lang="ja-JP" sz="1300"/>
          </a:p>
          <a:p>
            <a:pPr algn="ctr"/>
            <a:r>
              <a:rPr lang="ja-JP" sz="1300" b="1">
                <a:solidFill>
                  <a:srgbClr val="D97706"/>
                </a:solidFill>
                <a:latin typeface="Aptos"/>
                <a:ea typeface="Yu Gothic"/>
              </a:rPr>
              <a:t>積分→08　電気の微積分→09　RC/RL→10</a:t>
            </a:r>
            <a:endParaRPr lang="ja-JP" sz="1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nimal">
  <a:themeElements>
    <a:clrScheme name="Minimal">
      <a:dk1>
        <a:srgbClr val="000000"/>
      </a:dk1>
      <a:lt1>
        <a:srgbClr val="FFFFFF"/>
      </a:lt1>
      <a:dk2>
        <a:srgbClr val="16324F"/>
      </a:dk2>
      <a:lt2>
        <a:srgbClr val="F4F7FA"/>
      </a:lt2>
      <a:accent1>
        <a:srgbClr val="2F6B9A"/>
      </a:accent1>
      <a:accent2>
        <a:srgbClr val="2E7D7A"/>
      </a:accent2>
      <a:accent3>
        <a:srgbClr val="D97706"/>
      </a:accent3>
      <a:accent4>
        <a:srgbClr val="287A4B"/>
      </a:accent4>
      <a:accent5>
        <a:srgbClr val="8B5CF6"/>
      </a:accent5>
      <a:accent6>
        <a:srgbClr val="B42318"/>
      </a:accent6>
      <a:hlink>
        <a:srgbClr val="0000FF"/>
      </a:hlink>
      <a:folHlink>
        <a:srgbClr val="800080"/>
      </a:folHlink>
    </a:clrScheme>
    <a:fontScheme name="Minimal">
      <a:majorFont>
        <a:latin typeface="Aptos Display"/>
        <a:ea typeface="Yu Gothic"/>
        <a:cs typeface=""/>
      </a:majorFont>
      <a:minorFont>
        <a:latin typeface="Aptos"/>
        <a:ea typeface="Yu Gothic"/>
        <a:cs typeface=""/>
      </a:minorFont>
    </a:fontScheme>
    <a:fmtScheme name="Minimal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4</Slides>
  <Notes>0</Notes>
  <HiddenSlides>0</HiddenSlides>
  <MMClips>0</MMClips>
  <ScaleCrop>false</ScaleCrop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07 微分② 速度を微分すると加速度</dc:title>
  <dc:creator>OpenAI</dc:creator>
  <cp:lastModifiedBy>OpenAI</cp:lastModifiedBy>
  <dcterms:created xsi:type="dcterms:W3CDTF">2026-09-15T04:57:00Z</dcterms:created>
  <dcterms:modified xsi:type="dcterms:W3CDTF">2026-09-15T04:57:00Z</dcterms:modified>
</cp:coreProperties>
</file>