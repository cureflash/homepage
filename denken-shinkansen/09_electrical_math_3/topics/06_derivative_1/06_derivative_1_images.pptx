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</p:sldIdLst>
  <p:sldSz cx="12192000" cy="6858000" type="screen16x9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2577A"/>
          </a:solidFill>
          <a:ln w="12700">
            <a:solidFill>
              <a:srgbClr val="22577A"/>
            </a:solidFill>
          </a:ln>
        </p:spPr>
        <p:txBody>
          <a:bodyPr wrap="square" lIns="45720" rIns="45720" tIns="22860" bIns="22860" anchor="ctr"/>
          <a:lstStyle/>
          <a:p>
            <a:pPr algn="l"/>
            <a:r>
              <a:rPr lang="ja-JP" sz="800" b="0">
                <a:solidFill>
                  <a:srgbClr val="1F2937"/>
                </a:solidFill>
                <a:latin typeface="Noto Sans CJK JP"/>
                <a:ea typeface="Noto Sans CJK JP"/>
              </a:rPr>
              <a:t/>
            </a:r>
            <a:endParaRPr lang="ja-JP" sz="800"/>
          </a:p>
        </p:txBody>
      </p:sp>
      <p:sp>
        <p:nvSpPr>
          <p:cNvPr id="3" name="title"/>
          <p:cNvSpPr/>
          <p:nvPr/>
        </p:nvSpPr>
        <p:spPr>
          <a:xfrm>
            <a:off x="594360" y="384048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 anchor="ctr"/>
          <a:lstStyle/>
          <a:p>
            <a:pPr algn="l"/>
            <a:r>
              <a:rPr lang="ja-JP" sz="2500" b="1">
                <a:solidFill>
                  <a:srgbClr val="173B57"/>
                </a:solidFill>
                <a:latin typeface="Noto Sans CJK JP"/>
                <a:ea typeface="Noto Sans CJK JP"/>
              </a:rPr>
              <a:t>微分は「変化の速さ」を読む道具</a:t>
            </a:r>
            <a:endParaRPr lang="ja-JP" sz="2500"/>
          </a:p>
        </p:txBody>
      </p:sp>
      <p:sp>
        <p:nvSpPr>
          <p:cNvPr id="4" name="sub"/>
          <p:cNvSpPr/>
          <p:nvPr/>
        </p:nvSpPr>
        <p:spPr>
          <a:xfrm>
            <a:off x="612648" y="868680"/>
            <a:ext cx="10972800" cy="329184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 anchor="ctr"/>
          <a:lstStyle/>
          <a:p>
            <a:pPr algn="l"/>
            <a:r>
              <a:rPr lang="ja-JP" sz="1200" b="0">
                <a:solidFill>
                  <a:srgbClr val="6B7280"/>
                </a:solidFill>
                <a:latin typeface="Noto Sans CJK JP"/>
                <a:ea typeface="Noto Sans CJK JP"/>
              </a:rPr>
              <a:t>平均変化率 → 接線の傾き → 微分係数。電験ではグラフの傾きを読む。</a:t>
            </a:r>
            <a:endParaRPr lang="ja-JP" sz="1200"/>
          </a:p>
        </p:txBody>
      </p:sp>
      <p:sp>
        <p:nvSpPr>
          <p:cNvPr id="5" name="card1"/>
          <p:cNvSpPr/>
          <p:nvPr/>
        </p:nvSpPr>
        <p:spPr>
          <a:xfrm>
            <a:off x="685800" y="1417320"/>
            <a:ext cx="3383280" cy="1828800"/>
          </a:xfrm>
          <a:prstGeom prst="roundRect">
            <a:avLst/>
          </a:prstGeom>
          <a:solidFill>
            <a:srgbClr val="FFF4EE"/>
          </a:solidFill>
          <a:ln w="12700">
            <a:solidFill>
              <a:srgbClr val="E7B8A4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800" b="1">
                <a:solidFill>
                  <a:srgbClr val="1F2937"/>
                </a:solidFill>
                <a:latin typeface="Noto Sans CJK JP"/>
                <a:ea typeface="Noto Sans CJK JP"/>
              </a:rPr>
              <a:t>2点の平均変化率
Δy/Δx = (y₂−y₁)/(x₂−x₁)
グラフでは割線の傾き</a:t>
            </a:r>
            <a:endParaRPr lang="ja-JP" sz="1800"/>
          </a:p>
        </p:txBody>
      </p:sp>
      <p:sp>
        <p:nvSpPr>
          <p:cNvPr id="6" name="arrow"/>
          <p:cNvSpPr/>
          <p:nvPr/>
        </p:nvSpPr>
        <p:spPr>
          <a:xfrm>
            <a:off x="4233672" y="196596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3000" b="1">
                <a:solidFill>
                  <a:srgbClr val="38A3A5"/>
                </a:solidFill>
                <a:latin typeface="Noto Sans CJK JP"/>
                <a:ea typeface="Noto Sans CJK JP"/>
              </a:rPr>
              <a:t>→</a:t>
            </a:r>
            <a:endParaRPr lang="ja-JP" sz="3000"/>
          </a:p>
        </p:txBody>
      </p:sp>
      <p:sp>
        <p:nvSpPr>
          <p:cNvPr id="7" name="card2"/>
          <p:cNvSpPr/>
          <p:nvPr/>
        </p:nvSpPr>
        <p:spPr>
          <a:xfrm>
            <a:off x="4800600" y="1417320"/>
            <a:ext cx="3383280" cy="1828800"/>
          </a:xfrm>
          <a:prstGeom prst="roundRect">
            <a:avLst/>
          </a:prstGeom>
          <a:solidFill>
            <a:srgbClr val="EFF9F4"/>
          </a:solidFill>
          <a:ln w="12700">
            <a:solidFill>
              <a:srgbClr val="BDE5CF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800" b="1">
                <a:solidFill>
                  <a:srgbClr val="1F2937"/>
                </a:solidFill>
                <a:latin typeface="Noto Sans CJK JP"/>
                <a:ea typeface="Noto Sans CJK JP"/>
              </a:rPr>
              <a:t>Δx を小さくする
割線 → 接線
その点の変化率へ</a:t>
            </a:r>
            <a:endParaRPr lang="ja-JP" sz="1800"/>
          </a:p>
        </p:txBody>
      </p:sp>
      <p:sp>
        <p:nvSpPr>
          <p:cNvPr id="8" name="arrow2"/>
          <p:cNvSpPr/>
          <p:nvPr/>
        </p:nvSpPr>
        <p:spPr>
          <a:xfrm>
            <a:off x="8339327" y="196596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3000" b="1">
                <a:solidFill>
                  <a:srgbClr val="38A3A5"/>
                </a:solidFill>
                <a:latin typeface="Noto Sans CJK JP"/>
                <a:ea typeface="Noto Sans CJK JP"/>
              </a:rPr>
              <a:t>→</a:t>
            </a:r>
            <a:endParaRPr lang="ja-JP" sz="3000"/>
          </a:p>
        </p:txBody>
      </p:sp>
      <p:sp>
        <p:nvSpPr>
          <p:cNvPr id="9" name="card3"/>
          <p:cNvSpPr/>
          <p:nvPr/>
        </p:nvSpPr>
        <p:spPr>
          <a:xfrm>
            <a:off x="8915400" y="1417320"/>
            <a:ext cx="2606040" cy="1828800"/>
          </a:xfrm>
          <a:prstGeom prst="roundRect">
            <a:avLst/>
          </a:prstGeom>
          <a:solidFill>
            <a:srgbClr val="EEF6FB"/>
          </a:solidFill>
          <a:ln w="12700">
            <a:solidFill>
              <a:srgbClr val="B8D7E9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900" b="1">
                <a:solidFill>
                  <a:srgbClr val="173B57"/>
                </a:solidFill>
                <a:latin typeface="Noto Sans CJK JP"/>
                <a:ea typeface="Noto Sans CJK JP"/>
              </a:rPr>
              <a:t>微分係数
f′(x)
= 接線の傾き</a:t>
            </a:r>
            <a:endParaRPr lang="ja-JP" sz="1900"/>
          </a:p>
        </p:txBody>
      </p:sp>
      <p:sp>
        <p:nvSpPr>
          <p:cNvPr id="10" name="units"/>
          <p:cNvSpPr/>
          <p:nvPr/>
        </p:nvSpPr>
        <p:spPr>
          <a:xfrm>
            <a:off x="685800" y="3703320"/>
            <a:ext cx="108356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500" b="1">
                <a:solidFill>
                  <a:srgbClr val="1F2937"/>
                </a:solidFill>
                <a:latin typeface="Noto Sans CJK JP"/>
                <a:ea typeface="Noto Sans CJK JP"/>
              </a:rPr>
              <a:t>傾きの単位も読む: 位置/時間 → m/s　電流/時間 → A/s　磁束/時間 → Wb/s　電流/電圧 → A/V=S</a:t>
            </a:r>
            <a:endParaRPr lang="ja-JP" sz="1500"/>
          </a:p>
        </p:txBody>
      </p:sp>
      <p:sp>
        <p:nvSpPr>
          <p:cNvPr id="11" name="warn"/>
          <p:cNvSpPr/>
          <p:nvPr/>
        </p:nvSpPr>
        <p:spPr>
          <a:xfrm>
            <a:off x="1051560" y="5138928"/>
            <a:ext cx="10104120" cy="65836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E9B8B8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400" b="1">
                <a:solidFill>
                  <a:srgbClr val="C84C4C"/>
                </a:solidFill>
                <a:latin typeface="Noto Sans CJK JP"/>
                <a:ea typeface="Noto Sans CJK JP"/>
              </a:rPr>
              <a:t>平均変化率と瞬間の微分係数を混同しない。曲線の局所傾きは「その点の近く」で読む。</a:t>
            </a:r>
            <a:endParaRPr lang="ja-JP"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2577A"/>
          </a:solidFill>
          <a:ln w="12700">
            <a:solidFill>
              <a:srgbClr val="22577A"/>
            </a:solidFill>
          </a:ln>
        </p:spPr>
        <p:txBody>
          <a:bodyPr wrap="square" lIns="45720" rIns="45720" tIns="22860" bIns="22860" anchor="ctr"/>
          <a:lstStyle/>
          <a:p>
            <a:pPr algn="l"/>
            <a:r>
              <a:rPr lang="ja-JP" sz="800" b="0">
                <a:solidFill>
                  <a:srgbClr val="1F2937"/>
                </a:solidFill>
                <a:latin typeface="Noto Sans CJK JP"/>
                <a:ea typeface="Noto Sans CJK JP"/>
              </a:rPr>
              <a:t/>
            </a:r>
            <a:endParaRPr lang="ja-JP" sz="800"/>
          </a:p>
        </p:txBody>
      </p:sp>
      <p:sp>
        <p:nvSpPr>
          <p:cNvPr id="3" name="title"/>
          <p:cNvSpPr/>
          <p:nvPr/>
        </p:nvSpPr>
        <p:spPr>
          <a:xfrm>
            <a:off x="594360" y="384048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 anchor="ctr"/>
          <a:lstStyle/>
          <a:p>
            <a:pPr algn="l"/>
            <a:r>
              <a:rPr lang="ja-JP" sz="2500" b="1">
                <a:solidFill>
                  <a:srgbClr val="173B57"/>
                </a:solidFill>
                <a:latin typeface="Noto Sans CJK JP"/>
                <a:ea typeface="Noto Sans CJK JP"/>
              </a:rPr>
              <a:t>位置を微分すると速度になる</a:t>
            </a:r>
            <a:endParaRPr lang="ja-JP" sz="2500"/>
          </a:p>
        </p:txBody>
      </p:sp>
      <p:sp>
        <p:nvSpPr>
          <p:cNvPr id="4" name="sub"/>
          <p:cNvSpPr/>
          <p:nvPr/>
        </p:nvSpPr>
        <p:spPr>
          <a:xfrm>
            <a:off x="612648" y="868680"/>
            <a:ext cx="10972800" cy="329184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 anchor="ctr"/>
          <a:lstStyle/>
          <a:p>
            <a:pPr algn="l"/>
            <a:r>
              <a:rPr lang="ja-JP" sz="1200" b="0">
                <a:solidFill>
                  <a:srgbClr val="6B7280"/>
                </a:solidFill>
                <a:latin typeface="Noto Sans CJK JP"/>
                <a:ea typeface="Noto Sans CJK JP"/>
              </a:rPr>
              <a:t>x=x(t) なら v(t)=dx/dt。営業ダイヤの駅間平均速度と瞬間速度を区別する。</a:t>
            </a:r>
            <a:endParaRPr lang="ja-JP" sz="1200"/>
          </a:p>
        </p:txBody>
      </p:sp>
      <p:sp>
        <p:nvSpPr>
          <p:cNvPr id="5" name="example"/>
          <p:cNvSpPr/>
          <p:nvPr/>
        </p:nvSpPr>
        <p:spPr>
          <a:xfrm>
            <a:off x="685800" y="1389888"/>
            <a:ext cx="55321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700" b="1">
                <a:solidFill>
                  <a:srgbClr val="1F2937"/>
                </a:solidFill>
                <a:latin typeface="Noto Sans CJK JP"/>
                <a:ea typeface="Noto Sans CJK JP"/>
              </a:rPr>
              <a:t>例題: 仮想の列車位置関数
x(t)=200t+10 sin(0.2t) [m]
時間で微分
↓
v(t)=200+2 cos(0.2t) [m/s]
t=0 → v(0)=202 m/s
※微分操作確認用の仮想モデル</a:t>
            </a:r>
            <a:endParaRPr lang="ja-JP" sz="1700"/>
          </a:p>
        </p:txBody>
      </p:sp>
      <p:sp>
        <p:nvSpPr>
          <p:cNvPr id="6" name="formula"/>
          <p:cNvSpPr/>
          <p:nvPr/>
        </p:nvSpPr>
        <p:spPr>
          <a:xfrm>
            <a:off x="6446520" y="1389888"/>
            <a:ext cx="5074920" cy="1965960"/>
          </a:xfrm>
          <a:prstGeom prst="roundRect">
            <a:avLst/>
          </a:prstGeom>
          <a:solidFill>
            <a:srgbClr val="EEF6FB"/>
          </a:solidFill>
          <a:ln w="12700">
            <a:solidFill>
              <a:srgbClr val="B8D7E9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600" b="1">
                <a:solidFill>
                  <a:srgbClr val="1F2937"/>
                </a:solidFill>
                <a:latin typeface="Noto Sans CJK JP"/>
                <a:ea typeface="Noto Sans CJK JP"/>
              </a:rPr>
              <a:t>基本公式
dC/dx=0　　 d(xⁿ)/dx=n xⁿ⁻¹
d(sin x)/dx=cos x
d(cos x)/dx=−sin x</a:t>
            </a:r>
            <a:endParaRPr lang="ja-JP" sz="1600"/>
          </a:p>
        </p:txBody>
      </p:sp>
      <p:sp>
        <p:nvSpPr>
          <p:cNvPr id="7" name="chain"/>
          <p:cNvSpPr/>
          <p:nvPr/>
        </p:nvSpPr>
        <p:spPr>
          <a:xfrm>
            <a:off x="6446520" y="3584448"/>
            <a:ext cx="5074920" cy="1463040"/>
          </a:xfrm>
          <a:prstGeom prst="roundRect">
            <a:avLst/>
          </a:prstGeom>
          <a:solidFill>
            <a:srgbClr val="FFF9EC"/>
          </a:solidFill>
          <a:ln w="12700">
            <a:solidFill>
              <a:srgbClr val="F1D89D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600" b="1">
                <a:solidFill>
                  <a:srgbClr val="1F2937"/>
                </a:solidFill>
                <a:latin typeface="Noto Sans CJK JP"/>
                <a:ea typeface="Noto Sans CJK JP"/>
              </a:rPr>
              <a:t>合成関数 = 外側 × 内側
dy/dt=(dy/du)(du/dt)
sin(ωt+φ) → ω cos(ωt+φ)</a:t>
            </a:r>
            <a:endParaRPr lang="ja-JP" sz="1600"/>
          </a:p>
        </p:txBody>
      </p:sp>
      <p:sp>
        <p:nvSpPr>
          <p:cNvPr id="8" name="warn"/>
          <p:cNvSpPr/>
          <p:nvPr/>
        </p:nvSpPr>
        <p:spPr>
          <a:xfrm>
            <a:off x="6446520" y="5266944"/>
            <a:ext cx="5074920" cy="603504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E9B8B8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300" b="1">
                <a:solidFill>
                  <a:srgbClr val="C84C4C"/>
                </a:solidFill>
                <a:latin typeface="Noto Sans CJK JP"/>
                <a:ea typeface="Noto Sans CJK JP"/>
              </a:rPr>
              <a:t>三角関数の微分はラジアン前提。ωを落とさない。</a:t>
            </a:r>
            <a:endParaRPr lang="ja-JP"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2577A"/>
          </a:solidFill>
          <a:ln w="12700">
            <a:solidFill>
              <a:srgbClr val="22577A"/>
            </a:solidFill>
          </a:ln>
        </p:spPr>
        <p:txBody>
          <a:bodyPr wrap="square" lIns="45720" rIns="45720" tIns="22860" bIns="22860" anchor="ctr"/>
          <a:lstStyle/>
          <a:p>
            <a:pPr algn="l"/>
            <a:r>
              <a:rPr lang="ja-JP" sz="800" b="0">
                <a:solidFill>
                  <a:srgbClr val="1F2937"/>
                </a:solidFill>
                <a:latin typeface="Noto Sans CJK JP"/>
                <a:ea typeface="Noto Sans CJK JP"/>
              </a:rPr>
              <a:t/>
            </a:r>
            <a:endParaRPr lang="ja-JP" sz="800"/>
          </a:p>
        </p:txBody>
      </p:sp>
      <p:sp>
        <p:nvSpPr>
          <p:cNvPr id="3" name="title"/>
          <p:cNvSpPr/>
          <p:nvPr/>
        </p:nvSpPr>
        <p:spPr>
          <a:xfrm>
            <a:off x="594360" y="384048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 anchor="ctr"/>
          <a:lstStyle/>
          <a:p>
            <a:pPr algn="l"/>
            <a:r>
              <a:rPr lang="ja-JP" sz="2500" b="1">
                <a:solidFill>
                  <a:srgbClr val="173B57"/>
                </a:solidFill>
                <a:latin typeface="Noto Sans CJK JP"/>
                <a:ea typeface="Noto Sans CJK JP"/>
              </a:rPr>
              <a:t>固定4過去問で使う「微分の操作」</a:t>
            </a:r>
            <a:endParaRPr lang="ja-JP" sz="2500"/>
          </a:p>
        </p:txBody>
      </p:sp>
      <p:sp>
        <p:nvSpPr>
          <p:cNvPr id="4" name="sub"/>
          <p:cNvSpPr/>
          <p:nvPr/>
        </p:nvSpPr>
        <p:spPr>
          <a:xfrm>
            <a:off x="612648" y="868680"/>
            <a:ext cx="10972800" cy="329184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 anchor="ctr"/>
          <a:lstStyle/>
          <a:p>
            <a:pPr algn="l"/>
            <a:r>
              <a:rPr lang="ja-JP" sz="1200" b="0">
                <a:solidFill>
                  <a:srgbClr val="6B7280"/>
                </a:solidFill>
                <a:latin typeface="Noto Sans CJK JP"/>
                <a:ea typeface="Noto Sans CJK JP"/>
              </a:rPr>
              <a:t>専門理論を足さず、Topic 06で必要な数学操作だけを使う。</a:t>
            </a:r>
            <a:endParaRPr lang="ja-JP" sz="1200"/>
          </a:p>
        </p:txBody>
      </p:sp>
      <p:sp>
        <p:nvSpPr>
          <p:cNvPr id="5" name="R7上 理論 問13"/>
          <p:cNvSpPr/>
          <p:nvPr/>
        </p:nvSpPr>
        <p:spPr>
          <a:xfrm>
            <a:off x="685800" y="1417320"/>
            <a:ext cx="5285232" cy="1847088"/>
          </a:xfrm>
          <a:prstGeom prst="roundRect">
            <a:avLst/>
          </a:prstGeom>
          <a:solidFill>
            <a:srgbClr val="EEF6FB"/>
          </a:solidFill>
          <a:ln w="12700">
            <a:solidFill>
              <a:srgbClr val="B8D7E9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400" b="1">
                <a:solidFill>
                  <a:srgbClr val="1F2937"/>
                </a:solidFill>
                <a:latin typeface="Noto Sans CJK JP"/>
                <a:ea typeface="Noto Sans CJK JP"/>
              </a:rPr>
              <a:t>R7上 理論 問13
特性曲線の局所傾き
動作点付近で ΔI/ΔV
必要なら逆数 ΔV/ΔI
A/V=S ↔ V/A=Ω</a:t>
            </a:r>
            <a:endParaRPr lang="ja-JP" sz="1400"/>
          </a:p>
        </p:txBody>
      </p:sp>
      <p:sp>
        <p:nvSpPr>
          <p:cNvPr id="6" name="R6下 理論 問3"/>
          <p:cNvSpPr/>
          <p:nvPr/>
        </p:nvSpPr>
        <p:spPr>
          <a:xfrm>
            <a:off x="6236208" y="1417320"/>
            <a:ext cx="5285232" cy="1847088"/>
          </a:xfrm>
          <a:prstGeom prst="roundRect">
            <a:avLst/>
          </a:prstGeom>
          <a:solidFill>
            <a:srgbClr val="EFF9F4"/>
          </a:solidFill>
          <a:ln w="12700">
            <a:solidFill>
              <a:srgbClr val="BDE5CF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400" b="1">
                <a:solidFill>
                  <a:srgbClr val="1F2937"/>
                </a:solidFill>
                <a:latin typeface="Noto Sans CJK JP"/>
                <a:ea typeface="Noto Sans CJK JP"/>
              </a:rPr>
              <a:t>R6下 理論 問3
直線的な磁束変化
直線なら ΔΦ/Δt は一定
平均変化率 = 瞬間変化率
1 Wb/0.1 s = 10 Wb/s</a:t>
            </a:r>
            <a:endParaRPr lang="ja-JP" sz="1400"/>
          </a:p>
        </p:txBody>
      </p:sp>
      <p:sp>
        <p:nvSpPr>
          <p:cNvPr id="7" name="R5上 理論 問10"/>
          <p:cNvSpPr/>
          <p:nvPr/>
        </p:nvSpPr>
        <p:spPr>
          <a:xfrm>
            <a:off x="685800" y="3584448"/>
            <a:ext cx="5285232" cy="1847088"/>
          </a:xfrm>
          <a:prstGeom prst="roundRect">
            <a:avLst/>
          </a:prstGeom>
          <a:solidFill>
            <a:srgbClr val="FFF4EE"/>
          </a:solidFill>
          <a:ln w="12700">
            <a:solidFill>
              <a:srgbClr val="E7B8A4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400" b="1">
                <a:solidFill>
                  <a:srgbClr val="1F2937"/>
                </a:solidFill>
                <a:latin typeface="Noto Sans CJK JP"/>
                <a:ea typeface="Noto Sans CJK JP"/>
              </a:rPr>
              <a:t>R5上 理論 問10
i–t 折れ線の傾き比較
各区間で Δi/Δt
「大きさ」なら |Δi/Δt|
mA/ms = A/s</a:t>
            </a:r>
            <a:endParaRPr lang="ja-JP" sz="1400"/>
          </a:p>
        </p:txBody>
      </p:sp>
      <p:sp>
        <p:nvSpPr>
          <p:cNvPr id="8" name="R4下 理論 問7"/>
          <p:cNvSpPr/>
          <p:nvPr/>
        </p:nvSpPr>
        <p:spPr>
          <a:xfrm>
            <a:off x="6236208" y="3584448"/>
            <a:ext cx="5285232" cy="1847088"/>
          </a:xfrm>
          <a:prstGeom prst="roundRect">
            <a:avLst/>
          </a:prstGeom>
          <a:solidFill>
            <a:srgbClr val="F2F0FB"/>
          </a:solidFill>
          <a:ln w="12700">
            <a:solidFill>
              <a:srgbClr val="C9C3EA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400" b="1">
                <a:solidFill>
                  <a:srgbClr val="1F2937"/>
                </a:solidFill>
                <a:latin typeface="Noto Sans CJK JP"/>
                <a:ea typeface="Noto Sans CJK JP"/>
              </a:rPr>
              <a:t>R4下 理論 問7
有限変化・相対変化
Δr=r₂−r₁
相対変化=(r₂−r₁)/r₁
各式を整理 → 差 → 約分</a:t>
            </a:r>
            <a:endParaRPr lang="ja-JP" sz="1400"/>
          </a:p>
        </p:txBody>
      </p:sp>
      <p:sp>
        <p:nvSpPr>
          <p:cNvPr id="9" name="boundary"/>
          <p:cNvSpPr/>
          <p:nvPr/>
        </p:nvSpPr>
        <p:spPr>
          <a:xfrm>
            <a:off x="685800" y="5715000"/>
            <a:ext cx="10835640" cy="502920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E9B8B8"/>
            </a:solidFill>
          </a:ln>
        </p:spPr>
        <p:txBody>
          <a:bodyPr wrap="square" lIns="45720" rIns="45720" tIns="22860" bIns="22860" anchor="ctr"/>
          <a:lstStyle/>
          <a:p>
            <a:pPr algn="ctr"/>
            <a:r>
              <a:rPr lang="ja-JP" sz="1200" b="1">
                <a:solidFill>
                  <a:srgbClr val="C84C4C"/>
                </a:solidFill>
                <a:latin typeface="Noto Sans CJK JP"/>
                <a:ea typeface="Noto Sans CJK JP"/>
              </a:rPr>
              <a:t>範囲境界: 極値・2階微分→Topic 07 / 積分→08 / 電気の微分公式体系→09 / 指数・RC/RL→10</a:t>
            </a:r>
            <a:endParaRPr lang="ja-JP" sz="1200"/>
          </a:p>
        </p:txBody>
      </p:sp>
    </p:spTree>
  </p:cSld>
  <p:clrMapOvr>
    <a:masterClrMapping/>
  </p:clrMapOvr>
</p:sld>
</file>