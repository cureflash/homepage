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 type="screen16x9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300000" y="180000"/>
            <a:ext cx="11600000" cy="600000"/>
          </a:xfrm>
          <a:prstGeom prst="round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ja-JP" sz="2600" b="1">
                <a:solidFill>
                  <a:srgbClr val="111827"/>
                </a:solidFill>
                <a:latin typeface="Aptos"/>
                <a:ea typeface="Yu Gothic"/>
              </a:rPr>
              <a:t>1. 極形式への変換・乗除算・j</a:t>
            </a:r>
          </a:p>
        </p:txBody>
      </p:sp>
      <p:sp>
        <p:nvSpPr>
          <p:cNvPr id="10" name="s10"/>
          <p:cNvSpPr/>
          <p:nvPr/>
        </p:nvSpPr>
        <p:spPr>
          <a:xfrm>
            <a:off x="500000" y="1300000"/>
            <a:ext cx="3100000" cy="1100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2200" b="1">
                <a:solidFill>
                  <a:srgbClr val="111827"/>
                </a:solidFill>
                <a:latin typeface="Aptos"/>
                <a:ea typeface="Yu Gothic"/>
              </a:rPr>
              <a:t>直交形式</a:t>
            </a:r>
          </a:p>
          <a:p>
            <a:pPr algn="ctr"/>
            <a:r>
              <a:rPr lang="ja-JP" sz="2200" b="1">
                <a:solidFill>
                  <a:srgbClr val="111827"/>
                </a:solidFill>
                <a:latin typeface="Aptos"/>
                <a:ea typeface="Yu Gothic"/>
              </a:rPr>
              <a:t>z=a+jb</a:t>
            </a:r>
          </a:p>
        </p:txBody>
      </p:sp>
      <p:sp>
        <p:nvSpPr>
          <p:cNvPr id="11" name="s11"/>
          <p:cNvSpPr/>
          <p:nvPr/>
        </p:nvSpPr>
        <p:spPr>
          <a:xfrm>
            <a:off x="8350000" y="1300000"/>
            <a:ext cx="3100000" cy="11000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2200" b="1">
                <a:solidFill>
                  <a:srgbClr val="111827"/>
                </a:solidFill>
                <a:latin typeface="Aptos"/>
                <a:ea typeface="Yu Gothic"/>
              </a:rPr>
              <a:t>極形式</a:t>
            </a:r>
          </a:p>
          <a:p>
            <a:pPr algn="ctr"/>
            <a:r>
              <a:rPr lang="ja-JP" sz="2200" b="1">
                <a:solidFill>
                  <a:srgbClr val="111827"/>
                </a:solidFill>
                <a:latin typeface="Aptos"/>
                <a:ea typeface="Yu Gothic"/>
              </a:rPr>
              <a:t>z=r∠θ</a:t>
            </a:r>
          </a:p>
        </p:txBody>
      </p:sp>
      <p:sp>
        <p:nvSpPr>
          <p:cNvPr id="12" name="s12"/>
          <p:cNvSpPr/>
          <p:nvPr/>
        </p:nvSpPr>
        <p:spPr>
          <a:xfrm>
            <a:off x="4100000" y="1450000"/>
            <a:ext cx="3800000" cy="800000"/>
          </a:xfrm>
          <a:prstGeom prst="round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ja-JP" sz="1450" b="1">
                <a:solidFill>
                  <a:srgbClr val="2563EB"/>
                </a:solidFill>
                <a:latin typeface="Aptos"/>
                <a:ea typeface="Yu Gothic"/>
              </a:rPr>
              <a:t>r=√(a²+b²)</a:t>
            </a:r>
          </a:p>
          <a:p>
            <a:pPr algn="ctr"/>
            <a:r>
              <a:rPr lang="ja-JP" sz="1450" b="1">
                <a:solidFill>
                  <a:srgbClr val="2563EB"/>
                </a:solidFill>
                <a:latin typeface="Aptos"/>
                <a:ea typeface="Yu Gothic"/>
              </a:rPr>
              <a:t>θ=arg(z)</a:t>
            </a:r>
          </a:p>
          <a:p>
            <a:pPr algn="ctr"/>
            <a:r>
              <a:rPr lang="ja-JP" sz="1450" b="1">
                <a:solidFill>
                  <a:srgbClr val="2563EB"/>
                </a:solidFill>
                <a:latin typeface="Aptos"/>
                <a:ea typeface="Yu Gothic"/>
              </a:rPr>
              <a:t>a=r cosθ, b=r sinθ</a:t>
            </a:r>
          </a:p>
        </p:txBody>
      </p:sp>
      <p:sp>
        <p:nvSpPr>
          <p:cNvPr id="13" name="s13"/>
          <p:cNvSpPr/>
          <p:nvPr/>
        </p:nvSpPr>
        <p:spPr>
          <a:xfrm>
            <a:off x="600000" y="3100000"/>
            <a:ext cx="4700000" cy="12000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550" b="1">
                <a:solidFill>
                  <a:srgbClr val="111827"/>
                </a:solidFill>
                <a:latin typeface="Aptos"/>
                <a:ea typeface="Yu Gothic"/>
              </a:rPr>
              <a:t>加減算→直交形式</a:t>
            </a:r>
          </a:p>
          <a:p>
            <a:pPr algn="ctr"/>
            <a:r>
              <a:rPr lang="ja-JP" sz="1550" b="1">
                <a:solidFill>
                  <a:srgbClr val="111827"/>
                </a:solidFill>
                <a:latin typeface="Aptos"/>
                <a:ea typeface="Yu Gothic"/>
              </a:rPr>
              <a:t>乗除算→極形式</a:t>
            </a:r>
          </a:p>
          <a:p>
            <a:pPr algn="ctr"/>
            <a:r>
              <a:rPr lang="ja-JP" sz="1550" b="1">
                <a:solidFill>
                  <a:srgbClr val="111827"/>
                </a:solidFill>
                <a:latin typeface="Aptos"/>
                <a:ea typeface="Yu Gothic"/>
              </a:rPr>
              <a:t>角度は象限を確認</a:t>
            </a:r>
          </a:p>
        </p:txBody>
      </p:sp>
      <p:sp>
        <p:nvSpPr>
          <p:cNvPr id="14" name="s14"/>
          <p:cNvSpPr/>
          <p:nvPr/>
        </p:nvSpPr>
        <p:spPr>
          <a:xfrm>
            <a:off x="6300000" y="3100000"/>
            <a:ext cx="5000000" cy="12000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500" b="1">
                <a:solidFill>
                  <a:srgbClr val="B91C1C"/>
                </a:solidFill>
                <a:latin typeface="Aptos"/>
                <a:ea typeface="Yu Gothic"/>
              </a:rPr>
              <a:t>j=1∠90°</a:t>
            </a:r>
          </a:p>
          <a:p>
            <a:pPr algn="ctr"/>
            <a:r>
              <a:rPr lang="ja-JP" sz="1500" b="1">
                <a:solidFill>
                  <a:srgbClr val="B91C1C"/>
                </a:solidFill>
                <a:latin typeface="Aptos"/>
                <a:ea typeface="Yu Gothic"/>
              </a:rPr>
              <a:t>掛けると大きさ不変・+90°回転</a:t>
            </a:r>
          </a:p>
          <a:p>
            <a:pPr algn="ctr"/>
            <a:r>
              <a:rPr lang="ja-JP" sz="1500" b="1">
                <a:solidFill>
                  <a:srgbClr val="B91C1C"/>
                </a:solidFill>
                <a:latin typeface="Aptos"/>
                <a:ea typeface="Yu Gothic"/>
              </a:rPr>
              <a:t>R5下 機械 問5へ接続</a:t>
            </a:r>
          </a:p>
        </p:txBody>
      </p:sp>
      <p:sp>
        <p:nvSpPr>
          <p:cNvPr id="15" name="l15"/>
          <p:cNvSpPr/>
          <p:nvPr/>
        </p:nvSpPr>
        <p:spPr>
          <a:xfrm>
            <a:off x="7300000" y="5450000"/>
            <a:ext cx="1800000" cy="0"/>
          </a:xfrm>
          <a:prstGeom prst="line">
            <a:avLst/>
          </a:prstGeom>
          <a:ln w="30000">
            <a:solidFill>
              <a:srgbClr val="2563EB"/>
            </a:solidFill>
            <a:tailEnd type="triangle"/>
          </a:ln>
        </p:spPr>
      </p:sp>
      <p:sp>
        <p:nvSpPr>
          <p:cNvPr id="16" name="l16"/>
          <p:cNvSpPr/>
          <p:nvPr/>
        </p:nvSpPr>
        <p:spPr>
          <a:xfrm>
            <a:off x="7300000" y="5450000"/>
            <a:ext cx="0" cy="-1500000"/>
          </a:xfrm>
          <a:prstGeom prst="line">
            <a:avLst/>
          </a:prstGeom>
          <a:ln w="30000">
            <a:solidFill>
              <a:srgbClr val="EF4444"/>
            </a:solidFill>
            <a:tailEnd type="triangle"/>
          </a:ln>
        </p:spPr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300000" y="180000"/>
            <a:ext cx="11600000" cy="600000"/>
          </a:xfrm>
          <a:prstGeom prst="round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ja-JP" sz="2600" b="1">
                <a:solidFill>
                  <a:srgbClr val="111827"/>
                </a:solidFill>
                <a:latin typeface="Aptos"/>
                <a:ea typeface="Yu Gothic"/>
              </a:rPr>
              <a:t>2. 正弦波 → フェーザ → Z=V/I</a:t>
            </a:r>
          </a:p>
        </p:txBody>
      </p:sp>
      <p:sp>
        <p:nvSpPr>
          <p:cNvPr id="10" name="s10"/>
          <p:cNvSpPr/>
          <p:nvPr/>
        </p:nvSpPr>
        <p:spPr>
          <a:xfrm>
            <a:off x="500000" y="1300000"/>
            <a:ext cx="5200000" cy="1300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800" b="1">
                <a:solidFill>
                  <a:srgbClr val="111827"/>
                </a:solidFill>
                <a:latin typeface="Aptos"/>
                <a:ea typeface="Yu Gothic"/>
              </a:rPr>
              <a:t>v(t)=√2V sin(ωt+φ)</a:t>
            </a:r>
          </a:p>
          <a:p>
            <a:pPr algn="ctr"/>
            <a:r>
              <a:rPr lang="ja-JP" sz="1800" b="1">
                <a:solidFill>
                  <a:srgbClr val="111827"/>
                </a:solidFill>
                <a:latin typeface="Aptos"/>
                <a:ea typeface="Yu Gothic"/>
              </a:rPr>
              <a:t>⇔  V=V∠φ</a:t>
            </a:r>
          </a:p>
          <a:p>
            <a:pPr algn="ctr"/>
            <a:r>
              <a:rPr lang="ja-JP" sz="1800" b="1">
                <a:solidFill>
                  <a:srgbClr val="111827"/>
                </a:solidFill>
                <a:latin typeface="Aptos"/>
                <a:ea typeface="Yu Gothic"/>
              </a:rPr>
              <a:t>フェーザの大きさは実効値</a:t>
            </a:r>
          </a:p>
        </p:txBody>
      </p:sp>
      <p:sp>
        <p:nvSpPr>
          <p:cNvPr id="11" name="s11"/>
          <p:cNvSpPr/>
          <p:nvPr/>
        </p:nvSpPr>
        <p:spPr>
          <a:xfrm>
            <a:off x="6200000" y="1300000"/>
            <a:ext cx="5200000" cy="13000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850" b="1">
                <a:solidFill>
                  <a:srgbClr val="111827"/>
                </a:solidFill>
                <a:latin typeface="Aptos"/>
                <a:ea typeface="Yu Gothic"/>
              </a:rPr>
              <a:t>V=ZI,  Z=V/I</a:t>
            </a:r>
          </a:p>
          <a:p>
            <a:pPr algn="ctr"/>
            <a:r>
              <a:rPr lang="ja-JP" sz="1850" b="1">
                <a:solidFill>
                  <a:srgbClr val="111827"/>
                </a:solidFill>
                <a:latin typeface="Aptos"/>
                <a:ea typeface="Yu Gothic"/>
              </a:rPr>
              <a:t>|Z|=|V|/|I|</a:t>
            </a:r>
          </a:p>
          <a:p>
            <a:pPr algn="ctr"/>
            <a:r>
              <a:rPr lang="ja-JP" sz="1850" b="1">
                <a:solidFill>
                  <a:srgbClr val="111827"/>
                </a:solidFill>
                <a:latin typeface="Aptos"/>
                <a:ea typeface="Yu Gothic"/>
              </a:rPr>
              <a:t>θZ=θV-θI</a:t>
            </a:r>
          </a:p>
        </p:txBody>
      </p:sp>
      <p:sp>
        <p:nvSpPr>
          <p:cNvPr id="12" name="s12"/>
          <p:cNvSpPr/>
          <p:nvPr/>
        </p:nvSpPr>
        <p:spPr>
          <a:xfrm>
            <a:off x="500000" y="3200000"/>
            <a:ext cx="5200000" cy="13000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450" b="0">
                <a:solidFill>
                  <a:srgbClr val="111827"/>
                </a:solidFill>
                <a:latin typeface="Aptos"/>
                <a:ea typeface="Yu Gothic"/>
              </a:rPr>
              <a:t>sin/cosを統一</a:t>
            </a:r>
          </a:p>
          <a:p>
            <a:pPr algn="ctr"/>
            <a:r>
              <a:rPr lang="ja-JP" sz="1450" b="0">
                <a:solidFill>
                  <a:srgbClr val="111827"/>
                </a:solidFill>
                <a:latin typeface="Aptos"/>
                <a:ea typeface="Yu Gothic"/>
              </a:rPr>
              <a:t>cos x=sin(x+90°)</a:t>
            </a:r>
          </a:p>
          <a:p>
            <a:pPr algn="ctr"/>
            <a:r>
              <a:rPr lang="ja-JP" sz="1450" b="0">
                <a:solidFill>
                  <a:srgbClr val="111827"/>
                </a:solidFill>
                <a:latin typeface="Aptos"/>
                <a:ea typeface="Yu Gothic"/>
              </a:rPr>
              <a:t>-cos x=sin(x-90°)</a:t>
            </a:r>
          </a:p>
          <a:p>
            <a:pPr algn="ctr"/>
            <a:r>
              <a:rPr lang="ja-JP" sz="1450" b="0">
                <a:solidFill>
                  <a:srgbClr val="111827"/>
                </a:solidFill>
                <a:latin typeface="Aptos"/>
                <a:ea typeface="Yu Gothic"/>
              </a:rPr>
              <a:t>進み+ / 遅れ-</a:t>
            </a:r>
          </a:p>
        </p:txBody>
      </p:sp>
      <p:sp>
        <p:nvSpPr>
          <p:cNvPr id="13" name="s13"/>
          <p:cNvSpPr/>
          <p:nvPr/>
        </p:nvSpPr>
        <p:spPr>
          <a:xfrm>
            <a:off x="6200000" y="3200000"/>
            <a:ext cx="5200000" cy="13000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450" b="0">
                <a:solidFill>
                  <a:srgbClr val="111827"/>
                </a:solidFill>
                <a:latin typeface="Aptos"/>
                <a:ea typeface="Yu Gothic"/>
              </a:rPr>
              <a:t>Z=R+jX</a:t>
            </a:r>
          </a:p>
          <a:p>
            <a:pPr algn="ctr"/>
            <a:r>
              <a:rPr lang="ja-JP" sz="1450" b="0">
                <a:solidFill>
                  <a:srgbClr val="111827"/>
                </a:solidFill>
                <a:latin typeface="Aptos"/>
                <a:ea typeface="Yu Gothic"/>
              </a:rPr>
              <a:t>|Z|=√(R²+X²)</a:t>
            </a:r>
          </a:p>
          <a:p>
            <a:pPr algn="ctr"/>
            <a:r>
              <a:rPr lang="ja-JP" sz="1450" b="0">
                <a:solidFill>
                  <a:srgbClr val="111827"/>
                </a:solidFill>
                <a:latin typeface="Aptos"/>
                <a:ea typeface="Yu Gothic"/>
              </a:rPr>
              <a:t>cosφ=R/|Z|</a:t>
            </a:r>
          </a:p>
          <a:p>
            <a:pPr algn="ctr"/>
            <a:r>
              <a:rPr lang="ja-JP" sz="1450" b="0">
                <a:solidFill>
                  <a:srgbClr val="111827"/>
                </a:solidFill>
                <a:latin typeface="Aptos"/>
                <a:ea typeface="Yu Gothic"/>
              </a:rPr>
              <a:t>R6上 問15 / R5上 問9</a:t>
            </a:r>
          </a:p>
        </p:txBody>
      </p:sp>
      <p:sp>
        <p:nvSpPr>
          <p:cNvPr id="14" name="s14"/>
          <p:cNvSpPr/>
          <p:nvPr/>
        </p:nvSpPr>
        <p:spPr>
          <a:xfrm>
            <a:off x="1700000" y="5150000"/>
            <a:ext cx="8800000" cy="65000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500" b="1">
                <a:solidFill>
                  <a:srgbClr val="92400E"/>
                </a:solidFill>
                <a:latin typeface="Aptos"/>
                <a:ea typeface="Yu Gothic"/>
              </a:rPr>
              <a:t>最大値√2V と 実効値V を混同しない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300000" y="180000"/>
            <a:ext cx="11600000" cy="600000"/>
          </a:xfrm>
          <a:prstGeom prst="round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ja-JP" sz="2600" b="1">
                <a:solidFill>
                  <a:srgbClr val="111827"/>
                </a:solidFill>
                <a:latin typeface="Aptos"/>
                <a:ea typeface="Yu Gothic"/>
              </a:rPr>
              <a:t>3. フェーザ加算・成立条件・本試験手順</a:t>
            </a:r>
          </a:p>
        </p:txBody>
      </p:sp>
      <p:sp>
        <p:nvSpPr>
          <p:cNvPr id="10" name="s10"/>
          <p:cNvSpPr/>
          <p:nvPr/>
        </p:nvSpPr>
        <p:spPr>
          <a:xfrm>
            <a:off x="500000" y="1300000"/>
            <a:ext cx="5000000" cy="1500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500" b="1">
                <a:solidFill>
                  <a:srgbClr val="111827"/>
                </a:solidFill>
                <a:latin typeface="Aptos"/>
                <a:ea typeface="Yu Gothic"/>
              </a:rPr>
              <a:t>フェーザ加算</a:t>
            </a:r>
          </a:p>
          <a:p>
            <a:pPr algn="ctr"/>
            <a:r>
              <a:rPr lang="ja-JP" sz="1500" b="1">
                <a:solidFill>
                  <a:srgbClr val="111827"/>
                </a:solidFill>
                <a:latin typeface="Aptos"/>
                <a:ea typeface="Yu Gothic"/>
              </a:rPr>
              <a:t>A=10∠0°, B=10∠120°</a:t>
            </a:r>
          </a:p>
          <a:p>
            <a:pPr algn="ctr"/>
            <a:r>
              <a:rPr lang="ja-JP" sz="1500" b="1">
                <a:solidFill>
                  <a:srgbClr val="111827"/>
                </a:solidFill>
                <a:latin typeface="Aptos"/>
                <a:ea typeface="Yu Gothic"/>
              </a:rPr>
              <a:t>直交形式へ戻す</a:t>
            </a:r>
          </a:p>
          <a:p>
            <a:pPr algn="ctr"/>
            <a:r>
              <a:rPr lang="ja-JP" sz="1500" b="1">
                <a:solidFill>
                  <a:srgbClr val="111827"/>
                </a:solidFill>
                <a:latin typeface="Aptos"/>
                <a:ea typeface="Yu Gothic"/>
              </a:rPr>
              <a:t>A+B=10∠60°</a:t>
            </a:r>
          </a:p>
        </p:txBody>
      </p:sp>
      <p:sp>
        <p:nvSpPr>
          <p:cNvPr id="11" name="s11"/>
          <p:cNvSpPr/>
          <p:nvPr/>
        </p:nvSpPr>
        <p:spPr>
          <a:xfrm>
            <a:off x="6300000" y="1300000"/>
            <a:ext cx="5000000" cy="15000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450" b="1">
                <a:solidFill>
                  <a:srgbClr val="B91C1C"/>
                </a:solidFill>
                <a:latin typeface="Aptos"/>
                <a:ea typeface="Yu Gothic"/>
              </a:rPr>
              <a:t>成立条件</a:t>
            </a:r>
          </a:p>
          <a:p>
            <a:pPr algn="ctr"/>
            <a:r>
              <a:rPr lang="ja-JP" sz="1450" b="1">
                <a:solidFill>
                  <a:srgbClr val="B91C1C"/>
                </a:solidFill>
                <a:latin typeface="Aptos"/>
                <a:ea typeface="Yu Gothic"/>
              </a:rPr>
              <a:t>同じ角周波数ωの正弦波定常量</a:t>
            </a:r>
          </a:p>
          <a:p>
            <a:pPr algn="ctr"/>
            <a:r>
              <a:rPr lang="ja-JP" sz="1450" b="1">
                <a:solidFill>
                  <a:srgbClr val="B91C1C"/>
                </a:solidFill>
                <a:latin typeface="Aptos"/>
                <a:ea typeface="Yu Gothic"/>
              </a:rPr>
              <a:t>NG: ωと3ωを直接合成</a:t>
            </a:r>
          </a:p>
          <a:p>
            <a:pPr algn="ctr"/>
            <a:r>
              <a:rPr lang="ja-JP" sz="1450" b="1">
                <a:solidFill>
                  <a:srgbClr val="B91C1C"/>
                </a:solidFill>
                <a:latin typeface="Aptos"/>
                <a:ea typeface="Yu Gothic"/>
              </a:rPr>
              <a:t>R6上 理論 問9</a:t>
            </a:r>
          </a:p>
        </p:txBody>
      </p:sp>
      <p:sp>
        <p:nvSpPr>
          <p:cNvPr id="12" name="s12"/>
          <p:cNvSpPr/>
          <p:nvPr/>
        </p:nvSpPr>
        <p:spPr>
          <a:xfrm>
            <a:off x="500000" y="3400000"/>
            <a:ext cx="5000000" cy="16000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300" b="1">
                <a:solidFill>
                  <a:srgbClr val="111827"/>
                </a:solidFill>
                <a:latin typeface="Aptos"/>
                <a:ea typeface="Yu Gothic"/>
              </a:rPr>
              <a:t>本試験手順</a:t>
            </a:r>
          </a:p>
          <a:p>
            <a:pPr algn="ctr"/>
            <a:r>
              <a:rPr lang="ja-JP" sz="1300" b="1">
                <a:solidFill>
                  <a:srgbClr val="111827"/>
                </a:solidFill>
                <a:latin typeface="Aptos"/>
                <a:ea typeface="Yu Gothic"/>
              </a:rPr>
              <a:t>①sin/cos統一 ②実効値化</a:t>
            </a:r>
          </a:p>
          <a:p>
            <a:pPr algn="ctr"/>
            <a:r>
              <a:rPr lang="ja-JP" sz="1300" b="1">
                <a:solidFill>
                  <a:srgbClr val="111827"/>
                </a:solidFill>
                <a:latin typeface="Aptos"/>
                <a:ea typeface="Yu Gothic"/>
              </a:rPr>
              <a:t>③基準位相 ④表示を選ぶ</a:t>
            </a:r>
          </a:p>
          <a:p>
            <a:pPr algn="ctr"/>
            <a:r>
              <a:rPr lang="ja-JP" sz="1300" b="1">
                <a:solidFill>
                  <a:srgbClr val="111827"/>
                </a:solidFill>
                <a:latin typeface="Aptos"/>
                <a:ea typeface="Yu Gothic"/>
              </a:rPr>
              <a:t>⑤乗除算 ⑥j=+90°</a:t>
            </a:r>
          </a:p>
          <a:p>
            <a:pPr algn="ctr"/>
            <a:r>
              <a:rPr lang="ja-JP" sz="1300" b="1">
                <a:solidFill>
                  <a:srgbClr val="111827"/>
                </a:solidFill>
                <a:latin typeface="Aptos"/>
                <a:ea typeface="Yu Gothic"/>
              </a:rPr>
              <a:t>⑦異周波数を分離</a:t>
            </a:r>
          </a:p>
        </p:txBody>
      </p:sp>
      <p:sp>
        <p:nvSpPr>
          <p:cNvPr id="13" name="s13"/>
          <p:cNvSpPr/>
          <p:nvPr/>
        </p:nvSpPr>
        <p:spPr>
          <a:xfrm>
            <a:off x="6300000" y="3400000"/>
            <a:ext cx="5000000" cy="16000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300" b="1">
                <a:solidFill>
                  <a:srgbClr val="111827"/>
                </a:solidFill>
                <a:latin typeface="Aptos"/>
                <a:ea typeface="Yu Gothic"/>
              </a:rPr>
              <a:t>新幹線への接続は数学例のみ</a:t>
            </a:r>
          </a:p>
          <a:p>
            <a:pPr algn="ctr"/>
            <a:r>
              <a:rPr lang="ja-JP" sz="1300" b="1">
                <a:solidFill>
                  <a:srgbClr val="111827"/>
                </a:solidFill>
                <a:latin typeface="Aptos"/>
                <a:ea typeface="Yu Gothic"/>
              </a:rPr>
              <a:t>25 kV∠0°</a:t>
            </a:r>
          </a:p>
          <a:p>
            <a:pPr algn="ctr"/>
            <a:r>
              <a:rPr lang="ja-JP" sz="1300" b="1">
                <a:solidFill>
                  <a:srgbClr val="111827"/>
                </a:solidFill>
                <a:latin typeface="Aptos"/>
                <a:ea typeface="Yu Gothic"/>
              </a:rPr>
              <a:t/>
            </a:r>
          </a:p>
          <a:p>
            <a:pPr algn="ctr"/>
            <a:r>
              <a:rPr lang="ja-JP" sz="1300" b="1">
                <a:solidFill>
                  <a:srgbClr val="111827"/>
                </a:solidFill>
                <a:latin typeface="Aptos"/>
                <a:ea typeface="Yu Gothic"/>
              </a:rPr>
              <a:t>対応: R6上9・15 / R5下5</a:t>
            </a:r>
          </a:p>
          <a:p>
            <a:pPr algn="ctr"/>
            <a:r>
              <a:rPr lang="ja-JP" sz="1300" b="1">
                <a:solidFill>
                  <a:srgbClr val="111827"/>
                </a:solidFill>
                <a:latin typeface="Aptos"/>
                <a:ea typeface="Yu Gothic"/>
              </a:rPr>
              <a:t>R5上9 / R3問8</a:t>
            </a:r>
          </a:p>
        </p:txBody>
      </p:sp>
      <p:sp>
        <p:nvSpPr>
          <p:cNvPr id="14" name="s14"/>
          <p:cNvSpPr/>
          <p:nvPr/>
        </p:nvSpPr>
        <p:spPr>
          <a:xfrm>
            <a:off x="1300000" y="5450000"/>
            <a:ext cx="9600000" cy="55000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txBody>
          <a:bodyPr anchor="ctr"/>
          <a:lstStyle/>
          <a:p>
            <a:pPr algn="ctr"/>
            <a:r>
              <a:rPr lang="ja-JP" sz="1050" b="0">
                <a:solidFill>
                  <a:srgbClr val="991B1B"/>
                </a:solidFill>
                <a:latin typeface="Aptos"/>
                <a:ea typeface="Yu Gothic"/>
              </a:rPr>
              <a:t>範囲外: 空間ベクトル・RLC共振・三相結線・力率改善・複素電力</a:t>
            </a:r>
          </a:p>
        </p:txBody>
      </p:sp>
    </p:spTree>
  </p:cSld>
</p:sld>
</file>