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3047"/>
          </a:solidFill>
          <a:ln w="12700">
            <a:solidFill>
              <a:srgbClr val="2230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9738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電験×新幹線｜車両・三種 Topic 32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601200" y="653796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9738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cureflash/homepage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3796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386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3796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386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230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ATC③ 新幹線をどう自動で減速させる？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9738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試験論点：速度照査・フィードバック・論理判断・フェイルセーフ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ATCの速度制御を「一般的な制御系」として読む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874520" cy="713232"/>
          </a:xfrm>
          <a:prstGeom prst="roundRect">
            <a:avLst>
              <a:gd name="adj" fmla="val 7692"/>
            </a:avLst>
          </a:prstGeom>
          <a:solidFill>
            <a:srgbClr val="EAF0FF"/>
          </a:solidFill>
          <a:ln w="12700">
            <a:solidFill>
              <a:srgbClr val="B8C9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737360"/>
            <a:ext cx="1728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許容速度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速度パターン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542032" y="1883664"/>
            <a:ext cx="502920" cy="310896"/>
          </a:xfrm>
          <a:prstGeom prst="rightArrow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54680" y="1691640"/>
            <a:ext cx="1508760" cy="713232"/>
          </a:xfrm>
          <a:prstGeom prst="roundRect">
            <a:avLst>
              <a:gd name="adj" fmla="val 7692"/>
            </a:avLst>
          </a:prstGeom>
          <a:solidFill>
            <a:srgbClr val="FFF3DF"/>
          </a:solidFill>
          <a:ln w="12700">
            <a:solidFill>
              <a:srgbClr val="E4C38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27832" y="1737360"/>
            <a:ext cx="1362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比較・照査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800600" y="1883664"/>
            <a:ext cx="502920" cy="310896"/>
          </a:xfrm>
          <a:prstGeom prst="rightArrow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94960" y="1691640"/>
            <a:ext cx="1600200" cy="713232"/>
          </a:xfrm>
          <a:prstGeom prst="roundRect">
            <a:avLst>
              <a:gd name="adj" fmla="val 7692"/>
            </a:avLst>
          </a:prstGeom>
          <a:solidFill>
            <a:srgbClr val="FFEAEA"/>
          </a:solidFill>
          <a:ln w="12700">
            <a:solidFill>
              <a:srgbClr val="E3AF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68112" y="1737360"/>
            <a:ext cx="1453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ブレーキ指令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50608" y="1883664"/>
            <a:ext cx="502920" cy="310896"/>
          </a:xfrm>
          <a:prstGeom prst="rightArrow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54112" y="1691640"/>
            <a:ext cx="1600200" cy="713232"/>
          </a:xfrm>
          <a:prstGeom prst="roundRect">
            <a:avLst>
              <a:gd name="adj" fmla="val 7692"/>
            </a:avLst>
          </a:prstGeom>
          <a:solidFill>
            <a:srgbClr val="EAF6F0"/>
          </a:solidFill>
          <a:ln w="12700">
            <a:solidFill>
              <a:srgbClr val="B9D8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27264" y="1737360"/>
            <a:ext cx="1453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列車速度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500616" y="1883664"/>
            <a:ext cx="502920" cy="310896"/>
          </a:xfrm>
          <a:prstGeom prst="rightArrow">
            <a:avLst/>
          </a:prstGeom>
          <a:solidFill>
            <a:srgbClr val="19A0AA"/>
          </a:solidFill>
          <a:ln w="12700">
            <a:solidFill>
              <a:srgbClr val="19A0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04120" y="1691640"/>
            <a:ext cx="1554480" cy="713232"/>
          </a:xfrm>
          <a:prstGeom prst="roundRect">
            <a:avLst>
              <a:gd name="adj" fmla="val 7692"/>
            </a:avLst>
          </a:prstGeom>
          <a:solidFill>
            <a:srgbClr val="E8F7F8"/>
          </a:solidFill>
          <a:ln w="12700">
            <a:solidFill>
              <a:srgbClr val="A6D8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77272" y="1737360"/>
            <a:ext cx="1408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速度検出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863072" y="2414016"/>
            <a:ext cx="0" cy="685800"/>
          </a:xfrm>
          <a:prstGeom prst="line">
            <a:avLst/>
          </a:prstGeom>
          <a:noFill/>
          <a:ln w="25400">
            <a:solidFill>
              <a:srgbClr val="19A0AA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0863072" y="3099816"/>
            <a:ext cx="-6720840" cy="0"/>
          </a:xfrm>
          <a:prstGeom prst="line">
            <a:avLst/>
          </a:prstGeom>
          <a:noFill/>
          <a:ln w="25400">
            <a:solidFill>
              <a:srgbClr val="19A0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42232" y="3099816"/>
            <a:ext cx="0" cy="-594360"/>
          </a:xfrm>
          <a:prstGeom prst="line">
            <a:avLst/>
          </a:prstGeom>
          <a:noFill/>
          <a:ln w="25400">
            <a:solidFill>
              <a:srgbClr val="19A0AA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858000" y="31729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9A0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検出値を戻す（負帰還）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5800" y="5138928"/>
            <a:ext cx="10789920" cy="0"/>
          </a:xfrm>
          <a:prstGeom prst="line">
            <a:avLst/>
          </a:prstGeom>
          <a:noFill/>
          <a:ln w="25400">
            <a:solidFill>
              <a:srgbClr val="7E879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3913632"/>
            <a:ext cx="2194560" cy="777240"/>
          </a:xfrm>
          <a:prstGeom prst="chevron">
            <a:avLst/>
          </a:prstGeom>
          <a:solidFill>
            <a:srgbClr val="FFFFFF"/>
          </a:solidFill>
          <a:ln w="20320">
            <a:solidFill>
              <a:srgbClr val="2230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72768" y="41513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車上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00400" y="4297680"/>
            <a:ext cx="1051560" cy="0"/>
          </a:xfrm>
          <a:prstGeom prst="line">
            <a:avLst/>
          </a:prstGeom>
          <a:noFill/>
          <a:ln w="17780">
            <a:solidFill>
              <a:srgbClr val="69738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389120" y="3822192"/>
            <a:ext cx="2880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FC8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62272" y="3867912"/>
            <a:ext cx="2734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地上側から受ける情報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または先行列車位置情報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60920" y="4297680"/>
            <a:ext cx="960120" cy="0"/>
          </a:xfrm>
          <a:prstGeom prst="line">
            <a:avLst/>
          </a:prstGeom>
          <a:noFill/>
          <a:ln w="17780">
            <a:solidFill>
              <a:srgbClr val="69738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458200" y="3822192"/>
            <a:ext cx="2606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FC8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31352" y="3867912"/>
            <a:ext cx="2459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車上で速度照査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必要なら自動ブレーキ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" y="537667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B44A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世代差はJRTT公開範囲のみ。内部回路・しきい値・減速度は推定しない。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2920" y="62453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E69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根拠：JRTT「信号」／電気技術者試験センター 第三種過去問（R8上・R7下・R6上/下）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3796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386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230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負帰還とブロック線図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9738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R8上 機械 問13：内部信号を書いて C/R を導出する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11430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基本形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18745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173736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230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1288" y="1755648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82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975104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4A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96112" y="1984248"/>
            <a:ext cx="201168" cy="0"/>
          </a:xfrm>
          <a:prstGeom prst="line">
            <a:avLst/>
          </a:prstGeom>
          <a:noFill/>
          <a:ln w="20320">
            <a:solidFill>
              <a:srgbClr val="22304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600200" y="1984248"/>
            <a:ext cx="566928" cy="0"/>
          </a:xfrm>
          <a:prstGeom prst="line">
            <a:avLst/>
          </a:prstGeom>
          <a:noFill/>
          <a:ln w="20320">
            <a:solidFill>
              <a:srgbClr val="22304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212848" y="1600200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EAF0FF"/>
          </a:solidFill>
          <a:ln w="12700">
            <a:solidFill>
              <a:srgbClr val="B8C9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1645920"/>
            <a:ext cx="1179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547872" y="1984248"/>
            <a:ext cx="777240" cy="0"/>
          </a:xfrm>
          <a:prstGeom prst="line">
            <a:avLst/>
          </a:prstGeom>
          <a:noFill/>
          <a:ln w="20320">
            <a:solidFill>
              <a:srgbClr val="223047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389120" y="18745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212848" y="288036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E8F7F8"/>
          </a:solidFill>
          <a:ln w="12700">
            <a:solidFill>
              <a:srgbClr val="A6D8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2926080"/>
            <a:ext cx="1179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160520" y="2194560"/>
            <a:ext cx="0" cy="1005840"/>
          </a:xfrm>
          <a:prstGeom prst="line">
            <a:avLst/>
          </a:prstGeom>
          <a:noFill/>
          <a:ln w="19050">
            <a:solidFill>
              <a:srgbClr val="19A0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60520" y="3200400"/>
            <a:ext cx="-621792" cy="0"/>
          </a:xfrm>
          <a:prstGeom prst="line">
            <a:avLst/>
          </a:prstGeom>
          <a:noFill/>
          <a:ln w="19050">
            <a:solidFill>
              <a:srgbClr val="19A0A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212848" y="3200400"/>
            <a:ext cx="-868680" cy="0"/>
          </a:xfrm>
          <a:prstGeom prst="line">
            <a:avLst/>
          </a:prstGeom>
          <a:noFill/>
          <a:ln w="19050">
            <a:solidFill>
              <a:srgbClr val="19A0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44168" y="3200400"/>
            <a:ext cx="0" cy="-960120"/>
          </a:xfrm>
          <a:prstGeom prst="line">
            <a:avLst/>
          </a:prstGeom>
          <a:noFill/>
          <a:ln w="19050">
            <a:solidFill>
              <a:srgbClr val="19A0A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85800" y="3886200"/>
            <a:ext cx="416052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3931920"/>
            <a:ext cx="40142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 = R − HC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 = GE  ⇒  C/R = G/(1+GH)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32120" y="1143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固定過去問型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532120" y="1572768"/>
            <a:ext cx="59893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05272" y="1618488"/>
            <a:ext cx="5843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 = R − x　　x = e/(jωT₂)　　C = x + (T₁/T₂)e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623560" y="24323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  e と x の関係を連立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806440" y="2724912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e/R = jωT₂/(1+jωT₂)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x/R = 1/(1+jωT₂)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58200" y="24323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  C/R へ代入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485632" y="27249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C/R = x/R + (T₁/T₂)(e/R)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092440" y="3611880"/>
            <a:ext cx="594360" cy="594360"/>
          </a:xfrm>
          <a:prstGeom prst="downArrow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0" y="4315968"/>
            <a:ext cx="3931920" cy="822960"/>
          </a:xfrm>
          <a:prstGeom prst="roundRect">
            <a:avLst>
              <a:gd name="adj" fmla="val 6667"/>
            </a:avLst>
          </a:prstGeom>
          <a:solidFill>
            <a:srgbClr val="EAF0FF"/>
          </a:solidFill>
          <a:ln w="12700">
            <a:solidFill>
              <a:srgbClr val="AFC2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56832" y="4361688"/>
            <a:ext cx="3785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30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C/R = (1 + jωT₁) / (1 + jωT₂)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5532120" y="5440680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B44A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試験手順：図を暗算しない → 内部信号を置く → 加え合わせ点の符号を式にする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" y="62453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E69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根拠：電気技術者試験センター R8上 機械 問13／Topic 32 source §3〜§5・§12・§14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3796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386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230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一次遅れの周波数応答とP・I・D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9738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R7下 機械 問18(a)(b)／R6下 機械 問13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11612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一次遅れ  W(jω)=K/(1+jωT)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983480"/>
            <a:ext cx="4709160" cy="0"/>
          </a:xfrm>
          <a:prstGeom prst="line">
            <a:avLst/>
          </a:prstGeom>
          <a:noFill/>
          <a:ln w="15240">
            <a:solidFill>
              <a:srgbClr val="223047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22960" y="4983480"/>
            <a:ext cx="0" cy="-3154680"/>
          </a:xfrm>
          <a:prstGeom prst="line">
            <a:avLst/>
          </a:prstGeom>
          <a:noFill/>
          <a:ln w="15240">
            <a:solidFill>
              <a:srgbClr val="223047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5074920" y="50932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9738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log ω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15819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9738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利得[dB]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2606040"/>
            <a:ext cx="2011680" cy="0"/>
          </a:xfrm>
          <a:prstGeom prst="line">
            <a:avLst/>
          </a:prstGeom>
          <a:noFill/>
          <a:ln w="30480">
            <a:solidFill>
              <a:srgbClr val="2F6F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2606040"/>
            <a:ext cx="2331720" cy="1600200"/>
          </a:xfrm>
          <a:prstGeom prst="line">
            <a:avLst/>
          </a:prstGeom>
          <a:noFill/>
          <a:ln w="30480">
            <a:solidFill>
              <a:srgbClr val="2F6F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0" y="2057400"/>
            <a:ext cx="0" cy="292608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28600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F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20log₁₀K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23160" y="47548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ωc = 1/T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0" y="35204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F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−20 dB/dec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5230368"/>
            <a:ext cx="4983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5276088"/>
            <a:ext cx="4837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K=10, T=0.2 s → 低周波利得 20 dB、折点 5 rad/s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80760" y="11612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P・I・Dの試験上の結び付け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080760" y="1664208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E9EDF3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53912" y="1709928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動作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69480" y="1664208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E9EDF3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42632" y="170992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見ている量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89720" y="1664208"/>
            <a:ext cx="2331720" cy="548640"/>
          </a:xfrm>
          <a:prstGeom prst="roundRect">
            <a:avLst>
              <a:gd name="adj" fmla="val 10000"/>
            </a:avLst>
          </a:prstGeom>
          <a:solidFill>
            <a:srgbClr val="E9EDF3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62872" y="1709928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固定過去問での要点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2267712"/>
            <a:ext cx="10972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53912" y="2313432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269480" y="2267712"/>
            <a:ext cx="18288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42632" y="2313432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現在の偏差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89720" y="2267712"/>
            <a:ext cx="233172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62872" y="2313432"/>
            <a:ext cx="2185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定常・過渡の両方へ影響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80760" y="2980944"/>
            <a:ext cx="1097280" cy="621792"/>
          </a:xfrm>
          <a:prstGeom prst="roundRect">
            <a:avLst>
              <a:gd name="adj" fmla="val 8824"/>
            </a:avLst>
          </a:prstGeom>
          <a:solidFill>
            <a:srgbClr val="EAF6F0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53912" y="3026664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269480" y="2980944"/>
            <a:ext cx="18288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3026664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偏差の積分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189720" y="2980944"/>
            <a:ext cx="233172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62872" y="3026664"/>
            <a:ext cx="2185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定常特性を改善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080760" y="3694176"/>
            <a:ext cx="1097280" cy="621792"/>
          </a:xfrm>
          <a:prstGeom prst="roundRect">
            <a:avLst>
              <a:gd name="adj" fmla="val 8824"/>
            </a:avLst>
          </a:prstGeom>
          <a:solidFill>
            <a:srgbClr val="FFF3DF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53912" y="3739896"/>
            <a:ext cx="950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7269480" y="3694176"/>
            <a:ext cx="18288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42632" y="3739896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偏差の変化速度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189720" y="3694176"/>
            <a:ext cx="233172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62872" y="3739896"/>
            <a:ext cx="2185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過渡特性を改善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080760" y="4709160"/>
            <a:ext cx="5440680" cy="1143000"/>
          </a:xfrm>
          <a:prstGeom prst="roundRect">
            <a:avLst>
              <a:gd name="adj" fmla="val 4800"/>
            </a:avLst>
          </a:prstGeom>
          <a:solidFill>
            <a:srgbClr val="EAF0FF"/>
          </a:solidFill>
          <a:ln w="12700">
            <a:solidFill>
              <a:srgbClr val="AFC2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53912" y="4754880"/>
            <a:ext cx="5294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30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試験の読み順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30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① K → 低周波利得　② T → 折点　③ 一次遅れ → 折点後 −20 dB/dec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30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PIDは「I=定常、D=過渡」をまず固定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2920" y="62453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E69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根拠：電気技術者試験センター R7下 機械 問18(a)(b)、R6下 機械 問13／Topic 32 source §6・§7・§12・§13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3796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386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230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論理判断と安全側制御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9738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R6下 機械 問14／R6上 機械 問13：AND・OR・NOT、シーケンス、インタロック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11430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論理式は制御入力 C で場合分けする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572768"/>
            <a:ext cx="4892040" cy="713232"/>
          </a:xfrm>
          <a:prstGeom prst="roundRect">
            <a:avLst>
              <a:gd name="adj" fmla="val 7692"/>
            </a:avLst>
          </a:prstGeom>
          <a:solidFill>
            <a:srgbClr val="EAF0FF"/>
          </a:solidFill>
          <a:ln w="12700">
            <a:solidFill>
              <a:srgbClr val="AFC2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618488"/>
            <a:ext cx="47457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230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 = A·C + B·NOT(C)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31520" y="2606040"/>
            <a:ext cx="19659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651760"/>
            <a:ext cx="1819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 = 0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 = B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337560" y="2606040"/>
            <a:ext cx="19659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0712" y="2651760"/>
            <a:ext cx="1819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 = 1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 = 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633472" y="2286000"/>
            <a:ext cx="292608" cy="256032"/>
          </a:xfrm>
          <a:prstGeom prst="downArrow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67588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タイムチャートは入力変化点ごとに区切る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4160520"/>
            <a:ext cx="1143000" cy="475488"/>
          </a:xfrm>
          <a:prstGeom prst="roundRect">
            <a:avLst>
              <a:gd name="adj" fmla="val 11538"/>
            </a:avLst>
          </a:prstGeom>
          <a:solidFill>
            <a:srgbClr val="E9EDF3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4206240"/>
            <a:ext cx="99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区間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0" y="4160520"/>
            <a:ext cx="1143000" cy="475488"/>
          </a:xfrm>
          <a:prstGeom prst="roundRect">
            <a:avLst>
              <a:gd name="adj" fmla="val 11538"/>
            </a:avLst>
          </a:prstGeom>
          <a:solidFill>
            <a:srgbClr val="E9EDF3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01952" y="4206240"/>
            <a:ext cx="99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71800" y="4160520"/>
            <a:ext cx="1143000" cy="475488"/>
          </a:xfrm>
          <a:prstGeom prst="roundRect">
            <a:avLst>
              <a:gd name="adj" fmla="val 11538"/>
            </a:avLst>
          </a:prstGeom>
          <a:solidFill>
            <a:srgbClr val="E9EDF3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44952" y="4206240"/>
            <a:ext cx="99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0" y="4160520"/>
            <a:ext cx="1143000" cy="475488"/>
          </a:xfrm>
          <a:prstGeom prst="roundRect">
            <a:avLst>
              <a:gd name="adj" fmla="val 11538"/>
            </a:avLst>
          </a:prstGeom>
          <a:solidFill>
            <a:srgbClr val="E9EDF3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87952" y="4206240"/>
            <a:ext cx="99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57800" y="4160520"/>
            <a:ext cx="1143000" cy="475488"/>
          </a:xfrm>
          <a:prstGeom prst="roundRect">
            <a:avLst>
              <a:gd name="adj" fmla="val 11538"/>
            </a:avLst>
          </a:prstGeom>
          <a:solidFill>
            <a:srgbClr val="E9EDF3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30952" y="4206240"/>
            <a:ext cx="99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4636008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" y="4681728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28800" y="4636008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01952" y="4681728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971800" y="4636008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44952" y="4681728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0" y="4636008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87952" y="4681728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257800" y="4636008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30952" y="4681728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5800" y="5074920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" y="5120640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28800" y="5074920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01952" y="5120640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971800" y="5074920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44952" y="5120640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0" y="5074920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87952" y="5120640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257800" y="5074920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30952" y="5120640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5800" y="5513832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8952" y="5559552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828800" y="5513832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01952" y="5559552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971800" y="5513832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44952" y="5559552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114800" y="5513832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87952" y="5559552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257800" y="5513832"/>
            <a:ext cx="1143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30952" y="5559552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035040" y="1143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安全側へ倒す一般原則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6035040" y="1600200"/>
            <a:ext cx="2514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08192" y="1645920"/>
            <a:ext cx="2368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シーケンス制御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条件・順序で動作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8887968" y="1600200"/>
            <a:ext cx="2514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2D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961120" y="1645920"/>
            <a:ext cx="2368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フィードバック制御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出力を検出して戻す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6035040" y="2852928"/>
            <a:ext cx="2514600" cy="960120"/>
          </a:xfrm>
          <a:prstGeom prst="roundRect">
            <a:avLst>
              <a:gd name="adj" fmla="val 5714"/>
            </a:avLst>
          </a:prstGeom>
          <a:solidFill>
            <a:srgbClr val="FFF3DF"/>
          </a:solidFill>
          <a:ln w="12700">
            <a:solidFill>
              <a:srgbClr val="E4C38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08192" y="2898648"/>
            <a:ext cx="2368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インタロック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危険な同時成立を防ぐ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8887968" y="2852928"/>
            <a:ext cx="2514600" cy="960120"/>
          </a:xfrm>
          <a:prstGeom prst="roundRect">
            <a:avLst>
              <a:gd name="adj" fmla="val 5714"/>
            </a:avLst>
          </a:prstGeom>
          <a:solidFill>
            <a:srgbClr val="FFEAEA"/>
          </a:solidFill>
          <a:ln w="12700">
            <a:solidFill>
              <a:srgbClr val="E3AFA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961120" y="2898648"/>
            <a:ext cx="2368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フェイルセーフ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故障時も危険側へ移行させない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6035040" y="416052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4A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注意：この論理式やPID式を「実際の新幹線ATC内部回路」とは扱わない。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7543800" y="49834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182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固定EXAM_ALIGNMENT可視化 6/6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035040" y="5376672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9738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出典一覧：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9738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・電気技術者試験センター 第三種電気主任技術者試験 R8上／R7下／R6上・下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9738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・JRTT「信号」 https://www.jrtt.go.jp/construction/technology/signal.html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9738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・RTRI 信号システム研究室／鉄道信号の安全性・信頼性技術 公開情報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9738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・参考：e-sysnet、電験三種まとめました、電験王3（参照日 2026-09-15）</a:t>
            </a:r>
            <a:endParaRPr lang="en-US" sz="820" dirty="0"/>
          </a:p>
        </p:txBody>
      </p:sp>
      <p:sp>
        <p:nvSpPr>
          <p:cNvPr id="65" name="Text 63"/>
          <p:cNvSpPr/>
          <p:nvPr/>
        </p:nvSpPr>
        <p:spPr>
          <a:xfrm>
            <a:off x="502920" y="624535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E69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固定範囲外追加 0件／未確認ATC実車値追加 0件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3796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97386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cureflash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ATC③ 新幹線をどう自動で減速させる？</dc:title>
  <dc:subject>電験×新幹線 Topic 32 ATC③</dc:subject>
  <dc:creator>cureflash</dc:creator>
  <cp:lastModifiedBy>cureflash</cp:lastModifiedBy>
  <cp:revision>1</cp:revision>
  <dcterms:created xsi:type="dcterms:W3CDTF">2026-09-15T15:11:52Z</dcterms:created>
  <dcterms:modified xsi:type="dcterms:W3CDTF">2026-09-15T15:11:52Z</dcterms:modified>
</cp:coreProperties>
</file>