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2F6FED" accent2="19A0AA" accent3="31825B" accent4="D28B20" accent5="B44A4A" accent6="697386" bg1="FFFFFF" bg2="E9EDF3" folHlink="954F72" hlink="0563C1" tx1="1C2430" tx2="697386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0000" y="25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2600" b="1" dirty="0">
                <a:solidFill>
                  <a:srgbClr val="223047"/>
                </a:solidFill>
                <a:latin typeface="Noto Sans CJK JP"/>
                <a:ea typeface="Noto Sans CJK JP"/>
              </a:rPr>
              <a:t>ATC③ 新幹線をどう自動で減速させる？</a:t>
            </a:r>
            <a:endParaRPr lang="ja-JP" sz="2600"/>
          </a:p>
        </p:txBody>
      </p:sp>
      <p:sp>
        <p:nvSpPr>
          <p:cNvPr id="3" name="Text 3"/>
          <p:cNvSpPr txBox="1"/>
          <p:nvPr/>
        </p:nvSpPr>
        <p:spPr>
          <a:xfrm>
            <a:off x="520000" y="850000"/>
            <a:ext cx="11200000" cy="3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1200" b="0" dirty="0">
                <a:solidFill>
                  <a:srgbClr val="697386"/>
                </a:solidFill>
                <a:latin typeface="Noto Sans CJK JP"/>
                <a:ea typeface="Noto Sans CJK JP"/>
              </a:rPr>
              <a:t>試験論点：速度照査・フィードバック・論理判断・フェイルセーフ</a:t>
            </a:r>
            <a:endParaRPr lang="ja-JP" sz="1200"/>
          </a:p>
        </p:txBody>
      </p:sp>
      <p:sp>
        <p:nvSpPr>
          <p:cNvPr id="10" name="Shape 10"/>
          <p:cNvSpPr/>
          <p:nvPr/>
        </p:nvSpPr>
        <p:spPr>
          <a:xfrm>
            <a:off x="500000" y="1700000"/>
            <a:ext cx="1800000" cy="80000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BFC8D4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500" b="1" dirty="0">
                <a:solidFill>
                  <a:srgbClr val="1C2430"/>
                </a:solidFill>
                <a:latin typeface="Noto Sans CJK JP"/>
                <a:ea typeface="Noto Sans CJK JP"/>
              </a:rPr>
              <a:t>許容速度・速度パターン</a:t>
            </a:r>
            <a:endParaRPr lang="ja-JP" sz="1500"/>
          </a:p>
        </p:txBody>
      </p:sp>
      <p:sp>
        <p:nvSpPr>
          <p:cNvPr id="11" name="Shape 11"/>
          <p:cNvSpPr/>
          <p:nvPr/>
        </p:nvSpPr>
        <p:spPr>
          <a:xfrm>
            <a:off x="2800000" y="1700000"/>
            <a:ext cx="1800000" cy="800000"/>
          </a:xfrm>
          <a:prstGeom prst="roundRect">
            <a:avLst/>
          </a:prstGeom>
          <a:solidFill>
            <a:srgbClr val="FFF3DF"/>
          </a:solidFill>
          <a:ln w="12700">
            <a:solidFill>
              <a:srgbClr val="BFC8D4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500" b="1" dirty="0">
                <a:solidFill>
                  <a:srgbClr val="1C2430"/>
                </a:solidFill>
                <a:latin typeface="Noto Sans CJK JP"/>
                <a:ea typeface="Noto Sans CJK JP"/>
              </a:rPr>
              <a:t>比較・照査</a:t>
            </a:r>
            <a:endParaRPr lang="ja-JP" sz="1500"/>
          </a:p>
        </p:txBody>
      </p:sp>
      <p:sp>
        <p:nvSpPr>
          <p:cNvPr id="12" name="Shape 12"/>
          <p:cNvSpPr/>
          <p:nvPr/>
        </p:nvSpPr>
        <p:spPr>
          <a:xfrm>
            <a:off x="5000000" y="1700000"/>
            <a:ext cx="1800000" cy="800000"/>
          </a:xfrm>
          <a:prstGeom prst="roundRect">
            <a:avLst/>
          </a:prstGeom>
          <a:solidFill>
            <a:srgbClr val="FFEAEA"/>
          </a:solidFill>
          <a:ln w="12700">
            <a:solidFill>
              <a:srgbClr val="BFC8D4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500" b="1" dirty="0">
                <a:solidFill>
                  <a:srgbClr val="1C2430"/>
                </a:solidFill>
                <a:latin typeface="Noto Sans CJK JP"/>
                <a:ea typeface="Noto Sans CJK JP"/>
              </a:rPr>
              <a:t>ブレーキ指令</a:t>
            </a:r>
            <a:endParaRPr lang="ja-JP" sz="1500"/>
          </a:p>
        </p:txBody>
      </p:sp>
      <p:sp>
        <p:nvSpPr>
          <p:cNvPr id="13" name="Shape 13"/>
          <p:cNvSpPr/>
          <p:nvPr/>
        </p:nvSpPr>
        <p:spPr>
          <a:xfrm>
            <a:off x="7200000" y="1700000"/>
            <a:ext cx="1800000" cy="800000"/>
          </a:xfrm>
          <a:prstGeom prst="roundRect">
            <a:avLst/>
          </a:prstGeom>
          <a:solidFill>
            <a:srgbClr val="EAF6F0"/>
          </a:solidFill>
          <a:ln w="12700">
            <a:solidFill>
              <a:srgbClr val="BFC8D4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500" b="1" dirty="0">
                <a:solidFill>
                  <a:srgbClr val="1C2430"/>
                </a:solidFill>
                <a:latin typeface="Noto Sans CJK JP"/>
                <a:ea typeface="Noto Sans CJK JP"/>
              </a:rPr>
              <a:t>列車速度</a:t>
            </a:r>
            <a:endParaRPr lang="ja-JP" sz="1500"/>
          </a:p>
        </p:txBody>
      </p:sp>
      <p:sp>
        <p:nvSpPr>
          <p:cNvPr id="14" name="Shape 14"/>
          <p:cNvSpPr/>
          <p:nvPr/>
        </p:nvSpPr>
        <p:spPr>
          <a:xfrm>
            <a:off x="9400000" y="1700000"/>
            <a:ext cx="1800000" cy="800000"/>
          </a:xfrm>
          <a:prstGeom prst="roundRect">
            <a:avLst/>
          </a:prstGeom>
          <a:solidFill>
            <a:srgbClr val="E8F7F8"/>
          </a:solidFill>
          <a:ln w="12700">
            <a:solidFill>
              <a:srgbClr val="BFC8D4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500" b="1" dirty="0">
                <a:solidFill>
                  <a:srgbClr val="1C2430"/>
                </a:solidFill>
                <a:latin typeface="Noto Sans CJK JP"/>
                <a:ea typeface="Noto Sans CJK JP"/>
              </a:rPr>
              <a:t>速度検出</a:t>
            </a:r>
            <a:endParaRPr lang="ja-JP" sz="1500"/>
          </a:p>
        </p:txBody>
      </p:sp>
      <p:sp>
        <p:nvSpPr>
          <p:cNvPr id="15" name="Text 15"/>
          <p:cNvSpPr txBox="1"/>
          <p:nvPr/>
        </p:nvSpPr>
        <p:spPr>
          <a:xfrm>
            <a:off x="2350000" y="1850000"/>
            <a:ext cx="400000" cy="3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tr"/>
            <a:r>
              <a:rPr lang="ja-JP" sz="2200" b="1" dirty="0">
                <a:solidFill>
                  <a:srgbClr val="2F6FED"/>
                </a:solidFill>
                <a:latin typeface="Noto Sans CJK JP"/>
                <a:ea typeface="Noto Sans CJK JP"/>
              </a:rPr>
              <a:t>→</a:t>
            </a:r>
            <a:endParaRPr lang="ja-JP" sz="2200"/>
          </a:p>
        </p:txBody>
      </p:sp>
      <p:sp>
        <p:nvSpPr>
          <p:cNvPr id="16" name="Text 16"/>
          <p:cNvSpPr txBox="1"/>
          <p:nvPr/>
        </p:nvSpPr>
        <p:spPr>
          <a:xfrm>
            <a:off x="4550000" y="1850000"/>
            <a:ext cx="400000" cy="3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tr"/>
            <a:r>
              <a:rPr lang="ja-JP" sz="2200" b="1" dirty="0">
                <a:solidFill>
                  <a:srgbClr val="2F6FED"/>
                </a:solidFill>
                <a:latin typeface="Noto Sans CJK JP"/>
                <a:ea typeface="Noto Sans CJK JP"/>
              </a:rPr>
              <a:t>→</a:t>
            </a:r>
            <a:endParaRPr lang="ja-JP" sz="2200"/>
          </a:p>
        </p:txBody>
      </p:sp>
      <p:sp>
        <p:nvSpPr>
          <p:cNvPr id="17" name="Text 17"/>
          <p:cNvSpPr txBox="1"/>
          <p:nvPr/>
        </p:nvSpPr>
        <p:spPr>
          <a:xfrm>
            <a:off x="6750000" y="1850000"/>
            <a:ext cx="400000" cy="3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tr"/>
            <a:r>
              <a:rPr lang="ja-JP" sz="2200" b="1" dirty="0">
                <a:solidFill>
                  <a:srgbClr val="2F6FED"/>
                </a:solidFill>
                <a:latin typeface="Noto Sans CJK JP"/>
                <a:ea typeface="Noto Sans CJK JP"/>
              </a:rPr>
              <a:t>→</a:t>
            </a:r>
            <a:endParaRPr lang="ja-JP" sz="2200"/>
          </a:p>
        </p:txBody>
      </p:sp>
      <p:sp>
        <p:nvSpPr>
          <p:cNvPr id="18" name="Text 18"/>
          <p:cNvSpPr txBox="1"/>
          <p:nvPr/>
        </p:nvSpPr>
        <p:spPr>
          <a:xfrm>
            <a:off x="8950000" y="1850000"/>
            <a:ext cx="400000" cy="3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tr"/>
            <a:r>
              <a:rPr lang="ja-JP" sz="2200" b="1" dirty="0">
                <a:solidFill>
                  <a:srgbClr val="2F6FED"/>
                </a:solidFill>
                <a:latin typeface="Noto Sans CJK JP"/>
                <a:ea typeface="Noto Sans CJK JP"/>
              </a:rPr>
              <a:t>→</a:t>
            </a:r>
            <a:endParaRPr lang="ja-JP" sz="2200"/>
          </a:p>
        </p:txBody>
      </p:sp>
      <p:sp>
        <p:nvSpPr>
          <p:cNvPr id="19" name="Text 19"/>
          <p:cNvSpPr txBox="1"/>
          <p:nvPr/>
        </p:nvSpPr>
        <p:spPr>
          <a:xfrm>
            <a:off x="3300000" y="2850000"/>
            <a:ext cx="6200000" cy="4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tr"/>
            <a:r>
              <a:rPr lang="ja-JP" sz="1500" b="1" dirty="0">
                <a:solidFill>
                  <a:srgbClr val="19A0AA"/>
                </a:solidFill>
                <a:latin typeface="Noto Sans CJK JP"/>
                <a:ea typeface="Noto Sans CJK JP"/>
              </a:rPr>
              <a:t>検出値を比較・照査へ戻す ＝ 負帰還</a:t>
            </a:r>
            <a:endParaRPr lang="ja-JP" sz="1500"/>
          </a:p>
        </p:txBody>
      </p:sp>
      <p:sp>
        <p:nvSpPr>
          <p:cNvPr id="20" name="Shape 20"/>
          <p:cNvSpPr/>
          <p:nvPr/>
        </p:nvSpPr>
        <p:spPr>
          <a:xfrm>
            <a:off x="850000" y="3900000"/>
            <a:ext cx="5000000" cy="10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300" b="1" dirty="0">
                <a:solidFill>
                  <a:srgbClr val="1C2430"/>
                </a:solidFill>
                <a:latin typeface="Noto Sans CJK JP"/>
                <a:ea typeface="Noto Sans CJK JP"/>
              </a:rPr>
              <a:t>速度信号方式：列車速度が速度信号を超える場合に自動ブレーキ</a:t>
            </a:r>
            <a:endParaRPr lang="ja-JP" sz="1300"/>
          </a:p>
          <a:p>
            <a:pPr algn="ctr"/>
            <a:r>
              <a:rPr lang="ja-JP" sz="1300" b="1" dirty="0">
                <a:solidFill>
                  <a:srgbClr val="1C2430"/>
                </a:solidFill>
                <a:latin typeface="Noto Sans CJK JP"/>
                <a:ea typeface="Noto Sans CJK JP"/>
              </a:rPr>
              <a:t>新しい方式：先行列車位置情報と停止パターンで速度制御</a:t>
            </a:r>
            <a:endParaRPr lang="ja-JP" sz="1300"/>
          </a:p>
        </p:txBody>
      </p:sp>
      <p:sp>
        <p:nvSpPr>
          <p:cNvPr id="21" name="Shape 21"/>
          <p:cNvSpPr/>
          <p:nvPr/>
        </p:nvSpPr>
        <p:spPr>
          <a:xfrm>
            <a:off x="6500000" y="3900000"/>
            <a:ext cx="5000000" cy="1000000"/>
          </a:xfrm>
          <a:prstGeom prst="roundRect">
            <a:avLst/>
          </a:prstGeom>
          <a:solidFill>
            <a:srgbClr val="FFEAEA"/>
          </a:solidFill>
          <a:ln w="12700">
            <a:solidFill>
              <a:srgbClr val="E3AFA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300" b="1" dirty="0">
                <a:solidFill>
                  <a:srgbClr val="B44A4A"/>
                </a:solidFill>
                <a:latin typeface="Noto Sans CJK JP"/>
                <a:ea typeface="Noto Sans CJK JP"/>
              </a:rPr>
              <a:t>範囲境界</a:t>
            </a:r>
            <a:endParaRPr lang="ja-JP" sz="1300"/>
          </a:p>
          <a:p>
            <a:pPr algn="ctr"/>
            <a:r>
              <a:rPr lang="ja-JP" sz="1300" b="1" dirty="0">
                <a:solidFill>
                  <a:srgbClr val="B44A4A"/>
                </a:solidFill>
                <a:latin typeface="Noto Sans CJK JP"/>
                <a:ea typeface="Noto Sans CJK JP"/>
              </a:rPr>
              <a:t>内部回路・照査しきい値・減速度・応答時間は推定しない</a:t>
            </a:r>
            <a:endParaRPr lang="ja-JP" sz="1300"/>
          </a:p>
        </p:txBody>
      </p:sp>
      <p:sp>
        <p:nvSpPr>
          <p:cNvPr id="90" name="Text 90"/>
          <p:cNvSpPr txBox="1"/>
          <p:nvPr/>
        </p:nvSpPr>
        <p:spPr>
          <a:xfrm>
            <a:off x="500000" y="6250000"/>
            <a:ext cx="112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850" b="0" dirty="0">
                <a:solidFill>
                  <a:srgbClr val="697386"/>
                </a:solidFill>
                <a:latin typeface="Noto Sans CJK JP"/>
                <a:ea typeface="Noto Sans CJK JP"/>
              </a:rPr>
              <a:t>根拠：JRTT「信号」／電気技術者試験センター 第三種過去問（R8上・R7下・R6上/下）</a:t>
            </a:r>
            <a:endParaRPr lang="ja-JP" sz="8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0000" y="25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2600" b="1" dirty="0">
                <a:solidFill>
                  <a:srgbClr val="223047"/>
                </a:solidFill>
                <a:latin typeface="Noto Sans CJK JP"/>
                <a:ea typeface="Noto Sans CJK JP"/>
              </a:rPr>
              <a:t>負帰還とブロック線図</a:t>
            </a:r>
            <a:endParaRPr lang="ja-JP" sz="2600"/>
          </a:p>
        </p:txBody>
      </p:sp>
      <p:sp>
        <p:nvSpPr>
          <p:cNvPr id="3" name="Text 3"/>
          <p:cNvSpPr txBox="1"/>
          <p:nvPr/>
        </p:nvSpPr>
        <p:spPr>
          <a:xfrm>
            <a:off x="520000" y="850000"/>
            <a:ext cx="11200000" cy="3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1200" b="0" dirty="0">
                <a:solidFill>
                  <a:srgbClr val="697386"/>
                </a:solidFill>
                <a:latin typeface="Noto Sans CJK JP"/>
                <a:ea typeface="Noto Sans CJK JP"/>
              </a:rPr>
              <a:t>R8上 機械 問13：内部信号を書いて C/R を導出する</a:t>
            </a:r>
            <a:endParaRPr lang="ja-JP" sz="1200"/>
          </a:p>
        </p:txBody>
      </p:sp>
      <p:sp>
        <p:nvSpPr>
          <p:cNvPr id="10" name="Shape 10"/>
          <p:cNvSpPr/>
          <p:nvPr/>
        </p:nvSpPr>
        <p:spPr>
          <a:xfrm>
            <a:off x="600000" y="1700000"/>
            <a:ext cx="4800000" cy="100000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AFC2F1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600" b="1" dirty="0">
                <a:solidFill>
                  <a:srgbClr val="1C2430"/>
                </a:solidFill>
                <a:latin typeface="Noto Sans CJK JP"/>
                <a:ea typeface="Noto Sans CJK JP"/>
              </a:rPr>
              <a:t>負帰還の基本</a:t>
            </a:r>
            <a:endParaRPr lang="ja-JP" sz="1600"/>
          </a:p>
          <a:p>
            <a:pPr algn="ctr"/>
            <a:r>
              <a:rPr lang="ja-JP" sz="1600" b="1" dirty="0">
                <a:solidFill>
                  <a:srgbClr val="1C2430"/>
                </a:solidFill>
                <a:latin typeface="Noto Sans CJK JP"/>
                <a:ea typeface="Noto Sans CJK JP"/>
              </a:rPr>
              <a:t>E = R − HC　　C = GE</a:t>
            </a:r>
            <a:endParaRPr lang="ja-JP" sz="1600"/>
          </a:p>
          <a:p>
            <a:pPr algn="ctr"/>
            <a:r>
              <a:rPr lang="ja-JP" sz="1600" b="1" dirty="0">
                <a:solidFill>
                  <a:srgbClr val="1C2430"/>
                </a:solidFill>
                <a:latin typeface="Noto Sans CJK JP"/>
                <a:ea typeface="Noto Sans CJK JP"/>
              </a:rPr>
              <a:t>C/R = G/(1+GH)</a:t>
            </a:r>
            <a:endParaRPr lang="ja-JP" sz="1600"/>
          </a:p>
        </p:txBody>
      </p:sp>
      <p:sp>
        <p:nvSpPr>
          <p:cNvPr id="11" name="Shape 11"/>
          <p:cNvSpPr/>
          <p:nvPr/>
        </p:nvSpPr>
        <p:spPr>
          <a:xfrm>
            <a:off x="5900000" y="1700000"/>
            <a:ext cx="5600000" cy="10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500" b="1" dirty="0">
                <a:solidFill>
                  <a:srgbClr val="1C2430"/>
                </a:solidFill>
                <a:latin typeface="Noto Sans CJK JP"/>
                <a:ea typeface="Noto Sans CJK JP"/>
              </a:rPr>
              <a:t>固定過去問型</a:t>
            </a:r>
            <a:endParaRPr lang="ja-JP" sz="1500"/>
          </a:p>
          <a:p>
            <a:pPr algn="ctr"/>
            <a:r>
              <a:rPr lang="ja-JP" sz="1500" b="1" dirty="0">
                <a:solidFill>
                  <a:srgbClr val="1C2430"/>
                </a:solidFill>
                <a:latin typeface="Noto Sans CJK JP"/>
                <a:ea typeface="Noto Sans CJK JP"/>
              </a:rPr>
              <a:t>e = R − x　　x = e/(jωT₂)</a:t>
            </a:r>
            <a:endParaRPr lang="ja-JP" sz="1500"/>
          </a:p>
          <a:p>
            <a:pPr algn="ctr"/>
            <a:r>
              <a:rPr lang="ja-JP" sz="1500" b="1" dirty="0">
                <a:solidFill>
                  <a:srgbClr val="1C2430"/>
                </a:solidFill>
                <a:latin typeface="Noto Sans CJK JP"/>
                <a:ea typeface="Noto Sans CJK JP"/>
              </a:rPr>
              <a:t>C = x + (T₁/T₂)e</a:t>
            </a:r>
            <a:endParaRPr lang="ja-JP" sz="1500"/>
          </a:p>
        </p:txBody>
      </p:sp>
      <p:sp>
        <p:nvSpPr>
          <p:cNvPr id="12" name="Shape 12"/>
          <p:cNvSpPr/>
          <p:nvPr/>
        </p:nvSpPr>
        <p:spPr>
          <a:xfrm>
            <a:off x="5900000" y="3150000"/>
            <a:ext cx="2500000" cy="9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250" b="1" dirty="0">
                <a:solidFill>
                  <a:srgbClr val="1C2430"/>
                </a:solidFill>
                <a:latin typeface="Noto Sans CJK JP"/>
                <a:ea typeface="Noto Sans CJK JP"/>
              </a:rPr>
              <a:t>① 連立</a:t>
            </a:r>
            <a:endParaRPr lang="ja-JP" sz="1250"/>
          </a:p>
          <a:p>
            <a:pPr algn="ctr"/>
            <a:r>
              <a:rPr lang="ja-JP" sz="1250" b="1" dirty="0">
                <a:solidFill>
                  <a:srgbClr val="1C2430"/>
                </a:solidFill>
                <a:latin typeface="Noto Sans CJK JP"/>
                <a:ea typeface="Noto Sans CJK JP"/>
              </a:rPr>
              <a:t>e/R = jωT₂/(1+jωT₂)</a:t>
            </a:r>
            <a:endParaRPr lang="ja-JP" sz="1250"/>
          </a:p>
          <a:p>
            <a:pPr algn="ctr"/>
            <a:r>
              <a:rPr lang="ja-JP" sz="1250" b="1" dirty="0">
                <a:solidFill>
                  <a:srgbClr val="1C2430"/>
                </a:solidFill>
                <a:latin typeface="Noto Sans CJK JP"/>
                <a:ea typeface="Noto Sans CJK JP"/>
              </a:rPr>
              <a:t>x/R = 1/(1+jωT₂)</a:t>
            </a:r>
            <a:endParaRPr lang="ja-JP" sz="1250"/>
          </a:p>
        </p:txBody>
      </p:sp>
      <p:sp>
        <p:nvSpPr>
          <p:cNvPr id="13" name="Text 13"/>
          <p:cNvSpPr txBox="1"/>
          <p:nvPr/>
        </p:nvSpPr>
        <p:spPr>
          <a:xfrm>
            <a:off x="8450000" y="3350000"/>
            <a:ext cx="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tr"/>
            <a:r>
              <a:rPr lang="ja-JP" sz="2200" b="1" dirty="0">
                <a:solidFill>
                  <a:srgbClr val="2F6FED"/>
                </a:solidFill>
                <a:latin typeface="Noto Sans CJK JP"/>
                <a:ea typeface="Noto Sans CJK JP"/>
              </a:rPr>
              <a:t>→</a:t>
            </a:r>
            <a:endParaRPr lang="ja-JP" sz="2200"/>
          </a:p>
        </p:txBody>
      </p:sp>
      <p:sp>
        <p:nvSpPr>
          <p:cNvPr id="14" name="Shape 14"/>
          <p:cNvSpPr/>
          <p:nvPr/>
        </p:nvSpPr>
        <p:spPr>
          <a:xfrm>
            <a:off x="9000000" y="3150000"/>
            <a:ext cx="2500000" cy="90000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AFC2F1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350" b="1" dirty="0">
                <a:solidFill>
                  <a:srgbClr val="1C2430"/>
                </a:solidFill>
                <a:latin typeface="Noto Sans CJK JP"/>
                <a:ea typeface="Noto Sans CJK JP"/>
              </a:rPr>
              <a:t>② 代入</a:t>
            </a:r>
            <a:endParaRPr lang="ja-JP" sz="1350"/>
          </a:p>
          <a:p>
            <a:pPr algn="ctr"/>
            <a:r>
              <a:rPr lang="ja-JP" sz="1350" b="1" dirty="0">
                <a:solidFill>
                  <a:srgbClr val="1C2430"/>
                </a:solidFill>
                <a:latin typeface="Noto Sans CJK JP"/>
                <a:ea typeface="Noto Sans CJK JP"/>
              </a:rPr>
              <a:t>C/R = (1+jωT₁)/(1+jωT₂)</a:t>
            </a:r>
            <a:endParaRPr lang="ja-JP" sz="1350"/>
          </a:p>
        </p:txBody>
      </p:sp>
      <p:sp>
        <p:nvSpPr>
          <p:cNvPr id="15" name="Shape 15"/>
          <p:cNvSpPr/>
          <p:nvPr/>
        </p:nvSpPr>
        <p:spPr>
          <a:xfrm>
            <a:off x="1300000" y="4550000"/>
            <a:ext cx="9200000" cy="700000"/>
          </a:xfrm>
          <a:prstGeom prst="roundRect">
            <a:avLst/>
          </a:prstGeom>
          <a:solidFill>
            <a:srgbClr val="FFF3DF"/>
          </a:solidFill>
          <a:ln w="12700">
            <a:solidFill>
              <a:srgbClr val="E4C38D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450" b="1" dirty="0">
                <a:solidFill>
                  <a:srgbClr val="B44A4A"/>
                </a:solidFill>
                <a:latin typeface="Noto Sans CJK JP"/>
                <a:ea typeface="Noto Sans CJK JP"/>
              </a:rPr>
              <a:t>試験手順：図を暗算しない → 内部信号を置く → 加え合わせ点の符号を式にする</a:t>
            </a:r>
            <a:endParaRPr lang="ja-JP" sz="1450"/>
          </a:p>
        </p:txBody>
      </p:sp>
      <p:sp>
        <p:nvSpPr>
          <p:cNvPr id="90" name="Text 90"/>
          <p:cNvSpPr txBox="1"/>
          <p:nvPr/>
        </p:nvSpPr>
        <p:spPr>
          <a:xfrm>
            <a:off x="500000" y="6250000"/>
            <a:ext cx="112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850" b="0" dirty="0">
                <a:solidFill>
                  <a:srgbClr val="697386"/>
                </a:solidFill>
                <a:latin typeface="Noto Sans CJK JP"/>
                <a:ea typeface="Noto Sans CJK JP"/>
              </a:rPr>
              <a:t>根拠：R8上 機械 問13／Topic 32 source §3〜§5・§12・§14</a:t>
            </a:r>
            <a:endParaRPr lang="ja-JP" sz="8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0000" y="25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2600" b="1" dirty="0">
                <a:solidFill>
                  <a:srgbClr val="223047"/>
                </a:solidFill>
                <a:latin typeface="Noto Sans CJK JP"/>
                <a:ea typeface="Noto Sans CJK JP"/>
              </a:rPr>
              <a:t>一次遅れの周波数応答とP・I・D</a:t>
            </a:r>
            <a:endParaRPr lang="ja-JP" sz="2600"/>
          </a:p>
        </p:txBody>
      </p:sp>
      <p:sp>
        <p:nvSpPr>
          <p:cNvPr id="3" name="Text 3"/>
          <p:cNvSpPr txBox="1"/>
          <p:nvPr/>
        </p:nvSpPr>
        <p:spPr>
          <a:xfrm>
            <a:off x="520000" y="850000"/>
            <a:ext cx="11200000" cy="3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1200" b="0" dirty="0">
                <a:solidFill>
                  <a:srgbClr val="697386"/>
                </a:solidFill>
                <a:latin typeface="Noto Sans CJK JP"/>
                <a:ea typeface="Noto Sans CJK JP"/>
              </a:rPr>
              <a:t>R7下 機械 問18(a)(b)／R6下 機械 問13</a:t>
            </a:r>
            <a:endParaRPr lang="ja-JP" sz="1200"/>
          </a:p>
        </p:txBody>
      </p:sp>
      <p:sp>
        <p:nvSpPr>
          <p:cNvPr id="10" name="Shape 10"/>
          <p:cNvSpPr/>
          <p:nvPr/>
        </p:nvSpPr>
        <p:spPr>
          <a:xfrm>
            <a:off x="600000" y="1650000"/>
            <a:ext cx="5000000" cy="11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450" b="1" dirty="0">
                <a:solidFill>
                  <a:srgbClr val="1C2430"/>
                </a:solidFill>
                <a:latin typeface="Noto Sans CJK JP"/>
                <a:ea typeface="Noto Sans CJK JP"/>
              </a:rPr>
              <a:t>一次遅れ</a:t>
            </a:r>
            <a:endParaRPr lang="ja-JP" sz="1450"/>
          </a:p>
          <a:p>
            <a:pPr algn="ctr"/>
            <a:r>
              <a:rPr lang="ja-JP" sz="1450" b="1" dirty="0">
                <a:solidFill>
                  <a:srgbClr val="1C2430"/>
                </a:solidFill>
                <a:latin typeface="Noto Sans CJK JP"/>
                <a:ea typeface="Noto Sans CJK JP"/>
              </a:rPr>
              <a:t>W(jω)=K/(1+jωT)</a:t>
            </a:r>
            <a:endParaRPr lang="ja-JP" sz="1450"/>
          </a:p>
          <a:p>
            <a:pPr algn="ctr"/>
            <a:r>
              <a:rPr lang="ja-JP" sz="1450" b="1" dirty="0">
                <a:solidFill>
                  <a:srgbClr val="1C2430"/>
                </a:solidFill>
                <a:latin typeface="Noto Sans CJK JP"/>
                <a:ea typeface="Noto Sans CJK JP"/>
              </a:rPr>
              <a:t>低周波利得 = 20log₁₀K [dB]</a:t>
            </a:r>
            <a:endParaRPr lang="ja-JP" sz="1450"/>
          </a:p>
          <a:p>
            <a:pPr algn="ctr"/>
            <a:r>
              <a:rPr lang="ja-JP" sz="1450" b="1" dirty="0">
                <a:solidFill>
                  <a:srgbClr val="1C2430"/>
                </a:solidFill>
                <a:latin typeface="Noto Sans CJK JP"/>
                <a:ea typeface="Noto Sans CJK JP"/>
              </a:rPr>
              <a:t>折点 ωc=1/T、以後 −20 dB/dec</a:t>
            </a:r>
            <a:endParaRPr lang="ja-JP" sz="1450"/>
          </a:p>
        </p:txBody>
      </p:sp>
      <p:sp>
        <p:nvSpPr>
          <p:cNvPr id="11" name="Shape 11"/>
          <p:cNvSpPr/>
          <p:nvPr/>
        </p:nvSpPr>
        <p:spPr>
          <a:xfrm>
            <a:off x="600000" y="3150000"/>
            <a:ext cx="5000000" cy="80000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AFC2F1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450" b="1" dirty="0">
                <a:solidFill>
                  <a:srgbClr val="1C2430"/>
                </a:solidFill>
                <a:latin typeface="Noto Sans CJK JP"/>
                <a:ea typeface="Noto Sans CJK JP"/>
              </a:rPr>
              <a:t>例：K=10, T=0.2 s</a:t>
            </a:r>
            <a:endParaRPr lang="ja-JP" sz="1450"/>
          </a:p>
          <a:p>
            <a:pPr algn="ctr"/>
            <a:r>
              <a:rPr lang="ja-JP" sz="1450" b="1" dirty="0">
                <a:solidFill>
                  <a:srgbClr val="1C2430"/>
                </a:solidFill>
                <a:latin typeface="Noto Sans CJK JP"/>
                <a:ea typeface="Noto Sans CJK JP"/>
              </a:rPr>
              <a:t>→ 低周波利得 20 dB、折点 5 rad/s</a:t>
            </a:r>
            <a:endParaRPr lang="ja-JP" sz="1450"/>
          </a:p>
        </p:txBody>
      </p:sp>
      <p:sp>
        <p:nvSpPr>
          <p:cNvPr id="12" name="Shape 12"/>
          <p:cNvSpPr/>
          <p:nvPr/>
        </p:nvSpPr>
        <p:spPr>
          <a:xfrm>
            <a:off x="6300000" y="1650000"/>
            <a:ext cx="900000" cy="700000"/>
          </a:xfrm>
          <a:prstGeom prst="roundRect">
            <a:avLst/>
          </a:prstGeom>
          <a:solidFill>
            <a:srgbClr val="E9EDF3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800" b="1" dirty="0">
                <a:solidFill>
                  <a:srgbClr val="1C2430"/>
                </a:solidFill>
                <a:latin typeface="Noto Sans CJK JP"/>
                <a:ea typeface="Noto Sans CJK JP"/>
              </a:rPr>
              <a:t>P</a:t>
            </a:r>
            <a:endParaRPr lang="ja-JP" sz="1800"/>
          </a:p>
        </p:txBody>
      </p:sp>
      <p:sp>
        <p:nvSpPr>
          <p:cNvPr id="13" name="Shape 13"/>
          <p:cNvSpPr/>
          <p:nvPr/>
        </p:nvSpPr>
        <p:spPr>
          <a:xfrm>
            <a:off x="7300000" y="1650000"/>
            <a:ext cx="1900000" cy="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250" b="1" dirty="0">
                <a:solidFill>
                  <a:srgbClr val="1C2430"/>
                </a:solidFill>
                <a:latin typeface="Noto Sans CJK JP"/>
                <a:ea typeface="Noto Sans CJK JP"/>
              </a:rPr>
              <a:t>現在の偏差</a:t>
            </a:r>
            <a:endParaRPr lang="ja-JP" sz="1250"/>
          </a:p>
        </p:txBody>
      </p:sp>
      <p:sp>
        <p:nvSpPr>
          <p:cNvPr id="14" name="Shape 14"/>
          <p:cNvSpPr/>
          <p:nvPr/>
        </p:nvSpPr>
        <p:spPr>
          <a:xfrm>
            <a:off x="9300000" y="1650000"/>
            <a:ext cx="2400000" cy="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200" b="1" dirty="0">
                <a:solidFill>
                  <a:srgbClr val="1C2430"/>
                </a:solidFill>
                <a:latin typeface="Noto Sans CJK JP"/>
                <a:ea typeface="Noto Sans CJK JP"/>
              </a:rPr>
              <a:t>定常・過渡の両方へ影響</a:t>
            </a:r>
            <a:endParaRPr lang="ja-JP" sz="1200"/>
          </a:p>
        </p:txBody>
      </p:sp>
      <p:sp>
        <p:nvSpPr>
          <p:cNvPr id="15" name="Shape 15"/>
          <p:cNvSpPr/>
          <p:nvPr/>
        </p:nvSpPr>
        <p:spPr>
          <a:xfrm>
            <a:off x="6300000" y="2600000"/>
            <a:ext cx="900000" cy="700000"/>
          </a:xfrm>
          <a:prstGeom prst="roundRect">
            <a:avLst/>
          </a:prstGeom>
          <a:solidFill>
            <a:srgbClr val="E9EDF3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800" b="1" dirty="0">
                <a:solidFill>
                  <a:srgbClr val="1C2430"/>
                </a:solidFill>
                <a:latin typeface="Noto Sans CJK JP"/>
                <a:ea typeface="Noto Sans CJK JP"/>
              </a:rPr>
              <a:t>I</a:t>
            </a:r>
            <a:endParaRPr lang="ja-JP" sz="1800"/>
          </a:p>
        </p:txBody>
      </p:sp>
      <p:sp>
        <p:nvSpPr>
          <p:cNvPr id="16" name="Shape 16"/>
          <p:cNvSpPr/>
          <p:nvPr/>
        </p:nvSpPr>
        <p:spPr>
          <a:xfrm>
            <a:off x="7300000" y="2600000"/>
            <a:ext cx="1900000" cy="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250" b="1" dirty="0">
                <a:solidFill>
                  <a:srgbClr val="1C2430"/>
                </a:solidFill>
                <a:latin typeface="Noto Sans CJK JP"/>
                <a:ea typeface="Noto Sans CJK JP"/>
              </a:rPr>
              <a:t>偏差の積分</a:t>
            </a:r>
            <a:endParaRPr lang="ja-JP" sz="1250"/>
          </a:p>
        </p:txBody>
      </p:sp>
      <p:sp>
        <p:nvSpPr>
          <p:cNvPr id="17" name="Shape 17"/>
          <p:cNvSpPr/>
          <p:nvPr/>
        </p:nvSpPr>
        <p:spPr>
          <a:xfrm>
            <a:off x="9300000" y="2600000"/>
            <a:ext cx="2400000" cy="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200" b="1" dirty="0">
                <a:solidFill>
                  <a:srgbClr val="1C2430"/>
                </a:solidFill>
                <a:latin typeface="Noto Sans CJK JP"/>
                <a:ea typeface="Noto Sans CJK JP"/>
              </a:rPr>
              <a:t>定常特性を改善</a:t>
            </a:r>
            <a:endParaRPr lang="ja-JP" sz="1200"/>
          </a:p>
        </p:txBody>
      </p:sp>
      <p:sp>
        <p:nvSpPr>
          <p:cNvPr id="18" name="Shape 18"/>
          <p:cNvSpPr/>
          <p:nvPr/>
        </p:nvSpPr>
        <p:spPr>
          <a:xfrm>
            <a:off x="6300000" y="3550000"/>
            <a:ext cx="900000" cy="700000"/>
          </a:xfrm>
          <a:prstGeom prst="roundRect">
            <a:avLst/>
          </a:prstGeom>
          <a:solidFill>
            <a:srgbClr val="E9EDF3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800" b="1" dirty="0">
                <a:solidFill>
                  <a:srgbClr val="1C2430"/>
                </a:solidFill>
                <a:latin typeface="Noto Sans CJK JP"/>
                <a:ea typeface="Noto Sans CJK JP"/>
              </a:rPr>
              <a:t>D</a:t>
            </a:r>
            <a:endParaRPr lang="ja-JP" sz="1800"/>
          </a:p>
        </p:txBody>
      </p:sp>
      <p:sp>
        <p:nvSpPr>
          <p:cNvPr id="19" name="Shape 19"/>
          <p:cNvSpPr/>
          <p:nvPr/>
        </p:nvSpPr>
        <p:spPr>
          <a:xfrm>
            <a:off x="7300000" y="3550000"/>
            <a:ext cx="1900000" cy="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250" b="1" dirty="0">
                <a:solidFill>
                  <a:srgbClr val="1C2430"/>
                </a:solidFill>
                <a:latin typeface="Noto Sans CJK JP"/>
                <a:ea typeface="Noto Sans CJK JP"/>
              </a:rPr>
              <a:t>偏差の変化速度</a:t>
            </a:r>
            <a:endParaRPr lang="ja-JP" sz="1250"/>
          </a:p>
        </p:txBody>
      </p:sp>
      <p:sp>
        <p:nvSpPr>
          <p:cNvPr id="20" name="Shape 20"/>
          <p:cNvSpPr/>
          <p:nvPr/>
        </p:nvSpPr>
        <p:spPr>
          <a:xfrm>
            <a:off x="9300000" y="3550000"/>
            <a:ext cx="2400000" cy="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200" b="1" dirty="0">
                <a:solidFill>
                  <a:srgbClr val="1C2430"/>
                </a:solidFill>
                <a:latin typeface="Noto Sans CJK JP"/>
                <a:ea typeface="Noto Sans CJK JP"/>
              </a:rPr>
              <a:t>過渡特性を改善</a:t>
            </a:r>
            <a:endParaRPr lang="ja-JP" sz="1200"/>
          </a:p>
        </p:txBody>
      </p:sp>
      <p:sp>
        <p:nvSpPr>
          <p:cNvPr id="21" name="Shape 21"/>
          <p:cNvSpPr/>
          <p:nvPr/>
        </p:nvSpPr>
        <p:spPr>
          <a:xfrm>
            <a:off x="6500000" y="4750000"/>
            <a:ext cx="5200000" cy="700000"/>
          </a:xfrm>
          <a:prstGeom prst="roundRect">
            <a:avLst/>
          </a:prstGeom>
          <a:solidFill>
            <a:srgbClr val="FFF3DF"/>
          </a:solidFill>
          <a:ln w="12700">
            <a:solidFill>
              <a:srgbClr val="E4C38D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300" b="1" dirty="0">
                <a:solidFill>
                  <a:srgbClr val="B44A4A"/>
                </a:solidFill>
                <a:latin typeface="Noto Sans CJK JP"/>
                <a:ea typeface="Noto Sans CJK JP"/>
              </a:rPr>
              <a:t>覚え方：I＝定常、D＝過渡。実車ATCのPID定数は推定しない。</a:t>
            </a:r>
            <a:endParaRPr lang="ja-JP" sz="1300"/>
          </a:p>
        </p:txBody>
      </p:sp>
      <p:sp>
        <p:nvSpPr>
          <p:cNvPr id="90" name="Text 90"/>
          <p:cNvSpPr txBox="1"/>
          <p:nvPr/>
        </p:nvSpPr>
        <p:spPr>
          <a:xfrm>
            <a:off x="500000" y="6250000"/>
            <a:ext cx="112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850" b="0" dirty="0">
                <a:solidFill>
                  <a:srgbClr val="697386"/>
                </a:solidFill>
                <a:latin typeface="Noto Sans CJK JP"/>
                <a:ea typeface="Noto Sans CJK JP"/>
              </a:rPr>
              <a:t>根拠：R7下 機械 問18(a)(b)、R6下 機械 問13／Topic 32 source §6・§7・§12・§13</a:t>
            </a:r>
            <a:endParaRPr lang="ja-JP" sz="8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0000" y="25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2600" b="1" dirty="0">
                <a:solidFill>
                  <a:srgbClr val="223047"/>
                </a:solidFill>
                <a:latin typeface="Noto Sans CJK JP"/>
                <a:ea typeface="Noto Sans CJK JP"/>
              </a:rPr>
              <a:t>論理判断と安全側制御</a:t>
            </a:r>
            <a:endParaRPr lang="ja-JP" sz="2600"/>
          </a:p>
        </p:txBody>
      </p:sp>
      <p:sp>
        <p:nvSpPr>
          <p:cNvPr id="3" name="Text 3"/>
          <p:cNvSpPr txBox="1"/>
          <p:nvPr/>
        </p:nvSpPr>
        <p:spPr>
          <a:xfrm>
            <a:off x="520000" y="850000"/>
            <a:ext cx="11200000" cy="3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1200" b="0" dirty="0">
                <a:solidFill>
                  <a:srgbClr val="697386"/>
                </a:solidFill>
                <a:latin typeface="Noto Sans CJK JP"/>
                <a:ea typeface="Noto Sans CJK JP"/>
              </a:rPr>
              <a:t>R6下 機械 問14／R6上 機械 問13：AND・OR・NOT、シーケンス、インタロック</a:t>
            </a:r>
            <a:endParaRPr lang="ja-JP" sz="1200"/>
          </a:p>
        </p:txBody>
      </p:sp>
      <p:sp>
        <p:nvSpPr>
          <p:cNvPr id="10" name="Shape 10"/>
          <p:cNvSpPr/>
          <p:nvPr/>
        </p:nvSpPr>
        <p:spPr>
          <a:xfrm>
            <a:off x="600000" y="1650000"/>
            <a:ext cx="5200000" cy="80000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AFC2F1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2000" b="1" dirty="0">
                <a:solidFill>
                  <a:srgbClr val="1C2430"/>
                </a:solidFill>
                <a:latin typeface="Noto Sans CJK JP"/>
                <a:ea typeface="Noto Sans CJK JP"/>
              </a:rPr>
              <a:t>X = A·C + B·NOT(C)</a:t>
            </a:r>
            <a:endParaRPr lang="ja-JP" sz="2000"/>
          </a:p>
        </p:txBody>
      </p:sp>
      <p:sp>
        <p:nvSpPr>
          <p:cNvPr id="11" name="Shape 11"/>
          <p:cNvSpPr/>
          <p:nvPr/>
        </p:nvSpPr>
        <p:spPr>
          <a:xfrm>
            <a:off x="750000" y="2800000"/>
            <a:ext cx="2200000" cy="8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600" b="1" dirty="0">
                <a:solidFill>
                  <a:srgbClr val="1C2430"/>
                </a:solidFill>
                <a:latin typeface="Noto Sans CJK JP"/>
                <a:ea typeface="Noto Sans CJK JP"/>
              </a:rPr>
              <a:t>C=0 → X=B</a:t>
            </a:r>
            <a:endParaRPr lang="ja-JP" sz="1600"/>
          </a:p>
        </p:txBody>
      </p:sp>
      <p:sp>
        <p:nvSpPr>
          <p:cNvPr id="12" name="Shape 12"/>
          <p:cNvSpPr/>
          <p:nvPr/>
        </p:nvSpPr>
        <p:spPr>
          <a:xfrm>
            <a:off x="3250000" y="2800000"/>
            <a:ext cx="2200000" cy="8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600" b="1" dirty="0">
                <a:solidFill>
                  <a:srgbClr val="1C2430"/>
                </a:solidFill>
                <a:latin typeface="Noto Sans CJK JP"/>
                <a:ea typeface="Noto Sans CJK JP"/>
              </a:rPr>
              <a:t>C=1 → X=A</a:t>
            </a:r>
            <a:endParaRPr lang="ja-JP" sz="1600"/>
          </a:p>
        </p:txBody>
      </p:sp>
      <p:sp>
        <p:nvSpPr>
          <p:cNvPr id="13" name="Shape 13"/>
          <p:cNvSpPr/>
          <p:nvPr/>
        </p:nvSpPr>
        <p:spPr>
          <a:xfrm>
            <a:off x="6500000" y="1650000"/>
            <a:ext cx="2400000" cy="8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350" b="1" dirty="0">
                <a:solidFill>
                  <a:srgbClr val="1C2430"/>
                </a:solidFill>
                <a:latin typeface="Noto Sans CJK JP"/>
                <a:ea typeface="Noto Sans CJK JP"/>
              </a:rPr>
              <a:t>シーケンス制御</a:t>
            </a:r>
            <a:endParaRPr lang="ja-JP" sz="1350"/>
          </a:p>
          <a:p>
            <a:pPr algn="ctr"/>
            <a:r>
              <a:rPr lang="ja-JP" sz="1350" b="1" dirty="0">
                <a:solidFill>
                  <a:srgbClr val="1C2430"/>
                </a:solidFill>
                <a:latin typeface="Noto Sans CJK JP"/>
                <a:ea typeface="Noto Sans CJK JP"/>
              </a:rPr>
              <a:t>条件・順序で動作</a:t>
            </a:r>
            <a:endParaRPr lang="ja-JP" sz="1350"/>
          </a:p>
        </p:txBody>
      </p:sp>
      <p:sp>
        <p:nvSpPr>
          <p:cNvPr id="14" name="Shape 14"/>
          <p:cNvSpPr/>
          <p:nvPr/>
        </p:nvSpPr>
        <p:spPr>
          <a:xfrm>
            <a:off x="9300000" y="1650000"/>
            <a:ext cx="2400000" cy="8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350" b="1" dirty="0">
                <a:solidFill>
                  <a:srgbClr val="1C2430"/>
                </a:solidFill>
                <a:latin typeface="Noto Sans CJK JP"/>
                <a:ea typeface="Noto Sans CJK JP"/>
              </a:rPr>
              <a:t>フィードバック制御</a:t>
            </a:r>
            <a:endParaRPr lang="ja-JP" sz="1350"/>
          </a:p>
          <a:p>
            <a:pPr algn="ctr"/>
            <a:r>
              <a:rPr lang="ja-JP" sz="1350" b="1" dirty="0">
                <a:solidFill>
                  <a:srgbClr val="1C2430"/>
                </a:solidFill>
                <a:latin typeface="Noto Sans CJK JP"/>
                <a:ea typeface="Noto Sans CJK JP"/>
              </a:rPr>
              <a:t>出力を検出して戻す</a:t>
            </a:r>
            <a:endParaRPr lang="ja-JP" sz="1350"/>
          </a:p>
        </p:txBody>
      </p:sp>
      <p:sp>
        <p:nvSpPr>
          <p:cNvPr id="15" name="Shape 15"/>
          <p:cNvSpPr/>
          <p:nvPr/>
        </p:nvSpPr>
        <p:spPr>
          <a:xfrm>
            <a:off x="6500000" y="2850000"/>
            <a:ext cx="2400000" cy="800000"/>
          </a:xfrm>
          <a:prstGeom prst="roundRect">
            <a:avLst/>
          </a:prstGeom>
          <a:solidFill>
            <a:srgbClr val="FFF3DF"/>
          </a:solidFill>
          <a:ln w="12700">
            <a:solidFill>
              <a:srgbClr val="E4C38D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350" b="1" dirty="0">
                <a:solidFill>
                  <a:srgbClr val="1C2430"/>
                </a:solidFill>
                <a:latin typeface="Noto Sans CJK JP"/>
                <a:ea typeface="Noto Sans CJK JP"/>
              </a:rPr>
              <a:t>インタロック</a:t>
            </a:r>
            <a:endParaRPr lang="ja-JP" sz="1350"/>
          </a:p>
          <a:p>
            <a:pPr algn="ctr"/>
            <a:r>
              <a:rPr lang="ja-JP" sz="1350" b="1" dirty="0">
                <a:solidFill>
                  <a:srgbClr val="1C2430"/>
                </a:solidFill>
                <a:latin typeface="Noto Sans CJK JP"/>
                <a:ea typeface="Noto Sans CJK JP"/>
              </a:rPr>
              <a:t>危険な同時成立を防ぐ</a:t>
            </a:r>
            <a:endParaRPr lang="ja-JP" sz="1350"/>
          </a:p>
        </p:txBody>
      </p:sp>
      <p:sp>
        <p:nvSpPr>
          <p:cNvPr id="16" name="Shape 16"/>
          <p:cNvSpPr/>
          <p:nvPr/>
        </p:nvSpPr>
        <p:spPr>
          <a:xfrm>
            <a:off x="9300000" y="2850000"/>
            <a:ext cx="2400000" cy="800000"/>
          </a:xfrm>
          <a:prstGeom prst="roundRect">
            <a:avLst/>
          </a:prstGeom>
          <a:solidFill>
            <a:srgbClr val="FFEAEA"/>
          </a:solidFill>
          <a:ln w="12700">
            <a:solidFill>
              <a:srgbClr val="E3AFAF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250" b="1" dirty="0">
                <a:solidFill>
                  <a:srgbClr val="B44A4A"/>
                </a:solidFill>
                <a:latin typeface="Noto Sans CJK JP"/>
                <a:ea typeface="Noto Sans CJK JP"/>
              </a:rPr>
              <a:t>フェイルセーフ</a:t>
            </a:r>
            <a:endParaRPr lang="ja-JP" sz="1250"/>
          </a:p>
          <a:p>
            <a:pPr algn="ctr"/>
            <a:r>
              <a:rPr lang="ja-JP" sz="1250" b="1" dirty="0">
                <a:solidFill>
                  <a:srgbClr val="B44A4A"/>
                </a:solidFill>
                <a:latin typeface="Noto Sans CJK JP"/>
                <a:ea typeface="Noto Sans CJK JP"/>
              </a:rPr>
              <a:t>故障時も危険側へ移行させない</a:t>
            </a:r>
            <a:endParaRPr lang="ja-JP" sz="1250"/>
          </a:p>
        </p:txBody>
      </p:sp>
      <p:sp>
        <p:nvSpPr>
          <p:cNvPr id="17" name="Shape 17"/>
          <p:cNvSpPr/>
          <p:nvPr/>
        </p:nvSpPr>
        <p:spPr>
          <a:xfrm>
            <a:off x="800000" y="4300000"/>
            <a:ext cx="10800000" cy="750000"/>
          </a:xfrm>
          <a:prstGeom prst="roundRect">
            <a:avLst/>
          </a:prstGeom>
          <a:solidFill>
            <a:srgbClr val="EAF6F0"/>
          </a:solidFill>
          <a:ln w="12700">
            <a:solidFill>
              <a:srgbClr val="B9D8C9"/>
            </a:solidFill>
          </a:ln>
        </p:spPr>
        <p:txBody>
          <a:bodyPr wrap="square" anchor="ctr" lIns="91440" rIns="91440" tIns="45720" bIns="45720"/>
          <a:lstStyle/>
          <a:p>
            <a:pPr algn="ctr"/>
            <a:r>
              <a:rPr lang="ja-JP" sz="1400" b="1" dirty="0">
                <a:solidFill>
                  <a:srgbClr val="31825B"/>
                </a:solidFill>
                <a:latin typeface="Noto Sans CJK JP"/>
                <a:ea typeface="Noto Sans CJK JP"/>
              </a:rPr>
              <a:t>固定EXAM_ALIGNMENT 6/6 可視化</a:t>
            </a:r>
            <a:endParaRPr lang="ja-JP" sz="1400"/>
          </a:p>
          <a:p>
            <a:pPr algn="ctr"/>
            <a:r>
              <a:rPr lang="ja-JP" sz="1400" b="1" dirty="0">
                <a:solidFill>
                  <a:srgbClr val="31825B"/>
                </a:solidFill>
                <a:latin typeface="Noto Sans CJK JP"/>
                <a:ea typeface="Noto Sans CJK JP"/>
              </a:rPr>
              <a:t>この論理式やPID式を実際の新幹線ATC内部回路とは扱わない</a:t>
            </a:r>
            <a:endParaRPr lang="ja-JP" sz="1400"/>
          </a:p>
        </p:txBody>
      </p:sp>
      <p:sp>
        <p:nvSpPr>
          <p:cNvPr id="90" name="Text 90"/>
          <p:cNvSpPr txBox="1"/>
          <p:nvPr/>
        </p:nvSpPr>
        <p:spPr>
          <a:xfrm>
            <a:off x="500000" y="6250000"/>
            <a:ext cx="112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l"/>
            <a:r>
              <a:rPr lang="ja-JP" sz="850" b="0" dirty="0">
                <a:solidFill>
                  <a:srgbClr val="697386"/>
                </a:solidFill>
                <a:latin typeface="Noto Sans CJK JP"/>
                <a:ea typeface="Noto Sans CJK JP"/>
              </a:rPr>
              <a:t>出典：電気技術者試験センター／JRTT「信号」／RTRI公開情報　固定範囲外・未確認実車値追加 0件</a:t>
            </a:r>
            <a:endParaRPr lang="ja-JP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1C2430"/>
      </a:dk1>
      <a:lt1>
        <a:srgbClr val="FFFFFF"/>
      </a:lt1>
      <a:dk2>
        <a:srgbClr val="223047"/>
      </a:dk2>
      <a:lt2>
        <a:srgbClr val="E9EDF3"/>
      </a:lt2>
      <a:accent1>
        <a:srgbClr val="2F6FED"/>
      </a:accent1>
      <a:accent2>
        <a:srgbClr val="19A0AA"/>
      </a:accent2>
      <a:accent3>
        <a:srgbClr val="31825B"/>
      </a:accent3>
      <a:accent4>
        <a:srgbClr val="D28B20"/>
      </a:accent4>
      <a:accent5>
        <a:srgbClr val="B44A4A"/>
      </a:accent5>
      <a:accent6>
        <a:srgbClr val="697386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Noto Sans CJK JP"/>
        <a:cs typeface="Arial"/>
      </a:majorFont>
      <a:minorFont>
        <a:latin typeface="Noto Sans CJK JP"/>
        <a:ea typeface="Noto Sans CJK JP"/>
        <a:cs typeface="Arial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4</Slides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ATC③ 新幹線をどう自動で減速させる？</dc:title>
  <dc:creator>cureflash</dc:creator>
  <dcterms:created xsi:type="dcterms:W3CDTF">2026-09-15T15:00:00Z</dcterms:created>
</cp:coreProperties>
</file>