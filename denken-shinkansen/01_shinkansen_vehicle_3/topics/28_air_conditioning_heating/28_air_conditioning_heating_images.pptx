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999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FFFFFF" bg2="E7E6E6" folHlink="954F72" hlink="0563C1" tx1="000000" tx2="44546A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700" b="1">
                <a:solidFill>
                  <a:srgbClr val="1F374E"/>
                </a:solidFill>
                <a:latin typeface="Noto Sans CJK JP"/>
                <a:ea typeface="Noto Sans CJK JP"/>
              </a:rPr>
              <a:t>Topic 28 空調・電熱｜本試験の共通解法</a:t>
            </a:r>
            <a:endParaRPr lang="ja-JP" sz="2700"/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0">
                <a:solidFill>
                  <a:srgbClr val="5B6570"/>
                </a:solidFill>
                <a:latin typeface="Noto Sans CJK JP"/>
                <a:ea typeface="Noto Sans CJK JP"/>
              </a:rPr>
              <a:t>固定EXAM_ALIGNMENT 5問・10小問を同じ判断順で処理する</a:t>
            </a:r>
            <a:endParaRPr lang="ja-JP" sz="1200"/>
          </a:p>
        </p:txBody>
      </p:sp>
      <p:sp>
        <p:nvSpPr>
          <p:cNvPr id="4" name="Text 4"/>
          <p:cNvSpPr/>
          <p:nvPr/>
        </p:nvSpPr>
        <p:spPr>
          <a:xfrm>
            <a:off x="502920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1">
                <a:solidFill>
                  <a:srgbClr val="286EAC"/>
                </a:solidFill>
                <a:latin typeface="Noto Sans CJK JP"/>
                <a:ea typeface="Noto Sans CJK JP"/>
              </a:rPr>
              <a:t>① 過程を分ける</a:t>
            </a:r>
            <a:endParaRPr lang="ja-JP" sz="1700"/>
          </a:p>
          <a:p>
            <a:pPr algn="ctr"/>
            <a:r>
              <a:rPr lang="ja-JP" sz="1700" b="1">
                <a:solidFill>
                  <a:srgbClr val="286EAC"/>
                </a:solidFill>
                <a:latin typeface="Noto Sans CJK JP"/>
                <a:ea typeface="Noto Sans CJK JP"/>
              </a:rPr>
              <a:t>温度変化か相変化か</a:t>
            </a:r>
            <a:endParaRPr lang="ja-JP" sz="1700"/>
          </a:p>
        </p:txBody>
      </p:sp>
      <p:sp>
        <p:nvSpPr>
          <p:cNvPr id="5" name="Text 5"/>
          <p:cNvSpPr/>
          <p:nvPr/>
        </p:nvSpPr>
        <p:spPr>
          <a:xfrm>
            <a:off x="2761488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1">
                <a:solidFill>
                  <a:srgbClr val="286EAC"/>
                </a:solidFill>
                <a:latin typeface="Noto Sans CJK JP"/>
                <a:ea typeface="Noto Sans CJK JP"/>
              </a:rPr>
              <a:t>② 必要熱量</a:t>
            </a:r>
            <a:endParaRPr lang="ja-JP" sz="1700"/>
          </a:p>
          <a:p>
            <a:pPr algn="ctr"/>
            <a:r>
              <a:rPr lang="ja-JP" sz="1700" b="1">
                <a:solidFill>
                  <a:srgbClr val="286EAC"/>
                </a:solidFill>
                <a:latin typeface="Noto Sans CJK JP"/>
                <a:ea typeface="Noto Sans CJK JP"/>
              </a:rPr>
              <a:t>顕熱 Q=mcΔT</a:t>
            </a:r>
            <a:endParaRPr lang="ja-JP" sz="1700"/>
          </a:p>
          <a:p>
            <a:pPr algn="ctr"/>
            <a:r>
              <a:rPr lang="ja-JP" sz="1700" b="1">
                <a:solidFill>
                  <a:srgbClr val="286EAC"/>
                </a:solidFill>
                <a:latin typeface="Noto Sans CJK JP"/>
                <a:ea typeface="Noto Sans CJK JP"/>
              </a:rPr>
              <a:t>潜熱 Q=mL</a:t>
            </a:r>
            <a:endParaRPr lang="ja-JP" sz="1700"/>
          </a:p>
        </p:txBody>
      </p:sp>
      <p:sp>
        <p:nvSpPr>
          <p:cNvPr id="6" name="Text 6"/>
          <p:cNvSpPr/>
          <p:nvPr/>
        </p:nvSpPr>
        <p:spPr>
          <a:xfrm>
            <a:off x="5020056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1">
                <a:solidFill>
                  <a:srgbClr val="26835A"/>
                </a:solidFill>
                <a:latin typeface="Noto Sans CJK JP"/>
                <a:ea typeface="Noto Sans CJK JP"/>
              </a:rPr>
              <a:t>③ 係数を選ぶ</a:t>
            </a:r>
            <a:endParaRPr lang="ja-JP" sz="1700"/>
          </a:p>
          <a:p>
            <a:pPr algn="ctr"/>
            <a:r>
              <a:rPr lang="ja-JP" sz="1700" b="1">
                <a:solidFill>
                  <a:srgbClr val="26835A"/>
                </a:solidFill>
                <a:latin typeface="Noto Sans CJK JP"/>
                <a:ea typeface="Noto Sans CJK JP"/>
              </a:rPr>
              <a:t>抵抗加熱：η</a:t>
            </a:r>
            <a:endParaRPr lang="ja-JP" sz="1700"/>
          </a:p>
          <a:p>
            <a:pPr algn="ctr"/>
            <a:r>
              <a:rPr lang="ja-JP" sz="1700" b="1">
                <a:solidFill>
                  <a:srgbClr val="26835A"/>
                </a:solidFill>
                <a:latin typeface="Noto Sans CJK JP"/>
                <a:ea typeface="Noto Sans CJK JP"/>
              </a:rPr>
              <a:t>HP：COP</a:t>
            </a:r>
            <a:endParaRPr lang="ja-JP" sz="1700"/>
          </a:p>
        </p:txBody>
      </p:sp>
      <p:sp>
        <p:nvSpPr>
          <p:cNvPr id="7" name="Text 7"/>
          <p:cNvSpPr/>
          <p:nvPr/>
        </p:nvSpPr>
        <p:spPr>
          <a:xfrm>
            <a:off x="7278624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1">
                <a:solidFill>
                  <a:srgbClr val="D97706"/>
                </a:solidFill>
                <a:latin typeface="Noto Sans CJK JP"/>
                <a:ea typeface="Noto Sans CJK JP"/>
              </a:rPr>
              <a:t>④ 未知量を逆算</a:t>
            </a:r>
            <a:endParaRPr lang="ja-JP" sz="1700"/>
          </a:p>
          <a:p>
            <a:pPr algn="ctr"/>
            <a:r>
              <a:rPr lang="ja-JP" sz="1700" b="1">
                <a:solidFill>
                  <a:srgbClr val="D97706"/>
                </a:solidFill>
                <a:latin typeface="Noto Sans CJK JP"/>
                <a:ea typeface="Noto Sans CJK JP"/>
              </a:rPr>
              <a:t>P / t / ΔT</a:t>
            </a:r>
            <a:endParaRPr lang="ja-JP" sz="1700"/>
          </a:p>
        </p:txBody>
      </p:sp>
      <p:sp>
        <p:nvSpPr>
          <p:cNvPr id="8" name="Text 8"/>
          <p:cNvSpPr/>
          <p:nvPr/>
        </p:nvSpPr>
        <p:spPr>
          <a:xfrm>
            <a:off x="9537192" y="1234440"/>
            <a:ext cx="2103120" cy="1508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1">
                <a:solidFill>
                  <a:srgbClr val="D97706"/>
                </a:solidFill>
                <a:latin typeface="Noto Sans CJK JP"/>
                <a:ea typeface="Noto Sans CJK JP"/>
              </a:rPr>
              <a:t>⑤ 検算</a:t>
            </a:r>
            <a:endParaRPr lang="ja-JP" sz="1700"/>
          </a:p>
          <a:p>
            <a:pPr algn="ctr"/>
            <a:r>
              <a:rPr lang="ja-JP" sz="1700" b="1">
                <a:solidFill>
                  <a:srgbClr val="D97706"/>
                </a:solidFill>
                <a:latin typeface="Noto Sans CJK JP"/>
                <a:ea typeface="Noto Sans CJK JP"/>
              </a:rPr>
              <a:t>単位・桁</a:t>
            </a:r>
            <a:endParaRPr lang="ja-JP" sz="1700"/>
          </a:p>
          <a:p>
            <a:pPr algn="ctr"/>
            <a:r>
              <a:rPr lang="ja-JP" sz="1700" b="1">
                <a:solidFill>
                  <a:srgbClr val="D97706"/>
                </a:solidFill>
                <a:latin typeface="Noto Sans CJK JP"/>
                <a:ea typeface="Noto Sans CJK JP"/>
              </a:rPr>
              <a:t>η/COPの向き</a:t>
            </a:r>
            <a:endParaRPr lang="ja-JP" sz="1700"/>
          </a:p>
        </p:txBody>
      </p:sp>
      <p:sp>
        <p:nvSpPr>
          <p:cNvPr id="9" name="Text 9"/>
          <p:cNvSpPr/>
          <p:nvPr/>
        </p:nvSpPr>
        <p:spPr>
          <a:xfrm>
            <a:off x="685800" y="3246120"/>
            <a:ext cx="5166360" cy="2057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抵抗加熱：R8上・R7上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Quse=ηPt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P=Q/(ηt)　t=Q/(ηP)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η&lt;1 → 入力 &gt; 有効熱</a:t>
            </a:r>
            <a:endParaRPr lang="ja-JP" sz="1800"/>
          </a:p>
        </p:txBody>
      </p:sp>
      <p:sp>
        <p:nvSpPr>
          <p:cNvPr id="10" name="Text 10"/>
          <p:cNvSpPr/>
          <p:nvPr/>
        </p:nvSpPr>
        <p:spPr>
          <a:xfrm>
            <a:off x="6263640" y="3246120"/>
            <a:ext cx="5166360" cy="2057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ヒートポンプ：R4上・R1・H28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Qout=COP·P·t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P=Q/(COP·t)　t=Q/(COP·P)</a:t>
            </a:r>
            <a:endParaRPr lang="ja-JP" sz="1800"/>
          </a:p>
          <a:p>
            <a:pPr algn="l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COPと熱効率ηを混同しない</a:t>
            </a:r>
            <a:endParaRPr lang="ja-JP" sz="1800"/>
          </a:p>
        </p:txBody>
      </p:sp>
      <p:sp>
        <p:nvSpPr>
          <p:cNvPr id="11" name="Text 11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300" b="1">
                <a:solidFill>
                  <a:srgbClr val="1F374E"/>
                </a:solidFill>
                <a:latin typeface="Noto Sans CJK JP"/>
                <a:ea typeface="Noto Sans CJK JP"/>
              </a:rPr>
              <a:t>解法軸：加熱過程 → 質量・温度差 → 必要熱量 → η/COP → 電力・時間 → 単位・桁</a:t>
            </a:r>
            <a:endParaRPr lang="ja-JP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700" b="1">
                <a:solidFill>
                  <a:srgbClr val="1F374E"/>
                </a:solidFill>
                <a:latin typeface="Noto Sans CJK JP"/>
                <a:ea typeface="Noto Sans CJK JP"/>
              </a:rPr>
              <a:t>顕熱・潜熱・質量整理</a:t>
            </a:r>
            <a:endParaRPr lang="ja-JP" sz="2700"/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0">
                <a:solidFill>
                  <a:srgbClr val="5B6570"/>
                </a:solidFill>
                <a:latin typeface="Noto Sans CJK JP"/>
                <a:ea typeface="Noto Sans CJK JP"/>
              </a:rPr>
              <a:t>相変化を含む問題は、過程ごとに Q と対象質量を分ける</a:t>
            </a:r>
            <a:endParaRPr lang="ja-JP" sz="1200"/>
          </a:p>
        </p:txBody>
      </p:sp>
      <p:sp>
        <p:nvSpPr>
          <p:cNvPr id="4" name="Text 4"/>
          <p:cNvSpPr/>
          <p:nvPr/>
        </p:nvSpPr>
        <p:spPr>
          <a:xfrm>
            <a:off x="594360" y="1280160"/>
            <a:ext cx="3429000" cy="187451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顕熱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Q = mcΔT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m [kg]、c [kJ/(kg·K)]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ΔT [K]</a:t>
            </a:r>
            <a:endParaRPr lang="ja-JP" sz="1800"/>
          </a:p>
        </p:txBody>
      </p:sp>
      <p:sp>
        <p:nvSpPr>
          <p:cNvPr id="5" name="Text 5"/>
          <p:cNvSpPr/>
          <p:nvPr/>
        </p:nvSpPr>
        <p:spPr>
          <a:xfrm>
            <a:off x="4389120" y="1280160"/>
            <a:ext cx="3429000" cy="1874519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潜熱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Q = mL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L は問題文提示値を使用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融解・蒸発の熱量</a:t>
            </a:r>
            <a:endParaRPr lang="ja-JP" sz="1800"/>
          </a:p>
        </p:txBody>
      </p:sp>
      <p:sp>
        <p:nvSpPr>
          <p:cNvPr id="6" name="Text 6"/>
          <p:cNvSpPr/>
          <p:nvPr/>
        </p:nvSpPr>
        <p:spPr>
          <a:xfrm>
            <a:off x="8183879" y="1280160"/>
            <a:ext cx="3429000" cy="1874519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複数過程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Qtotal = ΣQ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氷→水→加熱：mL+mcΔT</a:t>
            </a:r>
            <a:endParaRPr lang="ja-JP" sz="1800"/>
          </a:p>
          <a:p>
            <a:pPr algn="ctr"/>
            <a:r>
              <a:rPr lang="ja-JP" sz="1800" b="0">
                <a:solidFill>
                  <a:srgbClr val="334155"/>
                </a:solidFill>
                <a:latin typeface="Noto Sans CJK JP"/>
                <a:ea typeface="Noto Sans CJK JP"/>
              </a:rPr>
              <a:t>過程別に加算</a:t>
            </a:r>
            <a:endParaRPr lang="ja-JP" sz="1800"/>
          </a:p>
        </p:txBody>
      </p:sp>
      <p:sp>
        <p:nvSpPr>
          <p:cNvPr id="7" name="Text 7"/>
          <p:cNvSpPr/>
          <p:nvPr/>
        </p:nvSpPr>
        <p:spPr>
          <a:xfrm>
            <a:off x="594360" y="3657600"/>
            <a:ext cx="5257800" cy="169164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R8上：質量が過程で違う</a:t>
            </a:r>
            <a:endParaRPr lang="ja-JP" sz="1700"/>
          </a:p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木材顕熱・含有水顕熱・蒸発させる水の潜熱を別計算。</a:t>
            </a:r>
            <a:endParaRPr lang="ja-JP" sz="1700"/>
          </a:p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同じ m を全部へ機械的に入れない。</a:t>
            </a:r>
            <a:endParaRPr lang="ja-JP" sz="1700"/>
          </a:p>
        </p:txBody>
      </p:sp>
      <p:sp>
        <p:nvSpPr>
          <p:cNvPr id="8" name="Text 8"/>
          <p:cNvSpPr/>
          <p:nvPr/>
        </p:nvSpPr>
        <p:spPr>
          <a:xfrm>
            <a:off x="6172200" y="3657600"/>
            <a:ext cx="5440680" cy="1691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R7上：相変化 → 温度上昇</a:t>
            </a:r>
            <a:endParaRPr lang="ja-JP" sz="1700"/>
          </a:p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0℃氷の融解は mL、その後の水の加熱は mcΔT。</a:t>
            </a:r>
            <a:endParaRPr lang="ja-JP" sz="1700"/>
          </a:p>
          <a:p>
            <a:pPr algn="l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最後に η で P または t へ接続。</a:t>
            </a:r>
            <a:endParaRPr lang="ja-JP" sz="1700"/>
          </a:p>
        </p:txBody>
      </p:sp>
      <p:sp>
        <p:nvSpPr>
          <p:cNvPr id="9" name="Text 9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300" b="1">
                <a:solidFill>
                  <a:srgbClr val="1F374E"/>
                </a:solidFill>
                <a:latin typeface="Noto Sans CJK JP"/>
                <a:ea typeface="Noto Sans CJK JP"/>
              </a:rPr>
              <a:t>頻出ミス：ΔTに最終温度を入れる／潜熱を足し忘れる／相変化する質量を取り違える</a:t>
            </a:r>
            <a:endParaRPr lang="ja-JP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700" b="1">
                <a:solidFill>
                  <a:srgbClr val="1F374E"/>
                </a:solidFill>
                <a:latin typeface="Noto Sans CJK JP"/>
                <a:ea typeface="Noto Sans CJK JP"/>
              </a:rPr>
              <a:t>熱効率 η と COP を分けて考える</a:t>
            </a:r>
            <a:endParaRPr lang="ja-JP" sz="2700"/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0">
                <a:solidFill>
                  <a:srgbClr val="5B6570"/>
                </a:solidFill>
                <a:latin typeface="Noto Sans CJK JP"/>
                <a:ea typeface="Noto Sans CJK JP"/>
              </a:rPr>
              <a:t>入力電気エネルギーと有効な熱の関係が異なる</a:t>
            </a:r>
            <a:endParaRPr lang="ja-JP" sz="1200"/>
          </a:p>
        </p:txBody>
      </p:sp>
      <p:sp>
        <p:nvSpPr>
          <p:cNvPr id="4" name="Text 4"/>
          <p:cNvSpPr/>
          <p:nvPr/>
        </p:nvSpPr>
        <p:spPr>
          <a:xfrm>
            <a:off x="640080" y="1234440"/>
            <a:ext cx="5303520" cy="24231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抵抗加熱｜熱効率 η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入力：Pt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有効熱：Quse=ηPt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η=Quse/(Pt) &lt; 1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逆算：P=Q/(ηt), t=Q/(ηP)</a:t>
            </a:r>
            <a:endParaRPr lang="ja-JP" sz="1900"/>
          </a:p>
        </p:txBody>
      </p:sp>
      <p:sp>
        <p:nvSpPr>
          <p:cNvPr id="5" name="Text 5"/>
          <p:cNvSpPr/>
          <p:nvPr/>
        </p:nvSpPr>
        <p:spPr>
          <a:xfrm>
            <a:off x="6263640" y="1234440"/>
            <a:ext cx="5303520" cy="24231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6835A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ヒートポンプ｜COP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入力：Win=Pt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供給熱：Qout=COP·P·t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COP=Qout/Win</a:t>
            </a:r>
            <a:endParaRPr lang="ja-JP" sz="1900"/>
          </a:p>
          <a:p>
            <a:pPr algn="l"/>
            <a:r>
              <a:rPr lang="ja-JP" sz="1900" b="0">
                <a:solidFill>
                  <a:srgbClr val="334155"/>
                </a:solidFill>
                <a:latin typeface="Noto Sans CJK JP"/>
                <a:ea typeface="Noto Sans CJK JP"/>
              </a:rPr>
              <a:t>逆算：P=Q/(COP·t), t=Q/(COP·P)</a:t>
            </a:r>
            <a:endParaRPr lang="ja-JP" sz="1900"/>
          </a:p>
        </p:txBody>
      </p:sp>
      <p:sp>
        <p:nvSpPr>
          <p:cNvPr id="6" name="Text 6"/>
          <p:cNvSpPr/>
          <p:nvPr/>
        </p:nvSpPr>
        <p:spPr>
          <a:xfrm>
            <a:off x="640080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単位①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1 kW = 1 kJ/s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kJ ÷ kW → 秒</a:t>
            </a:r>
            <a:endParaRPr lang="ja-JP" sz="1700"/>
          </a:p>
        </p:txBody>
      </p:sp>
      <p:sp>
        <p:nvSpPr>
          <p:cNvPr id="7" name="Text 7"/>
          <p:cNvSpPr/>
          <p:nvPr/>
        </p:nvSpPr>
        <p:spPr>
          <a:xfrm>
            <a:off x="4407408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単位②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1 kWh = 3.6 MJ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1 MJ = 1000 kJ</a:t>
            </a:r>
            <a:endParaRPr lang="ja-JP" sz="1700"/>
          </a:p>
        </p:txBody>
      </p:sp>
      <p:sp>
        <p:nvSpPr>
          <p:cNvPr id="8" name="Text 8"/>
          <p:cNvSpPr/>
          <p:nvPr/>
        </p:nvSpPr>
        <p:spPr>
          <a:xfrm>
            <a:off x="8183879" y="4069080"/>
            <a:ext cx="3383280" cy="1234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時間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1 h = 3600 s</a:t>
            </a:r>
            <a:endParaRPr lang="ja-JP" sz="1700"/>
          </a:p>
          <a:p>
            <a:pPr algn="ctr"/>
            <a:r>
              <a:rPr lang="ja-JP" sz="1700" b="0">
                <a:solidFill>
                  <a:srgbClr val="334155"/>
                </a:solidFill>
                <a:latin typeface="Noto Sans CJK JP"/>
                <a:ea typeface="Noto Sans CJK JP"/>
              </a:rPr>
              <a:t>1 min = 60 s</a:t>
            </a:r>
            <a:endParaRPr lang="ja-JP" sz="1700"/>
          </a:p>
        </p:txBody>
      </p:sp>
      <p:sp>
        <p:nvSpPr>
          <p:cNvPr id="9" name="Text 9"/>
          <p:cNvSpPr/>
          <p:nvPr/>
        </p:nvSpPr>
        <p:spPr>
          <a:xfrm>
            <a:off x="640080" y="6108192"/>
            <a:ext cx="10927080" cy="438912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300" b="1">
                <a:solidFill>
                  <a:srgbClr val="1F374E"/>
                </a:solidFill>
                <a:latin typeface="Noto Sans CJK JP"/>
                <a:ea typeface="Noto Sans CJK JP"/>
              </a:rPr>
              <a:t>チェック：η問題で Qη/t としない／COPを%効率として扱わない／kWとkWhを取り違えない</a:t>
            </a:r>
            <a:endParaRPr lang="ja-JP"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02920" y="228600"/>
            <a:ext cx="1115568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700" b="1">
                <a:solidFill>
                  <a:srgbClr val="1F374E"/>
                </a:solidFill>
                <a:latin typeface="Noto Sans CJK JP"/>
                <a:ea typeface="Noto Sans CJK JP"/>
              </a:rPr>
              <a:t>固定5問・10小問への接続</a:t>
            </a:r>
            <a:endParaRPr lang="ja-JP" sz="2700"/>
          </a:p>
        </p:txBody>
      </p:sp>
      <p:sp>
        <p:nvSpPr>
          <p:cNvPr id="3" name="Text 3"/>
          <p:cNvSpPr/>
          <p:nvPr/>
        </p:nvSpPr>
        <p:spPr>
          <a:xfrm>
            <a:off x="548640" y="777240"/>
            <a:ext cx="109728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0">
                <a:solidFill>
                  <a:srgbClr val="5B6570"/>
                </a:solidFill>
                <a:latin typeface="Noto Sans CJK JP"/>
                <a:ea typeface="Noto Sans CJK JP"/>
              </a:rPr>
              <a:t>完成後独立再解答では、教材内の式・判断経路だけで解けることを確認する</a:t>
            </a:r>
            <a:endParaRPr lang="ja-JP" sz="1200"/>
          </a:p>
        </p:txBody>
      </p:sp>
      <p:sp>
        <p:nvSpPr>
          <p:cNvPr id="4" name="Text 4"/>
          <p:cNvSpPr/>
          <p:nvPr/>
        </p:nvSpPr>
        <p:spPr>
          <a:xfrm>
            <a:off x="594360" y="1234440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500" b="0">
                <a:solidFill>
                  <a:srgbClr val="334155"/>
                </a:solidFill>
                <a:latin typeface="Noto Sans CJK JP"/>
                <a:ea typeface="Noto Sans CJK JP"/>
              </a:rPr>
              <a:t>R8上 問17(a)(b)　｜ 顕熱＋蒸発潜熱＋質量整理＋η ｜ §4〜§7, §9〜§12 ｜ 5 / 2</a:t>
            </a:r>
            <a:endParaRPr lang="ja-JP" sz="1500"/>
          </a:p>
        </p:txBody>
      </p:sp>
      <p:sp>
        <p:nvSpPr>
          <p:cNvPr id="5" name="Text 5"/>
          <p:cNvSpPr/>
          <p:nvPr/>
        </p:nvSpPr>
        <p:spPr>
          <a:xfrm>
            <a:off x="594360" y="1993392"/>
            <a:ext cx="11018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500" b="0">
                <a:solidFill>
                  <a:srgbClr val="334155"/>
                </a:solidFill>
                <a:latin typeface="Noto Sans CJK JP"/>
                <a:ea typeface="Noto Sans CJK JP"/>
              </a:rPr>
              <a:t>R7上 問17(a)(b)　｜ 融解潜熱＋顕熱＋η＋P/t逆算 ｜ §4〜§7, §9〜§12 ｜ 2 / 2</a:t>
            </a:r>
            <a:endParaRPr lang="ja-JP" sz="1500"/>
          </a:p>
        </p:txBody>
      </p:sp>
      <p:sp>
        <p:nvSpPr>
          <p:cNvPr id="6" name="Text 6"/>
          <p:cNvSpPr/>
          <p:nvPr/>
        </p:nvSpPr>
        <p:spPr>
          <a:xfrm>
            <a:off x="594360" y="2752344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500" b="0">
                <a:solidFill>
                  <a:srgbClr val="334155"/>
                </a:solidFill>
                <a:latin typeface="Noto Sans CJK JP"/>
                <a:ea typeface="Noto Sans CJK JP"/>
              </a:rPr>
              <a:t>R4上 問17(a)(b)　｜ kWh→MJ＋COP＋ΔT ｜ §4, §8〜§11 ｜ 5 / 5</a:t>
            </a:r>
            <a:endParaRPr lang="ja-JP" sz="1500"/>
          </a:p>
        </p:txBody>
      </p:sp>
      <p:sp>
        <p:nvSpPr>
          <p:cNvPr id="7" name="Text 7"/>
          <p:cNvSpPr/>
          <p:nvPr/>
        </p:nvSpPr>
        <p:spPr>
          <a:xfrm>
            <a:off x="594360" y="3511296"/>
            <a:ext cx="110185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500" b="0">
                <a:solidFill>
                  <a:srgbClr val="334155"/>
                </a:solidFill>
                <a:latin typeface="Noto Sans CJK JP"/>
                <a:ea typeface="Noto Sans CJK JP"/>
              </a:rPr>
              <a:t>R1 問17(a)(b)　　 ｜ mcΔT＋COPからP逆算 ｜ §4, §8〜§11 ｜ 2 / 3</a:t>
            </a:r>
            <a:endParaRPr lang="ja-JP" sz="1500"/>
          </a:p>
        </p:txBody>
      </p:sp>
      <p:sp>
        <p:nvSpPr>
          <p:cNvPr id="8" name="Text 8"/>
          <p:cNvSpPr/>
          <p:nvPr/>
        </p:nvSpPr>
        <p:spPr>
          <a:xfrm>
            <a:off x="594360" y="4270248"/>
            <a:ext cx="1101852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500" b="0">
                <a:solidFill>
                  <a:srgbClr val="334155"/>
                </a:solidFill>
                <a:latin typeface="Noto Sans CJK JP"/>
                <a:ea typeface="Noto Sans CJK JP"/>
              </a:rPr>
              <a:t>H28 問17(a)(b)　　｜ mcΔT＋COPからt逆算 ｜ §4, §8〜§11 ｜ 2 / 2</a:t>
            </a:r>
            <a:endParaRPr lang="ja-JP" sz="1500"/>
          </a:p>
        </p:txBody>
      </p:sp>
      <p:sp>
        <p:nvSpPr>
          <p:cNvPr id="9" name="Text 9"/>
          <p:cNvSpPr/>
          <p:nvPr/>
        </p:nvSpPr>
        <p:spPr>
          <a:xfrm>
            <a:off x="594360" y="5166360"/>
            <a:ext cx="11018520" cy="685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86EAC"/>
            </a:solidFill>
          </a:ln>
        </p:spPr>
        <p:txBody>
          <a:bodyPr wrap="square" lIns="91440" rIns="91440" tIns="45720" bIns="45720" anchor="ctr"/>
          <a:lstStyle/>
          <a:p>
            <a:pPr algn="ctr"/>
            <a:r>
              <a:rPr lang="ja-JP" sz="1400" b="1">
                <a:solidFill>
                  <a:srgbClr val="1F374E"/>
                </a:solidFill>
                <a:latin typeface="Noto Sans CJK JP"/>
                <a:ea typeface="Noto Sans CJK JP"/>
              </a:rPr>
              <a:t>独立再解答チェック</a:t>
            </a:r>
            <a:endParaRPr lang="ja-JP" sz="1400"/>
          </a:p>
          <a:p>
            <a:pPr algn="ctr"/>
            <a:r>
              <a:rPr lang="ja-JP" sz="1400" b="1">
                <a:solidFill>
                  <a:srgbClr val="1F374E"/>
                </a:solidFill>
                <a:latin typeface="Noto Sans CJK JP"/>
                <a:ea typeface="Noto Sans CJK JP"/>
              </a:rPr>
              <a:t>①式を教材から選べる　②途中式を組める　③単位換算できる　④正答理由を説明できる　⑤教材外知識を補わない</a:t>
            </a:r>
            <a:endParaRPr lang="ja-JP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374E"/>
      </a:dk2>
      <a:lt2>
        <a:srgbClr val="F5F7FA"/>
      </a:lt2>
      <a:accent1>
        <a:srgbClr val="286EAC"/>
      </a:accent1>
      <a:accent2>
        <a:srgbClr val="D97706"/>
      </a:accent2>
      <a:accent3>
        <a:srgbClr val="26835A"/>
      </a:accent3>
      <a:accent4>
        <a:srgbClr val="64748B"/>
      </a:accent4>
      <a:accent5>
        <a:srgbClr val="94A3B8"/>
      </a:accent5>
      <a:accent6>
        <a:srgbClr val="CBD5E1"/>
      </a:accent6>
      <a:hlink>
        <a:srgbClr val="0563C1"/>
      </a:hlink>
      <a:folHlink>
        <a:srgbClr val="954F72"/>
      </a:folHlink>
    </a:clrScheme>
    <a:fontScheme name="Minimal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