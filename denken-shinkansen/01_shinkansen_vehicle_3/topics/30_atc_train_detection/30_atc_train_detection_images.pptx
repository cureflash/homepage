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accent1="17365D" accent2="4472C4" accent3="70AD47" accent4="FFC000" accent5="5B9BD5" accent6="ED7D31" bg1="FFFFFF" bg2="E7E6E6" folHlink="954F72" hlink="0563C1" tx1="000000" tx2="44546A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endParaRPr/>
          </a:p>
        </p:txBody>
      </p:sp>
      <p:sp>
        <p:nvSpPr>
          <p:cNvPr id="10" name="title"/>
          <p:cNvSpPr txBox="1"/>
          <p:nvPr/>
        </p:nvSpPr>
        <p:spPr>
          <a:xfrm>
            <a:off x="450000" y="180000"/>
            <a:ext cx="112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mid"/>
          <a:lstStyle/>
          <a:p>
            <a:pPr algn="l"/>
            <a:r>
              <a:rPr lang="ja-JP" sz="2700" b="1">
                <a:solidFill>
                  <a:srgbClr val="17365D"/>
                </a:solidFill>
                <a:latin typeface="Noto Sans CJK JP"/>
                <a:ea typeface="Noto Sans CJK JP"/>
              </a:rPr>
              <a:t>ATC①　列車検知は「回路状態の変化」を読む</a:t>
            </a:r>
            <a:endParaRPr lang="ja-JP" sz="2700"/>
          </a:p>
        </p:txBody>
      </p:sp>
      <p:sp>
        <p:nvSpPr>
          <p:cNvPr id="11" name="lead"/>
          <p:cNvSpPr txBox="1"/>
          <p:nvPr/>
        </p:nvSpPr>
        <p:spPr>
          <a:xfrm>
            <a:off x="500000" y="850000"/>
            <a:ext cx="11200000" cy="420000"/>
          </a:xfrm>
          <a:prstGeom prst="rect">
            <a:avLst/>
          </a:prstGeom>
          <a:solidFill>
            <a:srgbClr val="EDF4FB"/>
          </a:solidFill>
          <a:ln w="12700">
            <a:solidFill>
              <a:srgbClr val="BDD0E4"/>
            </a:solidFill>
          </a:ln>
        </p:spPr>
        <p:txBody>
          <a:bodyPr wrap="square" lIns="90000" rIns="90000" tIns="90000" bIns="90000" anchor="mid"/>
          <a:lstStyle/>
          <a:p>
            <a:pPr algn="l"/>
            <a:r>
              <a:rPr lang="ja-JP" sz="1450">
                <a:solidFill>
                  <a:srgbClr val="17365D"/>
                </a:solidFill>
                <a:latin typeface="Noto Sans CJK JP"/>
                <a:ea typeface="Noto Sans CJK JP"/>
              </a:rPr>
              <a:t>左右のレールを回路として使い、車輪・車軸の短絡で受信側の電気状態が変わる。</a:t>
            </a:r>
            <a:endParaRPr lang="ja-JP" sz="1450"/>
          </a:p>
        </p:txBody>
      </p:sp>
      <p:sp>
        <p:nvSpPr>
          <p:cNvPr id="12" name="nohdr"/>
          <p:cNvSpPr txBox="1"/>
          <p:nvPr/>
        </p:nvSpPr>
        <p:spPr>
          <a:xfrm>
            <a:off x="600000" y="1450000"/>
            <a:ext cx="5350000" cy="430000"/>
          </a:xfrm>
          <a:prstGeom prst="rect">
            <a:avLst/>
          </a:prstGeom>
          <a:solidFill>
            <a:srgbClr val="E8F5E9"/>
          </a:solidFill>
          <a:ln w="12700">
            <a:solidFill>
              <a:srgbClr val="8BC58F"/>
            </a:solidFill>
          </a:ln>
        </p:spPr>
        <p:txBody>
          <a:bodyPr wrap="square" lIns="90000" rIns="90000" tIns="90000" bIns="90000" anchor="mid"/>
          <a:lstStyle/>
          <a:p>
            <a:pPr algn="c"/>
            <a:r>
              <a:rPr lang="ja-JP" sz="1700" b="1">
                <a:solidFill>
                  <a:srgbClr val="245A29"/>
                </a:solidFill>
                <a:latin typeface="Noto Sans CJK JP"/>
                <a:ea typeface="Noto Sans CJK JP"/>
              </a:rPr>
              <a:t>列車なし</a:t>
            </a:r>
            <a:endParaRPr lang="ja-JP" sz="1700"/>
          </a:p>
        </p:txBody>
      </p:sp>
      <p:sp>
        <p:nvSpPr>
          <p:cNvPr id="13" name="nocircuit"/>
          <p:cNvSpPr txBox="1"/>
          <p:nvPr/>
        </p:nvSpPr>
        <p:spPr>
          <a:xfrm>
            <a:off x="800000" y="2050000"/>
            <a:ext cx="4950000" cy="1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5"/>
            </a:solidFill>
          </a:ln>
        </p:spPr>
        <p:txBody>
          <a:bodyPr wrap="square" lIns="90000" rIns="90000" tIns="90000" bIns="90000" anchor="mid"/>
          <a:lstStyle/>
          <a:p>
            <a:pPr algn="c"/>
            <a:r>
              <a:rPr lang="ja-JP" sz="1800">
                <a:solidFill>
                  <a:srgbClr val="222222"/>
                </a:solidFill>
                <a:latin typeface="Noto Sans CJK JP"/>
                <a:ea typeface="Noto Sans CJK JP"/>
              </a:rPr>
              <a:t>送信側  ───── レール ─────  受信側</a:t>
            </a:r>
            <a:endParaRPr lang="ja-JP" sz="1800"/>
          </a:p>
          <a:p>
            <a:pPr algn="c"/>
            <a:r>
              <a:rPr lang="ja-JP" sz="1800">
                <a:solidFill>
                  <a:srgbClr val="222222"/>
                </a:solidFill>
                <a:latin typeface="Noto Sans CJK JP"/>
                <a:ea typeface="Noto Sans CJK JP"/>
              </a:rPr>
              <a:t>         電気が受信側へ届く</a:t>
            </a:r>
            <a:endParaRPr lang="ja-JP" sz="1800"/>
          </a:p>
          <a:p>
            <a:pPr algn="c"/>
            <a:r>
              <a:rPr lang="ja-JP" sz="1800">
                <a:solidFill>
                  <a:srgbClr val="222222"/>
                </a:solidFill>
                <a:latin typeface="Noto Sans CJK JP"/>
                <a:ea typeface="Noto Sans CJK JP"/>
              </a:rPr>
              <a:t>         受信側：列車なし状態</a:t>
            </a:r>
            <a:endParaRPr lang="ja-JP" sz="1800"/>
          </a:p>
        </p:txBody>
      </p:sp>
      <p:sp>
        <p:nvSpPr>
          <p:cNvPr id="14" name="yeshdr"/>
          <p:cNvSpPr txBox="1"/>
          <p:nvPr/>
        </p:nvSpPr>
        <p:spPr>
          <a:xfrm>
            <a:off x="6350000" y="1450000"/>
            <a:ext cx="5350000" cy="430000"/>
          </a:xfrm>
          <a:prstGeom prst="rect">
            <a:avLst/>
          </a:prstGeom>
          <a:solidFill>
            <a:srgbClr val="FFF0ED"/>
          </a:solidFill>
          <a:ln w="12700">
            <a:solidFill>
              <a:srgbClr val="E49A8A"/>
            </a:solidFill>
          </a:ln>
        </p:spPr>
        <p:txBody>
          <a:bodyPr wrap="square" lIns="90000" rIns="90000" tIns="90000" bIns="90000" anchor="mid"/>
          <a:lstStyle/>
          <a:p>
            <a:pPr algn="c"/>
            <a:r>
              <a:rPr lang="ja-JP" sz="1700" b="1">
                <a:solidFill>
                  <a:srgbClr val="8F2F20"/>
                </a:solidFill>
                <a:latin typeface="Noto Sans CJK JP"/>
                <a:ea typeface="Noto Sans CJK JP"/>
              </a:rPr>
              <a:t>列車あり</a:t>
            </a:r>
            <a:endParaRPr lang="ja-JP" sz="1700"/>
          </a:p>
        </p:txBody>
      </p:sp>
      <p:sp>
        <p:nvSpPr>
          <p:cNvPr id="15" name="yescircuit"/>
          <p:cNvSpPr txBox="1"/>
          <p:nvPr/>
        </p:nvSpPr>
        <p:spPr>
          <a:xfrm>
            <a:off x="6550000" y="2050000"/>
            <a:ext cx="4950000" cy="1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B7AF"/>
            </a:solidFill>
          </a:ln>
        </p:spPr>
        <p:txBody>
          <a:bodyPr wrap="square" lIns="90000" rIns="90000" tIns="90000" bIns="90000" anchor="mid"/>
          <a:lstStyle/>
          <a:p>
            <a:pPr algn="c"/>
            <a:r>
              <a:rPr lang="ja-JP" sz="1650">
                <a:solidFill>
                  <a:srgbClr val="222222"/>
                </a:solidFill>
                <a:latin typeface="Noto Sans CJK JP"/>
                <a:ea typeface="Noto Sans CJK JP"/>
              </a:rPr>
              <a:t>送信側  ─── レール ──┬── 受信側</a:t>
            </a:r>
            <a:endParaRPr lang="ja-JP" sz="1650"/>
          </a:p>
          <a:p>
            <a:pPr algn="c"/>
            <a:r>
              <a:rPr lang="ja-JP" sz="1650">
                <a:solidFill>
                  <a:srgbClr val="222222"/>
                </a:solidFill>
                <a:latin typeface="Noto Sans CJK JP"/>
                <a:ea typeface="Noto Sans CJK JP"/>
              </a:rPr>
              <a:t>                    └─ 車軸短絡 ─┘</a:t>
            </a:r>
            <a:endParaRPr lang="ja-JP" sz="1650"/>
          </a:p>
          <a:p>
            <a:pPr algn="c"/>
            <a:r>
              <a:rPr lang="ja-JP" sz="1650">
                <a:solidFill>
                  <a:srgbClr val="222222"/>
                </a:solidFill>
                <a:latin typeface="Noto Sans CJK JP"/>
                <a:ea typeface="Noto Sans CJK JP"/>
              </a:rPr>
              <a:t>         低抵抗経路で電圧・電流分布が変化</a:t>
            </a:r>
            <a:endParaRPr lang="ja-JP" sz="1650"/>
          </a:p>
        </p:txBody>
      </p:sp>
      <p:sp>
        <p:nvSpPr>
          <p:cNvPr id="16" name="key"/>
          <p:cNvSpPr txBox="1"/>
          <p:nvPr/>
        </p:nvSpPr>
        <p:spPr>
          <a:xfrm>
            <a:off x="1000000" y="3900000"/>
            <a:ext cx="10100000" cy="950000"/>
          </a:xfrm>
          <a:prstGeom prst="rect">
            <a:avLst/>
          </a:prstGeom>
          <a:solidFill>
            <a:srgbClr val="FFF7E6"/>
          </a:solidFill>
          <a:ln w="12700">
            <a:solidFill>
              <a:srgbClr val="E9C26A"/>
            </a:solidFill>
          </a:ln>
        </p:spPr>
        <p:txBody>
          <a:bodyPr wrap="square" lIns="90000" rIns="90000" tIns="90000" bIns="90000" anchor="mid"/>
          <a:lstStyle/>
          <a:p>
            <a:pPr algn="c"/>
            <a:r>
              <a:rPr lang="ja-JP" sz="1800" b="1">
                <a:solidFill>
                  <a:srgbClr val="6B4B00"/>
                </a:solidFill>
                <a:latin typeface="Noto Sans CJK JP"/>
                <a:ea typeface="Noto Sans CJK JP"/>
              </a:rPr>
              <a:t>電験で読む順序</a:t>
            </a:r>
            <a:endParaRPr lang="ja-JP" sz="1800"/>
          </a:p>
          <a:p>
            <a:pPr algn="c"/>
            <a:r>
              <a:rPr lang="ja-JP" sz="1800" b="1">
                <a:solidFill>
                  <a:srgbClr val="6B4B00"/>
                </a:solidFill>
                <a:latin typeface="Noto Sans CJK JP"/>
                <a:ea typeface="Noto Sans CJK JP"/>
              </a:rPr>
              <a:t>回路状態 → 開放/短絡/並列枝 → 合成抵抗・分圧 → 電圧/電流 → 前後比較</a:t>
            </a:r>
            <a:endParaRPr lang="ja-JP" sz="1800"/>
          </a:p>
        </p:txBody>
      </p:sp>
      <p:sp>
        <p:nvSpPr>
          <p:cNvPr id="17" name="bound"/>
          <p:cNvSpPr txBox="1"/>
          <p:nvPr/>
        </p:nvSpPr>
        <p:spPr>
          <a:xfrm>
            <a:off x="1200000" y="5150000"/>
            <a:ext cx="9700000" cy="62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0D0D0"/>
            </a:solidFill>
          </a:ln>
        </p:spPr>
        <p:txBody>
          <a:bodyPr wrap="square" lIns="90000" rIns="90000" tIns="90000" bIns="90000" anchor="mid"/>
          <a:lstStyle/>
          <a:p>
            <a:pPr algn="c"/>
            <a:r>
              <a:rPr lang="ja-JP" sz="1250">
                <a:solidFill>
                  <a:srgbClr val="555555"/>
                </a:solidFill>
                <a:latin typeface="Noto Sans CJK JP"/>
                <a:ea typeface="Noto Sans CJK JP"/>
              </a:rPr>
              <a:t>ここでは列車検知まで。ATC信号の周波数・符号化・速度照査は Topic 31・32 に残す。</a:t>
            </a:r>
            <a:endParaRPr lang="ja-JP" sz="1250"/>
          </a:p>
        </p:txBody>
      </p:sp>
      <p:sp>
        <p:nvSpPr>
          <p:cNvPr id="99" name="footer"/>
          <p:cNvSpPr txBox="1"/>
          <p:nvPr/>
        </p:nvSpPr>
        <p:spPr>
          <a:xfrm>
            <a:off x="10100000" y="6460000"/>
            <a:ext cx="150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mid"/>
          <a:lstStyle/>
          <a:p>
            <a:pPr algn="r"/>
            <a:r>
              <a:rPr lang="ja-JP" sz="850">
                <a:solidFill>
                  <a:srgbClr val="777777"/>
                </a:solidFill>
                <a:latin typeface="Noto Sans CJK JP"/>
                <a:ea typeface="Noto Sans CJK JP"/>
              </a:rPr>
              <a:t>Topic 30  |  1/4</a:t>
            </a:r>
            <a:endParaRPr lang="ja-JP" sz="8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endParaRPr/>
          </a:p>
        </p:txBody>
      </p:sp>
      <p:sp>
        <p:nvSpPr>
          <p:cNvPr id="10" name="title"/>
          <p:cNvSpPr txBox="1"/>
          <p:nvPr/>
        </p:nvSpPr>
        <p:spPr>
          <a:xfrm>
            <a:off x="450000" y="180000"/>
            <a:ext cx="112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mid"/>
          <a:lstStyle/>
          <a:p>
            <a:pPr algn="l"/>
            <a:r>
              <a:rPr lang="ja-JP" sz="2700" b="1">
                <a:solidFill>
                  <a:srgbClr val="17365D"/>
                </a:solidFill>
                <a:latin typeface="Noto Sans CJK JP"/>
                <a:ea typeface="Noto Sans CJK JP"/>
              </a:rPr>
              <a:t>固定5問を解くための4つの道具</a:t>
            </a:r>
            <a:endParaRPr lang="ja-JP" sz="2700"/>
          </a:p>
        </p:txBody>
      </p:sp>
      <p:sp>
        <p:nvSpPr>
          <p:cNvPr id="11" name="① オームの法則"/>
          <p:cNvSpPr txBox="1"/>
          <p:nvPr/>
        </p:nvSpPr>
        <p:spPr>
          <a:xfrm>
            <a:off x="600000" y="1050000"/>
            <a:ext cx="5300000" cy="480000"/>
          </a:xfrm>
          <a:prstGeom prst="rect">
            <a:avLst/>
          </a:prstGeom>
          <a:solidFill>
            <a:srgbClr val="EAF2F8"/>
          </a:solidFill>
          <a:ln w="12700">
            <a:solidFill>
              <a:srgbClr val="B8CEE0"/>
            </a:solidFill>
          </a:ln>
        </p:spPr>
        <p:txBody>
          <a:bodyPr wrap="square" lIns="90000" rIns="90000" tIns="90000" bIns="90000" anchor="mid"/>
          <a:lstStyle/>
          <a:p>
            <a:pPr algn="l"/>
            <a:r>
              <a:rPr lang="ja-JP" sz="1700" b="1">
                <a:solidFill>
                  <a:srgbClr val="17365D"/>
                </a:solidFill>
                <a:latin typeface="Noto Sans CJK JP"/>
                <a:ea typeface="Noto Sans CJK JP"/>
              </a:rPr>
              <a:t>① オームの法則</a:t>
            </a:r>
            <a:endParaRPr lang="ja-JP" sz="1700"/>
          </a:p>
        </p:txBody>
      </p:sp>
      <p:sp>
        <p:nvSpPr>
          <p:cNvPr id="21" name="formula"/>
          <p:cNvSpPr txBox="1"/>
          <p:nvPr/>
        </p:nvSpPr>
        <p:spPr>
          <a:xfrm>
            <a:off x="600000" y="1610000"/>
            <a:ext cx="5300000" cy="7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</p:spPr>
        <p:txBody>
          <a:bodyPr wrap="square" lIns="90000" rIns="90000" tIns="90000" bIns="90000" anchor="mid"/>
          <a:lstStyle/>
          <a:p>
            <a:pPr algn="c"/>
            <a:r>
              <a:rPr lang="ja-JP" sz="1800" b="1">
                <a:solidFill>
                  <a:srgbClr val="222222"/>
                </a:solidFill>
                <a:latin typeface="Noto Sans CJK JP"/>
                <a:ea typeface="Noto Sans CJK JP"/>
              </a:rPr>
              <a:t>V = IR　／　I = V/R　／　R = V/I</a:t>
            </a:r>
            <a:endParaRPr lang="ja-JP" sz="1800"/>
          </a:p>
        </p:txBody>
      </p:sp>
      <p:sp>
        <p:nvSpPr>
          <p:cNvPr id="31" name="body"/>
          <p:cNvSpPr txBox="1"/>
          <p:nvPr/>
        </p:nvSpPr>
        <p:spPr>
          <a:xfrm>
            <a:off x="600000" y="2470000"/>
            <a:ext cx="5300000" cy="62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D3DCE5"/>
            </a:solidFill>
          </a:ln>
        </p:spPr>
        <p:txBody>
          <a:bodyPr wrap="square" lIns="90000" rIns="90000" tIns="90000" bIns="90000" anchor="mid"/>
          <a:lstStyle/>
          <a:p>
            <a:pPr algn="l"/>
            <a:r>
              <a:rPr lang="ja-JP" sz="1250">
                <a:solidFill>
                  <a:srgbClr val="444444"/>
                </a:solidFill>
                <a:latin typeface="Noto Sans CJK JP"/>
                <a:ea typeface="Noto Sans CJK JP"/>
              </a:rPr>
              <a:t>状態ごとに等価抵抗を作ってから使う。</a:t>
            </a:r>
            <a:endParaRPr lang="ja-JP" sz="1250"/>
          </a:p>
        </p:txBody>
      </p:sp>
      <p:sp>
        <p:nvSpPr>
          <p:cNvPr id="12" name="② 直列・並列"/>
          <p:cNvSpPr txBox="1"/>
          <p:nvPr/>
        </p:nvSpPr>
        <p:spPr>
          <a:xfrm>
            <a:off x="6200000" y="1050000"/>
            <a:ext cx="5300000" cy="480000"/>
          </a:xfrm>
          <a:prstGeom prst="rect">
            <a:avLst/>
          </a:prstGeom>
          <a:solidFill>
            <a:srgbClr val="EAF2F8"/>
          </a:solidFill>
          <a:ln w="12700">
            <a:solidFill>
              <a:srgbClr val="B8CEE0"/>
            </a:solidFill>
          </a:ln>
        </p:spPr>
        <p:txBody>
          <a:bodyPr wrap="square" lIns="90000" rIns="90000" tIns="90000" bIns="90000" anchor="mid"/>
          <a:lstStyle/>
          <a:p>
            <a:pPr algn="l"/>
            <a:r>
              <a:rPr lang="ja-JP" sz="1700" b="1">
                <a:solidFill>
                  <a:srgbClr val="17365D"/>
                </a:solidFill>
                <a:latin typeface="Noto Sans CJK JP"/>
                <a:ea typeface="Noto Sans CJK JP"/>
              </a:rPr>
              <a:t>② 直列・並列</a:t>
            </a:r>
            <a:endParaRPr lang="ja-JP" sz="1700"/>
          </a:p>
        </p:txBody>
      </p:sp>
      <p:sp>
        <p:nvSpPr>
          <p:cNvPr id="22" name="formula"/>
          <p:cNvSpPr txBox="1"/>
          <p:nvPr/>
        </p:nvSpPr>
        <p:spPr>
          <a:xfrm>
            <a:off x="6200000" y="1610000"/>
            <a:ext cx="5300000" cy="7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</p:spPr>
        <p:txBody>
          <a:bodyPr wrap="square" lIns="90000" rIns="90000" tIns="90000" bIns="90000" anchor="mid"/>
          <a:lstStyle/>
          <a:p>
            <a:pPr algn="c"/>
            <a:r>
              <a:rPr lang="ja-JP" sz="1800" b="1">
                <a:solidFill>
                  <a:srgbClr val="222222"/>
                </a:solidFill>
                <a:latin typeface="Noto Sans CJK JP"/>
                <a:ea typeface="Noto Sans CJK JP"/>
              </a:rPr>
              <a:t>直列：Req = R1 + R2</a:t>
            </a:r>
            <a:endParaRPr lang="ja-JP" sz="1800"/>
          </a:p>
          <a:p>
            <a:pPr algn="c"/>
            <a:r>
              <a:rPr lang="ja-JP" sz="1800" b="1">
                <a:solidFill>
                  <a:srgbClr val="222222"/>
                </a:solidFill>
                <a:latin typeface="Noto Sans CJK JP"/>
                <a:ea typeface="Noto Sans CJK JP"/>
              </a:rPr>
              <a:t>並列：R1||R2 = R1R2/(R1+R2)</a:t>
            </a:r>
            <a:endParaRPr lang="ja-JP" sz="1800"/>
          </a:p>
        </p:txBody>
      </p:sp>
      <p:sp>
        <p:nvSpPr>
          <p:cNvPr id="32" name="body"/>
          <p:cNvSpPr txBox="1"/>
          <p:nvPr/>
        </p:nvSpPr>
        <p:spPr>
          <a:xfrm>
            <a:off x="6200000" y="2470000"/>
            <a:ext cx="5300000" cy="62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D3DCE5"/>
            </a:solidFill>
          </a:ln>
        </p:spPr>
        <p:txBody>
          <a:bodyPr wrap="square" lIns="90000" rIns="90000" tIns="90000" bIns="90000" anchor="mid"/>
          <a:lstStyle/>
          <a:p>
            <a:pPr algn="l"/>
            <a:r>
              <a:rPr lang="ja-JP" sz="1250">
                <a:solidFill>
                  <a:srgbClr val="444444"/>
                </a:solidFill>
                <a:latin typeface="Noto Sans CJK JP"/>
                <a:ea typeface="Noto Sans CJK JP"/>
              </a:rPr>
              <a:t>並列枝が増えると合成抵抗は小さくなる。</a:t>
            </a:r>
            <a:endParaRPr lang="ja-JP" sz="1250"/>
          </a:p>
        </p:txBody>
      </p:sp>
      <p:sp>
        <p:nvSpPr>
          <p:cNvPr id="13" name="③ 開放・短絡"/>
          <p:cNvSpPr txBox="1"/>
          <p:nvPr/>
        </p:nvSpPr>
        <p:spPr>
          <a:xfrm>
            <a:off x="600000" y="3500000"/>
            <a:ext cx="5300000" cy="480000"/>
          </a:xfrm>
          <a:prstGeom prst="rect">
            <a:avLst/>
          </a:prstGeom>
          <a:solidFill>
            <a:srgbClr val="EAF2F8"/>
          </a:solidFill>
          <a:ln w="12700">
            <a:solidFill>
              <a:srgbClr val="B8CEE0"/>
            </a:solidFill>
          </a:ln>
        </p:spPr>
        <p:txBody>
          <a:bodyPr wrap="square" lIns="90000" rIns="90000" tIns="90000" bIns="90000" anchor="mid"/>
          <a:lstStyle/>
          <a:p>
            <a:pPr algn="l"/>
            <a:r>
              <a:rPr lang="ja-JP" sz="1700" b="1">
                <a:solidFill>
                  <a:srgbClr val="17365D"/>
                </a:solidFill>
                <a:latin typeface="Noto Sans CJK JP"/>
                <a:ea typeface="Noto Sans CJK JP"/>
              </a:rPr>
              <a:t>③ 開放・短絡</a:t>
            </a:r>
            <a:endParaRPr lang="ja-JP" sz="1700"/>
          </a:p>
        </p:txBody>
      </p:sp>
      <p:sp>
        <p:nvSpPr>
          <p:cNvPr id="23" name="formula"/>
          <p:cNvSpPr txBox="1"/>
          <p:nvPr/>
        </p:nvSpPr>
        <p:spPr>
          <a:xfrm>
            <a:off x="600000" y="4060000"/>
            <a:ext cx="5300000" cy="7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</p:spPr>
        <p:txBody>
          <a:bodyPr wrap="square" lIns="90000" rIns="90000" tIns="90000" bIns="90000" anchor="mid"/>
          <a:lstStyle/>
          <a:p>
            <a:pPr algn="c"/>
            <a:r>
              <a:rPr lang="ja-JP" sz="1800" b="1">
                <a:solidFill>
                  <a:srgbClr val="222222"/>
                </a:solidFill>
                <a:latin typeface="Noto Sans CJK JP"/>
                <a:ea typeface="Noto Sans CJK JP"/>
              </a:rPr>
              <a:t>開放：その枝の電流は 0</a:t>
            </a:r>
            <a:endParaRPr lang="ja-JP" sz="1800"/>
          </a:p>
          <a:p>
            <a:pPr algn="c"/>
            <a:r>
              <a:rPr lang="ja-JP" sz="1800" b="1">
                <a:solidFill>
                  <a:srgbClr val="222222"/>
                </a:solidFill>
                <a:latin typeface="Noto Sans CJK JP"/>
                <a:ea typeface="Noto Sans CJK JP"/>
              </a:rPr>
              <a:t>理想短絡：二点の電位差は 0 V</a:t>
            </a:r>
            <a:endParaRPr lang="ja-JP" sz="1800"/>
          </a:p>
        </p:txBody>
      </p:sp>
      <p:sp>
        <p:nvSpPr>
          <p:cNvPr id="33" name="body"/>
          <p:cNvSpPr txBox="1"/>
          <p:nvPr/>
        </p:nvSpPr>
        <p:spPr>
          <a:xfrm>
            <a:off x="600000" y="4920000"/>
            <a:ext cx="5300000" cy="62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D3DCE5"/>
            </a:solidFill>
          </a:ln>
        </p:spPr>
        <p:txBody>
          <a:bodyPr wrap="square" lIns="90000" rIns="90000" tIns="90000" bIns="90000" anchor="mid"/>
          <a:lstStyle/>
          <a:p>
            <a:pPr algn="l"/>
            <a:r>
              <a:rPr lang="ja-JP" sz="1250">
                <a:solidFill>
                  <a:srgbClr val="444444"/>
                </a:solidFill>
                <a:latin typeface="Noto Sans CJK JP"/>
                <a:ea typeface="Noto Sans CJK JP"/>
              </a:rPr>
              <a:t>短絡後にも直列抵抗が残るなら電流は有限。</a:t>
            </a:r>
            <a:endParaRPr lang="ja-JP" sz="1250"/>
          </a:p>
        </p:txBody>
      </p:sp>
      <p:sp>
        <p:nvSpPr>
          <p:cNvPr id="14" name="④ 分圧・枝電流"/>
          <p:cNvSpPr txBox="1"/>
          <p:nvPr/>
        </p:nvSpPr>
        <p:spPr>
          <a:xfrm>
            <a:off x="6200000" y="3500000"/>
            <a:ext cx="5300000" cy="480000"/>
          </a:xfrm>
          <a:prstGeom prst="rect">
            <a:avLst/>
          </a:prstGeom>
          <a:solidFill>
            <a:srgbClr val="EAF2F8"/>
          </a:solidFill>
          <a:ln w="12700">
            <a:solidFill>
              <a:srgbClr val="B8CEE0"/>
            </a:solidFill>
          </a:ln>
        </p:spPr>
        <p:txBody>
          <a:bodyPr wrap="square" lIns="90000" rIns="90000" tIns="90000" bIns="90000" anchor="mid"/>
          <a:lstStyle/>
          <a:p>
            <a:pPr algn="l"/>
            <a:r>
              <a:rPr lang="ja-JP" sz="1700" b="1">
                <a:solidFill>
                  <a:srgbClr val="17365D"/>
                </a:solidFill>
                <a:latin typeface="Noto Sans CJK JP"/>
                <a:ea typeface="Noto Sans CJK JP"/>
              </a:rPr>
              <a:t>④ 分圧・枝電流</a:t>
            </a:r>
            <a:endParaRPr lang="ja-JP" sz="1700"/>
          </a:p>
        </p:txBody>
      </p:sp>
      <p:sp>
        <p:nvSpPr>
          <p:cNvPr id="24" name="formula"/>
          <p:cNvSpPr txBox="1"/>
          <p:nvPr/>
        </p:nvSpPr>
        <p:spPr>
          <a:xfrm>
            <a:off x="6200000" y="4060000"/>
            <a:ext cx="5300000" cy="7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</p:spPr>
        <p:txBody>
          <a:bodyPr wrap="square" lIns="90000" rIns="90000" tIns="90000" bIns="90000" anchor="mid"/>
          <a:lstStyle/>
          <a:p>
            <a:pPr algn="c"/>
            <a:r>
              <a:rPr lang="ja-JP" sz="1800" b="1">
                <a:solidFill>
                  <a:srgbClr val="222222"/>
                </a:solidFill>
                <a:latin typeface="Noto Sans CJK JP"/>
                <a:ea typeface="Noto Sans CJK JP"/>
              </a:rPr>
              <a:t>V2 = E×R2/(R1+R2)</a:t>
            </a:r>
            <a:endParaRPr lang="ja-JP" sz="1800"/>
          </a:p>
          <a:p>
            <a:pPr algn="c"/>
            <a:r>
              <a:rPr lang="ja-JP" sz="1800" b="1">
                <a:solidFill>
                  <a:srgbClr val="222222"/>
                </a:solidFill>
                <a:latin typeface="Noto Sans CJK JP"/>
                <a:ea typeface="Noto Sans CJK JP"/>
              </a:rPr>
              <a:t>I = I1 + I2 + …</a:t>
            </a:r>
            <a:endParaRPr lang="ja-JP" sz="1800"/>
          </a:p>
        </p:txBody>
      </p:sp>
      <p:sp>
        <p:nvSpPr>
          <p:cNvPr id="34" name="body"/>
          <p:cNvSpPr txBox="1"/>
          <p:nvPr/>
        </p:nvSpPr>
        <p:spPr>
          <a:xfrm>
            <a:off x="6200000" y="4920000"/>
            <a:ext cx="5300000" cy="62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D3DCE5"/>
            </a:solidFill>
          </a:ln>
        </p:spPr>
        <p:txBody>
          <a:bodyPr wrap="square" lIns="90000" rIns="90000" tIns="90000" bIns="90000" anchor="mid"/>
          <a:lstStyle/>
          <a:p>
            <a:pPr algn="l"/>
            <a:r>
              <a:rPr lang="ja-JP" sz="1250">
                <a:solidFill>
                  <a:srgbClr val="444444"/>
                </a:solidFill>
                <a:latin typeface="Noto Sans CJK JP"/>
                <a:ea typeface="Noto Sans CJK JP"/>
              </a:rPr>
              <a:t>並列追加後は先に並列合成してから分圧。</a:t>
            </a:r>
            <a:endParaRPr lang="ja-JP" sz="1250"/>
          </a:p>
        </p:txBody>
      </p:sp>
      <p:sp>
        <p:nvSpPr>
          <p:cNvPr id="99" name="footer"/>
          <p:cNvSpPr txBox="1"/>
          <p:nvPr/>
        </p:nvSpPr>
        <p:spPr>
          <a:xfrm>
            <a:off x="10100000" y="6460000"/>
            <a:ext cx="150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mid"/>
          <a:lstStyle/>
          <a:p>
            <a:pPr algn="r"/>
            <a:r>
              <a:rPr lang="ja-JP" sz="850">
                <a:solidFill>
                  <a:srgbClr val="777777"/>
                </a:solidFill>
                <a:latin typeface="Noto Sans CJK JP"/>
                <a:ea typeface="Noto Sans CJK JP"/>
              </a:rPr>
              <a:t>Topic 30  |  2/4</a:t>
            </a:r>
            <a:endParaRPr lang="ja-JP" sz="8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endParaRPr/>
          </a:p>
        </p:txBody>
      </p:sp>
      <p:sp>
        <p:nvSpPr>
          <p:cNvPr id="10" name="title"/>
          <p:cNvSpPr txBox="1"/>
          <p:nvPr/>
        </p:nvSpPr>
        <p:spPr>
          <a:xfrm>
            <a:off x="450000" y="180000"/>
            <a:ext cx="112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mid"/>
          <a:lstStyle/>
          <a:p>
            <a:pPr algn="l"/>
            <a:r>
              <a:rPr lang="ja-JP" sz="2700" b="1">
                <a:solidFill>
                  <a:srgbClr val="17365D"/>
                </a:solidFill>
                <a:latin typeface="Noto Sans CJK JP"/>
                <a:ea typeface="Noto Sans CJK JP"/>
              </a:rPr>
              <a:t>固定EXAM_ALIGNMENT 5問：解法経路を可視化</a:t>
            </a:r>
            <a:endParaRPr lang="ja-JP" sz="2700"/>
          </a:p>
        </p:txBody>
      </p:sp>
      <p:sp>
        <p:nvSpPr>
          <p:cNvPr id="11" name="q"/>
          <p:cNvSpPr txBox="1"/>
          <p:nvPr/>
        </p:nvSpPr>
        <p:spPr>
          <a:xfrm>
            <a:off x="550000" y="1100000"/>
            <a:ext cx="2250000" cy="700000"/>
          </a:xfrm>
          <a:prstGeom prst="rect">
            <a:avLst/>
          </a:prstGeom>
          <a:solidFill>
            <a:srgbClr val="F7FAFD"/>
          </a:solidFill>
          <a:ln w="12700">
            <a:solidFill>
              <a:srgbClr val="CBD8E5"/>
            </a:solidFill>
          </a:ln>
        </p:spPr>
        <p:txBody>
          <a:bodyPr wrap="square" lIns="90000" rIns="90000" tIns="90000" bIns="90000" anchor="mid"/>
          <a:lstStyle/>
          <a:p>
            <a:pPr algn="c"/>
            <a:r>
              <a:rPr lang="ja-JP" sz="1250" b="1">
                <a:solidFill>
                  <a:srgbClr val="17365D"/>
                </a:solidFill>
                <a:latin typeface="Noto Sans CJK JP"/>
                <a:ea typeface="Noto Sans CJK JP"/>
              </a:rPr>
              <a:t>R8上 理論 問7</a:t>
            </a:r>
            <a:endParaRPr lang="ja-JP" sz="1250"/>
          </a:p>
        </p:txBody>
      </p:sp>
      <p:sp>
        <p:nvSpPr>
          <p:cNvPr id="21" name="path"/>
          <p:cNvSpPr txBox="1"/>
          <p:nvPr/>
        </p:nvSpPr>
        <p:spPr>
          <a:xfrm>
            <a:off x="2800000" y="1100000"/>
            <a:ext cx="7000000" cy="700000"/>
          </a:xfrm>
          <a:prstGeom prst="rect">
            <a:avLst/>
          </a:prstGeom>
          <a:solidFill>
            <a:srgbClr val="F7FAFD"/>
          </a:solidFill>
          <a:ln w="12700">
            <a:solidFill>
              <a:srgbClr val="CBD8E5"/>
            </a:solidFill>
          </a:ln>
        </p:spPr>
        <p:txBody>
          <a:bodyPr wrap="square" lIns="90000" rIns="90000" tIns="90000" bIns="90000" anchor="mid"/>
          <a:lstStyle/>
          <a:p>
            <a:pPr algn="l"/>
            <a:r>
              <a:rPr lang="ja-JP" sz="1250">
                <a:solidFill>
                  <a:srgbClr val="222222"/>
                </a:solidFill>
                <a:latin typeface="Noto Sans CJK JP"/>
                <a:ea typeface="Noto Sans CJK JP"/>
              </a:rPr>
              <a:t>並列枝：同電圧 → 枝電流 → 全電流の和 → Rx</a:t>
            </a:r>
            <a:endParaRPr lang="ja-JP" sz="1250"/>
          </a:p>
        </p:txBody>
      </p:sp>
      <p:sp>
        <p:nvSpPr>
          <p:cNvPr id="31" name="ans"/>
          <p:cNvSpPr txBox="1"/>
          <p:nvPr/>
        </p:nvSpPr>
        <p:spPr>
          <a:xfrm>
            <a:off x="9850000" y="1100000"/>
            <a:ext cx="1500000" cy="700000"/>
          </a:xfrm>
          <a:prstGeom prst="rect">
            <a:avLst/>
          </a:prstGeom>
          <a:solidFill>
            <a:srgbClr val="F7FAFD"/>
          </a:solidFill>
          <a:ln w="12700">
            <a:solidFill>
              <a:srgbClr val="CBD8E5"/>
            </a:solidFill>
          </a:ln>
        </p:spPr>
        <p:txBody>
          <a:bodyPr wrap="square" lIns="90000" rIns="90000" tIns="90000" bIns="90000" anchor="mid"/>
          <a:lstStyle/>
          <a:p>
            <a:pPr algn="c"/>
            <a:r>
              <a:rPr lang="ja-JP" sz="1350" b="1">
                <a:solidFill>
                  <a:srgbClr val="8F2F20"/>
                </a:solidFill>
                <a:latin typeface="Noto Sans CJK JP"/>
                <a:ea typeface="Noto Sans CJK JP"/>
              </a:rPr>
              <a:t>答 4</a:t>
            </a:r>
            <a:endParaRPr lang="ja-JP" sz="1350"/>
          </a:p>
        </p:txBody>
      </p:sp>
      <p:sp>
        <p:nvSpPr>
          <p:cNvPr id="12" name="q"/>
          <p:cNvSpPr txBox="1"/>
          <p:nvPr/>
        </p:nvSpPr>
        <p:spPr>
          <a:xfrm>
            <a:off x="550000" y="1880000"/>
            <a:ext cx="2250000" cy="700000"/>
          </a:xfrm>
          <a:prstGeom prst="rect">
            <a:avLst/>
          </a:prstGeom>
          <a:solidFill>
            <a:srgbClr val="EEF4F9"/>
          </a:solidFill>
          <a:ln w="12700">
            <a:solidFill>
              <a:srgbClr val="CBD8E5"/>
            </a:solidFill>
          </a:ln>
        </p:spPr>
        <p:txBody>
          <a:bodyPr wrap="square" lIns="90000" rIns="90000" tIns="90000" bIns="90000" anchor="mid"/>
          <a:lstStyle/>
          <a:p>
            <a:pPr algn="c"/>
            <a:r>
              <a:rPr lang="ja-JP" sz="1250" b="1">
                <a:solidFill>
                  <a:srgbClr val="17365D"/>
                </a:solidFill>
                <a:latin typeface="Noto Sans CJK JP"/>
                <a:ea typeface="Noto Sans CJK JP"/>
              </a:rPr>
              <a:t>R7上 理論 問6</a:t>
            </a:r>
            <a:endParaRPr lang="ja-JP" sz="1250"/>
          </a:p>
        </p:txBody>
      </p:sp>
      <p:sp>
        <p:nvSpPr>
          <p:cNvPr id="22" name="path"/>
          <p:cNvSpPr txBox="1"/>
          <p:nvPr/>
        </p:nvSpPr>
        <p:spPr>
          <a:xfrm>
            <a:off x="2800000" y="1880000"/>
            <a:ext cx="7000000" cy="700000"/>
          </a:xfrm>
          <a:prstGeom prst="rect">
            <a:avLst/>
          </a:prstGeom>
          <a:solidFill>
            <a:srgbClr val="EEF4F9"/>
          </a:solidFill>
          <a:ln w="12700">
            <a:solidFill>
              <a:srgbClr val="CBD8E5"/>
            </a:solidFill>
          </a:ln>
        </p:spPr>
        <p:txBody>
          <a:bodyPr wrap="square" lIns="90000" rIns="90000" tIns="90000" bIns="90000" anchor="mid"/>
          <a:lstStyle/>
          <a:p>
            <a:pPr algn="l"/>
            <a:r>
              <a:rPr lang="ja-JP" sz="1250">
                <a:solidFill>
                  <a:srgbClr val="222222"/>
                </a:solidFill>
                <a:latin typeface="Noto Sans CJK JP"/>
                <a:ea typeface="Noto Sans CJK JP"/>
              </a:rPr>
              <a:t>分圧 → 並列追加 → 抵抗復元 → 端子短絡後の残存抵抗</a:t>
            </a:r>
            <a:endParaRPr lang="ja-JP" sz="1250"/>
          </a:p>
        </p:txBody>
      </p:sp>
      <p:sp>
        <p:nvSpPr>
          <p:cNvPr id="32" name="ans"/>
          <p:cNvSpPr txBox="1"/>
          <p:nvPr/>
        </p:nvSpPr>
        <p:spPr>
          <a:xfrm>
            <a:off x="9850000" y="1880000"/>
            <a:ext cx="1500000" cy="700000"/>
          </a:xfrm>
          <a:prstGeom prst="rect">
            <a:avLst/>
          </a:prstGeom>
          <a:solidFill>
            <a:srgbClr val="EEF4F9"/>
          </a:solidFill>
          <a:ln w="12700">
            <a:solidFill>
              <a:srgbClr val="CBD8E5"/>
            </a:solidFill>
          </a:ln>
        </p:spPr>
        <p:txBody>
          <a:bodyPr wrap="square" lIns="90000" rIns="90000" tIns="90000" bIns="90000" anchor="mid"/>
          <a:lstStyle/>
          <a:p>
            <a:pPr algn="c"/>
            <a:r>
              <a:rPr lang="ja-JP" sz="1350" b="1">
                <a:solidFill>
                  <a:srgbClr val="8F2F20"/>
                </a:solidFill>
                <a:latin typeface="Noto Sans CJK JP"/>
                <a:ea typeface="Noto Sans CJK JP"/>
              </a:rPr>
              <a:t>答 2</a:t>
            </a:r>
            <a:endParaRPr lang="ja-JP" sz="1350"/>
          </a:p>
        </p:txBody>
      </p:sp>
      <p:sp>
        <p:nvSpPr>
          <p:cNvPr id="13" name="q"/>
          <p:cNvSpPr txBox="1"/>
          <p:nvPr/>
        </p:nvSpPr>
        <p:spPr>
          <a:xfrm>
            <a:off x="550000" y="2660000"/>
            <a:ext cx="2250000" cy="700000"/>
          </a:xfrm>
          <a:prstGeom prst="rect">
            <a:avLst/>
          </a:prstGeom>
          <a:solidFill>
            <a:srgbClr val="F7FAFD"/>
          </a:solidFill>
          <a:ln w="12700">
            <a:solidFill>
              <a:srgbClr val="CBD8E5"/>
            </a:solidFill>
          </a:ln>
        </p:spPr>
        <p:txBody>
          <a:bodyPr wrap="square" lIns="90000" rIns="90000" tIns="90000" bIns="90000" anchor="mid"/>
          <a:lstStyle/>
          <a:p>
            <a:pPr algn="c"/>
            <a:r>
              <a:rPr lang="ja-JP" sz="1250" b="1">
                <a:solidFill>
                  <a:srgbClr val="17365D"/>
                </a:solidFill>
                <a:latin typeface="Noto Sans CJK JP"/>
                <a:ea typeface="Noto Sans CJK JP"/>
              </a:rPr>
              <a:t>R7上 理論 問7</a:t>
            </a:r>
            <a:endParaRPr lang="ja-JP" sz="1250"/>
          </a:p>
        </p:txBody>
      </p:sp>
      <p:sp>
        <p:nvSpPr>
          <p:cNvPr id="23" name="path"/>
          <p:cNvSpPr txBox="1"/>
          <p:nvPr/>
        </p:nvSpPr>
        <p:spPr>
          <a:xfrm>
            <a:off x="2800000" y="2660000"/>
            <a:ext cx="7000000" cy="700000"/>
          </a:xfrm>
          <a:prstGeom prst="rect">
            <a:avLst/>
          </a:prstGeom>
          <a:solidFill>
            <a:srgbClr val="F7FAFD"/>
          </a:solidFill>
          <a:ln w="12700">
            <a:solidFill>
              <a:srgbClr val="CBD8E5"/>
            </a:solidFill>
          </a:ln>
        </p:spPr>
        <p:txBody>
          <a:bodyPr wrap="square" lIns="90000" rIns="90000" tIns="90000" bIns="90000" anchor="mid"/>
          <a:lstStyle/>
          <a:p>
            <a:pPr algn="l"/>
            <a:r>
              <a:rPr lang="ja-JP" sz="1250">
                <a:solidFill>
                  <a:srgbClr val="222222"/>
                </a:solidFill>
                <a:latin typeface="Noto Sans CJK JP"/>
                <a:ea typeface="Noto Sans CJK JP"/>
              </a:rPr>
              <a:t>開時Req → 電流比で閉時Req → 追加並列枝のR</a:t>
            </a:r>
            <a:endParaRPr lang="ja-JP" sz="1250"/>
          </a:p>
        </p:txBody>
      </p:sp>
      <p:sp>
        <p:nvSpPr>
          <p:cNvPr id="33" name="ans"/>
          <p:cNvSpPr txBox="1"/>
          <p:nvPr/>
        </p:nvSpPr>
        <p:spPr>
          <a:xfrm>
            <a:off x="9850000" y="2660000"/>
            <a:ext cx="1500000" cy="700000"/>
          </a:xfrm>
          <a:prstGeom prst="rect">
            <a:avLst/>
          </a:prstGeom>
          <a:solidFill>
            <a:srgbClr val="F7FAFD"/>
          </a:solidFill>
          <a:ln w="12700">
            <a:solidFill>
              <a:srgbClr val="CBD8E5"/>
            </a:solidFill>
          </a:ln>
        </p:spPr>
        <p:txBody>
          <a:bodyPr wrap="square" lIns="90000" rIns="90000" tIns="90000" bIns="90000" anchor="mid"/>
          <a:lstStyle/>
          <a:p>
            <a:pPr algn="c"/>
            <a:r>
              <a:rPr lang="ja-JP" sz="1350" b="1">
                <a:solidFill>
                  <a:srgbClr val="8F2F20"/>
                </a:solidFill>
                <a:latin typeface="Noto Sans CJK JP"/>
                <a:ea typeface="Noto Sans CJK JP"/>
              </a:rPr>
              <a:t>答 1</a:t>
            </a:r>
            <a:endParaRPr lang="ja-JP" sz="1350"/>
          </a:p>
        </p:txBody>
      </p:sp>
      <p:sp>
        <p:nvSpPr>
          <p:cNvPr id="14" name="q"/>
          <p:cNvSpPr txBox="1"/>
          <p:nvPr/>
        </p:nvSpPr>
        <p:spPr>
          <a:xfrm>
            <a:off x="550000" y="3440000"/>
            <a:ext cx="2250000" cy="700000"/>
          </a:xfrm>
          <a:prstGeom prst="rect">
            <a:avLst/>
          </a:prstGeom>
          <a:solidFill>
            <a:srgbClr val="EEF4F9"/>
          </a:solidFill>
          <a:ln w="12700">
            <a:solidFill>
              <a:srgbClr val="CBD8E5"/>
            </a:solidFill>
          </a:ln>
        </p:spPr>
        <p:txBody>
          <a:bodyPr wrap="square" lIns="90000" rIns="90000" tIns="90000" bIns="90000" anchor="mid"/>
          <a:lstStyle/>
          <a:p>
            <a:pPr algn="c"/>
            <a:r>
              <a:rPr lang="ja-JP" sz="1250" b="1">
                <a:solidFill>
                  <a:srgbClr val="17365D"/>
                </a:solidFill>
                <a:latin typeface="Noto Sans CJK JP"/>
                <a:ea typeface="Noto Sans CJK JP"/>
              </a:rPr>
              <a:t>R5下 理論 問7</a:t>
            </a:r>
            <a:endParaRPr lang="ja-JP" sz="1250"/>
          </a:p>
        </p:txBody>
      </p:sp>
      <p:sp>
        <p:nvSpPr>
          <p:cNvPr id="24" name="path"/>
          <p:cNvSpPr txBox="1"/>
          <p:nvPr/>
        </p:nvSpPr>
        <p:spPr>
          <a:xfrm>
            <a:off x="2800000" y="3440000"/>
            <a:ext cx="7000000" cy="700000"/>
          </a:xfrm>
          <a:prstGeom prst="rect">
            <a:avLst/>
          </a:prstGeom>
          <a:solidFill>
            <a:srgbClr val="EEF4F9"/>
          </a:solidFill>
          <a:ln w="12700">
            <a:solidFill>
              <a:srgbClr val="CBD8E5"/>
            </a:solidFill>
          </a:ln>
        </p:spPr>
        <p:txBody>
          <a:bodyPr wrap="square" lIns="90000" rIns="90000" tIns="90000" bIns="90000" anchor="mid"/>
          <a:lstStyle/>
          <a:p>
            <a:pPr algn="l"/>
            <a:r>
              <a:rPr lang="ja-JP" sz="1250">
                <a:solidFill>
                  <a:srgbClr val="222222"/>
                </a:solidFill>
                <a:latin typeface="Noto Sans CJK JP"/>
                <a:ea typeface="Noto Sans CJK JP"/>
              </a:rPr>
              <a:t>3状態を別回路化 → Req=V/I → バイパス/並列条件</a:t>
            </a:r>
            <a:endParaRPr lang="ja-JP" sz="1250"/>
          </a:p>
        </p:txBody>
      </p:sp>
      <p:sp>
        <p:nvSpPr>
          <p:cNvPr id="34" name="ans"/>
          <p:cNvSpPr txBox="1"/>
          <p:nvPr/>
        </p:nvSpPr>
        <p:spPr>
          <a:xfrm>
            <a:off x="9850000" y="3440000"/>
            <a:ext cx="1500000" cy="700000"/>
          </a:xfrm>
          <a:prstGeom prst="rect">
            <a:avLst/>
          </a:prstGeom>
          <a:solidFill>
            <a:srgbClr val="EEF4F9"/>
          </a:solidFill>
          <a:ln w="12700">
            <a:solidFill>
              <a:srgbClr val="CBD8E5"/>
            </a:solidFill>
          </a:ln>
        </p:spPr>
        <p:txBody>
          <a:bodyPr wrap="square" lIns="90000" rIns="90000" tIns="90000" bIns="90000" anchor="mid"/>
          <a:lstStyle/>
          <a:p>
            <a:pPr algn="c"/>
            <a:r>
              <a:rPr lang="ja-JP" sz="1350" b="1">
                <a:solidFill>
                  <a:srgbClr val="8F2F20"/>
                </a:solidFill>
                <a:latin typeface="Noto Sans CJK JP"/>
                <a:ea typeface="Noto Sans CJK JP"/>
              </a:rPr>
              <a:t>答 5</a:t>
            </a:r>
            <a:endParaRPr lang="ja-JP" sz="1350"/>
          </a:p>
        </p:txBody>
      </p:sp>
      <p:sp>
        <p:nvSpPr>
          <p:cNvPr id="15" name="q"/>
          <p:cNvSpPr txBox="1"/>
          <p:nvPr/>
        </p:nvSpPr>
        <p:spPr>
          <a:xfrm>
            <a:off x="550000" y="4220000"/>
            <a:ext cx="2250000" cy="700000"/>
          </a:xfrm>
          <a:prstGeom prst="rect">
            <a:avLst/>
          </a:prstGeom>
          <a:solidFill>
            <a:srgbClr val="F7FAFD"/>
          </a:solidFill>
          <a:ln w="12700">
            <a:solidFill>
              <a:srgbClr val="CBD8E5"/>
            </a:solidFill>
          </a:ln>
        </p:spPr>
        <p:txBody>
          <a:bodyPr wrap="square" lIns="90000" rIns="90000" tIns="90000" bIns="90000" anchor="mid"/>
          <a:lstStyle/>
          <a:p>
            <a:pPr algn="c"/>
            <a:r>
              <a:rPr lang="ja-JP" sz="1250" b="1">
                <a:solidFill>
                  <a:srgbClr val="17365D"/>
                </a:solidFill>
                <a:latin typeface="Noto Sans CJK JP"/>
                <a:ea typeface="Noto Sans CJK JP"/>
              </a:rPr>
              <a:t>H27 理論 問6</a:t>
            </a:r>
            <a:endParaRPr lang="ja-JP" sz="1250"/>
          </a:p>
        </p:txBody>
      </p:sp>
      <p:sp>
        <p:nvSpPr>
          <p:cNvPr id="25" name="path"/>
          <p:cNvSpPr txBox="1"/>
          <p:nvPr/>
        </p:nvSpPr>
        <p:spPr>
          <a:xfrm>
            <a:off x="2800000" y="4220000"/>
            <a:ext cx="7000000" cy="700000"/>
          </a:xfrm>
          <a:prstGeom prst="rect">
            <a:avLst/>
          </a:prstGeom>
          <a:solidFill>
            <a:srgbClr val="F7FAFD"/>
          </a:solidFill>
          <a:ln w="12700">
            <a:solidFill>
              <a:srgbClr val="CBD8E5"/>
            </a:solidFill>
          </a:ln>
        </p:spPr>
        <p:txBody>
          <a:bodyPr wrap="square" lIns="90000" rIns="90000" tIns="90000" bIns="90000" anchor="mid"/>
          <a:lstStyle/>
          <a:p>
            <a:pPr algn="l"/>
            <a:r>
              <a:rPr lang="ja-JP" sz="1250">
                <a:solidFill>
                  <a:srgbClr val="222222"/>
                </a:solidFill>
                <a:latin typeface="Noto Sans CJK JP"/>
                <a:ea typeface="Noto Sans CJK JP"/>
              </a:rPr>
              <a:t>開閉前後のReqが同じ → 2つの等価回路式を連立</a:t>
            </a:r>
            <a:endParaRPr lang="ja-JP" sz="1250"/>
          </a:p>
        </p:txBody>
      </p:sp>
      <p:sp>
        <p:nvSpPr>
          <p:cNvPr id="35" name="ans"/>
          <p:cNvSpPr txBox="1"/>
          <p:nvPr/>
        </p:nvSpPr>
        <p:spPr>
          <a:xfrm>
            <a:off x="9850000" y="4220000"/>
            <a:ext cx="1500000" cy="700000"/>
          </a:xfrm>
          <a:prstGeom prst="rect">
            <a:avLst/>
          </a:prstGeom>
          <a:solidFill>
            <a:srgbClr val="F7FAFD"/>
          </a:solidFill>
          <a:ln w="12700">
            <a:solidFill>
              <a:srgbClr val="CBD8E5"/>
            </a:solidFill>
          </a:ln>
        </p:spPr>
        <p:txBody>
          <a:bodyPr wrap="square" lIns="90000" rIns="90000" tIns="90000" bIns="90000" anchor="mid"/>
          <a:lstStyle/>
          <a:p>
            <a:pPr algn="c"/>
            <a:r>
              <a:rPr lang="ja-JP" sz="1350" b="1">
                <a:solidFill>
                  <a:srgbClr val="8F2F20"/>
                </a:solidFill>
                <a:latin typeface="Noto Sans CJK JP"/>
                <a:ea typeface="Noto Sans CJK JP"/>
              </a:rPr>
              <a:t>答 2</a:t>
            </a:r>
            <a:endParaRPr lang="ja-JP" sz="1350"/>
          </a:p>
        </p:txBody>
      </p:sp>
      <p:sp>
        <p:nvSpPr>
          <p:cNvPr id="50" name="algo"/>
          <p:cNvSpPr txBox="1"/>
          <p:nvPr/>
        </p:nvSpPr>
        <p:spPr>
          <a:xfrm>
            <a:off x="850000" y="5250000"/>
            <a:ext cx="10500000" cy="650000"/>
          </a:xfrm>
          <a:prstGeom prst="rect">
            <a:avLst/>
          </a:prstGeom>
          <a:solidFill>
            <a:srgbClr val="FFF7E6"/>
          </a:solidFill>
          <a:ln w="12700">
            <a:solidFill>
              <a:srgbClr val="E5BF67"/>
            </a:solidFill>
          </a:ln>
        </p:spPr>
        <p:txBody>
          <a:bodyPr wrap="square" lIns="90000" rIns="90000" tIns="90000" bIns="90000" anchor="mid"/>
          <a:lstStyle/>
          <a:p>
            <a:pPr algn="c"/>
            <a:r>
              <a:rPr lang="ja-JP" sz="1550" b="1">
                <a:solidFill>
                  <a:srgbClr val="6B4B00"/>
                </a:solidFill>
                <a:latin typeface="Noto Sans CJK JP"/>
                <a:ea typeface="Noto Sans CJK JP"/>
              </a:rPr>
              <a:t>共通アルゴリズム：状態を読む → 等価回路 → 直並列/分圧 → V・I → 前後比較</a:t>
            </a:r>
            <a:endParaRPr lang="ja-JP" sz="1550"/>
          </a:p>
        </p:txBody>
      </p:sp>
      <p:sp>
        <p:nvSpPr>
          <p:cNvPr id="99" name="footer"/>
          <p:cNvSpPr txBox="1"/>
          <p:nvPr/>
        </p:nvSpPr>
        <p:spPr>
          <a:xfrm>
            <a:off x="10100000" y="6460000"/>
            <a:ext cx="150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mid"/>
          <a:lstStyle/>
          <a:p>
            <a:pPr algn="r"/>
            <a:r>
              <a:rPr lang="ja-JP" sz="850">
                <a:solidFill>
                  <a:srgbClr val="777777"/>
                </a:solidFill>
                <a:latin typeface="Noto Sans CJK JP"/>
                <a:ea typeface="Noto Sans CJK JP"/>
              </a:rPr>
              <a:t>Topic 30  |  3/4</a:t>
            </a:r>
            <a:endParaRPr lang="ja-JP" sz="8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endParaRPr/>
          </a:p>
        </p:txBody>
      </p:sp>
      <p:sp>
        <p:nvSpPr>
          <p:cNvPr id="10" name="title"/>
          <p:cNvSpPr txBox="1"/>
          <p:nvPr/>
        </p:nvSpPr>
        <p:spPr>
          <a:xfrm>
            <a:off x="450000" y="180000"/>
            <a:ext cx="112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mid"/>
          <a:lstStyle/>
          <a:p>
            <a:pPr algn="l"/>
            <a:r>
              <a:rPr lang="ja-JP" sz="2700" b="1">
                <a:solidFill>
                  <a:srgbClr val="17365D"/>
                </a:solidFill>
                <a:latin typeface="Noto Sans CJK JP"/>
                <a:ea typeface="Noto Sans CJK JP"/>
              </a:rPr>
              <a:t>本試験で再利用する7ステップ</a:t>
            </a:r>
            <a:endParaRPr lang="ja-JP" sz="2700"/>
          </a:p>
        </p:txBody>
      </p:sp>
      <p:sp>
        <p:nvSpPr>
          <p:cNvPr id="10" name="step"/>
          <p:cNvSpPr txBox="1"/>
          <p:nvPr/>
        </p:nvSpPr>
        <p:spPr>
          <a:xfrm>
            <a:off x="650000" y="1050000"/>
            <a:ext cx="7200000" cy="570000"/>
          </a:xfrm>
          <a:prstGeom prst="rect">
            <a:avLst/>
          </a:prstGeom>
          <a:solidFill>
            <a:srgbClr val="F7FAFD"/>
          </a:solidFill>
          <a:ln w="12700">
            <a:solidFill>
              <a:srgbClr val="CBD8E5"/>
            </a:solidFill>
          </a:ln>
        </p:spPr>
        <p:txBody>
          <a:bodyPr wrap="square" lIns="90000" rIns="90000" tIns="90000" bIns="90000" anchor="mid"/>
          <a:lstStyle/>
          <a:p>
            <a:pPr algn="l"/>
            <a:r>
              <a:rPr lang="ja-JP" sz="1300" b="1">
                <a:solidFill>
                  <a:srgbClr val="222222"/>
                </a:solidFill>
                <a:latin typeface="Noto Sans CJK JP"/>
                <a:ea typeface="Noto Sans CJK JP"/>
              </a:rPr>
              <a:t>1  スイッチ状態と接続点を確認</a:t>
            </a:r>
            <a:endParaRPr lang="ja-JP" sz="1300"/>
          </a:p>
        </p:txBody>
      </p:sp>
      <p:sp>
        <p:nvSpPr>
          <p:cNvPr id="11" name="step"/>
          <p:cNvSpPr txBox="1"/>
          <p:nvPr/>
        </p:nvSpPr>
        <p:spPr>
          <a:xfrm>
            <a:off x="650000" y="1700000"/>
            <a:ext cx="7200000" cy="570000"/>
          </a:xfrm>
          <a:prstGeom prst="rect">
            <a:avLst/>
          </a:prstGeom>
          <a:solidFill>
            <a:srgbClr val="F7FAFD"/>
          </a:solidFill>
          <a:ln w="12700">
            <a:solidFill>
              <a:srgbClr val="CBD8E5"/>
            </a:solidFill>
          </a:ln>
        </p:spPr>
        <p:txBody>
          <a:bodyPr wrap="square" lIns="90000" rIns="90000" tIns="90000" bIns="90000" anchor="mid"/>
          <a:lstStyle/>
          <a:p>
            <a:pPr algn="l"/>
            <a:r>
              <a:rPr lang="ja-JP" sz="1300">
                <a:solidFill>
                  <a:srgbClr val="222222"/>
                </a:solidFill>
                <a:latin typeface="Noto Sans CJK JP"/>
                <a:ea typeface="Noto Sans CJK JP"/>
              </a:rPr>
              <a:t>2  開放枝を除外／短絡二点を同電位として描き直す</a:t>
            </a:r>
            <a:endParaRPr lang="ja-JP" sz="1300"/>
          </a:p>
        </p:txBody>
      </p:sp>
      <p:sp>
        <p:nvSpPr>
          <p:cNvPr id="12" name="step"/>
          <p:cNvSpPr txBox="1"/>
          <p:nvPr/>
        </p:nvSpPr>
        <p:spPr>
          <a:xfrm>
            <a:off x="650000" y="2350000"/>
            <a:ext cx="7200000" cy="570000"/>
          </a:xfrm>
          <a:prstGeom prst="rect">
            <a:avLst/>
          </a:prstGeom>
          <a:solidFill>
            <a:srgbClr val="F7FAFD"/>
          </a:solidFill>
          <a:ln w="12700">
            <a:solidFill>
              <a:srgbClr val="CBD8E5"/>
            </a:solidFill>
          </a:ln>
        </p:spPr>
        <p:txBody>
          <a:bodyPr wrap="square" lIns="90000" rIns="90000" tIns="90000" bIns="90000" anchor="mid"/>
          <a:lstStyle/>
          <a:p>
            <a:pPr algn="l"/>
            <a:r>
              <a:rPr lang="ja-JP" sz="1300">
                <a:solidFill>
                  <a:srgbClr val="222222"/>
                </a:solidFill>
                <a:latin typeface="Noto Sans CJK JP"/>
                <a:ea typeface="Noto Sans CJK JP"/>
              </a:rPr>
              <a:t>3  新しい並列枝・バイパスを反映</a:t>
            </a:r>
            <a:endParaRPr lang="ja-JP" sz="1300"/>
          </a:p>
        </p:txBody>
      </p:sp>
      <p:sp>
        <p:nvSpPr>
          <p:cNvPr id="13" name="step"/>
          <p:cNvSpPr txBox="1"/>
          <p:nvPr/>
        </p:nvSpPr>
        <p:spPr>
          <a:xfrm>
            <a:off x="650000" y="3000000"/>
            <a:ext cx="7200000" cy="570000"/>
          </a:xfrm>
          <a:prstGeom prst="rect">
            <a:avLst/>
          </a:prstGeom>
          <a:solidFill>
            <a:srgbClr val="F7FAFD"/>
          </a:solidFill>
          <a:ln w="12700">
            <a:solidFill>
              <a:srgbClr val="CBD8E5"/>
            </a:solidFill>
          </a:ln>
        </p:spPr>
        <p:txBody>
          <a:bodyPr wrap="square" lIns="90000" rIns="90000" tIns="90000" bIns="90000" anchor="mid"/>
          <a:lstStyle/>
          <a:p>
            <a:pPr algn="l"/>
            <a:r>
              <a:rPr lang="ja-JP" sz="1300">
                <a:solidFill>
                  <a:srgbClr val="222222"/>
                </a:solidFill>
                <a:latin typeface="Noto Sans CJK JP"/>
                <a:ea typeface="Noto Sans CJK JP"/>
              </a:rPr>
              <a:t>4  Req または分圧式を作る</a:t>
            </a:r>
            <a:endParaRPr lang="ja-JP" sz="1300"/>
          </a:p>
        </p:txBody>
      </p:sp>
      <p:sp>
        <p:nvSpPr>
          <p:cNvPr id="14" name="step"/>
          <p:cNvSpPr txBox="1"/>
          <p:nvPr/>
        </p:nvSpPr>
        <p:spPr>
          <a:xfrm>
            <a:off x="650000" y="3650000"/>
            <a:ext cx="7200000" cy="570000"/>
          </a:xfrm>
          <a:prstGeom prst="rect">
            <a:avLst/>
          </a:prstGeom>
          <a:solidFill>
            <a:srgbClr val="F7FAFD"/>
          </a:solidFill>
          <a:ln w="12700">
            <a:solidFill>
              <a:srgbClr val="CBD8E5"/>
            </a:solidFill>
          </a:ln>
        </p:spPr>
        <p:txBody>
          <a:bodyPr wrap="square" lIns="90000" rIns="90000" tIns="90000" bIns="90000" anchor="mid"/>
          <a:lstStyle/>
          <a:p>
            <a:pPr algn="l"/>
            <a:r>
              <a:rPr lang="ja-JP" sz="1300">
                <a:solidFill>
                  <a:srgbClr val="222222"/>
                </a:solidFill>
                <a:latin typeface="Noto Sans CJK JP"/>
                <a:ea typeface="Noto Sans CJK JP"/>
              </a:rPr>
              <a:t>5  V=IR と枝電流の和で未知量を求める</a:t>
            </a:r>
            <a:endParaRPr lang="ja-JP" sz="1300"/>
          </a:p>
        </p:txBody>
      </p:sp>
      <p:sp>
        <p:nvSpPr>
          <p:cNvPr id="15" name="step"/>
          <p:cNvSpPr txBox="1"/>
          <p:nvPr/>
        </p:nvSpPr>
        <p:spPr>
          <a:xfrm>
            <a:off x="650000" y="4300000"/>
            <a:ext cx="7200000" cy="570000"/>
          </a:xfrm>
          <a:prstGeom prst="rect">
            <a:avLst/>
          </a:prstGeom>
          <a:solidFill>
            <a:srgbClr val="F7FAFD"/>
          </a:solidFill>
          <a:ln w="12700">
            <a:solidFill>
              <a:srgbClr val="CBD8E5"/>
            </a:solidFill>
          </a:ln>
        </p:spPr>
        <p:txBody>
          <a:bodyPr wrap="square" lIns="90000" rIns="90000" tIns="90000" bIns="90000" anchor="mid"/>
          <a:lstStyle/>
          <a:p>
            <a:pPr algn="l"/>
            <a:r>
              <a:rPr lang="ja-JP" sz="1300">
                <a:solidFill>
                  <a:srgbClr val="222222"/>
                </a:solidFill>
                <a:latin typeface="Noto Sans CJK JP"/>
                <a:ea typeface="Noto Sans CJK JP"/>
              </a:rPr>
              <a:t>6  開閉前後を比較し、必要なら連立</a:t>
            </a:r>
            <a:endParaRPr lang="ja-JP" sz="1300"/>
          </a:p>
        </p:txBody>
      </p:sp>
      <p:sp>
        <p:nvSpPr>
          <p:cNvPr id="16" name="step"/>
          <p:cNvSpPr txBox="1"/>
          <p:nvPr/>
        </p:nvSpPr>
        <p:spPr>
          <a:xfrm>
            <a:off x="650000" y="4950000"/>
            <a:ext cx="7200000" cy="570000"/>
          </a:xfrm>
          <a:prstGeom prst="rect">
            <a:avLst/>
          </a:prstGeom>
          <a:solidFill>
            <a:srgbClr val="F7FAFD"/>
          </a:solidFill>
          <a:ln w="12700">
            <a:solidFill>
              <a:srgbClr val="CBD8E5"/>
            </a:solidFill>
          </a:ln>
        </p:spPr>
        <p:txBody>
          <a:bodyPr wrap="square" lIns="90000" rIns="90000" tIns="90000" bIns="90000" anchor="mid"/>
          <a:lstStyle/>
          <a:p>
            <a:pPr algn="l"/>
            <a:r>
              <a:rPr lang="ja-JP" sz="1300" b="1">
                <a:solidFill>
                  <a:srgbClr val="222222"/>
                </a:solidFill>
                <a:latin typeface="Noto Sans CJK JP"/>
                <a:ea typeface="Noto Sans CJK JP"/>
              </a:rPr>
              <a:t>7  短絡後に残る抵抗・単位・桁を検算</a:t>
            </a:r>
            <a:endParaRPr lang="ja-JP" sz="1300"/>
          </a:p>
        </p:txBody>
      </p:sp>
      <p:sp>
        <p:nvSpPr>
          <p:cNvPr id="30" name="rail"/>
          <p:cNvSpPr txBox="1"/>
          <p:nvPr/>
        </p:nvSpPr>
        <p:spPr>
          <a:xfrm>
            <a:off x="8150000" y="1150000"/>
            <a:ext cx="3350000" cy="2600000"/>
          </a:xfrm>
          <a:prstGeom prst="rect">
            <a:avLst/>
          </a:prstGeom>
          <a:solidFill>
            <a:srgbClr val="EDF4FB"/>
          </a:solidFill>
          <a:ln w="12700">
            <a:solidFill>
              <a:srgbClr val="B8CEE0"/>
            </a:solidFill>
          </a:ln>
        </p:spPr>
        <p:txBody>
          <a:bodyPr wrap="square" lIns="90000" rIns="90000" tIns="90000" bIns="90000" anchor="mid"/>
          <a:lstStyle/>
          <a:p>
            <a:pPr algn="l"/>
            <a:r>
              <a:rPr lang="ja-JP" sz="1450">
                <a:solidFill>
                  <a:srgbClr val="17365D"/>
                </a:solidFill>
                <a:latin typeface="Noto Sans CJK JP"/>
                <a:ea typeface="Noto Sans CJK JP"/>
              </a:rPr>
              <a:t>軌道回路への読み替え</a:t>
            </a:r>
            <a:endParaRPr lang="ja-JP" sz="1450"/>
          </a:p>
          <a:p>
            <a:pPr algn="l"/>
            <a:r>
              <a:rPr lang="ja-JP" sz="1450">
                <a:solidFill>
                  <a:srgbClr val="17365D"/>
                </a:solidFill>
                <a:latin typeface="Noto Sans CJK JP"/>
                <a:ea typeface="Noto Sans CJK JP"/>
              </a:rPr>
              <a:t/>
            </a:r>
            <a:endParaRPr lang="ja-JP" sz="1450"/>
          </a:p>
          <a:p>
            <a:pPr algn="l"/>
            <a:r>
              <a:rPr lang="ja-JP" sz="1450">
                <a:solidFill>
                  <a:srgbClr val="17365D"/>
                </a:solidFill>
                <a:latin typeface="Noto Sans CJK JP"/>
                <a:ea typeface="Noto Sans CJK JP"/>
              </a:rPr>
              <a:t>列車なし</a:t>
            </a:r>
            <a:endParaRPr lang="ja-JP" sz="1450"/>
          </a:p>
          <a:p>
            <a:pPr algn="l"/>
            <a:r>
              <a:rPr lang="ja-JP" sz="1450">
                <a:solidFill>
                  <a:srgbClr val="17365D"/>
                </a:solidFill>
                <a:latin typeface="Noto Sans CJK JP"/>
                <a:ea typeface="Noto Sans CJK JP"/>
              </a:rPr>
              <a:t>→ 受信側へ電気が届く</a:t>
            </a:r>
            <a:endParaRPr lang="ja-JP" sz="1450"/>
          </a:p>
          <a:p>
            <a:pPr algn="l"/>
            <a:r>
              <a:rPr lang="ja-JP" sz="1450">
                <a:solidFill>
                  <a:srgbClr val="17365D"/>
                </a:solidFill>
                <a:latin typeface="Noto Sans CJK JP"/>
                <a:ea typeface="Noto Sans CJK JP"/>
              </a:rPr>
              <a:t/>
            </a:r>
            <a:endParaRPr lang="ja-JP" sz="1450"/>
          </a:p>
          <a:p>
            <a:pPr algn="l"/>
            <a:r>
              <a:rPr lang="ja-JP" sz="1450">
                <a:solidFill>
                  <a:srgbClr val="17365D"/>
                </a:solidFill>
                <a:latin typeface="Noto Sans CJK JP"/>
                <a:ea typeface="Noto Sans CJK JP"/>
              </a:rPr>
              <a:t>列車あり</a:t>
            </a:r>
            <a:endParaRPr lang="ja-JP" sz="1450"/>
          </a:p>
          <a:p>
            <a:pPr algn="l"/>
            <a:r>
              <a:rPr lang="ja-JP" sz="1450">
                <a:solidFill>
                  <a:srgbClr val="17365D"/>
                </a:solidFill>
                <a:latin typeface="Noto Sans CJK JP"/>
                <a:ea typeface="Noto Sans CJK JP"/>
              </a:rPr>
              <a:t>→ 車軸短絡で低抵抗枝が追加</a:t>
            </a:r>
            <a:endParaRPr lang="ja-JP" sz="1450"/>
          </a:p>
          <a:p>
            <a:pPr algn="l"/>
            <a:r>
              <a:rPr lang="ja-JP" sz="1450">
                <a:solidFill>
                  <a:srgbClr val="17365D"/>
                </a:solidFill>
                <a:latin typeface="Noto Sans CJK JP"/>
                <a:ea typeface="Noto Sans CJK JP"/>
              </a:rPr>
              <a:t>→ 受信側の電気状態が変化</a:t>
            </a:r>
            <a:endParaRPr lang="ja-JP" sz="1450"/>
          </a:p>
        </p:txBody>
      </p:sp>
      <p:sp>
        <p:nvSpPr>
          <p:cNvPr id="31" name="scope"/>
          <p:cNvSpPr txBox="1"/>
          <p:nvPr/>
        </p:nvSpPr>
        <p:spPr>
          <a:xfrm>
            <a:off x="8150000" y="4050000"/>
            <a:ext cx="3350000" cy="1250000"/>
          </a:xfrm>
          <a:prstGeom prst="rect">
            <a:avLst/>
          </a:prstGeom>
          <a:solidFill>
            <a:srgbClr val="E8F5E9"/>
          </a:solidFill>
          <a:ln w="12700">
            <a:solidFill>
              <a:srgbClr val="8BC58F"/>
            </a:solidFill>
          </a:ln>
        </p:spPr>
        <p:txBody>
          <a:bodyPr wrap="square" lIns="90000" rIns="90000" tIns="90000" bIns="90000" anchor="mid"/>
          <a:lstStyle/>
          <a:p>
            <a:pPr algn="l"/>
            <a:r>
              <a:rPr lang="ja-JP" sz="1250" b="1">
                <a:solidFill>
                  <a:srgbClr val="245A29"/>
                </a:solidFill>
                <a:latin typeface="Noto Sans CJK JP"/>
                <a:ea typeface="Noto Sans CJK JP"/>
              </a:rPr>
              <a:t>固定範囲</a:t>
            </a:r>
            <a:endParaRPr lang="ja-JP" sz="1250"/>
          </a:p>
          <a:p>
            <a:pPr algn="l"/>
            <a:r>
              <a:rPr lang="ja-JP" sz="1250" b="1">
                <a:solidFill>
                  <a:srgbClr val="245A29"/>
                </a:solidFill>
                <a:latin typeface="Noto Sans CJK JP"/>
                <a:ea typeface="Noto Sans CJK JP"/>
              </a:rPr>
              <a:t>レール／軌道回路／車軸短絡</a:t>
            </a:r>
            <a:endParaRPr lang="ja-JP" sz="1250"/>
          </a:p>
          <a:p>
            <a:pPr algn="l"/>
            <a:r>
              <a:rPr lang="ja-JP" sz="1250" b="1">
                <a:solidFill>
                  <a:srgbClr val="245A29"/>
                </a:solidFill>
                <a:latin typeface="Noto Sans CJK JP"/>
                <a:ea typeface="Noto Sans CJK JP"/>
              </a:rPr>
              <a:t>電圧／電流／短絡／リレー／列車検知</a:t>
            </a:r>
            <a:endParaRPr lang="ja-JP" sz="1250"/>
          </a:p>
        </p:txBody>
      </p:sp>
      <p:sp>
        <p:nvSpPr>
          <p:cNvPr id="32" name="no"/>
          <p:cNvSpPr txBox="1"/>
          <p:nvPr/>
        </p:nvSpPr>
        <p:spPr>
          <a:xfrm>
            <a:off x="8150000" y="5450000"/>
            <a:ext cx="3350000" cy="650000"/>
          </a:xfrm>
          <a:prstGeom prst="rect">
            <a:avLst/>
          </a:prstGeom>
          <a:solidFill>
            <a:srgbClr val="FFF0ED"/>
          </a:solidFill>
          <a:ln w="12700">
            <a:solidFill>
              <a:srgbClr val="E49A8A"/>
            </a:solidFill>
          </a:ln>
        </p:spPr>
        <p:txBody>
          <a:bodyPr wrap="square" lIns="90000" rIns="90000" tIns="90000" bIns="90000" anchor="mid"/>
          <a:lstStyle/>
          <a:p>
            <a:pPr algn="l"/>
            <a:r>
              <a:rPr lang="ja-JP" sz="1050">
                <a:solidFill>
                  <a:srgbClr val="8F2F20"/>
                </a:solidFill>
                <a:latin typeface="Noto Sans CJK JP"/>
                <a:ea typeface="Noto Sans CJK JP"/>
              </a:rPr>
              <a:t>未確認の実車電圧・電流・短絡抵抗・リレー動作値は置かない。</a:t>
            </a:r>
            <a:endParaRPr lang="ja-JP" sz="1050"/>
          </a:p>
        </p:txBody>
      </p:sp>
      <p:sp>
        <p:nvSpPr>
          <p:cNvPr id="99" name="footer"/>
          <p:cNvSpPr txBox="1"/>
          <p:nvPr/>
        </p:nvSpPr>
        <p:spPr>
          <a:xfrm>
            <a:off x="10100000" y="6460000"/>
            <a:ext cx="150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mid"/>
          <a:lstStyle/>
          <a:p>
            <a:pPr algn="r"/>
            <a:r>
              <a:rPr lang="ja-JP" sz="850">
                <a:solidFill>
                  <a:srgbClr val="777777"/>
                </a:solidFill>
                <a:latin typeface="Noto Sans CJK JP"/>
                <a:ea typeface="Noto Sans CJK JP"/>
              </a:rPr>
              <a:t>Topic 30  |  4/4</a:t>
            </a:r>
            <a:endParaRPr lang="ja-JP" sz="8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">
  <a:themeElements>
    <a:clrScheme name="Minimal">
      <a:dk1>
        <a:srgbClr val="000000"/>
      </a:dk1>
      <a:lt1>
        <a:srgbClr val="FFFFFF"/>
      </a:lt1>
      <a:dk2>
        <a:srgbClr val="17365D"/>
      </a:dk2>
      <a:lt2>
        <a:srgbClr val="F2F2F2"/>
      </a:lt2>
      <a:accent1>
        <a:srgbClr val="4472C4"/>
      </a:accent1>
      <a:accent2>
        <a:srgbClr val="70AD47"/>
      </a:accent2>
      <a:accent3>
        <a:srgbClr val="FFC000"/>
      </a:accent3>
      <a:accent4>
        <a:srgbClr val="ED7D31"/>
      </a:accent4>
      <a:accent5>
        <a:srgbClr val="5B9BD5"/>
      </a:accent5>
      <a:accent6>
        <a:srgbClr val="A5A5A5"/>
      </a:accent6>
      <a:hlink>
        <a:srgbClr val="0563C1"/>
      </a:hlink>
      <a:folHlink>
        <a:srgbClr val="954F72"/>
      </a:folHlink>
    </a:clrScheme>
    <a:fontScheme name="Minimal">
      <a:majorFont>
        <a:latin typeface="Arial"/>
        <a:ea typeface="Noto Sans CJK JP"/>
        <a:cs typeface="Arial"/>
      </a:majorFont>
      <a:minorFont>
        <a:latin typeface="Arial"/>
        <a:ea typeface="Noto Sans CJK JP"/>
        <a:cs typeface="Arial"/>
      </a:minorFont>
    </a:fontScheme>
    <a:fmtScheme name="Minimal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