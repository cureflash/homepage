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ja-JP" sz="2800" b="1"/>
              <a:t>300系① 誘導電動機：回転磁界からすべりへ</a:t>
            </a:r>
            <a:endParaRPr lang="ja-JP" sz="2800"/>
          </a:p>
        </p:txBody>
      </p:sp>
      <p:sp>
        <p:nvSpPr>
          <p:cNvPr id="3" name="A"/>
          <p:cNvSpPr txBox="1"/>
          <p:nvPr/>
        </p:nvSpPr>
        <p:spPr>
          <a:xfrm>
            <a:off x="600000" y="1400000"/>
            <a:ext cx="3000000" cy="150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txBody>
          <a:bodyPr wrap="square"/>
          <a:lstStyle/>
          <a:p>
            <a:r>
              <a:rPr lang="ja-JP" sz="1800" b="1"/>
              <a:t>三相交流</a:t>
            </a:r>
            <a:endParaRPr lang="ja-JP" sz="1800"/>
          </a:p>
          <a:p>
            <a:r>
              <a:rPr lang="ja-JP" sz="1800"/>
              <a:t>120°ずれた3相電流</a:t>
            </a:r>
            <a:endParaRPr lang="ja-JP" sz="1800"/>
          </a:p>
        </p:txBody>
      </p:sp>
      <p:sp>
        <p:nvSpPr>
          <p:cNvPr id="4" name="B"/>
          <p:cNvSpPr txBox="1"/>
          <p:nvPr/>
        </p:nvSpPr>
        <p:spPr>
          <a:xfrm>
            <a:off x="4200000" y="1400000"/>
            <a:ext cx="3000000" cy="150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txBody>
          <a:bodyPr wrap="square"/>
          <a:lstStyle/>
          <a:p>
            <a:r>
              <a:rPr lang="ja-JP" sz="1800" b="1"/>
              <a:t>回転磁界</a:t>
            </a:r>
            <a:endParaRPr lang="ja-JP" sz="1800"/>
          </a:p>
          <a:p>
            <a:r>
              <a:rPr lang="ja-JP" sz="1800"/>
              <a:t>ns = 120 f / p</a:t>
            </a:r>
            <a:endParaRPr lang="ja-JP" sz="1800"/>
          </a:p>
        </p:txBody>
      </p:sp>
      <p:sp>
        <p:nvSpPr>
          <p:cNvPr id="5" name="C"/>
          <p:cNvSpPr txBox="1"/>
          <p:nvPr/>
        </p:nvSpPr>
        <p:spPr>
          <a:xfrm>
            <a:off x="7800000" y="1400000"/>
            <a:ext cx="3000000" cy="150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txBody>
          <a:bodyPr wrap="square"/>
          <a:lstStyle/>
          <a:p>
            <a:r>
              <a:rPr lang="ja-JP" sz="1800" b="1"/>
              <a:t>回転子</a:t>
            </a:r>
            <a:endParaRPr lang="ja-JP" sz="1800"/>
          </a:p>
          <a:p>
            <a:r>
              <a:rPr lang="ja-JP" sz="1800"/>
              <a:t>相対速度 → 誘導電流</a:t>
            </a:r>
            <a:endParaRPr lang="ja-JP" sz="1800"/>
          </a:p>
          <a:p>
            <a:r>
              <a:rPr lang="ja-JP" sz="1800"/>
              <a:t>→ 電磁トルク</a:t>
            </a:r>
            <a:endParaRPr lang="ja-JP" sz="1800"/>
          </a:p>
        </p:txBody>
      </p:sp>
      <p:sp>
        <p:nvSpPr>
          <p:cNvPr id="6" name="D"/>
          <p:cNvSpPr txBox="1"/>
          <p:nvPr/>
        </p:nvSpPr>
        <p:spPr>
          <a:xfrm>
            <a:off x="1700000" y="3700000"/>
            <a:ext cx="850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txBody>
          <a:bodyPr wrap="square"/>
          <a:lstStyle/>
          <a:p>
            <a:r>
              <a:rPr lang="ja-JP" sz="1900" b="1"/>
              <a:t>すべり s = (ns − n) / ns</a:t>
            </a:r>
            <a:endParaRPr lang="ja-JP" sz="1900"/>
          </a:p>
          <a:p>
            <a:r>
              <a:rPr lang="ja-JP" sz="1900"/>
              <a:t>0 &lt; s &lt; 1：電動機　　s &lt; 0：発電機　　f2 = s f</a:t>
            </a:r>
            <a:endParaRPr lang="ja-JP" sz="1900"/>
          </a:p>
        </p:txBody>
      </p:sp>
      <p:sp>
        <p:nvSpPr>
          <p:cNvPr id="99" name="Source"/>
          <p:cNvSpPr txBox="1"/>
          <p:nvPr/>
        </p:nvSpPr>
        <p:spPr>
          <a:xfrm>
            <a:off x="457200" y="6500000"/>
            <a:ext cx="112776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ja-JP" sz="800"/>
              <a:t>出典: 電気技術者試験センター R6上 機械 問3・問4 / e-sysnet（参照 2026-08-29）。図は自作。</a:t>
            </a:r>
            <a:endParaRPr lang="ja-JP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ja-JP" sz="2800" b="1"/>
              <a:t>本試験の解法アルゴリズム</a:t>
            </a:r>
            <a:endParaRPr lang="ja-JP" sz="2800"/>
          </a:p>
        </p:txBody>
      </p:sp>
      <p:sp>
        <p:nvSpPr>
          <p:cNvPr id="3" name="Step1"/>
          <p:cNvSpPr txBox="1"/>
          <p:nvPr/>
        </p:nvSpPr>
        <p:spPr>
          <a:xfrm>
            <a:off x="600000" y="1300000"/>
            <a:ext cx="2500000" cy="110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777777"/>
            </a:solidFill>
          </a:ln>
        </p:spPr>
        <p:txBody>
          <a:bodyPr wrap="square"/>
          <a:lstStyle/>
          <a:p>
            <a:r>
              <a:rPr lang="ja-JP" sz="1700" b="1"/>
              <a:t>1. f と極数 p</a:t>
            </a:r>
            <a:endParaRPr lang="ja-JP" sz="1700"/>
          </a:p>
          <a:p>
            <a:r>
              <a:rPr lang="ja-JP" sz="1700"/>
              <a:t>→ ns を出す</a:t>
            </a:r>
            <a:endParaRPr lang="ja-JP" sz="1700"/>
          </a:p>
        </p:txBody>
      </p:sp>
      <p:sp>
        <p:nvSpPr>
          <p:cNvPr id="4" name="Step2"/>
          <p:cNvSpPr txBox="1"/>
          <p:nvPr/>
        </p:nvSpPr>
        <p:spPr>
          <a:xfrm>
            <a:off x="3500000" y="1300000"/>
            <a:ext cx="2500000" cy="110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777777"/>
            </a:solidFill>
          </a:ln>
        </p:spPr>
        <p:txBody>
          <a:bodyPr wrap="square"/>
          <a:lstStyle/>
          <a:p>
            <a:r>
              <a:rPr lang="ja-JP" sz="1700" b="1"/>
              <a:t>2. n または s</a:t>
            </a:r>
            <a:endParaRPr lang="ja-JP" sz="1700"/>
          </a:p>
          <a:p>
            <a:r>
              <a:rPr lang="ja-JP" sz="1700"/>
              <a:t>→ s=(ns−n)/ns</a:t>
            </a:r>
            <a:endParaRPr lang="ja-JP" sz="1700"/>
          </a:p>
        </p:txBody>
      </p:sp>
      <p:sp>
        <p:nvSpPr>
          <p:cNvPr id="5" name="Step3"/>
          <p:cNvSpPr txBox="1"/>
          <p:nvPr/>
        </p:nvSpPr>
        <p:spPr>
          <a:xfrm>
            <a:off x="6400000" y="1300000"/>
            <a:ext cx="2500000" cy="110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777777"/>
            </a:solidFill>
          </a:ln>
        </p:spPr>
        <p:txBody>
          <a:bodyPr wrap="square"/>
          <a:lstStyle/>
          <a:p>
            <a:r>
              <a:rPr lang="ja-JP" sz="1700" b="1"/>
              <a:t>3. 必要なら</a:t>
            </a:r>
            <a:endParaRPr lang="ja-JP" sz="1700"/>
          </a:p>
          <a:p>
            <a:r>
              <a:rPr lang="ja-JP" sz="1700"/>
              <a:t>f2 = s f</a:t>
            </a:r>
            <a:endParaRPr lang="ja-JP" sz="1700"/>
          </a:p>
        </p:txBody>
      </p:sp>
      <p:sp>
        <p:nvSpPr>
          <p:cNvPr id="6" name="Step4"/>
          <p:cNvSpPr txBox="1"/>
          <p:nvPr/>
        </p:nvSpPr>
        <p:spPr>
          <a:xfrm>
            <a:off x="9300000" y="1300000"/>
            <a:ext cx="2500000" cy="110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777777"/>
            </a:solidFill>
          </a:ln>
        </p:spPr>
        <p:txBody>
          <a:bodyPr wrap="square"/>
          <a:lstStyle/>
          <a:p>
            <a:r>
              <a:rPr lang="ja-JP" sz="1700" b="1"/>
              <a:t>4. P と n なら</a:t>
            </a:r>
            <a:endParaRPr lang="ja-JP" sz="1700"/>
          </a:p>
          <a:p>
            <a:r>
              <a:rPr lang="ja-JP" sz="1700"/>
              <a:t>T=P/ω</a:t>
            </a:r>
            <a:endParaRPr lang="ja-JP" sz="1700"/>
          </a:p>
        </p:txBody>
      </p:sp>
      <p:sp>
        <p:nvSpPr>
          <p:cNvPr id="7" name="Bottom"/>
          <p:cNvSpPr txBox="1"/>
          <p:nvPr/>
        </p:nvSpPr>
        <p:spPr>
          <a:xfrm>
            <a:off x="1000000" y="3300000"/>
            <a:ext cx="10500000" cy="1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txBody>
          <a:bodyPr wrap="square"/>
          <a:lstStyle/>
          <a:p>
            <a:r>
              <a:rPr lang="ja-JP" sz="1600" b="1"/>
              <a:t>条件分岐</a:t>
            </a:r>
            <a:endParaRPr lang="ja-JP" sz="1600"/>
          </a:p>
          <a:p>
            <a:r>
              <a:rPr lang="ja-JP" sz="1600"/>
              <a:t>Y-Δ始動：T ∝ V² → Y始動トルクはΔ直入れの約1/3</a:t>
            </a:r>
            <a:endParaRPr lang="ja-JP" sz="1600"/>
          </a:p>
          <a:p>
            <a:r>
              <a:rPr lang="ja-JP" sz="1600"/>
              <a:t>巻線形・低すべり域：T ∝ s、同一トルクで r2 / s = 一定</a:t>
            </a:r>
            <a:endParaRPr lang="ja-JP" sz="1600"/>
          </a:p>
          <a:p>
            <a:r>
              <a:rPr lang="ja-JP" sz="1600"/>
              <a:t>V/f制御：周波数で同期速度を変え、V/f一定で磁束を概ね一定に保つ</a:t>
            </a:r>
            <a:endParaRPr lang="ja-JP" sz="1600"/>
          </a:p>
        </p:txBody>
      </p:sp>
      <p:sp>
        <p:nvSpPr>
          <p:cNvPr id="99" name="Source"/>
          <p:cNvSpPr txBox="1"/>
          <p:nvPr/>
        </p:nvSpPr>
        <p:spPr>
          <a:xfrm>
            <a:off x="457200" y="6500000"/>
            <a:ext cx="112776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ja-JP" sz="800"/>
              <a:t>出典: 電気技術者試験センター R6上 問4・問15、R5下 問4・問15 / e-sysnet（参照 2026-08-29）。</a:t>
            </a:r>
            <a:endParaRPr lang="ja-JP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ja-JP" sz="2800" b="1"/>
              <a:t>誘導機の電力分配：損失をすべりで読む</a:t>
            </a:r>
            <a:endParaRPr lang="ja-JP" sz="2800"/>
          </a:p>
        </p:txBody>
      </p:sp>
      <p:sp>
        <p:nvSpPr>
          <p:cNvPr id="3" name="In"/>
          <p:cNvSpPr txBox="1"/>
          <p:nvPr/>
        </p:nvSpPr>
        <p:spPr>
          <a:xfrm>
            <a:off x="700000" y="1600000"/>
            <a:ext cx="2500000" cy="130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txBody>
          <a:bodyPr wrap="square"/>
          <a:lstStyle/>
          <a:p>
            <a:r>
              <a:rPr lang="ja-JP" sz="1700" b="1"/>
              <a:t>二次入力 P2</a:t>
            </a:r>
            <a:endParaRPr lang="ja-JP" sz="1700"/>
          </a:p>
          <a:p>
            <a:r>
              <a:rPr lang="ja-JP" sz="1700"/>
              <a:t>空隙を越えて回転子へ</a:t>
            </a:r>
            <a:endParaRPr lang="ja-JP" sz="1700"/>
          </a:p>
        </p:txBody>
      </p:sp>
      <p:sp>
        <p:nvSpPr>
          <p:cNvPr id="4" name="Loss"/>
          <p:cNvSpPr txBox="1"/>
          <p:nvPr/>
        </p:nvSpPr>
        <p:spPr>
          <a:xfrm>
            <a:off x="4300000" y="1300000"/>
            <a:ext cx="30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txBody>
          <a:bodyPr wrap="square"/>
          <a:lstStyle/>
          <a:p>
            <a:r>
              <a:rPr lang="ja-JP" sz="1800" b="1"/>
              <a:t>二次銅損 Pc2</a:t>
            </a:r>
            <a:endParaRPr lang="ja-JP" sz="1800"/>
          </a:p>
          <a:p>
            <a:r>
              <a:rPr lang="ja-JP" sz="1800"/>
              <a:t>Pc2 = s P2</a:t>
            </a:r>
            <a:endParaRPr lang="ja-JP" sz="1800"/>
          </a:p>
        </p:txBody>
      </p:sp>
      <p:sp>
        <p:nvSpPr>
          <p:cNvPr id="5" name="Mech"/>
          <p:cNvSpPr txBox="1"/>
          <p:nvPr/>
        </p:nvSpPr>
        <p:spPr>
          <a:xfrm>
            <a:off x="8200000" y="1300000"/>
            <a:ext cx="30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txBody>
          <a:bodyPr wrap="square"/>
          <a:lstStyle/>
          <a:p>
            <a:r>
              <a:rPr lang="ja-JP" sz="1800" b="1"/>
              <a:t>機械的変換 Pm</a:t>
            </a:r>
            <a:endParaRPr lang="ja-JP" sz="1800"/>
          </a:p>
          <a:p>
            <a:r>
              <a:rPr lang="ja-JP" sz="1800"/>
              <a:t>Pm = (1−s) P2</a:t>
            </a:r>
            <a:endParaRPr lang="ja-JP" sz="1800"/>
          </a:p>
        </p:txBody>
      </p:sp>
      <p:sp>
        <p:nvSpPr>
          <p:cNvPr id="6" name="Example"/>
          <p:cNvSpPr txBox="1"/>
          <p:nvPr/>
        </p:nvSpPr>
        <p:spPr>
          <a:xfrm>
            <a:off x="1600000" y="3900000"/>
            <a:ext cx="9000000" cy="13000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777777"/>
            </a:solidFill>
          </a:ln>
        </p:spPr>
        <p:txBody>
          <a:bodyPr wrap="square"/>
          <a:lstStyle/>
          <a:p>
            <a:r>
              <a:rPr lang="ja-JP" sz="1600" b="1"/>
              <a:t>例：P2=50 kW, s=0.04 → Pc2=2.0 kW, Pm=48 kW</a:t>
            </a:r>
            <a:endParaRPr lang="ja-JP" sz="1600"/>
          </a:p>
          <a:p>
            <a:r>
              <a:rPr lang="ja-JP" sz="1600"/>
              <a:t>すべりが小さい通常運転では、二次入力の大部分が機械出力へ変換される。</a:t>
            </a:r>
            <a:endParaRPr lang="ja-JP" sz="1600"/>
          </a:p>
        </p:txBody>
      </p:sp>
      <p:sp>
        <p:nvSpPr>
          <p:cNvPr id="99" name="Source"/>
          <p:cNvSpPr txBox="1"/>
          <p:nvPr/>
        </p:nvSpPr>
        <p:spPr>
          <a:xfrm>
            <a:off x="457200" y="6500000"/>
            <a:ext cx="112776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ja-JP" sz="800"/>
              <a:t>出典: e-sysnet「三相誘導電動機の理論と等価回路」（参照 2026-08-29）。模式図・例題は自作。</a:t>
            </a:r>
            <a:endParaRPr lang="ja-JP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ja-JP" sz="2800" b="1"/>
              <a:t>300系への接続：交流電動機＋インバータ</a:t>
            </a:r>
            <a:endParaRPr lang="ja-JP" sz="2800"/>
          </a:p>
        </p:txBody>
      </p:sp>
      <p:sp>
        <p:nvSpPr>
          <p:cNvPr id="3" name="Vehicle"/>
          <p:cNvSpPr txBox="1"/>
          <p:nvPr/>
        </p:nvSpPr>
        <p:spPr>
          <a:xfrm>
            <a:off x="800000" y="1350000"/>
            <a:ext cx="4200000" cy="220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6666"/>
            </a:solidFill>
          </a:ln>
        </p:spPr>
        <p:txBody>
          <a:bodyPr wrap="square"/>
          <a:lstStyle/>
          <a:p>
            <a:r>
              <a:rPr lang="ja-JP" sz="1600" b="1"/>
              <a:t>300系（メーカー一次資料）</a:t>
            </a:r>
            <a:endParaRPr lang="ja-JP" sz="1600"/>
          </a:p>
          <a:p>
            <a:r>
              <a:rPr lang="ja-JP" sz="1600"/>
              <a:t>・270 km/h運転用として開発</a:t>
            </a:r>
            <a:endParaRPr lang="ja-JP" sz="1600"/>
          </a:p>
          <a:p>
            <a:r>
              <a:rPr lang="ja-JP" sz="1600"/>
              <a:t>・交流電動機を採用</a:t>
            </a:r>
            <a:endParaRPr lang="ja-JP" sz="1600"/>
          </a:p>
          <a:p>
            <a:r>
              <a:rPr lang="ja-JP" sz="1600"/>
              <a:t>・コンバータ／インバータ制御</a:t>
            </a:r>
            <a:endParaRPr lang="ja-JP" sz="1600"/>
          </a:p>
          <a:p>
            <a:r>
              <a:rPr lang="ja-JP" sz="1600"/>
              <a:t>・アルミ車体で約25%軽量化</a:t>
            </a:r>
            <a:endParaRPr lang="ja-JP" sz="1600"/>
          </a:p>
        </p:txBody>
      </p:sp>
      <p:sp>
        <p:nvSpPr>
          <p:cNvPr id="4" name="Exam"/>
          <p:cNvSpPr txBox="1"/>
          <p:nvPr/>
        </p:nvSpPr>
        <p:spPr>
          <a:xfrm>
            <a:off x="6200000" y="1350000"/>
            <a:ext cx="520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</p:spPr>
        <p:txBody>
          <a:bodyPr wrap="square"/>
          <a:lstStyle/>
          <a:p>
            <a:r>
              <a:rPr lang="ja-JP" sz="1600" b="1"/>
              <a:t>電験へ転用する観点</a:t>
            </a:r>
            <a:endParaRPr lang="ja-JP" sz="1600"/>
          </a:p>
          <a:p>
            <a:r>
              <a:rPr lang="ja-JP" sz="1600"/>
              <a:t>周波数 f → 同期速度 ns</a:t>
            </a:r>
            <a:endParaRPr lang="ja-JP" sz="1600"/>
          </a:p>
          <a:p>
            <a:r>
              <a:rPr lang="ja-JP" sz="1600"/>
              <a:t>すべり s → 実回転速度 n</a:t>
            </a:r>
            <a:endParaRPr lang="ja-JP" sz="1600"/>
          </a:p>
          <a:p>
            <a:r>
              <a:rPr lang="ja-JP" sz="1600"/>
              <a:t>インバータ → f と V を制御</a:t>
            </a:r>
            <a:endParaRPr lang="ja-JP" sz="1600"/>
          </a:p>
          <a:p>
            <a:r>
              <a:rPr lang="ja-JP" sz="1600"/>
              <a:t>実車未公開の滑り・内部定数は仮定しない</a:t>
            </a:r>
            <a:endParaRPr lang="ja-JP" sz="1600"/>
          </a:p>
        </p:txBody>
      </p:sp>
      <p:sp>
        <p:nvSpPr>
          <p:cNvPr id="5" name="Sources"/>
          <p:cNvSpPr txBox="1"/>
          <p:nvPr/>
        </p:nvSpPr>
        <p:spPr>
          <a:xfrm>
            <a:off x="900000" y="4100000"/>
            <a:ext cx="10400000" cy="1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txBody>
          <a:bodyPr wrap="square"/>
          <a:lstStyle/>
          <a:p>
            <a:r>
              <a:rPr lang="ja-JP" sz="1100" b="1"/>
              <a:t>出典一覧</a:t>
            </a:r>
            <a:endParaRPr lang="ja-JP" sz="1100"/>
          </a:p>
          <a:p>
            <a:r>
              <a:rPr lang="ja-JP" sz="1100"/>
              <a:t>日本車輌製造「JR東海300系新幹線」 https://www.n-sharyo.co.jp/business/tetsudo/pages/jrc300.htm</a:t>
            </a:r>
            <a:endParaRPr lang="ja-JP" sz="1100"/>
          </a:p>
          <a:p>
            <a:r>
              <a:rPr lang="ja-JP" sz="1100"/>
              <a:t>鉄道総研 車両ニュースレター https://www.rtri.or.jp/rd/news/vehicle/vehicle_201910.html</a:t>
            </a:r>
            <a:endParaRPr lang="ja-JP" sz="1100"/>
          </a:p>
          <a:p>
            <a:r>
              <a:rPr lang="ja-JP" sz="1100"/>
              <a:t>電気技術者試験センター https://www.shiken.or.jp/chief/third/qa/</a:t>
            </a:r>
            <a:endParaRPr lang="ja-JP" sz="1100"/>
          </a:p>
        </p:txBody>
      </p:sp>
      <p:sp>
        <p:nvSpPr>
          <p:cNvPr id="99" name="Source"/>
          <p:cNvSpPr txBox="1"/>
          <p:nvPr/>
        </p:nvSpPr>
        <p:spPr>
          <a:xfrm>
            <a:off x="457200" y="6500000"/>
            <a:ext cx="112776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/>
          <a:lstStyle/>
          <a:p>
            <a:r>
              <a:rPr lang="ja-JP" sz="800"/>
              <a:t>参照日: 2026-08-29。外部画像なし。図・構成は自作。</a:t>
            </a:r>
            <a:endParaRPr lang="ja-JP" sz="800"/>
          </a:p>
        </p:txBody>
      </p:sp>
    </p:spTree>
  </p:cSld>
  <p:clrMapOvr>
    <a:masterClrMapping/>
  </p:clrMapOvr>
</p:sld>
</file>