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txBody>
          <a:bodyPr wrap="square" lIns="90000" rIns="90000" tIns="50000" bIns="50000" anchor="ctr"/>
          <a:lstStyle/>
          <a:p>
            <a:pPr algn="l"/>
            <a:r>
              <a:rPr lang="ja-JP" sz="2600" b="1">
                <a:solidFill>
                  <a:srgbClr val="0B1F33"/>
                </a:solidFill>
                <a:latin typeface="Aptos"/>
                <a:ea typeface="Yu Gothic"/>
              </a:rPr>
              <a:t>COMTRAC①　運行管理を「データの更新」として見る</a:t>
            </a:r>
            <a:endParaRPr lang="ja-JP" sz="2600"/>
          </a:p>
        </p:txBody>
      </p:sp>
      <p:sp>
        <p:nvSpPr>
          <p:cNvPr id="3" name="Plan"/>
          <p:cNvSpPr txBox="1"/>
          <p:nvPr/>
        </p:nvSpPr>
        <p:spPr>
          <a:xfrm>
            <a:off x="594360" y="1143000"/>
            <a:ext cx="2331720" cy="1051560"/>
          </a:xfrm>
          <a:prstGeom prst="rect">
            <a:avLst/>
          </a:prstGeom>
          <a:solidFill>
            <a:srgbClr val="EAF3FF"/>
          </a:solidFill>
          <a:ln w="12700">
            <a:solidFill>
              <a:srgbClr val="8AB4F8"/>
            </a:solidFill>
          </a:ln>
        </p:spPr>
        <p:txBody>
          <a:bodyPr wrap="square" lIns="90000" rIns="90000" tIns="50000" bIns="50000" anchor="ctr"/>
          <a:lstStyle/>
          <a:p>
            <a:pPr algn="c"/>
            <a:r>
              <a:rPr lang="ja-JP" sz="1600" b="1">
                <a:solidFill>
                  <a:srgbClr val="174EA6"/>
                </a:solidFill>
                <a:latin typeface="Aptos"/>
                <a:ea typeface="Yu Gothic"/>
              </a:rPr>
              <a:t>計画データ</a:t>
            </a:r>
            <a:endParaRPr lang="ja-JP" sz="1600"/>
          </a:p>
          <a:p>
            <a:pPr algn="c"/>
            <a:r>
              <a:rPr lang="ja-JP" sz="1600" b="1">
                <a:solidFill>
                  <a:srgbClr val="174EA6"/>
                </a:solidFill>
                <a:latin typeface="Aptos"/>
                <a:ea typeface="Yu Gothic"/>
              </a:rPr>
              <a:t>発着時刻・発着番線・列車順序</a:t>
            </a:r>
            <a:endParaRPr lang="ja-JP" sz="1600"/>
          </a:p>
        </p:txBody>
      </p:sp>
      <p:sp>
        <p:nvSpPr>
          <p:cNvPr id="4" name="Update"/>
          <p:cNvSpPr txBox="1"/>
          <p:nvPr/>
        </p:nvSpPr>
        <p:spPr>
          <a:xfrm>
            <a:off x="3246120" y="1143000"/>
            <a:ext cx="2331720" cy="1051560"/>
          </a:xfrm>
          <a:prstGeom prst="rect">
            <a:avLst/>
          </a:prstGeom>
          <a:solidFill>
            <a:srgbClr val="ECF8F1"/>
          </a:solidFill>
          <a:ln w="12700">
            <a:solidFill>
              <a:srgbClr val="81C995"/>
            </a:solidFill>
          </a:ln>
        </p:spPr>
        <p:txBody>
          <a:bodyPr wrap="square" lIns="90000" rIns="90000" tIns="50000" bIns="50000" anchor="ctr"/>
          <a:lstStyle/>
          <a:p>
            <a:pPr algn="c"/>
            <a:r>
              <a:rPr lang="ja-JP" sz="1500" b="1">
                <a:solidFill>
                  <a:srgbClr val="137333"/>
                </a:solidFill>
                <a:latin typeface="Aptos"/>
                <a:ea typeface="Yu Gothic"/>
              </a:rPr>
              <a:t>状態データを更新</a:t>
            </a:r>
            <a:endParaRPr lang="ja-JP" sz="1500"/>
          </a:p>
          <a:p>
            <a:pPr algn="c"/>
            <a:r>
              <a:rPr lang="ja-JP" sz="1500" b="1">
                <a:solidFill>
                  <a:srgbClr val="137333"/>
                </a:solidFill>
                <a:latin typeface="Aptos"/>
                <a:ea typeface="Yu Gothic"/>
              </a:rPr>
              <a:t>列車番号・列車位置をデータ例として扱う</a:t>
            </a:r>
            <a:endParaRPr lang="ja-JP" sz="1500"/>
          </a:p>
        </p:txBody>
      </p:sp>
      <p:sp>
        <p:nvSpPr>
          <p:cNvPr id="5" name="Process"/>
          <p:cNvSpPr txBox="1"/>
          <p:nvPr/>
        </p:nvSpPr>
        <p:spPr>
          <a:xfrm>
            <a:off x="5897880" y="1143000"/>
            <a:ext cx="2331720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F6C75B"/>
            </a:solidFill>
          </a:ln>
        </p:spPr>
        <p:txBody>
          <a:bodyPr wrap="square" lIns="90000" rIns="90000" tIns="50000" bIns="50000" anchor="ctr"/>
          <a:lstStyle/>
          <a:p>
            <a:pPr algn="c"/>
            <a:r>
              <a:rPr lang="ja-JP" sz="1500" b="1">
                <a:solidFill>
                  <a:srgbClr val="9A6700"/>
                </a:solidFill>
                <a:latin typeface="Aptos"/>
                <a:ea typeface="Yu Gothic"/>
              </a:rPr>
              <a:t>条件に応じた処理</a:t>
            </a:r>
            <a:endParaRPr lang="ja-JP" sz="1500"/>
          </a:p>
          <a:p>
            <a:pPr algn="c"/>
            <a:r>
              <a:rPr lang="ja-JP" sz="1500" b="1">
                <a:solidFill>
                  <a:srgbClr val="9A6700"/>
                </a:solidFill>
                <a:latin typeface="Aptos"/>
                <a:ea typeface="Yu Gothic"/>
              </a:rPr>
              <a:t>変数・代入・分岐・反復</a:t>
            </a:r>
            <a:endParaRPr lang="ja-JP" sz="1500"/>
          </a:p>
        </p:txBody>
      </p:sp>
      <p:sp>
        <p:nvSpPr>
          <p:cNvPr id="6" name="Output"/>
          <p:cNvSpPr txBox="1"/>
          <p:nvPr/>
        </p:nvSpPr>
        <p:spPr>
          <a:xfrm>
            <a:off x="8549640" y="1143000"/>
            <a:ext cx="2331720" cy="1051560"/>
          </a:xfrm>
          <a:prstGeom prst="rect">
            <a:avLst/>
          </a:prstGeom>
          <a:solidFill>
            <a:srgbClr val="FCE8E6"/>
          </a:solidFill>
          <a:ln w="12700">
            <a:solidFill>
              <a:srgbClr val="F28B82"/>
            </a:solidFill>
          </a:ln>
        </p:spPr>
        <p:txBody>
          <a:bodyPr wrap="square" lIns="90000" rIns="90000" tIns="50000" bIns="50000" anchor="ctr"/>
          <a:lstStyle/>
          <a:p>
            <a:pPr algn="c"/>
            <a:r>
              <a:rPr lang="ja-JP" sz="1500" b="1">
                <a:solidFill>
                  <a:srgbClr val="A50E0E"/>
                </a:solidFill>
                <a:latin typeface="Aptos"/>
                <a:ea typeface="Yu Gothic"/>
              </a:rPr>
              <a:t>伝送・表示</a:t>
            </a:r>
            <a:endParaRPr lang="ja-JP" sz="1500"/>
          </a:p>
          <a:p>
            <a:pPr algn="c"/>
            <a:r>
              <a:rPr lang="ja-JP" sz="1500" b="1">
                <a:solidFill>
                  <a:srgbClr val="A50E0E"/>
                </a:solidFill>
                <a:latin typeface="Aptos"/>
                <a:ea typeface="Yu Gothic"/>
              </a:rPr>
              <a:t>必要な情報を相手へ届ける</a:t>
            </a:r>
            <a:endParaRPr lang="ja-JP" sz="1500"/>
          </a:p>
        </p:txBody>
      </p:sp>
      <p:sp>
        <p:nvSpPr>
          <p:cNvPr id="7" name="Scope"/>
          <p:cNvSpPr txBox="1"/>
          <p:nvPr/>
        </p:nvSpPr>
        <p:spPr>
          <a:xfrm>
            <a:off x="822960" y="2788920"/>
            <a:ext cx="10515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</p:spPr>
        <p:txBody>
          <a:bodyPr wrap="square" lIns="90000" rIns="90000" tIns="50000" bIns="50000" anchor="ctr"/>
          <a:lstStyle/>
          <a:p>
            <a:pPr algn="l"/>
            <a:r>
              <a:rPr lang="ja-JP" sz="1800" b="0">
                <a:solidFill>
                  <a:srgbClr val="172B4D"/>
                </a:solidFill>
                <a:latin typeface="Aptos"/>
                <a:ea typeface="Yu Gothic"/>
              </a:rPr>
              <a:t>電験で学ぶ骨格</a:t>
            </a:r>
            <a:endParaRPr lang="ja-JP" sz="1800"/>
          </a:p>
          <a:p>
            <a:pPr algn="l">
              <a:buChar char="•"/>
            </a:pPr>
            <a:r>
              <a:rPr lang="ja-JP" sz="1800" b="0">
                <a:solidFill>
                  <a:srgbClr val="172B4D"/>
                </a:solidFill>
                <a:latin typeface="Aptos"/>
                <a:ea typeface="Yu Gothic"/>
              </a:rPr>
              <a:t>2進数でデータを表現する</a:t>
            </a:r>
            <a:endParaRPr lang="ja-JP" sz="1800"/>
          </a:p>
          <a:p>
            <a:pPr algn="l">
              <a:buChar char="•"/>
            </a:pPr>
            <a:r>
              <a:rPr lang="ja-JP" sz="1800" b="0">
                <a:solidFill>
                  <a:srgbClr val="172B4D"/>
                </a:solidFill>
                <a:latin typeface="Aptos"/>
                <a:ea typeface="Yu Gothic"/>
              </a:rPr>
              <a:t>変数を更新し、条件分岐と反復を追跡する</a:t>
            </a:r>
            <a:endParaRPr lang="ja-JP" sz="1800"/>
          </a:p>
          <a:p>
            <a:pPr algn="l">
              <a:buChar char="•"/>
            </a:pPr>
            <a:r>
              <a:rPr lang="ja-JP" sz="1800" b="0">
                <a:solidFill>
                  <a:srgbClr val="172B4D"/>
                </a:solidFill>
                <a:latin typeface="Aptos"/>
                <a:ea typeface="Yu Gothic"/>
              </a:rPr>
              <a:t>標本化・量子化・符号化、伝送用語を区別する</a:t>
            </a:r>
            <a:endParaRPr lang="ja-JP" sz="1800"/>
          </a:p>
          <a:p>
            <a:pPr algn="l"/>
            <a:r>
              <a:rPr lang="ja-JP" sz="1800" b="0">
                <a:solidFill>
                  <a:srgbClr val="172B4D"/>
                </a:solidFill>
                <a:latin typeface="Aptos"/>
                <a:ea typeface="Yu Gothic"/>
              </a:rPr>
              <a:t/>
            </a:r>
            <a:endParaRPr lang="ja-JP" sz="1800"/>
          </a:p>
          <a:p>
            <a:pPr algn="l"/>
            <a:r>
              <a:rPr lang="ja-JP" sz="1800" b="0">
                <a:solidFill>
                  <a:srgbClr val="172B4D"/>
                </a:solidFill>
                <a:latin typeface="Aptos"/>
                <a:ea typeface="Yu Gothic"/>
              </a:rPr>
              <a:t>境界：COMTRAC内部のbit割当・更新周期・通信速度・プロトコルは断定しない。</a:t>
            </a:r>
            <a:endParaRPr lang="ja-JP" sz="1800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90000" rIns="90000" tIns="50000" bIns="50000" anchor="ctr"/>
          <a:lstStyle/>
          <a:p>
            <a:pPr algn="l"/>
            <a:r>
              <a:rPr lang="ja-JP" sz="800" b="0">
                <a:solidFill>
                  <a:srgbClr val="59636E"/>
                </a:solidFill>
                <a:latin typeface="Aptos"/>
                <a:ea typeface="Yu Gothic"/>
              </a:rPr>
              <a:t>出典: JR東海「安全・安定輸送の確保」「電気・システム系統」／図は公開範囲を試験論点へ接続した教材模式図</a:t>
            </a:r>
            <a:endParaRPr lang="ja-JP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txBody>
          <a:bodyPr wrap="square" lIns="90000" rIns="90000" tIns="50000" bIns="50000" anchor="ctr"/>
          <a:lstStyle/>
          <a:p>
            <a:pPr algn="l"/>
            <a:r>
              <a:rPr lang="ja-JP" sz="2600" b="1">
                <a:solidFill>
                  <a:srgbClr val="0B1F33"/>
                </a:solidFill>
                <a:latin typeface="Aptos"/>
                <a:ea typeface="Yu Gothic"/>
              </a:rPr>
              <a:t>2進数とA-D変換　固定過去問に直結する基本</a:t>
            </a:r>
            <a:endParaRPr lang="ja-JP" sz="2600"/>
          </a:p>
        </p:txBody>
      </p:sp>
      <p:sp>
        <p:nvSpPr>
          <p:cNvPr id="3" name="Binary"/>
          <p:cNvSpPr txBox="1"/>
          <p:nvPr/>
        </p:nvSpPr>
        <p:spPr>
          <a:xfrm>
            <a:off x="640080" y="1051560"/>
            <a:ext cx="521208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B8C2CC"/>
            </a:solidFill>
          </a:ln>
        </p:spPr>
        <p:txBody>
          <a:bodyPr wrap="square" lIns="90000" rIns="90000" tIns="50000" bIns="50000" anchor="ctr"/>
          <a:lstStyle/>
          <a:p>
            <a:pPr algn="l"/>
            <a:r>
              <a:rPr lang="ja-JP" sz="1900" b="0">
                <a:solidFill>
                  <a:srgbClr val="172B4D"/>
                </a:solidFill>
                <a:latin typeface="Aptos"/>
                <a:ea typeface="Yu Gothic"/>
              </a:rPr>
              <a:t>2進数</a:t>
            </a:r>
            <a:endParaRPr lang="ja-JP" sz="1900"/>
          </a:p>
          <a:p>
            <a:pPr algn="l"/>
            <a:r>
              <a:rPr lang="ja-JP" sz="1900" b="0">
                <a:solidFill>
                  <a:srgbClr val="172B4D"/>
                </a:solidFill>
                <a:latin typeface="Aptos"/>
                <a:ea typeface="Yu Gothic"/>
              </a:rPr>
              <a:t>(101101)₂ = 32+8+4+1 = 45</a:t>
            </a:r>
            <a:endParaRPr lang="ja-JP" sz="1900"/>
          </a:p>
          <a:p>
            <a:pPr algn="l"/>
            <a:r>
              <a:rPr lang="ja-JP" sz="1900" b="0">
                <a:solidFill>
                  <a:srgbClr val="172B4D"/>
                </a:solidFill>
                <a:latin typeface="Aptos"/>
                <a:ea typeface="Yu Gothic"/>
              </a:rPr>
              <a:t>53 = 32+16+4+1 → (110101)₂</a:t>
            </a:r>
            <a:endParaRPr lang="ja-JP" sz="1900"/>
          </a:p>
          <a:p>
            <a:pPr algn="l"/>
            <a:r>
              <a:rPr lang="ja-JP" sz="1900" b="0">
                <a:solidFill>
                  <a:srgbClr val="172B4D"/>
                </a:solidFill>
                <a:latin typeface="Aptos"/>
                <a:ea typeface="Yu Gothic"/>
              </a:rPr>
              <a:t/>
            </a:r>
            <a:endParaRPr lang="ja-JP" sz="1900"/>
          </a:p>
          <a:p>
            <a:pPr algn="l"/>
            <a:r>
              <a:rPr lang="ja-JP" sz="1900" b="0">
                <a:solidFill>
                  <a:srgbClr val="172B4D"/>
                </a:solidFill>
                <a:latin typeface="Aptos"/>
                <a:ea typeface="Yu Gothic"/>
              </a:rPr>
              <a:t>n bitで表せる符号数 = 2ⁿ</a:t>
            </a:r>
            <a:endParaRPr lang="ja-JP" sz="1900"/>
          </a:p>
        </p:txBody>
      </p:sp>
      <p:sp>
        <p:nvSpPr>
          <p:cNvPr id="4" name="AD"/>
          <p:cNvSpPr txBox="1"/>
          <p:nvPr/>
        </p:nvSpPr>
        <p:spPr>
          <a:xfrm>
            <a:off x="6309360" y="1051560"/>
            <a:ext cx="521208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B8C2CC"/>
            </a:solidFill>
          </a:ln>
        </p:spPr>
        <p:txBody>
          <a:bodyPr wrap="square" lIns="90000" rIns="90000" tIns="50000" bIns="50000" anchor="ctr"/>
          <a:lstStyle/>
          <a:p>
            <a:pPr algn="l"/>
            <a:r>
              <a:rPr lang="ja-JP" sz="1900" b="0">
                <a:solidFill>
                  <a:srgbClr val="172B4D"/>
                </a:solidFill>
                <a:latin typeface="Aptos"/>
                <a:ea typeface="Yu Gothic"/>
              </a:rPr>
              <a:t>A-D変換</a:t>
            </a:r>
            <a:endParaRPr lang="ja-JP" sz="1900"/>
          </a:p>
          <a:p>
            <a:pPr algn="l"/>
            <a:r>
              <a:rPr lang="ja-JP" sz="1900" b="0">
                <a:solidFill>
                  <a:srgbClr val="172B4D"/>
                </a:solidFill>
                <a:latin typeface="Aptos"/>
                <a:ea typeface="Yu Gothic"/>
              </a:rPr>
              <a:t>標本化 → 量子化 → 符号化</a:t>
            </a:r>
            <a:endParaRPr lang="ja-JP" sz="1900"/>
          </a:p>
          <a:p>
            <a:pPr algn="l"/>
            <a:r>
              <a:rPr lang="ja-JP" sz="1900" b="0">
                <a:solidFill>
                  <a:srgbClr val="172B4D"/>
                </a:solidFill>
                <a:latin typeface="Aptos"/>
                <a:ea typeface="Yu Gothic"/>
              </a:rPr>
              <a:t/>
            </a:r>
            <a:endParaRPr lang="ja-JP" sz="1900"/>
          </a:p>
          <a:p>
            <a:pPr algn="l"/>
            <a:r>
              <a:rPr lang="ja-JP" sz="1900" b="0">
                <a:solidFill>
                  <a:srgbClr val="172B4D"/>
                </a:solidFill>
                <a:latin typeface="Aptos"/>
                <a:ea typeface="Yu Gothic"/>
              </a:rPr>
              <a:t>標本化条件：fₛ ≥ 2 fmax</a:t>
            </a:r>
            <a:endParaRPr lang="ja-JP" sz="1900"/>
          </a:p>
          <a:p>
            <a:pPr algn="l"/>
            <a:r>
              <a:rPr lang="ja-JP" sz="1900" b="0">
                <a:solidFill>
                  <a:srgbClr val="172B4D"/>
                </a:solidFill>
                <a:latin typeface="Aptos"/>
                <a:ea typeface="Yu Gothic"/>
              </a:rPr>
              <a:t>標本化周期：Tₛ = 1/fₛ</a:t>
            </a:r>
            <a:endParaRPr lang="ja-JP" sz="1900"/>
          </a:p>
        </p:txBody>
      </p:sp>
      <p:sp>
        <p:nvSpPr>
          <p:cNvPr id="5" name="Exam"/>
          <p:cNvSpPr txBox="1"/>
          <p:nvPr/>
        </p:nvSpPr>
        <p:spPr>
          <a:xfrm>
            <a:off x="1005840" y="3749039"/>
            <a:ext cx="10149840" cy="1508760"/>
          </a:xfrm>
          <a:prstGeom prst="rect">
            <a:avLst/>
          </a:prstGeom>
          <a:solidFill>
            <a:srgbClr val="FFFBEA"/>
          </a:solidFill>
          <a:ln w="12700">
            <a:solidFill>
              <a:srgbClr val="E6C95C"/>
            </a:solidFill>
          </a:ln>
        </p:spPr>
        <p:txBody>
          <a:bodyPr wrap="square" lIns="90000" rIns="90000" tIns="50000" bIns="50000" anchor="ctr"/>
          <a:lstStyle/>
          <a:p>
            <a:pPr algn="l"/>
            <a:r>
              <a:rPr lang="ja-JP" sz="1600" b="1">
                <a:solidFill>
                  <a:srgbClr val="6B5300"/>
                </a:solidFill>
                <a:latin typeface="Aptos"/>
                <a:ea typeface="Yu Gothic"/>
              </a:rPr>
              <a:t>対応：R1 機械 問14（2進数の加減算・基数変換）／R4下 理論 問14（標本化・量子化・符号化・ディジタル伝送）</a:t>
            </a:r>
            <a:endParaRPr lang="ja-JP" sz="1600"/>
          </a:p>
          <a:p>
            <a:pPr algn="l"/>
            <a:r>
              <a:rPr lang="ja-JP" sz="1600" b="1">
                <a:solidFill>
                  <a:srgbClr val="6B5300"/>
                </a:solidFill>
                <a:latin typeface="Aptos"/>
                <a:ea typeface="Yu Gothic"/>
              </a:rPr>
              <a:t>試験ポイント：最右桁は2⁰。標本化→量子化→符号化の順序を崩さない。</a:t>
            </a:r>
            <a:endParaRPr lang="ja-JP" sz="1600"/>
          </a:p>
        </p:txBody>
      </p:sp>
      <p:sp>
        <p:nvSpPr>
          <p:cNvPr id="6" name="Footer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90000" rIns="90000" tIns="50000" bIns="50000" anchor="ctr"/>
          <a:lstStyle/>
          <a:p>
            <a:pPr algn="l"/>
            <a:r>
              <a:rPr lang="ja-JP" sz="800" b="0">
                <a:solidFill>
                  <a:srgbClr val="59636E"/>
                </a:solidFill>
                <a:latin typeface="Aptos"/>
                <a:ea typeface="Yu Gothic"/>
              </a:rPr>
              <a:t>固定EXAM_ALIGNMENT 5問のうち R1機械14・R4下理論14 を可視化</a:t>
            </a:r>
            <a:endParaRPr lang="ja-JP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txBody>
          <a:bodyPr wrap="square" lIns="90000" rIns="90000" tIns="50000" bIns="50000" anchor="ctr"/>
          <a:lstStyle/>
          <a:p>
            <a:pPr algn="l"/>
            <a:r>
              <a:rPr lang="ja-JP" sz="2600" b="1">
                <a:solidFill>
                  <a:srgbClr val="0B1F33"/>
                </a:solidFill>
                <a:latin typeface="Aptos"/>
                <a:ea typeface="Yu Gothic"/>
              </a:rPr>
              <a:t>フローチャートとデータ伝送　更新順序を追う</a:t>
            </a:r>
            <a:endParaRPr lang="ja-JP" sz="2600"/>
          </a:p>
        </p:txBody>
      </p:sp>
      <p:sp>
        <p:nvSpPr>
          <p:cNvPr id="3" name="Flow"/>
          <p:cNvSpPr txBox="1"/>
          <p:nvPr/>
        </p:nvSpPr>
        <p:spPr>
          <a:xfrm>
            <a:off x="640080" y="1097280"/>
            <a:ext cx="5349240" cy="4389120"/>
          </a:xfrm>
          <a:prstGeom prst="rect">
            <a:avLst/>
          </a:prstGeom>
          <a:solidFill>
            <a:srgbClr val="F4F7FA"/>
          </a:solidFill>
          <a:ln w="12700">
            <a:solidFill>
              <a:srgbClr val="B8C2CC"/>
            </a:solidFill>
          </a:ln>
        </p:spPr>
        <p:txBody>
          <a:bodyPr wrap="square" lIns="90000" rIns="90000" tIns="50000" bIns="50000" anchor="ctr"/>
          <a:lstStyle/>
          <a:p>
            <a:pPr algn="l"/>
            <a:r>
              <a:rPr lang="ja-JP" sz="1700" b="0">
                <a:solidFill>
                  <a:srgbClr val="172B4D"/>
                </a:solidFill>
                <a:latin typeface="Aptos"/>
                <a:ea typeface="Yu Gothic"/>
              </a:rPr>
              <a:t>フローチャート追跡例</a:t>
            </a:r>
            <a:endParaRPr lang="ja-JP" sz="1700"/>
          </a:p>
          <a:p>
            <a:pPr algn="l"/>
            <a:r>
              <a:rPr lang="ja-JP" sz="1700" b="0">
                <a:solidFill>
                  <a:srgbClr val="172B4D"/>
                </a:solidFill>
                <a:latin typeface="Aptos"/>
                <a:ea typeface="Yu Gothic"/>
              </a:rPr>
              <a:t>初期値 A=8, B=3</a:t>
            </a:r>
            <a:endParaRPr lang="ja-JP" sz="1700"/>
          </a:p>
          <a:p>
            <a:pPr algn="l"/>
            <a:r>
              <a:rPr lang="ja-JP" sz="1700" b="0">
                <a:solidFill>
                  <a:srgbClr val="172B4D"/>
                </a:solidFill>
                <a:latin typeface="Aptos"/>
                <a:ea typeface="Yu Gothic"/>
              </a:rPr>
              <a:t/>
            </a:r>
            <a:endParaRPr lang="ja-JP" sz="1700"/>
          </a:p>
          <a:p>
            <a:pPr algn="l"/>
            <a:r>
              <a:rPr lang="ja-JP" sz="1700" b="0">
                <a:solidFill>
                  <a:srgbClr val="172B4D"/>
                </a:solidFill>
                <a:latin typeface="Aptos"/>
                <a:ea typeface="Yu Gothic"/>
              </a:rPr>
              <a:t>1周目　A←A+B = 11　→ B←2B = 6</a:t>
            </a:r>
            <a:endParaRPr lang="ja-JP" sz="1700"/>
          </a:p>
          <a:p>
            <a:pPr algn="l"/>
            <a:r>
              <a:rPr lang="ja-JP" sz="1700" b="0">
                <a:solidFill>
                  <a:srgbClr val="172B4D"/>
                </a:solidFill>
                <a:latin typeface="Aptos"/>
                <a:ea typeface="Yu Gothic"/>
              </a:rPr>
              <a:t>2周目　A=17　　　　 → B=12</a:t>
            </a:r>
            <a:endParaRPr lang="ja-JP" sz="1700"/>
          </a:p>
          <a:p>
            <a:pPr algn="l"/>
            <a:r>
              <a:rPr lang="ja-JP" sz="1700" b="0">
                <a:solidFill>
                  <a:srgbClr val="172B4D"/>
                </a:solidFill>
                <a:latin typeface="Aptos"/>
                <a:ea typeface="Yu Gothic"/>
              </a:rPr>
              <a:t>3周目　A=29　　　　 → B=24</a:t>
            </a:r>
            <a:endParaRPr lang="ja-JP" sz="1700"/>
          </a:p>
          <a:p>
            <a:pPr algn="l"/>
            <a:r>
              <a:rPr lang="ja-JP" sz="1700" b="0">
                <a:solidFill>
                  <a:srgbClr val="172B4D"/>
                </a:solidFill>
                <a:latin typeface="Aptos"/>
                <a:ea typeface="Yu Gothic"/>
              </a:rPr>
              <a:t>4周目　A=53 &gt; 30 なので終了</a:t>
            </a:r>
            <a:endParaRPr lang="ja-JP" sz="1700"/>
          </a:p>
          <a:p>
            <a:pPr algn="l"/>
            <a:r>
              <a:rPr lang="ja-JP" sz="1700" b="0">
                <a:solidFill>
                  <a:srgbClr val="172B4D"/>
                </a:solidFill>
                <a:latin typeface="Aptos"/>
                <a:ea typeface="Yu Gothic"/>
              </a:rPr>
              <a:t/>
            </a:r>
            <a:endParaRPr lang="ja-JP" sz="1700"/>
          </a:p>
          <a:p>
            <a:pPr algn="l"/>
            <a:r>
              <a:rPr lang="ja-JP" sz="1700" b="0">
                <a:solidFill>
                  <a:srgbClr val="172B4D"/>
                </a:solidFill>
                <a:latin typeface="Aptos"/>
                <a:ea typeface="Yu Gothic"/>
              </a:rPr>
              <a:t>出力：(A,B)=(53,24)</a:t>
            </a:r>
            <a:endParaRPr lang="ja-JP" sz="1700"/>
          </a:p>
          <a:p>
            <a:pPr algn="l"/>
            <a:r>
              <a:rPr lang="ja-JP" sz="1700" b="0">
                <a:solidFill>
                  <a:srgbClr val="172B4D"/>
                </a:solidFill>
                <a:latin typeface="Aptos"/>
                <a:ea typeface="Yu Gothic"/>
              </a:rPr>
              <a:t>条件成立後はBを更新しない。</a:t>
            </a:r>
            <a:endParaRPr lang="ja-JP" sz="1700"/>
          </a:p>
        </p:txBody>
      </p:sp>
      <p:sp>
        <p:nvSpPr>
          <p:cNvPr id="4" name="Terms"/>
          <p:cNvSpPr txBox="1"/>
          <p:nvPr/>
        </p:nvSpPr>
        <p:spPr>
          <a:xfrm>
            <a:off x="6309360" y="1097280"/>
            <a:ext cx="52120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</p:spPr>
        <p:txBody>
          <a:bodyPr wrap="square" lIns="90000" rIns="90000" tIns="50000" bIns="50000" anchor="ctr"/>
          <a:lstStyle/>
          <a:p>
            <a:pPr algn="l"/>
            <a:r>
              <a:rPr lang="ja-JP" sz="1700" b="0">
                <a:solidFill>
                  <a:srgbClr val="172B4D"/>
                </a:solidFill>
                <a:latin typeface="Aptos"/>
                <a:ea typeface="Yu Gothic"/>
              </a:rPr>
              <a:t>伝送用語</a:t>
            </a:r>
            <a:endParaRPr lang="ja-JP" sz="1700"/>
          </a:p>
          <a:p>
            <a:pPr algn="l">
              <a:buChar char="•"/>
            </a:pPr>
            <a:r>
              <a:rPr lang="ja-JP" sz="1700" b="0">
                <a:solidFill>
                  <a:srgbClr val="172B4D"/>
                </a:solidFill>
                <a:latin typeface="Aptos"/>
                <a:ea typeface="Yu Gothic"/>
              </a:rPr>
              <a:t>雑音：信号に不要に重なる成分</a:t>
            </a:r>
            <a:endParaRPr lang="ja-JP" sz="1700"/>
          </a:p>
          <a:p>
            <a:pPr algn="l">
              <a:buChar char="•"/>
            </a:pPr>
            <a:r>
              <a:rPr lang="ja-JP" sz="1700" b="0">
                <a:solidFill>
                  <a:srgbClr val="172B4D"/>
                </a:solidFill>
                <a:latin typeface="Aptos"/>
                <a:ea typeface="Yu Gothic"/>
              </a:rPr>
              <a:t>多重化：複数情報を一つの伝送路で扱う</a:t>
            </a:r>
            <a:endParaRPr lang="ja-JP" sz="1700"/>
          </a:p>
          <a:p>
            <a:pPr algn="l">
              <a:buChar char="•"/>
            </a:pPr>
            <a:r>
              <a:rPr lang="ja-JP" sz="1700" b="0">
                <a:solidFill>
                  <a:srgbClr val="172B4D"/>
                </a:solidFill>
                <a:latin typeface="Aptos"/>
                <a:ea typeface="Yu Gothic"/>
              </a:rPr>
              <a:t>変調：情報に応じ搬送波の性質を変える</a:t>
            </a:r>
            <a:endParaRPr lang="ja-JP" sz="1700"/>
          </a:p>
          <a:p>
            <a:pPr algn="l">
              <a:buChar char="•"/>
            </a:pPr>
            <a:r>
              <a:rPr lang="ja-JP" sz="1700" b="0">
                <a:solidFill>
                  <a:srgbClr val="172B4D"/>
                </a:solidFill>
                <a:latin typeface="Aptos"/>
                <a:ea typeface="Yu Gothic"/>
              </a:rPr>
              <a:t>変調波：変調後の波</a:t>
            </a:r>
            <a:endParaRPr lang="ja-JP" sz="1700"/>
          </a:p>
          <a:p>
            <a:pPr algn="l">
              <a:buChar char="•"/>
            </a:pPr>
            <a:r>
              <a:rPr lang="ja-JP" sz="1700" b="0">
                <a:solidFill>
                  <a:srgbClr val="172B4D"/>
                </a:solidFill>
                <a:latin typeface="Aptos"/>
                <a:ea typeface="Yu Gothic"/>
              </a:rPr>
              <a:t>圧縮：データ量を減らす</a:t>
            </a:r>
            <a:endParaRPr lang="ja-JP" sz="1700"/>
          </a:p>
          <a:p>
            <a:pPr algn="l"/>
            <a:r>
              <a:rPr lang="ja-JP" sz="1700" b="0">
                <a:solidFill>
                  <a:srgbClr val="172B4D"/>
                </a:solidFill>
                <a:latin typeface="Aptos"/>
                <a:ea typeface="Yu Gothic"/>
              </a:rPr>
              <a:t/>
            </a:r>
            <a:endParaRPr lang="ja-JP" sz="1700"/>
          </a:p>
          <a:p>
            <a:pPr algn="l"/>
            <a:r>
              <a:rPr lang="ja-JP" sz="1700" b="0">
                <a:solidFill>
                  <a:srgbClr val="172B4D"/>
                </a:solidFill>
                <a:latin typeface="Aptos"/>
                <a:ea typeface="Yu Gothic"/>
              </a:rPr>
              <a:t>対応：R7下 機械14／R5上 機械14／R4下 機械13</a:t>
            </a:r>
            <a:endParaRPr lang="ja-JP" sz="1700"/>
          </a:p>
        </p:txBody>
      </p:sp>
      <p:sp>
        <p:nvSpPr>
          <p:cNvPr id="5" name="Footer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90000" rIns="90000" tIns="50000" bIns="50000" anchor="ctr"/>
          <a:lstStyle/>
          <a:p>
            <a:pPr algn="l"/>
            <a:r>
              <a:rPr lang="ja-JP" sz="800" b="0">
                <a:solidFill>
                  <a:srgbClr val="59636E"/>
                </a:solidFill>
                <a:latin typeface="Aptos"/>
                <a:ea typeface="Yu Gothic"/>
              </a:rPr>
              <a:t>固定範囲：変数・代入・条件分岐・反復、伝送路・雑音・多重化・変調・標本化・圧縮</a:t>
            </a:r>
            <a:endParaRPr lang="ja-JP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txBody>
          <a:bodyPr wrap="square" lIns="90000" rIns="90000" tIns="50000" bIns="50000" anchor="ctr"/>
          <a:lstStyle/>
          <a:p>
            <a:pPr algn="l"/>
            <a:r>
              <a:rPr lang="ja-JP" sz="2600" b="1">
                <a:solidFill>
                  <a:srgbClr val="0B1F33"/>
                </a:solidFill>
                <a:latin typeface="Aptos"/>
                <a:ea typeface="Yu Gothic"/>
              </a:rPr>
              <a:t>固定5過去問の対応　5 / 5を教材内で可視化</a:t>
            </a:r>
            <a:endParaRPr lang="ja-JP" sz="2600"/>
          </a:p>
        </p:txBody>
      </p:sp>
      <p:sp>
        <p:nvSpPr>
          <p:cNvPr id="3" name="Table"/>
          <p:cNvSpPr txBox="1"/>
          <p:nvPr/>
        </p:nvSpPr>
        <p:spPr>
          <a:xfrm>
            <a:off x="594360" y="1051560"/>
            <a:ext cx="77724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</p:spPr>
        <p:txBody>
          <a:bodyPr wrap="square" lIns="90000" rIns="90000" tIns="50000" bIns="50000" anchor="ctr"/>
          <a:lstStyle/>
          <a:p>
            <a:pPr algn="l"/>
            <a:r>
              <a:rPr lang="ja-JP" sz="1600" b="0">
                <a:solidFill>
                  <a:srgbClr val="172B4D"/>
                </a:solidFill>
                <a:latin typeface="Aptos"/>
                <a:ea typeface="Yu Gothic"/>
              </a:rPr>
              <a:t>R7下 機械 問14　フローチャート・変数更新　→ Slide 3　PASS</a:t>
            </a:r>
            <a:endParaRPr lang="ja-JP" sz="1600"/>
          </a:p>
          <a:p>
            <a:pPr algn="l"/>
            <a:r>
              <a:rPr lang="ja-JP" sz="1600" b="0">
                <a:solidFill>
                  <a:srgbClr val="172B4D"/>
                </a:solidFill>
                <a:latin typeface="Aptos"/>
                <a:ea typeface="Yu Gothic"/>
              </a:rPr>
              <a:t>R5上 機械 問14　フローチャート・反復　　　→ Slide 3　PASS</a:t>
            </a:r>
            <a:endParaRPr lang="ja-JP" sz="1600"/>
          </a:p>
          <a:p>
            <a:pPr algn="l"/>
            <a:r>
              <a:rPr lang="ja-JP" sz="1600" b="0">
                <a:solidFill>
                  <a:srgbClr val="172B4D"/>
                </a:solidFill>
                <a:latin typeface="Aptos"/>
                <a:ea typeface="Yu Gothic"/>
              </a:rPr>
              <a:t>R4下 機械 問13　伝送路・雑音・多重化等　→ Slide 3　PASS</a:t>
            </a:r>
            <a:endParaRPr lang="ja-JP" sz="1600"/>
          </a:p>
          <a:p>
            <a:pPr algn="l"/>
            <a:r>
              <a:rPr lang="ja-JP" sz="1600" b="0">
                <a:solidFill>
                  <a:srgbClr val="172B4D"/>
                </a:solidFill>
                <a:latin typeface="Aptos"/>
                <a:ea typeface="Yu Gothic"/>
              </a:rPr>
              <a:t>R4下 理論 問14　標本化・量子化・符号化　→ Slide 2　PASS</a:t>
            </a:r>
            <a:endParaRPr lang="ja-JP" sz="1600"/>
          </a:p>
          <a:p>
            <a:pPr algn="l"/>
            <a:r>
              <a:rPr lang="ja-JP" sz="1600" b="0">
                <a:solidFill>
                  <a:srgbClr val="172B4D"/>
                </a:solidFill>
                <a:latin typeface="Aptos"/>
                <a:ea typeface="Yu Gothic"/>
              </a:rPr>
              <a:t>R1　  機械 問14　2進数・基数変換　　　　 → Slide 2　PASS</a:t>
            </a:r>
            <a:endParaRPr lang="ja-JP" sz="1600"/>
          </a:p>
          <a:p>
            <a:pPr algn="l"/>
            <a:r>
              <a:rPr lang="ja-JP" sz="1600" b="0">
                <a:solidFill>
                  <a:srgbClr val="172B4D"/>
                </a:solidFill>
                <a:latin typeface="Aptos"/>
                <a:ea typeface="Yu Gothic"/>
              </a:rPr>
              <a:t/>
            </a:r>
            <a:endParaRPr lang="ja-JP" sz="1600"/>
          </a:p>
          <a:p>
            <a:pPr algn="l"/>
            <a:r>
              <a:rPr lang="ja-JP" sz="1600" b="0">
                <a:solidFill>
                  <a:srgbClr val="172B4D"/>
                </a:solidFill>
                <a:latin typeface="Aptos"/>
                <a:ea typeface="Yu Gothic"/>
              </a:rPr>
              <a:t>固定EXAM_ALIGNMENT要求事項：5 / 5 可視化</a:t>
            </a:r>
            <a:endParaRPr lang="ja-JP" sz="1600"/>
          </a:p>
        </p:txBody>
      </p:sp>
      <p:sp>
        <p:nvSpPr>
          <p:cNvPr id="4" name="Boundary"/>
          <p:cNvSpPr txBox="1"/>
          <p:nvPr/>
        </p:nvSpPr>
        <p:spPr>
          <a:xfrm>
            <a:off x="8641080" y="1051560"/>
            <a:ext cx="2743200" cy="4526280"/>
          </a:xfrm>
          <a:prstGeom prst="rect">
            <a:avLst/>
          </a:prstGeom>
          <a:solidFill>
            <a:srgbClr val="FCE8E6"/>
          </a:solidFill>
          <a:ln w="12700">
            <a:solidFill>
              <a:srgbClr val="F28B82"/>
            </a:solidFill>
          </a:ln>
        </p:spPr>
        <p:txBody>
          <a:bodyPr wrap="square" lIns="90000" rIns="90000" tIns="50000" bIns="50000" anchor="ctr"/>
          <a:lstStyle/>
          <a:p>
            <a:pPr algn="l"/>
            <a:r>
              <a:rPr lang="ja-JP" sz="1400" b="1">
                <a:solidFill>
                  <a:srgbClr val="A50E0E"/>
                </a:solidFill>
                <a:latin typeface="Aptos"/>
                <a:ea typeface="Yu Gothic"/>
              </a:rPr>
              <a:t>追加しない</a:t>
            </a:r>
            <a:endParaRPr lang="ja-JP" sz="1400"/>
          </a:p>
          <a:p>
            <a:pPr algn="l"/>
            <a:r>
              <a:rPr lang="ja-JP" sz="1400" b="1">
                <a:solidFill>
                  <a:srgbClr val="A50E0E"/>
                </a:solidFill>
                <a:latin typeface="Aptos"/>
                <a:ea typeface="Yu Gothic"/>
              </a:rPr>
              <a:t/>
            </a:r>
            <a:endParaRPr lang="ja-JP" sz="1400"/>
          </a:p>
          <a:p>
            <a:pPr algn="l"/>
            <a:r>
              <a:rPr lang="ja-JP" sz="1400" b="1">
                <a:solidFill>
                  <a:srgbClr val="A50E0E"/>
                </a:solidFill>
                <a:latin typeface="Aptos"/>
                <a:ea typeface="Yu Gothic"/>
              </a:rPr>
              <a:t>Topic 34</a:t>
            </a:r>
            <a:endParaRPr lang="ja-JP" sz="1400"/>
          </a:p>
          <a:p>
            <a:pPr algn="l"/>
            <a:r>
              <a:rPr lang="ja-JP" sz="1400" b="1">
                <a:solidFill>
                  <a:srgbClr val="A50E0E"/>
                </a:solidFill>
                <a:latin typeface="Aptos"/>
                <a:ea typeface="Yu Gothic"/>
              </a:rPr>
              <a:t>AND / OR / NOT</a:t>
            </a:r>
            <a:endParaRPr lang="ja-JP" sz="1400"/>
          </a:p>
          <a:p>
            <a:pPr algn="l"/>
            <a:r>
              <a:rPr lang="ja-JP" sz="1400" b="1">
                <a:solidFill>
                  <a:srgbClr val="A50E0E"/>
                </a:solidFill>
                <a:latin typeface="Aptos"/>
                <a:ea typeface="Yu Gothic"/>
              </a:rPr>
              <a:t>真理値表</a:t>
            </a:r>
            <a:endParaRPr lang="ja-JP" sz="1400"/>
          </a:p>
          <a:p>
            <a:pPr algn="l"/>
            <a:r>
              <a:rPr lang="ja-JP" sz="1400" b="1">
                <a:solidFill>
                  <a:srgbClr val="A50E0E"/>
                </a:solidFill>
                <a:latin typeface="Aptos"/>
                <a:ea typeface="Yu Gothic"/>
              </a:rPr>
              <a:t>インターロック</a:t>
            </a:r>
            <a:endParaRPr lang="ja-JP" sz="1400"/>
          </a:p>
          <a:p>
            <a:pPr algn="l"/>
            <a:r>
              <a:rPr lang="ja-JP" sz="1400" b="1">
                <a:solidFill>
                  <a:srgbClr val="A50E0E"/>
                </a:solidFill>
                <a:latin typeface="Aptos"/>
                <a:ea typeface="Yu Gothic"/>
              </a:rPr>
              <a:t>進路制御</a:t>
            </a:r>
            <a:endParaRPr lang="ja-JP" sz="1400"/>
          </a:p>
          <a:p>
            <a:pPr algn="l"/>
            <a:r>
              <a:rPr lang="ja-JP" sz="1400" b="1">
                <a:solidFill>
                  <a:srgbClr val="A50E0E"/>
                </a:solidFill>
                <a:latin typeface="Aptos"/>
                <a:ea typeface="Yu Gothic"/>
              </a:rPr>
              <a:t/>
            </a:r>
            <a:endParaRPr lang="ja-JP" sz="1400"/>
          </a:p>
          <a:p>
            <a:pPr algn="l"/>
            <a:r>
              <a:rPr lang="ja-JP" sz="1400" b="1">
                <a:solidFill>
                  <a:srgbClr val="A50E0E"/>
                </a:solidFill>
                <a:latin typeface="Aptos"/>
                <a:ea typeface="Yu Gothic"/>
              </a:rPr>
              <a:t>Topic 35</a:t>
            </a:r>
            <a:endParaRPr lang="ja-JP" sz="1400"/>
          </a:p>
          <a:p>
            <a:pPr algn="l"/>
            <a:r>
              <a:rPr lang="ja-JP" sz="1400" b="1">
                <a:solidFill>
                  <a:srgbClr val="A50E0E"/>
                </a:solidFill>
                <a:latin typeface="Aptos"/>
                <a:ea typeface="Yu Gothic"/>
              </a:rPr>
              <a:t>運転整理</a:t>
            </a:r>
            <a:endParaRPr lang="ja-JP" sz="1400"/>
          </a:p>
          <a:p>
            <a:pPr algn="l"/>
            <a:r>
              <a:rPr lang="ja-JP" sz="1400" b="1">
                <a:solidFill>
                  <a:srgbClr val="A50E0E"/>
                </a:solidFill>
                <a:latin typeface="Aptos"/>
                <a:ea typeface="Yu Gothic"/>
              </a:rPr>
              <a:t>番線変更</a:t>
            </a:r>
            <a:endParaRPr lang="ja-JP" sz="1400"/>
          </a:p>
          <a:p>
            <a:pPr algn="l"/>
            <a:r>
              <a:rPr lang="ja-JP" sz="1400" b="1">
                <a:solidFill>
                  <a:srgbClr val="A50E0E"/>
                </a:solidFill>
                <a:latin typeface="Aptos"/>
                <a:ea typeface="Yu Gothic"/>
              </a:rPr>
              <a:t>冗長化</a:t>
            </a:r>
            <a:endParaRPr lang="ja-JP" sz="1400"/>
          </a:p>
          <a:p>
            <a:pPr algn="l"/>
            <a:r>
              <a:rPr lang="ja-JP" sz="1400" b="1">
                <a:solidFill>
                  <a:srgbClr val="A50E0E"/>
                </a:solidFill>
                <a:latin typeface="Aptos"/>
                <a:ea typeface="Yu Gothic"/>
              </a:rPr>
              <a:t/>
            </a:r>
            <a:endParaRPr lang="ja-JP" sz="1400"/>
          </a:p>
          <a:p>
            <a:pPr algn="l"/>
            <a:r>
              <a:rPr lang="ja-JP" sz="1400" b="1">
                <a:solidFill>
                  <a:srgbClr val="A50E0E"/>
                </a:solidFill>
                <a:latin typeface="Aptos"/>
                <a:ea typeface="Yu Gothic"/>
              </a:rPr>
              <a:t>未確認COMTRAC内部仕様</a:t>
            </a:r>
            <a:endParaRPr lang="ja-JP" sz="1400"/>
          </a:p>
        </p:txBody>
      </p:sp>
      <p:sp>
        <p:nvSpPr>
          <p:cNvPr id="5" name="Footer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90000" rIns="90000" tIns="50000" bIns="50000" anchor="ctr"/>
          <a:lstStyle/>
          <a:p>
            <a:pPr algn="l"/>
            <a:r>
              <a:rPr lang="ja-JP" sz="800" b="0">
                <a:solidFill>
                  <a:srgbClr val="59636E"/>
                </a:solidFill>
                <a:latin typeface="Aptos"/>
                <a:ea typeface="Yu Gothic"/>
              </a:rPr>
              <a:t>出典: 電気技術者試験センター公式過去問・JR東海一次資料・e-sysnet・電験三種まとめました・電験王3</a:t>
            </a:r>
            <a:endParaRPr lang="ja-JP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Yu Gothic"/>
        <a:cs typeface=""/>
      </a:majorFont>
      <a:minorFont>
        <a:latin typeface="Aptos"/>
        <a:ea typeface="Yu Gothic"/>
        <a:cs typeface="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PresentationFormat>On-screen Show (16:9)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33 COMTRAC①</dc:title>
  <dc:creator>OpenAI</dc:creator>
  <dcterms:created xsi:type="dcterms:W3CDTF">2026-09-16T00:00:00Z</dcterms:created>
  <dcterms:modified xsi:type="dcterms:W3CDTF">2026-09-16T00:00:00Z</dcterms:modified>
</cp:coreProperties>
</file>