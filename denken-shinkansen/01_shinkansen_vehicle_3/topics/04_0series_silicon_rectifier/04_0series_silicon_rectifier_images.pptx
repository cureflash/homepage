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 type="screen16x9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1" r:id="rId1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0000" y="250000"/>
            <a:ext cx="11200000" cy="5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04 0系② シリコン整流器｜電験で解くための回路と波形</a:t>
            </a:r>
            <a:endParaRPr lang="ja-JP" sz="2800"/>
          </a:p>
        </p:txBody>
      </p:sp>
      <p:sp>
        <p:nvSpPr>
          <p:cNvPr id="3" name="flow"/>
          <p:cNvSpPr txBox="1"/>
          <p:nvPr/>
        </p:nvSpPr>
        <p:spPr>
          <a:xfrm>
            <a:off x="500000" y="1100000"/>
            <a:ext cx="11000000" cy="900000"/>
          </a:xfrm>
          <a:prstGeom prst="rect">
            <a:avLst/>
          </a:prstGeom>
          <a:solidFill>
            <a:srgbClr val="EAF2F8"/>
          </a:solidFill>
          <a:ln w="19050">
            <a:solidFill>
              <a:srgbClr val="4F81BD"/>
            </a:solidFill>
          </a:ln>
        </p:spPr>
        <p:txBody>
          <a:bodyPr wrap="square"/>
          <a:lstStyle/>
          <a:p>
            <a:r>
              <a:rPr lang="ja-JP" sz="1900" b="1"/>
              <a:t>交流電源 → ダイオード整流 → R-L / 平滑C → 直流負荷</a:t>
            </a:r>
            <a:endParaRPr lang="ja-JP" sz="1900"/>
          </a:p>
          <a:p>
            <a:r>
              <a:rPr lang="ja-JP" sz="1900" b="1"/>
              <a:t>電験では「極性 → 導通素子 → 電流経路 → 波形 → 平均値」の順で判定</a:t>
            </a:r>
            <a:endParaRPr lang="ja-JP" sz="1900"/>
          </a:p>
        </p:txBody>
      </p:sp>
      <p:sp>
        <p:nvSpPr>
          <p:cNvPr id="4" name="formula"/>
          <p:cNvSpPr txBox="1"/>
          <p:nvPr/>
        </p:nvSpPr>
        <p:spPr>
          <a:xfrm>
            <a:off x="550000" y="2350000"/>
            <a:ext cx="5150000" cy="2100000"/>
          </a:xfrm>
          <a:prstGeom prst="rect">
            <a:avLst/>
          </a:prstGeom>
          <a:solidFill>
            <a:srgbClr val="F7F7F7"/>
          </a:solidFill>
          <a:ln w="19050">
            <a:solidFill>
              <a:srgbClr val="999999"/>
            </a:solidFill>
          </a:ln>
        </p:spPr>
        <p:txBody>
          <a:bodyPr wrap="square"/>
          <a:lstStyle/>
          <a:p>
            <a:r>
              <a:rPr lang="ja-JP" sz="1900" b="0"/>
              <a:t>平均直流電圧</a:t>
            </a:r>
            <a:endParaRPr lang="ja-JP" sz="1900"/>
          </a:p>
          <a:p>
            <a:r>
              <a:rPr lang="ja-JP" sz="1900" b="0"/>
              <a:t>半波: Vd = Vm / π = √2 Vrms / π</a:t>
            </a:r>
            <a:endParaRPr lang="ja-JP" sz="1900"/>
          </a:p>
          <a:p>
            <a:r>
              <a:rPr lang="ja-JP" sz="1900" b="0"/>
              <a:t>全波: Vd = 2Vm / π = 2√2 Vrms / π</a:t>
            </a:r>
            <a:endParaRPr lang="ja-JP" sz="1900"/>
          </a:p>
          <a:p>
            <a:r>
              <a:rPr lang="ja-JP" sz="1900" b="0"/>
              <a:t>R-L: v = Ri + L di/dt</a:t>
            </a:r>
            <a:endParaRPr lang="ja-JP" sz="1900"/>
          </a:p>
          <a:p>
            <a:r>
              <a:rPr lang="ja-JP" sz="1900" b="0"/>
              <a:t>Lがあると零交差後も電流が続き得る</a:t>
            </a:r>
            <a:endParaRPr lang="ja-JP" sz="1900"/>
          </a:p>
        </p:txBody>
      </p:sp>
      <p:sp>
        <p:nvSpPr>
          <p:cNvPr id="5" name="algorithm"/>
          <p:cNvSpPr txBox="1"/>
          <p:nvPr/>
        </p:nvSpPr>
        <p:spPr>
          <a:xfrm>
            <a:off x="6050000" y="2350000"/>
            <a:ext cx="5150000" cy="2100000"/>
          </a:xfrm>
          <a:prstGeom prst="rect">
            <a:avLst/>
          </a:prstGeom>
          <a:solidFill>
            <a:srgbClr val="F7F7F7"/>
          </a:solidFill>
          <a:ln w="19050">
            <a:solidFill>
              <a:srgbClr val="999999"/>
            </a:solidFill>
          </a:ln>
        </p:spPr>
        <p:txBody>
          <a:bodyPr wrap="square"/>
          <a:lstStyle/>
          <a:p>
            <a:r>
              <a:rPr lang="ja-JP" sz="1900" b="0"/>
              <a:t>解法フロー</a:t>
            </a:r>
            <a:endParaRPr lang="ja-JP" sz="1900"/>
          </a:p>
          <a:p>
            <a:r>
              <a:rPr lang="ja-JP" sz="1900" b="0"/>
              <a:t>1. 入力極性を確認</a:t>
            </a:r>
            <a:endParaRPr lang="ja-JP" sz="1900"/>
          </a:p>
          <a:p>
            <a:r>
              <a:rPr lang="ja-JP" sz="1900" b="0"/>
              <a:t>2. ONになれる素子を選ぶ</a:t>
            </a:r>
            <a:endParaRPr lang="ja-JP" sz="1900"/>
          </a:p>
          <a:p>
            <a:r>
              <a:rPr lang="ja-JP" sz="1900" b="0"/>
              <a:t>3. 電流経路を描く</a:t>
            </a:r>
            <a:endParaRPr lang="ja-JP" sz="1900"/>
          </a:p>
          <a:p>
            <a:r>
              <a:rPr lang="ja-JP" sz="1900" b="0"/>
              <a:t>4. R/L/Cの作用を反映</a:t>
            </a:r>
            <a:endParaRPr lang="ja-JP" sz="1900"/>
          </a:p>
          <a:p>
            <a:r>
              <a:rPr lang="ja-JP" sz="1900" b="0"/>
              <a:t>5. 平均値と実効値を区別</a:t>
            </a:r>
            <a:endParaRPr lang="ja-JP" sz="1900"/>
          </a:p>
          <a:p>
            <a:r>
              <a:rPr lang="ja-JP" sz="1900" b="0"/>
              <a:t>6. 端点・波形で検算</a:t>
            </a:r>
            <a:endParaRPr lang="ja-JP" sz="1900"/>
          </a:p>
        </p:txBody>
      </p:sp>
      <p:sp>
        <p:nvSpPr>
          <p:cNvPr id="6" name="train"/>
          <p:cNvSpPr txBox="1"/>
          <p:nvPr/>
        </p:nvSpPr>
        <p:spPr>
          <a:xfrm>
            <a:off x="700000" y="4850000"/>
            <a:ext cx="10600000" cy="900000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</p:spPr>
        <p:txBody>
          <a:bodyPr wrap="square"/>
          <a:lstStyle/>
          <a:p>
            <a:r>
              <a:rPr lang="ja-JP" sz="1750" b="0"/>
              <a:t>0系への接続: 交流受電 → 主変圧器 → シリコン整流器 → 直流主電動機</a:t>
            </a:r>
            <a:endParaRPr lang="ja-JP" sz="1750"/>
          </a:p>
          <a:p>
            <a:r>
              <a:rPr lang="ja-JP" sz="1750" b="0"/>
              <a:t>実車内部の未確認電圧・電流値は使わず、試験理論の具体例として扱う。</a:t>
            </a:r>
            <a:endParaRPr lang="ja-JP" sz="1750"/>
          </a:p>
        </p:txBody>
      </p:sp>
      <p:sp>
        <p:nvSpPr>
          <p:cNvPr id="7" name="source"/>
          <p:cNvSpPr txBox="1"/>
          <p:nvPr/>
        </p:nvSpPr>
        <p:spPr>
          <a:xfrm>
            <a:off x="600000" y="625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900" b="0"/>
              <a:t>自作模式図。試験正本: 電気技術者試験センター／説明粒度参考: e-sysnet・電験三種まとめました（参照 2026-08-29）</a:t>
            </a:r>
            <a:endParaRPr lang="ja-JP" sz="900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0000" y="300000"/>
            <a:ext cx="11200000" cy="5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引用元・試験対応</a:t>
            </a:r>
            <a:endParaRPr lang="ja-JP" sz="2800"/>
          </a:p>
        </p:txBody>
      </p:sp>
      <p:sp>
        <p:nvSpPr>
          <p:cNvPr id="3" name="refs"/>
          <p:cNvSpPr txBox="1"/>
          <p:nvPr/>
        </p:nvSpPr>
        <p:spPr>
          <a:xfrm>
            <a:off x="650000" y="1200000"/>
            <a:ext cx="10800000" cy="4300000"/>
          </a:xfrm>
          <a:prstGeom prst="rect">
            <a:avLst/>
          </a:prstGeom>
          <a:solidFill>
            <a:srgbClr val="F7F7F7"/>
          </a:solidFill>
          <a:ln w="19050">
            <a:solidFill>
              <a:srgbClr val="999999"/>
            </a:solidFill>
          </a:ln>
        </p:spPr>
        <p:txBody>
          <a:bodyPr wrap="square"/>
          <a:lstStyle/>
          <a:p>
            <a:r>
              <a:rPr lang="ja-JP" sz="1750" b="0"/>
              <a:t>公式正本</a:t>
            </a:r>
            <a:endParaRPr lang="ja-JP" sz="1750"/>
          </a:p>
          <a:p>
            <a:r>
              <a:rPr lang="ja-JP" sz="1750" b="0"/>
              <a:t>・一般財団法人 電気技術者試験センター「第三種電気主任技術者試験の問題と解答」</a:t>
            </a:r>
            <a:endParaRPr lang="ja-JP" sz="1750"/>
          </a:p>
          <a:p>
            <a:r>
              <a:rPr lang="ja-JP" sz="1750" b="0"/>
              <a:t>  https://www.shiken.or.jp/chief/third/qa/</a:t>
            </a:r>
            <a:endParaRPr lang="ja-JP" sz="1750"/>
          </a:p>
          <a:p>
            <a:r>
              <a:rPr lang="ja-JP" sz="1750" b="0"/>
              <a:t/>
            </a:r>
            <a:endParaRPr lang="ja-JP" sz="1750"/>
          </a:p>
          <a:p>
            <a:r>
              <a:rPr lang="ja-JP" sz="1750" b="0"/>
              <a:t>今回のEXAM_ALIGNMENT: R3機械問16 / H26機械問10 / H25機械問9 / H24機械問10 / R1機械問10</a:t>
            </a:r>
            <a:endParaRPr lang="ja-JP" sz="1750"/>
          </a:p>
          <a:p>
            <a:r>
              <a:rPr lang="ja-JP" sz="1750" b="0"/>
              <a:t/>
            </a:r>
            <a:endParaRPr lang="ja-JP" sz="1750"/>
          </a:p>
          <a:p>
            <a:r>
              <a:rPr lang="ja-JP" sz="1750" b="0"/>
              <a:t>説明粒度・解法比較</a:t>
            </a:r>
            <a:endParaRPr lang="ja-JP" sz="1750"/>
          </a:p>
          <a:p>
            <a:r>
              <a:rPr lang="ja-JP" sz="1750" b="0"/>
              <a:t>・e-sysnet https://e-sysnet.com/</a:t>
            </a:r>
            <a:endParaRPr lang="ja-JP" sz="1750"/>
          </a:p>
          <a:p>
            <a:r>
              <a:rPr lang="ja-JP" sz="1750" b="0"/>
              <a:t>・電験三種まとめました https://yaku-tik.com/denken/k-rectifier-1/ ほか各年度解説</a:t>
            </a:r>
            <a:endParaRPr lang="ja-JP" sz="1750"/>
          </a:p>
          <a:p>
            <a:r>
              <a:rPr lang="ja-JP" sz="1750" b="0"/>
              <a:t/>
            </a:r>
            <a:endParaRPr lang="ja-JP" sz="1750"/>
          </a:p>
          <a:p>
            <a:r>
              <a:rPr lang="ja-JP" sz="1750" b="0"/>
              <a:t>方針</a:t>
            </a:r>
            <a:endParaRPr lang="ja-JP" sz="1750"/>
          </a:p>
          <a:p>
            <a:r>
              <a:rPr lang="ja-JP" sz="1750" b="0"/>
              <a:t>・外部画像・文章・例題は複製していない。図はすべて自作。</a:t>
            </a:r>
            <a:endParaRPr lang="ja-JP" sz="1750"/>
          </a:p>
          <a:p>
            <a:r>
              <a:rPr lang="ja-JP" sz="1750" b="0"/>
              <a:t>・正答・公式・技術事実が競合する場合は公式試験資料を優先。</a:t>
            </a:r>
            <a:endParaRPr lang="ja-JP" sz="1750"/>
          </a:p>
        </p:txBody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Noto Sans CJK JP"/>
        <a:cs typeface="Arial"/>
      </a:majorFont>
      <a:minorFont>
        <a:latin typeface="Arial"/>
        <a:ea typeface="Noto Sans CJK JP"/>
        <a:cs typeface="Arial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title>04 0系② シリコン整流器</dc:title>
  <dc:creator>OpenAI</dc:creator>
</cp:coreProperties>
</file>