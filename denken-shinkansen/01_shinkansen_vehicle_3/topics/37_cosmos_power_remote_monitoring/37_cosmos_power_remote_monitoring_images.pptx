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50000" y="250000"/>
            <a:ext cx="11100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2600" b="1">
                <a:solidFill>
                  <a:srgbClr val="0F172A"/>
                </a:solidFill>
                <a:latin typeface="Aptos Display"/>
                <a:ea typeface="Yu Gothic"/>
              </a:rPr>
              <a:t>37 COSMOS②｜新幹線の電力設備を遠隔監視する</a:t>
            </a:r>
            <a:endParaRPr lang="ja-JP" sz="2600"/>
          </a:p>
        </p:txBody>
      </p:sp>
      <p:sp>
        <p:nvSpPr>
          <p:cNvPr id="3" name="Left"/>
          <p:cNvSpPr txBox="1"/>
          <p:nvPr/>
        </p:nvSpPr>
        <p:spPr>
          <a:xfrm>
            <a:off x="550000" y="1150000"/>
            <a:ext cx="5400000" cy="4550000"/>
          </a:xfrm>
          <a:prstGeom prst="roundRect">
            <a:avLst/>
          </a:prstGeom>
          <a:solidFill>
            <a:srgbClr val="F8FAFC"/>
          </a:solidFill>
          <a:ln w="10000">
            <a:solidFill>
              <a:srgbClr val="CBD5E1"/>
            </a:solidFill>
          </a:ln>
        </p:spPr>
        <p:txBody>
          <a:bodyPr wrap="square" lIns="140000" tIns="140000" rIns="140000" bIns="140000" anchor="t"/>
          <a:lstStyle/>
          <a:p>
            <a:pPr marL="0" indent="0" algn="l"/>
            <a:r>
              <a:rPr lang="ja-JP" sz="1700" b="1">
                <a:solidFill>
                  <a:srgbClr val="111827"/>
                </a:solidFill>
                <a:latin typeface="Aptos"/>
                <a:ea typeface="Yu Gothic"/>
              </a:rPr>
              <a:t>公開資料で確認できるCOSMOS-SCADA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JR東日本管内の新幹線電力設備を状態監視・制御。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中央電力指令から変電所等を直接監視・制御する。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/>
            </a:r>
            <a:endParaRPr lang="ja-JP" sz="1700"/>
          </a:p>
          <a:p>
            <a:pPr marL="0" indent="0" algn="l"/>
            <a:r>
              <a:rPr lang="ja-JP" sz="1700" b="1">
                <a:solidFill>
                  <a:srgbClr val="111827"/>
                </a:solidFill>
                <a:latin typeface="Aptos"/>
                <a:ea typeface="Yu Gothic"/>
              </a:rPr>
              <a:t>情報の2方向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遠隔計測：現地状態・計測値 → 通信 → 指令側監視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遠隔制御：指令側の操作 → 通信 → 現地機器の動作</a:t>
            </a:r>
            <a:endParaRPr lang="ja-JP" sz="1700"/>
          </a:p>
        </p:txBody>
      </p:sp>
      <p:sp>
        <p:nvSpPr>
          <p:cNvPr id="4" name="Right"/>
          <p:cNvSpPr txBox="1"/>
          <p:nvPr/>
        </p:nvSpPr>
        <p:spPr>
          <a:xfrm>
            <a:off x="6250000" y="1150000"/>
            <a:ext cx="5400000" cy="4550000"/>
          </a:xfrm>
          <a:prstGeom prst="roundRect">
            <a:avLst/>
          </a:prstGeom>
          <a:solidFill>
            <a:srgbClr val="EFF6FF"/>
          </a:solidFill>
          <a:ln w="10000">
            <a:solidFill>
              <a:srgbClr val="2563EB"/>
            </a:solidFill>
          </a:ln>
        </p:spPr>
        <p:txBody>
          <a:bodyPr wrap="square" lIns="140000" tIns="140000" rIns="140000" bIns="140000" anchor="t"/>
          <a:lstStyle/>
          <a:p>
            <a:pPr marL="0" indent="0" algn="l"/>
            <a:r>
              <a:rPr lang="ja-JP" sz="1700" b="1">
                <a:solidFill>
                  <a:srgbClr val="111827"/>
                </a:solidFill>
                <a:latin typeface="Aptos"/>
                <a:ea typeface="Yu Gothic"/>
              </a:rPr>
              <a:t>SCADAの一般機能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Data Acquisition：現地データを収集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Supervisory Monitoring：指令側で監視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Control：必要な制御指令を送る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/>
            </a:r>
            <a:endParaRPr lang="ja-JP" sz="1700"/>
          </a:p>
          <a:p>
            <a:pPr marL="0" indent="0" algn="l"/>
            <a:r>
              <a:rPr lang="ja-JP" sz="1700" b="1">
                <a:solidFill>
                  <a:srgbClr val="111827"/>
                </a:solidFill>
                <a:latin typeface="Aptos"/>
                <a:ea typeface="Yu Gothic"/>
              </a:rPr>
              <a:t>系列SPEC固定範囲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SCADA／変電所／センサ／遠隔計測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A-D変換／デジタル情報／遠隔制御</a:t>
            </a:r>
            <a:endParaRPr lang="ja-JP" sz="1700"/>
          </a:p>
        </p:txBody>
      </p:sp>
      <p:sp>
        <p:nvSpPr>
          <p:cNvPr id="5" name="Footer"/>
          <p:cNvSpPr txBox="1"/>
          <p:nvPr/>
        </p:nvSpPr>
        <p:spPr>
          <a:xfrm>
            <a:off x="550000" y="5900000"/>
            <a:ext cx="1110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1200">
                <a:solidFill>
                  <a:srgbClr val="475569"/>
                </a:solidFill>
                <a:latin typeface="Aptos Display"/>
                <a:ea typeface="Yu Gothic"/>
              </a:rPr>
              <a:t>模式図は一般原理。COSMOS-SCADA固有の通信方式・ネットワーク構成・更新周期等を示さない。</a:t>
            </a:r>
            <a:endParaRPr lang="ja-JP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50000" y="250000"/>
            <a:ext cx="11100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2600" b="1">
                <a:solidFill>
                  <a:srgbClr val="0F172A"/>
                </a:solidFill>
                <a:latin typeface="Aptos Display"/>
                <a:ea typeface="Yu Gothic"/>
              </a:rPr>
              <a:t>遠隔計測｜センサからデジタル情報へ</a:t>
            </a:r>
            <a:endParaRPr lang="ja-JP" sz="2600"/>
          </a:p>
        </p:txBody>
      </p:sp>
      <p:sp>
        <p:nvSpPr>
          <p:cNvPr id="3" name="Left"/>
          <p:cNvSpPr txBox="1"/>
          <p:nvPr/>
        </p:nvSpPr>
        <p:spPr>
          <a:xfrm>
            <a:off x="550000" y="1150000"/>
            <a:ext cx="5400000" cy="4550000"/>
          </a:xfrm>
          <a:prstGeom prst="roundRect">
            <a:avLst/>
          </a:prstGeom>
          <a:solidFill>
            <a:srgbClr val="F8FAFC"/>
          </a:solidFill>
          <a:ln w="10000">
            <a:solidFill>
              <a:srgbClr val="CBD5E1"/>
            </a:solidFill>
          </a:ln>
        </p:spPr>
        <p:txBody>
          <a:bodyPr wrap="square" lIns="140000" tIns="140000" rIns="140000" bIns="140000" anchor="t"/>
          <a:lstStyle/>
          <a:p>
            <a:pPr marL="0" indent="0" algn="l"/>
            <a:r>
              <a:rPr lang="ja-JP" sz="1700" b="1">
                <a:solidFill>
                  <a:srgbClr val="111827"/>
                </a:solidFill>
                <a:latin typeface="Aptos"/>
                <a:ea typeface="Yu Gothic"/>
              </a:rPr>
              <a:t>計測の流れ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物理量・設備状態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→ センサ・計測入力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→ 必要な信号変換 / A-D変換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→ デジタル情報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→ 通信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→ 指令側で監視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/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センサ＝測る／制御装置＝判断／出力機器＝動作</a:t>
            </a:r>
            <a:endParaRPr lang="ja-JP" sz="1700"/>
          </a:p>
        </p:txBody>
      </p:sp>
      <p:sp>
        <p:nvSpPr>
          <p:cNvPr id="4" name="Right"/>
          <p:cNvSpPr txBox="1"/>
          <p:nvPr/>
        </p:nvSpPr>
        <p:spPr>
          <a:xfrm>
            <a:off x="6250000" y="1150000"/>
            <a:ext cx="5400000" cy="4550000"/>
          </a:xfrm>
          <a:prstGeom prst="roundRect">
            <a:avLst/>
          </a:prstGeom>
          <a:solidFill>
            <a:srgbClr val="EFF6FF"/>
          </a:solidFill>
          <a:ln w="10000">
            <a:solidFill>
              <a:srgbClr val="2563EB"/>
            </a:solidFill>
          </a:ln>
        </p:spPr>
        <p:txBody>
          <a:bodyPr wrap="square" lIns="140000" tIns="140000" rIns="140000" bIns="140000" anchor="t"/>
          <a:lstStyle/>
          <a:p>
            <a:pPr marL="0" indent="0" algn="l"/>
            <a:r>
              <a:rPr lang="ja-JP" sz="1700" b="1">
                <a:solidFill>
                  <a:srgbClr val="111827"/>
                </a:solidFill>
                <a:latin typeface="Aptos"/>
                <a:ea typeface="Yu Gothic"/>
              </a:rPr>
              <a:t>A-D変換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n bitのコード数　L = 2^n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入力範囲を2^n等分：q = (Vmax - Vmin) / 2^n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/>
            </a:r>
            <a:endParaRPr lang="ja-JP" sz="1700"/>
          </a:p>
          <a:p>
            <a:pPr marL="0" indent="0" algn="l"/>
            <a:r>
              <a:rPr lang="ja-JP" sz="1700" b="1">
                <a:solidFill>
                  <a:srgbClr val="111827"/>
                </a:solidFill>
                <a:latin typeface="Aptos"/>
                <a:ea typeface="Yu Gothic"/>
              </a:rPr>
              <a:t>二重積分形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kVxT1 = kVrT2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Vx = (T2 / T1)Vr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同一クロック：Vx = (N2 / N1)Vr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/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R1 理論 問18(a)(b)へ接続</a:t>
            </a:r>
            <a:endParaRPr lang="ja-JP" sz="1700"/>
          </a:p>
        </p:txBody>
      </p:sp>
      <p:sp>
        <p:nvSpPr>
          <p:cNvPr id="5" name="Footer"/>
          <p:cNvSpPr txBox="1"/>
          <p:nvPr/>
        </p:nvSpPr>
        <p:spPr>
          <a:xfrm>
            <a:off x="550000" y="5900000"/>
            <a:ext cx="1110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1200">
                <a:solidFill>
                  <a:srgbClr val="475569"/>
                </a:solidFill>
                <a:latin typeface="Aptos Display"/>
                <a:ea typeface="Yu Gothic"/>
              </a:rPr>
              <a:t>端点条件は問題文を優先。同一クロックでない場合、時間比をパルス数比へ機械的に置換しない。</a:t>
            </a:r>
            <a:endParaRPr lang="ja-JP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50000" y="250000"/>
            <a:ext cx="11100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2600" b="1">
                <a:solidFill>
                  <a:srgbClr val="0F172A"/>
                </a:solidFill>
                <a:latin typeface="Aptos Display"/>
                <a:ea typeface="Yu Gothic"/>
              </a:rPr>
              <a:t>デジタル情報・シーケンス制御・遠隔制御</a:t>
            </a:r>
            <a:endParaRPr lang="ja-JP" sz="2600"/>
          </a:p>
        </p:txBody>
      </p:sp>
      <p:sp>
        <p:nvSpPr>
          <p:cNvPr id="3" name="Left"/>
          <p:cNvSpPr txBox="1"/>
          <p:nvPr/>
        </p:nvSpPr>
        <p:spPr>
          <a:xfrm>
            <a:off x="550000" y="1150000"/>
            <a:ext cx="5400000" cy="4550000"/>
          </a:xfrm>
          <a:prstGeom prst="roundRect">
            <a:avLst/>
          </a:prstGeom>
          <a:solidFill>
            <a:srgbClr val="F8FAFC"/>
          </a:solidFill>
          <a:ln w="10000">
            <a:solidFill>
              <a:srgbClr val="CBD5E1"/>
            </a:solidFill>
          </a:ln>
        </p:spPr>
        <p:txBody>
          <a:bodyPr wrap="square" lIns="140000" tIns="140000" rIns="140000" bIns="140000" anchor="t"/>
          <a:lstStyle/>
          <a:p>
            <a:pPr marL="0" indent="0" algn="l"/>
            <a:r>
              <a:rPr lang="ja-JP" sz="1700" b="1">
                <a:solidFill>
                  <a:srgbClr val="111827"/>
                </a:solidFill>
                <a:latin typeface="Aptos"/>
                <a:ea typeface="Yu Gothic"/>
              </a:rPr>
              <a:t>デジタル情報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(10110110)₂ = 182₁₀ = B6₁₆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16進1桁 = 4 bit。比較は同じ基数へ変換する。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/>
            </a:r>
            <a:endParaRPr lang="ja-JP" sz="1700"/>
          </a:p>
          <a:p>
            <a:pPr marL="0" indent="0" algn="l"/>
            <a:r>
              <a:rPr lang="ja-JP" sz="1700" b="1">
                <a:solidFill>
                  <a:srgbClr val="111827"/>
                </a:solidFill>
                <a:latin typeface="Aptos"/>
                <a:ea typeface="Yu Gothic"/>
              </a:rPr>
              <a:t>シーケンス制御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スイッチ / センサ → PLC・制御装置 → 出力機器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入力条件と定めた手順でON/OFFを進める。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/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R3 機械 問14／H26 機械 問13へ接続</a:t>
            </a:r>
            <a:endParaRPr lang="ja-JP" sz="1700"/>
          </a:p>
        </p:txBody>
      </p:sp>
      <p:sp>
        <p:nvSpPr>
          <p:cNvPr id="4" name="Right"/>
          <p:cNvSpPr txBox="1"/>
          <p:nvPr/>
        </p:nvSpPr>
        <p:spPr>
          <a:xfrm>
            <a:off x="6250000" y="1150000"/>
            <a:ext cx="5400000" cy="4550000"/>
          </a:xfrm>
          <a:prstGeom prst="roundRect">
            <a:avLst/>
          </a:prstGeom>
          <a:solidFill>
            <a:srgbClr val="EFF6FF"/>
          </a:solidFill>
          <a:ln w="10000">
            <a:solidFill>
              <a:srgbClr val="2563EB"/>
            </a:solidFill>
          </a:ln>
        </p:spPr>
        <p:txBody>
          <a:bodyPr wrap="square" lIns="140000" tIns="140000" rIns="140000" bIns="140000" anchor="t"/>
          <a:lstStyle/>
          <a:p>
            <a:pPr marL="0" indent="0" algn="l"/>
            <a:r>
              <a:rPr lang="ja-JP" sz="1700" b="1">
                <a:solidFill>
                  <a:srgbClr val="111827"/>
                </a:solidFill>
                <a:latin typeface="Aptos"/>
                <a:ea typeface="Yu Gothic"/>
              </a:rPr>
              <a:t>通信による遠隔制御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異常・事故を検出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→ 遮断などの制御信号を生成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→ 通信回線で遠方へ伝送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→ 受信側で信号を識別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→ 遠方側の遮断器などが動作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/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R6上 法規 問7／H23 法規 問6へ接続</a:t>
            </a:r>
            <a:endParaRPr lang="ja-JP" sz="1700"/>
          </a:p>
        </p:txBody>
      </p:sp>
      <p:sp>
        <p:nvSpPr>
          <p:cNvPr id="5" name="Footer"/>
          <p:cNvSpPr txBox="1"/>
          <p:nvPr/>
        </p:nvSpPr>
        <p:spPr>
          <a:xfrm>
            <a:off x="550000" y="5900000"/>
            <a:ext cx="1110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1200">
                <a:solidFill>
                  <a:srgbClr val="475569"/>
                </a:solidFill>
                <a:latin typeface="Aptos Display"/>
                <a:ea typeface="Yu Gothic"/>
              </a:rPr>
              <a:t>転送遮断は一般的な遠隔制御原理として扱う。COSMOS-SCADA固有の実装方式とは断定しない。</a:t>
            </a:r>
            <a:endParaRPr lang="ja-JP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50000" y="250000"/>
            <a:ext cx="11100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2600" b="1">
                <a:solidFill>
                  <a:srgbClr val="0F172A"/>
                </a:solidFill>
                <a:latin typeface="Aptos Display"/>
                <a:ea typeface="Yu Gothic"/>
              </a:rPr>
              <a:t>本試験でどう使うか｜固定EXAM_ALIGNMENT 5問・6答案要素</a:t>
            </a:r>
            <a:endParaRPr lang="ja-JP" sz="2600"/>
          </a:p>
        </p:txBody>
      </p:sp>
      <p:sp>
        <p:nvSpPr>
          <p:cNvPr id="3" name="Left"/>
          <p:cNvSpPr txBox="1"/>
          <p:nvPr/>
        </p:nvSpPr>
        <p:spPr>
          <a:xfrm>
            <a:off x="550000" y="1150000"/>
            <a:ext cx="5400000" cy="4550000"/>
          </a:xfrm>
          <a:prstGeom prst="roundRect">
            <a:avLst/>
          </a:prstGeom>
          <a:solidFill>
            <a:srgbClr val="F8FAFC"/>
          </a:solidFill>
          <a:ln w="10000">
            <a:solidFill>
              <a:srgbClr val="CBD5E1"/>
            </a:solidFill>
          </a:ln>
        </p:spPr>
        <p:txBody>
          <a:bodyPr wrap="square" lIns="140000" tIns="140000" rIns="140000" bIns="140000" anchor="t"/>
          <a:lstStyle/>
          <a:p>
            <a:pPr marL="0" indent="0" algn="l"/>
            <a:r>
              <a:rPr lang="ja-JP" sz="1700" b="1">
                <a:solidFill>
                  <a:srgbClr val="111827"/>
                </a:solidFill>
                <a:latin typeface="Aptos"/>
                <a:ea typeface="Yu Gothic"/>
              </a:rPr>
              <a:t>固定問題 → 教材節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R6上 法規 問7 → §11・§12・§15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R3 機械 問14 → §9・§13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R1 理論 問18(a) → §7・§8・§14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R1 理論 問18(b) → §7・§8・§14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H26 機械 問13 → §5・§10・§12・§15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H23 法規 問6 → §11・§12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/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固定5問・6答案要素：6 / 6 接続</a:t>
            </a:r>
            <a:endParaRPr lang="ja-JP" sz="1700"/>
          </a:p>
        </p:txBody>
      </p:sp>
      <p:sp>
        <p:nvSpPr>
          <p:cNvPr id="4" name="Right"/>
          <p:cNvSpPr txBox="1"/>
          <p:nvPr/>
        </p:nvSpPr>
        <p:spPr>
          <a:xfrm>
            <a:off x="6250000" y="1150000"/>
            <a:ext cx="5400000" cy="4550000"/>
          </a:xfrm>
          <a:prstGeom prst="roundRect">
            <a:avLst/>
          </a:prstGeom>
          <a:solidFill>
            <a:srgbClr val="EFF6FF"/>
          </a:solidFill>
          <a:ln w="10000">
            <a:solidFill>
              <a:srgbClr val="2563EB"/>
            </a:solidFill>
          </a:ln>
        </p:spPr>
        <p:txBody>
          <a:bodyPr wrap="square" lIns="140000" tIns="140000" rIns="140000" bIns="140000" anchor="t"/>
          <a:lstStyle/>
          <a:p>
            <a:pPr marL="0" indent="0" algn="l"/>
            <a:r>
              <a:rPr lang="ja-JP" sz="1700" b="1">
                <a:solidFill>
                  <a:srgbClr val="111827"/>
                </a:solidFill>
                <a:latin typeface="Aptos"/>
                <a:ea typeface="Yu Gothic"/>
              </a:rPr>
              <a:t>解法手順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1 何を検出するか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2 アナログ量かON/OFF状態か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3 必要ならA-D変換・状態符号化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4 情報の送信元と送信先を確認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5 計測情報か制御指令かを区別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6 受信側で動く機器を確認</a:t>
            </a:r>
            <a:endParaRPr lang="ja-JP" sz="1700"/>
          </a:p>
          <a:p>
            <a:pPr marL="0" indent="0" algn="l"/>
            <a:r>
              <a:rPr lang="ja-JP" sz="1700">
                <a:solidFill>
                  <a:srgbClr val="111827"/>
                </a:solidFill>
                <a:latin typeface="Aptos"/>
                <a:ea typeface="Yu Gothic"/>
              </a:rPr>
              <a:t>7 センサ・制御装置・通信・出力の役割を検算</a:t>
            </a:r>
            <a:endParaRPr lang="ja-JP" sz="1700"/>
          </a:p>
        </p:txBody>
      </p:sp>
      <p:sp>
        <p:nvSpPr>
          <p:cNvPr id="5" name="Footer"/>
          <p:cNvSpPr txBox="1"/>
          <p:nvPr/>
        </p:nvSpPr>
        <p:spPr>
          <a:xfrm>
            <a:off x="550000" y="5900000"/>
            <a:ext cx="111000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ja-JP" sz="1200">
                <a:solidFill>
                  <a:srgbClr val="475569"/>
                </a:solidFill>
                <a:latin typeface="Aptos Display"/>
                <a:ea typeface="Yu Gothic"/>
              </a:rPr>
              <a:t>Topic 38（冗長化・バックアップ・フェイルセーフ・論理回路・障害検知・切替・信頼性）は扱わない。</a:t>
            </a:r>
            <a:endParaRPr lang="ja-JP" sz="1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EA5E9"/>
      </a:accent2>
      <a:accent3>
        <a:srgbClr val="10B981"/>
      </a:accent3>
      <a:accent4>
        <a:srgbClr val="F59E0B"/>
      </a:accent4>
      <a:accent5>
        <a:srgbClr val="8B5CF6"/>
      </a:accent5>
      <a:accent6>
        <a:srgbClr val="EC4899"/>
      </a:accent6>
      <a:hlink>
        <a:srgbClr val="0000FF"/>
      </a:hlink>
      <a:folHlink>
        <a:srgbClr val="800080"/>
      </a:folHlink>
    </a:clrScheme>
    <a:fontScheme name="Minimal">
      <a:majorFont>
        <a:latin typeface="Aptos Display"/>
        <a:ea typeface="Yu Gothic"/>
        <a:cs typeface="Arial"/>
      </a:majorFont>
      <a:minorFont>
        <a:latin typeface="Aptos"/>
        <a:ea typeface="Yu Gothic"/>
        <a:cs typeface="Arial"/>
      </a:minorFont>
    </a:fontScheme>
    <a:fmtScheme name="Minimal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