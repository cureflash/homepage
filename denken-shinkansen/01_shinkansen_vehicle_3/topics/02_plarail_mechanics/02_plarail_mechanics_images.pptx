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latin typeface="Noto Sans CJK JP"/>
              </a:defRPr>
            </a:pPr>
            <a:r>
              <a:t>負荷が増えると、モーターの中で何が起きる？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1783080" cy="777240"/>
          </a:xfrm>
          <a:prstGeom prst="roundRect">
            <a:avLst/>
          </a:prstGeom>
          <a:solidFill>
            <a:srgbClr val="464646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latin typeface="Noto Sans CJK JP"/>
              </a:defRPr>
            </a:pPr>
            <a:r>
              <a:t>負荷↑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313432" y="1481328"/>
            <a:ext cx="411480" cy="347472"/>
          </a:xfrm>
          <a:prstGeom prst="rightArrow">
            <a:avLst/>
          </a:prstGeom>
          <a:solidFill>
            <a:srgbClr val="6E6E6E"/>
          </a:solidFill>
          <a:ln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88920" y="1280160"/>
            <a:ext cx="1783080" cy="777240"/>
          </a:xfrm>
          <a:prstGeom prst="roundRect">
            <a:avLst/>
          </a:prstGeom>
          <a:solidFill>
            <a:srgbClr val="464646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latin typeface="Noto Sans CJK JP"/>
              </a:defRPr>
            </a:pPr>
            <a:r>
              <a:t>速度N↓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599431" y="1481328"/>
            <a:ext cx="411480" cy="347472"/>
          </a:xfrm>
          <a:prstGeom prst="rightArrow">
            <a:avLst/>
          </a:prstGeom>
          <a:solidFill>
            <a:srgbClr val="6E6E6E"/>
          </a:solidFill>
          <a:ln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74920" y="1280160"/>
            <a:ext cx="1783080" cy="777240"/>
          </a:xfrm>
          <a:prstGeom prst="roundRect">
            <a:avLst/>
          </a:prstGeom>
          <a:solidFill>
            <a:srgbClr val="464646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latin typeface="Noto Sans CJK JP"/>
              </a:defRPr>
            </a:pPr>
            <a:r>
              <a:t>逆起電力E↓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885431" y="1481328"/>
            <a:ext cx="411480" cy="347472"/>
          </a:xfrm>
          <a:prstGeom prst="rightArrow">
            <a:avLst/>
          </a:prstGeom>
          <a:solidFill>
            <a:srgbClr val="6E6E6E"/>
          </a:solidFill>
          <a:ln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60920" y="1280160"/>
            <a:ext cx="1783080" cy="777240"/>
          </a:xfrm>
          <a:prstGeom prst="roundRect">
            <a:avLst/>
          </a:prstGeom>
          <a:solidFill>
            <a:srgbClr val="464646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latin typeface="Noto Sans CJK JP"/>
              </a:defRPr>
            </a:pPr>
            <a:r>
              <a:t>電機子電流Ia↑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71432" y="1481328"/>
            <a:ext cx="411480" cy="347472"/>
          </a:xfrm>
          <a:prstGeom prst="rightArrow">
            <a:avLst/>
          </a:prstGeom>
          <a:solidFill>
            <a:srgbClr val="6E6E6E"/>
          </a:solidFill>
          <a:ln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46920" y="1280160"/>
            <a:ext cx="1783080" cy="777240"/>
          </a:xfrm>
          <a:prstGeom prst="roundRect">
            <a:avLst/>
          </a:prstGeom>
          <a:solidFill>
            <a:srgbClr val="464646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latin typeface="Noto Sans CJK JP"/>
              </a:defRPr>
            </a:pPr>
            <a:r>
              <a:t>トルクT↑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52120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latin typeface="Noto Sans CJK JP"/>
              </a:defRPr>
            </a:pPr>
            <a:r>
              <a:t>直流電動機の3本柱</a:t>
            </a:r>
          </a:p>
          <a:p>
            <a:pPr>
              <a:defRPr sz="1600" b="0">
                <a:latin typeface="Noto Sans CJK JP"/>
              </a:defRPr>
            </a:pPr>
            <a:r>
              <a:t>V = E + IₐRₐ</a:t>
            </a:r>
          </a:p>
          <a:p>
            <a:pPr>
              <a:defRPr sz="1600" b="0">
                <a:latin typeface="Noto Sans CJK JP"/>
              </a:defRPr>
            </a:pPr>
            <a:r>
              <a:t>E ∝ φN</a:t>
            </a:r>
          </a:p>
          <a:p>
            <a:pPr>
              <a:defRPr sz="1600" b="0">
                <a:latin typeface="Noto Sans CJK JP"/>
              </a:defRPr>
            </a:pPr>
            <a:r>
              <a:t>T ∝ φIₐ</a:t>
            </a:r>
          </a:p>
          <a:p>
            <a:pPr>
              <a:defRPr sz="1600" b="0">
                <a:latin typeface="Noto Sans CJK JP"/>
              </a:defRPr>
            </a:pPr>
            <a:r>
              <a:t>始動時: N=0 → E≈0 → 大電流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743200"/>
            <a:ext cx="52120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latin typeface="Noto Sans CJK JP"/>
              </a:defRPr>
            </a:pPr>
            <a:r>
              <a:t>試験での読み方</a:t>
            </a:r>
          </a:p>
          <a:p>
            <a:pPr>
              <a:defRPr sz="1500" b="0">
                <a:latin typeface="Noto Sans CJK JP"/>
              </a:defRPr>
            </a:pPr>
            <a:r>
              <a:t>分巻: φほぼ一定 → TはIaにほぼ比例</a:t>
            </a:r>
          </a:p>
          <a:p>
            <a:pPr>
              <a:defRPr sz="1500" b="0">
                <a:latin typeface="Noto Sans CJK JP"/>
              </a:defRPr>
            </a:pPr>
            <a:r>
              <a:t>Ia↑ → IaRa↑ → E↓ → Nわずかに低下</a:t>
            </a:r>
          </a:p>
          <a:p>
            <a:pPr>
              <a:defRPr sz="1500" b="0">
                <a:latin typeface="Noto Sans CJK JP"/>
              </a:defRPr>
            </a:pPr>
            <a:r>
              <a:t>拘束: E≈0なので電流最大級</a:t>
            </a:r>
          </a:p>
          <a:p>
            <a:pPr>
              <a:defRPr sz="1500" b="0">
                <a:latin typeface="Noto Sans CJK JP"/>
              </a:defRPr>
            </a:pPr>
            <a:r>
              <a:t>グラフも式から判断する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28232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latin typeface="Noto Sans CJK JP"/>
              </a:defRPr>
            </a:pPr>
            <a:r>
              <a:t>自作模式図。電験三種 R7下 機械 問1・問2の要求論点へ接続。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latin typeface="Noto Sans CJK JP"/>
              </a:defRPr>
            </a:pPr>
            <a:r>
              <a:t>軸の回転を、ギヤと車輪で走行力へ変える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88720"/>
            <a:ext cx="2057400" cy="1051560"/>
          </a:xfrm>
          <a:prstGeom prst="roundRect">
            <a:avLst/>
          </a:prstGeom>
          <a:solidFill>
            <a:srgbClr val="464646"/>
          </a:solidFill>
          <a:ln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latin typeface="Noto Sans CJK JP"/>
              </a:defRPr>
            </a:pPr>
            <a:r>
              <a:t>モーター</a:t>
            </a:r>
          </a:p>
          <a:p>
            <a:pPr algn="ctr">
              <a:defRPr sz="1400">
                <a:latin typeface="Noto Sans CJK JP"/>
              </a:defRPr>
            </a:pPr>
            <a:r>
              <a:t>Nₘ, Tₘ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788920" y="1490472"/>
            <a:ext cx="502920" cy="365760"/>
          </a:xfrm>
          <a:prstGeom prst="rightArrow">
            <a:avLst/>
          </a:prstGeom>
          <a:solidFill>
            <a:srgbClr val="6E6E6E"/>
          </a:solidFill>
          <a:ln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429000" y="1188720"/>
            <a:ext cx="2057400" cy="1051560"/>
          </a:xfrm>
          <a:prstGeom prst="roundRect">
            <a:avLst/>
          </a:prstGeom>
          <a:solidFill>
            <a:srgbClr val="464646"/>
          </a:solidFill>
          <a:ln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latin typeface="Noto Sans CJK JP"/>
              </a:defRPr>
            </a:pPr>
            <a:r>
              <a:t>減速ギヤ</a:t>
            </a:r>
          </a:p>
          <a:p>
            <a:pPr algn="ctr">
              <a:defRPr sz="1400">
                <a:latin typeface="Noto Sans CJK JP"/>
              </a:defRPr>
            </a:pPr>
            <a:r>
              <a:t>a=Nₘ/NL</a:t>
            </a:r>
            <a:br/>
            <a:r>
              <a:t>ηg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532120" y="1490472"/>
            <a:ext cx="502920" cy="365760"/>
          </a:xfrm>
          <a:prstGeom prst="rightArrow">
            <a:avLst/>
          </a:prstGeom>
          <a:solidFill>
            <a:srgbClr val="6E6E6E"/>
          </a:solidFill>
          <a:ln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2200" y="1188720"/>
            <a:ext cx="2057400" cy="1051560"/>
          </a:xfrm>
          <a:prstGeom prst="roundRect">
            <a:avLst/>
          </a:prstGeom>
          <a:solidFill>
            <a:srgbClr val="464646"/>
          </a:solidFill>
          <a:ln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latin typeface="Noto Sans CJK JP"/>
              </a:defRPr>
            </a:pPr>
            <a:r>
              <a:t>車輪</a:t>
            </a:r>
          </a:p>
          <a:p>
            <a:pPr algn="ctr">
              <a:defRPr sz="1400">
                <a:latin typeface="Noto Sans CJK JP"/>
              </a:defRPr>
            </a:pPr>
            <a:r>
              <a:t>TL, 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275320" y="1490472"/>
            <a:ext cx="502920" cy="365760"/>
          </a:xfrm>
          <a:prstGeom prst="rightArrow">
            <a:avLst/>
          </a:prstGeom>
          <a:solidFill>
            <a:srgbClr val="6E6E6E"/>
          </a:solidFill>
          <a:ln>
            <a:solidFill>
              <a:srgbClr val="6E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15400" y="1188720"/>
            <a:ext cx="2057400" cy="1051560"/>
          </a:xfrm>
          <a:prstGeom prst="roundRect">
            <a:avLst/>
          </a:prstGeom>
          <a:solidFill>
            <a:srgbClr val="464646"/>
          </a:solidFill>
          <a:ln>
            <a:solidFill>
              <a:srgbClr val="46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latin typeface="Noto Sans CJK JP"/>
              </a:defRPr>
            </a:pPr>
            <a:r>
              <a:t>走行</a:t>
            </a:r>
          </a:p>
          <a:p>
            <a:pPr algn="ctr">
              <a:defRPr sz="1400">
                <a:latin typeface="Noto Sans CJK JP"/>
              </a:defRPr>
            </a:pPr>
            <a:r>
              <a:t>F, 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52120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latin typeface="Noto Sans CJK JP"/>
              </a:defRPr>
            </a:pPr>
            <a:r>
              <a:t>回転側</a:t>
            </a:r>
          </a:p>
          <a:p>
            <a:pPr>
              <a:defRPr sz="1600" b="0">
                <a:latin typeface="Noto Sans CJK JP"/>
              </a:defRPr>
            </a:pPr>
            <a:r>
              <a:t>ω=2πN/60</a:t>
            </a:r>
          </a:p>
          <a:p>
            <a:pPr>
              <a:defRPr sz="1600" b="0">
                <a:latin typeface="Noto Sans CJK JP"/>
              </a:defRPr>
            </a:pPr>
            <a:r>
              <a:t>P=ωT</a:t>
            </a:r>
          </a:p>
          <a:p>
            <a:pPr>
              <a:defRPr sz="1600" b="0">
                <a:latin typeface="Noto Sans CJK JP"/>
              </a:defRPr>
            </a:pPr>
            <a:r>
              <a:t>NL=Nm/a</a:t>
            </a:r>
          </a:p>
          <a:p>
            <a:pPr>
              <a:defRPr sz="1600" b="0">
                <a:latin typeface="Noto Sans CJK JP"/>
              </a:defRPr>
            </a:pPr>
            <a:r>
              <a:t>TL=ηg a 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788920"/>
            <a:ext cx="52120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latin typeface="Noto Sans CJK JP"/>
              </a:defRPr>
            </a:pPr>
            <a:r>
              <a:t>走行側</a:t>
            </a:r>
          </a:p>
          <a:p>
            <a:pPr>
              <a:defRPr sz="1600" b="0">
                <a:latin typeface="Noto Sans CJK JP"/>
              </a:defRPr>
            </a:pPr>
            <a:r>
              <a:t>T=Fr</a:t>
            </a:r>
          </a:p>
          <a:p>
            <a:pPr>
              <a:defRPr sz="1600" b="0">
                <a:latin typeface="Noto Sans CJK JP"/>
              </a:defRPr>
            </a:pPr>
            <a:r>
              <a:t>v=rω</a:t>
            </a:r>
          </a:p>
          <a:p>
            <a:pPr>
              <a:defRPr sz="1600" b="0">
                <a:latin typeface="Noto Sans CJK JP"/>
              </a:defRPr>
            </a:pPr>
            <a:r>
              <a:t>P=Fv=ωT</a:t>
            </a:r>
          </a:p>
          <a:p>
            <a:pPr>
              <a:defRPr sz="1600" b="0">
                <a:latin typeface="Noto Sans CJK JP"/>
              </a:defRPr>
            </a:pPr>
            <a:r>
              <a:t>効率は段ごとに掛ける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28232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latin typeface="Noto Sans CJK JP"/>
              </a:defRPr>
            </a:pPr>
            <a:r>
              <a:t>自作模式図。プラレール内部値は未公開のため、教材では仮定値と実値を分離。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latin typeface="Noto Sans CJK JP"/>
              </a:defRPr>
            </a:pPr>
            <a:r>
              <a:t>出典・試験対応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latin typeface="Noto Sans CJK JP"/>
              </a:defRPr>
            </a:pPr>
            <a:r>
              <a:t>• 電気技術者試験センター: R7下 機械問1・問2 / R3 機械問2 / H28 機械問1 / R5下 機械問11、および公式解答</a:t>
            </a:r>
          </a:p>
          <a:p>
            <a:pPr>
              <a:spcAft>
                <a:spcPts val="800"/>
              </a:spcAft>
              <a:defRPr sz="1500">
                <a:latin typeface="Noto Sans CJK JP"/>
              </a:defRPr>
            </a:pPr>
            <a:r>
              <a:t>• e-sysnet: 直流電動機の種類と特性 / 始動と速度制御 / 慣性モーメントとはずみ車効果 / 制動と所要出力</a:t>
            </a:r>
          </a:p>
          <a:p>
            <a:pPr>
              <a:spcAft>
                <a:spcPts val="800"/>
              </a:spcAft>
              <a:defRPr sz="1500">
                <a:latin typeface="Noto Sans CJK JP"/>
              </a:defRPr>
            </a:pPr>
            <a:r>
              <a:t>• 電験三種まとめました: 直流電動機の逆起電力・回転速度・トルク / 回転速度特性・トルク特性</a:t>
            </a:r>
          </a:p>
          <a:p>
            <a:pPr>
              <a:spcAft>
                <a:spcPts val="800"/>
              </a:spcAft>
              <a:defRPr sz="1500">
                <a:latin typeface="Noto Sans CJK JP"/>
              </a:defRPr>
            </a:pPr>
            <a:r>
              <a:t>• 電験王3: R3機械問2</a:t>
            </a:r>
          </a:p>
          <a:p>
            <a:pPr>
              <a:spcAft>
                <a:spcPts val="800"/>
              </a:spcAft>
              <a:defRPr sz="1500">
                <a:latin typeface="Noto Sans CJK JP"/>
              </a:defRPr>
            </a:pPr>
            <a:r>
              <a:t>• タカラトミー: S-02 ライト付500系新幹線（単3乾電池1本、2スピード、3両編成）</a:t>
            </a:r>
          </a:p>
          <a:p>
            <a:pPr>
              <a:spcAft>
                <a:spcPts val="800"/>
              </a:spcAft>
              <a:defRPr sz="1500">
                <a:latin typeface="Noto Sans CJK JP"/>
              </a:defRPr>
            </a:pPr>
            <a:r>
              <a:t>• 参照日 2026-08-29。外部図の転載なし。全図は自作。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