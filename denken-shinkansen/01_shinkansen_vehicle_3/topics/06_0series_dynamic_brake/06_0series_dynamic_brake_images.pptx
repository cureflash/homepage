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450000" y="250000"/>
            <a:ext cx="113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222222"/>
                </a:solidFill>
              </a:rPr>
              <a:t>06 0系④ 発電ブレーキ</a:t>
            </a:r>
            <a:endParaRPr lang="ja-JP"/>
          </a:p>
        </p:txBody>
      </p:sp>
      <p:sp>
        <p:nvSpPr>
          <p:cNvPr id="3" name="Text 3"/>
          <p:cNvSpPr/>
          <p:nvPr/>
        </p:nvSpPr>
        <p:spPr>
          <a:xfrm>
            <a:off x="700000" y="12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力行: 電源 → 主電動機 → 車輪</a:t>
            </a:r>
            <a:endParaRPr lang="ja-JP"/>
          </a:p>
        </p:txBody>
      </p:sp>
      <p:sp>
        <p:nvSpPr>
          <p:cNvPr id="4" name="Text 4"/>
          <p:cNvSpPr/>
          <p:nvPr/>
        </p:nvSpPr>
        <p:spPr>
          <a:xfrm>
            <a:off x="700000" y="230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発電制動: 車輪 → 主電動機(発電機) → 制動抵抗 → 熱</a:t>
            </a:r>
            <a:endParaRPr lang="ja-JP"/>
          </a:p>
        </p:txBody>
      </p:sp>
      <p:sp>
        <p:nvSpPr>
          <p:cNvPr id="5" name="Text 5"/>
          <p:cNvSpPr/>
          <p:nvPr/>
        </p:nvSpPr>
        <p:spPr>
          <a:xfrm>
            <a:off x="700000" y="33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回生制動: 車輪 → 主電動機(発電機) → 電源側</a:t>
            </a:r>
            <a:endParaRPr lang="ja-JP"/>
          </a:p>
        </p:txBody>
      </p:sp>
      <p:sp>
        <p:nvSpPr>
          <p:cNvPr id="6" name="Text 6"/>
          <p:cNvSpPr/>
          <p:nvPr/>
        </p:nvSpPr>
        <p:spPr>
          <a:xfrm>
            <a:off x="700000" y="440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判定軸: EとVの大小 → Ia方向 → T方向 → エネルギーの行先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450000" y="250000"/>
            <a:ext cx="113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222222"/>
                </a:solidFill>
              </a:rPr>
              <a:t>電験の解法アルゴリズム</a:t>
            </a:r>
            <a:endParaRPr lang="ja-JP"/>
          </a:p>
        </p:txBody>
      </p:sp>
      <p:sp>
        <p:nvSpPr>
          <p:cNvPr id="3" name="Text 3"/>
          <p:cNvSpPr/>
          <p:nvPr/>
        </p:nvSpPr>
        <p:spPr>
          <a:xfrm>
            <a:off x="700000" y="12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1. 磁束方向・回転方向から起電力Eの極性を固定</a:t>
            </a:r>
            <a:endParaRPr lang="ja-JP"/>
          </a:p>
        </p:txBody>
      </p:sp>
      <p:sp>
        <p:nvSpPr>
          <p:cNvPr id="4" name="Text 4"/>
          <p:cNvSpPr/>
          <p:nvPr/>
        </p:nvSpPr>
        <p:spPr>
          <a:xfrm>
            <a:off x="700000" y="230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2. 外部電圧VとEを比較し電機子電流Iaの向きを決める</a:t>
            </a:r>
            <a:endParaRPr lang="ja-JP"/>
          </a:p>
        </p:txBody>
      </p:sp>
      <p:sp>
        <p:nvSpPr>
          <p:cNvPr id="5" name="Text 5"/>
          <p:cNvSpPr/>
          <p:nvPr/>
        </p:nvSpPr>
        <p:spPr>
          <a:xfrm>
            <a:off x="700000" y="33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3. T=KtφIa で電磁トルク方向を決める</a:t>
            </a:r>
            <a:endParaRPr lang="ja-JP"/>
          </a:p>
        </p:txBody>
      </p:sp>
      <p:sp>
        <p:nvSpPr>
          <p:cNvPr id="6" name="Text 6"/>
          <p:cNvSpPr/>
          <p:nvPr/>
        </p:nvSpPr>
        <p:spPr>
          <a:xfrm>
            <a:off x="700000" y="440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4. 抵抗なら P=I²R, Q=Pt</a:t>
            </a:r>
            <a:endParaRPr lang="ja-JP"/>
          </a:p>
        </p:txBody>
      </p:sp>
      <p:sp>
        <p:nvSpPr>
          <p:cNvPr id="7" name="Text 7"/>
          <p:cNvSpPr/>
          <p:nvPr/>
        </p:nvSpPr>
        <p:spPr>
          <a:xfrm>
            <a:off x="700000" y="54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5. 列車側は ΔEk=1/2 m(v1²-v2²), P=Fv, P=Tω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450000" y="250000"/>
            <a:ext cx="113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222222"/>
                </a:solidFill>
              </a:rPr>
              <a:t>本試験標準: チョッパ回生</a:t>
            </a:r>
            <a:endParaRPr lang="ja-JP"/>
          </a:p>
        </p:txBody>
      </p:sp>
      <p:sp>
        <p:nvSpPr>
          <p:cNvPr id="3" name="Text 3"/>
          <p:cNvSpPr/>
          <p:nvPr/>
        </p:nvSpPr>
        <p:spPr>
          <a:xfrm>
            <a:off x="700000" y="12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R7上 機械 問16 / H26 機械 問16 型</a:t>
            </a:r>
            <a:endParaRPr lang="ja-JP"/>
          </a:p>
        </p:txBody>
      </p:sp>
      <p:sp>
        <p:nvSpPr>
          <p:cNvPr id="4" name="Text 4"/>
          <p:cNvSpPr/>
          <p:nvPr/>
        </p:nvSpPr>
        <p:spPr>
          <a:xfrm>
            <a:off x="700000" y="230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f=500 Hz → T=2.0 ms</a:t>
            </a:r>
            <a:endParaRPr lang="ja-JP"/>
          </a:p>
        </p:txBody>
      </p:sp>
      <p:sp>
        <p:nvSpPr>
          <p:cNvPr id="5" name="Text 5"/>
          <p:cNvSpPr/>
          <p:nvPr/>
        </p:nvSpPr>
        <p:spPr>
          <a:xfrm>
            <a:off x="700000" y="33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力行: Vin=200 V, Vout=150 V → D=0.75 → Ton=1.50 ms</a:t>
            </a:r>
            <a:endParaRPr lang="ja-JP"/>
          </a:p>
        </p:txBody>
      </p:sp>
      <p:sp>
        <p:nvSpPr>
          <p:cNvPr id="6" name="Text 6"/>
          <p:cNvSpPr/>
          <p:nvPr/>
        </p:nvSpPr>
        <p:spPr>
          <a:xfrm>
            <a:off x="700000" y="440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回生: D=0.20, 200=V/(1-D) → V=160 V</a:t>
            </a:r>
            <a:endParaRPr lang="ja-JP"/>
          </a:p>
        </p:txBody>
      </p:sp>
      <p:sp>
        <p:nvSpPr>
          <p:cNvPr id="7" name="Text 7"/>
          <p:cNvSpPr/>
          <p:nvPr/>
        </p:nvSpPr>
        <p:spPr>
          <a:xfrm>
            <a:off x="700000" y="54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力行と回生で電力方向・スイッチ状態を混同しない</a:t>
            </a:r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450000" y="250000"/>
            <a:ext cx="113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222222"/>
                </a:solidFill>
              </a:rPr>
              <a:t>0系への接続</a:t>
            </a:r>
            <a:endParaRPr lang="ja-JP"/>
          </a:p>
        </p:txBody>
      </p:sp>
      <p:sp>
        <p:nvSpPr>
          <p:cNvPr id="3" name="Text 3"/>
          <p:cNvSpPr/>
          <p:nvPr/>
        </p:nvSpPr>
        <p:spPr>
          <a:xfrm>
            <a:off x="700000" y="12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日本車輌製造資料: 0系は発電ブレーキを常用</a:t>
            </a:r>
            <a:endParaRPr lang="ja-JP"/>
          </a:p>
        </p:txBody>
      </p:sp>
      <p:sp>
        <p:nvSpPr>
          <p:cNvPr id="4" name="Text 4"/>
          <p:cNvSpPr/>
          <p:nvPr/>
        </p:nvSpPr>
        <p:spPr>
          <a:xfrm>
            <a:off x="700000" y="230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低速域では摩擦ブレーキへ受け渡す</a:t>
            </a:r>
            <a:endParaRPr lang="ja-JP"/>
          </a:p>
        </p:txBody>
      </p:sp>
      <p:sp>
        <p:nvSpPr>
          <p:cNvPr id="5" name="Text 5"/>
          <p:cNvSpPr/>
          <p:nvPr/>
        </p:nvSpPr>
        <p:spPr>
          <a:xfrm>
            <a:off x="700000" y="33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E=Keφn より速度低下 → 起電力低下 → 制動電流・トルク確保が難しくなる</a:t>
            </a:r>
            <a:endParaRPr lang="ja-JP"/>
          </a:p>
        </p:txBody>
      </p:sp>
      <p:sp>
        <p:nvSpPr>
          <p:cNvPr id="6" name="Text 6"/>
          <p:cNvSpPr/>
          <p:nvPr/>
        </p:nvSpPr>
        <p:spPr>
          <a:xfrm>
            <a:off x="700000" y="440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実車値と教材計算用の仮定値は分離する</a:t>
            </a:r>
            <a:endParaRPr lang="ja-JP"/>
          </a:p>
        </p:txBody>
      </p:sp>
      <p:sp>
        <p:nvSpPr>
          <p:cNvPr id="7" name="Text 7"/>
          <p:cNvSpPr/>
          <p:nvPr/>
        </p:nvSpPr>
        <p:spPr>
          <a:xfrm>
            <a:off x="700000" y="5450000"/>
            <a:ext cx="10800000" cy="850000"/>
          </a:xfrm>
          <a:prstGeom prst="roundRect">
            <a:avLst/>
          </a:prstGeom>
          <a:solidFill>
            <a:srgbClr val="F5F5F5"/>
          </a:solidFill>
          <a:ln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1650" b="0">
                <a:solidFill>
                  <a:srgbClr val="222222"/>
                </a:solidFill>
              </a:rPr>
              <a:t>正本: 電気技術者試験センター公式過去問題・公式解答</a:t>
            </a:r>
            <a:endParaRPr lang="ja-JP"/>
          </a:p>
        </p:txBody>
      </p:sp>
    </p:spTree>
  </p:cSld>
  <p:clrMapOvr>
    <a:masterClrMapping/>
  </p:clrMapOvr>
</p:sld>
</file>