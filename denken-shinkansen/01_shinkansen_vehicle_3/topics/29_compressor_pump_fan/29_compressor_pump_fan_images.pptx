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1999" cy="6858000" type="screen16x9"/>
  <p:notesSz cx="6858000" cy="9144000"/>
</p:presentation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4472C4" accent2="ED7D31" accent3="A5A5A5" accent4="FFC000" accent5="5B9BD5" accent6="70AD47" bg1="FFFFFF" bg2="E7E6E6" folHlink="954F72" hlink="0563C1" tx1="000000" tx2="44546A"/>
  <p:sldLayoutIdLst>
    <p:sldLayoutId id="1" r:id="rId1"/>
  </p:sldLayoutIdLst>
  <p:txStyles>
    <p:titleStyle/>
    <p:bodyStyle/>
    <p:otherStyle/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502920" y="228600"/>
            <a:ext cx="11155680" cy="502920"/>
          </a:xfrm>
          <a:prstGeom prst="roundRect">
            <a:avLst/>
          </a:prstGeom>
          <a:noFill/>
          <a:ln>
            <a:noFill/>
          </a:ln>
        </p:spPr>
        <p:txBody>
          <a:bodyPr wrap="square" lIns="91440" rIns="91440" tIns="45720" bIns="45720" anchor="ctr"/>
          <a:lstStyle/>
          <a:p>
            <a:r>
              <a:rPr sz="2700" b="1">
                <a:solidFill>
                  <a:srgbClr val="1F374E"/>
                </a:solidFill>
                <a:latin typeface="Noto Sans CJK JP"/>
              </a:rPr>
              <a:t>Topic 29 コンプレッサ・ポンプ・ファン｜本試験の共通解法</a:t>
            </a:r>
          </a:p>
        </p:txBody>
      </p:sp>
      <p:sp>
        <p:nvSpPr>
          <p:cNvPr id="3" name="Text 3"/>
          <p:cNvSpPr/>
          <p:nvPr/>
        </p:nvSpPr>
        <p:spPr>
          <a:xfrm>
            <a:off x="548640" y="777240"/>
            <a:ext cx="10972800" cy="320040"/>
          </a:xfrm>
          <a:prstGeom prst="roundRect">
            <a:avLst/>
          </a:prstGeom>
          <a:noFill/>
          <a:ln>
            <a:noFill/>
          </a:ln>
        </p:spPr>
        <p:txBody>
          <a:bodyPr wrap="square" lIns="91440" rIns="91440" tIns="45720" bIns="45720" anchor="ctr"/>
          <a:lstStyle/>
          <a:p>
            <a:r>
              <a:rPr sz="1200" b="0">
                <a:solidFill>
                  <a:srgbClr val="5B6570"/>
                </a:solidFill>
                <a:latin typeface="Noto Sans CJK JP"/>
              </a:rPr>
              <a:t>固定EXAM_ALIGNMENT 5問を同じ判断順で処理する</a:t>
            </a:r>
          </a:p>
        </p:txBody>
      </p:sp>
      <p:sp>
        <p:nvSpPr>
          <p:cNvPr id="4" name="Text 4"/>
          <p:cNvSpPr/>
          <p:nvPr/>
        </p:nvSpPr>
        <p:spPr>
          <a:xfrm>
            <a:off x="502920" y="1234440"/>
            <a:ext cx="2103120" cy="15087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286EAC"/>
            </a:solidFill>
          </a:ln>
        </p:spPr>
        <p:txBody>
          <a:bodyPr wrap="square" lIns="91440" rIns="91440" tIns="45720" bIns="45720" anchor="ctr"/>
          <a:lstStyle/>
          <a:p>
            <a:r>
              <a:rPr sz="1700" b="1">
                <a:solidFill>
                  <a:srgbClr val="286EAC"/>
                </a:solidFill>
                <a:latin typeface="Noto Sans CJK JP"/>
              </a:rPr>
              <a:t>① 流量を換算</a:t>
            </a:r>
          </a:p>
          <a:p>
            <a:r>
              <a:rPr sz="1700" b="1">
                <a:solidFill>
                  <a:srgbClr val="286EAC"/>
                </a:solidFill>
                <a:latin typeface="Noto Sans CJK JP"/>
              </a:rPr>
              <a:t>m³/h・m³/min</a:t>
            </a:r>
          </a:p>
          <a:p>
            <a:r>
              <a:rPr sz="1700" b="1">
                <a:solidFill>
                  <a:srgbClr val="286EAC"/>
                </a:solidFill>
                <a:latin typeface="Noto Sans CJK JP"/>
              </a:rPr>
              <a:t>→ m³/s</a:t>
            </a:r>
          </a:p>
        </p:txBody>
      </p:sp>
      <p:sp>
        <p:nvSpPr>
          <p:cNvPr id="5" name="Text 5"/>
          <p:cNvSpPr/>
          <p:nvPr/>
        </p:nvSpPr>
        <p:spPr>
          <a:xfrm>
            <a:off x="2761488" y="1234440"/>
            <a:ext cx="2103120" cy="15087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286EAC"/>
            </a:solidFill>
          </a:ln>
        </p:spPr>
        <p:txBody>
          <a:bodyPr wrap="square" lIns="91440" rIns="91440" tIns="45720" bIns="45720" anchor="ctr"/>
          <a:lstStyle/>
          <a:p>
            <a:r>
              <a:rPr sz="1700" b="1">
                <a:solidFill>
                  <a:srgbClr val="286EAC"/>
                </a:solidFill>
                <a:latin typeface="Noto Sans CJK JP"/>
              </a:rPr>
              <a:t>② 全揚程 H</a:t>
            </a:r>
          </a:p>
          <a:p>
            <a:r>
              <a:rPr sz="1700" b="1">
                <a:solidFill>
                  <a:srgbClr val="286EAC"/>
                </a:solidFill>
                <a:latin typeface="Noto Sans CJK JP"/>
              </a:rPr>
              <a:t>実揚程＋</a:t>
            </a:r>
          </a:p>
          <a:p>
            <a:r>
              <a:rPr sz="1700" b="1">
                <a:solidFill>
                  <a:srgbClr val="286EAC"/>
                </a:solidFill>
                <a:latin typeface="Noto Sans CJK JP"/>
              </a:rPr>
              <a:t>損失水頭</a:t>
            </a:r>
          </a:p>
        </p:txBody>
      </p:sp>
      <p:sp>
        <p:nvSpPr>
          <p:cNvPr id="6" name="Text 6"/>
          <p:cNvSpPr/>
          <p:nvPr/>
        </p:nvSpPr>
        <p:spPr>
          <a:xfrm>
            <a:off x="5020056" y="1234440"/>
            <a:ext cx="2103120" cy="15087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26835A"/>
            </a:solidFill>
          </a:ln>
        </p:spPr>
        <p:txBody>
          <a:bodyPr wrap="square" lIns="91440" rIns="91440" tIns="45720" bIns="45720" anchor="ctr"/>
          <a:lstStyle/>
          <a:p>
            <a:r>
              <a:rPr sz="1700" b="1">
                <a:solidFill>
                  <a:srgbClr val="26835A"/>
                </a:solidFill>
                <a:latin typeface="Noto Sans CJK JP"/>
              </a:rPr>
              <a:t>③ 水動力</a:t>
            </a:r>
          </a:p>
          <a:p>
            <a:r>
              <a:rPr sz="1700" b="1">
                <a:solidFill>
                  <a:srgbClr val="26835A"/>
                </a:solidFill>
                <a:latin typeface="Noto Sans CJK JP"/>
              </a:rPr>
              <a:t>Pw=9.8QH</a:t>
            </a:r>
          </a:p>
          <a:p>
            <a:r>
              <a:rPr sz="1700" b="1">
                <a:solidFill>
                  <a:srgbClr val="26835A"/>
                </a:solidFill>
                <a:latin typeface="Noto Sans CJK JP"/>
              </a:rPr>
              <a:t>[kW]</a:t>
            </a:r>
          </a:p>
        </p:txBody>
      </p:sp>
      <p:sp>
        <p:nvSpPr>
          <p:cNvPr id="7" name="Text 7"/>
          <p:cNvSpPr/>
          <p:nvPr/>
        </p:nvSpPr>
        <p:spPr>
          <a:xfrm>
            <a:off x="7278624" y="1234440"/>
            <a:ext cx="2103120" cy="15087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97706"/>
            </a:solidFill>
          </a:ln>
        </p:spPr>
        <p:txBody>
          <a:bodyPr wrap="square" lIns="91440" rIns="91440" tIns="45720" bIns="45720" anchor="ctr"/>
          <a:lstStyle/>
          <a:p>
            <a:r>
              <a:rPr sz="1700" b="1">
                <a:solidFill>
                  <a:srgbClr val="D97706"/>
                </a:solidFill>
                <a:latin typeface="Noto Sans CJK JP"/>
              </a:rPr>
              <a:t>④ 効率・余裕</a:t>
            </a:r>
          </a:p>
          <a:p>
            <a:r>
              <a:rPr sz="1700" b="1">
                <a:solidFill>
                  <a:srgbClr val="D97706"/>
                </a:solidFill>
                <a:latin typeface="Noto Sans CJK JP"/>
              </a:rPr>
              <a:t>ηは割る</a:t>
            </a:r>
          </a:p>
          <a:p>
            <a:r>
              <a:rPr sz="1700" b="1">
                <a:solidFill>
                  <a:srgbClr val="D97706"/>
                </a:solidFill>
                <a:latin typeface="Noto Sans CJK JP"/>
              </a:rPr>
              <a:t>kは掛ける</a:t>
            </a:r>
          </a:p>
        </p:txBody>
      </p:sp>
      <p:sp>
        <p:nvSpPr>
          <p:cNvPr id="8" name="Text 8"/>
          <p:cNvSpPr/>
          <p:nvPr/>
        </p:nvSpPr>
        <p:spPr>
          <a:xfrm>
            <a:off x="9537192" y="1234440"/>
            <a:ext cx="2103120" cy="15087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97706"/>
            </a:solidFill>
          </a:ln>
        </p:spPr>
        <p:txBody>
          <a:bodyPr wrap="square" lIns="91440" rIns="91440" tIns="45720" bIns="45720" anchor="ctr"/>
          <a:lstStyle/>
          <a:p>
            <a:r>
              <a:rPr sz="1700" b="1">
                <a:solidFill>
                  <a:srgbClr val="D97706"/>
                </a:solidFill>
                <a:latin typeface="Noto Sans CJK JP"/>
              </a:rPr>
              <a:t>⑤ 検算</a:t>
            </a:r>
          </a:p>
          <a:p>
            <a:r>
              <a:rPr sz="1700" b="1">
                <a:solidFill>
                  <a:srgbClr val="D97706"/>
                </a:solidFill>
                <a:latin typeface="Noto Sans CJK JP"/>
              </a:rPr>
              <a:t>入力 &gt; 出力</a:t>
            </a:r>
          </a:p>
          <a:p>
            <a:r>
              <a:rPr sz="1700" b="1">
                <a:solidFill>
                  <a:srgbClr val="D97706"/>
                </a:solidFill>
                <a:latin typeface="Noto Sans CJK JP"/>
              </a:rPr>
              <a:t>台数は切上げ</a:t>
            </a:r>
          </a:p>
        </p:txBody>
      </p:sp>
      <p:sp>
        <p:nvSpPr>
          <p:cNvPr id="9" name="Text 9"/>
          <p:cNvSpPr/>
          <p:nvPr/>
        </p:nvSpPr>
        <p:spPr>
          <a:xfrm>
            <a:off x="685800" y="3246120"/>
            <a:ext cx="5166360" cy="205740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D97706"/>
            </a:solidFill>
          </a:ln>
        </p:spPr>
        <p:txBody>
          <a:bodyPr wrap="square" lIns="91440" rIns="91440" tIns="45720" bIns="45720" anchor="ctr"/>
          <a:lstStyle/>
          <a:p>
            <a:r>
              <a:rPr sz="1800" b="0">
                <a:solidFill>
                  <a:srgbClr val="334155"/>
                </a:solidFill>
                <a:latin typeface="Noto Sans CJK JP"/>
              </a:rPr>
              <a:t>ポンプ：R4下・H30・H27・H18</a:t>
            </a:r>
          </a:p>
          <a:p>
            <a:r>
              <a:rPr sz="1800" b="0">
                <a:solidFill>
                  <a:srgbClr val="334155"/>
                </a:solidFill>
                <a:latin typeface="Noto Sans CJK JP"/>
              </a:rPr>
              <a:t>Pw=9.8QH</a:t>
            </a:r>
          </a:p>
          <a:p>
            <a:r>
              <a:rPr sz="1800" b="0">
                <a:solidFill>
                  <a:srgbClr val="334155"/>
                </a:solidFill>
                <a:latin typeface="Noto Sans CJK JP"/>
              </a:rPr>
              <a:t>Pin=Pw/(ηpηm)</a:t>
            </a:r>
          </a:p>
          <a:p>
            <a:r>
              <a:rPr sz="1800" b="0">
                <a:solidFill>
                  <a:srgbClr val="334155"/>
                </a:solidFill>
                <a:latin typeface="Noto Sans CJK JP"/>
              </a:rPr>
              <a:t>Preq=kP</a:t>
            </a:r>
          </a:p>
        </p:txBody>
      </p:sp>
      <p:sp>
        <p:nvSpPr>
          <p:cNvPr id="10" name="Text 10"/>
          <p:cNvSpPr/>
          <p:nvPr/>
        </p:nvSpPr>
        <p:spPr>
          <a:xfrm>
            <a:off x="6263640" y="3246120"/>
            <a:ext cx="5166360" cy="20574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26835A"/>
            </a:solidFill>
          </a:ln>
        </p:spPr>
        <p:txBody>
          <a:bodyPr wrap="square" lIns="91440" rIns="91440" tIns="45720" bIns="45720" anchor="ctr"/>
          <a:lstStyle/>
          <a:p>
            <a:r>
              <a:rPr sz="1800" b="0">
                <a:solidFill>
                  <a:srgbClr val="334155"/>
                </a:solidFill>
                <a:latin typeface="Noto Sans CJK JP"/>
              </a:rPr>
              <a:t>ファン：H29</a:t>
            </a:r>
          </a:p>
          <a:p>
            <a:r>
              <a:rPr sz="1800" b="0">
                <a:solidFill>
                  <a:srgbClr val="334155"/>
                </a:solidFill>
                <a:latin typeface="Noto Sans CJK JP"/>
              </a:rPr>
              <a:t>Q∝n　T∝n²　P∝n³</a:t>
            </a:r>
          </a:p>
          <a:p>
            <a:r>
              <a:rPr sz="1800" b="0">
                <a:solidFill>
                  <a:srgbClr val="334155"/>
                </a:solidFill>
                <a:latin typeface="Noto Sans CJK JP"/>
              </a:rPr>
              <a:t>P=Tω、ω∝n</a:t>
            </a:r>
          </a:p>
          <a:p>
            <a:r>
              <a:rPr sz="1800" b="0">
                <a:solidFill>
                  <a:srgbClr val="334155"/>
                </a:solidFill>
                <a:latin typeface="Noto Sans CJK JP"/>
              </a:rPr>
              <a:t>速度比 r で一括判定</a:t>
            </a:r>
          </a:p>
        </p:txBody>
      </p:sp>
      <p:sp>
        <p:nvSpPr>
          <p:cNvPr id="11" name="Text 11"/>
          <p:cNvSpPr/>
          <p:nvPr/>
        </p:nvSpPr>
        <p:spPr>
          <a:xfrm>
            <a:off x="640080" y="6108192"/>
            <a:ext cx="10927080" cy="438912"/>
          </a:xfrm>
          <a:prstGeom prst="roundRect">
            <a:avLst/>
          </a:prstGeom>
          <a:noFill/>
          <a:ln>
            <a:noFill/>
          </a:ln>
        </p:spPr>
        <p:txBody>
          <a:bodyPr wrap="square" lIns="91440" rIns="91440" tIns="45720" bIns="45720" anchor="ctr"/>
          <a:lstStyle/>
          <a:p>
            <a:r>
              <a:rPr sz="1300" b="1">
                <a:solidFill>
                  <a:srgbClr val="1F374E"/>
                </a:solidFill>
                <a:latin typeface="Noto Sans CJK JP"/>
              </a:rPr>
              <a:t>解法軸：流量換算 → 全揚程 → 水動力 → 効率 → 余裕・台数 → 単位・向き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502920" y="228600"/>
            <a:ext cx="11155680" cy="502920"/>
          </a:xfrm>
          <a:prstGeom prst="roundRect">
            <a:avLst/>
          </a:prstGeom>
          <a:noFill/>
          <a:ln>
            <a:noFill/>
          </a:ln>
        </p:spPr>
        <p:txBody>
          <a:bodyPr wrap="square" lIns="91440" rIns="91440" tIns="45720" bIns="45720" anchor="ctr"/>
          <a:lstStyle/>
          <a:p>
            <a:r>
              <a:rPr sz="2700" b="1">
                <a:solidFill>
                  <a:srgbClr val="1F374E"/>
                </a:solidFill>
                <a:latin typeface="Noto Sans CJK JP"/>
              </a:rPr>
              <a:t>ポンプの所要出力を組み立てる</a:t>
            </a:r>
          </a:p>
        </p:txBody>
      </p:sp>
      <p:sp>
        <p:nvSpPr>
          <p:cNvPr id="3" name="Text 3"/>
          <p:cNvSpPr/>
          <p:nvPr/>
        </p:nvSpPr>
        <p:spPr>
          <a:xfrm>
            <a:off x="548640" y="777240"/>
            <a:ext cx="10972800" cy="320040"/>
          </a:xfrm>
          <a:prstGeom prst="roundRect">
            <a:avLst/>
          </a:prstGeom>
          <a:noFill/>
          <a:ln>
            <a:noFill/>
          </a:ln>
        </p:spPr>
        <p:txBody>
          <a:bodyPr wrap="square" lIns="91440" rIns="91440" tIns="45720" bIns="45720" anchor="ctr"/>
          <a:lstStyle/>
          <a:p>
            <a:r>
              <a:rPr sz="1200" b="0">
                <a:solidFill>
                  <a:srgbClr val="5B6570"/>
                </a:solidFill>
                <a:latin typeface="Noto Sans CJK JP"/>
              </a:rPr>
              <a:t>単位換算と「どの段階の電力か」を分ける</a:t>
            </a:r>
          </a:p>
        </p:txBody>
      </p:sp>
      <p:sp>
        <p:nvSpPr>
          <p:cNvPr id="4" name="Text 4"/>
          <p:cNvSpPr/>
          <p:nvPr/>
        </p:nvSpPr>
        <p:spPr>
          <a:xfrm>
            <a:off x="594360" y="1280160"/>
            <a:ext cx="3429000" cy="1874519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86EAC"/>
            </a:solidFill>
          </a:ln>
        </p:spPr>
        <p:txBody>
          <a:bodyPr wrap="square" lIns="91440" rIns="91440" tIns="45720" bIns="45720" anchor="ctr"/>
          <a:lstStyle/>
          <a:p>
            <a:r>
              <a:rPr sz="1800" b="0">
                <a:solidFill>
                  <a:srgbClr val="334155"/>
                </a:solidFill>
                <a:latin typeface="Noto Sans CJK JP"/>
              </a:rPr>
              <a:t>流量 Q</a:t>
            </a:r>
          </a:p>
          <a:p>
            <a:r>
              <a:rPr sz="1800" b="0">
                <a:solidFill>
                  <a:srgbClr val="334155"/>
                </a:solidFill>
                <a:latin typeface="Noto Sans CJK JP"/>
              </a:rPr>
              <a:t>m³/h → ÷3600</a:t>
            </a:r>
          </a:p>
          <a:p>
            <a:r>
              <a:rPr sz="1800" b="0">
                <a:solidFill>
                  <a:srgbClr val="334155"/>
                </a:solidFill>
                <a:latin typeface="Noto Sans CJK JP"/>
              </a:rPr>
              <a:t>m³/min → ÷60</a:t>
            </a:r>
          </a:p>
          <a:p>
            <a:r>
              <a:rPr sz="1800" b="0">
                <a:solidFill>
                  <a:srgbClr val="334155"/>
                </a:solidFill>
                <a:latin typeface="Noto Sans CJK JP"/>
              </a:rPr>
              <a:t>必ず m³/s へ</a:t>
            </a:r>
          </a:p>
        </p:txBody>
      </p:sp>
      <p:sp>
        <p:nvSpPr>
          <p:cNvPr id="5" name="Text 5"/>
          <p:cNvSpPr/>
          <p:nvPr/>
        </p:nvSpPr>
        <p:spPr>
          <a:xfrm>
            <a:off x="4389120" y="1280160"/>
            <a:ext cx="3429000" cy="1874519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D97706"/>
            </a:solidFill>
          </a:ln>
        </p:spPr>
        <p:txBody>
          <a:bodyPr wrap="square" lIns="91440" rIns="91440" tIns="45720" bIns="45720" anchor="ctr"/>
          <a:lstStyle/>
          <a:p>
            <a:r>
              <a:rPr sz="1800" b="0">
                <a:solidFill>
                  <a:srgbClr val="334155"/>
                </a:solidFill>
                <a:latin typeface="Noto Sans CJK JP"/>
              </a:rPr>
              <a:t>全揚程 H</a:t>
            </a:r>
          </a:p>
          <a:p>
            <a:r>
              <a:rPr sz="1800" b="0">
                <a:solidFill>
                  <a:srgbClr val="334155"/>
                </a:solidFill>
                <a:latin typeface="Noto Sans CJK JP"/>
              </a:rPr>
              <a:t>H = Hs + h</a:t>
            </a:r>
          </a:p>
          <a:p>
            <a:r>
              <a:rPr sz="1800" b="0">
                <a:solidFill>
                  <a:srgbClr val="334155"/>
                </a:solidFill>
                <a:latin typeface="Noto Sans CJK JP"/>
              </a:rPr>
              <a:t>実揚程＋損失水頭</a:t>
            </a:r>
          </a:p>
          <a:p>
            <a:r>
              <a:rPr sz="1800" b="0">
                <a:solidFill>
                  <a:srgbClr val="334155"/>
                </a:solidFill>
                <a:latin typeface="Noto Sans CJK JP"/>
              </a:rPr>
              <a:t>問題文の定義に従う</a:t>
            </a:r>
          </a:p>
        </p:txBody>
      </p:sp>
      <p:sp>
        <p:nvSpPr>
          <p:cNvPr id="6" name="Text 6"/>
          <p:cNvSpPr/>
          <p:nvPr/>
        </p:nvSpPr>
        <p:spPr>
          <a:xfrm>
            <a:off x="8183879" y="1280160"/>
            <a:ext cx="3429000" cy="1874519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26835A"/>
            </a:solidFill>
          </a:ln>
        </p:spPr>
        <p:txBody>
          <a:bodyPr wrap="square" lIns="91440" rIns="91440" tIns="45720" bIns="45720" anchor="ctr"/>
          <a:lstStyle/>
          <a:p>
            <a:r>
              <a:rPr sz="1800" b="0">
                <a:solidFill>
                  <a:srgbClr val="334155"/>
                </a:solidFill>
                <a:latin typeface="Noto Sans CJK JP"/>
              </a:rPr>
              <a:t>水動力</a:t>
            </a:r>
          </a:p>
          <a:p>
            <a:r>
              <a:rPr sz="1800" b="0">
                <a:solidFill>
                  <a:srgbClr val="334155"/>
                </a:solidFill>
                <a:latin typeface="Noto Sans CJK JP"/>
              </a:rPr>
              <a:t>Pw = ρgQH</a:t>
            </a:r>
          </a:p>
          <a:p>
            <a:r>
              <a:rPr sz="1800" b="0">
                <a:solidFill>
                  <a:srgbClr val="334155"/>
                </a:solidFill>
                <a:latin typeface="Noto Sans CJK JP"/>
              </a:rPr>
              <a:t>水：Pw=9.8QH [kW]</a:t>
            </a:r>
          </a:p>
          <a:p>
            <a:r>
              <a:rPr sz="1800" b="0">
                <a:solidFill>
                  <a:srgbClr val="334155"/>
                </a:solidFill>
                <a:latin typeface="Noto Sans CJK JP"/>
              </a:rPr>
              <a:t>Q[m³/s], H[m]</a:t>
            </a:r>
          </a:p>
        </p:txBody>
      </p:sp>
      <p:sp>
        <p:nvSpPr>
          <p:cNvPr id="7" name="Text 7"/>
          <p:cNvSpPr/>
          <p:nvPr/>
        </p:nvSpPr>
        <p:spPr>
          <a:xfrm>
            <a:off x="594360" y="3657600"/>
            <a:ext cx="5257800" cy="169164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D97706"/>
            </a:solidFill>
          </a:ln>
        </p:spPr>
        <p:txBody>
          <a:bodyPr wrap="square" lIns="91440" rIns="91440" tIns="45720" bIns="45720" anchor="ctr"/>
          <a:lstStyle/>
          <a:p>
            <a:r>
              <a:rPr sz="1700" b="0">
                <a:solidFill>
                  <a:srgbClr val="334155"/>
                </a:solidFill>
                <a:latin typeface="Noto Sans CJK JP"/>
              </a:rPr>
              <a:t>効率を遡る</a:t>
            </a:r>
          </a:p>
          <a:p>
            <a:r>
              <a:rPr sz="1700" b="0">
                <a:solidFill>
                  <a:srgbClr val="334155"/>
                </a:solidFill>
                <a:latin typeface="Noto Sans CJK JP"/>
              </a:rPr>
              <a:t>Pshaft=Pw/ηp</a:t>
            </a:r>
          </a:p>
          <a:p>
            <a:r>
              <a:rPr sz="1700" b="0">
                <a:solidFill>
                  <a:srgbClr val="334155"/>
                </a:solidFill>
                <a:latin typeface="Noto Sans CJK JP"/>
              </a:rPr>
              <a:t>Pin=Pw/(ηpηm)</a:t>
            </a:r>
          </a:p>
          <a:p>
            <a:r>
              <a:rPr sz="1700" b="0">
                <a:solidFill>
                  <a:srgbClr val="334155"/>
                </a:solidFill>
                <a:latin typeface="Noto Sans CJK JP"/>
              </a:rPr>
              <a:t>η&lt;1 → 電源側ほど大きい</a:t>
            </a:r>
          </a:p>
        </p:txBody>
      </p:sp>
      <p:sp>
        <p:nvSpPr>
          <p:cNvPr id="8" name="Text 8"/>
          <p:cNvSpPr/>
          <p:nvPr/>
        </p:nvSpPr>
        <p:spPr>
          <a:xfrm>
            <a:off x="6172200" y="3657600"/>
            <a:ext cx="5440680" cy="16916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86EAC"/>
            </a:solidFill>
          </a:ln>
        </p:spPr>
        <p:txBody>
          <a:bodyPr wrap="square" lIns="91440" rIns="91440" tIns="45720" bIns="45720" anchor="ctr"/>
          <a:lstStyle/>
          <a:p>
            <a:r>
              <a:rPr sz="1700" b="0">
                <a:solidFill>
                  <a:srgbClr val="334155"/>
                </a:solidFill>
                <a:latin typeface="Noto Sans CJK JP"/>
              </a:rPr>
              <a:t>余裕・台数</a:t>
            </a:r>
          </a:p>
          <a:p>
            <a:r>
              <a:rPr sz="1700" b="0">
                <a:solidFill>
                  <a:srgbClr val="334155"/>
                </a:solidFill>
                <a:latin typeface="Noto Sans CJK JP"/>
              </a:rPr>
              <a:t>Preq=kP</a:t>
            </a:r>
          </a:p>
          <a:p>
            <a:r>
              <a:rPr sz="1700" b="0">
                <a:solidFill>
                  <a:srgbClr val="334155"/>
                </a:solidFill>
                <a:latin typeface="Noto Sans CJK JP"/>
              </a:rPr>
              <a:t>N=ceil(Preq/Punit)</a:t>
            </a:r>
          </a:p>
          <a:p>
            <a:r>
              <a:rPr sz="1700" b="0">
                <a:solidFill>
                  <a:srgbClr val="334155"/>
                </a:solidFill>
                <a:latin typeface="Noto Sans CJK JP"/>
              </a:rPr>
              <a:t>kは掛ける／台数は切上げ</a:t>
            </a:r>
          </a:p>
        </p:txBody>
      </p:sp>
      <p:sp>
        <p:nvSpPr>
          <p:cNvPr id="9" name="Text 9"/>
          <p:cNvSpPr/>
          <p:nvPr/>
        </p:nvSpPr>
        <p:spPr>
          <a:xfrm>
            <a:off x="640080" y="6108192"/>
            <a:ext cx="10927080" cy="438912"/>
          </a:xfrm>
          <a:prstGeom prst="roundRect">
            <a:avLst/>
          </a:prstGeom>
          <a:noFill/>
          <a:ln>
            <a:noFill/>
          </a:ln>
        </p:spPr>
        <p:txBody>
          <a:bodyPr wrap="square" lIns="91440" rIns="91440" tIns="45720" bIns="45720" anchor="ctr"/>
          <a:lstStyle/>
          <a:p>
            <a:r>
              <a:rPr sz="1300" b="1">
                <a:solidFill>
                  <a:srgbClr val="1F374E"/>
                </a:solidFill>
                <a:latin typeface="Noto Sans CJK JP"/>
              </a:rPr>
              <a:t>頻出ミス：流量を未換算／損失水頭を足し忘れる／必要入力なのに効率を掛ける／台数を四捨五入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502920" y="228600"/>
            <a:ext cx="11155680" cy="502920"/>
          </a:xfrm>
          <a:prstGeom prst="roundRect">
            <a:avLst/>
          </a:prstGeom>
          <a:noFill/>
          <a:ln>
            <a:noFill/>
          </a:ln>
        </p:spPr>
        <p:txBody>
          <a:bodyPr wrap="square" lIns="91440" rIns="91440" tIns="45720" bIns="45720" anchor="ctr"/>
          <a:lstStyle/>
          <a:p>
            <a:r>
              <a:rPr sz="2700" b="1">
                <a:solidFill>
                  <a:srgbClr val="1F374E"/>
                </a:solidFill>
                <a:latin typeface="Noto Sans CJK JP"/>
              </a:rPr>
              <a:t>ファンの速度特性とコンプレッサ</a:t>
            </a:r>
          </a:p>
        </p:txBody>
      </p:sp>
      <p:sp>
        <p:nvSpPr>
          <p:cNvPr id="3" name="Text 3"/>
          <p:cNvSpPr/>
          <p:nvPr/>
        </p:nvSpPr>
        <p:spPr>
          <a:xfrm>
            <a:off x="548640" y="777240"/>
            <a:ext cx="10972800" cy="320040"/>
          </a:xfrm>
          <a:prstGeom prst="roundRect">
            <a:avLst/>
          </a:prstGeom>
          <a:noFill/>
          <a:ln>
            <a:noFill/>
          </a:ln>
        </p:spPr>
        <p:txBody>
          <a:bodyPr wrap="square" lIns="91440" rIns="91440" tIns="45720" bIns="45720" anchor="ctr"/>
          <a:lstStyle/>
          <a:p>
            <a:r>
              <a:rPr sz="1200" b="0">
                <a:solidFill>
                  <a:srgbClr val="5B6570"/>
                </a:solidFill>
                <a:latin typeface="Noto Sans CJK JP"/>
              </a:rPr>
              <a:t>流体搬送負荷を電動機側のトルク・出力で整理する</a:t>
            </a:r>
          </a:p>
        </p:txBody>
      </p:sp>
      <p:sp>
        <p:nvSpPr>
          <p:cNvPr id="4" name="Text 4"/>
          <p:cNvSpPr/>
          <p:nvPr/>
        </p:nvSpPr>
        <p:spPr>
          <a:xfrm>
            <a:off x="640080" y="1234440"/>
            <a:ext cx="5303520" cy="242316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D97706"/>
            </a:solidFill>
          </a:ln>
        </p:spPr>
        <p:txBody>
          <a:bodyPr wrap="square" lIns="91440" rIns="91440" tIns="45720" bIns="45720" anchor="ctr"/>
          <a:lstStyle/>
          <a:p>
            <a:r>
              <a:rPr sz="1900" b="0">
                <a:solidFill>
                  <a:srgbClr val="334155"/>
                </a:solidFill>
                <a:latin typeface="Noto Sans CJK JP"/>
              </a:rPr>
              <a:t>ファン・送風機｜速度比 r</a:t>
            </a:r>
          </a:p>
          <a:p>
            <a:r>
              <a:rPr sz="1900" b="0">
                <a:solidFill>
                  <a:srgbClr val="334155"/>
                </a:solidFill>
                <a:latin typeface="Noto Sans CJK JP"/>
              </a:rPr>
              <a:t>Q₂/Q₁ = r</a:t>
            </a:r>
          </a:p>
          <a:p>
            <a:r>
              <a:rPr sz="1900" b="0">
                <a:solidFill>
                  <a:srgbClr val="334155"/>
                </a:solidFill>
                <a:latin typeface="Noto Sans CJK JP"/>
              </a:rPr>
              <a:t>T₂/T₁ = r²</a:t>
            </a:r>
          </a:p>
          <a:p>
            <a:r>
              <a:rPr sz="1900" b="0">
                <a:solidFill>
                  <a:srgbClr val="334155"/>
                </a:solidFill>
                <a:latin typeface="Noto Sans CJK JP"/>
              </a:rPr>
              <a:t>P₂/P₁ = r³</a:t>
            </a:r>
          </a:p>
          <a:p>
            <a:r>
              <a:rPr sz="1900" b="0">
                <a:solidFill>
                  <a:srgbClr val="334155"/>
                </a:solidFill>
                <a:latin typeface="Noto Sans CJK JP"/>
              </a:rPr>
              <a:t>P=Tω、ω∝n</a:t>
            </a:r>
          </a:p>
        </p:txBody>
      </p:sp>
      <p:sp>
        <p:nvSpPr>
          <p:cNvPr id="5" name="Text 5"/>
          <p:cNvSpPr/>
          <p:nvPr/>
        </p:nvSpPr>
        <p:spPr>
          <a:xfrm>
            <a:off x="6263640" y="1234440"/>
            <a:ext cx="5303520" cy="242316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26835A"/>
            </a:solidFill>
          </a:ln>
        </p:spPr>
        <p:txBody>
          <a:bodyPr wrap="square" lIns="91440" rIns="91440" tIns="45720" bIns="45720" anchor="ctr"/>
          <a:lstStyle/>
          <a:p>
            <a:r>
              <a:rPr sz="1900" b="0">
                <a:solidFill>
                  <a:srgbClr val="334155"/>
                </a:solidFill>
                <a:latin typeface="Noto Sans CJK JP"/>
              </a:rPr>
              <a:t>コンプレッサ｜軸出力</a:t>
            </a:r>
          </a:p>
          <a:p>
            <a:r>
              <a:rPr sz="1900" b="0">
                <a:solidFill>
                  <a:srgbClr val="334155"/>
                </a:solidFill>
                <a:latin typeface="Noto Sans CJK JP"/>
              </a:rPr>
              <a:t>P = Tω</a:t>
            </a:r>
          </a:p>
          <a:p>
            <a:r>
              <a:rPr sz="1900" b="0">
                <a:solidFill>
                  <a:srgbClr val="334155"/>
                </a:solidFill>
                <a:latin typeface="Noto Sans CJK JP"/>
              </a:rPr>
              <a:t>ω = 2πN/60</a:t>
            </a:r>
          </a:p>
          <a:p>
            <a:r>
              <a:rPr sz="1900" b="0">
                <a:solidFill>
                  <a:srgbClr val="334155"/>
                </a:solidFill>
                <a:latin typeface="Noto Sans CJK JP"/>
              </a:rPr>
              <a:t>Pin=Pshaft/ηm</a:t>
            </a:r>
          </a:p>
          <a:p>
            <a:r>
              <a:rPr sz="1900" b="0">
                <a:solidFill>
                  <a:srgbClr val="334155"/>
                </a:solidFill>
                <a:latin typeface="Noto Sans CJK JP"/>
              </a:rPr>
              <a:t>電動機側の量だけを扱う</a:t>
            </a:r>
          </a:p>
        </p:txBody>
      </p:sp>
      <p:sp>
        <p:nvSpPr>
          <p:cNvPr id="6" name="Text 6"/>
          <p:cNvSpPr/>
          <p:nvPr/>
        </p:nvSpPr>
        <p:spPr>
          <a:xfrm>
            <a:off x="640080" y="4069080"/>
            <a:ext cx="3383280" cy="12344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86EAC"/>
            </a:solidFill>
          </a:ln>
        </p:spPr>
        <p:txBody>
          <a:bodyPr wrap="square" lIns="91440" rIns="91440" tIns="45720" bIns="45720" anchor="ctr"/>
          <a:lstStyle/>
          <a:p>
            <a:r>
              <a:rPr sz="1700" b="0">
                <a:solidFill>
                  <a:srgbClr val="334155"/>
                </a:solidFill>
                <a:latin typeface="Noto Sans CJK JP"/>
              </a:rPr>
              <a:t>速度80%</a:t>
            </a:r>
          </a:p>
          <a:p>
            <a:r>
              <a:rPr sz="1700" b="0">
                <a:solidFill>
                  <a:srgbClr val="334155"/>
                </a:solidFill>
                <a:latin typeface="Noto Sans CJK JP"/>
              </a:rPr>
              <a:t>Q：80%</a:t>
            </a:r>
          </a:p>
          <a:p>
            <a:r>
              <a:rPr sz="1700" b="0">
                <a:solidFill>
                  <a:srgbClr val="334155"/>
                </a:solidFill>
                <a:latin typeface="Noto Sans CJK JP"/>
              </a:rPr>
              <a:t>T：64%</a:t>
            </a:r>
          </a:p>
        </p:txBody>
      </p:sp>
      <p:sp>
        <p:nvSpPr>
          <p:cNvPr id="7" name="Text 7"/>
          <p:cNvSpPr/>
          <p:nvPr/>
        </p:nvSpPr>
        <p:spPr>
          <a:xfrm>
            <a:off x="4407408" y="4069080"/>
            <a:ext cx="3383280" cy="12344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86EAC"/>
            </a:solidFill>
          </a:ln>
        </p:spPr>
        <p:txBody>
          <a:bodyPr wrap="square" lIns="91440" rIns="91440" tIns="45720" bIns="45720" anchor="ctr"/>
          <a:lstStyle/>
          <a:p>
            <a:r>
              <a:rPr sz="1700" b="0">
                <a:solidFill>
                  <a:srgbClr val="334155"/>
                </a:solidFill>
                <a:latin typeface="Noto Sans CJK JP"/>
              </a:rPr>
              <a:t>所要電力</a:t>
            </a:r>
          </a:p>
          <a:p>
            <a:r>
              <a:rPr sz="1700" b="0">
                <a:solidFill>
                  <a:srgbClr val="334155"/>
                </a:solidFill>
                <a:latin typeface="Noto Sans CJK JP"/>
              </a:rPr>
              <a:t>P：51.2%</a:t>
            </a:r>
          </a:p>
          <a:p>
            <a:r>
              <a:rPr sz="1700" b="0">
                <a:solidFill>
                  <a:srgbClr val="334155"/>
                </a:solidFill>
                <a:latin typeface="Noto Sans CJK JP"/>
              </a:rPr>
              <a:t>15 kW → 7.68 kW</a:t>
            </a:r>
          </a:p>
        </p:txBody>
      </p:sp>
      <p:sp>
        <p:nvSpPr>
          <p:cNvPr id="8" name="Text 8"/>
          <p:cNvSpPr/>
          <p:nvPr/>
        </p:nvSpPr>
        <p:spPr>
          <a:xfrm>
            <a:off x="8183879" y="4069080"/>
            <a:ext cx="3383280" cy="12344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86EAC"/>
            </a:solidFill>
          </a:ln>
        </p:spPr>
        <p:txBody>
          <a:bodyPr wrap="square" lIns="91440" rIns="91440" tIns="45720" bIns="45720" anchor="ctr"/>
          <a:lstStyle/>
          <a:p>
            <a:r>
              <a:rPr sz="1700" b="0">
                <a:solidFill>
                  <a:srgbClr val="334155"/>
                </a:solidFill>
                <a:latin typeface="Noto Sans CJK JP"/>
              </a:rPr>
              <a:t>範囲境界</a:t>
            </a:r>
          </a:p>
          <a:p>
            <a:r>
              <a:rPr sz="1700" b="0">
                <a:solidFill>
                  <a:srgbClr val="334155"/>
                </a:solidFill>
                <a:latin typeface="Noto Sans CJK JP"/>
              </a:rPr>
              <a:t>断熱・等温・ポリトロープ</a:t>
            </a:r>
          </a:p>
          <a:p>
            <a:r>
              <a:rPr sz="1700" b="0">
                <a:solidFill>
                  <a:srgbClr val="334155"/>
                </a:solidFill>
                <a:latin typeface="Noto Sans CJK JP"/>
              </a:rPr>
              <a:t>圧縮仕事は扱わない</a:t>
            </a:r>
          </a:p>
        </p:txBody>
      </p:sp>
      <p:sp>
        <p:nvSpPr>
          <p:cNvPr id="9" name="Text 9"/>
          <p:cNvSpPr/>
          <p:nvPr/>
        </p:nvSpPr>
        <p:spPr>
          <a:xfrm>
            <a:off x="640080" y="6108192"/>
            <a:ext cx="10927080" cy="438912"/>
          </a:xfrm>
          <a:prstGeom prst="roundRect">
            <a:avLst/>
          </a:prstGeom>
          <a:noFill/>
          <a:ln>
            <a:noFill/>
          </a:ln>
        </p:spPr>
        <p:txBody>
          <a:bodyPr wrap="square" lIns="91440" rIns="91440" tIns="45720" bIns="45720" anchor="ctr"/>
          <a:lstStyle/>
          <a:p>
            <a:r>
              <a:rPr sz="1300" b="1">
                <a:solidFill>
                  <a:srgbClr val="1F374E"/>
                </a:solidFill>
                <a:latin typeface="Noto Sans CJK JP"/>
              </a:rPr>
              <a:t>チェック：ファンの T∝n² と P∝n³ を混同しない／コンプレッサにSPEC外の圧縮熱力学を持ち込まない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502920" y="228600"/>
            <a:ext cx="11155680" cy="502920"/>
          </a:xfrm>
          <a:prstGeom prst="roundRect">
            <a:avLst/>
          </a:prstGeom>
          <a:noFill/>
          <a:ln>
            <a:noFill/>
          </a:ln>
        </p:spPr>
        <p:txBody>
          <a:bodyPr wrap="square" lIns="91440" rIns="91440" tIns="45720" bIns="45720" anchor="ctr"/>
          <a:lstStyle/>
          <a:p>
            <a:r>
              <a:rPr sz="2700" b="1">
                <a:solidFill>
                  <a:srgbClr val="1F374E"/>
                </a:solidFill>
                <a:latin typeface="Noto Sans CJK JP"/>
              </a:rPr>
              <a:t>固定5問への接続</a:t>
            </a:r>
          </a:p>
        </p:txBody>
      </p:sp>
      <p:sp>
        <p:nvSpPr>
          <p:cNvPr id="3" name="Text 3"/>
          <p:cNvSpPr/>
          <p:nvPr/>
        </p:nvSpPr>
        <p:spPr>
          <a:xfrm>
            <a:off x="548640" y="777240"/>
            <a:ext cx="10972800" cy="320040"/>
          </a:xfrm>
          <a:prstGeom prst="roundRect">
            <a:avLst/>
          </a:prstGeom>
          <a:noFill/>
          <a:ln>
            <a:noFill/>
          </a:ln>
        </p:spPr>
        <p:txBody>
          <a:bodyPr wrap="square" lIns="91440" rIns="91440" tIns="45720" bIns="45720" anchor="ctr"/>
          <a:lstStyle/>
          <a:p>
            <a:r>
              <a:rPr sz="1200" b="0">
                <a:solidFill>
                  <a:srgbClr val="5B6570"/>
                </a:solidFill>
                <a:latin typeface="Noto Sans CJK JP"/>
              </a:rPr>
              <a:t>完成後独立再解答では、教材内の式・判断経路だけで解けることを確認する</a:t>
            </a:r>
          </a:p>
        </p:txBody>
      </p:sp>
      <p:sp>
        <p:nvSpPr>
          <p:cNvPr id="4" name="Text 4"/>
          <p:cNvSpPr/>
          <p:nvPr/>
        </p:nvSpPr>
        <p:spPr>
          <a:xfrm>
            <a:off x="594360" y="1234440"/>
            <a:ext cx="11018520" cy="6400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rIns="91440" tIns="45720" bIns="45720" anchor="ctr"/>
          <a:lstStyle/>
          <a:p>
            <a:r>
              <a:rPr sz="1500" b="0">
                <a:solidFill>
                  <a:srgbClr val="334155"/>
                </a:solidFill>
                <a:latin typeface="Noto Sans CJK JP"/>
              </a:rPr>
              <a:t>R4下 機械 問11　｜ 流量換算＋損失水頭＋ηpηm ｜ §3〜§6, §11 ｜ 4</a:t>
            </a:r>
          </a:p>
        </p:txBody>
      </p:sp>
      <p:sp>
        <p:nvSpPr>
          <p:cNvPr id="5" name="Text 5"/>
          <p:cNvSpPr/>
          <p:nvPr/>
        </p:nvSpPr>
        <p:spPr>
          <a:xfrm>
            <a:off x="594360" y="1993392"/>
            <a:ext cx="1101852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91440" rIns="91440" tIns="45720" bIns="45720" anchor="ctr"/>
          <a:lstStyle/>
          <a:p>
            <a:r>
              <a:rPr sz="1500" b="0">
                <a:solidFill>
                  <a:srgbClr val="334155"/>
                </a:solidFill>
                <a:latin typeface="Noto Sans CJK JP"/>
              </a:rPr>
              <a:t>H30 機械 問10　 ｜ ポンプ出力＋余裕係数＋台数切上げ ｜ §3, §4, §7, §8, §11 ｜ 4</a:t>
            </a:r>
          </a:p>
        </p:txBody>
      </p:sp>
      <p:sp>
        <p:nvSpPr>
          <p:cNvPr id="6" name="Text 6"/>
          <p:cNvSpPr/>
          <p:nvPr/>
        </p:nvSpPr>
        <p:spPr>
          <a:xfrm>
            <a:off x="594360" y="2752344"/>
            <a:ext cx="11018520" cy="6400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rIns="91440" tIns="45720" bIns="45720" anchor="ctr"/>
          <a:lstStyle/>
          <a:p>
            <a:r>
              <a:rPr sz="1500" b="0">
                <a:solidFill>
                  <a:srgbClr val="334155"/>
                </a:solidFill>
                <a:latin typeface="Noto Sans CJK JP"/>
              </a:rPr>
              <a:t>H29 機械 問12　 ｜ Q∝n、T∝n²、P∝n³ ｜ §2, §9, §11 ｜ 4</a:t>
            </a:r>
          </a:p>
        </p:txBody>
      </p:sp>
      <p:sp>
        <p:nvSpPr>
          <p:cNvPr id="7" name="Text 7"/>
          <p:cNvSpPr/>
          <p:nvPr/>
        </p:nvSpPr>
        <p:spPr>
          <a:xfrm>
            <a:off x="594360" y="3511296"/>
            <a:ext cx="1101852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91440" rIns="91440" tIns="45720" bIns="45720" anchor="ctr"/>
          <a:lstStyle/>
          <a:p>
            <a:r>
              <a:rPr sz="1500" b="0">
                <a:solidFill>
                  <a:srgbClr val="334155"/>
                </a:solidFill>
                <a:latin typeface="Noto Sans CJK JP"/>
              </a:rPr>
              <a:t>H27 機械 問12　 ｜ 実揚程→全揚程＋ηp＋余裕 ｜ §3〜§5, §7, §11 ｜ 5</a:t>
            </a:r>
          </a:p>
        </p:txBody>
      </p:sp>
      <p:sp>
        <p:nvSpPr>
          <p:cNvPr id="8" name="Text 8"/>
          <p:cNvSpPr/>
          <p:nvPr/>
        </p:nvSpPr>
        <p:spPr>
          <a:xfrm>
            <a:off x="594360" y="4270248"/>
            <a:ext cx="11018520" cy="6400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rIns="91440" tIns="45720" bIns="45720" anchor="ctr"/>
          <a:lstStyle/>
          <a:p>
            <a:r>
              <a:rPr sz="1500" b="0">
                <a:solidFill>
                  <a:srgbClr val="334155"/>
                </a:solidFill>
                <a:latin typeface="Noto Sans CJK JP"/>
              </a:rPr>
              <a:t>H18 機械 問10　 ｜ 流量換算＋損失水頭＋ηpηm ｜ §3〜§6, §11 ｜ 3</a:t>
            </a:r>
          </a:p>
        </p:txBody>
      </p:sp>
      <p:sp>
        <p:nvSpPr>
          <p:cNvPr id="9" name="Text 9"/>
          <p:cNvSpPr/>
          <p:nvPr/>
        </p:nvSpPr>
        <p:spPr>
          <a:xfrm>
            <a:off x="594360" y="5166360"/>
            <a:ext cx="11018520" cy="6858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86EAC"/>
            </a:solidFill>
          </a:ln>
        </p:spPr>
        <p:txBody>
          <a:bodyPr wrap="square" lIns="91440" rIns="91440" tIns="45720" bIns="45720" anchor="ctr"/>
          <a:lstStyle/>
          <a:p>
            <a:r>
              <a:rPr sz="1400" b="1">
                <a:solidFill>
                  <a:srgbClr val="1F374E"/>
                </a:solidFill>
                <a:latin typeface="Noto Sans CJK JP"/>
              </a:rPr>
              <a:t>独立再解答チェック</a:t>
            </a:r>
          </a:p>
          <a:p>
            <a:r>
              <a:rPr sz="1400" b="1">
                <a:solidFill>
                  <a:srgbClr val="1F374E"/>
                </a:solidFill>
                <a:latin typeface="Noto Sans CJK JP"/>
              </a:rPr>
              <a:t>①式を教材から選べる　②途中式を組める　③単位換算できる　④正答理由を説明できる　⑤教材外知識を補わない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nimal">
  <a:themeElements>
    <a:clrScheme name="Minimal">
      <a:dk1>
        <a:srgbClr val="000000"/>
      </a:dk1>
      <a:lt1>
        <a:srgbClr val="FFFFFF"/>
      </a:lt1>
      <a:dk2>
        <a:srgbClr val="1F374E"/>
      </a:dk2>
      <a:lt2>
        <a:srgbClr val="F5F7FA"/>
      </a:lt2>
      <a:accent1>
        <a:srgbClr val="286EAC"/>
      </a:accent1>
      <a:accent2>
        <a:srgbClr val="D97706"/>
      </a:accent2>
      <a:accent3>
        <a:srgbClr val="26835A"/>
      </a:accent3>
      <a:accent4>
        <a:srgbClr val="64748B"/>
      </a:accent4>
      <a:accent5>
        <a:srgbClr val="94A3B8"/>
      </a:accent5>
      <a:accent6>
        <a:srgbClr val="CBD5E1"/>
      </a:accent6>
      <a:hlink>
        <a:srgbClr val="0563C1"/>
      </a:hlink>
      <a:folHlink>
        <a:srgbClr val="954F72"/>
      </a:folHlink>
    </a:clrScheme>
    <a:fontScheme name="Minimal">
      <a:majorFont>
        <a:latin typeface="Noto Sans CJK JP"/>
        <a:ea typeface="Noto Sans CJK JP"/>
        <a:cs typeface="Arial"/>
      </a:majorFont>
      <a:minorFont>
        <a:latin typeface="Noto Sans CJK JP"/>
        <a:ea typeface="Noto Sans CJK JP"/>
        <a:cs typeface="Arial"/>
      </a:minorFont>
    </a:fontScheme>
    <a:fmtScheme name="Minimal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Topic 29 コンプレッサ・ポンプ・ファン 解説画像</dc:title>
  <cp:lastModifiedBy>python-pptx</cp:lastModifiedBy>
  <cp:revision>1</cp:revision>
  <dcterms:modified xsi:type="dcterms:W3CDTF">2026-09-14T14:23:02Z</dcterms:modified>
  <dc:subject>電験三種 機械 - ポンプ・ファン・コンプレッサ</dc:subject>
  <dc:description>固定EXAM_ALIGNMENT 5問に対応。系列SPEC外論点・未確認実車値を追加しない。</dc:description>
</cp:coreProperties>
</file>