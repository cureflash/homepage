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L0系② 500 km/hと周波数制御</a:t>
            </a:r>
            <a:endParaRPr lang="ja-JP" sz="2800"/>
          </a:p>
        </p:txBody>
      </p:sp>
      <p:cxnSp>
        <p:nvCxnSpPr>
          <p:cNvPr id="3" name="rule"/>
          <p:cNvCxnSpPr/>
          <p:nvPr/>
        </p:nvCxnSpPr>
        <p:spPr>
          <a:xfrm flipH="0" flipV="0">
            <a:off x="502920" y="932688"/>
            <a:ext cx="11155680" cy="1"/>
          </a:xfrm>
          <a:prstGeom prst="line">
            <a:avLst/>
          </a:prstGeom>
          <a:ln w="25400">
            <a:solidFill>
              <a:srgbClr val="4F81BD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566928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300" b="0" dirty="0">
                <a:solidFill>
                  <a:srgbClr val="666666"/>
                </a:solidFill>
                <a:latin typeface="Noto Sans CJK JP"/>
                <a:ea typeface="Noto Sans CJK JP"/>
              </a:rPr>
              <a:t>電験三種・機械：周波数 → 同期速度 → 電力変換</a:t>
            </a:r>
            <a:endParaRPr lang="ja-JP" sz="1300"/>
          </a:p>
        </p:txBody>
      </p:sp>
      <p:sp>
        <p:nvSpPr>
          <p:cNvPr id="10" name="guide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</p:sp>
      <p:sp>
        <p:nvSpPr>
          <p:cNvPr id="11" name="coil"/>
          <p:cNvSpPr txBox="1"/>
          <p:nvPr/>
        </p:nvSpPr>
        <p:spPr>
          <a:xfrm>
            <a:off x="914400" y="19659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1" dirty="0">
                <a:solidFill>
                  <a:srgbClr val="17365D"/>
                </a:solidFill>
                <a:latin typeface="Noto Sans CJK JP"/>
                <a:ea typeface="Noto Sans CJK JP"/>
              </a:rPr>
              <a:t>推進コイル  N / S</a:t>
            </a:r>
            <a:endParaRPr lang="ja-JP" sz="1800"/>
          </a:p>
        </p:txBody>
      </p:sp>
      <p:cxnSp>
        <p:nvCxnSpPr>
          <p:cNvPr id="12" name="arrow"/>
          <p:cNvCxnSpPr/>
          <p:nvPr/>
        </p:nvCxnSpPr>
        <p:spPr>
          <a:xfrm flipH="0" flipV="0">
            <a:off x="3017520" y="2194560"/>
            <a:ext cx="5029200" cy="1"/>
          </a:xfrm>
          <a:prstGeom prst="line">
            <a:avLst/>
          </a:prstGeom>
          <a:ln w="50800">
            <a:solidFill>
              <a:srgbClr val="4F81BD"/>
            </a:solidFill>
            <a:tailEnd type="none"/>
            <a:headEnd type="triangle"/>
          </a:ln>
        </p:spPr>
      </p:cxnSp>
      <p:sp>
        <p:nvSpPr>
          <p:cNvPr id="13" name="move"/>
          <p:cNvSpPr txBox="1"/>
          <p:nvPr/>
        </p:nvSpPr>
        <p:spPr>
          <a:xfrm>
            <a:off x="3657600" y="16002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1" dirty="0">
                <a:solidFill>
                  <a:srgbClr val="C0504D"/>
                </a:solidFill>
                <a:latin typeface="Noto Sans CJK JP"/>
                <a:ea typeface="Noto Sans CJK JP"/>
              </a:rPr>
              <a:t>周波数 ↑ → 磁界の移動速度 ↑</a:t>
            </a:r>
            <a:endParaRPr lang="ja-JP" sz="1800"/>
          </a:p>
        </p:txBody>
      </p:sp>
      <p:sp>
        <p:nvSpPr>
          <p:cNvPr id="14" name="vehicle"/>
          <p:cNvSpPr/>
          <p:nvPr/>
        </p:nvSpPr>
        <p:spPr>
          <a:xfrm>
            <a:off x="8412480" y="1691640"/>
            <a:ext cx="2377440" cy="1005840"/>
          </a:xfrm>
          <a:prstGeom prst="roundRect">
            <a:avLst/>
          </a:prstGeom>
          <a:solidFill>
            <a:srgbClr val="D9EAD3"/>
          </a:solidFill>
          <a:ln w="12700">
            <a:solidFill>
              <a:srgbClr val="548235"/>
            </a:solidFill>
          </a:ln>
        </p:spPr>
      </p:sp>
      <p:sp>
        <p:nvSpPr>
          <p:cNvPr id="15" name="vehicle_text"/>
          <p:cNvSpPr txBox="1"/>
          <p:nvPr/>
        </p:nvSpPr>
        <p:spPr>
          <a:xfrm>
            <a:off x="8549640" y="1874519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385723"/>
                </a:solidFill>
                <a:latin typeface="Noto Sans CJK JP"/>
                <a:ea typeface="Noto Sans CJK JP"/>
              </a:rPr>
              <a:t>L0系</a:t>
            </a:r>
            <a:endParaRPr lang="ja-JP" sz="1800"/>
          </a:p>
          <a:p>
            <a:pPr algn="ctr"/>
            <a:r>
              <a:rPr lang="ja-JP" sz="1800" b="1" dirty="0">
                <a:solidFill>
                  <a:srgbClr val="385723"/>
                </a:solidFill>
                <a:latin typeface="Noto Sans CJK JP"/>
                <a:ea typeface="Noto Sans CJK JP"/>
              </a:rPr>
              <a:t>500 km/h走行</a:t>
            </a:r>
            <a:endParaRPr lang="ja-JP" sz="1800"/>
          </a:p>
        </p:txBody>
      </p:sp>
      <p:sp>
        <p:nvSpPr>
          <p:cNvPr id="16" name="formula"/>
          <p:cNvSpPr txBox="1"/>
          <p:nvPr/>
        </p:nvSpPr>
        <p:spPr>
          <a:xfrm>
            <a:off x="1005840" y="3154680"/>
            <a:ext cx="4846320" cy="146304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同期速度</a:t>
            </a:r>
            <a:endParaRPr lang="ja-JP" sz="2800"/>
          </a:p>
          <a:p>
            <a:pPr algn="ctr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Ns = 120 f / p</a:t>
            </a:r>
            <a:endParaRPr lang="ja-JP" sz="2800"/>
          </a:p>
        </p:txBody>
      </p:sp>
      <p:sp>
        <p:nvSpPr>
          <p:cNvPr id="17" name="formula2"/>
          <p:cNvSpPr txBox="1"/>
          <p:nvPr/>
        </p:nvSpPr>
        <p:spPr>
          <a:xfrm>
            <a:off x="6400800" y="3154680"/>
            <a:ext cx="4846320" cy="1463040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800" b="1" dirty="0">
                <a:solidFill>
                  <a:srgbClr val="843C0C"/>
                </a:solidFill>
                <a:latin typeface="Noto Sans CJK JP"/>
                <a:ea typeface="Noto Sans CJK JP"/>
              </a:rPr>
              <a:t>同期角速度</a:t>
            </a:r>
            <a:endParaRPr lang="ja-JP" sz="2800"/>
          </a:p>
          <a:p>
            <a:pPr algn="ctr"/>
            <a:r>
              <a:rPr lang="ja-JP" sz="2800" b="1" dirty="0">
                <a:solidFill>
                  <a:srgbClr val="843C0C"/>
                </a:solidFill>
                <a:latin typeface="Noto Sans CJK JP"/>
                <a:ea typeface="Noto Sans CJK JP"/>
              </a:rPr>
              <a:t>ωs = 4π f / p</a:t>
            </a:r>
            <a:endParaRPr lang="ja-JP" sz="2800"/>
          </a:p>
        </p:txBody>
      </p:sp>
      <p:sp>
        <p:nvSpPr>
          <p:cNvPr id="18" name="source"/>
          <p:cNvSpPr txBox="1"/>
          <p:nvPr/>
        </p:nvSpPr>
        <p:spPr>
          <a:xfrm>
            <a:off x="822960" y="5074920"/>
            <a:ext cx="1042416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500" b="0" dirty="0">
                <a:solidFill>
                  <a:srgbClr val="7F6000"/>
                </a:solidFill>
                <a:latin typeface="Noto Sans CJK JP"/>
                <a:ea typeface="Noto Sans CJK JP"/>
              </a:rPr>
              <a:t>実車事実：JR東海「超電導リニアの原理」</a:t>
            </a:r>
            <a:endParaRPr lang="ja-JP" sz="1500"/>
          </a:p>
          <a:p>
            <a:pPr algn="l"/>
            <a:r>
              <a:rPr lang="ja-JP" sz="1500" b="0" dirty="0">
                <a:solidFill>
                  <a:srgbClr val="7F6000"/>
                </a:solidFill>
                <a:latin typeface="Noto Sans CJK JP"/>
                <a:ea typeface="Noto Sans CJK JP"/>
              </a:rPr>
              <a:t>周波数を変え、推進コイルのN/S切替速度を制御して車両速度を調整</a:t>
            </a:r>
            <a:endParaRPr lang="ja-JP" sz="1500"/>
          </a:p>
        </p:txBody>
      </p:sp>
      <p:sp>
        <p:nvSpPr>
          <p:cNvPr id="99" name="Footer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r"/>
            <a:r>
              <a:rPr lang="ja-JP" sz="800" b="0" dirty="0">
                <a:solidFill>
                  <a:srgbClr val="777777"/>
                </a:solidFill>
                <a:latin typeface="Noto Sans CJK JP"/>
                <a:ea typeface="Noto Sans CJK JP"/>
              </a:rPr>
              <a:t>電験×新幹線 / Topic 23</a:t>
            </a:r>
            <a:endParaRPr lang="ja-JP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本試験で問われる4本柱</a:t>
            </a:r>
            <a:endParaRPr lang="ja-JP" sz="2800"/>
          </a:p>
        </p:txBody>
      </p:sp>
      <p:cxnSp>
        <p:nvCxnSpPr>
          <p:cNvPr id="3" name="rule"/>
          <p:cNvCxnSpPr/>
          <p:nvPr/>
        </p:nvCxnSpPr>
        <p:spPr>
          <a:xfrm flipH="0" flipV="0">
            <a:off x="502920" y="932688"/>
            <a:ext cx="11155680" cy="1"/>
          </a:xfrm>
          <a:prstGeom prst="line">
            <a:avLst/>
          </a:prstGeom>
          <a:ln w="25400">
            <a:solidFill>
              <a:srgbClr val="4F81BD"/>
            </a:solidFill>
          </a:ln>
        </p:spPr>
      </p:cxnSp>
      <p:sp>
        <p:nvSpPr>
          <p:cNvPr id="10" name="n1"/>
          <p:cNvSpPr txBox="1"/>
          <p:nvPr/>
        </p:nvSpPr>
        <p:spPr>
          <a:xfrm>
            <a:off x="685800" y="1463040"/>
            <a:ext cx="59436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Noto Sans CJK JP"/>
                <a:ea typeface="Noto Sans CJK JP"/>
              </a:rPr>
              <a:t>1</a:t>
            </a:r>
            <a:endParaRPr lang="ja-JP" sz="2200"/>
          </a:p>
        </p:txBody>
      </p:sp>
      <p:sp>
        <p:nvSpPr>
          <p:cNvPr id="11" name="h1"/>
          <p:cNvSpPr txBox="1"/>
          <p:nvPr/>
        </p:nvSpPr>
        <p:spPr>
          <a:xfrm>
            <a:off x="1417320" y="14630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000" b="1" dirty="0">
                <a:solidFill>
                  <a:srgbClr val="17365D"/>
                </a:solidFill>
                <a:latin typeface="Noto Sans CJK JP"/>
                <a:ea typeface="Noto Sans CJK JP"/>
              </a:rPr>
              <a:t>同期速度</a:t>
            </a:r>
            <a:endParaRPr lang="ja-JP" sz="2000"/>
          </a:p>
        </p:txBody>
      </p:sp>
      <p:sp>
        <p:nvSpPr>
          <p:cNvPr id="12" name="b1"/>
          <p:cNvSpPr txBox="1"/>
          <p:nvPr/>
        </p:nvSpPr>
        <p:spPr>
          <a:xfrm>
            <a:off x="1417320" y="2029968"/>
            <a:ext cx="448056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Ns = 120f/p</a:t>
            </a:r>
            <a:endParaRPr lang="ja-JP" sz="1500"/>
          </a:p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周波数・極数・速度を相互に逆算</a:t>
            </a:r>
            <a:endParaRPr lang="ja-JP" sz="1500"/>
          </a:p>
        </p:txBody>
      </p:sp>
      <p:sp>
        <p:nvSpPr>
          <p:cNvPr id="13" name="n2"/>
          <p:cNvSpPr txBox="1"/>
          <p:nvPr/>
        </p:nvSpPr>
        <p:spPr>
          <a:xfrm>
            <a:off x="6355080" y="1463040"/>
            <a:ext cx="59436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Noto Sans CJK JP"/>
                <a:ea typeface="Noto Sans CJK JP"/>
              </a:rPr>
              <a:t>2</a:t>
            </a:r>
            <a:endParaRPr lang="ja-JP" sz="2200"/>
          </a:p>
        </p:txBody>
      </p:sp>
      <p:sp>
        <p:nvSpPr>
          <p:cNvPr id="14" name="h2"/>
          <p:cNvSpPr txBox="1"/>
          <p:nvPr/>
        </p:nvSpPr>
        <p:spPr>
          <a:xfrm>
            <a:off x="7086600" y="14630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000" b="1" dirty="0">
                <a:solidFill>
                  <a:srgbClr val="17365D"/>
                </a:solidFill>
                <a:latin typeface="Noto Sans CJK JP"/>
                <a:ea typeface="Noto Sans CJK JP"/>
              </a:rPr>
              <a:t>V/f</a:t>
            </a:r>
            <a:endParaRPr lang="ja-JP" sz="2000"/>
          </a:p>
        </p:txBody>
      </p:sp>
      <p:sp>
        <p:nvSpPr>
          <p:cNvPr id="15" name="b2"/>
          <p:cNvSpPr txBox="1"/>
          <p:nvPr/>
        </p:nvSpPr>
        <p:spPr>
          <a:xfrm>
            <a:off x="7086600" y="2029968"/>
            <a:ext cx="448056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周波数変更時の磁束維持</a:t>
            </a:r>
            <a:endParaRPr lang="ja-JP" sz="1500"/>
          </a:p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磁気飽和を避ける考え方</a:t>
            </a:r>
            <a:endParaRPr lang="ja-JP" sz="1500"/>
          </a:p>
        </p:txBody>
      </p:sp>
      <p:sp>
        <p:nvSpPr>
          <p:cNvPr id="16" name="n3"/>
          <p:cNvSpPr txBox="1"/>
          <p:nvPr/>
        </p:nvSpPr>
        <p:spPr>
          <a:xfrm>
            <a:off x="685800" y="3429000"/>
            <a:ext cx="59436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Noto Sans CJK JP"/>
                <a:ea typeface="Noto Sans CJK JP"/>
              </a:rPr>
              <a:t>3</a:t>
            </a:r>
            <a:endParaRPr lang="ja-JP" sz="2200"/>
          </a:p>
        </p:txBody>
      </p:sp>
      <p:sp>
        <p:nvSpPr>
          <p:cNvPr id="17" name="h3"/>
          <p:cNvSpPr txBox="1"/>
          <p:nvPr/>
        </p:nvSpPr>
        <p:spPr>
          <a:xfrm>
            <a:off x="1417320" y="34290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000" b="1" dirty="0">
                <a:solidFill>
                  <a:srgbClr val="17365D"/>
                </a:solidFill>
                <a:latin typeface="Noto Sans CJK JP"/>
                <a:ea typeface="Noto Sans CJK JP"/>
              </a:rPr>
              <a:t>電力変換</a:t>
            </a:r>
            <a:endParaRPr lang="ja-JP" sz="2000"/>
          </a:p>
        </p:txBody>
      </p:sp>
      <p:sp>
        <p:nvSpPr>
          <p:cNvPr id="18" name="b3"/>
          <p:cNvSpPr txBox="1"/>
          <p:nvPr/>
        </p:nvSpPr>
        <p:spPr>
          <a:xfrm>
            <a:off x="1417320" y="3995928"/>
            <a:ext cx="448056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整流器 → 直流 → インバータ</a:t>
            </a:r>
            <a:endParaRPr lang="ja-JP" sz="1500"/>
          </a:p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PWMで可変周波数交流</a:t>
            </a:r>
            <a:endParaRPr lang="ja-JP" sz="1500"/>
          </a:p>
        </p:txBody>
      </p:sp>
      <p:sp>
        <p:nvSpPr>
          <p:cNvPr id="19" name="n4"/>
          <p:cNvSpPr txBox="1"/>
          <p:nvPr/>
        </p:nvSpPr>
        <p:spPr>
          <a:xfrm>
            <a:off x="6355080" y="3429000"/>
            <a:ext cx="59436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Noto Sans CJK JP"/>
                <a:ea typeface="Noto Sans CJK JP"/>
              </a:rPr>
              <a:t>4</a:t>
            </a:r>
            <a:endParaRPr lang="ja-JP" sz="2200"/>
          </a:p>
        </p:txBody>
      </p:sp>
      <p:sp>
        <p:nvSpPr>
          <p:cNvPr id="20" name="h4"/>
          <p:cNvSpPr txBox="1"/>
          <p:nvPr/>
        </p:nvSpPr>
        <p:spPr>
          <a:xfrm>
            <a:off x="7086600" y="34290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000" b="1" dirty="0">
                <a:solidFill>
                  <a:srgbClr val="17365D"/>
                </a:solidFill>
                <a:latin typeface="Noto Sans CJK JP"/>
                <a:ea typeface="Noto Sans CJK JP"/>
              </a:rPr>
              <a:t>電力とトルク</a:t>
            </a:r>
            <a:endParaRPr lang="ja-JP" sz="2000"/>
          </a:p>
        </p:txBody>
      </p:sp>
      <p:sp>
        <p:nvSpPr>
          <p:cNvPr id="21" name="b4"/>
          <p:cNvSpPr txBox="1"/>
          <p:nvPr/>
        </p:nvSpPr>
        <p:spPr>
          <a:xfrm>
            <a:off x="7086600" y="3995928"/>
            <a:ext cx="448056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√3VIcosφ → η → P=ωT</a:t>
            </a:r>
            <a:endParaRPr lang="ja-JP" sz="1500"/>
          </a:p>
          <a:p>
            <a:pPr algn="l"/>
            <a:r>
              <a:rPr lang="ja-JP" sz="1500" b="0" dirty="0">
                <a:solidFill>
                  <a:srgbClr val="222222"/>
                </a:solidFill>
                <a:latin typeface="Noto Sans CJK JP"/>
                <a:ea typeface="Noto Sans CJK JP"/>
              </a:rPr>
              <a:t>単位と効率を順に処理</a:t>
            </a:r>
            <a:endParaRPr lang="ja-JP" sz="1500"/>
          </a:p>
        </p:txBody>
      </p:sp>
      <p:sp>
        <p:nvSpPr>
          <p:cNvPr id="30" name="gate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400" b="1" dirty="0">
                <a:solidFill>
                  <a:srgbClr val="385723"/>
                </a:solidFill>
                <a:latin typeface="Noto Sans CJK JP"/>
                <a:ea typeface="Noto Sans CJK JP"/>
              </a:rPr>
              <a:t>品質ゲート：R7上問4 / R5下問6 / H26問15(a) / H20問10 / H19問15(a)</a:t>
            </a:r>
            <a:endParaRPr lang="ja-JP" sz="1400"/>
          </a:p>
        </p:txBody>
      </p:sp>
      <p:sp>
        <p:nvSpPr>
          <p:cNvPr id="99" name="Footer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r"/>
            <a:r>
              <a:rPr lang="ja-JP" sz="800" b="0" dirty="0">
                <a:solidFill>
                  <a:srgbClr val="777777"/>
                </a:solidFill>
                <a:latin typeface="Noto Sans CJK JP"/>
                <a:ea typeface="Noto Sans CJK JP"/>
              </a:rPr>
              <a:t>電験×新幹線 / Topic 23</a:t>
            </a:r>
            <a:endParaRPr lang="ja-JP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周波数を変えると同期速度が変わる</a:t>
            </a:r>
            <a:endParaRPr lang="ja-JP" sz="2800"/>
          </a:p>
        </p:txBody>
      </p:sp>
      <p:cxnSp>
        <p:nvCxnSpPr>
          <p:cNvPr id="3" name="rule"/>
          <p:cNvCxnSpPr/>
          <p:nvPr/>
        </p:nvCxnSpPr>
        <p:spPr>
          <a:xfrm flipH="0" flipV="0">
            <a:off x="502920" y="932688"/>
            <a:ext cx="11155680" cy="1"/>
          </a:xfrm>
          <a:prstGeom prst="line">
            <a:avLst/>
          </a:prstGeom>
          <a:ln w="25400">
            <a:solidFill>
              <a:srgbClr val="4F81BD"/>
            </a:solidFill>
          </a:ln>
        </p:spPr>
      </p:cxnSp>
      <p:sp>
        <p:nvSpPr>
          <p:cNvPr id="10" name="formula"/>
          <p:cNvSpPr txBox="1"/>
          <p:nvPr/>
        </p:nvSpPr>
        <p:spPr>
          <a:xfrm>
            <a:off x="777240" y="1280160"/>
            <a:ext cx="3200400" cy="109728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3000" b="1" dirty="0">
                <a:solidFill>
                  <a:srgbClr val="17365D"/>
                </a:solidFill>
                <a:latin typeface="Noto Sans CJK JP"/>
                <a:ea typeface="Noto Sans CJK JP"/>
              </a:rPr>
              <a:t>Ns = 120 f / p</a:t>
            </a:r>
            <a:endParaRPr lang="ja-JP" sz="3000"/>
          </a:p>
        </p:txBody>
      </p:sp>
      <p:sp>
        <p:nvSpPr>
          <p:cNvPr id="11" name="prop"/>
          <p:cNvSpPr txBox="1"/>
          <p:nvPr/>
        </p:nvSpPr>
        <p:spPr>
          <a:xfrm>
            <a:off x="822960" y="256032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17365D"/>
                </a:solidFill>
                <a:latin typeface="Noto Sans CJK JP"/>
                <a:ea typeface="Noto Sans CJK JP"/>
              </a:rPr>
              <a:t>極数 p が同じなら</a:t>
            </a:r>
            <a:endParaRPr lang="ja-JP" sz="1800"/>
          </a:p>
          <a:p>
            <a:pPr algn="ctr"/>
            <a:r>
              <a:rPr lang="ja-JP" sz="1800" b="1" dirty="0">
                <a:solidFill>
                  <a:srgbClr val="17365D"/>
                </a:solidFill>
                <a:latin typeface="Noto Sans CJK JP"/>
                <a:ea typeface="Noto Sans CJK JP"/>
              </a:rPr>
              <a:t>同期速度 Ns ∝ 周波数 f</a:t>
            </a:r>
            <a:endParaRPr lang="ja-JP" sz="1800"/>
          </a:p>
        </p:txBody>
      </p:sp>
      <p:sp>
        <p:nvSpPr>
          <p:cNvPr id="12" name="low"/>
          <p:cNvSpPr txBox="1"/>
          <p:nvPr/>
        </p:nvSpPr>
        <p:spPr>
          <a:xfrm>
            <a:off x="4389120" y="1417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666666"/>
                </a:solidFill>
                <a:latin typeface="Noto Sans CJK JP"/>
                <a:ea typeface="Noto Sans CJK JP"/>
              </a:rPr>
              <a:t>低い周波数</a:t>
            </a:r>
            <a:endParaRPr lang="ja-JP" sz="1800"/>
          </a:p>
        </p:txBody>
      </p:sp>
      <p:sp>
        <p:nvSpPr>
          <p:cNvPr id="13" name="high"/>
          <p:cNvSpPr txBox="1"/>
          <p:nvPr/>
        </p:nvSpPr>
        <p:spPr>
          <a:xfrm>
            <a:off x="8229600" y="1417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C0504D"/>
                </a:solidFill>
                <a:latin typeface="Noto Sans CJK JP"/>
                <a:ea typeface="Noto Sans CJK JP"/>
              </a:rPr>
              <a:t>高い周波数</a:t>
            </a:r>
            <a:endParaRPr lang="ja-JP" sz="1800"/>
          </a:p>
        </p:txBody>
      </p:sp>
      <p:sp>
        <p:nvSpPr>
          <p:cNvPr id="26" name="pole0"/>
          <p:cNvSpPr/>
          <p:nvPr/>
        </p:nvSpPr>
        <p:spPr>
          <a:xfrm>
            <a:off x="4526280" y="2423160"/>
            <a:ext cx="594360" cy="548640"/>
          </a:xfrm>
          <a:prstGeom prst="rect">
            <a:avLst/>
          </a:prstGeom>
          <a:solidFill>
            <a:srgbClr val="D9EAD3"/>
          </a:solidFill>
          <a:ln w="12700">
            <a:solidFill>
              <a:srgbClr val="548235"/>
            </a:solidFill>
          </a:ln>
        </p:spPr>
      </p:sp>
      <p:sp>
        <p:nvSpPr>
          <p:cNvPr id="27" name="pole1"/>
          <p:cNvSpPr/>
          <p:nvPr/>
        </p:nvSpPr>
        <p:spPr>
          <a:xfrm>
            <a:off x="5120640" y="2423160"/>
            <a:ext cx="594360" cy="548640"/>
          </a:xfrm>
          <a:prstGeom prst="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</p:sp>
      <p:sp>
        <p:nvSpPr>
          <p:cNvPr id="28" name="pole2"/>
          <p:cNvSpPr/>
          <p:nvPr/>
        </p:nvSpPr>
        <p:spPr>
          <a:xfrm>
            <a:off x="5715000" y="2423160"/>
            <a:ext cx="594360" cy="548640"/>
          </a:xfrm>
          <a:prstGeom prst="rect">
            <a:avLst/>
          </a:prstGeom>
          <a:solidFill>
            <a:srgbClr val="D9EAD3"/>
          </a:solidFill>
          <a:ln w="12700">
            <a:solidFill>
              <a:srgbClr val="548235"/>
            </a:solidFill>
          </a:ln>
        </p:spPr>
      </p:sp>
      <p:sp>
        <p:nvSpPr>
          <p:cNvPr id="29" name="pole3"/>
          <p:cNvSpPr/>
          <p:nvPr/>
        </p:nvSpPr>
        <p:spPr>
          <a:xfrm>
            <a:off x="6309360" y="2423160"/>
            <a:ext cx="594360" cy="548640"/>
          </a:xfrm>
          <a:prstGeom prst="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</p:sp>
      <p:cxnSp>
        <p:nvCxnSpPr>
          <p:cNvPr id="60" name="mv"/>
          <p:cNvCxnSpPr/>
          <p:nvPr/>
        </p:nvCxnSpPr>
        <p:spPr>
          <a:xfrm flipH="0" flipV="0">
            <a:off x="4526280" y="3200400"/>
            <a:ext cx="2377440" cy="1"/>
          </a:xfrm>
          <a:prstGeom prst="line">
            <a:avLst/>
          </a:prstGeom>
          <a:ln w="38100">
            <a:solidFill>
              <a:srgbClr val="7F8C8D"/>
            </a:solidFill>
            <a:tailEnd type="none"/>
            <a:headEnd type="triangle"/>
          </a:ln>
        </p:spPr>
      </p:cxnSp>
      <p:sp>
        <p:nvSpPr>
          <p:cNvPr id="31" name="pole0"/>
          <p:cNvSpPr/>
          <p:nvPr/>
        </p:nvSpPr>
        <p:spPr>
          <a:xfrm>
            <a:off x="8366760" y="2423160"/>
            <a:ext cx="297180" cy="548640"/>
          </a:xfrm>
          <a:prstGeom prst="rect">
            <a:avLst/>
          </a:prstGeom>
          <a:solidFill>
            <a:srgbClr val="D9EAD3"/>
          </a:solidFill>
          <a:ln w="12700">
            <a:solidFill>
              <a:srgbClr val="548235"/>
            </a:solidFill>
          </a:ln>
        </p:spPr>
      </p:sp>
      <p:sp>
        <p:nvSpPr>
          <p:cNvPr id="32" name="pole1"/>
          <p:cNvSpPr/>
          <p:nvPr/>
        </p:nvSpPr>
        <p:spPr>
          <a:xfrm>
            <a:off x="8663940" y="2423160"/>
            <a:ext cx="297180" cy="548640"/>
          </a:xfrm>
          <a:prstGeom prst="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</p:sp>
      <p:sp>
        <p:nvSpPr>
          <p:cNvPr id="33" name="pole2"/>
          <p:cNvSpPr/>
          <p:nvPr/>
        </p:nvSpPr>
        <p:spPr>
          <a:xfrm>
            <a:off x="8961120" y="2423160"/>
            <a:ext cx="297180" cy="548640"/>
          </a:xfrm>
          <a:prstGeom prst="rect">
            <a:avLst/>
          </a:prstGeom>
          <a:solidFill>
            <a:srgbClr val="D9EAD3"/>
          </a:solidFill>
          <a:ln w="12700">
            <a:solidFill>
              <a:srgbClr val="548235"/>
            </a:solidFill>
          </a:ln>
        </p:spPr>
      </p:sp>
      <p:sp>
        <p:nvSpPr>
          <p:cNvPr id="34" name="pole3"/>
          <p:cNvSpPr/>
          <p:nvPr/>
        </p:nvSpPr>
        <p:spPr>
          <a:xfrm>
            <a:off x="9258300" y="2423160"/>
            <a:ext cx="297180" cy="548640"/>
          </a:xfrm>
          <a:prstGeom prst="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</p:sp>
      <p:sp>
        <p:nvSpPr>
          <p:cNvPr id="35" name="pole4"/>
          <p:cNvSpPr/>
          <p:nvPr/>
        </p:nvSpPr>
        <p:spPr>
          <a:xfrm>
            <a:off x="9555480" y="2423160"/>
            <a:ext cx="297180" cy="548640"/>
          </a:xfrm>
          <a:prstGeom prst="rect">
            <a:avLst/>
          </a:prstGeom>
          <a:solidFill>
            <a:srgbClr val="D9EAD3"/>
          </a:solidFill>
          <a:ln w="12700">
            <a:solidFill>
              <a:srgbClr val="548235"/>
            </a:solidFill>
          </a:ln>
        </p:spPr>
      </p:sp>
      <p:sp>
        <p:nvSpPr>
          <p:cNvPr id="36" name="pole5"/>
          <p:cNvSpPr/>
          <p:nvPr/>
        </p:nvSpPr>
        <p:spPr>
          <a:xfrm>
            <a:off x="9852660" y="2423160"/>
            <a:ext cx="297180" cy="548640"/>
          </a:xfrm>
          <a:prstGeom prst="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</p:sp>
      <p:sp>
        <p:nvSpPr>
          <p:cNvPr id="37" name="pole6"/>
          <p:cNvSpPr/>
          <p:nvPr/>
        </p:nvSpPr>
        <p:spPr>
          <a:xfrm>
            <a:off x="10149840" y="2423160"/>
            <a:ext cx="297180" cy="548640"/>
          </a:xfrm>
          <a:prstGeom prst="rect">
            <a:avLst/>
          </a:prstGeom>
          <a:solidFill>
            <a:srgbClr val="D9EAD3"/>
          </a:solidFill>
          <a:ln w="12700">
            <a:solidFill>
              <a:srgbClr val="548235"/>
            </a:solidFill>
          </a:ln>
        </p:spPr>
      </p:sp>
      <p:sp>
        <p:nvSpPr>
          <p:cNvPr id="38" name="pole7"/>
          <p:cNvSpPr/>
          <p:nvPr/>
        </p:nvSpPr>
        <p:spPr>
          <a:xfrm>
            <a:off x="10447020" y="2423160"/>
            <a:ext cx="297180" cy="548640"/>
          </a:xfrm>
          <a:prstGeom prst="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</p:sp>
      <p:cxnSp>
        <p:nvCxnSpPr>
          <p:cNvPr id="69" name="mv"/>
          <p:cNvCxnSpPr/>
          <p:nvPr/>
        </p:nvCxnSpPr>
        <p:spPr>
          <a:xfrm flipH="0" flipV="0">
            <a:off x="8366760" y="3200400"/>
            <a:ext cx="2377440" cy="1"/>
          </a:xfrm>
          <a:prstGeom prst="line">
            <a:avLst/>
          </a:prstGeom>
          <a:ln w="38100">
            <a:solidFill>
              <a:srgbClr val="C0504D"/>
            </a:solidFill>
            <a:tailEnd type="none"/>
            <a:headEnd type="triangle"/>
          </a:ln>
        </p:spPr>
      </p:cxnSp>
      <p:sp>
        <p:nvSpPr>
          <p:cNvPr id="70" name="note"/>
          <p:cNvSpPr txBox="1"/>
          <p:nvPr/>
        </p:nvSpPr>
        <p:spPr>
          <a:xfrm>
            <a:off x="4343400" y="3657600"/>
            <a:ext cx="6766560" cy="1143000"/>
          </a:xfrm>
          <a:prstGeom prst="rect">
            <a:avLst/>
          </a:prstGeom>
          <a:solidFill>
            <a:srgbClr val="F7F9FB"/>
          </a:solidFill>
          <a:ln w="12700">
            <a:solidFill>
              <a:srgbClr val="A6A6A6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700" b="0" dirty="0">
                <a:solidFill>
                  <a:srgbClr val="222222"/>
                </a:solidFill>
                <a:latin typeface="Noto Sans CJK JP"/>
                <a:ea typeface="Noto Sans CJK JP"/>
              </a:rPr>
              <a:t>リニア機では回転磁界を直線へ展開して「移動磁界」にする。</a:t>
            </a:r>
            <a:endParaRPr lang="ja-JP" sz="1700"/>
          </a:p>
          <a:p>
            <a:pPr algn="l"/>
            <a:r>
              <a:rPr lang="ja-JP" sz="1700" b="0" dirty="0">
                <a:solidFill>
                  <a:srgbClr val="222222"/>
                </a:solidFill>
                <a:latin typeface="Noto Sans CJK JP"/>
                <a:ea typeface="Noto Sans CJK JP"/>
              </a:rPr>
              <a:t>空間配置が同じなら、切替周波数が高いほど磁界は速く進む。</a:t>
            </a:r>
            <a:endParaRPr lang="ja-JP" sz="1700"/>
          </a:p>
        </p:txBody>
      </p:sp>
      <p:sp>
        <p:nvSpPr>
          <p:cNvPr id="71" name="warning"/>
          <p:cNvSpPr txBox="1"/>
          <p:nvPr/>
        </p:nvSpPr>
        <p:spPr>
          <a:xfrm>
            <a:off x="914400" y="5166360"/>
            <a:ext cx="10241280" cy="6858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600" b="1" dirty="0">
                <a:solidFill>
                  <a:srgbClr val="7F6000"/>
                </a:solidFill>
                <a:latin typeface="Noto Sans CJK JP"/>
                <a:ea typeface="Noto Sans CJK JP"/>
              </a:rPr>
              <a:t>未確認のL0系極ピッチから「500 km/h時は○Hz」と推定しない。</a:t>
            </a:r>
            <a:endParaRPr lang="ja-JP" sz="1600"/>
          </a:p>
        </p:txBody>
      </p:sp>
      <p:sp>
        <p:nvSpPr>
          <p:cNvPr id="99" name="Footer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r"/>
            <a:r>
              <a:rPr lang="ja-JP" sz="800" b="0" dirty="0">
                <a:solidFill>
                  <a:srgbClr val="777777"/>
                </a:solidFill>
                <a:latin typeface="Noto Sans CJK JP"/>
                <a:ea typeface="Noto Sans CJK JP"/>
              </a:rPr>
              <a:t>電験×新幹線 / Topic 23</a:t>
            </a:r>
            <a:endParaRPr lang="ja-JP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可変周波数交流をどう作るか</a:t>
            </a:r>
            <a:endParaRPr lang="ja-JP" sz="2800"/>
          </a:p>
        </p:txBody>
      </p:sp>
      <p:cxnSp>
        <p:nvCxnSpPr>
          <p:cNvPr id="3" name="rule"/>
          <p:cNvCxnSpPr/>
          <p:nvPr/>
        </p:nvCxnSpPr>
        <p:spPr>
          <a:xfrm flipH="0" flipV="0">
            <a:off x="502920" y="932688"/>
            <a:ext cx="11155680" cy="1"/>
          </a:xfrm>
          <a:prstGeom prst="line">
            <a:avLst/>
          </a:prstGeom>
          <a:ln w="25400">
            <a:solidFill>
              <a:srgbClr val="4F81BD"/>
            </a:solidFill>
          </a:ln>
        </p:spPr>
      </p:cxnSp>
      <p:sp>
        <p:nvSpPr>
          <p:cNvPr id="10" name="box0"/>
          <p:cNvSpPr txBox="1"/>
          <p:nvPr/>
        </p:nvSpPr>
        <p:spPr>
          <a:xfrm>
            <a:off x="640080" y="1554480"/>
            <a:ext cx="1645920" cy="777240"/>
          </a:xfrm>
          <a:prstGeom prst="rect">
            <a:avLst/>
          </a:prstGeom>
          <a:solidFill>
            <a:srgbClr val="D9EAF7"/>
          </a:solidFill>
          <a:ln w="12700">
            <a:solidFill>
              <a:srgbClr val="7F8C8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交流</a:t>
            </a:r>
            <a:endParaRPr lang="ja-JP" sz="1700"/>
          </a:p>
        </p:txBody>
      </p:sp>
      <p:cxnSp>
        <p:nvCxnSpPr>
          <p:cNvPr id="30" name="arr"/>
          <p:cNvCxnSpPr/>
          <p:nvPr/>
        </p:nvCxnSpPr>
        <p:spPr>
          <a:xfrm flipH="0" flipV="0">
            <a:off x="2331720" y="1938528"/>
            <a:ext cx="320040" cy="1"/>
          </a:xfrm>
          <a:prstGeom prst="line">
            <a:avLst/>
          </a:prstGeom>
          <a:ln w="25400">
            <a:solidFill>
              <a:srgbClr val="4F81BD"/>
            </a:solidFill>
            <a:tailEnd type="none"/>
            <a:headEnd type="triangle"/>
          </a:ln>
        </p:spPr>
      </p:cxnSp>
      <p:sp>
        <p:nvSpPr>
          <p:cNvPr id="11" name="box1"/>
          <p:cNvSpPr txBox="1"/>
          <p:nvPr/>
        </p:nvSpPr>
        <p:spPr>
          <a:xfrm>
            <a:off x="2743200" y="1554480"/>
            <a:ext cx="1645920" cy="777240"/>
          </a:xfrm>
          <a:prstGeom prst="rect">
            <a:avLst/>
          </a:prstGeom>
          <a:solidFill>
            <a:srgbClr val="EAF2F8"/>
          </a:solidFill>
          <a:ln w="12700">
            <a:solidFill>
              <a:srgbClr val="7F8C8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整流器</a:t>
            </a:r>
            <a:endParaRPr lang="ja-JP" sz="1700"/>
          </a:p>
        </p:txBody>
      </p:sp>
      <p:cxnSp>
        <p:nvCxnSpPr>
          <p:cNvPr id="31" name="arr"/>
          <p:cNvCxnSpPr/>
          <p:nvPr/>
        </p:nvCxnSpPr>
        <p:spPr>
          <a:xfrm flipH="0" flipV="0">
            <a:off x="4434840" y="1938528"/>
            <a:ext cx="274320" cy="1"/>
          </a:xfrm>
          <a:prstGeom prst="line">
            <a:avLst/>
          </a:prstGeom>
          <a:ln w="25400">
            <a:solidFill>
              <a:srgbClr val="4F81BD"/>
            </a:solidFill>
            <a:tailEnd type="none"/>
            <a:headEnd type="triangle"/>
          </a:ln>
        </p:spPr>
      </p:cxnSp>
      <p:sp>
        <p:nvSpPr>
          <p:cNvPr id="12" name="box2"/>
          <p:cNvSpPr txBox="1"/>
          <p:nvPr/>
        </p:nvSpPr>
        <p:spPr>
          <a:xfrm>
            <a:off x="4800600" y="1554480"/>
            <a:ext cx="164592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7F8C8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直流</a:t>
            </a:r>
            <a:endParaRPr lang="ja-JP" sz="1700"/>
          </a:p>
        </p:txBody>
      </p:sp>
      <p:cxnSp>
        <p:nvCxnSpPr>
          <p:cNvPr id="32" name="arr"/>
          <p:cNvCxnSpPr/>
          <p:nvPr/>
        </p:nvCxnSpPr>
        <p:spPr>
          <a:xfrm flipH="0" flipV="0">
            <a:off x="6492240" y="1938528"/>
            <a:ext cx="228600" cy="1"/>
          </a:xfrm>
          <a:prstGeom prst="line">
            <a:avLst/>
          </a:prstGeom>
          <a:ln w="25400">
            <a:solidFill>
              <a:srgbClr val="4F81BD"/>
            </a:solidFill>
            <a:tailEnd type="none"/>
            <a:headEnd type="triangle"/>
          </a:ln>
        </p:spPr>
      </p:cxnSp>
      <p:sp>
        <p:nvSpPr>
          <p:cNvPr id="13" name="box3"/>
          <p:cNvSpPr txBox="1"/>
          <p:nvPr/>
        </p:nvSpPr>
        <p:spPr>
          <a:xfrm>
            <a:off x="6812280" y="1554480"/>
            <a:ext cx="1645920" cy="777240"/>
          </a:xfrm>
          <a:prstGeom prst="rect">
            <a:avLst/>
          </a:prstGeom>
          <a:solidFill>
            <a:srgbClr val="FCE4D6"/>
          </a:solidFill>
          <a:ln w="12700">
            <a:solidFill>
              <a:srgbClr val="7F8C8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インバータ</a:t>
            </a:r>
            <a:endParaRPr lang="ja-JP" sz="1700"/>
          </a:p>
        </p:txBody>
      </p:sp>
      <p:cxnSp>
        <p:nvCxnSpPr>
          <p:cNvPr id="33" name="arr"/>
          <p:cNvCxnSpPr/>
          <p:nvPr/>
        </p:nvCxnSpPr>
        <p:spPr>
          <a:xfrm flipH="0" flipV="0">
            <a:off x="8503920" y="1938528"/>
            <a:ext cx="320040" cy="1"/>
          </a:xfrm>
          <a:prstGeom prst="line">
            <a:avLst/>
          </a:prstGeom>
          <a:ln w="25400">
            <a:solidFill>
              <a:srgbClr val="4F81BD"/>
            </a:solidFill>
            <a:tailEnd type="none"/>
            <a:headEnd type="triangle"/>
          </a:ln>
        </p:spPr>
      </p:cxnSp>
      <p:sp>
        <p:nvSpPr>
          <p:cNvPr id="14" name="box4"/>
          <p:cNvSpPr txBox="1"/>
          <p:nvPr/>
        </p:nvSpPr>
        <p:spPr>
          <a:xfrm>
            <a:off x="8915400" y="1554480"/>
            <a:ext cx="2286000" cy="777240"/>
          </a:xfrm>
          <a:prstGeom prst="rect">
            <a:avLst/>
          </a:prstGeom>
          <a:solidFill>
            <a:srgbClr val="E2F0D9"/>
          </a:solidFill>
          <a:ln w="12700">
            <a:solidFill>
              <a:srgbClr val="7F8C8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可変周波数交流</a:t>
            </a:r>
            <a:endParaRPr lang="ja-JP" sz="1700"/>
          </a:p>
        </p:txBody>
      </p:sp>
      <p:sp>
        <p:nvSpPr>
          <p:cNvPr id="40" name="vf"/>
          <p:cNvSpPr txBox="1"/>
          <p:nvPr/>
        </p:nvSpPr>
        <p:spPr>
          <a:xfrm>
            <a:off x="822960" y="2788920"/>
            <a:ext cx="4572000" cy="137160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400" b="1" dirty="0">
                <a:solidFill>
                  <a:srgbClr val="17365D"/>
                </a:solidFill>
                <a:latin typeface="Noto Sans CJK JP"/>
                <a:ea typeface="Noto Sans CJK JP"/>
              </a:rPr>
              <a:t>V ∝ fΦ</a:t>
            </a:r>
            <a:endParaRPr lang="ja-JP" sz="2400"/>
          </a:p>
          <a:p>
            <a:pPr algn="ctr"/>
            <a:r>
              <a:rPr lang="ja-JP" sz="2400" b="1" dirty="0">
                <a:solidFill>
                  <a:srgbClr val="17365D"/>
                </a:solidFill>
                <a:latin typeface="Noto Sans CJK JP"/>
                <a:ea typeface="Noto Sans CJK JP"/>
              </a:rPr>
              <a:t>→ Φ ∝ V/f</a:t>
            </a:r>
            <a:endParaRPr lang="ja-JP" sz="2400"/>
          </a:p>
          <a:p>
            <a:pPr algn="ctr"/>
            <a:r>
              <a:rPr lang="ja-JP" sz="2400" b="1" dirty="0">
                <a:solidFill>
                  <a:srgbClr val="17365D"/>
                </a:solidFill>
                <a:latin typeface="Noto Sans CJK JP"/>
                <a:ea typeface="Noto Sans CJK JP"/>
              </a:rPr>
              <a:t>→ V/f ≈ 一定</a:t>
            </a:r>
            <a:endParaRPr lang="ja-JP" sz="2400"/>
          </a:p>
        </p:txBody>
      </p:sp>
      <p:sp>
        <p:nvSpPr>
          <p:cNvPr id="41" name="reason"/>
          <p:cNvSpPr txBox="1"/>
          <p:nvPr/>
        </p:nvSpPr>
        <p:spPr>
          <a:xfrm>
            <a:off x="5715000" y="2788920"/>
            <a:ext cx="5212080" cy="1371600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900" b="1" dirty="0">
                <a:solidFill>
                  <a:srgbClr val="843C0C"/>
                </a:solidFill>
                <a:latin typeface="Noto Sans CJK JP"/>
                <a:ea typeface="Noto Sans CJK JP"/>
              </a:rPr>
              <a:t>周波数だけを下げると V/f ↑</a:t>
            </a:r>
            <a:endParaRPr lang="ja-JP" sz="1900"/>
          </a:p>
          <a:p>
            <a:pPr algn="ctr"/>
            <a:r>
              <a:rPr lang="ja-JP" sz="1900" b="1" dirty="0">
                <a:solidFill>
                  <a:srgbClr val="843C0C"/>
                </a:solidFill>
                <a:latin typeface="Noto Sans CJK JP"/>
                <a:ea typeface="Noto Sans CJK JP"/>
              </a:rPr>
              <a:t>→ 磁束過大 → 磁気飽和しやすい</a:t>
            </a:r>
            <a:endParaRPr lang="ja-JP" sz="1900"/>
          </a:p>
        </p:txBody>
      </p:sp>
      <p:sp>
        <p:nvSpPr>
          <p:cNvPr id="42" name="ex"/>
          <p:cNvSpPr txBox="1"/>
          <p:nvPr/>
        </p:nvSpPr>
        <p:spPr>
          <a:xfrm>
            <a:off x="1234440" y="4709160"/>
            <a:ext cx="9601200" cy="77724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000" b="1" dirty="0">
                <a:solidFill>
                  <a:srgbClr val="385723"/>
                </a:solidFill>
                <a:latin typeface="Noto Sans CJK JP"/>
                <a:ea typeface="Noto Sans CJK JP"/>
              </a:rPr>
              <a:t>例：50 Hz・200 V → 40 Hzなら、V/f一定で 160 V</a:t>
            </a:r>
            <a:endParaRPr lang="ja-JP" sz="2000"/>
          </a:p>
        </p:txBody>
      </p:sp>
      <p:sp>
        <p:nvSpPr>
          <p:cNvPr id="99" name="Footer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r"/>
            <a:r>
              <a:rPr lang="ja-JP" sz="800" b="0" dirty="0">
                <a:solidFill>
                  <a:srgbClr val="777777"/>
                </a:solidFill>
                <a:latin typeface="Noto Sans CJK JP"/>
                <a:ea typeface="Noto Sans CJK JP"/>
              </a:rPr>
              <a:t>電験×新幹線 / Topic 23</a:t>
            </a:r>
            <a:endParaRPr lang="ja-JP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本試験標準例題：三相電力からトルクへ</a:t>
            </a:r>
            <a:endParaRPr lang="ja-JP" sz="2800"/>
          </a:p>
        </p:txBody>
      </p:sp>
      <p:cxnSp>
        <p:nvCxnSpPr>
          <p:cNvPr id="3" name="rule"/>
          <p:cNvCxnSpPr/>
          <p:nvPr/>
        </p:nvCxnSpPr>
        <p:spPr>
          <a:xfrm flipH="0" flipV="0">
            <a:off x="502920" y="932688"/>
            <a:ext cx="11155680" cy="1"/>
          </a:xfrm>
          <a:prstGeom prst="line">
            <a:avLst/>
          </a:prstGeom>
          <a:ln w="25400">
            <a:solidFill>
              <a:srgbClr val="4F81BD"/>
            </a:solidFill>
          </a:ln>
        </p:spPr>
      </p:cxnSp>
      <p:sp>
        <p:nvSpPr>
          <p:cNvPr id="10" name="q"/>
          <p:cNvSpPr txBox="1"/>
          <p:nvPr/>
        </p:nvSpPr>
        <p:spPr>
          <a:xfrm>
            <a:off x="685800" y="1234440"/>
            <a:ext cx="1078992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222222"/>
                </a:solidFill>
                <a:latin typeface="Noto Sans CJK JP"/>
                <a:ea typeface="Noto Sans CJK JP"/>
              </a:rPr>
              <a:t>4極・60 Hz・400 V・40 A・力率0.80・効率90% の同期電動機</a:t>
            </a:r>
            <a:endParaRPr lang="ja-JP" sz="1800"/>
          </a:p>
        </p:txBody>
      </p:sp>
      <p:sp>
        <p:nvSpPr>
          <p:cNvPr id="20" name="s0"/>
          <p:cNvSpPr txBox="1"/>
          <p:nvPr/>
        </p:nvSpPr>
        <p:spPr>
          <a:xfrm>
            <a:off x="822960" y="2148840"/>
            <a:ext cx="2148840" cy="530352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① 同期速度</a:t>
            </a:r>
            <a:endParaRPr lang="ja-JP" sz="1700"/>
          </a:p>
        </p:txBody>
      </p:sp>
      <p:sp>
        <p:nvSpPr>
          <p:cNvPr id="21" name="v0"/>
          <p:cNvSpPr txBox="1"/>
          <p:nvPr/>
        </p:nvSpPr>
        <p:spPr>
          <a:xfrm>
            <a:off x="3154680" y="2148840"/>
            <a:ext cx="7635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0" dirty="0">
                <a:solidFill>
                  <a:srgbClr val="222222"/>
                </a:solidFill>
                <a:latin typeface="Noto Sans CJK JP"/>
                <a:ea typeface="Noto Sans CJK JP"/>
              </a:rPr>
              <a:t>Ns = 120×60/4 = 1800 min⁻¹</a:t>
            </a:r>
            <a:endParaRPr lang="ja-JP" sz="1800"/>
          </a:p>
        </p:txBody>
      </p:sp>
      <p:sp>
        <p:nvSpPr>
          <p:cNvPr id="22" name="s1"/>
          <p:cNvSpPr txBox="1"/>
          <p:nvPr/>
        </p:nvSpPr>
        <p:spPr>
          <a:xfrm>
            <a:off x="822960" y="2898648"/>
            <a:ext cx="2148840" cy="530352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② 角速度</a:t>
            </a:r>
            <a:endParaRPr lang="ja-JP" sz="1700"/>
          </a:p>
        </p:txBody>
      </p:sp>
      <p:sp>
        <p:nvSpPr>
          <p:cNvPr id="23" name="v1"/>
          <p:cNvSpPr txBox="1"/>
          <p:nvPr/>
        </p:nvSpPr>
        <p:spPr>
          <a:xfrm>
            <a:off x="3154680" y="2898648"/>
            <a:ext cx="7635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0" dirty="0">
                <a:solidFill>
                  <a:srgbClr val="222222"/>
                </a:solidFill>
                <a:latin typeface="Noto Sans CJK JP"/>
                <a:ea typeface="Noto Sans CJK JP"/>
              </a:rPr>
              <a:t>ω = 2π×1800/60 ≈ 188.5 rad/s</a:t>
            </a:r>
            <a:endParaRPr lang="ja-JP" sz="1800"/>
          </a:p>
        </p:txBody>
      </p:sp>
      <p:sp>
        <p:nvSpPr>
          <p:cNvPr id="24" name="s2"/>
          <p:cNvSpPr txBox="1"/>
          <p:nvPr/>
        </p:nvSpPr>
        <p:spPr>
          <a:xfrm>
            <a:off x="822960" y="3648456"/>
            <a:ext cx="2148840" cy="530352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③ 入力有効電力</a:t>
            </a:r>
            <a:endParaRPr lang="ja-JP" sz="1700"/>
          </a:p>
        </p:txBody>
      </p:sp>
      <p:sp>
        <p:nvSpPr>
          <p:cNvPr id="25" name="v2"/>
          <p:cNvSpPr txBox="1"/>
          <p:nvPr/>
        </p:nvSpPr>
        <p:spPr>
          <a:xfrm>
            <a:off x="3154680" y="3648456"/>
            <a:ext cx="7635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0" dirty="0">
                <a:solidFill>
                  <a:srgbClr val="222222"/>
                </a:solidFill>
                <a:latin typeface="Noto Sans CJK JP"/>
                <a:ea typeface="Noto Sans CJK JP"/>
              </a:rPr>
              <a:t>Pin = √3×400×40×0.80 ≈ 22.17 kW</a:t>
            </a:r>
            <a:endParaRPr lang="ja-JP" sz="1800"/>
          </a:p>
        </p:txBody>
      </p:sp>
      <p:sp>
        <p:nvSpPr>
          <p:cNvPr id="26" name="s3"/>
          <p:cNvSpPr txBox="1"/>
          <p:nvPr/>
        </p:nvSpPr>
        <p:spPr>
          <a:xfrm>
            <a:off x="822960" y="4398264"/>
            <a:ext cx="2148840" cy="530352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④ 軸出力</a:t>
            </a:r>
            <a:endParaRPr lang="ja-JP" sz="1700"/>
          </a:p>
        </p:txBody>
      </p:sp>
      <p:sp>
        <p:nvSpPr>
          <p:cNvPr id="27" name="v3"/>
          <p:cNvSpPr txBox="1"/>
          <p:nvPr/>
        </p:nvSpPr>
        <p:spPr>
          <a:xfrm>
            <a:off x="3154680" y="4398264"/>
            <a:ext cx="7635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0" dirty="0">
                <a:solidFill>
                  <a:srgbClr val="222222"/>
                </a:solidFill>
                <a:latin typeface="Noto Sans CJK JP"/>
                <a:ea typeface="Noto Sans CJK JP"/>
              </a:rPr>
              <a:t>Pout = 0.90×22.17 ≈ 19.95 kW</a:t>
            </a:r>
            <a:endParaRPr lang="ja-JP" sz="1800"/>
          </a:p>
        </p:txBody>
      </p:sp>
      <p:sp>
        <p:nvSpPr>
          <p:cNvPr id="28" name="s4"/>
          <p:cNvSpPr txBox="1"/>
          <p:nvPr/>
        </p:nvSpPr>
        <p:spPr>
          <a:xfrm>
            <a:off x="822960" y="5148072"/>
            <a:ext cx="2148840" cy="530352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17365D"/>
                </a:solidFill>
                <a:latin typeface="Noto Sans CJK JP"/>
                <a:ea typeface="Noto Sans CJK JP"/>
              </a:rPr>
              <a:t>⑤ トルク</a:t>
            </a:r>
            <a:endParaRPr lang="ja-JP" sz="1700"/>
          </a:p>
        </p:txBody>
      </p:sp>
      <p:sp>
        <p:nvSpPr>
          <p:cNvPr id="29" name="v4"/>
          <p:cNvSpPr txBox="1"/>
          <p:nvPr/>
        </p:nvSpPr>
        <p:spPr>
          <a:xfrm>
            <a:off x="3154680" y="5148072"/>
            <a:ext cx="7635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0" dirty="0">
                <a:solidFill>
                  <a:srgbClr val="222222"/>
                </a:solidFill>
                <a:latin typeface="Noto Sans CJK JP"/>
                <a:ea typeface="Noto Sans CJK JP"/>
              </a:rPr>
              <a:t>T = 19950/188.5 ≈ 105.9 N·m</a:t>
            </a:r>
            <a:endParaRPr lang="ja-JP" sz="1800"/>
          </a:p>
        </p:txBody>
      </p:sp>
      <p:sp>
        <p:nvSpPr>
          <p:cNvPr id="40" name="check"/>
          <p:cNvSpPr txBox="1"/>
          <p:nvPr/>
        </p:nvSpPr>
        <p:spPr>
          <a:xfrm>
            <a:off x="1051560" y="598932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500" b="1" dirty="0">
                <a:solidFill>
                  <a:srgbClr val="C0504D"/>
                </a:solidFill>
                <a:latin typeface="Noto Sans CJK JP"/>
                <a:ea typeface="Noto Sans CJK JP"/>
              </a:rPr>
              <a:t>注意：min⁻¹ をそのまま P=ωT に入れない。効率も忘れない。</a:t>
            </a:r>
            <a:endParaRPr lang="ja-JP" sz="1500"/>
          </a:p>
        </p:txBody>
      </p:sp>
      <p:sp>
        <p:nvSpPr>
          <p:cNvPr id="99" name="Footer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r"/>
            <a:r>
              <a:rPr lang="ja-JP" sz="800" b="0" dirty="0">
                <a:solidFill>
                  <a:srgbClr val="777777"/>
                </a:solidFill>
                <a:latin typeface="Noto Sans CJK JP"/>
                <a:ea typeface="Noto Sans CJK JP"/>
              </a:rPr>
              <a:t>電験×新幹線 / Topic 23</a:t>
            </a:r>
            <a:endParaRPr lang="ja-JP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L0系への接続：確認済み事実だけ使う</a:t>
            </a:r>
            <a:endParaRPr lang="ja-JP" sz="2800"/>
          </a:p>
        </p:txBody>
      </p:sp>
      <p:cxnSp>
        <p:nvCxnSpPr>
          <p:cNvPr id="3" name="rule"/>
          <p:cNvCxnSpPr/>
          <p:nvPr/>
        </p:nvCxnSpPr>
        <p:spPr>
          <a:xfrm flipH="0" flipV="0">
            <a:off x="502920" y="932688"/>
            <a:ext cx="11155680" cy="1"/>
          </a:xfrm>
          <a:prstGeom prst="line">
            <a:avLst/>
          </a:prstGeom>
          <a:ln w="25400">
            <a:solidFill>
              <a:srgbClr val="4F81BD"/>
            </a:solidFill>
          </a:ln>
        </p:spPr>
      </p:cxnSp>
      <p:sp>
        <p:nvSpPr>
          <p:cNvPr id="10" name="confirmed_h"/>
          <p:cNvSpPr txBox="1"/>
          <p:nvPr/>
        </p:nvSpPr>
        <p:spPr>
          <a:xfrm>
            <a:off x="731520" y="1325880"/>
            <a:ext cx="5120640" cy="50292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000" b="1" dirty="0">
                <a:solidFill>
                  <a:srgbClr val="385723"/>
                </a:solidFill>
                <a:latin typeface="Noto Sans CJK JP"/>
                <a:ea typeface="Noto Sans CJK JP"/>
              </a:rPr>
              <a:t>一次資料で確認済み</a:t>
            </a:r>
            <a:endParaRPr lang="ja-JP" sz="2000"/>
          </a:p>
        </p:txBody>
      </p:sp>
      <p:sp>
        <p:nvSpPr>
          <p:cNvPr id="11" name="confirmed"/>
          <p:cNvSpPr txBox="1"/>
          <p:nvPr/>
        </p:nvSpPr>
        <p:spPr>
          <a:xfrm>
            <a:off x="731520" y="1920240"/>
            <a:ext cx="5120640" cy="2697480"/>
          </a:xfrm>
          <a:prstGeom prst="rect">
            <a:avLst/>
          </a:prstGeom>
          <a:solidFill>
            <a:srgbClr val="F7FBF4"/>
          </a:solidFill>
          <a:ln w="12700">
            <a:solidFill>
              <a:srgbClr val="70AD47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700" b="0" dirty="0">
                <a:solidFill>
                  <a:srgbClr val="385723"/>
                </a:solidFill>
                <a:latin typeface="Noto Sans CJK JP"/>
                <a:ea typeface="Noto Sans CJK JP"/>
              </a:rPr>
              <a:t>・時速500 kmで走行</a:t>
            </a:r>
            <a:endParaRPr lang="ja-JP" sz="1700"/>
          </a:p>
          <a:p>
            <a:pPr algn="l"/>
            <a:r>
              <a:rPr lang="ja-JP" sz="1700" b="0" dirty="0">
                <a:solidFill>
                  <a:srgbClr val="385723"/>
                </a:solidFill>
                <a:latin typeface="Noto Sans CJK JP"/>
                <a:ea typeface="Noto Sans CJK JP"/>
              </a:rPr>
              <a:t>・車上超電導磁石はN/Sが交互</a:t>
            </a:r>
            <a:endParaRPr lang="ja-JP" sz="1700"/>
          </a:p>
          <a:p>
            <a:pPr algn="l"/>
            <a:r>
              <a:rPr lang="ja-JP" sz="1700" b="0" dirty="0">
                <a:solidFill>
                  <a:srgbClr val="385723"/>
                </a:solidFill>
                <a:latin typeface="Noto Sans CJK JP"/>
                <a:ea typeface="Noto Sans CJK JP"/>
              </a:rPr>
              <a:t>・推進コイルのN/Sを電気的に切替</a:t>
            </a:r>
            <a:endParaRPr lang="ja-JP" sz="1700"/>
          </a:p>
          <a:p>
            <a:pPr algn="l"/>
            <a:r>
              <a:rPr lang="ja-JP" sz="1700" b="0" dirty="0">
                <a:solidFill>
                  <a:srgbClr val="385723"/>
                </a:solidFill>
                <a:latin typeface="Noto Sans CJK JP"/>
                <a:ea typeface="Noto Sans CJK JP"/>
              </a:rPr>
              <a:t>・電流周波数を変え、切替速度と車両速度を調整</a:t>
            </a:r>
            <a:endParaRPr lang="ja-JP" sz="1700"/>
          </a:p>
        </p:txBody>
      </p:sp>
      <p:sp>
        <p:nvSpPr>
          <p:cNvPr id="12" name="unknown_h"/>
          <p:cNvSpPr txBox="1"/>
          <p:nvPr/>
        </p:nvSpPr>
        <p:spPr>
          <a:xfrm>
            <a:off x="6355080" y="1325880"/>
            <a:ext cx="512064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2000" b="1" dirty="0">
                <a:solidFill>
                  <a:srgbClr val="7F6000"/>
                </a:solidFill>
                <a:latin typeface="Noto Sans CJK JP"/>
                <a:ea typeface="Noto Sans CJK JP"/>
              </a:rPr>
              <a:t>未確認なので数値化しない</a:t>
            </a:r>
            <a:endParaRPr lang="ja-JP" sz="2000"/>
          </a:p>
        </p:txBody>
      </p:sp>
      <p:sp>
        <p:nvSpPr>
          <p:cNvPr id="13" name="unknown"/>
          <p:cNvSpPr txBox="1"/>
          <p:nvPr/>
        </p:nvSpPr>
        <p:spPr>
          <a:xfrm>
            <a:off x="6355080" y="1920240"/>
            <a:ext cx="5120640" cy="2697480"/>
          </a:xfrm>
          <a:prstGeom prst="rect">
            <a:avLst/>
          </a:prstGeom>
          <a:solidFill>
            <a:srgbClr val="FFF9E6"/>
          </a:solidFill>
          <a:ln w="12700">
            <a:solidFill>
              <a:srgbClr val="BF9000"/>
            </a:solidFill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1800" b="0" dirty="0">
                <a:solidFill>
                  <a:srgbClr val="7F6000"/>
                </a:solidFill>
                <a:latin typeface="Noto Sans CJK JP"/>
                <a:ea typeface="Noto Sans CJK JP"/>
              </a:rPr>
              <a:t>・実機の極ピッチ</a:t>
            </a:r>
            <a:endParaRPr lang="ja-JP" sz="1800"/>
          </a:p>
          <a:p>
            <a:pPr algn="l"/>
            <a:r>
              <a:rPr lang="ja-JP" sz="1800" b="0" dirty="0">
                <a:solidFill>
                  <a:srgbClr val="7F6000"/>
                </a:solidFill>
                <a:latin typeface="Noto Sans CJK JP"/>
                <a:ea typeface="Noto Sans CJK JP"/>
              </a:rPr>
              <a:t>・500 km/h時の実運転周波数</a:t>
            </a:r>
            <a:endParaRPr lang="ja-JP" sz="1800"/>
          </a:p>
          <a:p>
            <a:pPr algn="l"/>
            <a:r>
              <a:rPr lang="ja-JP" sz="1800" b="0" dirty="0">
                <a:solidFill>
                  <a:srgbClr val="7F6000"/>
                </a:solidFill>
                <a:latin typeface="Noto Sans CJK JP"/>
                <a:ea typeface="Noto Sans CJK JP"/>
              </a:rPr>
              <a:t/>
            </a:r>
            <a:endParaRPr lang="ja-JP" sz="1800"/>
          </a:p>
          <a:p>
            <a:pPr algn="l"/>
            <a:r>
              <a:rPr lang="ja-JP" sz="1800" b="0" dirty="0">
                <a:solidFill>
                  <a:srgbClr val="7F6000"/>
                </a:solidFill>
                <a:latin typeface="Noto Sans CJK JP"/>
                <a:ea typeface="Noto Sans CJK JP"/>
              </a:rPr>
              <a:t>推定値を「実車値」として扱わない。</a:t>
            </a:r>
            <a:endParaRPr lang="ja-JP" sz="1800"/>
          </a:p>
        </p:txBody>
      </p:sp>
      <p:sp>
        <p:nvSpPr>
          <p:cNvPr id="14" name="source"/>
          <p:cNvSpPr txBox="1"/>
          <p:nvPr/>
        </p:nvSpPr>
        <p:spPr>
          <a:xfrm>
            <a:off x="914400" y="5074920"/>
            <a:ext cx="1024128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300" b="0" dirty="0">
                <a:solidFill>
                  <a:srgbClr val="555555"/>
                </a:solidFill>
                <a:latin typeface="Noto Sans CJK JP"/>
                <a:ea typeface="Noto Sans CJK JP"/>
              </a:rPr>
              <a:t>出典：JR東海「超電導リニアの原理」  https://linear-chuo-shinkansen.jr-central.co.jp/about/</a:t>
            </a:r>
            <a:endParaRPr lang="ja-JP" sz="1300"/>
          </a:p>
        </p:txBody>
      </p:sp>
      <p:sp>
        <p:nvSpPr>
          <p:cNvPr id="99" name="Footer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r"/>
            <a:r>
              <a:rPr lang="ja-JP" sz="800" b="0" dirty="0">
                <a:solidFill>
                  <a:srgbClr val="777777"/>
                </a:solidFill>
                <a:latin typeface="Noto Sans CJK JP"/>
                <a:ea typeface="Noto Sans CJK JP"/>
              </a:rPr>
              <a:t>電験×新幹線 / Topic 23</a:t>
            </a:r>
            <a:endParaRPr lang="ja-JP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l"/>
            <a:r>
              <a:rPr lang="ja-JP" sz="2800" b="1" dirty="0">
                <a:solidFill>
                  <a:srgbClr val="17365D"/>
                </a:solidFill>
                <a:latin typeface="Noto Sans CJK JP"/>
                <a:ea typeface="Noto Sans CJK JP"/>
              </a:rPr>
              <a:t>公式・解法まとめ</a:t>
            </a:r>
            <a:endParaRPr lang="ja-JP" sz="2800"/>
          </a:p>
        </p:txBody>
      </p:sp>
      <p:cxnSp>
        <p:nvCxnSpPr>
          <p:cNvPr id="3" name="rule"/>
          <p:cNvCxnSpPr/>
          <p:nvPr/>
        </p:nvCxnSpPr>
        <p:spPr>
          <a:xfrm flipH="0" flipV="0">
            <a:off x="502920" y="932688"/>
            <a:ext cx="11155680" cy="1"/>
          </a:xfrm>
          <a:prstGeom prst="line">
            <a:avLst/>
          </a:prstGeom>
          <a:ln w="25400">
            <a:solidFill>
              <a:srgbClr val="4F81BD"/>
            </a:solidFill>
          </a:ln>
        </p:spPr>
      </p:cxnSp>
      <p:sp>
        <p:nvSpPr>
          <p:cNvPr id="10" name="fh0"/>
          <p:cNvSpPr txBox="1"/>
          <p:nvPr/>
        </p:nvSpPr>
        <p:spPr>
          <a:xfrm>
            <a:off x="777240" y="1371600"/>
            <a:ext cx="1920240" cy="64008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600" b="1" dirty="0">
                <a:solidFill>
                  <a:srgbClr val="17365D"/>
                </a:solidFill>
                <a:latin typeface="Noto Sans CJK JP"/>
                <a:ea typeface="Noto Sans CJK JP"/>
              </a:rPr>
              <a:t>同期速度</a:t>
            </a:r>
            <a:endParaRPr lang="ja-JP" sz="1600"/>
          </a:p>
        </p:txBody>
      </p:sp>
      <p:sp>
        <p:nvSpPr>
          <p:cNvPr id="11" name="fb0"/>
          <p:cNvSpPr txBox="1"/>
          <p:nvPr/>
        </p:nvSpPr>
        <p:spPr>
          <a:xfrm>
            <a:off x="2788920" y="1371600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222222"/>
                </a:solidFill>
                <a:latin typeface="Noto Sans CJK JP"/>
                <a:ea typeface="Noto Sans CJK JP"/>
              </a:rPr>
              <a:t>Ns = 120f/p</a:t>
            </a:r>
            <a:endParaRPr lang="ja-JP" sz="1800"/>
          </a:p>
        </p:txBody>
      </p:sp>
      <p:sp>
        <p:nvSpPr>
          <p:cNvPr id="12" name="fh1"/>
          <p:cNvSpPr txBox="1"/>
          <p:nvPr/>
        </p:nvSpPr>
        <p:spPr>
          <a:xfrm>
            <a:off x="6355079" y="1371600"/>
            <a:ext cx="1920240" cy="64008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600" b="1" dirty="0">
                <a:solidFill>
                  <a:srgbClr val="17365D"/>
                </a:solidFill>
                <a:latin typeface="Noto Sans CJK JP"/>
                <a:ea typeface="Noto Sans CJK JP"/>
              </a:rPr>
              <a:t>同期角速度</a:t>
            </a:r>
            <a:endParaRPr lang="ja-JP" sz="1600"/>
          </a:p>
        </p:txBody>
      </p:sp>
      <p:sp>
        <p:nvSpPr>
          <p:cNvPr id="13" name="fb1"/>
          <p:cNvSpPr txBox="1"/>
          <p:nvPr/>
        </p:nvSpPr>
        <p:spPr>
          <a:xfrm>
            <a:off x="8366759" y="1371600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222222"/>
                </a:solidFill>
                <a:latin typeface="Noto Sans CJK JP"/>
                <a:ea typeface="Noto Sans CJK JP"/>
              </a:rPr>
              <a:t>ωs = 2πNs/60 = 4πf/p</a:t>
            </a:r>
            <a:endParaRPr lang="ja-JP" sz="1800"/>
          </a:p>
        </p:txBody>
      </p:sp>
      <p:sp>
        <p:nvSpPr>
          <p:cNvPr id="14" name="fh2"/>
          <p:cNvSpPr txBox="1"/>
          <p:nvPr/>
        </p:nvSpPr>
        <p:spPr>
          <a:xfrm>
            <a:off x="777240" y="2514600"/>
            <a:ext cx="1920240" cy="64008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600" b="1" dirty="0">
                <a:solidFill>
                  <a:srgbClr val="17365D"/>
                </a:solidFill>
                <a:latin typeface="Noto Sans CJK JP"/>
                <a:ea typeface="Noto Sans CJK JP"/>
              </a:rPr>
              <a:t>V/f</a:t>
            </a:r>
            <a:endParaRPr lang="ja-JP" sz="1600"/>
          </a:p>
        </p:txBody>
      </p:sp>
      <p:sp>
        <p:nvSpPr>
          <p:cNvPr id="15" name="fb2"/>
          <p:cNvSpPr txBox="1"/>
          <p:nvPr/>
        </p:nvSpPr>
        <p:spPr>
          <a:xfrm>
            <a:off x="2788920" y="2514600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222222"/>
                </a:solidFill>
                <a:latin typeface="Noto Sans CJK JP"/>
                <a:ea typeface="Noto Sans CJK JP"/>
              </a:rPr>
              <a:t>V/f ≈ 一定</a:t>
            </a:r>
            <a:endParaRPr lang="ja-JP" sz="1800"/>
          </a:p>
        </p:txBody>
      </p:sp>
      <p:sp>
        <p:nvSpPr>
          <p:cNvPr id="16" name="fh3"/>
          <p:cNvSpPr txBox="1"/>
          <p:nvPr/>
        </p:nvSpPr>
        <p:spPr>
          <a:xfrm>
            <a:off x="6355079" y="2514600"/>
            <a:ext cx="1920240" cy="64008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600" b="1" dirty="0">
                <a:solidFill>
                  <a:srgbClr val="17365D"/>
                </a:solidFill>
                <a:latin typeface="Noto Sans CJK JP"/>
                <a:ea typeface="Noto Sans CJK JP"/>
              </a:rPr>
              <a:t>三相有効電力</a:t>
            </a:r>
            <a:endParaRPr lang="ja-JP" sz="1600"/>
          </a:p>
        </p:txBody>
      </p:sp>
      <p:sp>
        <p:nvSpPr>
          <p:cNvPr id="17" name="fb3"/>
          <p:cNvSpPr txBox="1"/>
          <p:nvPr/>
        </p:nvSpPr>
        <p:spPr>
          <a:xfrm>
            <a:off x="8366759" y="2514600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222222"/>
                </a:solidFill>
                <a:latin typeface="Noto Sans CJK JP"/>
                <a:ea typeface="Noto Sans CJK JP"/>
              </a:rPr>
              <a:t>Pin = √3VIcosφ</a:t>
            </a:r>
            <a:endParaRPr lang="ja-JP" sz="1800"/>
          </a:p>
        </p:txBody>
      </p:sp>
      <p:sp>
        <p:nvSpPr>
          <p:cNvPr id="18" name="fh4"/>
          <p:cNvSpPr txBox="1"/>
          <p:nvPr/>
        </p:nvSpPr>
        <p:spPr>
          <a:xfrm>
            <a:off x="777240" y="3657600"/>
            <a:ext cx="1920240" cy="64008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600" b="1" dirty="0">
                <a:solidFill>
                  <a:srgbClr val="17365D"/>
                </a:solidFill>
                <a:latin typeface="Noto Sans CJK JP"/>
                <a:ea typeface="Noto Sans CJK JP"/>
              </a:rPr>
              <a:t>軸出力</a:t>
            </a:r>
            <a:endParaRPr lang="ja-JP" sz="1600"/>
          </a:p>
        </p:txBody>
      </p:sp>
      <p:sp>
        <p:nvSpPr>
          <p:cNvPr id="19" name="fb4"/>
          <p:cNvSpPr txBox="1"/>
          <p:nvPr/>
        </p:nvSpPr>
        <p:spPr>
          <a:xfrm>
            <a:off x="2788920" y="3657600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222222"/>
                </a:solidFill>
                <a:latin typeface="Noto Sans CJK JP"/>
                <a:ea typeface="Noto Sans CJK JP"/>
              </a:rPr>
              <a:t>Pout = ηPin</a:t>
            </a:r>
            <a:endParaRPr lang="ja-JP" sz="1800"/>
          </a:p>
        </p:txBody>
      </p:sp>
      <p:sp>
        <p:nvSpPr>
          <p:cNvPr id="20" name="fh5"/>
          <p:cNvSpPr txBox="1"/>
          <p:nvPr/>
        </p:nvSpPr>
        <p:spPr>
          <a:xfrm>
            <a:off x="6355079" y="3657600"/>
            <a:ext cx="1920240" cy="640080"/>
          </a:xfrm>
          <a:prstGeom prst="rect">
            <a:avLst/>
          </a:prstGeom>
          <a:solidFill>
            <a:srgbClr val="EAF2F8"/>
          </a:solidFill>
          <a:ln w="12700">
            <a:solidFill>
              <a:srgbClr val="4F81BD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600" b="1" dirty="0">
                <a:solidFill>
                  <a:srgbClr val="17365D"/>
                </a:solidFill>
                <a:latin typeface="Noto Sans CJK JP"/>
                <a:ea typeface="Noto Sans CJK JP"/>
              </a:rPr>
              <a:t>機械出力</a:t>
            </a:r>
            <a:endParaRPr lang="ja-JP" sz="1600"/>
          </a:p>
        </p:txBody>
      </p:sp>
      <p:sp>
        <p:nvSpPr>
          <p:cNvPr id="21" name="fb5"/>
          <p:cNvSpPr txBox="1"/>
          <p:nvPr/>
        </p:nvSpPr>
        <p:spPr>
          <a:xfrm>
            <a:off x="8366759" y="3657600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800" b="1" dirty="0">
                <a:solidFill>
                  <a:srgbClr val="222222"/>
                </a:solidFill>
                <a:latin typeface="Noto Sans CJK JP"/>
                <a:ea typeface="Noto Sans CJK JP"/>
              </a:rPr>
              <a:t>P = ωT  →  T=P/ω</a:t>
            </a:r>
            <a:endParaRPr lang="ja-JP" sz="1800"/>
          </a:p>
        </p:txBody>
      </p:sp>
      <p:sp>
        <p:nvSpPr>
          <p:cNvPr id="30" name="gate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700" b="1" dirty="0">
                <a:solidFill>
                  <a:srgbClr val="385723"/>
                </a:solidFill>
                <a:latin typeface="Noto Sans CJK JP"/>
                <a:ea typeface="Noto Sans CJK JP"/>
              </a:rPr>
              <a:t>次の品質ゲート：完成済み教材だけで選定5過去問を独立再解答</a:t>
            </a:r>
            <a:endParaRPr lang="ja-JP" sz="1700"/>
          </a:p>
        </p:txBody>
      </p:sp>
      <p:sp>
        <p:nvSpPr>
          <p:cNvPr id="31" name="sources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ctr"/>
            <a:r>
              <a:rPr lang="ja-JP" sz="1200" b="0" dirty="0">
                <a:solidFill>
                  <a:srgbClr val="666666"/>
                </a:solidFill>
                <a:latin typeface="Noto Sans CJK JP"/>
                <a:ea typeface="Noto Sans CJK JP"/>
              </a:rPr>
              <a:t>参照：電気技術者試験センター / JR東海「超電導リニアの原理」 / e-sysnet / 電験王</a:t>
            </a:r>
            <a:endParaRPr lang="ja-JP" sz="1200"/>
          </a:p>
        </p:txBody>
      </p:sp>
      <p:sp>
        <p:nvSpPr>
          <p:cNvPr id="99" name="Footer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 anchor="ctr"/>
          <a:lstStyle/>
          <a:p>
            <a:pPr algn="r"/>
            <a:r>
              <a:rPr lang="ja-JP" sz="800" b="0" dirty="0">
                <a:solidFill>
                  <a:srgbClr val="777777"/>
                </a:solidFill>
                <a:latin typeface="Noto Sans CJK JP"/>
                <a:ea typeface="Noto Sans CJK JP"/>
              </a:rPr>
              <a:t>電験×新幹線 / Topic 23</a:t>
            </a:r>
            <a:endParaRPr lang="ja-JP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Noto Sans CJK JP"/>
        <a:cs typeface=""/>
      </a:majorFont>
      <a:minorFont>
        <a:latin typeface="Aptos"/>
        <a:ea typeface="Noto Sans CJK JP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L0系② 500km/hと周波数制御</dc:title>
  <dc:creator>OpenAI</dc:creator>
</cp:coreProperties>
</file>