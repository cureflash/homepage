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9" Type="http://schemas.openxmlformats.org/officeDocument/2006/relationships/theme" Target="theme/them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367C8"/>
          </a:solidFill>
          <a:ln w="12700">
            <a:solidFill>
              <a:srgbClr val="236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8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電験三種 × 新幹線車両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8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31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D68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D68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00000"/>
            <a:ext cx="11000000" cy="5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mid">
            <a:normAutofit/>
          </a:bodyPr>
          <a:lstStyle/>
          <a:p>
            <a:pPr algn="l">
              <a:buNone/>
            </a:pPr>
            <a:r>
              <a:rPr lang="ja-JP" sz="2600" b="1">
                <a:solidFill>
                  <a:srgbClr val="17365D"/>
                </a:solidFill>
                <a:ea typeface="Noto Sans CJK JP"/>
              </a:rPr>
              <a:t>ATC② 地上から車上へどう情報を送る？</a:t>
            </a:r>
            <a:endParaRPr lang="ja-JP" sz="2600"/>
          </a:p>
        </p:txBody>
      </p:sp>
      <p:sp>
        <p:nvSpPr>
          <p:cNvPr id="3" name="Body"/>
          <p:cNvSpPr/>
          <p:nvPr/>
        </p:nvSpPr>
        <p:spPr>
          <a:xfrm>
            <a:off x="650000" y="1150000"/>
            <a:ext cx="10900000" cy="4900000"/>
          </a:xfrm>
          <a:prstGeom prst="roundRect">
            <a:avLst/>
          </a:prstGeom>
          <a:solidFill>
            <a:srgbClr val="F6F9FC"/>
          </a:solidFill>
          <a:ln>
            <a:solidFill>
              <a:srgbClr val="D9E6F5"/>
            </a:solidFill>
          </a:ln>
        </p:spPr>
        <p:txBody>
          <a:bodyPr wrap="square" lIns="91440" tIns="45720" rIns="91440" bIns="45720" anchor="mid">
            <a:normAutofit/>
          </a:bodyPr>
          <a:lstStyle/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新幹線への接続：地上側 → レール上の速度信号用電流 → 先頭車の受電器 → 車上で受信・判別 → 運転台表示</a:t>
            </a:r>
            <a:endParaRPr lang="ja-JP" sz="1650"/>
          </a:p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電験で見る骨格：信号／周波数／情報伝送／センサ／デジタル信号／論理判断</a:t>
            </a:r>
            <a:endParaRPr lang="ja-JP" sz="1650"/>
          </a:p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実車の具体的な周波数値・符号体系・ビットレートは置かない。</a:t>
            </a:r>
            <a:endParaRPr lang="ja-JP" sz="1650"/>
          </a:p>
        </p:txBody>
      </p:sp>
      <p:sp>
        <p:nvSpPr>
          <p:cNvPr id="4" name="Footer"/>
          <p:cNvSpPr/>
          <p:nvPr/>
        </p:nvSpPr>
        <p:spPr>
          <a:xfrm>
            <a:off x="650000" y="6400000"/>
            <a:ext cx="10900000" cy="3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mid">
            <a:normAutofit/>
          </a:bodyPr>
          <a:lstStyle/>
          <a:p>
            <a:pPr algn="l">
              <a:buNone/>
            </a:pPr>
            <a:r>
              <a:rPr lang="ja-JP" sz="800" b="0">
                <a:solidFill>
                  <a:srgbClr val="64748B"/>
                </a:solidFill>
                <a:ea typeface="Noto Sans CJK JP"/>
              </a:rPr>
              <a:t>電験×新幹線｜Topic 31</a:t>
            </a:r>
            <a:endParaRPr lang="ja-JP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00000"/>
            <a:ext cx="11000000" cy="5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mid">
            <a:normAutofit/>
          </a:bodyPr>
          <a:lstStyle/>
          <a:p>
            <a:pPr algn="l">
              <a:buNone/>
            </a:pPr>
            <a:r>
              <a:rPr lang="ja-JP" sz="2600" b="1">
                <a:solidFill>
                  <a:srgbClr val="17365D"/>
                </a:solidFill>
                <a:ea typeface="Noto Sans CJK JP"/>
              </a:rPr>
              <a:t>A-D変換と標本化</a:t>
            </a:r>
            <a:endParaRPr lang="ja-JP" sz="2600"/>
          </a:p>
        </p:txBody>
      </p:sp>
      <p:sp>
        <p:nvSpPr>
          <p:cNvPr id="3" name="Body"/>
          <p:cNvSpPr/>
          <p:nvPr/>
        </p:nvSpPr>
        <p:spPr>
          <a:xfrm>
            <a:off x="650000" y="1150000"/>
            <a:ext cx="10900000" cy="4900000"/>
          </a:xfrm>
          <a:prstGeom prst="roundRect">
            <a:avLst/>
          </a:prstGeom>
          <a:solidFill>
            <a:srgbClr val="F6F9FC"/>
          </a:solidFill>
          <a:ln>
            <a:solidFill>
              <a:srgbClr val="D9E6F5"/>
            </a:solidFill>
          </a:ln>
        </p:spPr>
        <p:txBody>
          <a:bodyPr wrap="square" lIns="91440" tIns="45720" rIns="91440" bIns="45720" anchor="mid">
            <a:normAutofit/>
          </a:bodyPr>
          <a:lstStyle/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センサ → アナログ信号 → A-D変換 → デジタル処理　／　出力側はD-A変換</a:t>
            </a:r>
            <a:endParaRPr lang="ja-JP" sz="1650"/>
          </a:p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A-D変換：標本化（時間）→ 量子化（振幅）→ 符号化（ビット列）</a:t>
            </a:r>
            <a:endParaRPr lang="ja-JP" sz="1650"/>
          </a:p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f_s ≥ 2 f_max　　T_s ≤ 1/(2 f_max)</a:t>
            </a:r>
            <a:endParaRPr lang="ja-JP" sz="1650"/>
          </a:p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例：f_max=3.2 kHz → f_s,min=6.4 kHz → T_s,max=156.25 μs</a:t>
            </a:r>
            <a:endParaRPr lang="ja-JP" sz="1650"/>
          </a:p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対応：R4下 理論 問14、R4上 機械 問14</a:t>
            </a:r>
            <a:endParaRPr lang="ja-JP" sz="1650"/>
          </a:p>
        </p:txBody>
      </p:sp>
      <p:sp>
        <p:nvSpPr>
          <p:cNvPr id="4" name="Footer"/>
          <p:cNvSpPr/>
          <p:nvPr/>
        </p:nvSpPr>
        <p:spPr>
          <a:xfrm>
            <a:off x="650000" y="6400000"/>
            <a:ext cx="10900000" cy="3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mid">
            <a:normAutofit/>
          </a:bodyPr>
          <a:lstStyle/>
          <a:p>
            <a:pPr algn="l">
              <a:buNone/>
            </a:pPr>
            <a:r>
              <a:rPr lang="ja-JP" sz="800" b="0">
                <a:solidFill>
                  <a:srgbClr val="64748B"/>
                </a:solidFill>
                <a:ea typeface="Noto Sans CJK JP"/>
              </a:rPr>
              <a:t>電験×新幹線｜Topic 31</a:t>
            </a:r>
            <a:endParaRPr lang="ja-JP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00000"/>
            <a:ext cx="11000000" cy="5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mid">
            <a:normAutofit/>
          </a:bodyPr>
          <a:lstStyle/>
          <a:p>
            <a:pPr algn="l">
              <a:buNone/>
            </a:pPr>
            <a:r>
              <a:rPr lang="ja-JP" sz="2600" b="1">
                <a:solidFill>
                  <a:srgbClr val="17365D"/>
                </a:solidFill>
                <a:ea typeface="Noto Sans CJK JP"/>
              </a:rPr>
              <a:t>情報伝送用語・論理判断｜固定6項目</a:t>
            </a:r>
            <a:endParaRPr lang="ja-JP" sz="2600"/>
          </a:p>
        </p:txBody>
      </p:sp>
      <p:sp>
        <p:nvSpPr>
          <p:cNvPr id="3" name="Body"/>
          <p:cNvSpPr/>
          <p:nvPr/>
        </p:nvSpPr>
        <p:spPr>
          <a:xfrm>
            <a:off x="650000" y="1150000"/>
            <a:ext cx="10900000" cy="4900000"/>
          </a:xfrm>
          <a:prstGeom prst="roundRect">
            <a:avLst/>
          </a:prstGeom>
          <a:solidFill>
            <a:srgbClr val="F6F9FC"/>
          </a:solidFill>
          <a:ln>
            <a:solidFill>
              <a:srgbClr val="D9E6F5"/>
            </a:solidFill>
          </a:ln>
        </p:spPr>
        <p:txBody>
          <a:bodyPr wrap="square" lIns="91440" tIns="45720" rIns="91440" bIns="45720" anchor="mid">
            <a:normAutofit/>
          </a:bodyPr>
          <a:lstStyle/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伝送路＝情報を送る経路　／　雑音＝不要成分　／　多重化＝複数情報を1伝送路で扱う</a:t>
            </a:r>
            <a:endParaRPr lang="ja-JP" sz="1650"/>
          </a:p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搬送波＝情報を載せる基準波　／　変調波＝情報に応じて搬送波を変化　／　圧縮＝データ量削減</a:t>
            </a:r>
            <a:endParaRPr lang="ja-JP" sz="1650"/>
          </a:p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フローチャート：初期値 → 代入 → 更新後の値で条件判定 → 真偽で分岐 → 各周回値を記録</a:t>
            </a:r>
            <a:endParaRPr lang="ja-JP" sz="1650"/>
          </a:p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固定5問・6対象項目を 6/6 可視化：R7下機14、R5上機18(a)(b)、R4下機13、R4下理14、R4上機14</a:t>
            </a:r>
            <a:endParaRPr lang="ja-JP" sz="1650"/>
          </a:p>
          <a:p>
            <a:pPr algn="l">
              <a:buNone/>
            </a:pPr>
            <a:r>
              <a:rPr lang="ja-JP" sz="1650" b="0">
                <a:solidFill>
                  <a:srgbClr val="1E293B"/>
                </a:solidFill>
                <a:ea typeface="Noto Sans CJK JP"/>
              </a:rPr>
              <a:t>AND/OR具体回路、速度照査、ブレーキ指令は Topic 32</a:t>
            </a:r>
            <a:endParaRPr lang="ja-JP" sz="1650"/>
          </a:p>
        </p:txBody>
      </p:sp>
      <p:sp>
        <p:nvSpPr>
          <p:cNvPr id="4" name="Footer"/>
          <p:cNvSpPr/>
          <p:nvPr/>
        </p:nvSpPr>
        <p:spPr>
          <a:xfrm>
            <a:off x="650000" y="6400000"/>
            <a:ext cx="10900000" cy="3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mid">
            <a:normAutofit/>
          </a:bodyPr>
          <a:lstStyle/>
          <a:p>
            <a:pPr algn="l">
              <a:buNone/>
            </a:pPr>
            <a:r>
              <a:rPr lang="ja-JP" sz="800" b="0">
                <a:solidFill>
                  <a:srgbClr val="64748B"/>
                </a:solidFill>
                <a:ea typeface="Noto Sans CJK JP"/>
              </a:rPr>
              <a:t>電験×新幹線｜Topic 31</a:t>
            </a:r>
            <a:endParaRPr lang="ja-JP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cureflash/homepage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ATC② 地上から車上へどう情報を送る？</dc:title>
  <dc:subject>電験×新幹線 Topic 31 ATC②</dc:subject>
  <dc:creator>OpenAI</dc:creator>
  <cp:lastModifiedBy>OpenAI</cp:lastModifiedBy>
  <cp:revision>1</cp:revision>
  <dcterms:created xsi:type="dcterms:W3CDTF">2026-09-15T06:02:29Z</dcterms:created>
  <dcterms:modified xsi:type="dcterms:W3CDTF">2026-09-15T06:02:29Z</dcterms:modified>
</cp:coreProperties>
</file>