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500000"/>
            <a:ext cx="108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極数と同期速度</a:t>
            </a:r>
            <a:endParaRPr lang="ja-JP"/>
          </a:p>
        </p:txBody>
      </p:sp>
      <p:sp>
        <p:nvSpPr>
          <p:cNvPr id="3" name="Body"/>
          <p:cNvSpPr txBox="1"/>
          <p:nvPr/>
        </p:nvSpPr>
        <p:spPr>
          <a:xfrm>
            <a:off x="900000" y="1800000"/>
            <a:ext cx="10400000" cy="3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同期速度 Ns = 120 f / p</a:t>
            </a:r>
            <a:endParaRPr lang="ja-JP"/>
          </a:p>
          <a:p>
            <a:r>
              <a:rPr lang="ja-JP" sz="1800" b="0"/>
              <a:t>6極・66 Hz → Ns = 1320 min⁻¹</a:t>
            </a:r>
            <a:endParaRPr lang="ja-JP"/>
          </a:p>
          <a:p>
            <a:r>
              <a:rPr lang="ja-JP" sz="1800" b="0"/>
              <a:t>同じ周波数なら、極数が増えるほど同期速度は下がる。</a:t>
            </a:r>
            <a:endParaRPr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500000"/>
            <a:ext cx="108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すべりと二次周波数</a:t>
            </a:r>
            <a:endParaRPr lang="ja-JP"/>
          </a:p>
        </p:txBody>
      </p:sp>
      <p:sp>
        <p:nvSpPr>
          <p:cNvPr id="3" name="Body"/>
          <p:cNvSpPr txBox="1"/>
          <p:nvPr/>
        </p:nvSpPr>
        <p:spPr>
          <a:xfrm>
            <a:off x="900000" y="1800000"/>
            <a:ext cx="10400000" cy="3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s = (Ns − N) / Ns</a:t>
            </a:r>
            <a:endParaRPr lang="ja-JP"/>
          </a:p>
          <a:p>
            <a:r>
              <a:rPr lang="ja-JP" sz="1800" b="0"/>
              <a:t>N = (1 − s)Ns</a:t>
            </a:r>
            <a:endParaRPr lang="ja-JP"/>
          </a:p>
          <a:p>
            <a:r>
              <a:rPr lang="ja-JP" sz="1800" b="0"/>
              <a:t>f₂ = s f</a:t>
            </a:r>
            <a:endParaRPr lang="ja-JP"/>
          </a:p>
          <a:p>
            <a:r>
              <a:rPr lang="ja-JP" sz="1800" b="0"/>
              <a:t>Ns=1320, s=5% → N=1254 min⁻¹</a:t>
            </a:r>
            <a:endParaRPr lang="ja-JP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500000"/>
            <a:ext cx="108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誘導機の電力配分</a:t>
            </a:r>
            <a:endParaRPr lang="ja-JP"/>
          </a:p>
        </p:txBody>
      </p:sp>
      <p:sp>
        <p:nvSpPr>
          <p:cNvPr id="3" name="Body"/>
          <p:cNvSpPr txBox="1"/>
          <p:nvPr/>
        </p:nvSpPr>
        <p:spPr>
          <a:xfrm>
            <a:off x="900000" y="1800000"/>
            <a:ext cx="10400000" cy="3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二次入力 P₂</a:t>
            </a:r>
            <a:endParaRPr lang="ja-JP"/>
          </a:p>
          <a:p>
            <a:r>
              <a:rPr lang="ja-JP" sz="1800" b="0"/>
              <a:t>├─ 二次銅損 Pc₂ = sP₂</a:t>
            </a:r>
            <a:endParaRPr lang="ja-JP"/>
          </a:p>
          <a:p>
            <a:r>
              <a:rPr lang="ja-JP" sz="1800" b="0"/>
              <a:t>└─ 機械出力 Pm = (1−s)P₂</a:t>
            </a:r>
            <a:endParaRPr lang="ja-JP"/>
          </a:p>
          <a:p>
            <a:r>
              <a:rPr lang="ja-JP" sz="1800" b="0"/>
              <a:t>P₂=100 kW, s=4% → 4 kW / 96 kW</a:t>
            </a:r>
            <a:endParaRPr lang="ja-JP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500000"/>
            <a:ext cx="108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V/f一定制御</a:t>
            </a:r>
            <a:endParaRPr lang="ja-JP"/>
          </a:p>
        </p:txBody>
      </p:sp>
      <p:sp>
        <p:nvSpPr>
          <p:cNvPr id="3" name="Body"/>
          <p:cNvSpPr txBox="1"/>
          <p:nvPr/>
        </p:nvSpPr>
        <p:spPr>
          <a:xfrm>
            <a:off x="900000" y="1800000"/>
            <a:ext cx="10400000" cy="3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V/f を一定に保つ → 磁束を概ね一定に保つ</a:t>
            </a:r>
            <a:endParaRPr lang="ja-JP"/>
          </a:p>
          <a:p>
            <a:r>
              <a:rPr lang="ja-JP" sz="1800" b="0"/>
              <a:t>50 Hz・2000 V → 60 Hzでは 2400 V</a:t>
            </a:r>
            <a:endParaRPr lang="ja-JP"/>
          </a:p>
          <a:p>
            <a:r>
              <a:rPr lang="ja-JP" sz="1800" b="0"/>
              <a:t>極数・周波数・すべりを混同しない。</a:t>
            </a:r>
            <a:endParaRPr lang="ja-JP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500000"/>
            <a:ext cx="108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N700Sと本試験の接続</a:t>
            </a:r>
            <a:endParaRPr lang="ja-JP"/>
          </a:p>
        </p:txBody>
      </p:sp>
      <p:sp>
        <p:nvSpPr>
          <p:cNvPr id="3" name="Body"/>
          <p:cNvSpPr txBox="1"/>
          <p:nvPr/>
        </p:nvSpPr>
        <p:spPr>
          <a:xfrm>
            <a:off x="900000" y="1800000"/>
            <a:ext cx="10400000" cy="3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一次資料：N700S駆動システムはSiC変換装置・走行風冷却・6極誘導電動機を組合せて小型軽量化。</a:t>
            </a:r>
            <a:endParaRPr lang="ja-JP"/>
          </a:p>
          <a:p>
            <a:r>
              <a:rPr lang="ja-JP" sz="1800" b="0"/>
              <a:t>本試験では Ns=120f/p、s、f₂、P₂・Pc₂・Pm、V/f を使って解く。</a:t>
            </a:r>
            <a:endParaRPr lang="ja-JP"/>
          </a:p>
          <a:p>
            <a:r>
              <a:rPr lang="ja-JP" sz="1800" b="0"/>
              <a:t>未確認の実運転周波数・すべり等は真値化しない。</a:t>
            </a:r>
            <a:endParaRPr lang="ja-JP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Noto Sans CJK JP"/>
        <a:cs typeface="Arial"/>
      </a:majorFont>
      <a:minorFont>
        <a:latin typeface="Arial"/>
        <a:ea typeface="Noto Sans CJK JP"/>
        <a:cs typeface="Arial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