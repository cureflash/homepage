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50000"/>
            <a:ext cx="11192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3000" b="1">
                <a:solidFill>
                  <a:srgbClr val="000000"/>
                </a:solidFill>
                <a:latin typeface="Aptos"/>
                <a:ea typeface="Yu Gothic"/>
              </a:rPr>
              <a:t>極数と同期速度</a:t>
            </a:r>
            <a:endParaRPr lang="ja-JP"/>
          </a:p>
        </p:txBody>
      </p:sp>
      <p:sp>
        <p:nvSpPr>
          <p:cNvPr id="3" name="TextBox 3"/>
          <p:cNvSpPr txBox="1"/>
          <p:nvPr/>
        </p:nvSpPr>
        <p:spPr>
          <a:xfrm>
            <a:off x="900000" y="1150000"/>
            <a:ext cx="10400000" cy="8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3200" b="1">
                <a:solidFill>
                  <a:srgbClr val="000000"/>
                </a:solidFill>
                <a:latin typeface="Aptos"/>
                <a:ea typeface="Yu Gothic"/>
              </a:rPr>
              <a:t>Ns = 120 f / p</a:t>
            </a:r>
            <a:endParaRPr lang="ja-JP"/>
          </a:p>
        </p:txBody>
      </p:sp>
      <p:sp>
        <p:nvSpPr>
          <p:cNvPr id="4" name="Rectangle 4"/>
          <p:cNvSpPr/>
          <p:nvPr/>
        </p:nvSpPr>
        <p:spPr>
          <a:xfrm>
            <a:off x="900000" y="2700000"/>
            <a:ext cx="2600000" cy="11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周波数 f が上がる
→ 同期速度 Ns が上がる</a:t>
            </a:r>
            <a:endParaRPr lang="ja-JP"/>
          </a:p>
        </p:txBody>
      </p:sp>
      <p:sp>
        <p:nvSpPr>
          <p:cNvPr id="5" name="Rectangle 5"/>
          <p:cNvSpPr/>
          <p:nvPr/>
        </p:nvSpPr>
        <p:spPr>
          <a:xfrm>
            <a:off x="4700000" y="2700000"/>
            <a:ext cx="2600000" cy="11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極数 p が増える
→ 同期速度 Ns が下がる</a:t>
            </a:r>
            <a:endParaRPr lang="ja-JP"/>
          </a:p>
        </p:txBody>
      </p:sp>
      <p:sp>
        <p:nvSpPr>
          <p:cNvPr id="6" name="Rectangle 6"/>
          <p:cNvSpPr/>
          <p:nvPr/>
        </p:nvSpPr>
        <p:spPr>
          <a:xfrm>
            <a:off x="8500000" y="2700000"/>
            <a:ext cx="2600000" cy="11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6極・66 Hz
Ns = 1320 min⁻¹</a:t>
            </a:r>
            <a:endParaRPr lang="ja-JP"/>
          </a:p>
        </p:txBody>
      </p:sp>
      <p:sp>
        <p:nvSpPr>
          <p:cNvPr id="7" name="TextBox 7"/>
          <p:cNvSpPr txBox="1"/>
          <p:nvPr/>
        </p:nvSpPr>
        <p:spPr>
          <a:xfrm>
            <a:off x="900000" y="500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000">
                <a:solidFill>
                  <a:srgbClr val="000000"/>
                </a:solidFill>
                <a:latin typeface="Aptos"/>
                <a:ea typeface="Yu Gothic"/>
              </a:rPr>
              <a:t>電験では「極数」「周波数」「同期速度」の対応を式で判断する。</a:t>
            </a:r>
            <a:endParaRPr lang="ja-JP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50000"/>
            <a:ext cx="11192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3000" b="1">
                <a:solidFill>
                  <a:srgbClr val="000000"/>
                </a:solidFill>
                <a:latin typeface="Aptos"/>
                <a:ea typeface="Yu Gothic"/>
              </a:rPr>
              <a:t>すべり：同期速度と実回転速度の差</a:t>
            </a:r>
            <a:endParaRPr lang="ja-JP"/>
          </a:p>
        </p:txBody>
      </p:sp>
      <p:sp>
        <p:nvSpPr>
          <p:cNvPr id="3" name="Rectangle 3"/>
          <p:cNvSpPr/>
          <p:nvPr/>
        </p:nvSpPr>
        <p:spPr>
          <a:xfrm>
            <a:off x="900000" y="2100000"/>
            <a:ext cx="2600000" cy="1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同期速度 Ns
1320 min⁻¹</a:t>
            </a:r>
            <a:endParaRPr lang="ja-JP"/>
          </a:p>
        </p:txBody>
      </p:sp>
      <p:sp>
        <p:nvSpPr>
          <p:cNvPr id="4" name="Arrow 4"/>
          <p:cNvSpPr/>
          <p:nvPr/>
        </p:nvSpPr>
        <p:spPr>
          <a:xfrm>
            <a:off x="3800000" y="2400000"/>
            <a:ext cx="1600000" cy="600000"/>
          </a:xfrm>
          <a:prstGeom prst="rightArrow">
            <a:avLst/>
          </a:prstGeom>
          <a:solidFill>
            <a:srgbClr val="D9D9D9"/>
          </a:solidFill>
          <a:ln>
            <a:solidFill>
              <a:srgbClr val="666666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800000" y="2100000"/>
            <a:ext cx="2600000" cy="1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実回転速度 N
1254 min⁻¹</a:t>
            </a:r>
            <a:endParaRPr lang="ja-JP"/>
          </a:p>
        </p:txBody>
      </p:sp>
      <p:sp>
        <p:nvSpPr>
          <p:cNvPr id="6" name="TextBox 6"/>
          <p:cNvSpPr txBox="1"/>
          <p:nvPr/>
        </p:nvSpPr>
        <p:spPr>
          <a:xfrm>
            <a:off x="880000" y="400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500" b="1">
                <a:solidFill>
                  <a:srgbClr val="000000"/>
                </a:solidFill>
                <a:latin typeface="Aptos"/>
                <a:ea typeface="Yu Gothic"/>
              </a:rPr>
              <a:t>s = (Ns − N) / Ns = (1320 − 1254) / 1320 = 0.05 = 5 %</a:t>
            </a:r>
            <a:endParaRPr lang="ja-JP"/>
          </a:p>
        </p:txBody>
      </p:sp>
      <p:sp>
        <p:nvSpPr>
          <p:cNvPr id="7" name="TextBox 7"/>
          <p:cNvSpPr txBox="1"/>
          <p:nvPr/>
        </p:nvSpPr>
        <p:spPr>
          <a:xfrm>
            <a:off x="900000" y="5250000"/>
            <a:ext cx="104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000">
                <a:solidFill>
                  <a:srgbClr val="000000"/>
                </a:solidFill>
                <a:latin typeface="Aptos"/>
                <a:ea typeface="Yu Gothic"/>
              </a:rPr>
              <a:t>誘導電動機は負荷運転中、通常 N &lt; Ns。</a:t>
            </a:r>
            <a:endParaRPr 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50000"/>
            <a:ext cx="11192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3000" b="1">
                <a:solidFill>
                  <a:srgbClr val="000000"/>
                </a:solidFill>
                <a:latin typeface="Aptos"/>
                <a:ea typeface="Yu Gothic"/>
              </a:rPr>
              <a:t>二次周波数：すべりがロータ側周波数を決める</a:t>
            </a:r>
            <a:endParaRPr lang="ja-JP"/>
          </a:p>
        </p:txBody>
      </p:sp>
      <p:sp>
        <p:nvSpPr>
          <p:cNvPr id="3" name="Rectangle 3"/>
          <p:cNvSpPr/>
          <p:nvPr/>
        </p:nvSpPr>
        <p:spPr>
          <a:xfrm>
            <a:off x="1100000" y="2100000"/>
            <a:ext cx="2500000" cy="11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一次周波数 f
50 Hz</a:t>
            </a:r>
            <a:endParaRPr lang="ja-JP"/>
          </a:p>
        </p:txBody>
      </p:sp>
      <p:sp>
        <p:nvSpPr>
          <p:cNvPr id="4" name="Arrow 4"/>
          <p:cNvSpPr/>
          <p:nvPr/>
        </p:nvSpPr>
        <p:spPr>
          <a:xfrm>
            <a:off x="4000000" y="2350000"/>
            <a:ext cx="1500000" cy="600000"/>
          </a:xfrm>
          <a:prstGeom prst="rightArrow">
            <a:avLst/>
          </a:prstGeom>
          <a:solidFill>
            <a:srgbClr val="D9D9D9"/>
          </a:solidFill>
          <a:ln>
            <a:solidFill>
              <a:srgbClr val="666666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6000000" y="2100000"/>
            <a:ext cx="2500000" cy="11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すべり s
4 %</a:t>
            </a:r>
            <a:endParaRPr lang="ja-JP"/>
          </a:p>
        </p:txBody>
      </p:sp>
      <p:sp>
        <p:nvSpPr>
          <p:cNvPr id="6" name="TextBox 6"/>
          <p:cNvSpPr txBox="1"/>
          <p:nvPr/>
        </p:nvSpPr>
        <p:spPr>
          <a:xfrm>
            <a:off x="900000" y="385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800" b="1">
                <a:solidFill>
                  <a:srgbClr val="000000"/>
                </a:solidFill>
                <a:latin typeface="Aptos"/>
                <a:ea typeface="Yu Gothic"/>
              </a:rPr>
              <a:t>f₂ = s f = 0.04 × 50 = 2 Hz</a:t>
            </a:r>
            <a:endParaRPr lang="ja-JP"/>
          </a:p>
        </p:txBody>
      </p:sp>
      <p:sp>
        <p:nvSpPr>
          <p:cNvPr id="7" name="TextBox 7"/>
          <p:cNvSpPr txBox="1"/>
          <p:nvPr/>
        </p:nvSpPr>
        <p:spPr>
          <a:xfrm>
            <a:off x="900000" y="5100000"/>
            <a:ext cx="10400000" cy="7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900">
                <a:solidFill>
                  <a:srgbClr val="000000"/>
                </a:solidFill>
                <a:latin typeface="Aptos"/>
                <a:ea typeface="Yu Gothic"/>
              </a:rPr>
              <a:t>停止時 s=1 なら f₂=f。同期速度に近づくほど f₂ は小さくなる。</a:t>
            </a:r>
            <a:endParaRPr lang="ja-JP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50000"/>
            <a:ext cx="11192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3000" b="1">
                <a:solidFill>
                  <a:srgbClr val="000000"/>
                </a:solidFill>
                <a:latin typeface="Aptos"/>
                <a:ea typeface="Yu Gothic"/>
              </a:rPr>
              <a:t>二次入力 P₂ の分配</a:t>
            </a:r>
            <a:endParaRPr lang="ja-JP"/>
          </a:p>
        </p:txBody>
      </p:sp>
      <p:sp>
        <p:nvSpPr>
          <p:cNvPr id="3" name="Rectangle 3"/>
          <p:cNvSpPr/>
          <p:nvPr/>
        </p:nvSpPr>
        <p:spPr>
          <a:xfrm>
            <a:off x="800000" y="2300000"/>
            <a:ext cx="2500000" cy="11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二次入力 P₂
100 kW</a:t>
            </a:r>
            <a:endParaRPr lang="ja-JP"/>
          </a:p>
        </p:txBody>
      </p:sp>
      <p:sp>
        <p:nvSpPr>
          <p:cNvPr id="4" name="Arrow 4"/>
          <p:cNvSpPr/>
          <p:nvPr/>
        </p:nvSpPr>
        <p:spPr>
          <a:xfrm>
            <a:off x="3600000" y="2500000"/>
            <a:ext cx="1300000" cy="550000"/>
          </a:xfrm>
          <a:prstGeom prst="rightArrow">
            <a:avLst/>
          </a:prstGeom>
          <a:solidFill>
            <a:srgbClr val="D9D9D9"/>
          </a:solidFill>
          <a:ln>
            <a:solidFill>
              <a:srgbClr val="666666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200000" y="1600000"/>
            <a:ext cx="2600000" cy="10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二次銅損
Pc₂ = sP₂ = 4 kW</a:t>
            </a:r>
            <a:endParaRPr lang="ja-JP"/>
          </a:p>
        </p:txBody>
      </p:sp>
      <p:sp>
        <p:nvSpPr>
          <p:cNvPr id="6" name="Rectangle 6"/>
          <p:cNvSpPr/>
          <p:nvPr/>
        </p:nvSpPr>
        <p:spPr>
          <a:xfrm>
            <a:off x="5200000" y="3200000"/>
            <a:ext cx="2600000" cy="10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機械出力
Pm = (1−s)P₂ = 96 kW</a:t>
            </a:r>
            <a:endParaRPr lang="ja-JP"/>
          </a:p>
        </p:txBody>
      </p:sp>
      <p:sp>
        <p:nvSpPr>
          <p:cNvPr id="7" name="TextBox 7"/>
          <p:cNvSpPr txBox="1"/>
          <p:nvPr/>
        </p:nvSpPr>
        <p:spPr>
          <a:xfrm>
            <a:off x="8300000" y="2100000"/>
            <a:ext cx="3000000" cy="17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s = 0.04
→ 損失 4 %
→ 機械出力 96 %</a:t>
            </a:r>
            <a:endParaRPr lang="ja-JP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50000"/>
            <a:ext cx="11192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3000" b="1">
                <a:solidFill>
                  <a:srgbClr val="000000"/>
                </a:solidFill>
                <a:latin typeface="Aptos"/>
                <a:ea typeface="Yu Gothic"/>
              </a:rPr>
              <a:t>V/f一定制御</a:t>
            </a:r>
            <a:endParaRPr lang="ja-JP"/>
          </a:p>
        </p:txBody>
      </p:sp>
      <p:sp>
        <p:nvSpPr>
          <p:cNvPr id="3" name="Rectangle 3"/>
          <p:cNvSpPr/>
          <p:nvPr/>
        </p:nvSpPr>
        <p:spPr>
          <a:xfrm>
            <a:off x="900000" y="2000000"/>
            <a:ext cx="2800000" cy="1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周波数 f を上げる
→ 同期速度を上げる</a:t>
            </a:r>
            <a:endParaRPr lang="ja-JP"/>
          </a:p>
        </p:txBody>
      </p:sp>
      <p:sp>
        <p:nvSpPr>
          <p:cNvPr id="4" name="Arrow 4"/>
          <p:cNvSpPr/>
          <p:nvPr/>
        </p:nvSpPr>
        <p:spPr>
          <a:xfrm>
            <a:off x="4100000" y="2300000"/>
            <a:ext cx="1400000" cy="600000"/>
          </a:xfrm>
          <a:prstGeom prst="rightArrow">
            <a:avLst/>
          </a:prstGeom>
          <a:solidFill>
            <a:srgbClr val="D9D9D9"/>
          </a:solidFill>
          <a:ln>
            <a:solidFill>
              <a:srgbClr val="666666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6000000" y="2000000"/>
            <a:ext cx="2800000" cy="1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電圧 V も比例して上げる
→ V/f を一定に保つ</a:t>
            </a:r>
            <a:endParaRPr lang="ja-JP"/>
          </a:p>
        </p:txBody>
      </p:sp>
      <p:sp>
        <p:nvSpPr>
          <p:cNvPr id="6" name="TextBox 6"/>
          <p:cNvSpPr txBox="1"/>
          <p:nvPr/>
        </p:nvSpPr>
        <p:spPr>
          <a:xfrm>
            <a:off x="900000" y="390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600" b="1">
                <a:solidFill>
                  <a:srgbClr val="000000"/>
                </a:solidFill>
                <a:latin typeface="Aptos"/>
                <a:ea typeface="Yu Gothic"/>
              </a:rPr>
              <a:t>V / f ≈ 一定  →  磁束をおおむね一定に保つ</a:t>
            </a:r>
            <a:endParaRPr lang="ja-JP"/>
          </a:p>
        </p:txBody>
      </p:sp>
      <p:sp>
        <p:nvSpPr>
          <p:cNvPr id="7" name="TextBox 7"/>
          <p:cNvSpPr txBox="1"/>
          <p:nvPr/>
        </p:nvSpPr>
        <p:spPr>
          <a:xfrm>
            <a:off x="900000" y="520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900">
                <a:solidFill>
                  <a:srgbClr val="000000"/>
                </a:solidFill>
                <a:latin typeface="Aptos"/>
                <a:ea typeface="Yu Gothic"/>
              </a:rPr>
              <a:t>試験では周波数・極数・すべりとの組合せで回転速度を求める。</a:t>
            </a:r>
            <a:endParaRPr lang="ja-JP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50000"/>
            <a:ext cx="11192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3000" b="1">
                <a:solidFill>
                  <a:srgbClr val="000000"/>
                </a:solidFill>
                <a:latin typeface="Aptos"/>
                <a:ea typeface="Yu Gothic"/>
              </a:rPr>
              <a:t>N700Sへの接続</a:t>
            </a:r>
            <a:endParaRPr lang="ja-JP"/>
          </a:p>
        </p:txBody>
      </p:sp>
      <p:sp>
        <p:nvSpPr>
          <p:cNvPr id="3" name="Rectangle 3"/>
          <p:cNvSpPr/>
          <p:nvPr/>
        </p:nvSpPr>
        <p:spPr>
          <a:xfrm>
            <a:off x="600000" y="2200000"/>
            <a:ext cx="2700000" cy="1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SiC適用
変換装置</a:t>
            </a:r>
            <a:endParaRPr lang="ja-JP"/>
          </a:p>
        </p:txBody>
      </p:sp>
      <p:sp>
        <p:nvSpPr>
          <p:cNvPr id="4" name="Arrow 4"/>
          <p:cNvSpPr/>
          <p:nvPr/>
        </p:nvSpPr>
        <p:spPr>
          <a:xfrm>
            <a:off x="3550000" y="2450000"/>
            <a:ext cx="1200000" cy="600000"/>
          </a:xfrm>
          <a:prstGeom prst="rightArrow">
            <a:avLst/>
          </a:prstGeom>
          <a:solidFill>
            <a:srgbClr val="D9D9D9"/>
          </a:solidFill>
          <a:ln>
            <a:solidFill>
              <a:srgbClr val="666666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050000" y="2200000"/>
            <a:ext cx="2700000" cy="1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走行風冷却
＋ 6極誘導電動機</a:t>
            </a:r>
            <a:endParaRPr lang="ja-JP"/>
          </a:p>
        </p:txBody>
      </p:sp>
      <p:sp>
        <p:nvSpPr>
          <p:cNvPr id="6" name="Arrow 6"/>
          <p:cNvSpPr/>
          <p:nvPr/>
        </p:nvSpPr>
        <p:spPr>
          <a:xfrm>
            <a:off x="8000000" y="2450000"/>
            <a:ext cx="1200000" cy="600000"/>
          </a:xfrm>
          <a:prstGeom prst="rightArrow">
            <a:avLst/>
          </a:prstGeom>
          <a:solidFill>
            <a:srgbClr val="D9D9D9"/>
          </a:solidFill>
          <a:ln>
            <a:solidFill>
              <a:srgbClr val="666666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500000" y="2200000"/>
            <a:ext cx="2100000" cy="1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txBody>
          <a:bodyPr wrap="square" anchor="ctr"/>
          <a:lstStyle/>
          <a:p>
            <a:pPr algn="ctr"/>
            <a:r>
              <a:rPr lang="ja-JP" sz="2200" b="1">
                <a:solidFill>
                  <a:srgbClr val="000000"/>
                </a:solidFill>
                <a:latin typeface="Aptos"/>
                <a:ea typeface="Yu Gothic"/>
              </a:rPr>
              <a:t>小型・軽量化</a:t>
            </a:r>
            <a:endParaRPr lang="ja-JP"/>
          </a:p>
        </p:txBody>
      </p:sp>
      <p:sp>
        <p:nvSpPr>
          <p:cNvPr id="8" name="TextBox 8"/>
          <p:cNvSpPr txBox="1"/>
          <p:nvPr/>
        </p:nvSpPr>
        <p:spPr>
          <a:xfrm>
            <a:off x="700000" y="42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750">
                <a:solidFill>
                  <a:srgbClr val="000000"/>
                </a:solidFill>
                <a:latin typeface="Aptos"/>
                <a:ea typeface="Yu Gothic"/>
              </a:rPr>
              <a:t>公開一次資料で確認できるのは「6極誘導電動機を含む組合せ」の設計方針。
実運転周波数・実すべり等の未公開値は教材で真値化しない。</a:t>
            </a:r>
            <a:endParaRPr lang="ja-JP"/>
          </a:p>
        </p:txBody>
      </p:sp>
      <p:sp>
        <p:nvSpPr>
          <p:cNvPr id="9" name="TextBox 9"/>
          <p:cNvSpPr txBox="1"/>
          <p:nvPr/>
        </p:nvSpPr>
        <p:spPr>
          <a:xfrm>
            <a:off x="700000" y="560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450">
                <a:solidFill>
                  <a:srgbClr val="000000"/>
                </a:solidFill>
                <a:latin typeface="Aptos"/>
                <a:ea typeface="Yu Gothic"/>
              </a:rPr>
              <a:t>出典: 佐藤賢司ほか「N700S 駆動システムの開発」日本機械学会 2018, DOI:10.1299/jsmetld.2018.27.3407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Yu Gothic"/>
        <a:cs typeface=""/>
      </a:majorFont>
      <a:minorFont>
        <a:latin typeface="Aptos"/>
        <a:ea typeface="Yu Gothic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