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10642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500" b="1">
                <a:solidFill>
                  <a:srgbClr val="16324F"/>
                </a:solidFill>
                <a:latin typeface="Noto Sans CJK JP"/>
              </a:rPr>
              <a:t>L0系④ 誘導集電 — 電磁誘導で非接触に車上電源へ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>
                <a:solidFill>
                  <a:srgbClr val="607080"/>
                </a:solidFill>
                <a:latin typeface="Noto Sans CJK JP"/>
              </a:rPr>
              <a:t>系列SPEC固定範囲：電磁誘導／非接触給電／誘導集電／交流／電力変換／効率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Noto Sans CJK JP"/>
              </a:rPr>
              <a:t>電験 × 新幹線｜01 車両・三種｜Topic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56248"/>
            <a:ext cx="178308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800" b="0">
                <a:solidFill>
                  <a:srgbClr val="607080"/>
                </a:solidFill>
                <a:latin typeface="Noto Sans CJK JP"/>
              </a:rPr>
              <a:t>L0系④ 誘導集電　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73736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261872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508760"/>
            <a:ext cx="1463039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500" b="1">
                <a:solidFill>
                  <a:srgbClr val="1D2733"/>
                </a:solidFill>
                <a:latin typeface="Noto Sans CJK JP"/>
              </a:rPr>
              <a:t>地上側交流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56232"/>
            <a:ext cx="1444751" cy="73151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200" b="0">
                <a:solidFill>
                  <a:srgbClr val="1D2733"/>
                </a:solidFill>
                <a:latin typeface="Noto Sans CJK JP"/>
              </a:rPr>
              <a:t>電流が時間変化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39" y="2048256"/>
            <a:ext cx="393193" cy="0"/>
          </a:xfrm>
          <a:prstGeom prst="line">
            <a:avLst/>
          </a:prstGeom>
          <a:ln w="27940">
            <a:solidFill>
              <a:srgbClr val="1F8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417320"/>
            <a:ext cx="173736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1417320"/>
            <a:ext cx="73152" cy="1261872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1508760"/>
            <a:ext cx="1463039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500" b="1">
                <a:solidFill>
                  <a:srgbClr val="1D2733"/>
                </a:solidFill>
                <a:latin typeface="Noto Sans CJK JP"/>
              </a:rPr>
              <a:t>磁界が変化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1856232"/>
            <a:ext cx="1444751" cy="73151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200" b="0">
                <a:solidFill>
                  <a:srgbClr val="1D2733"/>
                </a:solidFill>
                <a:latin typeface="Noto Sans CJK JP"/>
              </a:rPr>
              <a:t>受電側を貫く磁束 Φ が変わる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17720" y="2048256"/>
            <a:ext cx="393192" cy="0"/>
          </a:xfrm>
          <a:prstGeom prst="line">
            <a:avLst/>
          </a:prstGeom>
          <a:ln w="27940">
            <a:solidFill>
              <a:srgbClr val="1F8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20640" y="1417320"/>
            <a:ext cx="1737360" cy="1261872"/>
          </a:xfrm>
          <a:prstGeom prst="roundRect">
            <a:avLst>
              <a:gd name="adj" fmla="val 8000"/>
            </a:avLst>
          </a:prstGeom>
          <a:solidFill>
            <a:srgbClr val="FFF4DF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417320"/>
            <a:ext cx="73152" cy="1261872"/>
          </a:xfrm>
          <a:prstGeom prst="rect">
            <a:avLst/>
          </a:prstGeom>
          <a:solidFill>
            <a:srgbClr val="D3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1" y="1508760"/>
            <a:ext cx="1463039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500" b="1">
                <a:solidFill>
                  <a:srgbClr val="1D2733"/>
                </a:solidFill>
                <a:latin typeface="Noto Sans CJK JP"/>
              </a:rPr>
              <a:t>誘導起電力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1856232"/>
            <a:ext cx="1444751" cy="73151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200" b="0">
                <a:solidFill>
                  <a:srgbClr val="1D2733"/>
                </a:solidFill>
                <a:latin typeface="Noto Sans CJK JP"/>
              </a:rPr>
              <a:t>e = −N dΦ/dt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0" y="2048256"/>
            <a:ext cx="393192" cy="0"/>
          </a:xfrm>
          <a:prstGeom prst="line">
            <a:avLst/>
          </a:prstGeom>
          <a:ln w="27940">
            <a:solidFill>
              <a:srgbClr val="1F8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60920" y="1417320"/>
            <a:ext cx="173736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1417320"/>
            <a:ext cx="73152" cy="1261872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1508760"/>
            <a:ext cx="1463039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500" b="1">
                <a:solidFill>
                  <a:srgbClr val="1D2733"/>
                </a:solidFill>
                <a:latin typeface="Noto Sans CJK JP"/>
              </a:rPr>
              <a:t>車上側コイル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1856232"/>
            <a:ext cx="1444751" cy="73151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200" b="0">
                <a:solidFill>
                  <a:srgbClr val="1D2733"/>
                </a:solidFill>
                <a:latin typeface="Noto Sans CJK JP"/>
              </a:rPr>
              <a:t>相互誘導で電力を受ける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98280" y="2048256"/>
            <a:ext cx="393192" cy="0"/>
          </a:xfrm>
          <a:prstGeom prst="line">
            <a:avLst/>
          </a:prstGeom>
          <a:ln w="27940">
            <a:solidFill>
              <a:srgbClr val="1F8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01200" y="1417320"/>
            <a:ext cx="173736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1417320"/>
            <a:ext cx="73152" cy="1261872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65792" y="1508760"/>
            <a:ext cx="1463039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500" b="1">
                <a:solidFill>
                  <a:srgbClr val="1D2733"/>
                </a:solidFill>
                <a:latin typeface="Noto Sans CJK JP"/>
              </a:rPr>
              <a:t>車上電源へ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1856232"/>
            <a:ext cx="1444751" cy="73151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200" b="0">
                <a:solidFill>
                  <a:srgbClr val="1D2733"/>
                </a:solidFill>
                <a:latin typeface="Noto Sans CJK JP"/>
              </a:rPr>
              <a:t>接触なしで給電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2999232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E7F4F0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2999232"/>
            <a:ext cx="73152" cy="242316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090672"/>
            <a:ext cx="493776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800" b="1">
                <a:solidFill>
                  <a:srgbClr val="1D2733"/>
                </a:solidFill>
                <a:latin typeface="Noto Sans CJK JP"/>
              </a:rPr>
              <a:t>相互誘導を数量化する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3438144"/>
            <a:ext cx="4919472" cy="189280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550" b="0">
                <a:solidFill>
                  <a:srgbClr val="1D2733"/>
                </a:solidFill>
                <a:latin typeface="Noto Sans CJK JP"/>
              </a:rPr>
              <a:t>e₂ = −M di₁/dt</a:t>
            </a:r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M = k√(L₁L₂)</a:t>
            </a:r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和動接続：L₀ = L₁ + L₂ + 2M</a:t>
            </a:r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逆算：M = (L₀−L₁−L₂)/2 → k = M/√(L₁L₂)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5352" y="2999232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45352" y="2999232"/>
            <a:ext cx="73152" cy="2423160"/>
          </a:xfrm>
          <a:prstGeom prst="rect">
            <a:avLst/>
          </a:prstGeom>
          <a:solidFill>
            <a:srgbClr val="2D5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3090672"/>
            <a:ext cx="493776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800" b="1">
                <a:solidFill>
                  <a:srgbClr val="1D2733"/>
                </a:solidFill>
                <a:latin typeface="Noto Sans CJK JP"/>
              </a:rPr>
              <a:t>L0系で確認済みの範囲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3438144"/>
            <a:ext cx="4919472" cy="189280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300" b="0">
                <a:solidFill>
                  <a:srgbClr val="1D2733"/>
                </a:solidFill>
                <a:latin typeface="Noto Sans CJK JP"/>
              </a:rPr>
              <a:t>JR東海：電磁誘導を応用した非接触の「誘導集電」を採用。</a:t>
            </a:r>
            <a:br/>
            <a:r>
              <a:rPr sz="1300" b="0">
                <a:solidFill>
                  <a:srgbClr val="1D2733"/>
                </a:solidFill>
                <a:latin typeface="Noto Sans CJK JP"/>
              </a:rPr>
              <a:t>L0系改良型試験車：誘導集電方式を全面採用し、従来のガスタービンを搭載しない。</a:t>
            </a:r>
            <a:br/>
            <a:r>
              <a:rPr sz="1300" b="0">
                <a:solidFill>
                  <a:srgbClr val="1D2733"/>
                </a:solidFill>
                <a:latin typeface="Noto Sans CJK JP"/>
              </a:rPr>
              <a:t>未確認の実運転周波数・定格電力・伝送効率などは置かない。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57400" y="5650992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16324F"/>
          </a:solidFill>
          <a:ln w="1524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40280" y="5797296"/>
            <a:ext cx="763524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区別：誘導集電 ＝ 車上電源　／　推進 ＝ リニア同期モータ（Topic 22・23）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10642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500" b="1">
                <a:solidFill>
                  <a:srgbClr val="16324F"/>
                </a:solidFill>
                <a:latin typeface="Noto Sans CJK JP"/>
              </a:rPr>
              <a:t>交流→直流変換と効率 — 本試験で使う式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>
                <a:solidFill>
                  <a:srgbClr val="607080"/>
                </a:solidFill>
                <a:latin typeface="Noto Sans CJK JP"/>
              </a:rPr>
              <a:t>R7下 機械 問16・問15、R7上 機械 問9の要求事項を同じ1枚でつなぐ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Noto Sans CJK JP"/>
              </a:rPr>
              <a:t>電験 × 新幹線｜01 車両・三種｜Topic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56248"/>
            <a:ext cx="178308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800" b="0">
                <a:solidFill>
                  <a:srgbClr val="607080"/>
                </a:solidFill>
                <a:latin typeface="Noto Sans CJK JP"/>
              </a:rPr>
              <a:t>L0系④ 誘導集電　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61872"/>
            <a:ext cx="5440680" cy="446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261872"/>
            <a:ext cx="73152" cy="4462272"/>
          </a:xfrm>
          <a:prstGeom prst="rect">
            <a:avLst/>
          </a:prstGeom>
          <a:solidFill>
            <a:srgbClr val="D3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353312"/>
            <a:ext cx="516636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1D2733"/>
                </a:solidFill>
                <a:latin typeface="Noto Sans CJK JP"/>
              </a:rPr>
              <a:t>① 交流・整流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00784"/>
            <a:ext cx="5148072" cy="3931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550" b="0">
                <a:solidFill>
                  <a:srgbClr val="1D2733"/>
                </a:solidFill>
                <a:latin typeface="Noto Sans CJK JP"/>
              </a:rPr>
              <a:t>リアクタンス： X_L = 2πfL</a:t>
            </a:r>
            <a:br/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選定問題の三相整流式：</a:t>
            </a:r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V_d = (3√2/π)V_L − (3/π)X_L I_d − 2V_F</a:t>
            </a:r>
            <a:br/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1素子平均導通損失：</a:t>
            </a:r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P_D = V_F I_d / 3</a:t>
            </a:r>
            <a:br/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手順： mH→H → X_L → 各電圧項を別計算 → 導通率で平均化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261872"/>
            <a:ext cx="5285232" cy="4462272"/>
          </a:xfrm>
          <a:prstGeom prst="roundRect">
            <a:avLst>
              <a:gd name="adj" fmla="val 8000"/>
            </a:avLst>
          </a:prstGeom>
          <a:solidFill>
            <a:srgbClr val="E7F4F0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261872"/>
            <a:ext cx="73152" cy="4462272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353312"/>
            <a:ext cx="5010912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1D2733"/>
                </a:solidFill>
                <a:latin typeface="Noto Sans CJK JP"/>
              </a:rPr>
              <a:t>② 効率・損失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700784"/>
            <a:ext cx="4992624" cy="39319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550" b="0">
                <a:solidFill>
                  <a:srgbClr val="1D2733"/>
                </a:solidFill>
                <a:latin typeface="Noto Sans CJK JP"/>
              </a:rPr>
              <a:t>基本： η = P_out / P_in</a:t>
            </a:r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　　  = P_out / (P_out + P_loss)</a:t>
            </a:r>
            <a:br/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変圧器型： η = P_out/(P_out + P_i + P_c)</a:t>
            </a:r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銅損： P_c = x² P_cN</a:t>
            </a:r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出力： P_out = x S cosφ</a:t>
            </a:r>
            <a:br/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注意： kVA≠kW。力率を落とさない。</a:t>
            </a:r>
            <a:br/>
            <a:r>
              <a:rPr sz="1550" b="0">
                <a:solidFill>
                  <a:srgbClr val="1D2733"/>
                </a:solidFill>
                <a:latin typeface="Noto Sans CJK JP"/>
              </a:rPr>
              <a:t>　　   負荷率1/2でも銅損は1/2ではなく1/4。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897880"/>
            <a:ext cx="1993392" cy="475488"/>
          </a:xfrm>
          <a:prstGeom prst="roundRect">
            <a:avLst>
              <a:gd name="adj" fmla="val 8000"/>
            </a:avLst>
          </a:prstGeom>
          <a:solidFill>
            <a:srgbClr val="FFF4DF"/>
          </a:solidFill>
          <a:ln w="15240">
            <a:solidFill>
              <a:srgbClr val="D3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5971032"/>
            <a:ext cx="82296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1">
                <a:solidFill>
                  <a:srgbClr val="1D2733"/>
                </a:solidFill>
                <a:latin typeface="Noto Sans CJK JP"/>
              </a:rPr>
              <a:t>R7下 問16(a)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5952744"/>
            <a:ext cx="1024128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10" b="0">
                <a:solidFill>
                  <a:srgbClr val="1D2733"/>
                </a:solidFill>
                <a:latin typeface="Noto Sans CJK JP"/>
              </a:rPr>
              <a:t>導通率 → P_D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16936" y="5897880"/>
            <a:ext cx="1993392" cy="475488"/>
          </a:xfrm>
          <a:prstGeom prst="roundRect">
            <a:avLst>
              <a:gd name="adj" fmla="val 8000"/>
            </a:avLst>
          </a:prstGeom>
          <a:solidFill>
            <a:srgbClr val="FFF4DF"/>
          </a:solidFill>
          <a:ln w="15240">
            <a:solidFill>
              <a:srgbClr val="D3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0088" y="5971032"/>
            <a:ext cx="82296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1">
                <a:solidFill>
                  <a:srgbClr val="1D2733"/>
                </a:solidFill>
                <a:latin typeface="Noto Sans CJK JP"/>
              </a:rPr>
              <a:t>R7下 問16(b)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6472" y="5952744"/>
            <a:ext cx="1024128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10" b="0">
                <a:solidFill>
                  <a:srgbClr val="1D2733"/>
                </a:solidFill>
                <a:latin typeface="Noto Sans CJK JP"/>
              </a:rPr>
              <a:t>X_L → 整流電圧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75504" y="5897880"/>
            <a:ext cx="1993392" cy="475488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48656" y="5971032"/>
            <a:ext cx="82296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1">
                <a:solidFill>
                  <a:srgbClr val="1D2733"/>
                </a:solidFill>
                <a:latin typeface="Noto Sans CJK JP"/>
              </a:rPr>
              <a:t>R7下 問15(a)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952744"/>
            <a:ext cx="1024128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10" b="0">
                <a:solidFill>
                  <a:srgbClr val="1D2733"/>
                </a:solidFill>
                <a:latin typeface="Noto Sans CJK JP"/>
              </a:rPr>
              <a:t>鉄損・銅損 → 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34072" y="5897880"/>
            <a:ext cx="1993392" cy="475488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5971032"/>
            <a:ext cx="82296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1">
                <a:solidFill>
                  <a:srgbClr val="1D2733"/>
                </a:solidFill>
                <a:latin typeface="Noto Sans CJK JP"/>
              </a:rPr>
              <a:t>R7下 問15(b)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5952744"/>
            <a:ext cx="1024128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10" b="0">
                <a:solidFill>
                  <a:srgbClr val="1D2733"/>
                </a:solidFill>
                <a:latin typeface="Noto Sans CJK JP"/>
              </a:rPr>
              <a:t>x²で銅損逆算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5897880"/>
            <a:ext cx="1993392" cy="475488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5792" y="5971032"/>
            <a:ext cx="82296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1">
                <a:solidFill>
                  <a:srgbClr val="1D2733"/>
                </a:solidFill>
                <a:latin typeface="Noto Sans CJK JP"/>
              </a:rPr>
              <a:t>R7上 問9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52176" y="5952744"/>
            <a:ext cx="1024128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10" b="0">
                <a:solidFill>
                  <a:srgbClr val="1D2733"/>
                </a:solidFill>
                <a:latin typeface="Noto Sans CJK JP"/>
              </a:rPr>
              <a:t>力率→出力→η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10642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500" b="1">
                <a:solidFill>
                  <a:srgbClr val="16324F"/>
                </a:solidFill>
                <a:latin typeface="Noto Sans CJK JP"/>
              </a:rPr>
              <a:t>5問・7小問をこの3系統で解く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>
                <a:solidFill>
                  <a:srgbClr val="607080"/>
                </a:solidFill>
                <a:latin typeface="Noto Sans CJK JP"/>
              </a:rPr>
              <a:t>保存済み正答を見ずに再構成できるよう、式の選択順を固定する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0">
                <a:solidFill>
                  <a:srgbClr val="607080"/>
                </a:solidFill>
                <a:latin typeface="Noto Sans CJK JP"/>
              </a:rPr>
              <a:t>電験 × 新幹線｜01 車両・三種｜Topic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56248"/>
            <a:ext cx="178308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800" b="0">
                <a:solidFill>
                  <a:srgbClr val="607080"/>
                </a:solidFill>
                <a:latin typeface="Noto Sans CJK JP"/>
              </a:rPr>
              <a:t>L0系④ 誘導集電　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3566160" cy="3337560"/>
          </a:xfrm>
          <a:prstGeom prst="roundRect">
            <a:avLst>
              <a:gd name="adj" fmla="val 8000"/>
            </a:avLst>
          </a:prstGeom>
          <a:solidFill>
            <a:srgbClr val="E7F4F0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73152" cy="333756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98448"/>
            <a:ext cx="329184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800" b="1">
                <a:solidFill>
                  <a:srgbClr val="1D2733"/>
                </a:solidFill>
                <a:latin typeface="Noto Sans CJK JP"/>
              </a:rPr>
              <a:t>A｜電磁誘導・結合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3273552" cy="28072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330" b="0">
                <a:solidFill>
                  <a:srgbClr val="1D2733"/>
                </a:solidFill>
                <a:latin typeface="Noto Sans CJK JP"/>
              </a:rPr>
              <a:t>R6下 理論 問3</a:t>
            </a:r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  Φの時間変化 → |e|=N|ΔΦ|/Δt</a:t>
            </a:r>
            <a:br/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R4上 理論 問3</a:t>
            </a:r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  L₀,L₁,L₂ → M=(L₀−L₁−L₂)/2</a:t>
            </a:r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  → k=M/√(L₁L₂)</a:t>
            </a:r>
            <a:br/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要点：巻数、向き、H/mHの単位を先に確認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207008"/>
            <a:ext cx="3566160" cy="3337560"/>
          </a:xfrm>
          <a:prstGeom prst="roundRect">
            <a:avLst>
              <a:gd name="adj" fmla="val 8000"/>
            </a:avLst>
          </a:prstGeom>
          <a:solidFill>
            <a:srgbClr val="FFF4DF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207008"/>
            <a:ext cx="73152" cy="3337560"/>
          </a:xfrm>
          <a:prstGeom prst="rect">
            <a:avLst/>
          </a:prstGeom>
          <a:solidFill>
            <a:srgbClr val="D3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298448"/>
            <a:ext cx="329184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800" b="1">
                <a:solidFill>
                  <a:srgbClr val="1D2733"/>
                </a:solidFill>
                <a:latin typeface="Noto Sans CJK JP"/>
              </a:rPr>
              <a:t>B｜交流・整流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645920"/>
            <a:ext cx="3273552" cy="28072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330" b="0">
                <a:solidFill>
                  <a:srgbClr val="1D2733"/>
                </a:solidFill>
                <a:latin typeface="Noto Sans CJK JP"/>
              </a:rPr>
              <a:t>R7下 機械 問16(a)(b)</a:t>
            </a:r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  mH→H</a:t>
            </a:r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  → X_L=2πfL</a:t>
            </a:r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  → 問題文のV_d式へ代入</a:t>
            </a:r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  → 導通損失は導通率で平均化</a:t>
            </a:r>
            <a:br/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要点：リアクタンスによる電圧低下と、抵抗損失を混同しない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07008"/>
            <a:ext cx="35661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07008"/>
            <a:ext cx="73152" cy="3337560"/>
          </a:xfrm>
          <a:prstGeom prst="rect">
            <a:avLst/>
          </a:prstGeom>
          <a:solidFill>
            <a:srgbClr val="2D5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298448"/>
            <a:ext cx="329184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800" b="1">
                <a:solidFill>
                  <a:srgbClr val="1D2733"/>
                </a:solidFill>
                <a:latin typeface="Noto Sans CJK JP"/>
              </a:rPr>
              <a:t>C｜効率・負荷率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645920"/>
            <a:ext cx="3273552" cy="28072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330" b="0">
                <a:solidFill>
                  <a:srgbClr val="1D2733"/>
                </a:solidFill>
                <a:latin typeface="Noto Sans CJK JP"/>
              </a:rPr>
              <a:t>R7下 機械 問15(a)(b)</a:t>
            </a:r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R7上 機械 問9</a:t>
            </a:r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  S,x,cosφ → P_out</a:t>
            </a:r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  → P_c=x²P_cN</a:t>
            </a:r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  → η=P_out/(P_out+P_i+P_c)</a:t>
            </a:r>
            <a:br/>
            <a:br/>
            <a:r>
              <a:rPr sz="1330" b="0">
                <a:solidFill>
                  <a:srgbClr val="1D2733"/>
                </a:solidFill>
                <a:latin typeface="Noto Sans CJK JP"/>
              </a:rPr>
              <a:t>要点：力率と負荷率を別々に扱う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23774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Noto Sans CJK JP"/>
              </a:rPr>
              <a:t>駆動・給電方式の位置づけ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257800"/>
            <a:ext cx="2395728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5349240"/>
            <a:ext cx="22402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250" b="1">
                <a:solidFill>
                  <a:srgbClr val="1D2733"/>
                </a:solidFill>
                <a:latin typeface="Noto Sans CJK JP"/>
              </a:rPr>
              <a:t>プラレール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596128"/>
            <a:ext cx="2212848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000" b="0">
                <a:solidFill>
                  <a:srgbClr val="1D2733"/>
                </a:solidFill>
                <a:latin typeface="Noto Sans CJK JP"/>
              </a:rPr>
              <a:t>乾電池 → 直流モータ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54096" y="5650992"/>
            <a:ext cx="310895" cy="0"/>
          </a:xfrm>
          <a:prstGeom prst="line">
            <a:avLst/>
          </a:prstGeom>
          <a:ln w="27940">
            <a:solidFill>
              <a:srgbClr val="60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447287" y="5257800"/>
            <a:ext cx="2395728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39" y="5349240"/>
            <a:ext cx="22402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250" b="1">
                <a:solidFill>
                  <a:srgbClr val="1D2733"/>
                </a:solidFill>
                <a:latin typeface="Noto Sans CJK JP"/>
              </a:rPr>
              <a:t>0系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7" y="5596128"/>
            <a:ext cx="2212848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000" b="0">
                <a:solidFill>
                  <a:srgbClr val="1D2733"/>
                </a:solidFill>
                <a:latin typeface="Noto Sans CJK JP"/>
              </a:rPr>
              <a:t>架線 → 変圧 → 整流 → 直流主電動機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43016" y="5650992"/>
            <a:ext cx="310896" cy="0"/>
          </a:xfrm>
          <a:prstGeom prst="line">
            <a:avLst/>
          </a:prstGeom>
          <a:ln w="27940">
            <a:solidFill>
              <a:srgbClr val="60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36207" y="5257800"/>
            <a:ext cx="2395728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5349240"/>
            <a:ext cx="22402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250" b="1">
                <a:solidFill>
                  <a:srgbClr val="1D2733"/>
                </a:solidFill>
                <a:latin typeface="Noto Sans CJK JP"/>
              </a:rPr>
              <a:t>300系以降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7" y="5596128"/>
            <a:ext cx="2212848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000" b="0">
                <a:solidFill>
                  <a:srgbClr val="1D2733"/>
                </a:solidFill>
                <a:latin typeface="Noto Sans CJK JP"/>
              </a:rPr>
              <a:t>架線 → 電力変換 → VVVF → 誘導電動機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31936" y="5650992"/>
            <a:ext cx="310896" cy="0"/>
          </a:xfrm>
          <a:prstGeom prst="line">
            <a:avLst/>
          </a:prstGeom>
          <a:ln w="27940">
            <a:solidFill>
              <a:srgbClr val="60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25128" y="5257800"/>
            <a:ext cx="2395728" cy="786384"/>
          </a:xfrm>
          <a:prstGeom prst="roundRect">
            <a:avLst>
              <a:gd name="adj" fmla="val 8000"/>
            </a:avLst>
          </a:prstGeom>
          <a:solidFill>
            <a:srgbClr val="E7F4F0"/>
          </a:solidFill>
          <a:ln w="1524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5349240"/>
            <a:ext cx="22402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250" b="1">
                <a:solidFill>
                  <a:srgbClr val="1D2733"/>
                </a:solidFill>
                <a:latin typeface="Noto Sans CJK JP"/>
              </a:rPr>
              <a:t>L0系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5596128"/>
            <a:ext cx="2212848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000" b="0">
                <a:solidFill>
                  <a:srgbClr val="1D2733"/>
                </a:solidFill>
                <a:latin typeface="Noto Sans CJK JP"/>
              </a:rPr>
              <a:t>車上電源：誘導集電／推進：LSM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6236208"/>
            <a:ext cx="102412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030" b="0">
                <a:solidFill>
                  <a:srgbClr val="607080"/>
                </a:solidFill>
                <a:latin typeface="Noto Sans CJK JP"/>
              </a:rPr>
              <a:t>品質ゲート対象：5問・7小問（R7下 機械16(a)(b), 15(a)(b)／R7上 機械9／R6下 理論3／R4上 理論3）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