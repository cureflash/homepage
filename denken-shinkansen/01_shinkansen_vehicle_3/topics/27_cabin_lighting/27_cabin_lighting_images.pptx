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4F81BD" accent2="C0504D" accent3="9BBB59" accent4="8064A2" accent5="4BACC6" accent6="F79646" bg1="FFFFFF" bg2="EEECE1" folHlink="800080" hlink="0000FF" tx1="000000" tx2="1F497D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28600"/>
            <a:ext cx="11155680" cy="594360"/>
          </a:xfrm>
          <a:prstGeom prst="roundRect">
            <a:avLst/>
          </a:prstGeom>
          <a:noFill/>
          <a:ln>
            <a:noFill/>
          </a:ln>
        </p:spPr>
        <p:txBody>
          <a:bodyPr wrap="square" lIns="73152" rIns="73152" tIns="73152" bIns="73152" anchor="ctr"/>
          <a:lstStyle/>
          <a:p>
            <a:pPr/>
            <a:r>
              <a:rPr lang="ja-JP" sz="2800" b="1">
                <a:solidFill>
                  <a:srgbClr val="202124"/>
                </a:solidFill>
                <a:latin typeface="Noto Sans CJK JP"/>
                <a:ea typeface="Noto Sans CJK JP"/>
              </a:rPr>
              <a:t>照明計算は「lm → cd → lx」で読む</a:t>
            </a:r>
            <a:endParaRPr lang="ja-JP"/>
          </a:p>
        </p:txBody>
      </p:sp>
      <p:sp>
        <p:nvSpPr>
          <p:cNvPr id="3" name="Subtitle"/>
          <p:cNvSpPr txBox="1"/>
          <p:nvPr/>
        </p:nvSpPr>
        <p:spPr>
          <a:xfrm>
            <a:off x="548640" y="868680"/>
            <a:ext cx="10972800" cy="347472"/>
          </a:xfrm>
          <a:prstGeom prst="roundRect">
            <a:avLst/>
          </a:prstGeom>
          <a:noFill/>
          <a:ln>
            <a:noFill/>
          </a:ln>
        </p:spPr>
        <p:txBody>
          <a:bodyPr wrap="square" lIns="73152" rIns="73152" tIns="73152" bIns="73152" anchor="ctr"/>
          <a:lstStyle/>
          <a:p>
            <a:pPr/>
            <a:r>
              <a:rPr lang="ja-JP" sz="1350">
                <a:solidFill>
                  <a:srgbClr val="5F6368"/>
                </a:solidFill>
                <a:latin typeface="Noto Sans CJK JP"/>
                <a:ea typeface="Noto Sans CJK JP"/>
              </a:rPr>
              <a:t>Topic 27 補助電源② 車内照明｜固定範囲: LED・光束・光度・照度・照明計算</a:t>
            </a:r>
            <a:endParaRPr lang="ja-JP"/>
          </a:p>
        </p:txBody>
      </p:sp>
      <p:sp>
        <p:nvSpPr>
          <p:cNvPr id="4" name="Flux"/>
          <p:cNvSpPr txBox="1"/>
          <p:nvPr/>
        </p:nvSpPr>
        <p:spPr>
          <a:xfrm>
            <a:off x="640080" y="1417320"/>
            <a:ext cx="3154680" cy="132588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AECBFA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2200" b="1">
                <a:solidFill>
                  <a:srgbClr val="174EA6"/>
                </a:solidFill>
                <a:latin typeface="Noto Sans CJK JP"/>
                <a:ea typeface="Noto Sans CJK JP"/>
              </a:rPr>
              <a:t>光束 F [lm]</a:t>
            </a:r>
            <a:endParaRPr lang="ja-JP"/>
          </a:p>
          <a:p>
            <a:pPr algn="ctr"/>
            <a:r>
              <a:rPr lang="ja-JP" sz="1500">
                <a:solidFill>
                  <a:srgbClr val="202124"/>
                </a:solidFill>
                <a:latin typeface="Noto Sans CJK JP"/>
                <a:ea typeface="Noto Sans CJK JP"/>
              </a:rPr>
              <a:t>光源全体から出る光の量</a:t>
            </a:r>
            <a:endParaRPr lang="ja-JP"/>
          </a:p>
        </p:txBody>
      </p:sp>
      <p:sp>
        <p:nvSpPr>
          <p:cNvPr id="5" name="Intensity"/>
          <p:cNvSpPr txBox="1"/>
          <p:nvPr/>
        </p:nvSpPr>
        <p:spPr>
          <a:xfrm>
            <a:off x="4526280" y="1417320"/>
            <a:ext cx="3154680" cy="132588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A8DAB5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2200" b="1">
                <a:solidFill>
                  <a:srgbClr val="137333"/>
                </a:solidFill>
                <a:latin typeface="Noto Sans CJK JP"/>
                <a:ea typeface="Noto Sans CJK JP"/>
              </a:rPr>
              <a:t>光度 I [cd]</a:t>
            </a:r>
            <a:endParaRPr lang="ja-JP"/>
          </a:p>
          <a:p>
            <a:pPr algn="ctr"/>
            <a:r>
              <a:rPr lang="ja-JP" sz="1500">
                <a:solidFill>
                  <a:srgbClr val="202124"/>
                </a:solidFill>
                <a:latin typeface="Noto Sans CJK JP"/>
                <a:ea typeface="Noto Sans CJK JP"/>
              </a:rPr>
              <a:t>特定方向への光の強さ</a:t>
            </a:r>
            <a:endParaRPr lang="ja-JP"/>
          </a:p>
        </p:txBody>
      </p:sp>
      <p:sp>
        <p:nvSpPr>
          <p:cNvPr id="6" name="Illuminance"/>
          <p:cNvSpPr txBox="1"/>
          <p:nvPr/>
        </p:nvSpPr>
        <p:spPr>
          <a:xfrm>
            <a:off x="8412480" y="1417320"/>
            <a:ext cx="3154680" cy="1325880"/>
          </a:xfrm>
          <a:prstGeom prst="roundRect">
            <a:avLst/>
          </a:prstGeom>
          <a:solidFill>
            <a:srgbClr val="FEF7E0"/>
          </a:solidFill>
          <a:ln w="12700">
            <a:solidFill>
              <a:srgbClr val="FDD663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2200" b="1">
                <a:solidFill>
                  <a:srgbClr val="B06000"/>
                </a:solidFill>
                <a:latin typeface="Noto Sans CJK JP"/>
                <a:ea typeface="Noto Sans CJK JP"/>
              </a:rPr>
              <a:t>照度 E [lx]</a:t>
            </a:r>
            <a:endParaRPr lang="ja-JP"/>
          </a:p>
          <a:p>
            <a:pPr algn="ctr"/>
            <a:r>
              <a:rPr lang="ja-JP" sz="1500">
                <a:solidFill>
                  <a:srgbClr val="202124"/>
                </a:solidFill>
                <a:latin typeface="Noto Sans CJK JP"/>
                <a:ea typeface="Noto Sans CJK JP"/>
              </a:rPr>
              <a:t>面が受ける光の量</a:t>
            </a:r>
            <a:endParaRPr lang="ja-JP"/>
          </a:p>
        </p:txBody>
      </p:sp>
      <p:sp>
        <p:nvSpPr>
          <p:cNvPr id="7" name="Formula1"/>
          <p:cNvSpPr txBox="1"/>
          <p:nvPr/>
        </p:nvSpPr>
        <p:spPr>
          <a:xfrm>
            <a:off x="914400" y="3063240"/>
            <a:ext cx="2834640" cy="777240"/>
          </a:xfrm>
          <a:prstGeom prst="roundRect">
            <a:avLst/>
          </a:prstGeom>
          <a:noFill/>
          <a:ln>
            <a:noFill/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700" b="1">
                <a:solidFill>
                  <a:srgbClr val="202124"/>
                </a:solidFill>
                <a:latin typeface="Noto Sans CJK JP"/>
                <a:ea typeface="Noto Sans CJK JP"/>
              </a:rPr>
              <a:t>均等放射: I = F / (4π)</a:t>
            </a:r>
            <a:endParaRPr lang="ja-JP"/>
          </a:p>
        </p:txBody>
      </p:sp>
      <p:sp>
        <p:nvSpPr>
          <p:cNvPr id="8" name="Formula2"/>
          <p:cNvSpPr txBox="1"/>
          <p:nvPr/>
        </p:nvSpPr>
        <p:spPr>
          <a:xfrm>
            <a:off x="4663440" y="3063240"/>
            <a:ext cx="2834640" cy="777240"/>
          </a:xfrm>
          <a:prstGeom prst="roundRect">
            <a:avLst/>
          </a:prstGeom>
          <a:noFill/>
          <a:ln>
            <a:noFill/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700" b="1">
                <a:solidFill>
                  <a:srgbClr val="202124"/>
                </a:solidFill>
                <a:latin typeface="Noto Sans CJK JP"/>
                <a:ea typeface="Noto Sans CJK JP"/>
              </a:rPr>
              <a:t>直下: E = I / h²</a:t>
            </a:r>
            <a:endParaRPr lang="ja-JP"/>
          </a:p>
        </p:txBody>
      </p:sp>
      <p:sp>
        <p:nvSpPr>
          <p:cNvPr id="9" name="Formula3"/>
          <p:cNvSpPr txBox="1"/>
          <p:nvPr/>
        </p:nvSpPr>
        <p:spPr>
          <a:xfrm>
            <a:off x="8366760" y="3063240"/>
            <a:ext cx="3017520" cy="777240"/>
          </a:xfrm>
          <a:prstGeom prst="roundRect">
            <a:avLst/>
          </a:prstGeom>
          <a:noFill/>
          <a:ln>
            <a:noFill/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700" b="1">
                <a:solidFill>
                  <a:srgbClr val="202124"/>
                </a:solidFill>
                <a:latin typeface="Noto Sans CJK JP"/>
                <a:ea typeface="Noto Sans CJK JP"/>
              </a:rPr>
              <a:t>1 lx = 1 lm / m²</a:t>
            </a:r>
            <a:endParaRPr lang="ja-JP"/>
          </a:p>
        </p:txBody>
      </p:sp>
      <p:sp>
        <p:nvSpPr>
          <p:cNvPr id="10" name="Flow"/>
          <p:cNvSpPr txBox="1"/>
          <p:nvPr/>
        </p:nvSpPr>
        <p:spPr>
          <a:xfrm>
            <a:off x="685800" y="4160520"/>
            <a:ext cx="10881360" cy="15087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txBody>
          <a:bodyPr wrap="square" lIns="73152" rIns="73152" tIns="73152" bIns="73152" anchor="ctr"/>
          <a:lstStyle/>
          <a:p>
            <a:pPr/>
            <a:r>
              <a:rPr lang="ja-JP" sz="1500" b="1">
                <a:solidFill>
                  <a:srgbClr val="5F6368"/>
                </a:solidFill>
                <a:latin typeface="Noto Sans CJK JP"/>
                <a:ea typeface="Noto Sans CJK JP"/>
              </a:rPr>
              <a:t>問題を見たら</a:t>
            </a:r>
            <a:endParaRPr lang="ja-JP"/>
          </a:p>
          <a:p>
            <a:pPr algn="ctr"/>
            <a:r>
              <a:rPr lang="ja-JP" sz="1900" b="1">
                <a:solidFill>
                  <a:srgbClr val="202124"/>
                </a:solidFill>
                <a:latin typeface="Noto Sans CJK JP"/>
                <a:ea typeface="Noto Sans CJK JP"/>
              </a:rPr>
              <a:t>光源条件 → lm / cd / lx → 直下 / 斜入射 → 1灯 / 複数灯 → 配光式の有無</a:t>
            </a:r>
            <a:endParaRPr lang="ja-JP"/>
          </a:p>
          <a:p>
            <a:pPr algn="ctr"/>
            <a:r>
              <a:rPr lang="ja-JP" sz="1450">
                <a:solidFill>
                  <a:srgbClr val="5F6368"/>
                </a:solidFill>
                <a:latin typeface="Noto Sans CJK JP"/>
                <a:ea typeface="Noto Sans CJK JP"/>
              </a:rPr>
              <a:t>先に「何が与えられ、何を求めるか」を確定してから式を選ぶ。</a:t>
            </a:r>
            <a:endParaRPr lang="ja-JP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28600"/>
            <a:ext cx="11155680" cy="594360"/>
          </a:xfrm>
          <a:prstGeom prst="roundRect">
            <a:avLst/>
          </a:prstGeom>
          <a:noFill/>
          <a:ln>
            <a:noFill/>
          </a:ln>
        </p:spPr>
        <p:txBody>
          <a:bodyPr wrap="square" lIns="73152" rIns="73152" tIns="73152" bIns="73152" anchor="ctr"/>
          <a:lstStyle/>
          <a:p>
            <a:pPr/>
            <a:r>
              <a:rPr lang="ja-JP" sz="2800" b="1">
                <a:solidFill>
                  <a:srgbClr val="202124"/>
                </a:solidFill>
                <a:latin typeface="Noto Sans CJK JP"/>
                <a:ea typeface="Noto Sans CJK JP"/>
              </a:rPr>
              <a:t>斜入射は「距離 r」と「cosθ」を先に作る</a:t>
            </a:r>
            <a:endParaRPr lang="ja-JP"/>
          </a:p>
        </p:txBody>
      </p:sp>
      <p:sp>
        <p:nvSpPr>
          <p:cNvPr id="3" name="Subtitle"/>
          <p:cNvSpPr txBox="1"/>
          <p:nvPr/>
        </p:nvSpPr>
        <p:spPr>
          <a:xfrm>
            <a:off x="548640" y="868680"/>
            <a:ext cx="10972800" cy="347472"/>
          </a:xfrm>
          <a:prstGeom prst="roundRect">
            <a:avLst/>
          </a:prstGeom>
          <a:noFill/>
          <a:ln>
            <a:noFill/>
          </a:ln>
        </p:spPr>
        <p:txBody>
          <a:bodyPr wrap="square" lIns="73152" rIns="73152" tIns="73152" bIns="73152" anchor="ctr"/>
          <a:lstStyle/>
          <a:p>
            <a:pPr/>
            <a:r>
              <a:rPr lang="ja-JP" sz="1350">
                <a:solidFill>
                  <a:srgbClr val="5F6368"/>
                </a:solidFill>
                <a:latin typeface="Noto Sans CJK JP"/>
                <a:ea typeface="Noto Sans CJK JP"/>
              </a:rPr>
              <a:t>R6下問17(b)・R5下問17(b)・R7上問12の共通判断経路</a:t>
            </a:r>
            <a:endParaRPr lang="ja-JP"/>
          </a:p>
        </p:txBody>
      </p:sp>
      <p:sp>
        <p:nvSpPr>
          <p:cNvPr id="4" name="Geom"/>
          <p:cNvSpPr txBox="1"/>
          <p:nvPr/>
        </p:nvSpPr>
        <p:spPr>
          <a:xfrm>
            <a:off x="685800" y="1417320"/>
            <a:ext cx="5120640" cy="35661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AECBFA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800" b="1">
                <a:solidFill>
                  <a:srgbClr val="174EA6"/>
                </a:solidFill>
                <a:latin typeface="Noto Sans CJK JP"/>
                <a:ea typeface="Noto Sans CJK JP"/>
              </a:rPr>
              <a:t>幾何を先に処理</a:t>
            </a:r>
            <a:endParaRPr lang="ja-JP"/>
          </a:p>
          <a:p>
            <a:pPr algn="ctr"/>
            <a:r>
              <a:rPr lang="ja-JP" sz="1600">
                <a:solidFill>
                  <a:srgbClr val="202124"/>
                </a:solidFill>
                <a:latin typeface="Noto Sans CJK JP"/>
                <a:ea typeface="Noto Sans CJK JP"/>
              </a:rPr>
              <a:t>高さ h、水平距離 x</a:t>
            </a:r>
            <a:endParaRPr lang="ja-JP"/>
          </a:p>
          <a:p>
            <a:pPr algn="ctr"/>
            <a:r>
              <a:rPr lang="ja-JP" sz="2300" b="1">
                <a:solidFill>
                  <a:srgbClr val="202124"/>
                </a:solidFill>
                <a:latin typeface="Noto Sans CJK JP"/>
                <a:ea typeface="Noto Sans CJK JP"/>
              </a:rPr>
              <a:t>r = √(h² + x²)</a:t>
            </a:r>
            <a:endParaRPr lang="ja-JP"/>
          </a:p>
          <a:p>
            <a:pPr algn="ctr"/>
            <a:r>
              <a:rPr lang="ja-JP" sz="2300" b="1">
                <a:solidFill>
                  <a:srgbClr val="202124"/>
                </a:solidFill>
                <a:latin typeface="Noto Sans CJK JP"/>
                <a:ea typeface="Noto Sans CJK JP"/>
              </a:rPr>
              <a:t>cosθ = h / r</a:t>
            </a:r>
            <a:endParaRPr lang="ja-JP"/>
          </a:p>
          <a:p>
            <a:pPr algn="ctr"/>
            <a:r>
              <a:rPr lang="ja-JP" sz="1400">
                <a:solidFill>
                  <a:srgbClr val="D93025"/>
                </a:solidFill>
                <a:latin typeface="Noto Sans CJK JP"/>
                <a:ea typeface="Noto Sans CJK JP"/>
              </a:rPr>
              <a:t>水平距離 x を照度式の距離にしない</a:t>
            </a:r>
            <a:endParaRPr lang="ja-JP"/>
          </a:p>
        </p:txBody>
      </p:sp>
      <p:sp>
        <p:nvSpPr>
          <p:cNvPr id="5" name="Direct"/>
          <p:cNvSpPr txBox="1"/>
          <p:nvPr/>
        </p:nvSpPr>
        <p:spPr>
          <a:xfrm>
            <a:off x="6400800" y="1417320"/>
            <a:ext cx="5074920" cy="11430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A8DAB5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700" b="1">
                <a:solidFill>
                  <a:srgbClr val="137333"/>
                </a:solidFill>
                <a:latin typeface="Noto Sans CJK JP"/>
                <a:ea typeface="Noto Sans CJK JP"/>
              </a:rPr>
              <a:t>直下</a:t>
            </a:r>
            <a:endParaRPr lang="ja-JP"/>
          </a:p>
          <a:p>
            <a:pPr algn="ctr"/>
            <a:r>
              <a:rPr lang="ja-JP" sz="2300" b="1">
                <a:solidFill>
                  <a:srgbClr val="202124"/>
                </a:solidFill>
                <a:latin typeface="Noto Sans CJK JP"/>
                <a:ea typeface="Noto Sans CJK JP"/>
              </a:rPr>
              <a:t>E = I / h²</a:t>
            </a:r>
            <a:endParaRPr lang="ja-JP"/>
          </a:p>
        </p:txBody>
      </p:sp>
      <p:sp>
        <p:nvSpPr>
          <p:cNvPr id="6" name="Oblique"/>
          <p:cNvSpPr txBox="1"/>
          <p:nvPr/>
        </p:nvSpPr>
        <p:spPr>
          <a:xfrm>
            <a:off x="6400800" y="2788920"/>
            <a:ext cx="5074920" cy="1371600"/>
          </a:xfrm>
          <a:prstGeom prst="roundRect">
            <a:avLst/>
          </a:prstGeom>
          <a:solidFill>
            <a:srgbClr val="FEF7E0"/>
          </a:solidFill>
          <a:ln w="12700">
            <a:solidFill>
              <a:srgbClr val="FDD663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700" b="1">
                <a:solidFill>
                  <a:srgbClr val="B06000"/>
                </a:solidFill>
                <a:latin typeface="Noto Sans CJK JP"/>
                <a:ea typeface="Noto Sans CJK JP"/>
              </a:rPr>
              <a:t>斜入射・水平面</a:t>
            </a:r>
            <a:endParaRPr lang="ja-JP"/>
          </a:p>
          <a:p>
            <a:pPr algn="ctr"/>
            <a:r>
              <a:rPr lang="ja-JP" sz="2300" b="1">
                <a:solidFill>
                  <a:srgbClr val="202124"/>
                </a:solidFill>
                <a:latin typeface="Noto Sans CJK JP"/>
                <a:ea typeface="Noto Sans CJK JP"/>
              </a:rPr>
              <a:t>Eₕ = I(θ) cosθ / r²</a:t>
            </a:r>
            <a:endParaRPr lang="ja-JP"/>
          </a:p>
        </p:txBody>
      </p:sp>
      <p:sp>
        <p:nvSpPr>
          <p:cNvPr id="7" name="ThreeStep"/>
          <p:cNvSpPr txBox="1"/>
          <p:nvPr/>
        </p:nvSpPr>
        <p:spPr>
          <a:xfrm>
            <a:off x="6400800" y="4434840"/>
            <a:ext cx="5074920" cy="12344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500" b="1">
                <a:solidFill>
                  <a:srgbClr val="5F6368"/>
                </a:solidFill>
                <a:latin typeface="Noto Sans CJK JP"/>
                <a:ea typeface="Noto Sans CJK JP"/>
              </a:rPr>
              <a:t>3手順</a:t>
            </a:r>
            <a:endParaRPr lang="ja-JP"/>
          </a:p>
          <a:p>
            <a:pPr algn="ctr"/>
            <a:r>
              <a:rPr lang="ja-JP" sz="2000" b="1">
                <a:solidFill>
                  <a:srgbClr val="202124"/>
                </a:solidFill>
                <a:latin typeface="Noto Sans CJK JP"/>
                <a:ea typeface="Noto Sans CJK JP"/>
              </a:rPr>
              <a:t>① r → ② cosθ → ③ 照度式</a:t>
            </a:r>
            <a:endParaRPr lang="ja-JP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28600"/>
            <a:ext cx="11155680" cy="594360"/>
          </a:xfrm>
          <a:prstGeom prst="roundRect">
            <a:avLst/>
          </a:prstGeom>
          <a:noFill/>
          <a:ln>
            <a:noFill/>
          </a:ln>
        </p:spPr>
        <p:txBody>
          <a:bodyPr wrap="square" lIns="73152" rIns="73152" tIns="73152" bIns="73152" anchor="ctr"/>
          <a:lstStyle/>
          <a:p>
            <a:pPr/>
            <a:r>
              <a:rPr lang="ja-JP" sz="2800" b="1">
                <a:solidFill>
                  <a:srgbClr val="202124"/>
                </a:solidFill>
                <a:latin typeface="Noto Sans CJK JP"/>
                <a:ea typeface="Noto Sans CJK JP"/>
              </a:rPr>
              <a:t>複数光源は「各灯の照度を出してから加算」</a:t>
            </a:r>
            <a:endParaRPr lang="ja-JP"/>
          </a:p>
        </p:txBody>
      </p:sp>
      <p:sp>
        <p:nvSpPr>
          <p:cNvPr id="3" name="Subtitle"/>
          <p:cNvSpPr txBox="1"/>
          <p:nvPr/>
        </p:nvSpPr>
        <p:spPr>
          <a:xfrm>
            <a:off x="548640" y="868680"/>
            <a:ext cx="10972800" cy="347472"/>
          </a:xfrm>
          <a:prstGeom prst="roundRect">
            <a:avLst/>
          </a:prstGeom>
          <a:noFill/>
          <a:ln>
            <a:noFill/>
          </a:ln>
        </p:spPr>
        <p:txBody>
          <a:bodyPr wrap="square" lIns="73152" rIns="73152" tIns="73152" bIns="73152" anchor="ctr"/>
          <a:lstStyle/>
          <a:p>
            <a:pPr/>
            <a:r>
              <a:rPr lang="ja-JP" sz="1350">
                <a:solidFill>
                  <a:srgbClr val="5F6368"/>
                </a:solidFill>
                <a:latin typeface="Noto Sans CJK JP"/>
                <a:ea typeface="Noto Sans CJK JP"/>
              </a:rPr>
              <a:t>H27問16のLED配光式は問題文で与えられた式としてのみ使用</a:t>
            </a:r>
            <a:endParaRPr lang="ja-JP"/>
          </a:p>
        </p:txBody>
      </p:sp>
      <p:sp>
        <p:nvSpPr>
          <p:cNvPr id="4" name="Multi"/>
          <p:cNvSpPr txBox="1"/>
          <p:nvPr/>
        </p:nvSpPr>
        <p:spPr>
          <a:xfrm>
            <a:off x="685800" y="1417320"/>
            <a:ext cx="5212080" cy="347472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AECBFA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900" b="1">
                <a:solidFill>
                  <a:srgbClr val="174EA6"/>
                </a:solidFill>
                <a:latin typeface="Noto Sans CJK JP"/>
                <a:ea typeface="Noto Sans CJK JP"/>
              </a:rPr>
              <a:t>複数光源</a:t>
            </a:r>
            <a:endParaRPr lang="ja-JP"/>
          </a:p>
          <a:p>
            <a:pPr algn="ctr"/>
            <a:r>
              <a:rPr lang="ja-JP" sz="1800" b="1">
                <a:solidFill>
                  <a:srgbClr val="202124"/>
                </a:solidFill>
                <a:latin typeface="Noto Sans CJK JP"/>
                <a:ea typeface="Noto Sans CJK JP"/>
              </a:rPr>
              <a:t>E₁ = I₁(θ₁) cosθ₁ / r₁²</a:t>
            </a:r>
            <a:endParaRPr lang="ja-JP"/>
          </a:p>
          <a:p>
            <a:pPr algn="ctr"/>
            <a:r>
              <a:rPr lang="ja-JP" sz="1800" b="1">
                <a:solidFill>
                  <a:srgbClr val="202124"/>
                </a:solidFill>
                <a:latin typeface="Noto Sans CJK JP"/>
                <a:ea typeface="Noto Sans CJK JP"/>
              </a:rPr>
              <a:t>E₂ = I₂(θ₂) cosθ₂ / r₂²</a:t>
            </a:r>
            <a:endParaRPr lang="ja-JP"/>
          </a:p>
          <a:p>
            <a:pPr algn="ctr"/>
            <a:r>
              <a:rPr lang="ja-JP" sz="2200" b="1">
                <a:solidFill>
                  <a:srgbClr val="202124"/>
                </a:solidFill>
                <a:latin typeface="Noto Sans CJK JP"/>
                <a:ea typeface="Noto Sans CJK JP"/>
              </a:rPr>
              <a:t>E合計 = E₁ + E₂ + …</a:t>
            </a:r>
            <a:endParaRPr lang="ja-JP"/>
          </a:p>
          <a:p>
            <a:pPr algn="ctr"/>
            <a:r>
              <a:rPr lang="ja-JP" sz="1400">
                <a:solidFill>
                  <a:srgbClr val="5F6368"/>
                </a:solidFill>
                <a:latin typeface="Noto Sans CJK JP"/>
                <a:ea typeface="Noto Sans CJK JP"/>
              </a:rPr>
              <a:t>各灯の距離・角度が違えば個別計算する</a:t>
            </a:r>
            <a:endParaRPr lang="ja-JP"/>
          </a:p>
        </p:txBody>
      </p:sp>
      <p:sp>
        <p:nvSpPr>
          <p:cNvPr id="5" name="LED"/>
          <p:cNvSpPr txBox="1"/>
          <p:nvPr/>
        </p:nvSpPr>
        <p:spPr>
          <a:xfrm>
            <a:off x="6263640" y="1417320"/>
            <a:ext cx="5212080" cy="347472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A8DAB5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900" b="1">
                <a:solidFill>
                  <a:srgbClr val="137333"/>
                </a:solidFill>
                <a:latin typeface="Noto Sans CJK JP"/>
                <a:ea typeface="Noto Sans CJK JP"/>
              </a:rPr>
              <a:t>問題文提示のLED配光</a:t>
            </a:r>
            <a:endParaRPr lang="ja-JP"/>
          </a:p>
          <a:p>
            <a:pPr algn="ctr"/>
            <a:r>
              <a:rPr lang="ja-JP" sz="2300" b="1">
                <a:solidFill>
                  <a:srgbClr val="202124"/>
                </a:solidFill>
                <a:latin typeface="Noto Sans CJK JP"/>
                <a:ea typeface="Noto Sans CJK JP"/>
              </a:rPr>
              <a:t>I(θ) = I(0) cosθ</a:t>
            </a:r>
            <a:endParaRPr lang="ja-JP"/>
          </a:p>
          <a:p>
            <a:pPr algn="ctr"/>
            <a:r>
              <a:rPr lang="ja-JP" sz="1500">
                <a:solidFill>
                  <a:srgbClr val="202124"/>
                </a:solidFill>
                <a:latin typeface="Noto Sans CJK JP"/>
                <a:ea typeface="Noto Sans CJK JP"/>
              </a:rPr>
              <a:t>与えられた配光式で方向光度を求める</a:t>
            </a:r>
            <a:endParaRPr lang="ja-JP"/>
          </a:p>
          <a:p>
            <a:pPr algn="ctr"/>
            <a:r>
              <a:rPr lang="ja-JP" sz="1650" b="1">
                <a:solidFill>
                  <a:srgbClr val="D93025"/>
                </a:solidFill>
                <a:latin typeface="Noto Sans CJK JP"/>
                <a:ea typeface="Noto Sans CJK JP"/>
              </a:rPr>
              <a:t>すべてのLEDへ一般化しない</a:t>
            </a:r>
            <a:endParaRPr lang="ja-JP"/>
          </a:p>
          <a:p>
            <a:pPr algn="ctr"/>
            <a:r>
              <a:rPr lang="ja-JP" sz="1350">
                <a:solidFill>
                  <a:srgbClr val="5F6368"/>
                </a:solidFill>
                <a:latin typeface="Noto Sans CJK JP"/>
                <a:ea typeface="Noto Sans CJK JP"/>
              </a:rPr>
              <a:t>pn接合・材料・蛍光体はTopic 27範囲外</a:t>
            </a:r>
            <a:endParaRPr lang="ja-JP"/>
          </a:p>
        </p:txBody>
      </p:sp>
      <p:sp>
        <p:nvSpPr>
          <p:cNvPr id="6" name="Mistakes"/>
          <p:cNvSpPr txBox="1"/>
          <p:nvPr/>
        </p:nvSpPr>
        <p:spPr>
          <a:xfrm>
            <a:off x="777240" y="5166360"/>
            <a:ext cx="10607040" cy="7772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450" b="1">
                <a:solidFill>
                  <a:srgbClr val="5F6368"/>
                </a:solidFill>
                <a:latin typeface="Noto Sans CJK JP"/>
                <a:ea typeface="Noto Sans CJK JP"/>
              </a:rPr>
              <a:t>頻出ミス: lm/cd/lx混同・距離の2乗忘れ・cosθ忘れ・水平距離と光路距離の混同・加算漏れ</a:t>
            </a:r>
            <a:endParaRPr lang="ja-JP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28600"/>
            <a:ext cx="11155680" cy="594360"/>
          </a:xfrm>
          <a:prstGeom prst="roundRect">
            <a:avLst/>
          </a:prstGeom>
          <a:noFill/>
          <a:ln>
            <a:noFill/>
          </a:ln>
        </p:spPr>
        <p:txBody>
          <a:bodyPr wrap="square" lIns="73152" rIns="73152" tIns="73152" bIns="73152" anchor="ctr"/>
          <a:lstStyle/>
          <a:p>
            <a:pPr/>
            <a:r>
              <a:rPr lang="ja-JP" sz="2800" b="1">
                <a:solidFill>
                  <a:srgbClr val="202124"/>
                </a:solidFill>
                <a:latin typeface="Noto Sans CJK JP"/>
                <a:ea typeface="Noto Sans CJK JP"/>
              </a:rPr>
              <a:t>本試験は7段階で処理する</a:t>
            </a:r>
            <a:endParaRPr lang="ja-JP"/>
          </a:p>
        </p:txBody>
      </p:sp>
      <p:sp>
        <p:nvSpPr>
          <p:cNvPr id="3" name="Subtitle"/>
          <p:cNvSpPr txBox="1"/>
          <p:nvPr/>
        </p:nvSpPr>
        <p:spPr>
          <a:xfrm>
            <a:off x="548640" y="868680"/>
            <a:ext cx="10972800" cy="347472"/>
          </a:xfrm>
          <a:prstGeom prst="roundRect">
            <a:avLst/>
          </a:prstGeom>
          <a:noFill/>
          <a:ln>
            <a:noFill/>
          </a:ln>
        </p:spPr>
        <p:txBody>
          <a:bodyPr wrap="square" lIns="73152" rIns="73152" tIns="73152" bIns="73152" anchor="ctr"/>
          <a:lstStyle/>
          <a:p>
            <a:pPr/>
            <a:r>
              <a:rPr lang="ja-JP" sz="1350">
                <a:solidFill>
                  <a:srgbClr val="5F6368"/>
                </a:solidFill>
                <a:latin typeface="Noto Sans CJK JP"/>
                <a:ea typeface="Noto Sans CJK JP"/>
              </a:rPr>
              <a:t>固定EXAM_ALIGNMENT 5問・8小問をこの手順へ接続</a:t>
            </a:r>
            <a:endParaRPr lang="ja-JP"/>
          </a:p>
        </p:txBody>
      </p:sp>
      <p:sp>
        <p:nvSpPr>
          <p:cNvPr id="4" name="Algorithm"/>
          <p:cNvSpPr txBox="1"/>
          <p:nvPr/>
        </p:nvSpPr>
        <p:spPr>
          <a:xfrm>
            <a:off x="685800" y="1325880"/>
            <a:ext cx="10789920" cy="100584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AECBFA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650" b="1">
                <a:solidFill>
                  <a:srgbClr val="202124"/>
                </a:solidFill>
                <a:latin typeface="Noto Sans CJK JP"/>
                <a:ea typeface="Noto Sans CJK JP"/>
              </a:rPr>
              <a:t>①光源条件 → ②量・単位 → ③幾何(r, cosθ) → ④光度 → ⑤照度 → ⑥必要なら加算 → ⑦単位・桁検算</a:t>
            </a:r>
            <a:endParaRPr lang="ja-JP"/>
          </a:p>
        </p:txBody>
      </p:sp>
      <p:sp>
        <p:nvSpPr>
          <p:cNvPr id="5" name="Map1"/>
          <p:cNvSpPr txBox="1"/>
          <p:nvPr/>
        </p:nvSpPr>
        <p:spPr>
          <a:xfrm>
            <a:off x="685800" y="2606040"/>
            <a:ext cx="5166360" cy="2331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700" b="1">
                <a:solidFill>
                  <a:srgbClr val="174EA6"/>
                </a:solidFill>
                <a:latin typeface="Noto Sans CJK JP"/>
                <a:ea typeface="Noto Sans CJK JP"/>
              </a:rPr>
              <a:t>均等放射・直下/斜入射・複数灯</a:t>
            </a:r>
            <a:endParaRPr lang="ja-JP"/>
          </a:p>
          <a:p>
            <a:pPr algn="ctr"/>
            <a:r>
              <a:rPr lang="ja-JP" sz="1450">
                <a:solidFill>
                  <a:srgbClr val="202124"/>
                </a:solidFill>
                <a:latin typeface="Noto Sans CJK JP"/>
                <a:ea typeface="Noto Sans CJK JP"/>
              </a:rPr>
              <a:t>R7上 機械 問12</a:t>
            </a:r>
            <a:endParaRPr lang="ja-JP"/>
          </a:p>
          <a:p>
            <a:pPr algn="ctr"/>
            <a:r>
              <a:rPr lang="ja-JP" sz="1450">
                <a:solidFill>
                  <a:srgbClr val="202124"/>
                </a:solidFill>
                <a:latin typeface="Noto Sans CJK JP"/>
                <a:ea typeface="Noto Sans CJK JP"/>
              </a:rPr>
              <a:t>R6下 機械 問17(a)(b)</a:t>
            </a:r>
            <a:endParaRPr lang="ja-JP"/>
          </a:p>
          <a:p>
            <a:pPr algn="ctr"/>
            <a:r>
              <a:rPr lang="ja-JP" sz="1450">
                <a:solidFill>
                  <a:srgbClr val="202124"/>
                </a:solidFill>
                <a:latin typeface="Noto Sans CJK JP"/>
                <a:ea typeface="Noto Sans CJK JP"/>
              </a:rPr>
              <a:t>R6上 機械 問17(a)</a:t>
            </a:r>
            <a:endParaRPr lang="ja-JP"/>
          </a:p>
          <a:p>
            <a:pPr algn="ctr"/>
            <a:r>
              <a:rPr lang="ja-JP" sz="1450">
                <a:solidFill>
                  <a:srgbClr val="202124"/>
                </a:solidFill>
                <a:latin typeface="Noto Sans CJK JP"/>
                <a:ea typeface="Noto Sans CJK JP"/>
              </a:rPr>
              <a:t>R5下 機械 問17(a)(b)</a:t>
            </a:r>
            <a:endParaRPr lang="ja-JP"/>
          </a:p>
        </p:txBody>
      </p:sp>
      <p:sp>
        <p:nvSpPr>
          <p:cNvPr id="6" name="Map2"/>
          <p:cNvSpPr txBox="1"/>
          <p:nvPr/>
        </p:nvSpPr>
        <p:spPr>
          <a:xfrm>
            <a:off x="6172200" y="2606040"/>
            <a:ext cx="5303520" cy="233172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A8DAB5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700" b="1">
                <a:solidFill>
                  <a:srgbClr val="137333"/>
                </a:solidFill>
                <a:latin typeface="Noto Sans CJK JP"/>
                <a:ea typeface="Noto Sans CJK JP"/>
              </a:rPr>
              <a:t>問題文提示LED配光</a:t>
            </a:r>
            <a:endParaRPr lang="ja-JP"/>
          </a:p>
          <a:p>
            <a:pPr algn="ctr"/>
            <a:r>
              <a:rPr lang="ja-JP" sz="1600">
                <a:solidFill>
                  <a:srgbClr val="202124"/>
                </a:solidFill>
                <a:latin typeface="Noto Sans CJK JP"/>
                <a:ea typeface="Noto Sans CJK JP"/>
              </a:rPr>
              <a:t>H27 機械 問16(a)(b)</a:t>
            </a:r>
            <a:endParaRPr lang="ja-JP"/>
          </a:p>
          <a:p>
            <a:pPr algn="ctr"/>
            <a:r>
              <a:rPr lang="ja-JP" sz="1450">
                <a:solidFill>
                  <a:srgbClr val="202124"/>
                </a:solidFill>
                <a:latin typeface="Noto Sans CJK JP"/>
                <a:ea typeface="Noto Sans CJK JP"/>
              </a:rPr>
              <a:t>I(θ)=I(0)cosθ → 方向光度 → 照度</a:t>
            </a:r>
            <a:endParaRPr lang="ja-JP"/>
          </a:p>
          <a:p>
            <a:pPr algn="ctr"/>
            <a:r>
              <a:rPr lang="ja-JP" sz="1600" b="1">
                <a:solidFill>
                  <a:srgbClr val="137333"/>
                </a:solidFill>
                <a:latin typeface="Noto Sans CJK JP"/>
                <a:ea typeface="Noto Sans CJK JP"/>
              </a:rPr>
              <a:t>制作前独立解答: 8 / 8 PASS</a:t>
            </a:r>
            <a:endParaRPr lang="ja-JP"/>
          </a:p>
        </p:txBody>
      </p:sp>
      <p:sp>
        <p:nvSpPr>
          <p:cNvPr id="7" name="Boundary"/>
          <p:cNvSpPr txBox="1"/>
          <p:nvPr/>
        </p:nvSpPr>
        <p:spPr>
          <a:xfrm>
            <a:off x="777240" y="5257800"/>
            <a:ext cx="10607040" cy="594360"/>
          </a:xfrm>
          <a:prstGeom prst="roundRect">
            <a:avLst/>
          </a:prstGeom>
          <a:solidFill>
            <a:srgbClr val="FCE8E6"/>
          </a:solidFill>
          <a:ln w="12700">
            <a:solidFill>
              <a:srgbClr val="F4C7C3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350" b="1">
                <a:solidFill>
                  <a:srgbClr val="D93025"/>
                </a:solidFill>
                <a:latin typeface="Noto Sans CJK JP"/>
                <a:ea typeface="Noto Sans CJK JP"/>
              </a:rPr>
              <a:t>範囲外: 輝度・光束発散度・LED半導体物性・未確認の実車照明値は追加しない</a:t>
            </a:r>
            <a:endParaRPr lang="ja-JP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Noto Sans CJK JP"/>
        <a:ea typeface="Noto Sans CJK JP"/>
        <a:cs typeface="Arial"/>
      </a:majorFont>
      <a:minorFont>
        <a:latin typeface="Noto Sans CJK JP"/>
        <a:ea typeface="Noto Sans CJK JP"/>
        <a:cs typeface="Arial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27 車内照明</dc:title>
  <dc:creator>OpenAI</dc:creator>
  <dcterms:created xsi:type="dcterms:W3CDTF">2026-09-14T02:00:00Z</dcterms:created>
</cp:coreProperties>
</file>