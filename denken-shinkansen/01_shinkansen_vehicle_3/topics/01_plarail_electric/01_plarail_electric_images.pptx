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00000"/>
                </a:solidFill>
              </a:rPr>
              <a:t>01 プラレール① 電気編 — 電験三種・直流回路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1828800" cy="914400"/>
          </a:xfrm>
          <a:prstGeom prst="roundRect">
            <a:avLst/>
          </a:prstGeom>
          <a:solidFill>
            <a:srgbClr val="EBEBEB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algn="ctr"/>
            <a:r>
              <a:rPr sz="1800">
                <a:solidFill>
                  <a:srgbClr val="000000"/>
                </a:solidFill>
              </a:rPr>
              <a:t>乾電池</a:t>
            </a:r>
          </a:p>
          <a:p>
            <a:pPr algn="ctr"/>
            <a:r>
              <a:rPr sz="1800">
                <a:solidFill>
                  <a:srgbClr val="000000"/>
                </a:solidFill>
              </a:rPr>
              <a:t>1.5 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188720"/>
            <a:ext cx="1828800" cy="914400"/>
          </a:xfrm>
          <a:prstGeom prst="roundRect">
            <a:avLst/>
          </a:prstGeom>
          <a:solidFill>
            <a:srgbClr val="EBEBEB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algn="ctr"/>
            <a:r>
              <a:rPr sz="1800">
                <a:solidFill>
                  <a:srgbClr val="000000"/>
                </a:solidFill>
              </a:rPr>
              <a:t>スイッチ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0" y="1188720"/>
            <a:ext cx="1828800" cy="914400"/>
          </a:xfrm>
          <a:prstGeom prst="roundRect">
            <a:avLst/>
          </a:prstGeom>
          <a:solidFill>
            <a:srgbClr val="EBEBEB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algn="ctr"/>
            <a:r>
              <a:rPr sz="1800">
                <a:solidFill>
                  <a:srgbClr val="000000"/>
                </a:solidFill>
              </a:rPr>
              <a:t>直流モーター</a:t>
            </a:r>
          </a:p>
          <a:p>
            <a:pPr algn="ctr"/>
            <a:r>
              <a:rPr sz="1800">
                <a:solidFill>
                  <a:srgbClr val="000000"/>
                </a:solidFill>
              </a:rPr>
              <a:t>V = E + IaRa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188720"/>
            <a:ext cx="1828800" cy="914400"/>
          </a:xfrm>
          <a:prstGeom prst="roundRect">
            <a:avLst/>
          </a:prstGeom>
          <a:solidFill>
            <a:srgbClr val="EBEBEB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algn="ctr"/>
            <a:r>
              <a:rPr sz="1800">
                <a:solidFill>
                  <a:srgbClr val="000000"/>
                </a:solidFill>
              </a:rPr>
              <a:t>車輪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1645920"/>
            <a:ext cx="50292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800600" y="1645920"/>
            <a:ext cx="50292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32320" y="1645920"/>
            <a:ext cx="50292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2377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</a:rPr>
              <a:t>本試験で使う回路の読み方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1371600" cy="685800"/>
          </a:xfrm>
          <a:prstGeom prst="roundRect">
            <a:avLst/>
          </a:prstGeom>
          <a:solidFill>
            <a:srgbClr val="EBEBEB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algn="ctr"/>
            <a:r>
              <a:rPr sz="1800">
                <a:solidFill>
                  <a:srgbClr val="000000"/>
                </a:solidFill>
              </a:rPr>
              <a:t>電源 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971800"/>
            <a:ext cx="1371600" cy="685800"/>
          </a:xfrm>
          <a:prstGeom prst="roundRect">
            <a:avLst/>
          </a:prstGeom>
          <a:solidFill>
            <a:srgbClr val="EBEBEB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algn="ctr"/>
            <a:r>
              <a:rPr sz="1800">
                <a:solidFill>
                  <a:srgbClr val="000000"/>
                </a:solidFill>
              </a:rPr>
              <a:t>R1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71800"/>
            <a:ext cx="1371600" cy="685800"/>
          </a:xfrm>
          <a:prstGeom prst="roundRect">
            <a:avLst/>
          </a:prstGeom>
          <a:solidFill>
            <a:srgbClr val="EBEBEB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algn="ctr"/>
            <a:r>
              <a:rPr sz="1800">
                <a:solidFill>
                  <a:srgbClr val="000000"/>
                </a:solidFill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86200"/>
            <a:ext cx="5852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</a:rPr>
              <a:t>直列: R = R1 + R2</a:t>
            </a:r>
          </a:p>
          <a:p>
            <a:r>
              <a:rPr sz="1800" b="0">
                <a:solidFill>
                  <a:srgbClr val="000000"/>
                </a:solidFill>
              </a:rPr>
              <a:t>並列: 1/R = 1/R1 + 1/R2</a:t>
            </a:r>
          </a:p>
          <a:p>
            <a:r>
              <a:rPr sz="1800" b="0">
                <a:solidFill>
                  <a:srgbClr val="000000"/>
                </a:solidFill>
              </a:rPr>
              <a:t>KCL: ΣI = 0　　KVL: ΣV =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4231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</a:rPr>
              <a:t>電力・許容電力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971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</a:rPr>
              <a:t>P = VI = I²R = V²/R</a:t>
            </a:r>
          </a:p>
          <a:p>
            <a:r>
              <a:rPr sz="1800" b="0">
                <a:solidFill>
                  <a:srgbClr val="000000"/>
                </a:solidFill>
              </a:rPr>
              <a:t>Imax = √(Pmax/R)</a:t>
            </a:r>
          </a:p>
          <a:p>
            <a:r>
              <a:rPr sz="1800" b="0">
                <a:solidFill>
                  <a:srgbClr val="000000"/>
                </a:solidFill>
              </a:rPr>
              <a:t>Vmax = √(Pmax R)</a:t>
            </a:r>
          </a:p>
          <a:p/>
          <a:p>
            <a:r>
              <a:rPr sz="1800" b="0">
                <a:solidFill>
                  <a:srgbClr val="000000"/>
                </a:solidFill>
              </a:rPr>
              <a:t>解法: 単位統一 → 合成抵抗 → 電流/電圧 → 電力 → 選択肢照合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000000"/>
                </a:solidFill>
              </a:rPr>
              <a:t>出典: 電気技術者試験センター第三種過去問題; e-sysnet 直流回路/消費電力; タカラトミー; Panasonic（参照日 2026-08-29）。図は自作模式図。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引用元一覧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0000"/>
                </a:solidFill>
              </a:rPr>
              <a:t>1. 一般財団法人 電気技術者試験センター「第三種電気主任技術者試験 過去問題・解答」</a:t>
            </a:r>
          </a:p>
          <a:p>
            <a:r>
              <a:rPr sz="1500" b="0">
                <a:solidFill>
                  <a:srgbClr val="000000"/>
                </a:solidFill>
              </a:rPr>
              <a:t>   https://www.shiken.or.jp/chief/third/qa/ — H27 理論Q4, H30 理論Q5/Q6, R2 理論Q6, R4上 理論Q5（参照日 2026-08-29）</a:t>
            </a:r>
          </a:p>
          <a:p/>
          <a:p>
            <a:r>
              <a:rPr sz="1500" b="0">
                <a:solidFill>
                  <a:srgbClr val="000000"/>
                </a:solidFill>
              </a:rPr>
              <a:t>2. e-sysnet「直流回路の基本問題」「直流回路の消費電力」</a:t>
            </a:r>
          </a:p>
          <a:p>
            <a:r>
              <a:rPr sz="1500" b="0">
                <a:solidFill>
                  <a:srgbClr val="000000"/>
                </a:solidFill>
              </a:rPr>
              <a:t>   https://e-sysnet.com/ohms/ ; https://e-sysnet.com/consumption/（参照日 2026-08-29）</a:t>
            </a:r>
          </a:p>
          <a:p/>
          <a:p>
            <a:r>
              <a:rPr sz="1500" b="0">
                <a:solidFill>
                  <a:srgbClr val="000000"/>
                </a:solidFill>
              </a:rPr>
              <a:t>3. 電験三種まとめました「オームの法則」「過去問 科目別」</a:t>
            </a:r>
          </a:p>
          <a:p>
            <a:r>
              <a:rPr sz="1500" b="0">
                <a:solidFill>
                  <a:srgbClr val="000000"/>
                </a:solidFill>
              </a:rPr>
              <a:t>   https://yaku-tik.com/denken/r-ohms-law/ ; https://yaku-tik.com/denken/kako-kamoku/（参照日 2026-08-29）</a:t>
            </a:r>
          </a:p>
          <a:p/>
          <a:p>
            <a:r>
              <a:rPr sz="1500" b="0">
                <a:solidFill>
                  <a:srgbClr val="000000"/>
                </a:solidFill>
              </a:rPr>
              <a:t>4. タカラトミー「プラレール S-05 ライト付E7系新幹線かがやき」製品情報（単3形乾電池1本）</a:t>
            </a:r>
          </a:p>
          <a:p>
            <a:r>
              <a:rPr sz="1500" b="0">
                <a:solidFill>
                  <a:srgbClr val="000000"/>
                </a:solidFill>
              </a:rPr>
              <a:t>5. Panasonic「アルカリ乾電池」単3形 公称電圧1.5 V（参照日 2026-08-29）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000000"/>
                </a:solidFill>
              </a:rPr>
              <a:t>引用画像なし。車両・回路・エネルギーフローは自作模式図。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