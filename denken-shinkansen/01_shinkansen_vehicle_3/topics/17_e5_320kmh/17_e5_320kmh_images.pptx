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472C4" accent2="ED7D31" accent3="A5A5A5" accent4="FFC000" accent5="5B9BD5" accent6="70AD47" bg1="FFFFFF" bg2="E7E6E6" folHlink="954F72" hlink="0563C1" tx1="000000" tx2="44546A"/>
  <p:sldLayoutIdLst>
    <p:sldLayoutId id="1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42900"/>
            <a:ext cx="112776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ja-JP" sz="2800" b="1">
                <a:solidFill>
                  <a:srgbClr val="17365D"/>
                </a:solidFill>
                <a:latin typeface="Aptos"/>
                <a:ea typeface="Yu Gothic"/>
              </a:rPr>
              <a:t>E5系 320km/h運転</a:t>
            </a:r>
            <a:endParaRPr lang="ja-JP" sz="2800"/>
          </a:p>
        </p:txBody>
      </p:sp>
      <p:sp>
        <p:nvSpPr>
          <p:cNvPr id="3" name="Body"/>
          <p:cNvSpPr txBox="1"/>
          <p:nvPr/>
        </p:nvSpPr>
        <p:spPr>
          <a:xfrm>
            <a:off x="685800" y="1600200"/>
            <a:ext cx="10820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ja-JP" sz="1700" b="0">
                <a:solidFill>
                  <a:srgbClr val="1F1F1F"/>
                </a:solidFill>
                <a:latin typeface="Aptos"/>
                <a:ea typeface="Yu Gothic"/>
              </a:rPr>
              <a:t>・電験三種・機械で解く高速運転</a:t>
            </a:r>
            <a:endParaRPr lang="ja-JP" sz="1700"/>
          </a:p>
          <a:p>
            <a:r>
              <a:rPr lang="ja-JP" sz="1700" b="0">
                <a:solidFill>
                  <a:srgbClr val="1F1F1F"/>
                </a:solidFill>
                <a:latin typeface="Aptos"/>
                <a:ea typeface="Yu Gothic"/>
              </a:rPr>
              <a:t>・同期速度・すべり / 出力・トルク / VVVF / 安定動作点</a:t>
            </a:r>
            <a:endParaRPr lang="ja-JP"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42900"/>
            <a:ext cx="112776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ja-JP" sz="2800" b="1">
                <a:solidFill>
                  <a:srgbClr val="17365D"/>
                </a:solidFill>
                <a:latin typeface="Aptos"/>
                <a:ea typeface="Yu Gothic"/>
              </a:rPr>
              <a:t>誘導電動機：同期速度とすべり</a:t>
            </a:r>
            <a:endParaRPr lang="ja-JP" sz="2800"/>
          </a:p>
        </p:txBody>
      </p:sp>
      <p:sp>
        <p:nvSpPr>
          <p:cNvPr id="3" name="Body"/>
          <p:cNvSpPr txBox="1"/>
          <p:nvPr/>
        </p:nvSpPr>
        <p:spPr>
          <a:xfrm>
            <a:off x="685800" y="1600200"/>
            <a:ext cx="10820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ja-JP" sz="1700" b="0">
                <a:solidFill>
                  <a:srgbClr val="1F1F1F"/>
                </a:solidFill>
                <a:latin typeface="Aptos"/>
                <a:ea typeface="Yu Gothic"/>
              </a:rPr>
              <a:t>・Ns = 120 f / p</a:t>
            </a:r>
            <a:endParaRPr lang="ja-JP" sz="1700"/>
          </a:p>
          <a:p>
            <a:r>
              <a:rPr lang="ja-JP" sz="1700" b="0">
                <a:solidFill>
                  <a:srgbClr val="1F1F1F"/>
                </a:solidFill>
                <a:latin typeface="Aptos"/>
                <a:ea typeface="Yu Gothic"/>
              </a:rPr>
              <a:t>・s = (Ns - n) / Ns</a:t>
            </a:r>
            <a:endParaRPr lang="ja-JP" sz="1700"/>
          </a:p>
          <a:p>
            <a:r>
              <a:rPr lang="ja-JP" sz="1700" b="0">
                <a:solidFill>
                  <a:srgbClr val="1F1F1F"/>
                </a:solidFill>
                <a:latin typeface="Aptos"/>
                <a:ea typeface="Yu Gothic"/>
              </a:rPr>
              <a:t>・n = (1 - s) Ns</a:t>
            </a:r>
            <a:endParaRPr lang="ja-JP" sz="1700"/>
          </a:p>
          <a:p>
            <a:r>
              <a:rPr lang="ja-JP" sz="1700" b="0">
                <a:solidFill>
                  <a:srgbClr val="1F1F1F"/>
                </a:solidFill>
                <a:latin typeface="Aptos"/>
                <a:ea typeface="Yu Gothic"/>
              </a:rPr>
              <a:t>・同期速度と実回転速度を区別する</a:t>
            </a:r>
            <a:endParaRPr lang="ja-JP"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42900"/>
            <a:ext cx="112776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ja-JP" sz="2800" b="1">
                <a:solidFill>
                  <a:srgbClr val="17365D"/>
                </a:solidFill>
                <a:latin typeface="Aptos"/>
                <a:ea typeface="Yu Gothic"/>
              </a:rPr>
              <a:t>出力・トルク・加速</a:t>
            </a:r>
            <a:endParaRPr lang="ja-JP" sz="2800"/>
          </a:p>
        </p:txBody>
      </p:sp>
      <p:sp>
        <p:nvSpPr>
          <p:cNvPr id="3" name="Body"/>
          <p:cNvSpPr txBox="1"/>
          <p:nvPr/>
        </p:nvSpPr>
        <p:spPr>
          <a:xfrm>
            <a:off x="685800" y="1600200"/>
            <a:ext cx="10820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ja-JP" sz="1700" b="0">
                <a:solidFill>
                  <a:srgbClr val="1F1F1F"/>
                </a:solidFill>
                <a:latin typeface="Aptos"/>
                <a:ea typeface="Yu Gothic"/>
              </a:rPr>
              <a:t>・ω = 2πn / 60</a:t>
            </a:r>
            <a:endParaRPr lang="ja-JP" sz="1700"/>
          </a:p>
          <a:p>
            <a:r>
              <a:rPr lang="ja-JP" sz="1700" b="0">
                <a:solidFill>
                  <a:srgbClr val="1F1F1F"/>
                </a:solidFill>
                <a:latin typeface="Aptos"/>
                <a:ea typeface="Yu Gothic"/>
              </a:rPr>
              <a:t>・P = Tω</a:t>
            </a:r>
            <a:endParaRPr lang="ja-JP" sz="1700"/>
          </a:p>
          <a:p>
            <a:r>
              <a:rPr lang="ja-JP" sz="1700" b="0">
                <a:solidFill>
                  <a:srgbClr val="1F1F1F"/>
                </a:solidFill>
                <a:latin typeface="Aptos"/>
                <a:ea typeface="Yu Gothic"/>
              </a:rPr>
              <a:t>・E = Iω² / 2</a:t>
            </a:r>
            <a:endParaRPr lang="ja-JP" sz="1700"/>
          </a:p>
          <a:p>
            <a:r>
              <a:rPr lang="ja-JP" sz="1700" b="0">
                <a:solidFill>
                  <a:srgbClr val="1F1F1F"/>
                </a:solidFill>
                <a:latin typeface="Aptos"/>
                <a:ea typeface="Yu Gothic"/>
              </a:rPr>
              <a:t>・Tm &gt; TL なら加速、Tm &lt; TL なら減速</a:t>
            </a:r>
            <a:endParaRPr lang="ja-JP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42900"/>
            <a:ext cx="112776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ja-JP" sz="2800" b="1">
                <a:solidFill>
                  <a:srgbClr val="17365D"/>
                </a:solidFill>
                <a:latin typeface="Aptos"/>
                <a:ea typeface="Yu Gothic"/>
              </a:rPr>
              <a:t>E5系320 km/hへ接続</a:t>
            </a:r>
            <a:endParaRPr lang="ja-JP" sz="2800"/>
          </a:p>
        </p:txBody>
      </p:sp>
      <p:sp>
        <p:nvSpPr>
          <p:cNvPr id="3" name="Body"/>
          <p:cNvSpPr txBox="1"/>
          <p:nvPr/>
        </p:nvSpPr>
        <p:spPr>
          <a:xfrm>
            <a:off x="685800" y="1600200"/>
            <a:ext cx="10820400" cy="457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ja-JP" sz="1700" b="0">
                <a:solidFill>
                  <a:srgbClr val="1F1F1F"/>
                </a:solidFill>
                <a:latin typeface="Aptos"/>
                <a:ea typeface="Yu Gothic"/>
              </a:rPr>
              <a:t>・営業最高速度 320 km/h</a:t>
            </a:r>
            <a:endParaRPr lang="ja-JP" sz="1700"/>
          </a:p>
          <a:p>
            <a:r>
              <a:rPr lang="ja-JP" sz="1700" b="0">
                <a:solidFill>
                  <a:srgbClr val="1F1F1F"/>
                </a:solidFill>
                <a:latin typeface="Aptos"/>
                <a:ea typeface="Yu Gothic"/>
              </a:rPr>
              <a:t>・P = Fv：同じ推進力でも高速ほど必要出力は大きい</a:t>
            </a:r>
            <a:endParaRPr lang="ja-JP" sz="1700"/>
          </a:p>
          <a:p>
            <a:r>
              <a:rPr lang="ja-JP" sz="1700" b="0">
                <a:solidFill>
                  <a:srgbClr val="1F1F1F"/>
                </a:solidFill>
                <a:latin typeface="Aptos"/>
                <a:ea typeface="Yu Gothic"/>
              </a:rPr>
              <a:t>・電動機トルク ≠ レールへ伝達できる駆動力</a:t>
            </a:r>
            <a:endParaRPr lang="ja-JP" sz="1700"/>
          </a:p>
          <a:p>
            <a:r>
              <a:rPr lang="ja-JP" sz="1700" b="0">
                <a:solidFill>
                  <a:srgbClr val="1F1F1F"/>
                </a:solidFill>
                <a:latin typeface="Aptos"/>
                <a:ea typeface="Yu Gothic"/>
              </a:rPr>
              <a:t>・粘着・空転・再粘着を区別して考える</a:t>
            </a:r>
            <a:endParaRPr lang="ja-JP" sz="1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">
  <a:themeElements>
    <a:clrScheme name="Simple">
      <a:dk1>
        <a:srgbClr val="000000"/>
      </a:dk1>
      <a:lt1>
        <a:srgbClr val="FFFFFF"/>
      </a:lt1>
      <a:dk2>
        <a:srgbClr val="17365D"/>
      </a:dk2>
      <a:lt2>
        <a:srgbClr val="F7FAFC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imple">
      <a:majorFont>
        <a:latin typeface="Aptos Display"/>
        <a:ea typeface="Yu Gothic"/>
        <a:cs typeface="Arial"/>
      </a:majorFont>
      <a:minorFont>
        <a:latin typeface="Aptos"/>
        <a:ea typeface="Yu Gothic"/>
        <a:cs typeface="Arial"/>
      </a:minorFont>
    </a:fontScheme>
    <a:fmtScheme name="Simpl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17 E5系 320km/h運転</dc:title>
  <dc:creator>OpenAI</dc:creator>
  <dcterms:created xsi:type="dcterms:W3CDTF">2026-08-30T00:00:00Z</dcterms:created>
</cp:coreProperties>
</file>