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0000" y="350000"/>
            <a:ext cx="111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ja-JP" sz="3000" b="1">
                <a:solidFill>
                  <a:srgbClr val="17365D"/>
                </a:solidFill>
              </a:rPr>
              <a:t>回生の入口は「すべりの符号」</a:t>
            </a:r>
            <a:endParaRPr lang="ja-JP" sz="30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3900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txBody>
          <a:bodyPr wrap="square"/>
          <a:lstStyle/>
          <a:p>
            <a:r>
              <a:rPr lang="ja-JP" sz="2300" b="0">
                <a:solidFill>
                  <a:srgbClr val="17365D"/>
                </a:solidFill>
              </a:rPr>
              <a:t>・電動機  0 &lt; s &lt; 1</a:t>
            </a:r>
            <a:endParaRPr lang="ja-JP" sz="2300"/>
          </a:p>
          <a:p>
            <a:r>
              <a:rPr lang="ja-JP" sz="2300" b="0">
                <a:solidFill>
                  <a:srgbClr val="17365D"/>
                </a:solidFill>
              </a:rPr>
              <a:t>・同期  s = 0</a:t>
            </a:r>
            <a:endParaRPr lang="ja-JP" sz="2300"/>
          </a:p>
          <a:p>
            <a:r>
              <a:rPr lang="ja-JP" sz="2300" b="0">
                <a:solidFill>
                  <a:srgbClr val="17365D"/>
                </a:solidFill>
              </a:rPr>
              <a:t>・発電機  s &lt; 0</a:t>
            </a:r>
            <a:endParaRPr lang="ja-JP" sz="2300"/>
          </a:p>
          <a:p>
            <a:r>
              <a:rPr lang="ja-JP" sz="2300" b="0">
                <a:solidFill>
                  <a:srgbClr val="17365D"/>
                </a:solidFill>
              </a:rPr>
              <a:t>・s = (n_s - n) / n_s   n_s = 120 f / p</a:t>
            </a:r>
            <a:endParaRPr lang="ja-JP" sz="2300"/>
          </a:p>
        </p:txBody>
      </p:sp>
      <p:sp>
        <p:nvSpPr>
          <p:cNvPr id="4" name="Text 4"/>
          <p:cNvSpPr txBox="1"/>
          <p:nvPr/>
        </p:nvSpPr>
        <p:spPr>
          <a:xfrm>
            <a:off x="600000" y="6100000"/>
            <a:ext cx="110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ja-JP" sz="800" b="0">
                <a:solidFill>
                  <a:srgbClr val="17365D"/>
                </a:solidFill>
              </a:rPr>
              <a:t>出典: 電気技術者試験センター R6上 機械 問3・問4 / e-sysnet（参照 2026-08-29）</a:t>
            </a:r>
            <a:endParaRPr lang="ja-JP" sz="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0000" y="350000"/>
            <a:ext cx="111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ja-JP" sz="3000" b="1">
                <a:solidFill>
                  <a:srgbClr val="17365D"/>
                </a:solidFill>
              </a:rPr>
              <a:t>回生制動のエネルギー流</a:t>
            </a:r>
            <a:endParaRPr lang="ja-JP" sz="30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3900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txBody>
          <a:bodyPr wrap="square"/>
          <a:lstStyle/>
          <a:p>
            <a:r>
              <a:rPr lang="ja-JP" sz="2300" b="0">
                <a:solidFill>
                  <a:srgbClr val="17365D"/>
                </a:solidFill>
              </a:rPr>
              <a:t>・車輪・列車の運動エネルギー → 誘導機の発電機運転</a:t>
            </a:r>
            <a:endParaRPr lang="ja-JP" sz="2300"/>
          </a:p>
          <a:p>
            <a:r>
              <a:rPr lang="ja-JP" sz="2300" b="0">
                <a:solidFill>
                  <a:srgbClr val="17365D"/>
                </a:solidFill>
              </a:rPr>
              <a:t>・→ 主変換装置（コンバータ／インバータ） → 架線・電源側</a:t>
            </a:r>
            <a:endParaRPr lang="ja-JP" sz="2300"/>
          </a:p>
          <a:p>
            <a:r>
              <a:rPr lang="ja-JP" sz="2300" b="0">
                <a:solidFill>
                  <a:srgbClr val="17365D"/>
                </a:solidFill>
              </a:rPr>
              <a:t>・回生: 電源側へ戻す　　発電制動: 抵抗で熱へ</a:t>
            </a:r>
            <a:endParaRPr lang="ja-JP" sz="2300"/>
          </a:p>
        </p:txBody>
      </p:sp>
      <p:sp>
        <p:nvSpPr>
          <p:cNvPr id="4" name="Text 4"/>
          <p:cNvSpPr txBox="1"/>
          <p:nvPr/>
        </p:nvSpPr>
        <p:spPr>
          <a:xfrm>
            <a:off x="600000" y="6100000"/>
            <a:ext cx="110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ja-JP" sz="800" b="0">
                <a:solidFill>
                  <a:srgbClr val="17365D"/>
                </a:solidFill>
              </a:rPr>
              <a:t>出典: 石川栄「“のぞみ”に結実した誘導電動機駆動システム」電気学会論文誌D 114(6), 1994</a:t>
            </a:r>
            <a:endParaRPr lang="ja-JP" sz="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0000" y="350000"/>
            <a:ext cx="111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ja-JP" sz="3000" b="1">
                <a:solidFill>
                  <a:srgbClr val="17365D"/>
                </a:solidFill>
              </a:rPr>
              <a:t>本試験の解法アルゴリズム</a:t>
            </a:r>
            <a:endParaRPr lang="ja-JP" sz="30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3900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txBody>
          <a:bodyPr wrap="square"/>
          <a:lstStyle/>
          <a:p>
            <a:r>
              <a:rPr lang="ja-JP" sz="2300" b="0">
                <a:solidFill>
                  <a:srgbClr val="17365D"/>
                </a:solidFill>
              </a:rPr>
              <a:t>・1. f と極数 p から n_s を求める</a:t>
            </a:r>
            <a:endParaRPr lang="ja-JP" sz="2300"/>
          </a:p>
          <a:p>
            <a:r>
              <a:rPr lang="ja-JP" sz="2300" b="0">
                <a:solidFill>
                  <a:srgbClr val="17365D"/>
                </a:solidFill>
              </a:rPr>
              <a:t>・2. n と n_s を比較する</a:t>
            </a:r>
            <a:endParaRPr lang="ja-JP" sz="2300"/>
          </a:p>
          <a:p>
            <a:r>
              <a:rPr lang="ja-JP" sz="2300" b="0">
                <a:solidFill>
                  <a:srgbClr val="17365D"/>
                </a:solidFill>
              </a:rPr>
              <a:t>・3. s の符号を決める</a:t>
            </a:r>
            <a:endParaRPr lang="ja-JP" sz="2300"/>
          </a:p>
          <a:p>
            <a:r>
              <a:rPr lang="ja-JP" sz="2300" b="0">
                <a:solidFill>
                  <a:srgbClr val="17365D"/>
                </a:solidFill>
              </a:rPr>
              <a:t>・4. 電動／発電とトルク方向を判定</a:t>
            </a:r>
            <a:endParaRPr lang="ja-JP" sz="2300"/>
          </a:p>
          <a:p>
            <a:r>
              <a:rPr lang="ja-JP" sz="2300" b="0">
                <a:solidFill>
                  <a:srgbClr val="17365D"/>
                </a:solidFill>
              </a:rPr>
              <a:t>・5. 電力・エネルギーを計算</a:t>
            </a:r>
            <a:endParaRPr lang="ja-JP" sz="2300"/>
          </a:p>
          <a:p>
            <a:r>
              <a:rPr lang="ja-JP" sz="2300" b="0">
                <a:solidFill>
                  <a:srgbClr val="17365D"/>
                </a:solidFill>
              </a:rPr>
              <a:t>・6. 回生／発電制動を検算</a:t>
            </a:r>
            <a:endParaRPr lang="ja-JP" sz="2300"/>
          </a:p>
        </p:txBody>
      </p:sp>
      <p:sp>
        <p:nvSpPr>
          <p:cNvPr id="4" name="Text 4"/>
          <p:cNvSpPr txBox="1"/>
          <p:nvPr/>
        </p:nvSpPr>
        <p:spPr>
          <a:xfrm>
            <a:off x="600000" y="6100000"/>
            <a:ext cx="110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ja-JP" sz="800" b="0">
                <a:solidFill>
                  <a:srgbClr val="17365D"/>
                </a:solidFill>
              </a:rPr>
              <a:t>出典: 電気技術者試験センター R6上問3・問4、R5下問15（参照 2026-08-29）</a:t>
            </a:r>
            <a:endParaRPr lang="ja-JP" sz="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0000" y="350000"/>
            <a:ext cx="111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ja-JP" sz="3000" b="1">
                <a:solidFill>
                  <a:srgbClr val="17365D"/>
                </a:solidFill>
              </a:rPr>
              <a:t>300系で具体化する</a:t>
            </a:r>
            <a:endParaRPr lang="ja-JP" sz="30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3900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txBody>
          <a:bodyPr wrap="square"/>
          <a:lstStyle/>
          <a:p>
            <a:r>
              <a:rPr lang="ja-JP" sz="2300" b="0">
                <a:solidFill>
                  <a:srgbClr val="17365D"/>
                </a:solidFill>
              </a:rPr>
              <a:t>・日本車輌資料: 300系は270 km/h用、交流電動機、コンバータ／インバータ制御</a:t>
            </a:r>
            <a:endParaRPr lang="ja-JP" sz="2300"/>
          </a:p>
          <a:p>
            <a:r>
              <a:rPr lang="ja-JP" sz="2300" b="0">
                <a:solidFill>
                  <a:srgbClr val="17365D"/>
                </a:solidFill>
              </a:rPr>
              <a:t>・J-STAGE技術論文: 「交流回生ブレーキ」「誘導電動機駆動」を確認</a:t>
            </a:r>
            <a:endParaRPr lang="ja-JP" sz="2300"/>
          </a:p>
          <a:p>
            <a:r>
              <a:rPr lang="ja-JP" sz="2300" b="0">
                <a:solidFill>
                  <a:srgbClr val="17365D"/>
                </a:solidFill>
              </a:rPr>
              <a:t>・一次資料で確認していない回生効率・直流リンク電圧・個別周波数は「実値」にしない</a:t>
            </a:r>
            <a:endParaRPr lang="ja-JP" sz="2300"/>
          </a:p>
        </p:txBody>
      </p:sp>
      <p:sp>
        <p:nvSpPr>
          <p:cNvPr id="4" name="Text 4"/>
          <p:cNvSpPr txBox="1"/>
          <p:nvPr/>
        </p:nvSpPr>
        <p:spPr>
          <a:xfrm>
            <a:off x="600000" y="6100000"/>
            <a:ext cx="110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ja-JP" sz="800" b="0">
                <a:solidFill>
                  <a:srgbClr val="17365D"/>
                </a:solidFill>
              </a:rPr>
              <a:t>出典: 日本車輌製造「300系新幹線」 / 石川栄, 電気学会論文誌D 114(6), 1994 / 外部画像なし・模式図は自作</a:t>
            </a:r>
            <a:endParaRPr lang="ja-JP" sz="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7365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Noto Sans CJK JP"/>
        <a:cs typeface="Arial"/>
      </a:majorFont>
      <a:minorFont>
        <a:latin typeface="Arial"/>
        <a:ea typeface="Noto Sans CJK JP"/>
        <a:cs typeface="Arial"/>
      </a:minorFont>
    </a:fontScheme>
    <a:fmtScheme name="Office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4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300系③ 回生ブレーキ</dc:title>
  <dc:creator>OpenAI</dc:creator>
  <dcterms:created xsi:type="dcterms:W3CDTF">2026-08-29T11:00:00Z</dcterms:created>
</cp:coreProperties>
</file>