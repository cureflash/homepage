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50000"/>
            <a:ext cx="112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2600" b="1">
                <a:solidFill>
                  <a:srgbClr val="0F172A"/>
                </a:solidFill>
                <a:latin typeface="Yu Gothic"/>
                <a:ea typeface="Yu Gothic"/>
              </a:rPr>
              <a:t>COSMOSは「7サブシステムを統合して一元管理」</a:t>
            </a:r>
            <a:endParaRPr lang="ja-JP" sz="2600"/>
          </a:p>
        </p:txBody>
      </p:sp>
      <p:sp>
        <p:nvSpPr>
          <p:cNvPr id="3" name="Sub"/>
          <p:cNvSpPr txBox="1"/>
          <p:nvPr/>
        </p:nvSpPr>
        <p:spPr>
          <a:xfrm>
            <a:off x="520000" y="780000"/>
            <a:ext cx="11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300" b="0">
                <a:solidFill>
                  <a:srgbClr val="475569"/>
                </a:solidFill>
                <a:latin typeface="Yu Gothic"/>
                <a:ea typeface="Yu Gothic"/>
              </a:rPr>
              <a:t>公開事実と電験で使う一般原理を分けて捉える</a:t>
            </a:r>
            <a:endParaRPr lang="ja-JP" sz="1300"/>
          </a:p>
        </p:txBody>
      </p:sp>
      <p:sp>
        <p:nvSpPr>
          <p:cNvPr id="4" name="Hub"/>
          <p:cNvSpPr/>
          <p:nvPr/>
        </p:nvSpPr>
        <p:spPr>
          <a:xfrm>
            <a:off x="4600000" y="2550000"/>
            <a:ext cx="3000000" cy="90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" name="HubText"/>
          <p:cNvSpPr txBox="1"/>
          <p:nvPr/>
        </p:nvSpPr>
        <p:spPr>
          <a:xfrm>
            <a:off x="4700000" y="2700000"/>
            <a:ext cx="2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900" b="1">
                <a:solidFill>
                  <a:srgbClr val="1D4ED8"/>
                </a:solidFill>
                <a:latin typeface="Yu Gothic"/>
                <a:ea typeface="Yu Gothic"/>
              </a:rPr>
              <a:t>COSMOS</a:t>
            </a:r>
            <a:endParaRPr lang="ja-JP" sz="1900"/>
          </a:p>
          <a:p>
            <a:pPr algn="ctr">
              <a:buNone/>
            </a:pPr>
            <a:r>
              <a:rPr lang="ja-JP" sz="1900" b="1">
                <a:solidFill>
                  <a:srgbClr val="1D4ED8"/>
                </a:solidFill>
                <a:latin typeface="Yu Gothic"/>
                <a:ea typeface="Yu Gothic"/>
              </a:rPr>
              <a:t>計画 → 当日実施 → 実績</a:t>
            </a:r>
            <a:endParaRPr lang="ja-JP" sz="1900"/>
          </a:p>
        </p:txBody>
      </p:sp>
      <p:sp>
        <p:nvSpPr>
          <p:cNvPr id="6" name="輸送計画"/>
          <p:cNvSpPr/>
          <p:nvPr/>
        </p:nvSpPr>
        <p:spPr>
          <a:xfrm>
            <a:off x="600000" y="1500000"/>
            <a:ext cx="20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7" name="輸送計画t"/>
          <p:cNvSpPr txBox="1"/>
          <p:nvPr/>
        </p:nvSpPr>
        <p:spPr>
          <a:xfrm>
            <a:off x="650000" y="161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300" b="1">
                <a:solidFill>
                  <a:srgbClr val="334155"/>
                </a:solidFill>
                <a:latin typeface="Yu Gothic"/>
                <a:ea typeface="Yu Gothic"/>
              </a:rPr>
              <a:t>輸送計画</a:t>
            </a:r>
            <a:endParaRPr lang="ja-JP" sz="1300"/>
          </a:p>
        </p:txBody>
      </p:sp>
      <p:cxnSp>
        <p:nvCxnSpPr>
          <p:cNvPr id="8" name="Line 8"/>
          <p:cNvCxnSpPr/>
          <p:nvPr/>
        </p:nvCxnSpPr>
        <p:spPr>
          <a:xfrm>
            <a:off x="1600000" y="1810000"/>
            <a:ext cx="4500000" cy="1190000"/>
          </a:xfrm>
          <a:prstGeom prst="line">
            <a:avLst/>
          </a:prstGeom>
          <a:ln w="15000">
            <a:solidFill>
              <a:srgbClr val="93C5FD"/>
            </a:solidFill>
          </a:ln>
        </p:spPr>
      </p:cxnSp>
      <p:sp>
        <p:nvSpPr>
          <p:cNvPr id="9" name="運行管理"/>
          <p:cNvSpPr/>
          <p:nvPr/>
        </p:nvSpPr>
        <p:spPr>
          <a:xfrm>
            <a:off x="600000" y="2850000"/>
            <a:ext cx="20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0" name="運行管理t"/>
          <p:cNvSpPr txBox="1"/>
          <p:nvPr/>
        </p:nvSpPr>
        <p:spPr>
          <a:xfrm>
            <a:off x="650000" y="296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300" b="1">
                <a:solidFill>
                  <a:srgbClr val="334155"/>
                </a:solidFill>
                <a:latin typeface="Yu Gothic"/>
                <a:ea typeface="Yu Gothic"/>
              </a:rPr>
              <a:t>運行管理</a:t>
            </a:r>
            <a:endParaRPr lang="ja-JP" sz="1300"/>
          </a:p>
        </p:txBody>
      </p:sp>
      <p:cxnSp>
        <p:nvCxnSpPr>
          <p:cNvPr id="11" name="Line 11"/>
          <p:cNvCxnSpPr/>
          <p:nvPr/>
        </p:nvCxnSpPr>
        <p:spPr>
          <a:xfrm flipV="1">
            <a:off x="1600000" y="3000000"/>
            <a:ext cx="4500000" cy="160000"/>
          </a:xfrm>
          <a:prstGeom prst="line">
            <a:avLst/>
          </a:prstGeom>
          <a:ln w="15000">
            <a:solidFill>
              <a:srgbClr val="93C5FD"/>
            </a:solidFill>
          </a:ln>
        </p:spPr>
      </p:cxnSp>
      <p:sp>
        <p:nvSpPr>
          <p:cNvPr id="12" name="構内作業管理"/>
          <p:cNvSpPr/>
          <p:nvPr/>
        </p:nvSpPr>
        <p:spPr>
          <a:xfrm>
            <a:off x="600000" y="4200000"/>
            <a:ext cx="20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3" name="構内作業管理t"/>
          <p:cNvSpPr txBox="1"/>
          <p:nvPr/>
        </p:nvSpPr>
        <p:spPr>
          <a:xfrm>
            <a:off x="650000" y="431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300" b="1">
                <a:solidFill>
                  <a:srgbClr val="334155"/>
                </a:solidFill>
                <a:latin typeface="Yu Gothic"/>
                <a:ea typeface="Yu Gothic"/>
              </a:rPr>
              <a:t>構内作業管理</a:t>
            </a:r>
            <a:endParaRPr lang="ja-JP" sz="1300"/>
          </a:p>
        </p:txBody>
      </p:sp>
      <p:cxnSp>
        <p:nvCxnSpPr>
          <p:cNvPr id="14" name="Line 14"/>
          <p:cNvCxnSpPr/>
          <p:nvPr/>
        </p:nvCxnSpPr>
        <p:spPr>
          <a:xfrm flipV="1">
            <a:off x="1600000" y="3000000"/>
            <a:ext cx="4500000" cy="1510000"/>
          </a:xfrm>
          <a:prstGeom prst="line">
            <a:avLst/>
          </a:prstGeom>
          <a:ln w="15000">
            <a:solidFill>
              <a:srgbClr val="93C5FD"/>
            </a:solidFill>
          </a:ln>
        </p:spPr>
      </p:cxnSp>
      <p:sp>
        <p:nvSpPr>
          <p:cNvPr id="15" name="保守作業管理"/>
          <p:cNvSpPr/>
          <p:nvPr/>
        </p:nvSpPr>
        <p:spPr>
          <a:xfrm>
            <a:off x="9400000" y="1350000"/>
            <a:ext cx="20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6" name="保守作業管理t"/>
          <p:cNvSpPr txBox="1"/>
          <p:nvPr/>
        </p:nvSpPr>
        <p:spPr>
          <a:xfrm>
            <a:off x="9450000" y="146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300" b="1">
                <a:solidFill>
                  <a:srgbClr val="334155"/>
                </a:solidFill>
                <a:latin typeface="Yu Gothic"/>
                <a:ea typeface="Yu Gothic"/>
              </a:rPr>
              <a:t>保守作業管理</a:t>
            </a:r>
            <a:endParaRPr lang="ja-JP" sz="1300"/>
          </a:p>
        </p:txBody>
      </p:sp>
      <p:cxnSp>
        <p:nvCxnSpPr>
          <p:cNvPr id="17" name="Line 17"/>
          <p:cNvCxnSpPr/>
          <p:nvPr/>
        </p:nvCxnSpPr>
        <p:spPr>
          <a:xfrm flipH="1">
            <a:off x="6100000" y="1660000"/>
            <a:ext cx="4300000" cy="1340000"/>
          </a:xfrm>
          <a:prstGeom prst="line">
            <a:avLst/>
          </a:prstGeom>
          <a:ln w="15000">
            <a:solidFill>
              <a:srgbClr val="93C5FD"/>
            </a:solidFill>
          </a:ln>
        </p:spPr>
      </p:cxnSp>
      <p:sp>
        <p:nvSpPr>
          <p:cNvPr id="18" name="車両管理"/>
          <p:cNvSpPr/>
          <p:nvPr/>
        </p:nvSpPr>
        <p:spPr>
          <a:xfrm>
            <a:off x="9400000" y="2550000"/>
            <a:ext cx="20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9" name="車両管理t"/>
          <p:cNvSpPr txBox="1"/>
          <p:nvPr/>
        </p:nvSpPr>
        <p:spPr>
          <a:xfrm>
            <a:off x="9450000" y="266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300" b="1">
                <a:solidFill>
                  <a:srgbClr val="334155"/>
                </a:solidFill>
                <a:latin typeface="Yu Gothic"/>
                <a:ea typeface="Yu Gothic"/>
              </a:rPr>
              <a:t>車両管理</a:t>
            </a:r>
            <a:endParaRPr lang="ja-JP" sz="1300"/>
          </a:p>
        </p:txBody>
      </p:sp>
      <p:cxnSp>
        <p:nvCxnSpPr>
          <p:cNvPr id="20" name="Line 20"/>
          <p:cNvCxnSpPr/>
          <p:nvPr/>
        </p:nvCxnSpPr>
        <p:spPr>
          <a:xfrm flipH="1">
            <a:off x="6100000" y="2860000"/>
            <a:ext cx="4300000" cy="140000"/>
          </a:xfrm>
          <a:prstGeom prst="line">
            <a:avLst/>
          </a:prstGeom>
          <a:ln w="15000">
            <a:solidFill>
              <a:srgbClr val="93C5FD"/>
            </a:solidFill>
          </a:ln>
        </p:spPr>
      </p:cxnSp>
      <p:sp>
        <p:nvSpPr>
          <p:cNvPr id="21" name="電力系統制御"/>
          <p:cNvSpPr/>
          <p:nvPr/>
        </p:nvSpPr>
        <p:spPr>
          <a:xfrm>
            <a:off x="9400000" y="3750000"/>
            <a:ext cx="20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2" name="電力系統制御t"/>
          <p:cNvSpPr txBox="1"/>
          <p:nvPr/>
        </p:nvSpPr>
        <p:spPr>
          <a:xfrm>
            <a:off x="9450000" y="386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300" b="1">
                <a:solidFill>
                  <a:srgbClr val="334155"/>
                </a:solidFill>
                <a:latin typeface="Yu Gothic"/>
                <a:ea typeface="Yu Gothic"/>
              </a:rPr>
              <a:t>電力系統制御</a:t>
            </a:r>
            <a:endParaRPr lang="ja-JP" sz="1300"/>
          </a:p>
        </p:txBody>
      </p:sp>
      <p:cxnSp>
        <p:nvCxnSpPr>
          <p:cNvPr id="23" name="Line 23"/>
          <p:cNvCxnSpPr/>
          <p:nvPr/>
        </p:nvCxnSpPr>
        <p:spPr>
          <a:xfrm flipH="1" flipV="1">
            <a:off x="6100000" y="3000000"/>
            <a:ext cx="4300000" cy="1060000"/>
          </a:xfrm>
          <a:prstGeom prst="line">
            <a:avLst/>
          </a:prstGeom>
          <a:ln w="15000">
            <a:solidFill>
              <a:srgbClr val="93C5FD"/>
            </a:solidFill>
          </a:ln>
        </p:spPr>
      </p:cxnSp>
      <p:sp>
        <p:nvSpPr>
          <p:cNvPr id="24" name="集中情報監視"/>
          <p:cNvSpPr/>
          <p:nvPr/>
        </p:nvSpPr>
        <p:spPr>
          <a:xfrm>
            <a:off x="9400000" y="4950000"/>
            <a:ext cx="20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5" name="集中情報監視t"/>
          <p:cNvSpPr txBox="1"/>
          <p:nvPr/>
        </p:nvSpPr>
        <p:spPr>
          <a:xfrm>
            <a:off x="9450000" y="506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300" b="1">
                <a:solidFill>
                  <a:srgbClr val="334155"/>
                </a:solidFill>
                <a:latin typeface="Yu Gothic"/>
                <a:ea typeface="Yu Gothic"/>
              </a:rPr>
              <a:t>集中情報監視</a:t>
            </a:r>
            <a:endParaRPr lang="ja-JP" sz="1300"/>
          </a:p>
        </p:txBody>
      </p:sp>
      <p:cxnSp>
        <p:nvCxnSpPr>
          <p:cNvPr id="26" name="Line 26"/>
          <p:cNvCxnSpPr/>
          <p:nvPr/>
        </p:nvCxnSpPr>
        <p:spPr>
          <a:xfrm flipH="1" flipV="1">
            <a:off x="6100000" y="3000000"/>
            <a:ext cx="4300000" cy="2260000"/>
          </a:xfrm>
          <a:prstGeom prst="line">
            <a:avLst/>
          </a:prstGeom>
          <a:ln w="15000">
            <a:solidFill>
              <a:srgbClr val="93C5FD"/>
            </a:solidFill>
          </a:ln>
        </p:spPr>
      </p:cxnSp>
      <p:sp>
        <p:nvSpPr>
          <p:cNvPr id="27" name="Note"/>
          <p:cNvSpPr txBox="1"/>
          <p:nvPr/>
        </p:nvSpPr>
        <p:spPr>
          <a:xfrm>
            <a:off x="2950000" y="3900000"/>
            <a:ext cx="6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300" b="0">
                <a:solidFill>
                  <a:srgbClr val="475569"/>
                </a:solidFill>
                <a:latin typeface="F1F5F9"/>
                <a:ea typeface="F1F5F9"/>
              </a:rPr>
              <a:t>図は公開機能の概念接続。実際のネットワークトポロジ・通信方式は示さない。</a:t>
            </a:r>
            <a:endParaRPr lang="ja-JP" sz="1300"/>
          </a:p>
        </p:txBody>
      </p:sp>
      <p:sp>
        <p:nvSpPr>
          <p:cNvPr id="28" name="Exam"/>
          <p:cNvSpPr txBox="1"/>
          <p:nvPr/>
        </p:nvSpPr>
        <p:spPr>
          <a:xfrm>
            <a:off x="750000" y="5400000"/>
            <a:ext cx="107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450" b="1">
                <a:solidFill>
                  <a:srgbClr val="0F766E"/>
                </a:solidFill>
                <a:latin typeface="ECFDF5"/>
                <a:ea typeface="ECFDF5"/>
              </a:rPr>
              <a:t>電験の軸: 情報伝送・ネットワーク ｜ コンピュータ/メモリ ｜ データ処理/数値表現</a:t>
            </a:r>
            <a:endParaRPr lang="ja-JP" sz="1450"/>
          </a:p>
        </p:txBody>
      </p:sp>
      <p:sp>
        <p:nvSpPr>
          <p:cNvPr id="29" name="Warning"/>
          <p:cNvSpPr txBox="1"/>
          <p:nvPr/>
        </p:nvSpPr>
        <p:spPr>
          <a:xfrm>
            <a:off x="750000" y="6000000"/>
            <a:ext cx="107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200" b="1">
                <a:solidFill>
                  <a:srgbClr val="B91C1C"/>
                </a:solidFill>
                <a:latin typeface="FEF2F2"/>
                <a:ea typeface="FEF2F2"/>
              </a:rPr>
              <a:t>「設備管理」= 教材上の整理語。COSMOSの正式独立サブシステム名とは断定しない。</a:t>
            </a:r>
            <a:endParaRPr lang="ja-JP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50000"/>
            <a:ext cx="112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2500" b="1">
                <a:solidFill>
                  <a:srgbClr val="111827"/>
                </a:solidFill>
                <a:latin typeface="Yu Gothic"/>
                <a:ea typeface="Yu Gothic"/>
              </a:rPr>
              <a:t>コンピュータ構成とICメモリを分けて覚える</a:t>
            </a:r>
            <a:endParaRPr lang="ja-JP" sz="2500"/>
          </a:p>
        </p:txBody>
      </p:sp>
      <p:sp>
        <p:nvSpPr>
          <p:cNvPr id="3" name="Map"/>
          <p:cNvSpPr txBox="1"/>
          <p:nvPr/>
        </p:nvSpPr>
        <p:spPr>
          <a:xfrm>
            <a:off x="520000" y="79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50" b="0">
                <a:solidFill>
                  <a:srgbClr val="475569"/>
                </a:solidFill>
                <a:latin typeface="Yu Gothic"/>
                <a:ea typeface="Yu Gothic"/>
              </a:rPr>
              <a:t>固定対応: H27 機械 問18(a)(b)</a:t>
            </a:r>
            <a:endParaRPr lang="ja-JP" sz="1250"/>
          </a:p>
        </p:txBody>
      </p:sp>
      <p:sp>
        <p:nvSpPr>
          <p:cNvPr id="4" name="入力"/>
          <p:cNvSpPr/>
          <p:nvPr/>
        </p:nvSpPr>
        <p:spPr>
          <a:xfrm>
            <a:off x="750000" y="1450000"/>
            <a:ext cx="1750000" cy="85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" name="入力t"/>
          <p:cNvSpPr txBox="1"/>
          <p:nvPr/>
        </p:nvSpPr>
        <p:spPr>
          <a:xfrm>
            <a:off x="800000" y="1630000"/>
            <a:ext cx="16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700" b="1">
                <a:solidFill>
                  <a:srgbClr val="0F172A"/>
                </a:solidFill>
                <a:latin typeface="Yu Gothic"/>
                <a:ea typeface="Yu Gothic"/>
              </a:rPr>
              <a:t>入力</a:t>
            </a:r>
            <a:endParaRPr lang="ja-JP" sz="1700"/>
          </a:p>
        </p:txBody>
      </p:sp>
      <p:cxnSp>
        <p:nvCxnSpPr>
          <p:cNvPr id="6" name="Line 6"/>
          <p:cNvCxnSpPr/>
          <p:nvPr/>
        </p:nvCxnSpPr>
        <p:spPr>
          <a:xfrm>
            <a:off x="2500000" y="1875000"/>
            <a:ext cx="500000" cy="1"/>
          </a:xfrm>
          <a:prstGeom prst="line">
            <a:avLst/>
          </a:prstGeom>
          <a:ln w="22000">
            <a:solidFill>
              <a:srgbClr val="64748B"/>
            </a:solidFill>
            <a:tailEnd type="triangle"/>
          </a:ln>
        </p:spPr>
      </p:cxnSp>
      <p:sp>
        <p:nvSpPr>
          <p:cNvPr id="7" name="記憶"/>
          <p:cNvSpPr/>
          <p:nvPr/>
        </p:nvSpPr>
        <p:spPr>
          <a:xfrm>
            <a:off x="3000000" y="1450000"/>
            <a:ext cx="1750000" cy="850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8" name="記憶t"/>
          <p:cNvSpPr txBox="1"/>
          <p:nvPr/>
        </p:nvSpPr>
        <p:spPr>
          <a:xfrm>
            <a:off x="3050000" y="1630000"/>
            <a:ext cx="16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700" b="1">
                <a:solidFill>
                  <a:srgbClr val="0F172A"/>
                </a:solidFill>
                <a:latin typeface="Yu Gothic"/>
                <a:ea typeface="Yu Gothic"/>
              </a:rPr>
              <a:t>記憶</a:t>
            </a:r>
            <a:endParaRPr lang="ja-JP" sz="1700"/>
          </a:p>
        </p:txBody>
      </p:sp>
      <p:cxnSp>
        <p:nvCxnSpPr>
          <p:cNvPr id="9" name="Line 9"/>
          <p:cNvCxnSpPr/>
          <p:nvPr/>
        </p:nvCxnSpPr>
        <p:spPr>
          <a:xfrm>
            <a:off x="4750000" y="1875000"/>
            <a:ext cx="500000" cy="1"/>
          </a:xfrm>
          <a:prstGeom prst="line">
            <a:avLst/>
          </a:prstGeom>
          <a:ln w="22000">
            <a:solidFill>
              <a:srgbClr val="64748B"/>
            </a:solidFill>
            <a:tailEnd type="triangle"/>
          </a:ln>
        </p:spPr>
      </p:cxnSp>
      <p:sp>
        <p:nvSpPr>
          <p:cNvPr id="10" name="CPU 制御・演算"/>
          <p:cNvSpPr/>
          <p:nvPr/>
        </p:nvSpPr>
        <p:spPr>
          <a:xfrm>
            <a:off x="5250000" y="1450000"/>
            <a:ext cx="1750000" cy="85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1" name="CPU 制御・演算t"/>
          <p:cNvSpPr txBox="1"/>
          <p:nvPr/>
        </p:nvSpPr>
        <p:spPr>
          <a:xfrm>
            <a:off x="5300000" y="1630000"/>
            <a:ext cx="16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700" b="1">
                <a:solidFill>
                  <a:srgbClr val="0F172A"/>
                </a:solidFill>
                <a:latin typeface="Yu Gothic"/>
                <a:ea typeface="Yu Gothic"/>
              </a:rPr>
              <a:t>CPU</a:t>
            </a:r>
            <a:endParaRPr lang="ja-JP" sz="1700"/>
          </a:p>
          <a:p>
            <a:pPr algn="ctr">
              <a:buNone/>
            </a:pPr>
            <a:r>
              <a:rPr lang="ja-JP" sz="1700" b="1">
                <a:solidFill>
                  <a:srgbClr val="0F172A"/>
                </a:solidFill>
                <a:latin typeface="Yu Gothic"/>
                <a:ea typeface="Yu Gothic"/>
              </a:rPr>
              <a:t>制御・演算</a:t>
            </a:r>
            <a:endParaRPr lang="ja-JP" sz="1700"/>
          </a:p>
        </p:txBody>
      </p:sp>
      <p:cxnSp>
        <p:nvCxnSpPr>
          <p:cNvPr id="12" name="Line 12"/>
          <p:cNvCxnSpPr/>
          <p:nvPr/>
        </p:nvCxnSpPr>
        <p:spPr>
          <a:xfrm>
            <a:off x="7000000" y="1875000"/>
            <a:ext cx="500000" cy="1"/>
          </a:xfrm>
          <a:prstGeom prst="line">
            <a:avLst/>
          </a:prstGeom>
          <a:ln w="22000">
            <a:solidFill>
              <a:srgbClr val="64748B"/>
            </a:solidFill>
            <a:tailEnd type="triangle"/>
          </a:ln>
        </p:spPr>
      </p:cxnSp>
      <p:sp>
        <p:nvSpPr>
          <p:cNvPr id="13" name="出力"/>
          <p:cNvSpPr/>
          <p:nvPr/>
        </p:nvSpPr>
        <p:spPr>
          <a:xfrm>
            <a:off x="7500000" y="1450000"/>
            <a:ext cx="1750000" cy="85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4" name="出力t"/>
          <p:cNvSpPr txBox="1"/>
          <p:nvPr/>
        </p:nvSpPr>
        <p:spPr>
          <a:xfrm>
            <a:off x="7550000" y="1630000"/>
            <a:ext cx="16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700" b="1">
                <a:solidFill>
                  <a:srgbClr val="0F172A"/>
                </a:solidFill>
                <a:latin typeface="Yu Gothic"/>
                <a:ea typeface="Yu Gothic"/>
              </a:rPr>
              <a:t>出力</a:t>
            </a:r>
            <a:endParaRPr lang="ja-JP" sz="1700"/>
          </a:p>
        </p:txBody>
      </p:sp>
      <p:sp>
        <p:nvSpPr>
          <p:cNvPr id="15" name="LAN"/>
          <p:cNvSpPr/>
          <p:nvPr/>
        </p:nvSpPr>
        <p:spPr>
          <a:xfrm>
            <a:off x="9800000" y="1450000"/>
            <a:ext cx="1500000" cy="85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6" name="LANt"/>
          <p:cNvSpPr txBox="1"/>
          <p:nvPr/>
        </p:nvSpPr>
        <p:spPr>
          <a:xfrm>
            <a:off x="9850000" y="1630000"/>
            <a:ext cx="14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500" b="1">
                <a:solidFill>
                  <a:srgbClr val="9A3412"/>
                </a:solidFill>
                <a:latin typeface="Yu Gothic"/>
                <a:ea typeface="Yu Gothic"/>
              </a:rPr>
              <a:t>LAN</a:t>
            </a:r>
            <a:endParaRPr lang="ja-JP" sz="1500"/>
          </a:p>
          <a:p>
            <a:pPr algn="ctr">
              <a:buNone/>
            </a:pPr>
            <a:r>
              <a:rPr lang="ja-JP" sz="1500" b="1">
                <a:solidFill>
                  <a:srgbClr val="9A3412"/>
                </a:solidFill>
                <a:latin typeface="Yu Gothic"/>
                <a:ea typeface="Yu Gothic"/>
              </a:rPr>
              <a:t>通信速度</a:t>
            </a:r>
            <a:endParaRPr lang="ja-JP" sz="1500"/>
          </a:p>
        </p:txBody>
      </p:sp>
      <p:sp>
        <p:nvSpPr>
          <p:cNvPr id="17" name="Distinguish"/>
          <p:cNvSpPr txBox="1"/>
          <p:nvPr/>
        </p:nvSpPr>
        <p:spPr>
          <a:xfrm>
            <a:off x="6600000" y="2450000"/>
            <a:ext cx="48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750" b="1">
                <a:solidFill>
                  <a:srgbClr val="B91C1C"/>
                </a:solidFill>
                <a:latin typeface="FEF2F2"/>
                <a:ea typeface="FEF2F2"/>
              </a:rPr>
              <a:t>CPUクロック ≠ LAN通信速度</a:t>
            </a:r>
            <a:endParaRPr lang="ja-JP" sz="1750"/>
          </a:p>
        </p:txBody>
      </p:sp>
      <p:sp>
        <p:nvSpPr>
          <p:cNvPr id="18" name="DRAM"/>
          <p:cNvSpPr/>
          <p:nvPr/>
        </p:nvSpPr>
        <p:spPr>
          <a:xfrm>
            <a:off x="750000" y="3400000"/>
            <a:ext cx="500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9" name="DRAMt"/>
          <p:cNvSpPr txBox="1"/>
          <p:nvPr/>
        </p:nvSpPr>
        <p:spPr>
          <a:xfrm>
            <a:off x="870000" y="3495000"/>
            <a:ext cx="13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600" b="1">
                <a:solidFill>
                  <a:srgbClr val="1D4ED8"/>
                </a:solidFill>
                <a:latin typeface="Yu Gothic"/>
                <a:ea typeface="Yu Gothic"/>
              </a:rPr>
              <a:t>DRAM</a:t>
            </a:r>
            <a:endParaRPr lang="ja-JP" sz="1600"/>
          </a:p>
        </p:txBody>
      </p:sp>
      <p:sp>
        <p:nvSpPr>
          <p:cNvPr id="20" name="DRAMd"/>
          <p:cNvSpPr txBox="1"/>
          <p:nvPr/>
        </p:nvSpPr>
        <p:spPr>
          <a:xfrm>
            <a:off x="2300000" y="3495000"/>
            <a:ext cx="33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50" b="0">
                <a:solidFill>
                  <a:srgbClr val="334155"/>
                </a:solidFill>
                <a:latin typeface="Yu Gothic"/>
                <a:ea typeface="Yu Gothic"/>
              </a:rPr>
              <a:t>コンデンサで保持</a:t>
            </a:r>
            <a:endParaRPr lang="ja-JP" sz="1250"/>
          </a:p>
          <a:p>
            <a:pPr algn="l">
              <a:buNone/>
            </a:pPr>
            <a:r>
              <a:rPr lang="ja-JP" sz="1250" b="0">
                <a:solidFill>
                  <a:srgbClr val="334155"/>
                </a:solidFill>
                <a:latin typeface="Yu Gothic"/>
                <a:ea typeface="Yu Gothic"/>
              </a:rPr>
              <a:t>リフレッシュ必要</a:t>
            </a:r>
            <a:endParaRPr lang="ja-JP" sz="1250"/>
          </a:p>
        </p:txBody>
      </p:sp>
      <p:sp>
        <p:nvSpPr>
          <p:cNvPr id="21" name="SRAM"/>
          <p:cNvSpPr/>
          <p:nvPr/>
        </p:nvSpPr>
        <p:spPr>
          <a:xfrm>
            <a:off x="6250000" y="3400000"/>
            <a:ext cx="500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2" name="SRAMt"/>
          <p:cNvSpPr txBox="1"/>
          <p:nvPr/>
        </p:nvSpPr>
        <p:spPr>
          <a:xfrm>
            <a:off x="6370000" y="3495000"/>
            <a:ext cx="13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600" b="1">
                <a:solidFill>
                  <a:srgbClr val="1D4ED8"/>
                </a:solidFill>
                <a:latin typeface="Yu Gothic"/>
                <a:ea typeface="Yu Gothic"/>
              </a:rPr>
              <a:t>SRAM</a:t>
            </a:r>
            <a:endParaRPr lang="ja-JP" sz="1600"/>
          </a:p>
        </p:txBody>
      </p:sp>
      <p:sp>
        <p:nvSpPr>
          <p:cNvPr id="23" name="SRAMd"/>
          <p:cNvSpPr txBox="1"/>
          <p:nvPr/>
        </p:nvSpPr>
        <p:spPr>
          <a:xfrm>
            <a:off x="7800000" y="3495000"/>
            <a:ext cx="33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50" b="0">
                <a:solidFill>
                  <a:srgbClr val="334155"/>
                </a:solidFill>
                <a:latin typeface="Yu Gothic"/>
                <a:ea typeface="Yu Gothic"/>
              </a:rPr>
              <a:t>フリップフロップ等</a:t>
            </a:r>
            <a:endParaRPr lang="ja-JP" sz="1250"/>
          </a:p>
          <a:p>
            <a:pPr algn="l">
              <a:buNone/>
            </a:pPr>
            <a:r>
              <a:rPr lang="ja-JP" sz="1250" b="0">
                <a:solidFill>
                  <a:srgbClr val="334155"/>
                </a:solidFill>
                <a:latin typeface="Yu Gothic"/>
                <a:ea typeface="Yu Gothic"/>
              </a:rPr>
              <a:t>周期的リフレッシュ不要</a:t>
            </a:r>
            <a:endParaRPr lang="ja-JP" sz="1250"/>
          </a:p>
        </p:txBody>
      </p:sp>
      <p:sp>
        <p:nvSpPr>
          <p:cNvPr id="24" name="EPROM"/>
          <p:cNvSpPr/>
          <p:nvPr/>
        </p:nvSpPr>
        <p:spPr>
          <a:xfrm>
            <a:off x="750000" y="4650000"/>
            <a:ext cx="500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5" name="EPROMt"/>
          <p:cNvSpPr txBox="1"/>
          <p:nvPr/>
        </p:nvSpPr>
        <p:spPr>
          <a:xfrm>
            <a:off x="870000" y="4745000"/>
            <a:ext cx="13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600" b="1">
                <a:solidFill>
                  <a:srgbClr val="1D4ED8"/>
                </a:solidFill>
                <a:latin typeface="Yu Gothic"/>
                <a:ea typeface="Yu Gothic"/>
              </a:rPr>
              <a:t>EPROM</a:t>
            </a:r>
            <a:endParaRPr lang="ja-JP" sz="1600"/>
          </a:p>
        </p:txBody>
      </p:sp>
      <p:sp>
        <p:nvSpPr>
          <p:cNvPr id="26" name="EPROMd"/>
          <p:cNvSpPr txBox="1"/>
          <p:nvPr/>
        </p:nvSpPr>
        <p:spPr>
          <a:xfrm>
            <a:off x="2300000" y="4745000"/>
            <a:ext cx="33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50" b="0">
                <a:solidFill>
                  <a:srgbClr val="334155"/>
                </a:solidFill>
                <a:latin typeface="Yu Gothic"/>
                <a:ea typeface="Yu Gothic"/>
              </a:rPr>
              <a:t>紫外線で消去</a:t>
            </a:r>
            <a:endParaRPr lang="ja-JP" sz="1250"/>
          </a:p>
        </p:txBody>
      </p:sp>
      <p:sp>
        <p:nvSpPr>
          <p:cNvPr id="27" name="EEPROM"/>
          <p:cNvSpPr/>
          <p:nvPr/>
        </p:nvSpPr>
        <p:spPr>
          <a:xfrm>
            <a:off x="6250000" y="4650000"/>
            <a:ext cx="500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8" name="EEPROMt"/>
          <p:cNvSpPr txBox="1"/>
          <p:nvPr/>
        </p:nvSpPr>
        <p:spPr>
          <a:xfrm>
            <a:off x="6370000" y="4745000"/>
            <a:ext cx="13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600" b="1">
                <a:solidFill>
                  <a:srgbClr val="1D4ED8"/>
                </a:solidFill>
                <a:latin typeface="Yu Gothic"/>
                <a:ea typeface="Yu Gothic"/>
              </a:rPr>
              <a:t>EEPROM</a:t>
            </a:r>
            <a:endParaRPr lang="ja-JP" sz="1600"/>
          </a:p>
        </p:txBody>
      </p:sp>
      <p:sp>
        <p:nvSpPr>
          <p:cNvPr id="29" name="EEPROMd"/>
          <p:cNvSpPr txBox="1"/>
          <p:nvPr/>
        </p:nvSpPr>
        <p:spPr>
          <a:xfrm>
            <a:off x="7800000" y="4745000"/>
            <a:ext cx="33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50" b="0">
                <a:solidFill>
                  <a:srgbClr val="334155"/>
                </a:solidFill>
                <a:latin typeface="Yu Gothic"/>
                <a:ea typeface="Yu Gothic"/>
              </a:rPr>
              <a:t>電気的に消去・再書込み</a:t>
            </a:r>
            <a:endParaRPr lang="ja-JP" sz="1250"/>
          </a:p>
        </p:txBody>
      </p:sp>
      <p:sp>
        <p:nvSpPr>
          <p:cNvPr id="30" name="Footer"/>
          <p:cNvSpPr txBox="1"/>
          <p:nvPr/>
        </p:nvSpPr>
        <p:spPr>
          <a:xfrm>
            <a:off x="700000" y="6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250" b="1">
                <a:solidFill>
                  <a:srgbClr val="0F766E"/>
                </a:solidFill>
                <a:latin typeface="Yu Gothic"/>
                <a:ea typeface="Yu Gothic"/>
              </a:rPr>
              <a:t>問われるのは「役割・揮発性・書換え・消去方法」の対応</a:t>
            </a:r>
            <a:endParaRPr lang="ja-JP"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50000"/>
            <a:ext cx="112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2450" b="1">
                <a:solidFill>
                  <a:srgbClr val="111827"/>
                </a:solidFill>
                <a:latin typeface="Yu Gothic"/>
                <a:ea typeface="Yu Gothic"/>
              </a:rPr>
              <a:t>情報伝送は「信号の向き」と「誤り検出」を図で追う</a:t>
            </a:r>
            <a:endParaRPr lang="ja-JP" sz="2450"/>
          </a:p>
        </p:txBody>
      </p:sp>
      <p:sp>
        <p:nvSpPr>
          <p:cNvPr id="3" name="Map"/>
          <p:cNvSpPr txBox="1"/>
          <p:nvPr/>
        </p:nvSpPr>
        <p:spPr>
          <a:xfrm>
            <a:off x="520000" y="79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50" b="0">
                <a:solidFill>
                  <a:srgbClr val="475569"/>
                </a:solidFill>
                <a:latin typeface="Yu Gothic"/>
                <a:ea typeface="Yu Gothic"/>
              </a:rPr>
              <a:t>固定対応: R4上 機械 問13・問14</a:t>
            </a:r>
            <a:endParaRPr lang="ja-JP" sz="1250"/>
          </a:p>
        </p:txBody>
      </p:sp>
      <p:sp>
        <p:nvSpPr>
          <p:cNvPr id="4" name="センサ アナログ"/>
          <p:cNvSpPr/>
          <p:nvPr/>
        </p:nvSpPr>
        <p:spPr>
          <a:xfrm>
            <a:off x="450000" y="1450000"/>
            <a:ext cx="1550000" cy="800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" name="センサ アナログt"/>
          <p:cNvSpPr txBox="1"/>
          <p:nvPr/>
        </p:nvSpPr>
        <p:spPr>
          <a:xfrm>
            <a:off x="480000" y="1620000"/>
            <a:ext cx="149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450" b="1">
                <a:solidFill>
                  <a:srgbClr val="0F172A"/>
                </a:solidFill>
                <a:latin typeface="Yu Gothic"/>
                <a:ea typeface="Yu Gothic"/>
              </a:rPr>
              <a:t>センサ</a:t>
            </a:r>
            <a:endParaRPr lang="ja-JP" sz="1450"/>
          </a:p>
          <a:p>
            <a:pPr algn="ctr">
              <a:buNone/>
            </a:pPr>
            <a:r>
              <a:rPr lang="ja-JP" sz="1450" b="1">
                <a:solidFill>
                  <a:srgbClr val="0F172A"/>
                </a:solidFill>
                <a:latin typeface="Yu Gothic"/>
                <a:ea typeface="Yu Gothic"/>
              </a:rPr>
              <a:t>アナログ</a:t>
            </a:r>
            <a:endParaRPr lang="ja-JP" sz="1450"/>
          </a:p>
        </p:txBody>
      </p:sp>
      <p:cxnSp>
        <p:nvCxnSpPr>
          <p:cNvPr id="6" name="Line 6"/>
          <p:cNvCxnSpPr/>
          <p:nvPr/>
        </p:nvCxnSpPr>
        <p:spPr>
          <a:xfrm>
            <a:off x="2000000" y="1850000"/>
            <a:ext cx="350000" cy="1"/>
          </a:xfrm>
          <a:prstGeom prst="line">
            <a:avLst/>
          </a:prstGeom>
          <a:ln w="20000">
            <a:solidFill>
              <a:srgbClr val="64748B"/>
            </a:solidFill>
            <a:tailEnd type="triangle"/>
          </a:ln>
        </p:spPr>
      </p:cxnSp>
      <p:sp>
        <p:nvSpPr>
          <p:cNvPr id="7" name="A-D変換"/>
          <p:cNvSpPr/>
          <p:nvPr/>
        </p:nvSpPr>
        <p:spPr>
          <a:xfrm>
            <a:off x="2350000" y="1450000"/>
            <a:ext cx="1550000" cy="80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8" name="A-D変換t"/>
          <p:cNvSpPr txBox="1"/>
          <p:nvPr/>
        </p:nvSpPr>
        <p:spPr>
          <a:xfrm>
            <a:off x="2380000" y="1620000"/>
            <a:ext cx="149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450" b="1">
                <a:solidFill>
                  <a:srgbClr val="0F172A"/>
                </a:solidFill>
                <a:latin typeface="Yu Gothic"/>
                <a:ea typeface="Yu Gothic"/>
              </a:rPr>
              <a:t>A-D変換</a:t>
            </a:r>
            <a:endParaRPr lang="ja-JP" sz="1450"/>
          </a:p>
        </p:txBody>
      </p:sp>
      <p:cxnSp>
        <p:nvCxnSpPr>
          <p:cNvPr id="9" name="Line 9"/>
          <p:cNvCxnSpPr/>
          <p:nvPr/>
        </p:nvCxnSpPr>
        <p:spPr>
          <a:xfrm>
            <a:off x="3900000" y="1850000"/>
            <a:ext cx="350000" cy="1"/>
          </a:xfrm>
          <a:prstGeom prst="line">
            <a:avLst/>
          </a:prstGeom>
          <a:ln w="20000">
            <a:solidFill>
              <a:srgbClr val="64748B"/>
            </a:solidFill>
            <a:tailEnd type="triangle"/>
          </a:ln>
        </p:spPr>
      </p:cxnSp>
      <p:sp>
        <p:nvSpPr>
          <p:cNvPr id="10" name="ディジタル 処理"/>
          <p:cNvSpPr/>
          <p:nvPr/>
        </p:nvSpPr>
        <p:spPr>
          <a:xfrm>
            <a:off x="4250000" y="1450000"/>
            <a:ext cx="1550000" cy="80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1" name="ディジタル 処理t"/>
          <p:cNvSpPr txBox="1"/>
          <p:nvPr/>
        </p:nvSpPr>
        <p:spPr>
          <a:xfrm>
            <a:off x="4280000" y="1620000"/>
            <a:ext cx="149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450" b="1">
                <a:solidFill>
                  <a:srgbClr val="0F172A"/>
                </a:solidFill>
                <a:latin typeface="Yu Gothic"/>
                <a:ea typeface="Yu Gothic"/>
              </a:rPr>
              <a:t>ディジタル</a:t>
            </a:r>
            <a:endParaRPr lang="ja-JP" sz="1450"/>
          </a:p>
          <a:p>
            <a:pPr algn="ctr">
              <a:buNone/>
            </a:pPr>
            <a:r>
              <a:rPr lang="ja-JP" sz="1450" b="1">
                <a:solidFill>
                  <a:srgbClr val="0F172A"/>
                </a:solidFill>
                <a:latin typeface="Yu Gothic"/>
                <a:ea typeface="Yu Gothic"/>
              </a:rPr>
              <a:t>処理</a:t>
            </a:r>
            <a:endParaRPr lang="ja-JP" sz="1450"/>
          </a:p>
        </p:txBody>
      </p:sp>
      <p:cxnSp>
        <p:nvCxnSpPr>
          <p:cNvPr id="12" name="Line 12"/>
          <p:cNvCxnSpPr/>
          <p:nvPr/>
        </p:nvCxnSpPr>
        <p:spPr>
          <a:xfrm>
            <a:off x="5800000" y="1850000"/>
            <a:ext cx="350000" cy="1"/>
          </a:xfrm>
          <a:prstGeom prst="line">
            <a:avLst/>
          </a:prstGeom>
          <a:ln w="20000">
            <a:solidFill>
              <a:srgbClr val="64748B"/>
            </a:solidFill>
            <a:tailEnd type="triangle"/>
          </a:ln>
        </p:spPr>
      </p:cxnSp>
      <p:sp>
        <p:nvSpPr>
          <p:cNvPr id="13" name="ネットワーク"/>
          <p:cNvSpPr/>
          <p:nvPr/>
        </p:nvSpPr>
        <p:spPr>
          <a:xfrm>
            <a:off x="6150000" y="1450000"/>
            <a:ext cx="1550000" cy="800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4" name="ネットワークt"/>
          <p:cNvSpPr txBox="1"/>
          <p:nvPr/>
        </p:nvSpPr>
        <p:spPr>
          <a:xfrm>
            <a:off x="6180000" y="1620000"/>
            <a:ext cx="149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450" b="1">
                <a:solidFill>
                  <a:srgbClr val="0F172A"/>
                </a:solidFill>
                <a:latin typeface="Yu Gothic"/>
                <a:ea typeface="Yu Gothic"/>
              </a:rPr>
              <a:t>ネットワーク</a:t>
            </a:r>
            <a:endParaRPr lang="ja-JP" sz="1450"/>
          </a:p>
        </p:txBody>
      </p:sp>
      <p:cxnSp>
        <p:nvCxnSpPr>
          <p:cNvPr id="15" name="Line 15"/>
          <p:cNvCxnSpPr/>
          <p:nvPr/>
        </p:nvCxnSpPr>
        <p:spPr>
          <a:xfrm>
            <a:off x="7700000" y="1850000"/>
            <a:ext cx="350000" cy="1"/>
          </a:xfrm>
          <a:prstGeom prst="line">
            <a:avLst/>
          </a:prstGeom>
          <a:ln w="20000">
            <a:solidFill>
              <a:srgbClr val="64748B"/>
            </a:solidFill>
            <a:tailEnd type="triangle"/>
          </a:ln>
        </p:spPr>
      </p:cxnSp>
      <p:sp>
        <p:nvSpPr>
          <p:cNvPr id="16" name="D-A変換"/>
          <p:cNvSpPr/>
          <p:nvPr/>
        </p:nvSpPr>
        <p:spPr>
          <a:xfrm>
            <a:off x="8050000" y="1450000"/>
            <a:ext cx="1550000" cy="80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7" name="D-A変換t"/>
          <p:cNvSpPr txBox="1"/>
          <p:nvPr/>
        </p:nvSpPr>
        <p:spPr>
          <a:xfrm>
            <a:off x="8080000" y="1620000"/>
            <a:ext cx="149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450" b="1">
                <a:solidFill>
                  <a:srgbClr val="0F172A"/>
                </a:solidFill>
                <a:latin typeface="Yu Gothic"/>
                <a:ea typeface="Yu Gothic"/>
              </a:rPr>
              <a:t>D-A変換</a:t>
            </a:r>
            <a:endParaRPr lang="ja-JP" sz="1450"/>
          </a:p>
        </p:txBody>
      </p:sp>
      <p:cxnSp>
        <p:nvCxnSpPr>
          <p:cNvPr id="18" name="Line 18"/>
          <p:cNvCxnSpPr/>
          <p:nvPr/>
        </p:nvCxnSpPr>
        <p:spPr>
          <a:xfrm>
            <a:off x="9600000" y="1850000"/>
            <a:ext cx="350000" cy="1"/>
          </a:xfrm>
          <a:prstGeom prst="line">
            <a:avLst/>
          </a:prstGeom>
          <a:ln w="20000">
            <a:solidFill>
              <a:srgbClr val="64748B"/>
            </a:solidFill>
            <a:tailEnd type="triangle"/>
          </a:ln>
        </p:spPr>
      </p:cxnSp>
      <p:sp>
        <p:nvSpPr>
          <p:cNvPr id="19" name="出力 アナログ"/>
          <p:cNvSpPr/>
          <p:nvPr/>
        </p:nvSpPr>
        <p:spPr>
          <a:xfrm>
            <a:off x="9950000" y="1450000"/>
            <a:ext cx="1550000" cy="80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0" name="出力 アナログt"/>
          <p:cNvSpPr txBox="1"/>
          <p:nvPr/>
        </p:nvSpPr>
        <p:spPr>
          <a:xfrm>
            <a:off x="9980000" y="1620000"/>
            <a:ext cx="149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450" b="1">
                <a:solidFill>
                  <a:srgbClr val="0F172A"/>
                </a:solidFill>
                <a:latin typeface="Yu Gothic"/>
                <a:ea typeface="Yu Gothic"/>
              </a:rPr>
              <a:t>出力</a:t>
            </a:r>
            <a:endParaRPr lang="ja-JP" sz="1450"/>
          </a:p>
          <a:p>
            <a:pPr algn="ctr">
              <a:buNone/>
            </a:pPr>
            <a:r>
              <a:rPr lang="ja-JP" sz="1450" b="1">
                <a:solidFill>
                  <a:srgbClr val="0F172A"/>
                </a:solidFill>
                <a:latin typeface="Yu Gothic"/>
                <a:ea typeface="Yu Gothic"/>
              </a:rPr>
              <a:t>アナログ</a:t>
            </a:r>
            <a:endParaRPr lang="ja-JP" sz="1450"/>
          </a:p>
        </p:txBody>
      </p:sp>
      <p:sp>
        <p:nvSpPr>
          <p:cNvPr id="21" name="Interface"/>
          <p:cNvSpPr txBox="1"/>
          <p:nvPr/>
        </p:nvSpPr>
        <p:spPr>
          <a:xfrm>
            <a:off x="850000" y="2650000"/>
            <a:ext cx="103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350" b="1">
                <a:solidFill>
                  <a:srgbClr val="1D4ED8"/>
                </a:solidFill>
                <a:latin typeface="EFF6FF"/>
                <a:ea typeface="EFF6FF"/>
              </a:rPr>
              <a:t>インタフェース = 機器間の接続・信号整合 ｜ ネットワーク = 複数装置間の情報通信</a:t>
            </a:r>
            <a:endParaRPr lang="ja-JP" sz="1350"/>
          </a:p>
        </p:txBody>
      </p:sp>
      <p:sp>
        <p:nvSpPr>
          <p:cNvPr id="22" name="有線 / 無線"/>
          <p:cNvSpPr/>
          <p:nvPr/>
        </p:nvSpPr>
        <p:spPr>
          <a:xfrm>
            <a:off x="650000" y="3550000"/>
            <a:ext cx="51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3" name="有線 / 無線t"/>
          <p:cNvSpPr txBox="1"/>
          <p:nvPr/>
        </p:nvSpPr>
        <p:spPr>
          <a:xfrm>
            <a:off x="750000" y="3640000"/>
            <a:ext cx="1700000" cy="57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450" b="1">
                <a:solidFill>
                  <a:srgbClr val="0F766E"/>
                </a:solidFill>
                <a:latin typeface="Yu Gothic"/>
                <a:ea typeface="Yu Gothic"/>
              </a:rPr>
              <a:t>有線 / 無線</a:t>
            </a:r>
            <a:endParaRPr lang="ja-JP" sz="1450"/>
          </a:p>
        </p:txBody>
      </p:sp>
      <p:sp>
        <p:nvSpPr>
          <p:cNvPr id="24" name="有線 / 無線d"/>
          <p:cNvSpPr txBox="1"/>
          <p:nvPr/>
        </p:nvSpPr>
        <p:spPr>
          <a:xfrm>
            <a:off x="2500000" y="3640000"/>
            <a:ext cx="3150000" cy="57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150" b="0">
                <a:solidFill>
                  <a:srgbClr val="334155"/>
                </a:solidFill>
                <a:latin typeface="Yu Gothic"/>
                <a:ea typeface="Yu Gothic"/>
              </a:rPr>
              <a:t>ケーブル / 空間を伝送路にする</a:t>
            </a:r>
            <a:endParaRPr lang="ja-JP" sz="1150"/>
          </a:p>
        </p:txBody>
      </p:sp>
      <p:sp>
        <p:nvSpPr>
          <p:cNvPr id="25" name="アナログ / ディジタル"/>
          <p:cNvSpPr/>
          <p:nvPr/>
        </p:nvSpPr>
        <p:spPr>
          <a:xfrm>
            <a:off x="6300000" y="3550000"/>
            <a:ext cx="51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6" name="アナログ / ディジタルt"/>
          <p:cNvSpPr txBox="1"/>
          <p:nvPr/>
        </p:nvSpPr>
        <p:spPr>
          <a:xfrm>
            <a:off x="6400000" y="3640000"/>
            <a:ext cx="1700000" cy="57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450" b="1">
                <a:solidFill>
                  <a:srgbClr val="0F766E"/>
                </a:solidFill>
                <a:latin typeface="Yu Gothic"/>
                <a:ea typeface="Yu Gothic"/>
              </a:rPr>
              <a:t>アナログ / ディジタル</a:t>
            </a:r>
            <a:endParaRPr lang="ja-JP" sz="1450"/>
          </a:p>
        </p:txBody>
      </p:sp>
      <p:sp>
        <p:nvSpPr>
          <p:cNvPr id="27" name="アナログ / ディジタルd"/>
          <p:cNvSpPr txBox="1"/>
          <p:nvPr/>
        </p:nvSpPr>
        <p:spPr>
          <a:xfrm>
            <a:off x="8150000" y="3640000"/>
            <a:ext cx="3150000" cy="57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150" b="0">
                <a:solidFill>
                  <a:srgbClr val="334155"/>
                </a:solidFill>
                <a:latin typeface="Yu Gothic"/>
                <a:ea typeface="Yu Gothic"/>
              </a:rPr>
              <a:t>連続量 / 離散的状態</a:t>
            </a:r>
            <a:endParaRPr lang="ja-JP" sz="1150"/>
          </a:p>
        </p:txBody>
      </p:sp>
      <p:sp>
        <p:nvSpPr>
          <p:cNvPr id="28" name="光ファイバ"/>
          <p:cNvSpPr/>
          <p:nvPr/>
        </p:nvSpPr>
        <p:spPr>
          <a:xfrm>
            <a:off x="650000" y="4650000"/>
            <a:ext cx="51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9" name="光ファイバt"/>
          <p:cNvSpPr txBox="1"/>
          <p:nvPr/>
        </p:nvSpPr>
        <p:spPr>
          <a:xfrm>
            <a:off x="750000" y="4740000"/>
            <a:ext cx="1700000" cy="57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450" b="1">
                <a:solidFill>
                  <a:srgbClr val="0F766E"/>
                </a:solidFill>
                <a:latin typeface="Yu Gothic"/>
                <a:ea typeface="Yu Gothic"/>
              </a:rPr>
              <a:t>光ファイバ</a:t>
            </a:r>
            <a:endParaRPr lang="ja-JP" sz="1450"/>
          </a:p>
        </p:txBody>
      </p:sp>
      <p:sp>
        <p:nvSpPr>
          <p:cNvPr id="30" name="光ファイバd"/>
          <p:cNvSpPr txBox="1"/>
          <p:nvPr/>
        </p:nvSpPr>
        <p:spPr>
          <a:xfrm>
            <a:off x="2500000" y="4740000"/>
            <a:ext cx="3150000" cy="57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150" b="0">
                <a:solidFill>
                  <a:srgbClr val="334155"/>
                </a:solidFill>
                <a:latin typeface="Yu Gothic"/>
                <a:ea typeface="Yu Gothic"/>
              </a:rPr>
              <a:t>低損失・電磁誘導雑音を受けにくい</a:t>
            </a:r>
            <a:endParaRPr lang="ja-JP" sz="1150"/>
          </a:p>
        </p:txBody>
      </p:sp>
      <p:sp>
        <p:nvSpPr>
          <p:cNvPr id="31" name="パリティ"/>
          <p:cNvSpPr/>
          <p:nvPr/>
        </p:nvSpPr>
        <p:spPr>
          <a:xfrm>
            <a:off x="6300000" y="4650000"/>
            <a:ext cx="51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2" name="パリティt"/>
          <p:cNvSpPr txBox="1"/>
          <p:nvPr/>
        </p:nvSpPr>
        <p:spPr>
          <a:xfrm>
            <a:off x="6400000" y="4740000"/>
            <a:ext cx="1700000" cy="57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450" b="1">
                <a:solidFill>
                  <a:srgbClr val="0F766E"/>
                </a:solidFill>
                <a:latin typeface="Yu Gothic"/>
                <a:ea typeface="Yu Gothic"/>
              </a:rPr>
              <a:t>パリティ</a:t>
            </a:r>
            <a:endParaRPr lang="ja-JP" sz="1450"/>
          </a:p>
        </p:txBody>
      </p:sp>
      <p:sp>
        <p:nvSpPr>
          <p:cNvPr id="33" name="パリティd"/>
          <p:cNvSpPr txBox="1"/>
          <p:nvPr/>
        </p:nvSpPr>
        <p:spPr>
          <a:xfrm>
            <a:off x="8150000" y="4740000"/>
            <a:ext cx="3150000" cy="57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150" b="0">
                <a:solidFill>
                  <a:srgbClr val="334155"/>
                </a:solidFill>
                <a:latin typeface="Yu Gothic"/>
                <a:ea typeface="Yu Gothic"/>
              </a:rPr>
              <a:t>1の個数の偶奇をそろえ、誤りを検出</a:t>
            </a:r>
            <a:endParaRPr lang="ja-JP" sz="1150"/>
          </a:p>
        </p:txBody>
      </p:sp>
      <p:sp>
        <p:nvSpPr>
          <p:cNvPr id="34" name="Warn"/>
          <p:cNvSpPr txBox="1"/>
          <p:nvPr/>
        </p:nvSpPr>
        <p:spPr>
          <a:xfrm>
            <a:off x="700000" y="60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200" b="1">
                <a:solidFill>
                  <a:srgbClr val="B91C1C"/>
                </a:solidFill>
                <a:latin typeface="FEF2F2"/>
                <a:ea typeface="FEF2F2"/>
              </a:rPr>
              <a:t>注意: パリティは誤り検出。単純パリティだけで誤り訂正はできない。</a:t>
            </a:r>
            <a:endParaRPr lang="ja-JP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50000"/>
            <a:ext cx="112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2450" b="1">
                <a:solidFill>
                  <a:srgbClr val="111827"/>
                </a:solidFill>
                <a:latin typeface="Yu Gothic"/>
                <a:ea typeface="Yu Gothic"/>
              </a:rPr>
              <a:t>データ処理は「表現 → 計算 → 反復」の順で解く</a:t>
            </a:r>
            <a:endParaRPr lang="ja-JP" sz="2450"/>
          </a:p>
        </p:txBody>
      </p:sp>
      <p:sp>
        <p:nvSpPr>
          <p:cNvPr id="3" name="Map"/>
          <p:cNvSpPr txBox="1"/>
          <p:nvPr/>
        </p:nvSpPr>
        <p:spPr>
          <a:xfrm>
            <a:off x="520000" y="79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50" b="0">
                <a:solidFill>
                  <a:srgbClr val="475569"/>
                </a:solidFill>
                <a:latin typeface="Yu Gothic"/>
                <a:ea typeface="Yu Gothic"/>
              </a:rPr>
              <a:t>固定対応: R6上 機械 問18(a)(b) / R4下 機械 問18(a)(b)</a:t>
            </a:r>
            <a:endParaRPr lang="ja-JP" sz="1250"/>
          </a:p>
        </p:txBody>
      </p:sp>
      <p:sp>
        <p:nvSpPr>
          <p:cNvPr id="4" name="r進数"/>
          <p:cNvSpPr/>
          <p:nvPr/>
        </p:nvSpPr>
        <p:spPr>
          <a:xfrm>
            <a:off x="650000" y="1450000"/>
            <a:ext cx="515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" name="r進数t"/>
          <p:cNvSpPr txBox="1"/>
          <p:nvPr/>
        </p:nvSpPr>
        <p:spPr>
          <a:xfrm>
            <a:off x="770000" y="1560000"/>
            <a:ext cx="4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600" b="1">
                <a:solidFill>
                  <a:srgbClr val="1D4ED8"/>
                </a:solidFill>
                <a:latin typeface="Yu Gothic"/>
                <a:ea typeface="Yu Gothic"/>
              </a:rPr>
              <a:t>r進数</a:t>
            </a:r>
            <a:endParaRPr lang="ja-JP" sz="1600"/>
          </a:p>
        </p:txBody>
      </p:sp>
      <p:sp>
        <p:nvSpPr>
          <p:cNvPr id="6" name="r進数d"/>
          <p:cNvSpPr txBox="1"/>
          <p:nvPr/>
        </p:nvSpPr>
        <p:spPr>
          <a:xfrm>
            <a:off x="770000" y="1950000"/>
            <a:ext cx="4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N = Σ a_i r^i</a:t>
            </a:r>
            <a:endParaRPr lang="ja-JP" sz="1200"/>
          </a:p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0 ≤ a_i &lt; r</a:t>
            </a:r>
            <a:endParaRPr lang="ja-JP" sz="1200"/>
          </a:p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未知基数は10進式へ展開</a:t>
            </a:r>
            <a:endParaRPr lang="ja-JP" sz="1200"/>
          </a:p>
        </p:txBody>
      </p:sp>
      <p:sp>
        <p:nvSpPr>
          <p:cNvPr id="7" name="2の補数・D-A"/>
          <p:cNvSpPr/>
          <p:nvPr/>
        </p:nvSpPr>
        <p:spPr>
          <a:xfrm>
            <a:off x="6300000" y="1450000"/>
            <a:ext cx="515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8" name="2の補数・D-At"/>
          <p:cNvSpPr txBox="1"/>
          <p:nvPr/>
        </p:nvSpPr>
        <p:spPr>
          <a:xfrm>
            <a:off x="6420000" y="1560000"/>
            <a:ext cx="4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600" b="1">
                <a:solidFill>
                  <a:srgbClr val="1D4ED8"/>
                </a:solidFill>
                <a:latin typeface="Yu Gothic"/>
                <a:ea typeface="Yu Gothic"/>
              </a:rPr>
              <a:t>2の補数・D-A</a:t>
            </a:r>
            <a:endParaRPr lang="ja-JP" sz="1600"/>
          </a:p>
        </p:txBody>
      </p:sp>
      <p:sp>
        <p:nvSpPr>
          <p:cNvPr id="9" name="2の補数・D-Ad"/>
          <p:cNvSpPr txBox="1"/>
          <p:nvPr/>
        </p:nvSpPr>
        <p:spPr>
          <a:xfrm>
            <a:off x="6420000" y="1950000"/>
            <a:ext cx="4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負数: bit反転 → +1</a:t>
            </a:r>
            <a:endParaRPr lang="ja-JP" sz="1200"/>
          </a:p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q=(V2-V1)/(D2-D1)</a:t>
            </a:r>
            <a:endParaRPr lang="ja-JP" sz="1200"/>
          </a:p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V=V1+(D-D1)q</a:t>
            </a:r>
            <a:endParaRPr lang="ja-JP" sz="1200"/>
          </a:p>
        </p:txBody>
      </p:sp>
      <p:sp>
        <p:nvSpPr>
          <p:cNvPr id="10" name="最大値・平均"/>
          <p:cNvSpPr/>
          <p:nvPr/>
        </p:nvSpPr>
        <p:spPr>
          <a:xfrm>
            <a:off x="650000" y="3200000"/>
            <a:ext cx="515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1" name="最大値・平均t"/>
          <p:cNvSpPr txBox="1"/>
          <p:nvPr/>
        </p:nvSpPr>
        <p:spPr>
          <a:xfrm>
            <a:off x="770000" y="3310000"/>
            <a:ext cx="4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600" b="1">
                <a:solidFill>
                  <a:srgbClr val="1D4ED8"/>
                </a:solidFill>
                <a:latin typeface="Yu Gothic"/>
                <a:ea typeface="Yu Gothic"/>
              </a:rPr>
              <a:t>最大値・平均</a:t>
            </a:r>
            <a:endParaRPr lang="ja-JP" sz="1600"/>
          </a:p>
        </p:txBody>
      </p:sp>
      <p:sp>
        <p:nvSpPr>
          <p:cNvPr id="12" name="最大値・平均d"/>
          <p:cNvSpPr txBox="1"/>
          <p:nvPr/>
        </p:nvSpPr>
        <p:spPr>
          <a:xfrm>
            <a:off x="770000" y="3700000"/>
            <a:ext cx="4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s ← d[1], t ← 0</a:t>
            </a:r>
            <a:endParaRPr lang="ja-JP" sz="1200"/>
          </a:p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反復: t ← t+d[i]</a:t>
            </a:r>
            <a:endParaRPr lang="ja-JP" sz="1200"/>
          </a:p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d[i]&gt;s なら s←d[i]</a:t>
            </a:r>
            <a:endParaRPr lang="ja-JP" sz="1200"/>
          </a:p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a=t/k</a:t>
            </a:r>
            <a:endParaRPr lang="ja-JP" sz="1200"/>
          </a:p>
        </p:txBody>
      </p:sp>
      <p:sp>
        <p:nvSpPr>
          <p:cNvPr id="13" name="降順並べ替え"/>
          <p:cNvSpPr/>
          <p:nvPr/>
        </p:nvSpPr>
        <p:spPr>
          <a:xfrm>
            <a:off x="6300000" y="3200000"/>
            <a:ext cx="515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4" name="降順並べ替えt"/>
          <p:cNvSpPr txBox="1"/>
          <p:nvPr/>
        </p:nvSpPr>
        <p:spPr>
          <a:xfrm>
            <a:off x="6420000" y="3310000"/>
            <a:ext cx="4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600" b="1">
                <a:solidFill>
                  <a:srgbClr val="1D4ED8"/>
                </a:solidFill>
                <a:latin typeface="Yu Gothic"/>
                <a:ea typeface="Yu Gothic"/>
              </a:rPr>
              <a:t>降順並べ替え</a:t>
            </a:r>
            <a:endParaRPr lang="ja-JP" sz="1600"/>
          </a:p>
        </p:txBody>
      </p:sp>
      <p:sp>
        <p:nvSpPr>
          <p:cNvPr id="15" name="降順並べ替えd"/>
          <p:cNvSpPr txBox="1"/>
          <p:nvPr/>
        </p:nvSpPr>
        <p:spPr>
          <a:xfrm>
            <a:off x="6420000" y="3700000"/>
            <a:ext cx="4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d[i] &lt; d[j] なら交換</a:t>
            </a:r>
            <a:endParaRPr lang="ja-JP" sz="1200"/>
          </a:p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w←d[i] → d[i]←d[j]</a:t>
            </a:r>
            <a:endParaRPr lang="ja-JP" sz="1200"/>
          </a:p>
          <a:p>
            <a:pPr algn="l">
              <a:buNone/>
            </a:pPr>
            <a:r>
              <a:rPr lang="ja-JP" sz="1200" b="0">
                <a:solidFill>
                  <a:srgbClr val="334155"/>
                </a:solidFill>
                <a:latin typeface="Yu Gothic"/>
                <a:ea typeface="Yu Gothic"/>
              </a:rPr>
              <a:t>→ d[j]←w</a:t>
            </a:r>
            <a:endParaRPr lang="ja-JP" sz="1200"/>
          </a:p>
        </p:txBody>
      </p:sp>
      <p:sp>
        <p:nvSpPr>
          <p:cNvPr id="16" name="Alg"/>
          <p:cNvSpPr txBox="1"/>
          <p:nvPr/>
        </p:nvSpPr>
        <p:spPr>
          <a:xfrm>
            <a:off x="700000" y="50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250" b="1">
                <a:solidFill>
                  <a:srgbClr val="0F766E"/>
                </a:solidFill>
                <a:latin typeface="ECFDF5"/>
                <a:ea typeface="ECFDF5"/>
              </a:rPr>
              <a:t>分類 → 式へ展開 → 表現方式確認 → 反復を逐次更新 → bit数/要素数/昇降順を検算</a:t>
            </a:r>
            <a:endParaRPr lang="ja-JP" sz="1250"/>
          </a:p>
        </p:txBody>
      </p:sp>
      <p:sp>
        <p:nvSpPr>
          <p:cNvPr id="17" name="Gate"/>
          <p:cNvSpPr txBox="1"/>
          <p:nvPr/>
        </p:nvSpPr>
        <p:spPr>
          <a:xfrm>
            <a:off x="700000" y="5630000"/>
            <a:ext cx="108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1350" b="1">
                <a:solidFill>
                  <a:srgbClr val="166534"/>
                </a:solidFill>
                <a:latin typeface="F0FDF4"/>
                <a:ea typeface="F0FDF4"/>
              </a:rPr>
              <a:t>固定EXAM_ALIGNMENT可視化 8 / 8 PASS</a:t>
            </a:r>
            <a:endParaRPr lang="ja-JP" sz="1350"/>
          </a:p>
        </p:txBody>
      </p:sp>
      <p:sp>
        <p:nvSpPr>
          <p:cNvPr id="18" name="Sources"/>
          <p:cNvSpPr txBox="1"/>
          <p:nvPr/>
        </p:nvSpPr>
        <p:spPr>
          <a:xfrm>
            <a:off x="700000" y="610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/>
          <a:lstStyle/>
          <a:p>
            <a:pPr algn="ctr">
              <a:buNone/>
            </a:pPr>
            <a:r>
              <a:rPr lang="ja-JP" sz="850" b="0">
                <a:solidFill>
                  <a:srgbClr val="64748B"/>
                </a:solidFill>
                <a:latin typeface="Yu Gothic"/>
                <a:ea typeface="Yu Gothic"/>
              </a:rPr>
              <a:t>出典: 電気技術者試験センター R6上/R4上/R4下/H27 ｜ JR東日本 会社要覧2018-2019</a:t>
            </a:r>
            <a:endParaRPr lang="ja-JP" sz="850"/>
          </a:p>
          <a:p>
            <a:pPr algn="ctr">
              <a:buNone/>
            </a:pPr>
            <a:r>
              <a:rPr lang="ja-JP" sz="850" b="0">
                <a:solidFill>
                  <a:srgbClr val="64748B"/>
                </a:solidFill>
                <a:latin typeface="Yu Gothic"/>
                <a:ea typeface="Yu Gothic"/>
              </a:rPr>
              <a:t>個別正答番号・完成導出はblind再解答保護のため保存しない。Topic37/38は先取りしない。</a:t>
            </a:r>
            <a:endParaRPr lang="ja-JP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F766E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0000FF"/>
      </a:hlink>
      <a:folHlink>
        <a:srgbClr val="800080"/>
      </a:folHlink>
    </a:clrScheme>
    <a:fontScheme name="Minimal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Minimal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