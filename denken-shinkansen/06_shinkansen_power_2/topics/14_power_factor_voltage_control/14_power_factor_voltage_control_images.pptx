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1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4324A"/>
          </a:solidFill>
          <a:ln w="9525">
            <a:solidFill>
              <a:srgbClr val="14324A"/>
            </a:solidFill>
          </a:ln>
        </p:spPr>
      </p:sp>
      <p:sp>
        <p:nvSpPr>
          <p:cNvPr id="11" name="header"/>
          <p:cNvSpPr/>
          <p:nvPr/>
        </p:nvSpPr>
        <p:spPr>
          <a:xfrm>
            <a:off x="384048" y="73152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1">
                <a:solidFill>
                  <a:srgbClr val="FFFFFF"/>
                </a:solidFill>
              </a:rPr>
              <a:t>電験二種「電力・管理」× 新幹線　Topic 14</a:t>
            </a:r>
            <a:endParaRPr lang="ja-JP" sz="1050"/>
          </a:p>
        </p:txBody>
      </p:sp>
      <p:sp>
        <p:nvSpPr>
          <p:cNvPr id="12" name="title"/>
          <p:cNvSpPr/>
          <p:nvPr/>
        </p:nvSpPr>
        <p:spPr>
          <a:xfrm>
            <a:off x="457200" y="658368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2400" b="1">
                <a:solidFill>
                  <a:srgbClr val="14324A"/>
                </a:solidFill>
              </a:rPr>
              <a:t>力率が下がると、線路電流と損失が増える</a:t>
            </a:r>
            <a:endParaRPr lang="ja-JP" sz="2400"/>
          </a:p>
        </p:txBody>
      </p:sp>
      <p:sp>
        <p:nvSpPr>
          <p:cNvPr id="13" name="sub"/>
          <p:cNvSpPr/>
          <p:nvPr/>
        </p:nvSpPr>
        <p:spPr>
          <a:xfrm>
            <a:off x="475488" y="106070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0">
                <a:solidFill>
                  <a:srgbClr val="667788"/>
                </a:solidFill>
              </a:rPr>
              <a:t>P-Q-S → 力率 → 電流 → I²R損失 → コンデンサ補償</a:t>
            </a:r>
            <a:endParaRPr lang="ja-JP" sz="1050"/>
          </a:p>
        </p:txBody>
      </p:sp>
      <p:sp>
        <p:nvSpPr>
          <p:cNvPr id="20" name="shape20"/>
          <p:cNvSpPr/>
          <p:nvPr/>
        </p:nvSpPr>
        <p:spPr>
          <a:xfrm>
            <a:off x="457200" y="1417320"/>
            <a:ext cx="315468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21" name="Text"/>
          <p:cNvSpPr/>
          <p:nvPr/>
        </p:nvSpPr>
        <p:spPr>
          <a:xfrm>
            <a:off x="658368" y="160020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500" b="1">
                <a:solidFill>
                  <a:srgbClr val="14324A"/>
                </a:solidFill>
              </a:rPr>
              <a:t>P-Q-S と力率</a:t>
            </a:r>
            <a:endParaRPr lang="ja-JP" sz="1500"/>
          </a:p>
        </p:txBody>
      </p:sp>
      <p:sp>
        <p:nvSpPr>
          <p:cNvPr id="22" name="Text"/>
          <p:cNvSpPr/>
          <p:nvPr/>
        </p:nvSpPr>
        <p:spPr>
          <a:xfrm>
            <a:off x="713232" y="2011680"/>
            <a:ext cx="2651760" cy="868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500" b="0">
                <a:solidFill>
                  <a:srgbClr val="23313D"/>
                </a:solidFill>
              </a:rPr>
              <a:t>S = P + jQ</a:t>
            </a:r>
            <a:endParaRPr lang="ja-JP" sz="1500"/>
          </a:p>
          <a:p>
            <a:pPr algn="ctr"/>
            <a:r>
              <a:rPr lang="ja-JP" sz="1500" b="0">
                <a:solidFill>
                  <a:srgbClr val="23313D"/>
                </a:solidFill>
              </a:rPr>
              <a:t>|S| = √(P²+Q²)</a:t>
            </a:r>
            <a:endParaRPr lang="ja-JP" sz="1500"/>
          </a:p>
          <a:p>
            <a:pPr algn="ctr"/>
            <a:r>
              <a:rPr lang="ja-JP" sz="1500" b="0">
                <a:solidFill>
                  <a:srgbClr val="23313D"/>
                </a:solidFill>
              </a:rPr>
              <a:t>cosφ = P/|S|   Q = P tanφ</a:t>
            </a:r>
            <a:endParaRPr lang="ja-JP" sz="1500"/>
          </a:p>
        </p:txBody>
      </p:sp>
      <p:sp>
        <p:nvSpPr>
          <p:cNvPr id="23" name="Text"/>
          <p:cNvSpPr/>
          <p:nvPr/>
        </p:nvSpPr>
        <p:spPr>
          <a:xfrm>
            <a:off x="713232" y="3035808"/>
            <a:ext cx="2651760" cy="457200"/>
          </a:xfrm>
          <a:prstGeom prst="rect">
            <a:avLst/>
          </a:prstGeom>
          <a:solidFill>
            <a:srgbClr val="EAF6F0"/>
          </a:solidFill>
          <a:ln w="12700">
            <a:solidFill>
              <a:srgbClr val="B8D8C6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400" b="1">
                <a:solidFill>
                  <a:srgbClr val="3F8F6B"/>
                </a:solidFill>
              </a:rPr>
              <a:t>Qc = P(tanφ₁ − tanφ₂)</a:t>
            </a:r>
            <a:endParaRPr lang="ja-JP" sz="1400"/>
          </a:p>
        </p:txBody>
      </p:sp>
      <p:sp>
        <p:nvSpPr>
          <p:cNvPr id="24" name="Text"/>
          <p:cNvSpPr/>
          <p:nvPr/>
        </p:nvSpPr>
        <p:spPr>
          <a:xfrm>
            <a:off x="713232" y="3730752"/>
            <a:ext cx="2651760" cy="1143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130" b="0">
                <a:solidFill>
                  <a:srgbClr val="23313D"/>
                </a:solidFill>
              </a:rPr>
              <a:t>遅れQを +、進みQを − とする。</a:t>
            </a:r>
            <a:endParaRPr lang="ja-JP" sz="1130"/>
          </a:p>
          <a:p>
            <a:pPr algn="l"/>
            <a:r>
              <a:rPr lang="ja-JP" sz="1130" b="0">
                <a:solidFill>
                  <a:srgbClr val="23313D"/>
                </a:solidFill>
              </a:rPr>
              <a:t>コンデンサは −Q方向に補償。</a:t>
            </a:r>
            <a:endParaRPr lang="ja-JP" sz="1130"/>
          </a:p>
          <a:p>
            <a:pPr algn="l"/>
            <a:r>
              <a:rPr lang="ja-JP" sz="1130" b="0">
                <a:solidFill>
                  <a:srgbClr val="23313D"/>
                </a:solidFill>
              </a:rPr>
              <a:t>力率の数値だけで遅れ/進みを判断しない。</a:t>
            </a:r>
            <a:endParaRPr lang="ja-JP" sz="1130"/>
          </a:p>
        </p:txBody>
      </p:sp>
      <p:sp>
        <p:nvSpPr>
          <p:cNvPr id="25" name="Text"/>
          <p:cNvSpPr/>
          <p:nvPr/>
        </p:nvSpPr>
        <p:spPr>
          <a:xfrm>
            <a:off x="713232" y="5074920"/>
            <a:ext cx="2651760" cy="566928"/>
          </a:xfrm>
          <a:prstGeom prst="rect">
            <a:avLst/>
          </a:prstGeom>
          <a:solidFill>
            <a:srgbClr val="FDEEEE"/>
          </a:solidFill>
          <a:ln w="12700">
            <a:solidFill>
              <a:srgbClr val="E2B8B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00" b="1">
                <a:solidFill>
                  <a:srgbClr val="B84C4C"/>
                </a:solidFill>
              </a:rPr>
              <a:t>同じP・Vなら</a:t>
            </a:r>
            <a:endParaRPr lang="ja-JP" sz="1300"/>
          </a:p>
          <a:p>
            <a:pPr algn="ctr"/>
            <a:r>
              <a:rPr lang="ja-JP" sz="1300" b="1">
                <a:solidFill>
                  <a:srgbClr val="B84C4C"/>
                </a:solidFill>
              </a:rPr>
              <a:t>力率低下 → I増加 → 損失増加</a:t>
            </a:r>
            <a:endParaRPr lang="ja-JP" sz="1300"/>
          </a:p>
        </p:txBody>
      </p:sp>
      <p:sp>
        <p:nvSpPr>
          <p:cNvPr id="30" name="shape30"/>
          <p:cNvSpPr/>
          <p:nvPr/>
        </p:nvSpPr>
        <p:spPr>
          <a:xfrm>
            <a:off x="3822191" y="1417320"/>
            <a:ext cx="379476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31" name="Text"/>
          <p:cNvSpPr/>
          <p:nvPr/>
        </p:nvSpPr>
        <p:spPr>
          <a:xfrm>
            <a:off x="4023360" y="1572768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50" b="1">
                <a:solidFill>
                  <a:srgbClr val="14324A"/>
                </a:solidFill>
              </a:rPr>
              <a:t>SPEC可視化①　力率―線路電流</a:t>
            </a:r>
            <a:endParaRPr lang="ja-JP" sz="1350"/>
          </a:p>
        </p:txBody>
      </p:sp>
      <p:sp>
        <p:nvSpPr>
          <p:cNvPr id="50" name="shape50"/>
          <p:cNvSpPr/>
          <p:nvPr/>
        </p:nvSpPr>
        <p:spPr>
          <a:xfrm>
            <a:off x="7882127" y="1417320"/>
            <a:ext cx="38404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51" name="Text"/>
          <p:cNvSpPr/>
          <p:nvPr/>
        </p:nvSpPr>
        <p:spPr>
          <a:xfrm>
            <a:off x="8083296" y="1572768"/>
            <a:ext cx="342900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50" b="1">
                <a:solidFill>
                  <a:srgbClr val="14324A"/>
                </a:solidFill>
              </a:rPr>
              <a:t>SPEC可視化②　力率―線路損失</a:t>
            </a:r>
            <a:endParaRPr lang="ja-JP" sz="1350"/>
          </a:p>
        </p:txBody>
      </p:sp>
      <p:sp>
        <p:nvSpPr>
          <p:cNvPr id="100" name="shape100"/>
          <p:cNvSpPr/>
          <p:nvPr/>
        </p:nvSpPr>
        <p:spPr>
          <a:xfrm>
            <a:off x="4078224" y="2191371"/>
            <a:ext cx="320040" cy="963308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01" name="Text"/>
          <p:cNvSpPr/>
          <p:nvPr/>
        </p:nvSpPr>
        <p:spPr>
          <a:xfrm>
            <a:off x="400507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.60</a:t>
            </a:r>
            <a:endParaRPr lang="ja-JP" sz="780"/>
          </a:p>
        </p:txBody>
      </p:sp>
      <p:sp>
        <p:nvSpPr>
          <p:cNvPr id="102" name="Text"/>
          <p:cNvSpPr/>
          <p:nvPr/>
        </p:nvSpPr>
        <p:spPr>
          <a:xfrm>
            <a:off x="3977639" y="2008491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291.6</a:t>
            </a:r>
            <a:endParaRPr lang="ja-JP" sz="740"/>
          </a:p>
        </p:txBody>
      </p:sp>
      <p:sp>
        <p:nvSpPr>
          <p:cNvPr id="103" name="shape103"/>
          <p:cNvSpPr/>
          <p:nvPr/>
        </p:nvSpPr>
        <p:spPr>
          <a:xfrm>
            <a:off x="4581144" y="2328968"/>
            <a:ext cx="320040" cy="825711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04" name="Text"/>
          <p:cNvSpPr/>
          <p:nvPr/>
        </p:nvSpPr>
        <p:spPr>
          <a:xfrm>
            <a:off x="450799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.70</a:t>
            </a:r>
            <a:endParaRPr lang="ja-JP" sz="780"/>
          </a:p>
        </p:txBody>
      </p:sp>
      <p:sp>
        <p:nvSpPr>
          <p:cNvPr id="105" name="Text"/>
          <p:cNvSpPr/>
          <p:nvPr/>
        </p:nvSpPr>
        <p:spPr>
          <a:xfrm>
            <a:off x="4480559" y="2146088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249.9</a:t>
            </a:r>
            <a:endParaRPr lang="ja-JP" sz="740"/>
          </a:p>
        </p:txBody>
      </p:sp>
      <p:sp>
        <p:nvSpPr>
          <p:cNvPr id="106" name="shape106"/>
          <p:cNvSpPr/>
          <p:nvPr/>
        </p:nvSpPr>
        <p:spPr>
          <a:xfrm>
            <a:off x="5084064" y="2432207"/>
            <a:ext cx="320040" cy="722472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07" name="Text"/>
          <p:cNvSpPr/>
          <p:nvPr/>
        </p:nvSpPr>
        <p:spPr>
          <a:xfrm>
            <a:off x="501091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.80</a:t>
            </a:r>
            <a:endParaRPr lang="ja-JP" sz="780"/>
          </a:p>
        </p:txBody>
      </p:sp>
      <p:sp>
        <p:nvSpPr>
          <p:cNvPr id="108" name="Text"/>
          <p:cNvSpPr/>
          <p:nvPr/>
        </p:nvSpPr>
        <p:spPr>
          <a:xfrm>
            <a:off x="4983480" y="2249327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218.7</a:t>
            </a:r>
            <a:endParaRPr lang="ja-JP" sz="740"/>
          </a:p>
        </p:txBody>
      </p:sp>
      <p:sp>
        <p:nvSpPr>
          <p:cNvPr id="109" name="shape109"/>
          <p:cNvSpPr/>
          <p:nvPr/>
        </p:nvSpPr>
        <p:spPr>
          <a:xfrm>
            <a:off x="5586984" y="2512485"/>
            <a:ext cx="320040" cy="642194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10" name="Text"/>
          <p:cNvSpPr/>
          <p:nvPr/>
        </p:nvSpPr>
        <p:spPr>
          <a:xfrm>
            <a:off x="551383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.90</a:t>
            </a:r>
            <a:endParaRPr lang="ja-JP" sz="780"/>
          </a:p>
        </p:txBody>
      </p:sp>
      <p:sp>
        <p:nvSpPr>
          <p:cNvPr id="111" name="Text"/>
          <p:cNvSpPr/>
          <p:nvPr/>
        </p:nvSpPr>
        <p:spPr>
          <a:xfrm>
            <a:off x="5486400" y="2329605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194.4</a:t>
            </a:r>
            <a:endParaRPr lang="ja-JP" sz="740"/>
          </a:p>
        </p:txBody>
      </p:sp>
      <p:sp>
        <p:nvSpPr>
          <p:cNvPr id="112" name="shape112"/>
          <p:cNvSpPr/>
          <p:nvPr/>
        </p:nvSpPr>
        <p:spPr>
          <a:xfrm>
            <a:off x="6089904" y="2546281"/>
            <a:ext cx="320040" cy="608398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13" name="Text"/>
          <p:cNvSpPr/>
          <p:nvPr/>
        </p:nvSpPr>
        <p:spPr>
          <a:xfrm>
            <a:off x="601675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.95</a:t>
            </a:r>
            <a:endParaRPr lang="ja-JP" sz="780"/>
          </a:p>
        </p:txBody>
      </p:sp>
      <p:sp>
        <p:nvSpPr>
          <p:cNvPr id="114" name="Text"/>
          <p:cNvSpPr/>
          <p:nvPr/>
        </p:nvSpPr>
        <p:spPr>
          <a:xfrm>
            <a:off x="5989320" y="2363401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184.2</a:t>
            </a:r>
            <a:endParaRPr lang="ja-JP" sz="740"/>
          </a:p>
        </p:txBody>
      </p:sp>
      <p:sp>
        <p:nvSpPr>
          <p:cNvPr id="115" name="shape115"/>
          <p:cNvSpPr/>
          <p:nvPr/>
        </p:nvSpPr>
        <p:spPr>
          <a:xfrm>
            <a:off x="6592824" y="2576708"/>
            <a:ext cx="320040" cy="577971"/>
          </a:xfrm>
          <a:prstGeom prst="rect">
            <a:avLst/>
          </a:prstGeom>
          <a:solidFill>
            <a:srgbClr val="2B6CB0"/>
          </a:solidFill>
          <a:ln w="9525">
            <a:solidFill>
              <a:srgbClr val="2B6CB0"/>
            </a:solidFill>
          </a:ln>
        </p:spPr>
      </p:sp>
      <p:sp>
        <p:nvSpPr>
          <p:cNvPr id="116" name="Text"/>
          <p:cNvSpPr/>
          <p:nvPr/>
        </p:nvSpPr>
        <p:spPr>
          <a:xfrm>
            <a:off x="6519672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1.00</a:t>
            </a:r>
            <a:endParaRPr lang="ja-JP" sz="780"/>
          </a:p>
        </p:txBody>
      </p:sp>
      <p:sp>
        <p:nvSpPr>
          <p:cNvPr id="117" name="Text"/>
          <p:cNvSpPr/>
          <p:nvPr/>
        </p:nvSpPr>
        <p:spPr>
          <a:xfrm>
            <a:off x="6492240" y="2393828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2B6CB0"/>
                </a:solidFill>
              </a:rPr>
              <a:t>174.9</a:t>
            </a:r>
            <a:endParaRPr lang="ja-JP" sz="740"/>
          </a:p>
        </p:txBody>
      </p:sp>
      <p:sp>
        <p:nvSpPr>
          <p:cNvPr id="119" name="Text"/>
          <p:cNvSpPr/>
          <p:nvPr/>
        </p:nvSpPr>
        <p:spPr>
          <a:xfrm>
            <a:off x="4151376" y="3355848"/>
            <a:ext cx="2880360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819" b="0">
                <a:solidFill>
                  <a:srgbClr val="667788"/>
                </a:solidFill>
              </a:rPr>
              <a:t>仮定: P=20 MW, V=66 kV</a:t>
            </a:r>
            <a:endParaRPr lang="ja-JP" sz="819"/>
          </a:p>
        </p:txBody>
      </p:sp>
      <p:sp>
        <p:nvSpPr>
          <p:cNvPr id="150" name="shape150"/>
          <p:cNvSpPr/>
          <p:nvPr/>
        </p:nvSpPr>
        <p:spPr>
          <a:xfrm>
            <a:off x="8138160" y="2204661"/>
            <a:ext cx="320040" cy="950018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51" name="Text"/>
          <p:cNvSpPr/>
          <p:nvPr/>
        </p:nvSpPr>
        <p:spPr>
          <a:xfrm>
            <a:off x="806500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.60</a:t>
            </a:r>
            <a:endParaRPr lang="ja-JP" sz="780"/>
          </a:p>
        </p:txBody>
      </p:sp>
      <p:sp>
        <p:nvSpPr>
          <p:cNvPr id="152" name="Text"/>
          <p:cNvSpPr/>
          <p:nvPr/>
        </p:nvSpPr>
        <p:spPr>
          <a:xfrm>
            <a:off x="8037576" y="2021781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51.0</a:t>
            </a:r>
            <a:endParaRPr lang="ja-JP" sz="740"/>
          </a:p>
        </p:txBody>
      </p:sp>
      <p:sp>
        <p:nvSpPr>
          <p:cNvPr id="153" name="shape153"/>
          <p:cNvSpPr/>
          <p:nvPr/>
        </p:nvSpPr>
        <p:spPr>
          <a:xfrm>
            <a:off x="8641080" y="2456783"/>
            <a:ext cx="320040" cy="697896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54" name="Text"/>
          <p:cNvSpPr/>
          <p:nvPr/>
        </p:nvSpPr>
        <p:spPr>
          <a:xfrm>
            <a:off x="856792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.70</a:t>
            </a:r>
            <a:endParaRPr lang="ja-JP" sz="780"/>
          </a:p>
        </p:txBody>
      </p:sp>
      <p:sp>
        <p:nvSpPr>
          <p:cNvPr id="155" name="Text"/>
          <p:cNvSpPr/>
          <p:nvPr/>
        </p:nvSpPr>
        <p:spPr>
          <a:xfrm>
            <a:off x="8540496" y="2273903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37.5</a:t>
            </a:r>
            <a:endParaRPr lang="ja-JP" sz="740"/>
          </a:p>
        </p:txBody>
      </p:sp>
      <p:sp>
        <p:nvSpPr>
          <p:cNvPr id="156" name="shape156"/>
          <p:cNvSpPr/>
          <p:nvPr/>
        </p:nvSpPr>
        <p:spPr>
          <a:xfrm>
            <a:off x="9144000" y="2620271"/>
            <a:ext cx="320040" cy="534408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57" name="Text"/>
          <p:cNvSpPr/>
          <p:nvPr/>
        </p:nvSpPr>
        <p:spPr>
          <a:xfrm>
            <a:off x="907084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.80</a:t>
            </a:r>
            <a:endParaRPr lang="ja-JP" sz="780"/>
          </a:p>
        </p:txBody>
      </p:sp>
      <p:sp>
        <p:nvSpPr>
          <p:cNvPr id="158" name="Text"/>
          <p:cNvSpPr/>
          <p:nvPr/>
        </p:nvSpPr>
        <p:spPr>
          <a:xfrm>
            <a:off x="9043416" y="2437391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28.7</a:t>
            </a:r>
            <a:endParaRPr lang="ja-JP" sz="740"/>
          </a:p>
        </p:txBody>
      </p:sp>
      <p:sp>
        <p:nvSpPr>
          <p:cNvPr id="159" name="shape159"/>
          <p:cNvSpPr/>
          <p:nvPr/>
        </p:nvSpPr>
        <p:spPr>
          <a:xfrm>
            <a:off x="9646920" y="2732553"/>
            <a:ext cx="320040" cy="422126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60" name="Text"/>
          <p:cNvSpPr/>
          <p:nvPr/>
        </p:nvSpPr>
        <p:spPr>
          <a:xfrm>
            <a:off x="957376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.90</a:t>
            </a:r>
            <a:endParaRPr lang="ja-JP" sz="780"/>
          </a:p>
        </p:txBody>
      </p:sp>
      <p:sp>
        <p:nvSpPr>
          <p:cNvPr id="161" name="Text"/>
          <p:cNvSpPr/>
          <p:nvPr/>
        </p:nvSpPr>
        <p:spPr>
          <a:xfrm>
            <a:off x="9546336" y="2549673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22.7</a:t>
            </a:r>
            <a:endParaRPr lang="ja-JP" sz="740"/>
          </a:p>
        </p:txBody>
      </p:sp>
      <p:sp>
        <p:nvSpPr>
          <p:cNvPr id="162" name="shape162"/>
          <p:cNvSpPr/>
          <p:nvPr/>
        </p:nvSpPr>
        <p:spPr>
          <a:xfrm>
            <a:off x="10149840" y="2775752"/>
            <a:ext cx="320040" cy="378927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63" name="Text"/>
          <p:cNvSpPr/>
          <p:nvPr/>
        </p:nvSpPr>
        <p:spPr>
          <a:xfrm>
            <a:off x="1007668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.95</a:t>
            </a:r>
            <a:endParaRPr lang="ja-JP" sz="780"/>
          </a:p>
        </p:txBody>
      </p:sp>
      <p:sp>
        <p:nvSpPr>
          <p:cNvPr id="164" name="Text"/>
          <p:cNvSpPr/>
          <p:nvPr/>
        </p:nvSpPr>
        <p:spPr>
          <a:xfrm>
            <a:off x="10049256" y="2592872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20.4</a:t>
            </a:r>
            <a:endParaRPr lang="ja-JP" sz="740"/>
          </a:p>
        </p:txBody>
      </p:sp>
      <p:sp>
        <p:nvSpPr>
          <p:cNvPr id="165" name="shape165"/>
          <p:cNvSpPr/>
          <p:nvPr/>
        </p:nvSpPr>
        <p:spPr>
          <a:xfrm>
            <a:off x="10652760" y="2812621"/>
            <a:ext cx="320040" cy="342058"/>
          </a:xfrm>
          <a:prstGeom prst="rect">
            <a:avLst/>
          </a:prstGeom>
          <a:solidFill>
            <a:srgbClr val="B84C4C"/>
          </a:solidFill>
          <a:ln w="9525">
            <a:solidFill>
              <a:srgbClr val="B84C4C"/>
            </a:solidFill>
          </a:ln>
        </p:spPr>
      </p:sp>
      <p:sp>
        <p:nvSpPr>
          <p:cNvPr id="166" name="Text"/>
          <p:cNvSpPr/>
          <p:nvPr/>
        </p:nvSpPr>
        <p:spPr>
          <a:xfrm>
            <a:off x="10579608" y="3182112"/>
            <a:ext cx="466344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1.00</a:t>
            </a:r>
            <a:endParaRPr lang="ja-JP" sz="780"/>
          </a:p>
        </p:txBody>
      </p:sp>
      <p:sp>
        <p:nvSpPr>
          <p:cNvPr id="167" name="Text"/>
          <p:cNvSpPr/>
          <p:nvPr/>
        </p:nvSpPr>
        <p:spPr>
          <a:xfrm>
            <a:off x="10552176" y="2629741"/>
            <a:ext cx="521207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40" b="0">
                <a:solidFill>
                  <a:srgbClr val="B84C4C"/>
                </a:solidFill>
              </a:rPr>
              <a:t>18.4</a:t>
            </a:r>
            <a:endParaRPr lang="ja-JP" sz="740"/>
          </a:p>
        </p:txBody>
      </p:sp>
      <p:sp>
        <p:nvSpPr>
          <p:cNvPr id="169" name="Text"/>
          <p:cNvSpPr/>
          <p:nvPr/>
        </p:nvSpPr>
        <p:spPr>
          <a:xfrm>
            <a:off x="8211312" y="3355848"/>
            <a:ext cx="2880360" cy="1645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819" b="0">
                <a:solidFill>
                  <a:srgbClr val="667788"/>
                </a:solidFill>
              </a:rPr>
              <a:t>仮定: R=0.20 Ω/相</a:t>
            </a:r>
            <a:endParaRPr lang="ja-JP" sz="819"/>
          </a:p>
        </p:txBody>
      </p:sp>
      <p:sp>
        <p:nvSpPr>
          <p:cNvPr id="70" name="shape70"/>
          <p:cNvSpPr/>
          <p:nvPr/>
        </p:nvSpPr>
        <p:spPr>
          <a:xfrm>
            <a:off x="3822191" y="3794760"/>
            <a:ext cx="7900416" cy="2103120"/>
          </a:xfrm>
          <a:prstGeom prst="rect">
            <a:avLst/>
          </a:prstGeom>
          <a:solidFill>
            <a:srgbClr val="EAF3F8"/>
          </a:solidFill>
          <a:ln w="9525">
            <a:solidFill>
              <a:srgbClr val="C8DBE8"/>
            </a:solidFill>
          </a:ln>
        </p:spPr>
      </p:sp>
      <p:sp>
        <p:nvSpPr>
          <p:cNvPr id="71" name="Text"/>
          <p:cNvSpPr/>
          <p:nvPr/>
        </p:nvSpPr>
        <p:spPr>
          <a:xfrm>
            <a:off x="4078224" y="3986784"/>
            <a:ext cx="2240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50" b="1">
                <a:solidFill>
                  <a:srgbClr val="23313D"/>
                </a:solidFill>
              </a:rPr>
              <a:t>I = P/(√3 V cosφ)</a:t>
            </a:r>
            <a:endParaRPr lang="ja-JP" sz="1350"/>
          </a:p>
        </p:txBody>
      </p:sp>
      <p:sp>
        <p:nvSpPr>
          <p:cNvPr id="72" name="Text"/>
          <p:cNvSpPr/>
          <p:nvPr/>
        </p:nvSpPr>
        <p:spPr>
          <a:xfrm>
            <a:off x="6446520" y="3986784"/>
            <a:ext cx="2148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50" b="1">
                <a:solidFill>
                  <a:srgbClr val="23313D"/>
                </a:solidFill>
              </a:rPr>
              <a:t>P_loss = 3 I² R</a:t>
            </a:r>
            <a:endParaRPr lang="ja-JP" sz="1350"/>
          </a:p>
        </p:txBody>
      </p:sp>
      <p:sp>
        <p:nvSpPr>
          <p:cNvPr id="73" name="Text"/>
          <p:cNvSpPr/>
          <p:nvPr/>
        </p:nvSpPr>
        <p:spPr>
          <a:xfrm>
            <a:off x="8732520" y="3986784"/>
            <a:ext cx="26060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50" b="1">
                <a:solidFill>
                  <a:srgbClr val="23313D"/>
                </a:solidFill>
              </a:rPr>
              <a:t>P_loss ∝ 1/cos²φ</a:t>
            </a:r>
            <a:endParaRPr lang="ja-JP" sz="1350"/>
          </a:p>
        </p:txBody>
      </p:sp>
      <p:sp>
        <p:nvSpPr>
          <p:cNvPr id="74" name="Text"/>
          <p:cNvSpPr/>
          <p:nvPr/>
        </p:nvSpPr>
        <p:spPr>
          <a:xfrm>
            <a:off x="4160520" y="4626864"/>
            <a:ext cx="7086600" cy="77724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120" b="0">
                <a:solidFill>
                  <a:srgbClr val="23313D"/>
                </a:solidFill>
              </a:rPr>
              <a:t>力率0.80 → 0.95 の損失比 = (0.80/0.95)² = 0.709（約29%低下）</a:t>
            </a:r>
            <a:endParaRPr lang="ja-JP" sz="1120"/>
          </a:p>
          <a:p>
            <a:pPr algn="l"/>
            <a:r>
              <a:rPr lang="ja-JP" sz="1120" b="0">
                <a:solidFill>
                  <a:srgbClr val="23313D"/>
                </a:solidFill>
              </a:rPr>
              <a:t>R4一次・R2二次型では、P-Q関係を補償容量・電流・損失へ接続する。</a:t>
            </a:r>
            <a:endParaRPr lang="ja-JP" sz="112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1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4324A"/>
          </a:solidFill>
          <a:ln w="9525">
            <a:solidFill>
              <a:srgbClr val="14324A"/>
            </a:solidFill>
          </a:ln>
        </p:spPr>
      </p:sp>
      <p:sp>
        <p:nvSpPr>
          <p:cNvPr id="11" name="header"/>
          <p:cNvSpPr/>
          <p:nvPr/>
        </p:nvSpPr>
        <p:spPr>
          <a:xfrm>
            <a:off x="384048" y="73152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1">
                <a:solidFill>
                  <a:srgbClr val="FFFFFF"/>
                </a:solidFill>
              </a:rPr>
              <a:t>電験二種「電力・管理」× 新幹線　Topic 14</a:t>
            </a:r>
            <a:endParaRPr lang="ja-JP" sz="1050"/>
          </a:p>
        </p:txBody>
      </p:sp>
      <p:sp>
        <p:nvSpPr>
          <p:cNvPr id="12" name="title"/>
          <p:cNvSpPr/>
          <p:nvPr/>
        </p:nvSpPr>
        <p:spPr>
          <a:xfrm>
            <a:off x="457200" y="658368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2400" b="1">
                <a:solidFill>
                  <a:srgbClr val="14324A"/>
                </a:solidFill>
              </a:rPr>
              <a:t>無効電力を動かすと、受電点電圧も動く</a:t>
            </a:r>
            <a:endParaRPr lang="ja-JP" sz="2400"/>
          </a:p>
        </p:txBody>
      </p:sp>
      <p:sp>
        <p:nvSpPr>
          <p:cNvPr id="13" name="sub"/>
          <p:cNvSpPr/>
          <p:nvPr/>
        </p:nvSpPr>
        <p:spPr>
          <a:xfrm>
            <a:off x="475488" y="106070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0">
                <a:solidFill>
                  <a:srgbClr val="667788"/>
                </a:solidFill>
              </a:rPr>
              <a:t>遅れQ・進みQの符号からコンデンサ／分路リアクトルを選ぶ</a:t>
            </a:r>
            <a:endParaRPr lang="ja-JP" sz="1050"/>
          </a:p>
        </p:txBody>
      </p:sp>
      <p:sp>
        <p:nvSpPr>
          <p:cNvPr id="20" name="shape20"/>
          <p:cNvSpPr/>
          <p:nvPr/>
        </p:nvSpPr>
        <p:spPr>
          <a:xfrm>
            <a:off x="457200" y="1417320"/>
            <a:ext cx="37033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21" name="Text"/>
          <p:cNvSpPr/>
          <p:nvPr/>
        </p:nvSpPr>
        <p:spPr>
          <a:xfrm>
            <a:off x="658368" y="159105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450" b="1">
                <a:solidFill>
                  <a:srgbClr val="14324A"/>
                </a:solidFill>
              </a:rPr>
              <a:t>P-Q と電圧降下</a:t>
            </a:r>
            <a:endParaRPr lang="ja-JP" sz="1450"/>
          </a:p>
        </p:txBody>
      </p:sp>
      <p:sp>
        <p:nvSpPr>
          <p:cNvPr id="22" name="Text"/>
          <p:cNvSpPr/>
          <p:nvPr/>
        </p:nvSpPr>
        <p:spPr>
          <a:xfrm>
            <a:off x="713232" y="1993392"/>
            <a:ext cx="3154680" cy="502920"/>
          </a:xfrm>
          <a:prstGeom prst="rect">
            <a:avLst/>
          </a:prstGeom>
          <a:solidFill>
            <a:srgbClr val="EAF3F8"/>
          </a:solidFill>
          <a:ln w="12700">
            <a:solidFill>
              <a:srgbClr val="C8DBE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400" b="1">
                <a:solidFill>
                  <a:srgbClr val="23313D"/>
                </a:solidFill>
              </a:rPr>
              <a:t>Vs ≒ Vr + (R P + X Q)/Vr</a:t>
            </a:r>
            <a:endParaRPr lang="ja-JP" sz="1400"/>
          </a:p>
        </p:txBody>
      </p:sp>
      <p:sp>
        <p:nvSpPr>
          <p:cNvPr id="23" name="Text"/>
          <p:cNvSpPr/>
          <p:nvPr/>
        </p:nvSpPr>
        <p:spPr>
          <a:xfrm>
            <a:off x="713232" y="2670048"/>
            <a:ext cx="3154680" cy="62179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170" b="0">
                <a:solidFill>
                  <a:srgbClr val="23313D"/>
                </a:solidFill>
              </a:rPr>
              <a:t>Q &gt; 0（遅れ）→ 電圧降下を増やす</a:t>
            </a:r>
            <a:endParaRPr lang="ja-JP" sz="1170"/>
          </a:p>
          <a:p>
            <a:pPr algn="l"/>
            <a:r>
              <a:rPr lang="ja-JP" sz="1170" b="0">
                <a:solidFill>
                  <a:srgbClr val="23313D"/>
                </a:solidFill>
              </a:rPr>
              <a:t>Q &lt; 0（進み）→ 電圧を押し上げる方向</a:t>
            </a:r>
            <a:endParaRPr lang="ja-JP" sz="1170"/>
          </a:p>
        </p:txBody>
      </p:sp>
      <p:sp>
        <p:nvSpPr>
          <p:cNvPr id="30" name="shape30"/>
          <p:cNvSpPr/>
          <p:nvPr/>
        </p:nvSpPr>
        <p:spPr>
          <a:xfrm>
            <a:off x="4370832" y="1417320"/>
            <a:ext cx="3749039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31" name="Text"/>
          <p:cNvSpPr/>
          <p:nvPr/>
        </p:nvSpPr>
        <p:spPr>
          <a:xfrm>
            <a:off x="4572000" y="1591056"/>
            <a:ext cx="333756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30" b="1">
                <a:solidFill>
                  <a:srgbClr val="14324A"/>
                </a:solidFill>
              </a:rPr>
              <a:t>SPEC可視化③　無効電力―受電点電圧</a:t>
            </a:r>
            <a:endParaRPr lang="ja-JP" sz="1330"/>
          </a:p>
        </p:txBody>
      </p:sp>
      <p:sp>
        <p:nvSpPr>
          <p:cNvPr id="40" name="ellipse40"/>
          <p:cNvSpPr/>
          <p:nvPr/>
        </p:nvSpPr>
        <p:spPr>
          <a:xfrm>
            <a:off x="4658868" y="2189988"/>
            <a:ext cx="100584" cy="100584"/>
          </a:xfrm>
          <a:prstGeom prst="ellipse">
            <a:avLst/>
          </a:prstGeom>
          <a:solidFill>
            <a:srgbClr val="1F8A9E"/>
          </a:solidFill>
          <a:ln w="12700">
            <a:solidFill>
              <a:srgbClr val="1F8A9E"/>
            </a:solidFill>
          </a:ln>
        </p:spPr>
      </p:sp>
      <p:sp>
        <p:nvSpPr>
          <p:cNvPr id="60" name="Text"/>
          <p:cNvSpPr/>
          <p:nvPr/>
        </p:nvSpPr>
        <p:spPr>
          <a:xfrm>
            <a:off x="4544568" y="3200400"/>
            <a:ext cx="329184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−10</a:t>
            </a:r>
            <a:endParaRPr lang="ja-JP" sz="780"/>
          </a:p>
        </p:txBody>
      </p:sp>
      <p:sp>
        <p:nvSpPr>
          <p:cNvPr id="41" name="ellipse41"/>
          <p:cNvSpPr/>
          <p:nvPr/>
        </p:nvSpPr>
        <p:spPr>
          <a:xfrm>
            <a:off x="5262372" y="2407874"/>
            <a:ext cx="100584" cy="100584"/>
          </a:xfrm>
          <a:prstGeom prst="ellipse">
            <a:avLst/>
          </a:prstGeom>
          <a:solidFill>
            <a:srgbClr val="1F8A9E"/>
          </a:solidFill>
          <a:ln w="12700">
            <a:solidFill>
              <a:srgbClr val="1F8A9E"/>
            </a:solidFill>
          </a:ln>
        </p:spPr>
      </p:sp>
      <p:sp>
        <p:nvSpPr>
          <p:cNvPr id="61" name="Text"/>
          <p:cNvSpPr/>
          <p:nvPr/>
        </p:nvSpPr>
        <p:spPr>
          <a:xfrm>
            <a:off x="5148072" y="3200400"/>
            <a:ext cx="329184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−5</a:t>
            </a:r>
            <a:endParaRPr lang="ja-JP" sz="780"/>
          </a:p>
        </p:txBody>
      </p:sp>
      <p:cxnSp>
        <p:nvCxnSpPr>
          <p:cNvPr id="81" name="line81"/>
          <p:cNvCxnSpPr/>
          <p:nvPr/>
        </p:nvCxnSpPr>
        <p:spPr>
          <a:xfrm>
            <a:off x="4709160" y="2240280"/>
            <a:ext cx="603504" cy="217886"/>
          </a:xfrm>
          <a:prstGeom prst="line">
            <a:avLst/>
          </a:prstGeom>
          <a:ln w="19050">
            <a:solidFill>
              <a:srgbClr val="1F8A9E"/>
            </a:solidFill>
            <a:tailEnd type="none"/>
            <a:headEnd type="none"/>
          </a:ln>
        </p:spPr>
      </p:cxnSp>
      <p:sp>
        <p:nvSpPr>
          <p:cNvPr id="42" name="ellipse42"/>
          <p:cNvSpPr/>
          <p:nvPr/>
        </p:nvSpPr>
        <p:spPr>
          <a:xfrm>
            <a:off x="5865876" y="2625761"/>
            <a:ext cx="100584" cy="100584"/>
          </a:xfrm>
          <a:prstGeom prst="ellipse">
            <a:avLst/>
          </a:prstGeom>
          <a:solidFill>
            <a:srgbClr val="1F8A9E"/>
          </a:solidFill>
          <a:ln w="12700">
            <a:solidFill>
              <a:srgbClr val="1F8A9E"/>
            </a:solidFill>
          </a:ln>
        </p:spPr>
      </p:sp>
      <p:sp>
        <p:nvSpPr>
          <p:cNvPr id="62" name="Text"/>
          <p:cNvSpPr/>
          <p:nvPr/>
        </p:nvSpPr>
        <p:spPr>
          <a:xfrm>
            <a:off x="5751576" y="3200400"/>
            <a:ext cx="329184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0</a:t>
            </a:r>
            <a:endParaRPr lang="ja-JP" sz="780"/>
          </a:p>
        </p:txBody>
      </p:sp>
      <p:cxnSp>
        <p:nvCxnSpPr>
          <p:cNvPr id="82" name="line82"/>
          <p:cNvCxnSpPr/>
          <p:nvPr/>
        </p:nvCxnSpPr>
        <p:spPr>
          <a:xfrm>
            <a:off x="5312664" y="2458166"/>
            <a:ext cx="603504" cy="217886"/>
          </a:xfrm>
          <a:prstGeom prst="line">
            <a:avLst/>
          </a:prstGeom>
          <a:ln w="19050">
            <a:solidFill>
              <a:srgbClr val="1F8A9E"/>
            </a:solidFill>
            <a:tailEnd type="none"/>
            <a:headEnd type="none"/>
          </a:ln>
        </p:spPr>
      </p:cxnSp>
      <p:sp>
        <p:nvSpPr>
          <p:cNvPr id="43" name="ellipse43"/>
          <p:cNvSpPr/>
          <p:nvPr/>
        </p:nvSpPr>
        <p:spPr>
          <a:xfrm>
            <a:off x="6469380" y="2840781"/>
            <a:ext cx="100584" cy="100584"/>
          </a:xfrm>
          <a:prstGeom prst="ellipse">
            <a:avLst/>
          </a:prstGeom>
          <a:solidFill>
            <a:srgbClr val="1F8A9E"/>
          </a:solidFill>
          <a:ln w="12700">
            <a:solidFill>
              <a:srgbClr val="1F8A9E"/>
            </a:solidFill>
          </a:ln>
        </p:spPr>
      </p:sp>
      <p:sp>
        <p:nvSpPr>
          <p:cNvPr id="63" name="Text"/>
          <p:cNvSpPr/>
          <p:nvPr/>
        </p:nvSpPr>
        <p:spPr>
          <a:xfrm>
            <a:off x="6355080" y="3200400"/>
            <a:ext cx="329184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+5</a:t>
            </a:r>
            <a:endParaRPr lang="ja-JP" sz="780"/>
          </a:p>
        </p:txBody>
      </p:sp>
      <p:cxnSp>
        <p:nvCxnSpPr>
          <p:cNvPr id="83" name="line83"/>
          <p:cNvCxnSpPr/>
          <p:nvPr/>
        </p:nvCxnSpPr>
        <p:spPr>
          <a:xfrm>
            <a:off x="5916168" y="2676053"/>
            <a:ext cx="603504" cy="215019"/>
          </a:xfrm>
          <a:prstGeom prst="line">
            <a:avLst/>
          </a:prstGeom>
          <a:ln w="19050">
            <a:solidFill>
              <a:srgbClr val="1F8A9E"/>
            </a:solidFill>
            <a:tailEnd type="none"/>
            <a:headEnd type="none"/>
          </a:ln>
        </p:spPr>
      </p:cxnSp>
      <p:sp>
        <p:nvSpPr>
          <p:cNvPr id="44" name="ellipse44"/>
          <p:cNvSpPr/>
          <p:nvPr/>
        </p:nvSpPr>
        <p:spPr>
          <a:xfrm>
            <a:off x="7072884" y="3058668"/>
            <a:ext cx="100584" cy="100584"/>
          </a:xfrm>
          <a:prstGeom prst="ellipse">
            <a:avLst/>
          </a:prstGeom>
          <a:solidFill>
            <a:srgbClr val="1F8A9E"/>
          </a:solidFill>
          <a:ln w="12700">
            <a:solidFill>
              <a:srgbClr val="1F8A9E"/>
            </a:solidFill>
          </a:ln>
        </p:spPr>
      </p:sp>
      <p:sp>
        <p:nvSpPr>
          <p:cNvPr id="64" name="Text"/>
          <p:cNvSpPr/>
          <p:nvPr/>
        </p:nvSpPr>
        <p:spPr>
          <a:xfrm>
            <a:off x="6958584" y="3200400"/>
            <a:ext cx="329184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80" b="0">
                <a:solidFill>
                  <a:srgbClr val="536572"/>
                </a:solidFill>
              </a:rPr>
              <a:t>+10</a:t>
            </a:r>
            <a:endParaRPr lang="ja-JP" sz="780"/>
          </a:p>
        </p:txBody>
      </p:sp>
      <p:cxnSp>
        <p:nvCxnSpPr>
          <p:cNvPr id="84" name="line84"/>
          <p:cNvCxnSpPr/>
          <p:nvPr/>
        </p:nvCxnSpPr>
        <p:spPr>
          <a:xfrm>
            <a:off x="6519672" y="2891073"/>
            <a:ext cx="603504" cy="217886"/>
          </a:xfrm>
          <a:prstGeom prst="line">
            <a:avLst/>
          </a:prstGeom>
          <a:ln w="19050">
            <a:solidFill>
              <a:srgbClr val="1F8A9E"/>
            </a:solidFill>
            <a:tailEnd type="none"/>
            <a:headEnd type="none"/>
          </a:ln>
        </p:spPr>
      </p:cxnSp>
      <p:sp>
        <p:nvSpPr>
          <p:cNvPr id="90" name="Text"/>
          <p:cNvSpPr/>
          <p:nvPr/>
        </p:nvSpPr>
        <p:spPr>
          <a:xfrm>
            <a:off x="4626864" y="3346704"/>
            <a:ext cx="3200400" cy="1554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770" b="0">
                <a:solidFill>
                  <a:srgbClr val="667788"/>
                </a:solidFill>
              </a:rPr>
              <a:t>仮定: Vs=66 kV, P=20 MW, R=0.20 Ω, X=1.00 Ω</a:t>
            </a:r>
            <a:endParaRPr lang="ja-JP" sz="770"/>
          </a:p>
        </p:txBody>
      </p:sp>
      <p:sp>
        <p:nvSpPr>
          <p:cNvPr id="100" name="shape100"/>
          <p:cNvSpPr/>
          <p:nvPr/>
        </p:nvSpPr>
        <p:spPr>
          <a:xfrm>
            <a:off x="8321040" y="1417320"/>
            <a:ext cx="34015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101" name="Text"/>
          <p:cNvSpPr/>
          <p:nvPr/>
        </p:nvSpPr>
        <p:spPr>
          <a:xfrm>
            <a:off x="8522208" y="1591056"/>
            <a:ext cx="2999232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450" b="1">
                <a:solidFill>
                  <a:srgbClr val="14324A"/>
                </a:solidFill>
              </a:rPr>
              <a:t>設備の選び方</a:t>
            </a:r>
            <a:endParaRPr lang="ja-JP" sz="1450"/>
          </a:p>
        </p:txBody>
      </p:sp>
      <p:sp>
        <p:nvSpPr>
          <p:cNvPr id="102" name="Text"/>
          <p:cNvSpPr/>
          <p:nvPr/>
        </p:nvSpPr>
        <p:spPr>
          <a:xfrm>
            <a:off x="8577072" y="2029968"/>
            <a:ext cx="1280160" cy="841248"/>
          </a:xfrm>
          <a:prstGeom prst="rect">
            <a:avLst/>
          </a:prstGeom>
          <a:solidFill>
            <a:srgbClr val="EAF6F0"/>
          </a:solidFill>
          <a:ln w="12700">
            <a:solidFill>
              <a:srgbClr val="B8D8C6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40" b="1">
                <a:solidFill>
                  <a:srgbClr val="3F8F6B"/>
                </a:solidFill>
              </a:rPr>
              <a:t>コンデンサ</a:t>
            </a:r>
            <a:endParaRPr lang="ja-JP" sz="1140"/>
          </a:p>
          <a:p>
            <a:pPr algn="ctr"/>
            <a:r>
              <a:rPr lang="ja-JP" sz="1140" b="1">
                <a:solidFill>
                  <a:srgbClr val="3F8F6B"/>
                </a:solidFill>
              </a:rPr>
              <a:t>−Q方向</a:t>
            </a:r>
            <a:endParaRPr lang="ja-JP" sz="1140"/>
          </a:p>
          <a:p>
            <a:pPr algn="ctr"/>
            <a:r>
              <a:rPr lang="ja-JP" sz="1140" b="1">
                <a:solidFill>
                  <a:srgbClr val="3F8F6B"/>
                </a:solidFill>
              </a:rPr>
              <a:t>遅れQを補償</a:t>
            </a:r>
            <a:endParaRPr lang="ja-JP" sz="1140"/>
          </a:p>
        </p:txBody>
      </p:sp>
      <p:sp>
        <p:nvSpPr>
          <p:cNvPr id="103" name="Text"/>
          <p:cNvSpPr/>
          <p:nvPr/>
        </p:nvSpPr>
        <p:spPr>
          <a:xfrm>
            <a:off x="10040112" y="2029968"/>
            <a:ext cx="1389888" cy="841248"/>
          </a:xfrm>
          <a:prstGeom prst="rect">
            <a:avLst/>
          </a:prstGeom>
          <a:solidFill>
            <a:srgbClr val="FFF3E5"/>
          </a:solidFill>
          <a:ln w="12700">
            <a:solidFill>
              <a:srgbClr val="E8C99F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60" b="1">
                <a:solidFill>
                  <a:srgbClr val="D97706"/>
                </a:solidFill>
              </a:rPr>
              <a:t>分路リアクトル</a:t>
            </a:r>
            <a:endParaRPr lang="ja-JP" sz="1060"/>
          </a:p>
          <a:p>
            <a:pPr algn="ctr"/>
            <a:r>
              <a:rPr lang="ja-JP" sz="1060" b="1">
                <a:solidFill>
                  <a:srgbClr val="D97706"/>
                </a:solidFill>
              </a:rPr>
              <a:t>+Q方向</a:t>
            </a:r>
            <a:endParaRPr lang="ja-JP" sz="1060"/>
          </a:p>
          <a:p>
            <a:pPr algn="ctr"/>
            <a:r>
              <a:rPr lang="ja-JP" sz="1060" b="1">
                <a:solidFill>
                  <a:srgbClr val="D97706"/>
                </a:solidFill>
              </a:rPr>
              <a:t>進みQを吸収</a:t>
            </a:r>
            <a:endParaRPr lang="ja-JP" sz="1060"/>
          </a:p>
        </p:txBody>
      </p:sp>
      <p:sp>
        <p:nvSpPr>
          <p:cNvPr id="104" name="Text"/>
          <p:cNvSpPr/>
          <p:nvPr/>
        </p:nvSpPr>
        <p:spPr>
          <a:xfrm>
            <a:off x="8577072" y="2999232"/>
            <a:ext cx="2852928" cy="32004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80" b="1">
                <a:solidFill>
                  <a:srgbClr val="23313D"/>
                </a:solidFill>
              </a:rPr>
              <a:t>Qの符号から設備を決める。</a:t>
            </a:r>
            <a:endParaRPr lang="ja-JP" sz="1080"/>
          </a:p>
        </p:txBody>
      </p:sp>
      <p:sp>
        <p:nvSpPr>
          <p:cNvPr id="120" name="shape120"/>
          <p:cNvSpPr/>
          <p:nvPr/>
        </p:nvSpPr>
        <p:spPr>
          <a:xfrm>
            <a:off x="457200" y="3822191"/>
            <a:ext cx="11265408" cy="2066543"/>
          </a:xfrm>
          <a:prstGeom prst="rect">
            <a:avLst/>
          </a:prstGeom>
          <a:solidFill>
            <a:srgbClr val="FFF3E5"/>
          </a:solidFill>
          <a:ln w="9525">
            <a:solidFill>
              <a:srgbClr val="E8C99F"/>
            </a:solidFill>
          </a:ln>
        </p:spPr>
      </p:sp>
      <p:sp>
        <p:nvSpPr>
          <p:cNvPr id="121" name="Text"/>
          <p:cNvSpPr/>
          <p:nvPr/>
        </p:nvSpPr>
        <p:spPr>
          <a:xfrm>
            <a:off x="676656" y="4005072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250" b="1">
                <a:solidFill>
                  <a:srgbClr val="14324A"/>
                </a:solidFill>
              </a:rPr>
              <a:t>軽負荷時の電圧上昇（R6一次・R4一次）</a:t>
            </a:r>
            <a:endParaRPr lang="ja-JP" sz="1250"/>
          </a:p>
        </p:txBody>
      </p:sp>
      <p:sp>
        <p:nvSpPr>
          <p:cNvPr id="122" name="Text"/>
          <p:cNvSpPr/>
          <p:nvPr/>
        </p:nvSpPr>
        <p:spPr>
          <a:xfrm>
            <a:off x="841248" y="4517136"/>
            <a:ext cx="10972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B0BE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00" b="1">
                <a:solidFill>
                  <a:srgbClr val="14324A"/>
                </a:solidFill>
              </a:rPr>
              <a:t>送電端</a:t>
            </a:r>
            <a:endParaRPr lang="ja-JP" sz="1300"/>
          </a:p>
          <a:p>
            <a:pPr algn="ctr"/>
            <a:r>
              <a:rPr lang="ja-JP" sz="1300" b="1">
                <a:solidFill>
                  <a:srgbClr val="14324A"/>
                </a:solidFill>
              </a:rPr>
              <a:t>Vs</a:t>
            </a:r>
            <a:endParaRPr lang="ja-JP" sz="1300"/>
          </a:p>
        </p:txBody>
      </p:sp>
      <p:cxnSp>
        <p:nvCxnSpPr>
          <p:cNvPr id="123" name="line123"/>
          <p:cNvCxnSpPr/>
          <p:nvPr/>
        </p:nvCxnSpPr>
        <p:spPr>
          <a:xfrm>
            <a:off x="1993392" y="4791456"/>
            <a:ext cx="2788920" cy="0"/>
          </a:xfrm>
          <a:prstGeom prst="line">
            <a:avLst/>
          </a:prstGeom>
          <a:ln w="19050">
            <a:solidFill>
              <a:srgbClr val="2B6CB0"/>
            </a:solidFill>
            <a:tailEnd type="none"/>
            <a:headEnd type="none"/>
          </a:ln>
        </p:spPr>
      </p:cxnSp>
      <p:sp>
        <p:nvSpPr>
          <p:cNvPr id="124" name="Text"/>
          <p:cNvSpPr/>
          <p:nvPr/>
        </p:nvSpPr>
        <p:spPr>
          <a:xfrm>
            <a:off x="2240280" y="4407408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19" b="0">
                <a:solidFill>
                  <a:srgbClr val="2B6CB0"/>
                </a:solidFill>
              </a:rPr>
              <a:t>線路静電容量 → 充電電流（進み）</a:t>
            </a:r>
            <a:endParaRPr lang="ja-JP" sz="1019"/>
          </a:p>
        </p:txBody>
      </p:sp>
      <p:sp>
        <p:nvSpPr>
          <p:cNvPr id="125" name="Text"/>
          <p:cNvSpPr/>
          <p:nvPr/>
        </p:nvSpPr>
        <p:spPr>
          <a:xfrm>
            <a:off x="4828032" y="4517136"/>
            <a:ext cx="1143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B0BE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00" b="1">
                <a:solidFill>
                  <a:srgbClr val="14324A"/>
                </a:solidFill>
              </a:rPr>
              <a:t>受電端</a:t>
            </a:r>
            <a:endParaRPr lang="ja-JP" sz="1300"/>
          </a:p>
          <a:p>
            <a:pPr algn="ctr"/>
            <a:r>
              <a:rPr lang="ja-JP" sz="1300" b="1">
                <a:solidFill>
                  <a:srgbClr val="14324A"/>
                </a:solidFill>
              </a:rPr>
              <a:t>Vr</a:t>
            </a:r>
            <a:endParaRPr lang="ja-JP" sz="1300"/>
          </a:p>
        </p:txBody>
      </p:sp>
      <p:sp>
        <p:nvSpPr>
          <p:cNvPr id="126" name="Text"/>
          <p:cNvSpPr/>
          <p:nvPr/>
        </p:nvSpPr>
        <p:spPr>
          <a:xfrm>
            <a:off x="2468880" y="5175504"/>
            <a:ext cx="4206240" cy="384048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50" b="1">
                <a:solidFill>
                  <a:srgbClr val="B84C4C"/>
                </a:solidFill>
              </a:rPr>
              <a:t>軽負荷では Vr &gt; Vs となり得る ＝ フェランチ効果</a:t>
            </a:r>
            <a:endParaRPr lang="ja-JP" sz="1150"/>
          </a:p>
        </p:txBody>
      </p:sp>
      <p:cxnSp>
        <p:nvCxnSpPr>
          <p:cNvPr id="127" name="line127"/>
          <p:cNvCxnSpPr/>
          <p:nvPr/>
        </p:nvCxnSpPr>
        <p:spPr>
          <a:xfrm>
            <a:off x="6053328" y="4791456"/>
            <a:ext cx="1097280" cy="0"/>
          </a:xfrm>
          <a:prstGeom prst="line">
            <a:avLst/>
          </a:prstGeom>
          <a:ln w="19050">
            <a:solidFill>
              <a:srgbClr val="D97706"/>
            </a:solidFill>
            <a:tailEnd type="none"/>
            <a:headEnd type="none"/>
          </a:ln>
        </p:spPr>
      </p:cxnSp>
      <p:sp>
        <p:nvSpPr>
          <p:cNvPr id="128" name="Text"/>
          <p:cNvSpPr/>
          <p:nvPr/>
        </p:nvSpPr>
        <p:spPr>
          <a:xfrm>
            <a:off x="7205472" y="4443984"/>
            <a:ext cx="2148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200" b="1">
                <a:solidFill>
                  <a:srgbClr val="D97706"/>
                </a:solidFill>
              </a:rPr>
              <a:t>分路リアクトル</a:t>
            </a:r>
            <a:endParaRPr lang="ja-JP" sz="1200"/>
          </a:p>
          <a:p>
            <a:pPr algn="ctr"/>
            <a:r>
              <a:rPr lang="ja-JP" sz="1200" b="1">
                <a:solidFill>
                  <a:srgbClr val="D97706"/>
                </a:solidFill>
              </a:rPr>
              <a:t>進みQを吸収</a:t>
            </a:r>
            <a:endParaRPr lang="ja-JP" sz="1200"/>
          </a:p>
        </p:txBody>
      </p:sp>
      <p:sp>
        <p:nvSpPr>
          <p:cNvPr id="129" name="Text"/>
          <p:cNvSpPr/>
          <p:nvPr/>
        </p:nvSpPr>
        <p:spPr>
          <a:xfrm>
            <a:off x="9509760" y="4389120"/>
            <a:ext cx="190195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CDA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990" b="0">
                <a:solidFill>
                  <a:srgbClr val="23313D"/>
                </a:solidFill>
              </a:rPr>
              <a:t>電圧上昇を抑制</a:t>
            </a:r>
            <a:endParaRPr lang="ja-JP" sz="990"/>
          </a:p>
          <a:p>
            <a:pPr algn="ctr"/>
            <a:r>
              <a:rPr lang="ja-JP" sz="990" b="0">
                <a:solidFill>
                  <a:srgbClr val="23313D"/>
                </a:solidFill>
              </a:rPr>
              <a:t/>
            </a:r>
            <a:endParaRPr lang="ja-JP" sz="990"/>
          </a:p>
          <a:p>
            <a:pPr algn="ctr"/>
            <a:r>
              <a:rPr lang="ja-JP" sz="990" b="0">
                <a:solidFill>
                  <a:srgbClr val="23313D"/>
                </a:solidFill>
              </a:rPr>
              <a:t>充電電流・Vr&gt;Vs・フェーザ・リアクトルを一組で説明</a:t>
            </a:r>
            <a:endParaRPr lang="ja-JP" sz="99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1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4324A"/>
          </a:solidFill>
          <a:ln w="9525">
            <a:solidFill>
              <a:srgbClr val="14324A"/>
            </a:solidFill>
          </a:ln>
        </p:spPr>
      </p:sp>
      <p:sp>
        <p:nvSpPr>
          <p:cNvPr id="11" name="header"/>
          <p:cNvSpPr/>
          <p:nvPr/>
        </p:nvSpPr>
        <p:spPr>
          <a:xfrm>
            <a:off x="384048" y="73152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1">
                <a:solidFill>
                  <a:srgbClr val="FFFFFF"/>
                </a:solidFill>
              </a:rPr>
              <a:t>電験二種「電力・管理」× 新幹線　Topic 14</a:t>
            </a:r>
            <a:endParaRPr lang="ja-JP" sz="1050"/>
          </a:p>
        </p:txBody>
      </p:sp>
      <p:sp>
        <p:nvSpPr>
          <p:cNvPr id="12" name="title"/>
          <p:cNvSpPr/>
          <p:nvPr/>
        </p:nvSpPr>
        <p:spPr>
          <a:xfrm>
            <a:off x="457200" y="658368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2400" b="1">
                <a:solidFill>
                  <a:srgbClr val="14324A"/>
                </a:solidFill>
              </a:rPr>
              <a:t>指定電圧から必要な無効電力を逆算する</a:t>
            </a:r>
            <a:endParaRPr lang="ja-JP" sz="2400"/>
          </a:p>
        </p:txBody>
      </p:sp>
      <p:sp>
        <p:nvSpPr>
          <p:cNvPr id="13" name="sub"/>
          <p:cNvSpPr/>
          <p:nvPr/>
        </p:nvSpPr>
        <p:spPr>
          <a:xfrm>
            <a:off x="475488" y="106070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0">
                <a:solidFill>
                  <a:srgbClr val="667788"/>
                </a:solidFill>
              </a:rPr>
              <a:t>二次試験は「式 → 設備種別 → 容量 → 再代入検算」まで連続して解く</a:t>
            </a:r>
            <a:endParaRPr lang="ja-JP" sz="1050"/>
          </a:p>
        </p:txBody>
      </p:sp>
      <p:sp>
        <p:nvSpPr>
          <p:cNvPr id="20" name="shape20"/>
          <p:cNvSpPr/>
          <p:nvPr/>
        </p:nvSpPr>
        <p:spPr>
          <a:xfrm>
            <a:off x="457200" y="1417320"/>
            <a:ext cx="33375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21" name="Text"/>
          <p:cNvSpPr/>
          <p:nvPr/>
        </p:nvSpPr>
        <p:spPr>
          <a:xfrm>
            <a:off x="658368" y="16002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450" b="1">
                <a:solidFill>
                  <a:srgbClr val="14324A"/>
                </a:solidFill>
              </a:rPr>
              <a:t>解法アルゴリズム</a:t>
            </a:r>
            <a:endParaRPr lang="ja-JP" sz="1450"/>
          </a:p>
        </p:txBody>
      </p:sp>
      <p:sp>
        <p:nvSpPr>
          <p:cNvPr id="30" name="Text"/>
          <p:cNvSpPr/>
          <p:nvPr/>
        </p:nvSpPr>
        <p:spPr>
          <a:xfrm>
            <a:off x="749808" y="1975104"/>
            <a:ext cx="2743200" cy="310896"/>
          </a:xfrm>
          <a:prstGeom prst="rect">
            <a:avLst/>
          </a:prstGeom>
          <a:solidFill>
            <a:srgbClr val="F8FAFB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① P・Qの正方向を固定</a:t>
            </a:r>
            <a:endParaRPr lang="ja-JP" sz="1070"/>
          </a:p>
        </p:txBody>
      </p:sp>
      <p:sp>
        <p:nvSpPr>
          <p:cNvPr id="31" name="Text"/>
          <p:cNvSpPr/>
          <p:nvPr/>
        </p:nvSpPr>
        <p:spPr>
          <a:xfrm>
            <a:off x="749808" y="2414016"/>
            <a:ext cx="2743200" cy="310896"/>
          </a:xfrm>
          <a:prstGeom prst="rect">
            <a:avLst/>
          </a:prstGeom>
          <a:solidFill>
            <a:srgbClr val="F8FAFB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② R・Xの側と単位を統一</a:t>
            </a:r>
            <a:endParaRPr lang="ja-JP" sz="1070"/>
          </a:p>
        </p:txBody>
      </p:sp>
      <p:sp>
        <p:nvSpPr>
          <p:cNvPr id="32" name="Text"/>
          <p:cNvSpPr/>
          <p:nvPr/>
        </p:nvSpPr>
        <p:spPr>
          <a:xfrm>
            <a:off x="749808" y="2852928"/>
            <a:ext cx="2743200" cy="310896"/>
          </a:xfrm>
          <a:prstGeom prst="rect">
            <a:avLst/>
          </a:prstGeom>
          <a:solidFill>
            <a:srgbClr val="EAF3F8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③ 変圧器%XをΩ換算</a:t>
            </a:r>
            <a:endParaRPr lang="ja-JP" sz="1070"/>
          </a:p>
        </p:txBody>
      </p:sp>
      <p:sp>
        <p:nvSpPr>
          <p:cNvPr id="33" name="Text"/>
          <p:cNvSpPr/>
          <p:nvPr/>
        </p:nvSpPr>
        <p:spPr>
          <a:xfrm>
            <a:off x="749808" y="3291840"/>
            <a:ext cx="2743200" cy="310896"/>
          </a:xfrm>
          <a:prstGeom prst="rect">
            <a:avLst/>
          </a:prstGeom>
          <a:solidFill>
            <a:srgbClr val="EAF3F8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④ 線路Xと合成</a:t>
            </a:r>
            <a:endParaRPr lang="ja-JP" sz="1070"/>
          </a:p>
        </p:txBody>
      </p:sp>
      <p:sp>
        <p:nvSpPr>
          <p:cNvPr id="34" name="Text"/>
          <p:cNvSpPr/>
          <p:nvPr/>
        </p:nvSpPr>
        <p:spPr>
          <a:xfrm>
            <a:off x="749808" y="3730752"/>
            <a:ext cx="2743200" cy="310896"/>
          </a:xfrm>
          <a:prstGeom prst="rect">
            <a:avLst/>
          </a:prstGeom>
          <a:solidFill>
            <a:srgbClr val="EAF3F8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⑤ 指定電圧からQnet逆算</a:t>
            </a:r>
            <a:endParaRPr lang="ja-JP" sz="1070"/>
          </a:p>
        </p:txBody>
      </p:sp>
      <p:sp>
        <p:nvSpPr>
          <p:cNvPr id="35" name="Text"/>
          <p:cNvSpPr/>
          <p:nvPr/>
        </p:nvSpPr>
        <p:spPr>
          <a:xfrm>
            <a:off x="749808" y="4169664"/>
            <a:ext cx="2743200" cy="310896"/>
          </a:xfrm>
          <a:prstGeom prst="rect">
            <a:avLst/>
          </a:prstGeom>
          <a:solidFill>
            <a:srgbClr val="F8FAFB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⑥ Qdeviceの符号でC/L判定</a:t>
            </a:r>
            <a:endParaRPr lang="ja-JP" sz="1070"/>
          </a:p>
        </p:txBody>
      </p:sp>
      <p:sp>
        <p:nvSpPr>
          <p:cNvPr id="36" name="Text"/>
          <p:cNvSpPr/>
          <p:nvPr/>
        </p:nvSpPr>
        <p:spPr>
          <a:xfrm>
            <a:off x="749808" y="4608576"/>
            <a:ext cx="2743200" cy="310896"/>
          </a:xfrm>
          <a:prstGeom prst="rect">
            <a:avLst/>
          </a:prstGeom>
          <a:solidFill>
            <a:srgbClr val="F8FAFB"/>
          </a:solidFill>
          <a:ln w="12700">
            <a:solidFill>
              <a:srgbClr val="D4DEE5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70" b="0">
                <a:solidFill>
                  <a:srgbClr val="23313D"/>
                </a:solidFill>
              </a:rPr>
              <a:t>⑦ 再代入して検算</a:t>
            </a:r>
            <a:endParaRPr lang="ja-JP" sz="1070"/>
          </a:p>
        </p:txBody>
      </p:sp>
      <p:sp>
        <p:nvSpPr>
          <p:cNvPr id="45" name="Text"/>
          <p:cNvSpPr/>
          <p:nvPr/>
        </p:nvSpPr>
        <p:spPr>
          <a:xfrm>
            <a:off x="749808" y="5138928"/>
            <a:ext cx="2743200" cy="438912"/>
          </a:xfrm>
          <a:prstGeom prst="rect">
            <a:avLst/>
          </a:prstGeom>
          <a:solidFill>
            <a:srgbClr val="F3F6F8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90" b="1">
                <a:solidFill>
                  <a:srgbClr val="23313D"/>
                </a:solidFill>
              </a:rPr>
              <a:t>X[Ω]=(x[%]/100)Vbase²/Sbase</a:t>
            </a:r>
            <a:endParaRPr lang="ja-JP" sz="1090"/>
          </a:p>
        </p:txBody>
      </p:sp>
      <p:sp>
        <p:nvSpPr>
          <p:cNvPr id="46" name="Text"/>
          <p:cNvSpPr/>
          <p:nvPr/>
        </p:nvSpPr>
        <p:spPr>
          <a:xfrm>
            <a:off x="749808" y="559612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90" b="1">
                <a:solidFill>
                  <a:srgbClr val="2B6CB0"/>
                </a:solidFill>
              </a:rPr>
              <a:t>Xtotal = Xt + Xline</a:t>
            </a:r>
            <a:endParaRPr lang="ja-JP" sz="1090"/>
          </a:p>
        </p:txBody>
      </p:sp>
      <p:sp>
        <p:nvSpPr>
          <p:cNvPr id="50" name="shape50"/>
          <p:cNvSpPr/>
          <p:nvPr/>
        </p:nvSpPr>
        <p:spPr>
          <a:xfrm>
            <a:off x="4041648" y="1417320"/>
            <a:ext cx="36576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51" name="Text"/>
          <p:cNvSpPr/>
          <p:nvPr/>
        </p:nvSpPr>
        <p:spPr>
          <a:xfrm>
            <a:off x="4261104" y="1609344"/>
            <a:ext cx="3218688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50" b="1">
                <a:solidFill>
                  <a:srgbClr val="14324A"/>
                </a:solidFill>
              </a:rPr>
              <a:t>モデルA：R-X近似（R5二次型）</a:t>
            </a:r>
            <a:endParaRPr lang="ja-JP" sz="1350"/>
          </a:p>
        </p:txBody>
      </p:sp>
      <p:sp>
        <p:nvSpPr>
          <p:cNvPr id="52" name="Text"/>
          <p:cNvSpPr/>
          <p:nvPr/>
        </p:nvSpPr>
        <p:spPr>
          <a:xfrm>
            <a:off x="4334256" y="2103120"/>
            <a:ext cx="3035808" cy="484632"/>
          </a:xfrm>
          <a:prstGeom prst="rect">
            <a:avLst/>
          </a:prstGeom>
          <a:solidFill>
            <a:srgbClr val="EAF3F8"/>
          </a:solidFill>
          <a:ln w="12700">
            <a:solidFill>
              <a:srgbClr val="C8DBE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250" b="1">
                <a:solidFill>
                  <a:srgbClr val="23313D"/>
                </a:solidFill>
              </a:rPr>
              <a:t>Vs − Vr = (R P + X Qnet)/Vr</a:t>
            </a:r>
            <a:endParaRPr lang="ja-JP" sz="1250"/>
          </a:p>
        </p:txBody>
      </p:sp>
      <p:sp>
        <p:nvSpPr>
          <p:cNvPr id="53" name="Text"/>
          <p:cNvSpPr/>
          <p:nvPr/>
        </p:nvSpPr>
        <p:spPr>
          <a:xfrm>
            <a:off x="4334256" y="2724912"/>
            <a:ext cx="3035808" cy="438912"/>
          </a:xfrm>
          <a:prstGeom prst="rect">
            <a:avLst/>
          </a:prstGeom>
          <a:solidFill>
            <a:srgbClr val="F3F6F8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250" b="1">
                <a:solidFill>
                  <a:srgbClr val="23313D"/>
                </a:solidFill>
              </a:rPr>
              <a:t>Qdevice = Qnet − Qload</a:t>
            </a:r>
            <a:endParaRPr lang="ja-JP" sz="1250"/>
          </a:p>
        </p:txBody>
      </p:sp>
      <p:sp>
        <p:nvSpPr>
          <p:cNvPr id="60" name="shape60"/>
          <p:cNvSpPr/>
          <p:nvPr/>
        </p:nvSpPr>
        <p:spPr>
          <a:xfrm>
            <a:off x="7918704" y="1417320"/>
            <a:ext cx="3803904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61" name="Text"/>
          <p:cNvSpPr/>
          <p:nvPr/>
        </p:nvSpPr>
        <p:spPr>
          <a:xfrm>
            <a:off x="8138160" y="1609344"/>
            <a:ext cx="3364992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280" b="1">
                <a:solidFill>
                  <a:srgbClr val="14324A"/>
                </a:solidFill>
              </a:rPr>
              <a:t>モデルB：リアクタンス系統（H23二次型）</a:t>
            </a:r>
            <a:endParaRPr lang="ja-JP" sz="1280"/>
          </a:p>
        </p:txBody>
      </p:sp>
      <p:sp>
        <p:nvSpPr>
          <p:cNvPr id="62" name="Text"/>
          <p:cNvSpPr/>
          <p:nvPr/>
        </p:nvSpPr>
        <p:spPr>
          <a:xfrm>
            <a:off x="8211312" y="2029968"/>
            <a:ext cx="3200400" cy="420624"/>
          </a:xfrm>
          <a:prstGeom prst="rect">
            <a:avLst/>
          </a:prstGeom>
          <a:solidFill>
            <a:srgbClr val="EAF3F8"/>
          </a:solidFill>
          <a:ln w="12700">
            <a:solidFill>
              <a:srgbClr val="C8DBE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240" b="1">
                <a:solidFill>
                  <a:srgbClr val="23313D"/>
                </a:solidFill>
              </a:rPr>
              <a:t>P = Vs Vr sinδ / X</a:t>
            </a:r>
            <a:endParaRPr lang="ja-JP" sz="1240"/>
          </a:p>
        </p:txBody>
      </p:sp>
      <p:sp>
        <p:nvSpPr>
          <p:cNvPr id="63" name="Text"/>
          <p:cNvSpPr/>
          <p:nvPr/>
        </p:nvSpPr>
        <p:spPr>
          <a:xfrm>
            <a:off x="8211312" y="2523744"/>
            <a:ext cx="3200400" cy="420624"/>
          </a:xfrm>
          <a:prstGeom prst="rect">
            <a:avLst/>
          </a:prstGeom>
          <a:solidFill>
            <a:srgbClr val="F3F6F8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50" b="1">
                <a:solidFill>
                  <a:srgbClr val="23313D"/>
                </a:solidFill>
              </a:rPr>
              <a:t>Qr = (Vs Vr cosδ − Vr²) / X</a:t>
            </a:r>
            <a:endParaRPr lang="ja-JP" sz="1150"/>
          </a:p>
        </p:txBody>
      </p:sp>
      <p:sp>
        <p:nvSpPr>
          <p:cNvPr id="64" name="Text"/>
          <p:cNvSpPr/>
          <p:nvPr/>
        </p:nvSpPr>
        <p:spPr>
          <a:xfrm>
            <a:off x="8211312" y="3017520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980" b="1">
                <a:solidFill>
                  <a:srgbClr val="3F8F6B"/>
                </a:solidFill>
              </a:rPr>
              <a:t>指定 Vr₂ → δ₂ → Qnet₂ → Qdevice</a:t>
            </a:r>
            <a:endParaRPr lang="ja-JP" sz="980"/>
          </a:p>
        </p:txBody>
      </p:sp>
      <p:sp>
        <p:nvSpPr>
          <p:cNvPr id="70" name="shape70"/>
          <p:cNvSpPr/>
          <p:nvPr/>
        </p:nvSpPr>
        <p:spPr>
          <a:xfrm>
            <a:off x="4041648" y="3767328"/>
            <a:ext cx="7680960" cy="2130552"/>
          </a:xfrm>
          <a:prstGeom prst="rect">
            <a:avLst/>
          </a:prstGeom>
          <a:solidFill>
            <a:srgbClr val="EAF6F0"/>
          </a:solidFill>
          <a:ln w="9525">
            <a:solidFill>
              <a:srgbClr val="B8D8C6"/>
            </a:solidFill>
          </a:ln>
        </p:spPr>
      </p:sp>
      <p:sp>
        <p:nvSpPr>
          <p:cNvPr id="71" name="Text"/>
          <p:cNvSpPr/>
          <p:nvPr/>
        </p:nvSpPr>
        <p:spPr>
          <a:xfrm>
            <a:off x="4279392" y="3968496"/>
            <a:ext cx="7205472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100" b="1">
                <a:solidFill>
                  <a:srgbClr val="14324A"/>
                </a:solidFill>
              </a:rPr>
              <a:t>仮定例：Vr=6.6 kV, R=0.50 Ω/相, X=2.0 Ω/相, P=1.0 MW, Qload=+0.60 Mvar</a:t>
            </a:r>
            <a:endParaRPr lang="ja-JP" sz="1100"/>
          </a:p>
        </p:txBody>
      </p:sp>
      <p:sp>
        <p:nvSpPr>
          <p:cNvPr id="72" name="Text"/>
          <p:cNvSpPr/>
          <p:nvPr/>
        </p:nvSpPr>
        <p:spPr>
          <a:xfrm>
            <a:off x="4352544" y="4498848"/>
            <a:ext cx="3246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50" b="1">
                <a:solidFill>
                  <a:srgbClr val="23313D"/>
                </a:solidFill>
              </a:rPr>
              <a:t>Vs = Vr ⇒ RP + XQnet = 0</a:t>
            </a:r>
            <a:endParaRPr lang="ja-JP" sz="1150"/>
          </a:p>
        </p:txBody>
      </p:sp>
      <p:sp>
        <p:nvSpPr>
          <p:cNvPr id="73" name="Text"/>
          <p:cNvSpPr/>
          <p:nvPr/>
        </p:nvSpPr>
        <p:spPr>
          <a:xfrm>
            <a:off x="4352544" y="5047488"/>
            <a:ext cx="3246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50" b="1">
                <a:solidFill>
                  <a:srgbClr val="23313D"/>
                </a:solidFill>
              </a:rPr>
              <a:t>Qnet = −RP/X = −0.25 Mvar</a:t>
            </a:r>
            <a:endParaRPr lang="ja-JP" sz="1150"/>
          </a:p>
        </p:txBody>
      </p:sp>
      <p:sp>
        <p:nvSpPr>
          <p:cNvPr id="74" name="Text"/>
          <p:cNvSpPr/>
          <p:nvPr/>
        </p:nvSpPr>
        <p:spPr>
          <a:xfrm>
            <a:off x="7936992" y="4498848"/>
            <a:ext cx="3419856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080" b="1">
                <a:solidFill>
                  <a:srgbClr val="23313D"/>
                </a:solidFill>
              </a:rPr>
              <a:t>Qdevice = −0.25 − 0.60 = −0.85 Mvar</a:t>
            </a:r>
            <a:endParaRPr lang="ja-JP" sz="1080"/>
          </a:p>
        </p:txBody>
      </p:sp>
      <p:sp>
        <p:nvSpPr>
          <p:cNvPr id="75" name="Text"/>
          <p:cNvSpPr/>
          <p:nvPr/>
        </p:nvSpPr>
        <p:spPr>
          <a:xfrm>
            <a:off x="7936992" y="5047488"/>
            <a:ext cx="3419856" cy="566928"/>
          </a:xfrm>
          <a:prstGeom prst="rect">
            <a:avLst/>
          </a:prstGeom>
          <a:solidFill>
            <a:srgbClr val="DFF3E9"/>
          </a:solidFill>
          <a:ln w="12700">
            <a:solidFill>
              <a:srgbClr val="8EC6A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400" b="1">
                <a:solidFill>
                  <a:srgbClr val="3F8F6B"/>
                </a:solidFill>
              </a:rPr>
              <a:t>負値 ⇒ コンデンサ 0.85 Mvar</a:t>
            </a:r>
            <a:endParaRPr lang="ja-JP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1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14324A"/>
          </a:solidFill>
          <a:ln w="9525">
            <a:solidFill>
              <a:srgbClr val="14324A"/>
            </a:solidFill>
          </a:ln>
        </p:spPr>
      </p:sp>
      <p:sp>
        <p:nvSpPr>
          <p:cNvPr id="11" name="header"/>
          <p:cNvSpPr/>
          <p:nvPr/>
        </p:nvSpPr>
        <p:spPr>
          <a:xfrm>
            <a:off x="384048" y="73152"/>
            <a:ext cx="6217920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1">
                <a:solidFill>
                  <a:srgbClr val="FFFFFF"/>
                </a:solidFill>
              </a:rPr>
              <a:t>電験二種「電力・管理」× 新幹線　Topic 14</a:t>
            </a:r>
            <a:endParaRPr lang="ja-JP" sz="1050"/>
          </a:p>
        </p:txBody>
      </p:sp>
      <p:sp>
        <p:nvSpPr>
          <p:cNvPr id="12" name="title"/>
          <p:cNvSpPr/>
          <p:nvPr/>
        </p:nvSpPr>
        <p:spPr>
          <a:xfrm>
            <a:off x="457200" y="658368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2400" b="1">
                <a:solidFill>
                  <a:srgbClr val="14324A"/>
                </a:solidFill>
              </a:rPr>
              <a:t>容量制約では「境界以下に丸めない」</a:t>
            </a:r>
            <a:endParaRPr lang="ja-JP" sz="2400"/>
          </a:p>
        </p:txBody>
      </p:sp>
      <p:sp>
        <p:nvSpPr>
          <p:cNvPr id="13" name="sub"/>
          <p:cNvSpPr/>
          <p:nvPr/>
        </p:nvSpPr>
        <p:spPr>
          <a:xfrm>
            <a:off x="475488" y="106070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50" b="0">
                <a:solidFill>
                  <a:srgbClr val="667788"/>
                </a:solidFill>
              </a:rPr>
              <a:t>制作前blindで不足した答案処理を、二次記述で再現できる形に固定</a:t>
            </a:r>
            <a:endParaRPr lang="ja-JP" sz="1050"/>
          </a:p>
        </p:txBody>
      </p:sp>
      <p:sp>
        <p:nvSpPr>
          <p:cNvPr id="20" name="shape20"/>
          <p:cNvSpPr/>
          <p:nvPr/>
        </p:nvSpPr>
        <p:spPr>
          <a:xfrm>
            <a:off x="457200" y="1417320"/>
            <a:ext cx="3703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21" name="Text"/>
          <p:cNvSpPr/>
          <p:nvPr/>
        </p:nvSpPr>
        <p:spPr>
          <a:xfrm>
            <a:off x="658368" y="1591056"/>
            <a:ext cx="3310128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60" b="1">
                <a:solidFill>
                  <a:srgbClr val="14324A"/>
                </a:solidFill>
              </a:rPr>
              <a:t>設備容量制約と目標力率は別問題</a:t>
            </a:r>
            <a:endParaRPr lang="ja-JP" sz="1360"/>
          </a:p>
        </p:txBody>
      </p:sp>
      <p:sp>
        <p:nvSpPr>
          <p:cNvPr id="22" name="Text"/>
          <p:cNvSpPr/>
          <p:nvPr/>
        </p:nvSpPr>
        <p:spPr>
          <a:xfrm>
            <a:off x="731520" y="1993392"/>
            <a:ext cx="3154680" cy="420624"/>
          </a:xfrm>
          <a:prstGeom prst="rect">
            <a:avLst/>
          </a:prstGeom>
          <a:solidFill>
            <a:srgbClr val="EAF3F8"/>
          </a:solidFill>
          <a:ln w="12700">
            <a:solidFill>
              <a:srgbClr val="C8DBE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50" b="1">
                <a:solidFill>
                  <a:srgbClr val="23313D"/>
                </a:solidFill>
              </a:rPr>
              <a:t>√(P² + Qafter²) ≤ ST</a:t>
            </a:r>
            <a:endParaRPr lang="ja-JP" sz="1350"/>
          </a:p>
        </p:txBody>
      </p:sp>
      <p:sp>
        <p:nvSpPr>
          <p:cNvPr id="23" name="Text"/>
          <p:cNvSpPr/>
          <p:nvPr/>
        </p:nvSpPr>
        <p:spPr>
          <a:xfrm>
            <a:off x="731520" y="2532888"/>
            <a:ext cx="3154680" cy="420624"/>
          </a:xfrm>
          <a:prstGeom prst="rect">
            <a:avLst/>
          </a:prstGeom>
          <a:solidFill>
            <a:srgbClr val="F3F6F8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300" b="1">
                <a:solidFill>
                  <a:srgbClr val="23313D"/>
                </a:solidFill>
              </a:rPr>
              <a:t>|Qafter| ≤ √(ST² − P²)</a:t>
            </a:r>
            <a:endParaRPr lang="ja-JP" sz="1300"/>
          </a:p>
        </p:txBody>
      </p:sp>
      <p:sp>
        <p:nvSpPr>
          <p:cNvPr id="24" name="Text"/>
          <p:cNvSpPr/>
          <p:nvPr/>
        </p:nvSpPr>
        <p:spPr>
          <a:xfrm>
            <a:off x="731520" y="3072384"/>
            <a:ext cx="3154680" cy="457200"/>
          </a:xfrm>
          <a:prstGeom prst="rect">
            <a:avLst/>
          </a:prstGeom>
          <a:solidFill>
            <a:srgbClr val="FFF3E5"/>
          </a:solidFill>
          <a:ln w="12700">
            <a:solidFill>
              <a:srgbClr val="E8C99F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40" b="1">
                <a:solidFill>
                  <a:srgbClr val="D97706"/>
                </a:solidFill>
              </a:rPr>
              <a:t>Qc,min = Qbefore − √(ST² − P²)</a:t>
            </a:r>
            <a:endParaRPr lang="ja-JP" sz="1140"/>
          </a:p>
        </p:txBody>
      </p:sp>
      <p:sp>
        <p:nvSpPr>
          <p:cNvPr id="30" name="shape30"/>
          <p:cNvSpPr/>
          <p:nvPr/>
        </p:nvSpPr>
        <p:spPr>
          <a:xfrm>
            <a:off x="4407408" y="1417320"/>
            <a:ext cx="3456432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31" name="Text"/>
          <p:cNvSpPr/>
          <p:nvPr/>
        </p:nvSpPr>
        <p:spPr>
          <a:xfrm>
            <a:off x="4608576" y="1591056"/>
            <a:ext cx="3054096" cy="27432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30" b="1">
                <a:solidFill>
                  <a:srgbClr val="14324A"/>
                </a:solidFill>
              </a:rPr>
              <a:t>P-Q平面：容量円 |S|=ST</a:t>
            </a:r>
            <a:endParaRPr lang="ja-JP" sz="1330"/>
          </a:p>
        </p:txBody>
      </p:sp>
      <p:sp>
        <p:nvSpPr>
          <p:cNvPr id="32" name="ellipse32"/>
          <p:cNvSpPr/>
          <p:nvPr/>
        </p:nvSpPr>
        <p:spPr>
          <a:xfrm>
            <a:off x="4937760" y="2194560"/>
            <a:ext cx="2331720" cy="2331720"/>
          </a:xfrm>
          <a:prstGeom prst="ellipse">
            <a:avLst/>
          </a:prstGeom>
          <a:noFill/>
          <a:ln w="19050">
            <a:solidFill>
              <a:srgbClr val="2B6CB0"/>
            </a:solidFill>
          </a:ln>
        </p:spPr>
      </p:sp>
      <p:cxnSp>
        <p:nvCxnSpPr>
          <p:cNvPr id="33" name="line33"/>
          <p:cNvCxnSpPr/>
          <p:nvPr/>
        </p:nvCxnSpPr>
        <p:spPr>
          <a:xfrm>
            <a:off x="6108192" y="4791456"/>
            <a:ext cx="0" cy="-2907792"/>
          </a:xfrm>
          <a:prstGeom prst="line">
            <a:avLst/>
          </a:prstGeom>
          <a:ln w="9525">
            <a:solidFill>
              <a:srgbClr val="8998A3"/>
            </a:solidFill>
            <a:tailEnd type="none"/>
            <a:headEnd type="triangle"/>
          </a:ln>
        </p:spPr>
      </p:cxnSp>
      <p:cxnSp>
        <p:nvCxnSpPr>
          <p:cNvPr id="34" name="line34"/>
          <p:cNvCxnSpPr/>
          <p:nvPr/>
        </p:nvCxnSpPr>
        <p:spPr>
          <a:xfrm>
            <a:off x="4663440" y="3364992"/>
            <a:ext cx="2971800" cy="0"/>
          </a:xfrm>
          <a:prstGeom prst="line">
            <a:avLst/>
          </a:prstGeom>
          <a:ln w="9525">
            <a:solidFill>
              <a:srgbClr val="8998A3"/>
            </a:solidFill>
            <a:tailEnd type="none"/>
            <a:headEnd type="triangle"/>
          </a:ln>
        </p:spPr>
      </p:cxnSp>
      <p:cxnSp>
        <p:nvCxnSpPr>
          <p:cNvPr id="35" name="line35"/>
          <p:cNvCxnSpPr/>
          <p:nvPr/>
        </p:nvCxnSpPr>
        <p:spPr>
          <a:xfrm>
            <a:off x="7059168" y="2587752"/>
            <a:ext cx="0" cy="1975104"/>
          </a:xfrm>
          <a:prstGeom prst="line">
            <a:avLst/>
          </a:prstGeom>
          <a:ln w="19050">
            <a:solidFill>
              <a:srgbClr val="D97706"/>
            </a:solidFill>
            <a:tailEnd type="none"/>
            <a:headEnd type="none"/>
          </a:ln>
        </p:spPr>
      </p:cxnSp>
      <p:sp>
        <p:nvSpPr>
          <p:cNvPr id="36" name="Text"/>
          <p:cNvSpPr/>
          <p:nvPr/>
        </p:nvSpPr>
        <p:spPr>
          <a:xfrm>
            <a:off x="6419088" y="4617720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880" b="1">
                <a:solidFill>
                  <a:srgbClr val="D97706"/>
                </a:solidFill>
              </a:rPr>
              <a:t>P=8.0 MW</a:t>
            </a:r>
            <a:endParaRPr lang="ja-JP" sz="880"/>
          </a:p>
        </p:txBody>
      </p:sp>
      <p:sp>
        <p:nvSpPr>
          <p:cNvPr id="37" name="Text"/>
          <p:cNvSpPr/>
          <p:nvPr/>
        </p:nvSpPr>
        <p:spPr>
          <a:xfrm>
            <a:off x="4828032" y="2432304"/>
            <a:ext cx="1115568" cy="1828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r"/>
            <a:r>
              <a:rPr lang="ja-JP" sz="840" b="1">
                <a:solidFill>
                  <a:srgbClr val="B84C4C"/>
                </a:solidFill>
              </a:rPr>
              <a:t>Qbefore=6.0</a:t>
            </a:r>
            <a:endParaRPr lang="ja-JP" sz="840"/>
          </a:p>
        </p:txBody>
      </p:sp>
      <p:sp>
        <p:nvSpPr>
          <p:cNvPr id="38" name="Text"/>
          <p:cNvSpPr/>
          <p:nvPr/>
        </p:nvSpPr>
        <p:spPr>
          <a:xfrm>
            <a:off x="4828032" y="2788920"/>
            <a:ext cx="1115568" cy="1828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r"/>
            <a:r>
              <a:rPr lang="ja-JP" sz="840" b="1">
                <a:solidFill>
                  <a:srgbClr val="3F8F6B"/>
                </a:solidFill>
              </a:rPr>
              <a:t>Qlimit=4.123</a:t>
            </a:r>
            <a:endParaRPr lang="ja-JP" sz="840"/>
          </a:p>
        </p:txBody>
      </p:sp>
      <p:cxnSp>
        <p:nvCxnSpPr>
          <p:cNvPr id="39" name="line39"/>
          <p:cNvCxnSpPr/>
          <p:nvPr/>
        </p:nvCxnSpPr>
        <p:spPr>
          <a:xfrm>
            <a:off x="7150608" y="2633472"/>
            <a:ext cx="0" cy="356616"/>
          </a:xfrm>
          <a:prstGeom prst="line">
            <a:avLst/>
          </a:prstGeom>
          <a:ln w="19050">
            <a:solidFill>
              <a:srgbClr val="1F8A9E"/>
            </a:solidFill>
            <a:tailEnd type="none"/>
            <a:headEnd type="triangle"/>
          </a:ln>
        </p:spPr>
      </p:cxnSp>
      <p:sp>
        <p:nvSpPr>
          <p:cNvPr id="40" name="Text"/>
          <p:cNvSpPr/>
          <p:nvPr/>
        </p:nvSpPr>
        <p:spPr>
          <a:xfrm>
            <a:off x="7196328" y="2679192"/>
            <a:ext cx="512064" cy="36576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819" b="1">
                <a:solidFill>
                  <a:srgbClr val="1F8A9E"/>
                </a:solidFill>
              </a:rPr>
              <a:t>Qc,min</a:t>
            </a:r>
            <a:endParaRPr lang="ja-JP" sz="819"/>
          </a:p>
          <a:p>
            <a:pPr algn="ctr"/>
            <a:r>
              <a:rPr lang="ja-JP" sz="819" b="1">
                <a:solidFill>
                  <a:srgbClr val="1F8A9E"/>
                </a:solidFill>
              </a:rPr>
              <a:t>1.877</a:t>
            </a:r>
            <a:endParaRPr lang="ja-JP" sz="819"/>
          </a:p>
        </p:txBody>
      </p:sp>
      <p:sp>
        <p:nvSpPr>
          <p:cNvPr id="41" name="Text"/>
          <p:cNvSpPr/>
          <p:nvPr/>
        </p:nvSpPr>
        <p:spPr>
          <a:xfrm>
            <a:off x="4645152" y="5093208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819" b="0">
                <a:solidFill>
                  <a:srgbClr val="667788"/>
                </a:solidFill>
              </a:rPr>
              <a:t>仮定: P=8.0 MW, Qbefore=6.0 Mvar, ST=9.0 MVA</a:t>
            </a:r>
            <a:endParaRPr lang="ja-JP" sz="819"/>
          </a:p>
        </p:txBody>
      </p:sp>
      <p:sp>
        <p:nvSpPr>
          <p:cNvPr id="50" name="shape50"/>
          <p:cNvSpPr/>
          <p:nvPr/>
        </p:nvSpPr>
        <p:spPr>
          <a:xfrm>
            <a:off x="8092440" y="1417320"/>
            <a:ext cx="3639312" cy="1938528"/>
          </a:xfrm>
          <a:prstGeom prst="rect">
            <a:avLst/>
          </a:prstGeom>
          <a:solidFill>
            <a:srgbClr val="FFF3E5"/>
          </a:solidFill>
          <a:ln w="9525">
            <a:solidFill>
              <a:srgbClr val="E8C99F"/>
            </a:solidFill>
          </a:ln>
        </p:spPr>
      </p:sp>
      <p:sp>
        <p:nvSpPr>
          <p:cNvPr id="51" name="Text"/>
          <p:cNvSpPr/>
          <p:nvPr/>
        </p:nvSpPr>
        <p:spPr>
          <a:xfrm>
            <a:off x="8321040" y="1591056"/>
            <a:ext cx="3163824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240" b="1">
                <a:solidFill>
                  <a:srgbClr val="14324A"/>
                </a:solidFill>
              </a:rPr>
              <a:t>0.1 Mvar刻みなら 1.9 Mvar を選ぶ</a:t>
            </a:r>
            <a:endParaRPr lang="ja-JP" sz="1240"/>
          </a:p>
        </p:txBody>
      </p:sp>
      <p:sp>
        <p:nvSpPr>
          <p:cNvPr id="52" name="Text"/>
          <p:cNvSpPr/>
          <p:nvPr/>
        </p:nvSpPr>
        <p:spPr>
          <a:xfrm>
            <a:off x="8366760" y="2066543"/>
            <a:ext cx="1353312" cy="841248"/>
          </a:xfrm>
          <a:prstGeom prst="rect">
            <a:avLst/>
          </a:prstGeom>
          <a:solidFill>
            <a:srgbClr val="FDEEEE"/>
          </a:solidFill>
          <a:ln w="12700">
            <a:solidFill>
              <a:srgbClr val="DFB2B2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40" b="1">
                <a:solidFill>
                  <a:srgbClr val="B84C4C"/>
                </a:solidFill>
              </a:rPr>
              <a:t>1.8 Mvar</a:t>
            </a:r>
            <a:endParaRPr lang="ja-JP" sz="1140"/>
          </a:p>
          <a:p>
            <a:pPr algn="ctr"/>
            <a:r>
              <a:rPr lang="ja-JP" sz="1140" b="1">
                <a:solidFill>
                  <a:srgbClr val="B84C4C"/>
                </a:solidFill>
              </a:rPr>
              <a:t>S=9.035 MVA</a:t>
            </a:r>
            <a:endParaRPr lang="ja-JP" sz="1140"/>
          </a:p>
          <a:p>
            <a:pPr algn="ctr"/>
            <a:r>
              <a:rPr lang="ja-JP" sz="1140" b="1">
                <a:solidFill>
                  <a:srgbClr val="B84C4C"/>
                </a:solidFill>
              </a:rPr>
              <a:t>FAIL</a:t>
            </a:r>
            <a:endParaRPr lang="ja-JP" sz="1140"/>
          </a:p>
        </p:txBody>
      </p:sp>
      <p:sp>
        <p:nvSpPr>
          <p:cNvPr id="53" name="Text"/>
          <p:cNvSpPr/>
          <p:nvPr/>
        </p:nvSpPr>
        <p:spPr>
          <a:xfrm>
            <a:off x="10012680" y="2066543"/>
            <a:ext cx="1417320" cy="841248"/>
          </a:xfrm>
          <a:prstGeom prst="rect">
            <a:avLst/>
          </a:prstGeom>
          <a:solidFill>
            <a:srgbClr val="EAF6F0"/>
          </a:solidFill>
          <a:ln w="12700">
            <a:solidFill>
              <a:srgbClr val="A9D2B8"/>
            </a:solidFill>
          </a:ln>
        </p:spPr>
        <p:txBody>
          <a:bodyPr anchor="ctr" wrap="square" lIns="73152" rIns="73152" tIns="73152" bIns="73152"/>
          <a:lstStyle/>
          <a:p>
            <a:pPr algn="ctr"/>
            <a:r>
              <a:rPr lang="ja-JP" sz="1140" b="1">
                <a:solidFill>
                  <a:srgbClr val="3F8F6B"/>
                </a:solidFill>
              </a:rPr>
              <a:t>1.9 Mvar</a:t>
            </a:r>
            <a:endParaRPr lang="ja-JP" sz="1140"/>
          </a:p>
          <a:p>
            <a:pPr algn="ctr"/>
            <a:r>
              <a:rPr lang="ja-JP" sz="1140" b="1">
                <a:solidFill>
                  <a:srgbClr val="3F8F6B"/>
                </a:solidFill>
              </a:rPr>
              <a:t>S=8.989 MVA</a:t>
            </a:r>
            <a:endParaRPr lang="ja-JP" sz="1140"/>
          </a:p>
          <a:p>
            <a:pPr algn="ctr"/>
            <a:r>
              <a:rPr lang="ja-JP" sz="1140" b="1">
                <a:solidFill>
                  <a:srgbClr val="3F8F6B"/>
                </a:solidFill>
              </a:rPr>
              <a:t>PASS</a:t>
            </a:r>
            <a:endParaRPr lang="ja-JP" sz="1140"/>
          </a:p>
        </p:txBody>
      </p:sp>
      <p:sp>
        <p:nvSpPr>
          <p:cNvPr id="60" name="shape60"/>
          <p:cNvSpPr/>
          <p:nvPr/>
        </p:nvSpPr>
        <p:spPr>
          <a:xfrm>
            <a:off x="8092440" y="3602736"/>
            <a:ext cx="3639312" cy="229514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7"/>
            </a:solidFill>
          </a:ln>
        </p:spPr>
      </p:sp>
      <p:sp>
        <p:nvSpPr>
          <p:cNvPr id="61" name="Text"/>
          <p:cNvSpPr/>
          <p:nvPr/>
        </p:nvSpPr>
        <p:spPr>
          <a:xfrm>
            <a:off x="8321040" y="3803904"/>
            <a:ext cx="3163824" cy="256032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310" b="1">
                <a:solidFill>
                  <a:srgbClr val="14324A"/>
                </a:solidFill>
              </a:rPr>
              <a:t>R2二次型の答案要素</a:t>
            </a:r>
            <a:endParaRPr lang="ja-JP" sz="1310"/>
          </a:p>
        </p:txBody>
      </p:sp>
      <p:sp>
        <p:nvSpPr>
          <p:cNvPr id="62" name="Text"/>
          <p:cNvSpPr/>
          <p:nvPr/>
        </p:nvSpPr>
        <p:spPr>
          <a:xfrm>
            <a:off x="8339327" y="4224528"/>
            <a:ext cx="3127248" cy="1225296"/>
          </a:xfrm>
          <a:prstGeom prst="rect">
            <a:avLst/>
          </a:prstGeom>
          <a:noFill/>
          <a:ln>
            <a:noFill/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30" b="0">
                <a:solidFill>
                  <a:srgbClr val="23313D"/>
                </a:solidFill>
              </a:rPr>
              <a:t>・最小追加C容量: 不足側へ丸めない</a:t>
            </a:r>
            <a:endParaRPr lang="ja-JP" sz="1030"/>
          </a:p>
          <a:p>
            <a:pPr algn="l"/>
            <a:r>
              <a:rPr lang="ja-JP" sz="1030" b="0">
                <a:solidFill>
                  <a:srgbClr val="23313D"/>
                </a:solidFill>
              </a:rPr>
              <a:t>・総合力率: P/√(P²+Q²)</a:t>
            </a:r>
            <a:endParaRPr lang="ja-JP" sz="1030"/>
          </a:p>
          <a:p>
            <a:pPr algn="l"/>
            <a:r>
              <a:rPr lang="ja-JP" sz="1030" b="0">
                <a:solidFill>
                  <a:srgbClr val="23313D"/>
                </a:solidFill>
              </a:rPr>
              <a:t>・P-Qベクトル図・角度</a:t>
            </a:r>
            <a:endParaRPr lang="ja-JP" sz="1030"/>
          </a:p>
          <a:p>
            <a:pPr algn="l"/>
            <a:r>
              <a:rPr lang="ja-JP" sz="1030" b="0">
                <a:solidFill>
                  <a:srgbClr val="23313D"/>
                </a:solidFill>
              </a:rPr>
              <a:t>・目標力率C容量は別計算</a:t>
            </a:r>
            <a:endParaRPr lang="ja-JP" sz="1030"/>
          </a:p>
          <a:p>
            <a:pPr algn="l"/>
            <a:r>
              <a:rPr lang="ja-JP" sz="1030" b="0">
                <a:solidFill>
                  <a:srgbClr val="23313D"/>
                </a:solidFill>
              </a:rPr>
              <a:t>・最後に容量制約へ再代入</a:t>
            </a:r>
            <a:endParaRPr lang="ja-JP" sz="1030"/>
          </a:p>
        </p:txBody>
      </p:sp>
      <p:sp>
        <p:nvSpPr>
          <p:cNvPr id="63" name="Text"/>
          <p:cNvSpPr/>
          <p:nvPr/>
        </p:nvSpPr>
        <p:spPr>
          <a:xfrm>
            <a:off x="658368" y="4096512"/>
            <a:ext cx="3246120" cy="1307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7"/>
            </a:solidFill>
          </a:ln>
        </p:spPr>
        <p:txBody>
          <a:bodyPr anchor="ctr" wrap="square" lIns="73152" rIns="73152" tIns="73152" bIns="73152"/>
          <a:lstStyle/>
          <a:p>
            <a:pPr algn="l"/>
            <a:r>
              <a:rPr lang="ja-JP" sz="1040" b="0">
                <a:solidFill>
                  <a:srgbClr val="23313D"/>
                </a:solidFill>
              </a:rPr>
              <a:t>目標力率条件: Qc,target = Qbefore − P tanφt</a:t>
            </a:r>
            <a:endParaRPr lang="ja-JP" sz="1040"/>
          </a:p>
          <a:p>
            <a:pPr algn="l"/>
            <a:r>
              <a:rPr lang="ja-JP" sz="1040" b="0">
                <a:solidFill>
                  <a:srgbClr val="23313D"/>
                </a:solidFill>
              </a:rPr>
              <a:t/>
            </a:r>
            <a:endParaRPr lang="ja-JP" sz="1040"/>
          </a:p>
          <a:p>
            <a:pPr algn="l"/>
            <a:r>
              <a:rPr lang="ja-JP" sz="1040" b="0">
                <a:solidFill>
                  <a:srgbClr val="23313D"/>
                </a:solidFill>
              </a:rPr>
              <a:t>正式5問・21答案要素の説明カバレッジを維持。</a:t>
            </a:r>
            <a:endParaRPr lang="ja-JP" sz="1040"/>
          </a:p>
          <a:p>
            <a:pPr algn="l"/>
            <a:r>
              <a:rPr lang="ja-JP" sz="1040" b="0">
                <a:solidFill>
                  <a:srgbClr val="23313D"/>
                </a:solidFill>
              </a:rPr>
              <a:t>完成後blind独立再解答は次工程。</a:t>
            </a:r>
            <a:endParaRPr lang="ja-JP" sz="1040"/>
          </a:p>
        </p:txBody>
      </p:sp>
    </p:spTree>
  </p:cSld>
  <p:clrMapOvr>
    <a:masterClrMapping/>
  </p:clrMapOvr>
</p:sld>
</file>