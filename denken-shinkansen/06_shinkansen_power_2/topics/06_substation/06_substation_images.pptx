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電験二種・電力  Topic 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915400" y="1280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6E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cureflash / denken-shinkansen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386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386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変電所は「接続順」と「役割」で読む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11338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固定範囲：変電所・母線・変圧器・遮断器・単線結線図・損失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901952"/>
            <a:ext cx="1097280" cy="713232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9FB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0299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送電側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645920" y="2258568"/>
            <a:ext cx="246888" cy="0"/>
          </a:xfrm>
          <a:prstGeom prst="line">
            <a:avLst/>
          </a:prstGeom>
          <a:noFill/>
          <a:ln w="16510">
            <a:solidFill>
              <a:srgbClr val="5D6B7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965960" y="1901952"/>
            <a:ext cx="1143000" cy="713232"/>
          </a:xfrm>
          <a:prstGeom prst="roundRect">
            <a:avLst/>
          </a:prstGeom>
          <a:solidFill>
            <a:srgbClr val="F8E4E4"/>
          </a:solidFill>
          <a:ln w="12700">
            <a:solidFill>
              <a:srgbClr val="9FB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02996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遮断器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08960" y="2258568"/>
            <a:ext cx="310896" cy="0"/>
          </a:xfrm>
          <a:prstGeom prst="line">
            <a:avLst/>
          </a:prstGeom>
          <a:noFill/>
          <a:ln w="16510">
            <a:solidFill>
              <a:srgbClr val="5D6B7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93008" y="1901952"/>
            <a:ext cx="1143000" cy="713232"/>
          </a:xfrm>
          <a:prstGeom prst="roundRect">
            <a:avLst/>
          </a:prstGeom>
          <a:solidFill>
            <a:srgbClr val="FCE8D5"/>
          </a:solidFill>
          <a:ln w="12700">
            <a:solidFill>
              <a:srgbClr val="9FB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8728" y="202996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断路器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36008" y="2258568"/>
            <a:ext cx="365760" cy="0"/>
          </a:xfrm>
          <a:prstGeom prst="line">
            <a:avLst/>
          </a:prstGeom>
          <a:noFill/>
          <a:ln w="16510">
            <a:solidFill>
              <a:srgbClr val="5D6B7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74920" y="1901952"/>
            <a:ext cx="1417320" cy="713232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9FB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02996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母線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2240" y="2258568"/>
            <a:ext cx="338328" cy="0"/>
          </a:xfrm>
          <a:prstGeom prst="line">
            <a:avLst/>
          </a:prstGeom>
          <a:noFill/>
          <a:ln w="16510">
            <a:solidFill>
              <a:srgbClr val="5D6B7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03720" y="1901952"/>
            <a:ext cx="868680" cy="713232"/>
          </a:xfrm>
          <a:prstGeom prst="roundRect">
            <a:avLst/>
          </a:prstGeom>
          <a:solidFill>
            <a:srgbClr val="FCE8D5"/>
          </a:solidFill>
          <a:ln w="12700">
            <a:solidFill>
              <a:srgbClr val="9FB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02996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0" y="2258568"/>
            <a:ext cx="228600" cy="0"/>
          </a:xfrm>
          <a:prstGeom prst="line">
            <a:avLst/>
          </a:prstGeom>
          <a:noFill/>
          <a:ln w="16510">
            <a:solidFill>
              <a:srgbClr val="5D6B7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74152" y="1901952"/>
            <a:ext cx="868680" cy="713232"/>
          </a:xfrm>
          <a:prstGeom prst="roundRect">
            <a:avLst/>
          </a:prstGeom>
          <a:solidFill>
            <a:srgbClr val="F8E4E4"/>
          </a:solidFill>
          <a:ln w="12700">
            <a:solidFill>
              <a:srgbClr val="9FB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9872" y="202996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CB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42832" y="2258568"/>
            <a:ext cx="265176" cy="0"/>
          </a:xfrm>
          <a:prstGeom prst="line">
            <a:avLst/>
          </a:prstGeom>
          <a:noFill/>
          <a:ln w="16510">
            <a:solidFill>
              <a:srgbClr val="5D6B7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281160" y="1901952"/>
            <a:ext cx="1188720" cy="713232"/>
          </a:xfrm>
          <a:prstGeom prst="roundRect">
            <a:avLst/>
          </a:prstGeom>
          <a:solidFill>
            <a:srgbClr val="E4F2ED"/>
          </a:solidFill>
          <a:ln w="12700">
            <a:solidFill>
              <a:srgbClr val="9FB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0" y="202996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変圧器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469880" y="2258568"/>
            <a:ext cx="246888" cy="0"/>
          </a:xfrm>
          <a:prstGeom prst="line">
            <a:avLst/>
          </a:prstGeom>
          <a:noFill/>
          <a:ln w="16510">
            <a:solidFill>
              <a:srgbClr val="5D6B7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789920" y="1901952"/>
            <a:ext cx="868680" cy="713232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9FB2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35640" y="202996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負荷側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" y="3063240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8E4E4"/>
          </a:solidFill>
          <a:ln w="12700">
            <a:solidFill>
              <a:srgbClr val="E3B5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" y="317296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B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遮断器（CB）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0664" y="3502152"/>
            <a:ext cx="3136392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・平常時：負荷電流を開閉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・事故時：故障電流を遮断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・大電流遮断時のアークを消弧する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70832" y="3063240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CE8D5"/>
          </a:solidFill>
          <a:ln w="12700">
            <a:solidFill>
              <a:srgbClr val="EBC8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17136" y="317296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78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断路器（DS）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17136" y="3502152"/>
            <a:ext cx="3136392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・保守対象を充電部から切り離す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・原則、負荷電流・故障電流は遮断しない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・励磁・充電・ループ等の小電流は設問上の例外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138160" y="3063240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B8C7D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84464" y="317296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試験での判定順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84464" y="3502152"/>
            <a:ext cx="3136392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平常／事故／保守を分ける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電流の種類を判定する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 CBかDSかを決める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④ 単線結線図で切離し箇所を追う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2648" y="5532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3B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対応：R2 一次「電力」問7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2648" y="5833872"/>
            <a:ext cx="10927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新幹線側は「受電回路 → 開閉設備 → 母線 → 変圧器 → 負荷側」という一般構成だけを使用。未確認の実設備値は置かない。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0352" y="6473952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A78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後続Topicのスコット結線・％Z・ATき電・短絡計算・保護協調・雷サージは扱わない。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386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母線結線方式：図から「信頼性 ↔ 設備量」を読む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11338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H30 二次「電力・管理」問2：選定条件・単線結線図・長短比較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3584448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B8C7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682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単母線方式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9224" y="2011680"/>
            <a:ext cx="3291840" cy="2578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回線A ─CB─┐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　　　　　├── 母線 ──CB─ TR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回線B ─CB─┘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長所：機器少・省スペース・経済的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短所：母線事故・点検時の停止範囲が大きい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97680" y="1572768"/>
            <a:ext cx="3584448" cy="3108960"/>
          </a:xfrm>
          <a:prstGeom prst="roundRect">
            <a:avLst>
              <a:gd name="adj" fmla="val 1471"/>
            </a:avLst>
          </a:prstGeom>
          <a:solidFill>
            <a:srgbClr val="DDEBF7"/>
          </a:solidFill>
          <a:ln w="12700">
            <a:solidFill>
              <a:srgbClr val="A7C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43984" y="1682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E9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複母線方式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43984" y="2011680"/>
            <a:ext cx="3291840" cy="2578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　　＝＝ 母線A ＝＝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　　　│　　　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回線 ─切替　　切替─ TR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　　　│　　　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　　＝＝ 母線B ＝＝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長所：切替・点検・運用が容易、信頼性高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短所：機器・面積・費用が増える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92440" y="1572768"/>
            <a:ext cx="3584448" cy="3108960"/>
          </a:xfrm>
          <a:prstGeom prst="roundRect">
            <a:avLst>
              <a:gd name="adj" fmla="val 1471"/>
            </a:avLst>
          </a:prstGeom>
          <a:solidFill>
            <a:srgbClr val="E4F2ED"/>
          </a:solidFill>
          <a:ln w="12700">
            <a:solidFill>
              <a:srgbClr val="B7D5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38744" y="1682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7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ユニット方式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38744" y="2011680"/>
            <a:ext cx="3291840" cy="2578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送電線A ─ 開閉機器 ─ TR-A ─ 負荷A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送電線B ─ 開閉機器 ─ TR-B ─ 負荷B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共通母線への依存を小さくし、線路と変圧器を単位として読む。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5010912"/>
            <a:ext cx="11173968" cy="1115568"/>
          </a:xfrm>
          <a:prstGeom prst="roundRect">
            <a:avLst/>
          </a:prstGeom>
          <a:solidFill>
            <a:srgbClr val="F0F3F6"/>
          </a:solidFill>
          <a:ln w="12700">
            <a:solidFill>
              <a:srgbClr val="CBD4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51846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二次答案の型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93392" y="5120640"/>
            <a:ext cx="9281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選定条件＝「供給信頼性」「運用・保守性」「増設・変更への適応性」「設備量・面積・経済性」から要求個数だけ分けて書く。長所・短所は結線構成との因果まで示す。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" y="6473952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A78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比較軸を混ぜず、単母線＝設備少／停止範囲大、複母線＝設備多／切替しやすい、の対で整理する。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386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変圧器損失：無負荷損と負荷損を分ける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11338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H28 一次「電力」問3：損失の分類・漏れ磁束・付加損低減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591056"/>
            <a:ext cx="3657600" cy="123444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B8C7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874520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23B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P_loss = P_0 + P_L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96112" y="230428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総損失 ＝ 無負荷損 ＋ 負荷損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3090672"/>
            <a:ext cx="365760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6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320040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B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巻線抵抗損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0664" y="3529584"/>
            <a:ext cx="3364992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P_cu = I²R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電流が2倍なら、R一定の近似では抵抗損は4倍。一次・二次を問わず I² を落とさない。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1591056"/>
            <a:ext cx="3310128" cy="3602736"/>
          </a:xfrm>
          <a:prstGeom prst="roundRect">
            <a:avLst>
              <a:gd name="adj" fmla="val 1381"/>
            </a:avLst>
          </a:prstGeom>
          <a:solidFill>
            <a:srgbClr val="FCE8D5"/>
          </a:solidFill>
          <a:ln w="12700">
            <a:solidFill>
              <a:srgbClr val="EBC8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1700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78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漂遊負荷損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72584" y="2029968"/>
            <a:ext cx="3017520" cy="3072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漏れ磁束が巻線・タンク・構造部材へ鎖交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↓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渦電流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↓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付加損＋局部過熱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P_L = P_cu + P_stray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「測定される負荷損＝I²Rだけ」ではない。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19872" y="1591056"/>
            <a:ext cx="3474720" cy="3602736"/>
          </a:xfrm>
          <a:prstGeom prst="roundRect">
            <a:avLst>
              <a:gd name="adj" fmla="val 1316"/>
            </a:avLst>
          </a:prstGeom>
          <a:solidFill>
            <a:srgbClr val="E4F2ED"/>
          </a:solidFill>
          <a:ln w="12700">
            <a:solidFill>
              <a:srgbClr val="B7D5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70078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7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損失低減の考え方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66176" y="2029968"/>
            <a:ext cx="3182112" cy="3072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・導体を絶縁素線へ細分化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・転位で各素線の磁気条件を平均化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・磁気／導電性シールドでタンクへの漏れ磁束を抑える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高インピーダンス器と漂遊負荷損の関係は固定過去問知識として扱い、％Z計算へは進まない。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" y="5522976"/>
            <a:ext cx="10881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例題条件（教材用仮定値）：無負荷損80 kW、定格時負荷損320 kW、電流75% → 80 + 320×0.75² = 260 kW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530352" y="6473952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A78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「負荷損が電流比の2乗に比例する」は例題条件。漂遊負荷損まで常に厳密な二乗則と一般化しない。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386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大容量主変圧器：構造上の判断を因果でつなぐ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11338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H21 一次「電力」問1：大電流・漏れ磁束・結線・輸送条件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2487168" cy="349300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BCC9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1755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低圧側大電流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0664" y="2084832"/>
            <a:ext cx="2194560" cy="296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同じ容量なら低電圧側ほど電流が大きい。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大電流 → 強い磁界 → 構造部材への影響を考える。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1645920"/>
            <a:ext cx="2487168" cy="3493008"/>
          </a:xfrm>
          <a:prstGeom prst="roundRect">
            <a:avLst>
              <a:gd name="adj" fmla="val 1838"/>
            </a:avLst>
          </a:prstGeom>
          <a:solidFill>
            <a:srgbClr val="EEF4F8"/>
          </a:solidFill>
          <a:ln w="12700">
            <a:solidFill>
              <a:srgbClr val="BCC9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75304" y="1755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漏れ磁束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75304" y="2084832"/>
            <a:ext cx="2194560" cy="296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巻線・リード周辺の漏れ磁束が構造部材へ鎖交。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渦電流 → 局部過熱の原因。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2487168" cy="349300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BCC9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755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7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一般三相結線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9944" y="2084832"/>
            <a:ext cx="2194560" cy="296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固定過去問では低圧側Δ・高圧側Yを識別。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Δ側は第3次高調波を内部循環させられる。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スコット結線へは拡張しない。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98280" y="1645920"/>
            <a:ext cx="2487168" cy="3493008"/>
          </a:xfrm>
          <a:prstGeom prst="roundRect">
            <a:avLst>
              <a:gd name="adj" fmla="val 1838"/>
            </a:avLst>
          </a:prstGeom>
          <a:solidFill>
            <a:srgbClr val="EEF4F8"/>
          </a:solidFill>
          <a:ln w="12700">
            <a:solidFill>
              <a:srgbClr val="BCC9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44584" y="1755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7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輸送条件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44584" y="2084832"/>
            <a:ext cx="2194560" cy="296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海上輸送等で重量・寸法制約が比較的小さいという設問条件から三相器を判断。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全大容量器へ一般化しない。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5440680"/>
            <a:ext cx="10835640" cy="658368"/>
          </a:xfrm>
          <a:prstGeom prst="roundRect">
            <a:avLst/>
          </a:prstGeom>
          <a:solidFill>
            <a:srgbClr val="F0F3F6"/>
          </a:solidFill>
          <a:ln w="12700">
            <a:solidFill>
              <a:srgbClr val="CBD4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632704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解法キー：構造問題は「大電流 → 漏れ磁束／電磁力 → 損失・局部過熱」「設問条件 → 結線・構成判断」の因果で読む。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530352" y="6473952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A78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H21の一般三相主変圧器知識から、鉄道用三相→単相変換方式へ範囲を広げない。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386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変圧器騒音＋過去問5問の解法マップ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11338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H22 一次「電力」問2 ＋ Topic 06固定EXAM_ALIGNMENT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572768"/>
            <a:ext cx="3401568" cy="2999232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C6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682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騒音・振動の発生源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6656" y="2011680"/>
            <a:ext cx="310896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・鉄心：磁気ひずみ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・鉄心接合部・成層間：磁気吸引力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・巻線：電磁力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・強制冷却：ポンプ／ファンの機械振動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4736592"/>
            <a:ext cx="3401568" cy="1207008"/>
          </a:xfrm>
          <a:prstGeom prst="roundRect">
            <a:avLst>
              <a:gd name="adj" fmla="val 3788"/>
            </a:avLst>
          </a:prstGeom>
          <a:solidFill>
            <a:srgbClr val="FCE8D5"/>
          </a:solidFill>
          <a:ln w="12700">
            <a:solidFill>
              <a:srgbClr val="EBC8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4846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78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低騒音化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" y="5175504"/>
            <a:ext cx="31089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材料改善／磁束密度低減／防音構造。H22の「約10%」は当該設問条件であり、現行全機種の一般値にしない。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24528" y="1572768"/>
            <a:ext cx="740664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7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7830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固定5過去問 → 見るべき論点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62272" y="2267712"/>
            <a:ext cx="6903720" cy="585216"/>
          </a:xfrm>
          <a:prstGeom prst="rect">
            <a:avLst/>
          </a:prstGeom>
          <a:solidFill>
            <a:srgbClr val="F5F8FA"/>
          </a:solidFill>
          <a:ln w="7620">
            <a:solidFill>
              <a:srgbClr val="D7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23591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R2 一次 問7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16752" y="2359152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CB / DS・開閉対象電流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8942832" y="235915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D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変電所・遮断器・母線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462272" y="2916936"/>
            <a:ext cx="69037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30083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H30 二次 問2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16752" y="3008376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母線方式・単線結線図・長短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8942832" y="30083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D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変電所・母線・単線結線図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462272" y="3566160"/>
            <a:ext cx="6903720" cy="585216"/>
          </a:xfrm>
          <a:prstGeom prst="rect">
            <a:avLst/>
          </a:prstGeom>
          <a:solidFill>
            <a:srgbClr val="F5F8FA"/>
          </a:solidFill>
          <a:ln w="7620">
            <a:solidFill>
              <a:srgbClr val="D7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36576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H28 一次 問3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16752" y="365760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無負荷損・負荷損・漂遊負荷損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8942832" y="36576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D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変圧器・損失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462272" y="4215384"/>
            <a:ext cx="69037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430682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H22 一次 問2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16752" y="4306824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鉄心・巻線・補機の騒音源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8942832" y="430682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D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変圧器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462272" y="4864608"/>
            <a:ext cx="6903720" cy="585216"/>
          </a:xfrm>
          <a:prstGeom prst="rect">
            <a:avLst/>
          </a:prstGeom>
          <a:solidFill>
            <a:srgbClr val="F5F8FA"/>
          </a:solidFill>
          <a:ln w="7620">
            <a:solidFill>
              <a:srgbClr val="D7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0288" y="495604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H21 一次 問1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16752" y="4956048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D2A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大電流・漏れ磁束・結線・輸送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8942832" y="49560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D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変圧器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498848" y="5614416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E7D7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このPowerPointは固定5問の解法経路を図解する補助成果物。完成判定は、全成果物完成後の独立再解答で行う。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530352" y="6473952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A78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未確認実設備値・後続Topic論点は追加していない。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386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cureflash/homepage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275kVを受ける新幹線変電所の中身</dc:title>
  <dc:subject>電験二種 電力 Topic 06 変電所</dc:subject>
  <dc:creator>OpenAI</dc:creator>
  <cp:lastModifiedBy>OpenAI</cp:lastModifiedBy>
  <cp:revision>1</cp:revision>
  <dcterms:created xsi:type="dcterms:W3CDTF">2026-09-15T04:33:07Z</dcterms:created>
  <dcterms:modified xsi:type="dcterms:W3CDTF">2026-09-15T04:33:07Z</dcterms:modified>
</cp:coreProperties>
</file>