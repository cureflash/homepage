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4472C4" accent2="ED7D31" accent3="A5A5A5" accent4="FFC000" accent5="5B9BD5" accent6="70AD47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05740"/>
            <a:ext cx="11277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Yu Gothic"/>
                <a:ea typeface="Yu Gothic"/>
              </a:rPr>
              <a:t>距離が伸びるとパンタグラフ電圧は下がる</a:t>
            </a:r>
            <a:endParaRPr lang="ja-JP" sz="2600"/>
          </a:p>
        </p:txBody>
      </p:sp>
      <p:sp>
        <p:nvSpPr>
          <p:cNvPr id="3" name="Subtitle"/>
          <p:cNvSpPr txBox="1"/>
          <p:nvPr/>
        </p:nvSpPr>
        <p:spPr>
          <a:xfrm>
            <a:off x="457200" y="800100"/>
            <a:ext cx="11277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1300" b="0">
                <a:solidFill>
                  <a:srgbClr val="475569"/>
                </a:solidFill>
                <a:latin typeface="Yu Gothic"/>
                <a:ea typeface="Yu Gothic"/>
              </a:rPr>
              <a:t>静的な単一負荷比較／教材用仮定値（実設備値ではない）</a:t>
            </a:r>
            <a:endParaRPr lang="ja-JP" sz="1300"/>
          </a:p>
        </p:txBody>
      </p:sp>
      <p:sp>
        <p:nvSpPr>
          <p:cNvPr id="4" name="assumptions"/>
          <p:cNvSpPr txBox="1"/>
          <p:nvPr/>
        </p:nvSpPr>
        <p:spPr>
          <a:xfrm>
            <a:off x="457200" y="1234440"/>
            <a:ext cx="4850000" cy="57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l"/>
            <a:r>
              <a:rPr lang="ja-JP" sz="1450" b="0">
                <a:solidFill>
                  <a:srgbClr val="334155"/>
                </a:solidFill>
                <a:latin typeface="Yu Gothic"/>
                <a:ea typeface="Yu Gothic"/>
              </a:rPr>
              <a:t>z'=0.08+j0.12 Ω/km   I=300 A   cosφ=0.80（遅れ）   Vs=25.0 kV</a:t>
            </a:r>
            <a:endParaRPr lang="ja-JP" sz="1450"/>
          </a:p>
        </p:txBody>
      </p:sp>
      <p:sp>
        <p:nvSpPr>
          <p:cNvPr id="5" name="xaxis"/>
          <p:cNvSpPr/>
          <p:nvPr/>
        </p:nvSpPr>
        <p:spPr>
          <a:xfrm flipH="0" flipV="0">
            <a:off x="914400" y="5460000"/>
            <a:ext cx="4572000" cy="1"/>
          </a:xfrm>
          <a:prstGeom prst="line">
            <a:avLst/>
          </a:prstGeom>
          <a:ln w="19050">
            <a:solidFill>
              <a:srgbClr val="475569"/>
            </a:solidFill>
            <a:tailEnd type="triangle"/>
          </a:ln>
        </p:spPr>
      </p:sp>
      <p:sp>
        <p:nvSpPr>
          <p:cNvPr id="6" name="yaxis"/>
          <p:cNvSpPr/>
          <p:nvPr/>
        </p:nvSpPr>
        <p:spPr>
          <a:xfrm flipH="0" flipV="1">
            <a:off x="914400" y="1900000"/>
            <a:ext cx="1" cy="3560000"/>
          </a:xfrm>
          <a:prstGeom prst="line">
            <a:avLst/>
          </a:prstGeom>
          <a:ln w="19050">
            <a:solidFill>
              <a:srgbClr val="475569"/>
            </a:solidFill>
            <a:tailEnd type="triangle"/>
          </a:ln>
        </p:spPr>
      </p:sp>
      <p:sp>
        <p:nvSpPr>
          <p:cNvPr id="20" name="pt"/>
          <p:cNvSpPr/>
          <p:nvPr/>
        </p:nvSpPr>
        <p:spPr>
          <a:xfrm>
            <a:off x="854400" y="1840000"/>
            <a:ext cx="120000" cy="1200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</p:sp>
      <p:sp>
        <p:nvSpPr>
          <p:cNvPr id="30" name="xlab"/>
          <p:cNvSpPr txBox="1"/>
          <p:nvPr/>
        </p:nvSpPr>
        <p:spPr>
          <a:xfrm>
            <a:off x="694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0</a:t>
            </a:r>
            <a:endParaRPr lang="ja-JP" sz="1150"/>
          </a:p>
        </p:txBody>
      </p:sp>
      <p:sp>
        <p:nvSpPr>
          <p:cNvPr id="21" name="pt"/>
          <p:cNvSpPr/>
          <p:nvPr/>
        </p:nvSpPr>
        <p:spPr>
          <a:xfrm>
            <a:off x="1997400" y="2646934"/>
            <a:ext cx="120000" cy="1200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</p:sp>
      <p:sp>
        <p:nvSpPr>
          <p:cNvPr id="31" name="xlab"/>
          <p:cNvSpPr txBox="1"/>
          <p:nvPr/>
        </p:nvSpPr>
        <p:spPr>
          <a:xfrm>
            <a:off x="1837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5</a:t>
            </a:r>
            <a:endParaRPr lang="ja-JP" sz="1150"/>
          </a:p>
        </p:txBody>
      </p:sp>
      <p:sp>
        <p:nvSpPr>
          <p:cNvPr id="22" name="pt"/>
          <p:cNvSpPr/>
          <p:nvPr/>
        </p:nvSpPr>
        <p:spPr>
          <a:xfrm>
            <a:off x="3140400" y="3453867"/>
            <a:ext cx="120000" cy="1200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</p:sp>
      <p:sp>
        <p:nvSpPr>
          <p:cNvPr id="32" name="xlab"/>
          <p:cNvSpPr txBox="1"/>
          <p:nvPr/>
        </p:nvSpPr>
        <p:spPr>
          <a:xfrm>
            <a:off x="2980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10</a:t>
            </a:r>
            <a:endParaRPr lang="ja-JP" sz="1150"/>
          </a:p>
        </p:txBody>
      </p:sp>
      <p:sp>
        <p:nvSpPr>
          <p:cNvPr id="23" name="pt"/>
          <p:cNvSpPr/>
          <p:nvPr/>
        </p:nvSpPr>
        <p:spPr>
          <a:xfrm>
            <a:off x="4283400" y="4260800"/>
            <a:ext cx="120000" cy="1200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</p:sp>
      <p:sp>
        <p:nvSpPr>
          <p:cNvPr id="33" name="xlab"/>
          <p:cNvSpPr txBox="1"/>
          <p:nvPr/>
        </p:nvSpPr>
        <p:spPr>
          <a:xfrm>
            <a:off x="4123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15</a:t>
            </a:r>
            <a:endParaRPr lang="ja-JP" sz="1150"/>
          </a:p>
        </p:txBody>
      </p:sp>
      <p:sp>
        <p:nvSpPr>
          <p:cNvPr id="24" name="pt"/>
          <p:cNvSpPr/>
          <p:nvPr/>
        </p:nvSpPr>
        <p:spPr>
          <a:xfrm>
            <a:off x="5426400" y="5067734"/>
            <a:ext cx="120000" cy="1200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</p:sp>
      <p:sp>
        <p:nvSpPr>
          <p:cNvPr id="34" name="xlab"/>
          <p:cNvSpPr txBox="1"/>
          <p:nvPr/>
        </p:nvSpPr>
        <p:spPr>
          <a:xfrm>
            <a:off x="5266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20</a:t>
            </a:r>
            <a:endParaRPr lang="ja-JP" sz="1150"/>
          </a:p>
        </p:txBody>
      </p:sp>
      <p:sp>
        <p:nvSpPr>
          <p:cNvPr id="50" name="curve"/>
          <p:cNvSpPr/>
          <p:nvPr/>
        </p:nvSpPr>
        <p:spPr>
          <a:xfrm flipH="0" flipV="0">
            <a:off x="914400" y="1900000"/>
            <a:ext cx="1143000" cy="806934"/>
          </a:xfrm>
          <a:prstGeom prst="line">
            <a:avLst/>
          </a:prstGeom>
          <a:ln w="26000">
            <a:solidFill>
              <a:srgbClr val="2563EB"/>
            </a:solidFill>
          </a:ln>
        </p:spPr>
      </p:sp>
      <p:sp>
        <p:nvSpPr>
          <p:cNvPr id="51" name="curve"/>
          <p:cNvSpPr/>
          <p:nvPr/>
        </p:nvSpPr>
        <p:spPr>
          <a:xfrm flipH="0" flipV="0">
            <a:off x="2057400" y="2706934"/>
            <a:ext cx="1143000" cy="806933"/>
          </a:xfrm>
          <a:prstGeom prst="line">
            <a:avLst/>
          </a:prstGeom>
          <a:ln w="26000">
            <a:solidFill>
              <a:srgbClr val="2563EB"/>
            </a:solidFill>
          </a:ln>
        </p:spPr>
      </p:sp>
      <p:sp>
        <p:nvSpPr>
          <p:cNvPr id="52" name="curve"/>
          <p:cNvSpPr/>
          <p:nvPr/>
        </p:nvSpPr>
        <p:spPr>
          <a:xfrm flipH="0" flipV="0">
            <a:off x="3200400" y="3513867"/>
            <a:ext cx="1143000" cy="806933"/>
          </a:xfrm>
          <a:prstGeom prst="line">
            <a:avLst/>
          </a:prstGeom>
          <a:ln w="26000">
            <a:solidFill>
              <a:srgbClr val="2563EB"/>
            </a:solidFill>
          </a:ln>
        </p:spPr>
      </p:sp>
      <p:sp>
        <p:nvSpPr>
          <p:cNvPr id="53" name="curve"/>
          <p:cNvSpPr/>
          <p:nvPr/>
        </p:nvSpPr>
        <p:spPr>
          <a:xfrm flipH="0" flipV="0">
            <a:off x="4343400" y="4320800"/>
            <a:ext cx="1143000" cy="806934"/>
          </a:xfrm>
          <a:prstGeom prst="line">
            <a:avLst/>
          </a:prstGeom>
          <a:ln w="26000">
            <a:solidFill>
              <a:srgbClr val="2563EB"/>
            </a:solidFill>
          </a:ln>
        </p:spPr>
      </p:sp>
      <p:sp>
        <p:nvSpPr>
          <p:cNvPr id="60" name="ylab"/>
          <p:cNvSpPr txBox="1"/>
          <p:nvPr/>
        </p:nvSpPr>
        <p:spPr>
          <a:xfrm>
            <a:off x="250000" y="1900000"/>
            <a:ext cx="6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1">
                <a:solidFill>
                  <a:srgbClr val="475569"/>
                </a:solidFill>
                <a:latin typeface="Yu Gothic"/>
                <a:ea typeface="Yu Gothic"/>
              </a:rPr>
              <a:t>電圧</a:t>
            </a:r>
            <a:endParaRPr lang="ja-JP" sz="1150"/>
          </a:p>
          <a:p>
            <a:pPr algn="ctr"/>
            <a:r>
              <a:rPr lang="ja-JP" sz="1150" b="1">
                <a:solidFill>
                  <a:srgbClr val="475569"/>
                </a:solidFill>
                <a:latin typeface="Yu Gothic"/>
                <a:ea typeface="Yu Gothic"/>
              </a:rPr>
              <a:t>[kV]</a:t>
            </a:r>
            <a:endParaRPr lang="ja-JP" sz="1150"/>
          </a:p>
        </p:txBody>
      </p:sp>
      <p:sp>
        <p:nvSpPr>
          <p:cNvPr id="61" name="xlabel"/>
          <p:cNvSpPr txBox="1"/>
          <p:nvPr/>
        </p:nvSpPr>
        <p:spPr>
          <a:xfrm>
            <a:off x="2350000" y="5740000"/>
            <a:ext cx="2000000" cy="3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250" b="1">
                <a:solidFill>
                  <a:srgbClr val="475569"/>
                </a:solidFill>
                <a:latin typeface="Yu Gothic"/>
                <a:ea typeface="Yu Gothic"/>
              </a:rPr>
              <a:t>距離 l [km]</a:t>
            </a:r>
            <a:endParaRPr lang="ja-JP" sz="1250"/>
          </a:p>
        </p:txBody>
      </p:sp>
      <p:sp>
        <p:nvSpPr>
          <p:cNvPr id="70" name="formula"/>
          <p:cNvSpPr txBox="1"/>
          <p:nvPr/>
        </p:nvSpPr>
        <p:spPr>
          <a:xfrm>
            <a:off x="5900000" y="1500000"/>
            <a:ext cx="5600000" cy="820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mid"/>
          <a:lstStyle/>
          <a:p>
            <a:pPr algn="ctr"/>
            <a:r>
              <a:rPr lang="ja-JP" sz="2100" b="1">
                <a:solidFill>
                  <a:srgbClr val="0F172A"/>
                </a:solidFill>
                <a:latin typeface="Yu Gothic"/>
                <a:ea typeface="Yu Gothic"/>
              </a:rPr>
              <a:t>ΔV ≈ I·l·(r′cosφ + x′sinφ)</a:t>
            </a:r>
            <a:endParaRPr lang="ja-JP" sz="2100"/>
          </a:p>
          <a:p>
            <a:pPr algn="ctr"/>
            <a:r>
              <a:rPr lang="ja-JP" sz="2100" b="1">
                <a:solidFill>
                  <a:srgbClr val="0F172A"/>
                </a:solidFill>
                <a:latin typeface="Yu Gothic"/>
                <a:ea typeface="Yu Gothic"/>
              </a:rPr>
              <a:t>20 km → ΔV ≈ 0.816 kV</a:t>
            </a:r>
            <a:endParaRPr lang="ja-JP" sz="2100"/>
          </a:p>
        </p:txBody>
      </p:sp>
      <p:sp>
        <p:nvSpPr>
          <p:cNvPr id="71" name="takeaway"/>
          <p:cNvSpPr txBox="1"/>
          <p:nvPr/>
        </p:nvSpPr>
        <p:spPr>
          <a:xfrm>
            <a:off x="5900000" y="2600000"/>
            <a:ext cx="5600000" cy="115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l"/>
            <a:r>
              <a:rPr lang="ja-JP" sz="1850" b="0">
                <a:solidFill>
                  <a:srgbClr val="1E293B"/>
                </a:solidFill>
                <a:latin typeface="Yu Gothic"/>
                <a:ea typeface="Yu Gothic"/>
              </a:rPr>
              <a:t>距離が長いほど直列インピーダンスが増え、</a:t>
            </a:r>
            <a:endParaRPr lang="ja-JP" sz="1850"/>
          </a:p>
          <a:p>
            <a:pPr algn="l"/>
            <a:r>
              <a:rPr lang="ja-JP" sz="1850" b="0">
                <a:solidFill>
                  <a:srgbClr val="1E293B"/>
                </a:solidFill>
                <a:latin typeface="Yu Gothic"/>
                <a:ea typeface="Yu Gothic"/>
              </a:rPr>
              <a:t>同じ電流なら負荷点の電圧を維持しにくい。</a:t>
            </a:r>
            <a:endParaRPr lang="ja-JP" sz="1850"/>
          </a:p>
        </p:txBody>
      </p:sp>
      <p:sp>
        <p:nvSpPr>
          <p:cNvPr id="72" name="scope"/>
          <p:cNvSpPr txBox="1"/>
          <p:nvPr/>
        </p:nvSpPr>
        <p:spPr>
          <a:xfrm>
            <a:off x="5900000" y="4100000"/>
            <a:ext cx="5600000" cy="950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anchor="mid"/>
          <a:lstStyle/>
          <a:p>
            <a:pPr algn="l"/>
            <a:r>
              <a:rPr lang="ja-JP" sz="1450" b="0">
                <a:solidFill>
                  <a:srgbClr val="7C2D12"/>
                </a:solidFill>
                <a:latin typeface="Yu Gothic"/>
                <a:ea typeface="Yu Gothic"/>
              </a:rPr>
              <a:t>ここでは距離をパラメータにした静的比較だけを扱う。</a:t>
            </a:r>
            <a:endParaRPr lang="ja-JP" sz="1450"/>
          </a:p>
          <a:p>
            <a:pPr algn="l"/>
            <a:r>
              <a:rPr lang="ja-JP" sz="1450" b="0">
                <a:solidFill>
                  <a:srgbClr val="7C2D12"/>
                </a:solidFill>
                <a:latin typeface="Yu Gothic"/>
                <a:ea typeface="Yu Gothic"/>
              </a:rPr>
              <a:t>列車位置を時間変化させる解析は Topic 11。</a:t>
            </a:r>
            <a:endParaRPr lang="ja-JP" sz="14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05740"/>
            <a:ext cx="11277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Yu Gothic"/>
                <a:ea typeface="Yu Gothic"/>
              </a:rPr>
              <a:t>距離が伸びると抵抗損失も増える</a:t>
            </a:r>
            <a:endParaRPr lang="ja-JP" sz="2600"/>
          </a:p>
        </p:txBody>
      </p:sp>
      <p:sp>
        <p:nvSpPr>
          <p:cNvPr id="3" name="Subtitle"/>
          <p:cNvSpPr txBox="1"/>
          <p:nvPr/>
        </p:nvSpPr>
        <p:spPr>
          <a:xfrm>
            <a:off x="457200" y="800100"/>
            <a:ext cx="11277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1300" b="0">
                <a:solidFill>
                  <a:srgbClr val="475569"/>
                </a:solidFill>
                <a:latin typeface="Yu Gothic"/>
                <a:ea typeface="Yu Gothic"/>
              </a:rPr>
              <a:t>同一電流・単相等価回路での距離比較</a:t>
            </a:r>
            <a:endParaRPr lang="ja-JP" sz="1300"/>
          </a:p>
        </p:txBody>
      </p:sp>
      <p:sp>
        <p:nvSpPr>
          <p:cNvPr id="4" name="formula"/>
          <p:cNvSpPr txBox="1"/>
          <p:nvPr/>
        </p:nvSpPr>
        <p:spPr>
          <a:xfrm>
            <a:off x="457200" y="1234440"/>
            <a:ext cx="4850000" cy="57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l"/>
            <a:r>
              <a:rPr lang="ja-JP" sz="1600" b="1">
                <a:solidFill>
                  <a:srgbClr val="334155"/>
                </a:solidFill>
                <a:latin typeface="Yu Gothic"/>
                <a:ea typeface="Yu Gothic"/>
              </a:rPr>
              <a:t>P_loss = I² r′ l   （I=300 A, r′=0.08 Ω/km）</a:t>
            </a:r>
            <a:endParaRPr lang="ja-JP" sz="1600"/>
          </a:p>
        </p:txBody>
      </p:sp>
      <p:sp>
        <p:nvSpPr>
          <p:cNvPr id="5" name="xaxis"/>
          <p:cNvSpPr/>
          <p:nvPr/>
        </p:nvSpPr>
        <p:spPr>
          <a:xfrm flipH="0" flipV="0">
            <a:off x="914400" y="5460000"/>
            <a:ext cx="4572000" cy="1"/>
          </a:xfrm>
          <a:prstGeom prst="line">
            <a:avLst/>
          </a:prstGeom>
          <a:ln w="19050">
            <a:solidFill>
              <a:srgbClr val="475569"/>
            </a:solidFill>
            <a:tailEnd type="triangle"/>
          </a:ln>
        </p:spPr>
      </p:sp>
      <p:sp>
        <p:nvSpPr>
          <p:cNvPr id="6" name="yaxis"/>
          <p:cNvSpPr/>
          <p:nvPr/>
        </p:nvSpPr>
        <p:spPr>
          <a:xfrm flipH="0" flipV="1">
            <a:off x="914400" y="1900000"/>
            <a:ext cx="1" cy="3560000"/>
          </a:xfrm>
          <a:prstGeom prst="line">
            <a:avLst/>
          </a:prstGeom>
          <a:ln w="19050">
            <a:solidFill>
              <a:srgbClr val="475569"/>
            </a:solidFill>
            <a:tailEnd type="triangle"/>
          </a:ln>
        </p:spPr>
      </p:sp>
      <p:sp>
        <p:nvSpPr>
          <p:cNvPr id="20" name="pt"/>
          <p:cNvSpPr/>
          <p:nvPr/>
        </p:nvSpPr>
        <p:spPr>
          <a:xfrm>
            <a:off x="854400" y="5400000"/>
            <a:ext cx="120000" cy="1200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</p:sp>
      <p:sp>
        <p:nvSpPr>
          <p:cNvPr id="30" name="xlab"/>
          <p:cNvSpPr txBox="1"/>
          <p:nvPr/>
        </p:nvSpPr>
        <p:spPr>
          <a:xfrm>
            <a:off x="694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0</a:t>
            </a:r>
            <a:endParaRPr lang="ja-JP" sz="1150"/>
          </a:p>
        </p:txBody>
      </p:sp>
      <p:sp>
        <p:nvSpPr>
          <p:cNvPr id="21" name="pt"/>
          <p:cNvSpPr/>
          <p:nvPr/>
        </p:nvSpPr>
        <p:spPr>
          <a:xfrm>
            <a:off x="1997400" y="4599000"/>
            <a:ext cx="120000" cy="1200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</p:sp>
      <p:sp>
        <p:nvSpPr>
          <p:cNvPr id="31" name="xlab"/>
          <p:cNvSpPr txBox="1"/>
          <p:nvPr/>
        </p:nvSpPr>
        <p:spPr>
          <a:xfrm>
            <a:off x="1837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5</a:t>
            </a:r>
            <a:endParaRPr lang="ja-JP" sz="1150"/>
          </a:p>
        </p:txBody>
      </p:sp>
      <p:sp>
        <p:nvSpPr>
          <p:cNvPr id="22" name="pt"/>
          <p:cNvSpPr/>
          <p:nvPr/>
        </p:nvSpPr>
        <p:spPr>
          <a:xfrm>
            <a:off x="3140400" y="3798000"/>
            <a:ext cx="120000" cy="1200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</p:sp>
      <p:sp>
        <p:nvSpPr>
          <p:cNvPr id="32" name="xlab"/>
          <p:cNvSpPr txBox="1"/>
          <p:nvPr/>
        </p:nvSpPr>
        <p:spPr>
          <a:xfrm>
            <a:off x="2980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10</a:t>
            </a:r>
            <a:endParaRPr lang="ja-JP" sz="1150"/>
          </a:p>
        </p:txBody>
      </p:sp>
      <p:sp>
        <p:nvSpPr>
          <p:cNvPr id="23" name="pt"/>
          <p:cNvSpPr/>
          <p:nvPr/>
        </p:nvSpPr>
        <p:spPr>
          <a:xfrm>
            <a:off x="4283400" y="2997000"/>
            <a:ext cx="120000" cy="1200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</p:sp>
      <p:sp>
        <p:nvSpPr>
          <p:cNvPr id="33" name="xlab"/>
          <p:cNvSpPr txBox="1"/>
          <p:nvPr/>
        </p:nvSpPr>
        <p:spPr>
          <a:xfrm>
            <a:off x="4123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15</a:t>
            </a:r>
            <a:endParaRPr lang="ja-JP" sz="1150"/>
          </a:p>
        </p:txBody>
      </p:sp>
      <p:sp>
        <p:nvSpPr>
          <p:cNvPr id="24" name="pt"/>
          <p:cNvSpPr/>
          <p:nvPr/>
        </p:nvSpPr>
        <p:spPr>
          <a:xfrm>
            <a:off x="5426400" y="2196000"/>
            <a:ext cx="120000" cy="1200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</p:sp>
      <p:sp>
        <p:nvSpPr>
          <p:cNvPr id="34" name="xlab"/>
          <p:cNvSpPr txBox="1"/>
          <p:nvPr/>
        </p:nvSpPr>
        <p:spPr>
          <a:xfrm>
            <a:off x="5266400" y="5520000"/>
            <a:ext cx="440000" cy="26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0">
                <a:solidFill>
                  <a:srgbClr val="475569"/>
                </a:solidFill>
                <a:latin typeface="Yu Gothic"/>
                <a:ea typeface="Yu Gothic"/>
              </a:rPr>
              <a:t>20</a:t>
            </a:r>
            <a:endParaRPr lang="ja-JP" sz="1150"/>
          </a:p>
        </p:txBody>
      </p:sp>
      <p:sp>
        <p:nvSpPr>
          <p:cNvPr id="50" name="curve"/>
          <p:cNvSpPr/>
          <p:nvPr/>
        </p:nvSpPr>
        <p:spPr>
          <a:xfrm flipH="0" flipV="1">
            <a:off x="914400" y="4659000"/>
            <a:ext cx="1143000" cy="801000"/>
          </a:xfrm>
          <a:prstGeom prst="line">
            <a:avLst/>
          </a:prstGeom>
          <a:ln w="26000">
            <a:solidFill>
              <a:srgbClr val="DC2626"/>
            </a:solidFill>
          </a:ln>
        </p:spPr>
      </p:sp>
      <p:sp>
        <p:nvSpPr>
          <p:cNvPr id="51" name="curve"/>
          <p:cNvSpPr/>
          <p:nvPr/>
        </p:nvSpPr>
        <p:spPr>
          <a:xfrm flipH="0" flipV="1">
            <a:off x="2057400" y="3858000"/>
            <a:ext cx="1143000" cy="801000"/>
          </a:xfrm>
          <a:prstGeom prst="line">
            <a:avLst/>
          </a:prstGeom>
          <a:ln w="26000">
            <a:solidFill>
              <a:srgbClr val="DC2626"/>
            </a:solidFill>
          </a:ln>
        </p:spPr>
      </p:sp>
      <p:sp>
        <p:nvSpPr>
          <p:cNvPr id="52" name="curve"/>
          <p:cNvSpPr/>
          <p:nvPr/>
        </p:nvSpPr>
        <p:spPr>
          <a:xfrm flipH="0" flipV="1">
            <a:off x="3200400" y="3057000"/>
            <a:ext cx="1143000" cy="801000"/>
          </a:xfrm>
          <a:prstGeom prst="line">
            <a:avLst/>
          </a:prstGeom>
          <a:ln w="26000">
            <a:solidFill>
              <a:srgbClr val="DC2626"/>
            </a:solidFill>
          </a:ln>
        </p:spPr>
      </p:sp>
      <p:sp>
        <p:nvSpPr>
          <p:cNvPr id="53" name="curve"/>
          <p:cNvSpPr/>
          <p:nvPr/>
        </p:nvSpPr>
        <p:spPr>
          <a:xfrm flipH="0" flipV="1">
            <a:off x="4343400" y="2256000"/>
            <a:ext cx="1143000" cy="801000"/>
          </a:xfrm>
          <a:prstGeom prst="line">
            <a:avLst/>
          </a:prstGeom>
          <a:ln w="26000">
            <a:solidFill>
              <a:srgbClr val="DC2626"/>
            </a:solidFill>
          </a:ln>
        </p:spPr>
      </p:sp>
      <p:sp>
        <p:nvSpPr>
          <p:cNvPr id="60" name="ylab"/>
          <p:cNvSpPr txBox="1"/>
          <p:nvPr/>
        </p:nvSpPr>
        <p:spPr>
          <a:xfrm>
            <a:off x="250000" y="1900000"/>
            <a:ext cx="6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150" b="1">
                <a:solidFill>
                  <a:srgbClr val="475569"/>
                </a:solidFill>
                <a:latin typeface="Yu Gothic"/>
                <a:ea typeface="Yu Gothic"/>
              </a:rPr>
              <a:t>損失</a:t>
            </a:r>
            <a:endParaRPr lang="ja-JP" sz="1150"/>
          </a:p>
          <a:p>
            <a:pPr algn="ctr"/>
            <a:r>
              <a:rPr lang="ja-JP" sz="1150" b="1">
                <a:solidFill>
                  <a:srgbClr val="475569"/>
                </a:solidFill>
                <a:latin typeface="Yu Gothic"/>
                <a:ea typeface="Yu Gothic"/>
              </a:rPr>
              <a:t>[kW]</a:t>
            </a:r>
            <a:endParaRPr lang="ja-JP" sz="1150"/>
          </a:p>
        </p:txBody>
      </p:sp>
      <p:sp>
        <p:nvSpPr>
          <p:cNvPr id="61" name="xlabel"/>
          <p:cNvSpPr txBox="1"/>
          <p:nvPr/>
        </p:nvSpPr>
        <p:spPr>
          <a:xfrm>
            <a:off x="2350000" y="5740000"/>
            <a:ext cx="2000000" cy="32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250" b="1">
                <a:solidFill>
                  <a:srgbClr val="475569"/>
                </a:solidFill>
                <a:latin typeface="Yu Gothic"/>
                <a:ea typeface="Yu Gothic"/>
              </a:rPr>
              <a:t>距離 l [km]</a:t>
            </a:r>
            <a:endParaRPr lang="ja-JP" sz="1250"/>
          </a:p>
        </p:txBody>
      </p:sp>
      <p:sp>
        <p:nvSpPr>
          <p:cNvPr id="70" name="result"/>
          <p:cNvSpPr txBox="1"/>
          <p:nvPr/>
        </p:nvSpPr>
        <p:spPr>
          <a:xfrm>
            <a:off x="5900000" y="1500000"/>
            <a:ext cx="5600000" cy="820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txBody>
          <a:bodyPr wrap="square" anchor="mid"/>
          <a:lstStyle/>
          <a:p>
            <a:pPr algn="ctr"/>
            <a:r>
              <a:rPr lang="ja-JP" sz="2100" b="1">
                <a:solidFill>
                  <a:srgbClr val="0F172A"/>
                </a:solidFill>
                <a:latin typeface="Yu Gothic"/>
                <a:ea typeface="Yu Gothic"/>
              </a:rPr>
              <a:t>20 km → R = 1.6 Ω</a:t>
            </a:r>
            <a:endParaRPr lang="ja-JP" sz="2100"/>
          </a:p>
          <a:p>
            <a:pPr algn="ctr"/>
            <a:r>
              <a:rPr lang="ja-JP" sz="2100" b="1">
                <a:solidFill>
                  <a:srgbClr val="0F172A"/>
                </a:solidFill>
                <a:latin typeface="Yu Gothic"/>
                <a:ea typeface="Yu Gothic"/>
              </a:rPr>
              <a:t>P_loss = 300²×1.6 = 144 kW</a:t>
            </a:r>
            <a:endParaRPr lang="ja-JP" sz="2100"/>
          </a:p>
        </p:txBody>
      </p:sp>
      <p:sp>
        <p:nvSpPr>
          <p:cNvPr id="71" name="takeaway"/>
          <p:cNvSpPr txBox="1"/>
          <p:nvPr/>
        </p:nvSpPr>
        <p:spPr>
          <a:xfrm>
            <a:off x="5900000" y="2600000"/>
            <a:ext cx="5600000" cy="115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l"/>
            <a:r>
              <a:rPr lang="ja-JP" sz="1850" b="0">
                <a:solidFill>
                  <a:srgbClr val="1E293B"/>
                </a:solidFill>
                <a:latin typeface="Yu Gothic"/>
                <a:ea typeface="Yu Gothic"/>
              </a:rPr>
              <a:t>単位長さ抵抗と電流を固定すれば、</a:t>
            </a:r>
            <a:endParaRPr lang="ja-JP" sz="1850"/>
          </a:p>
          <a:p>
            <a:pPr algn="l"/>
            <a:r>
              <a:rPr lang="ja-JP" sz="1850" b="0">
                <a:solidFill>
                  <a:srgbClr val="1E293B"/>
                </a:solidFill>
                <a:latin typeface="Yu Gothic"/>
                <a:ea typeface="Yu Gothic"/>
              </a:rPr>
              <a:t>R ∝ l なので損失も距離に比例する。</a:t>
            </a:r>
            <a:endParaRPr lang="ja-JP" sz="1850"/>
          </a:p>
        </p:txBody>
      </p:sp>
      <p:sp>
        <p:nvSpPr>
          <p:cNvPr id="72" name="scope"/>
          <p:cNvSpPr txBox="1"/>
          <p:nvPr/>
        </p:nvSpPr>
        <p:spPr>
          <a:xfrm>
            <a:off x="5900000" y="4100000"/>
            <a:ext cx="5600000" cy="950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anchor="mid"/>
          <a:lstStyle/>
          <a:p>
            <a:pPr algn="l"/>
            <a:r>
              <a:rPr lang="ja-JP" sz="1450" b="0">
                <a:solidFill>
                  <a:srgbClr val="7C2D12"/>
                </a:solidFill>
                <a:latin typeface="Yu Gothic"/>
                <a:ea typeface="Yu Gothic"/>
              </a:rPr>
              <a:t>実際の損失は電流条件にも強く依存する。</a:t>
            </a:r>
            <a:endParaRPr lang="ja-JP" sz="1450"/>
          </a:p>
          <a:p>
            <a:pPr algn="l"/>
            <a:r>
              <a:rPr lang="ja-JP" sz="1450" b="0">
                <a:solidFill>
                  <a:srgbClr val="7C2D12"/>
                </a:solidFill>
                <a:latin typeface="Yu Gothic"/>
                <a:ea typeface="Yu Gothic"/>
              </a:rPr>
              <a:t>本スライドの数値は教材用仮定値。</a:t>
            </a:r>
            <a:endParaRPr lang="ja-JP" sz="14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05740"/>
            <a:ext cx="11277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Yu Gothic"/>
                <a:ea typeface="Yu Gothic"/>
              </a:rPr>
              <a:t>力率が下がると電流・電圧降下・損失が増える</a:t>
            </a:r>
            <a:endParaRPr lang="ja-JP" sz="2600"/>
          </a:p>
        </p:txBody>
      </p:sp>
      <p:sp>
        <p:nvSpPr>
          <p:cNvPr id="3" name="Subtitle"/>
          <p:cNvSpPr txBox="1"/>
          <p:nvPr/>
        </p:nvSpPr>
        <p:spPr>
          <a:xfrm>
            <a:off x="457200" y="800100"/>
            <a:ext cx="11277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1300" b="0">
                <a:solidFill>
                  <a:srgbClr val="475569"/>
                </a:solidFill>
                <a:latin typeface="Yu Gothic"/>
                <a:ea typeface="Yu Gothic"/>
              </a:rPr>
              <a:t>同一有効電力・同一負荷端電圧／練習問15と同じ仮定</a:t>
            </a:r>
            <a:endParaRPr lang="ja-JP" sz="1300"/>
          </a:p>
        </p:txBody>
      </p:sp>
      <p:sp>
        <p:nvSpPr>
          <p:cNvPr id="4" name="cond"/>
          <p:cNvSpPr txBox="1"/>
          <p:nvPr/>
        </p:nvSpPr>
        <p:spPr>
          <a:xfrm>
            <a:off x="457200" y="1190000"/>
            <a:ext cx="11200000" cy="52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ctr"/>
            <a:r>
              <a:rPr lang="ja-JP" sz="1550" b="1">
                <a:solidFill>
                  <a:srgbClr val="334155"/>
                </a:solidFill>
                <a:latin typeface="Yu Gothic"/>
                <a:ea typeface="Yu Gothic"/>
              </a:rPr>
              <a:t>z'=0.040+j0.060 Ω/km   l=20 km   P=8.0 MW   V=25 kV</a:t>
            </a:r>
            <a:endParaRPr lang="ja-JP" sz="1550"/>
          </a:p>
        </p:txBody>
      </p:sp>
      <p:sp>
        <p:nvSpPr>
          <p:cNvPr id="10" name="pf1"/>
          <p:cNvSpPr txBox="1"/>
          <p:nvPr/>
        </p:nvSpPr>
        <p:spPr>
          <a:xfrm>
            <a:off x="650000" y="2000000"/>
            <a:ext cx="5000000" cy="2450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mid"/>
          <a:lstStyle/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力率 1.00</a:t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/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I = 320 A</a:t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ΔV ≈ 256 V</a:t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P_loss = 81.92 kW</a:t>
            </a:r>
            <a:endParaRPr lang="ja-JP" sz="2200"/>
          </a:p>
        </p:txBody>
      </p:sp>
      <p:sp>
        <p:nvSpPr>
          <p:cNvPr id="11" name="pf08"/>
          <p:cNvSpPr txBox="1"/>
          <p:nvPr/>
        </p:nvSpPr>
        <p:spPr>
          <a:xfrm>
            <a:off x="6540000" y="2000000"/>
            <a:ext cx="5000000" cy="2450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anchor="mid"/>
          <a:lstStyle/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遅れ力率 0.80</a:t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/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I = 400 A</a:t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ΔV ≈ 544 V</a:t>
            </a:r>
            <a:endParaRPr lang="ja-JP" sz="2200"/>
          </a:p>
          <a:p>
            <a:pPr algn="ctr"/>
            <a:r>
              <a:rPr lang="ja-JP" sz="2200" b="1">
                <a:solidFill>
                  <a:srgbClr val="0F172A"/>
                </a:solidFill>
                <a:latin typeface="Yu Gothic"/>
                <a:ea typeface="Yu Gothic"/>
              </a:rPr>
              <a:t>P_loss = 128.0 kW</a:t>
            </a:r>
            <a:endParaRPr lang="ja-JP" sz="2200"/>
          </a:p>
        </p:txBody>
      </p:sp>
      <p:sp>
        <p:nvSpPr>
          <p:cNvPr id="12" name="ratio"/>
          <p:cNvSpPr txBox="1"/>
          <p:nvPr/>
        </p:nvSpPr>
        <p:spPr>
          <a:xfrm>
            <a:off x="1300000" y="4800000"/>
            <a:ext cx="9300000" cy="6500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FDE047"/>
            </a:solidFill>
          </a:ln>
        </p:spPr>
        <p:txBody>
          <a:bodyPr wrap="square" anchor="mid"/>
          <a:lstStyle/>
          <a:p>
            <a:pPr algn="ctr"/>
            <a:r>
              <a:rPr lang="ja-JP" sz="1700" b="1">
                <a:solidFill>
                  <a:srgbClr val="7C2D12"/>
                </a:solidFill>
                <a:latin typeface="Yu Gothic"/>
                <a:ea typeface="Yu Gothic"/>
              </a:rPr>
              <a:t>0.80 / 1.00：電流 1.25倍   電圧降下 2.125倍   抵抗損失 1.5625倍</a:t>
            </a:r>
            <a:endParaRPr lang="ja-JP" sz="1700"/>
          </a:p>
        </p:txBody>
      </p:sp>
      <p:sp>
        <p:nvSpPr>
          <p:cNvPr id="13" name="scope"/>
          <p:cNvSpPr txBox="1"/>
          <p:nvPr/>
        </p:nvSpPr>
        <p:spPr>
          <a:xfrm>
            <a:off x="1300000" y="5700000"/>
            <a:ext cx="930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ctr"/>
            <a:r>
              <a:rPr lang="ja-JP" sz="1300" b="0">
                <a:solidFill>
                  <a:srgbClr val="475569"/>
                </a:solidFill>
                <a:latin typeface="Yu Gothic"/>
                <a:ea typeface="Yu Gothic"/>
              </a:rPr>
              <a:t>力率は比較パラメータとして扱うだけ。改善設備・無効電力制御は Topic 14。</a:t>
            </a:r>
            <a:endParaRPr lang="ja-JP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05740"/>
            <a:ext cx="11277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Yu Gothic"/>
                <a:ea typeface="Yu Gothic"/>
              </a:rPr>
              <a:t>送受電端は集中定数回路で整理する</a:t>
            </a:r>
            <a:endParaRPr lang="ja-JP" sz="2600"/>
          </a:p>
        </p:txBody>
      </p:sp>
      <p:sp>
        <p:nvSpPr>
          <p:cNvPr id="3" name="Subtitle"/>
          <p:cNvSpPr txBox="1"/>
          <p:nvPr/>
        </p:nvSpPr>
        <p:spPr>
          <a:xfrm>
            <a:off x="457200" y="800100"/>
            <a:ext cx="11277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1300" b="0">
                <a:solidFill>
                  <a:srgbClr val="475569"/>
                </a:solidFill>
                <a:latin typeface="Yu Gothic"/>
                <a:ea typeface="Yu Gothic"/>
              </a:rPr>
              <a:t>π形は「直列Z＋両端Y/2」という構造の理解まで</a:t>
            </a:r>
            <a:endParaRPr lang="ja-JP" sz="1300"/>
          </a:p>
        </p:txBody>
      </p:sp>
      <p:sp>
        <p:nvSpPr>
          <p:cNvPr id="4" name="leftlbl"/>
          <p:cNvSpPr txBox="1"/>
          <p:nvPr/>
        </p:nvSpPr>
        <p:spPr>
          <a:xfrm>
            <a:off x="550000" y="1500000"/>
            <a:ext cx="180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1700" b="1">
                <a:solidFill>
                  <a:srgbClr val="0F172A"/>
                </a:solidFill>
                <a:latin typeface="Yu Gothic"/>
                <a:ea typeface="Yu Gothic"/>
              </a:rPr>
              <a:t>集中定数等価回路</a:t>
            </a:r>
            <a:endParaRPr lang="ja-JP" sz="1700"/>
          </a:p>
        </p:txBody>
      </p:sp>
      <p:sp>
        <p:nvSpPr>
          <p:cNvPr id="5" name="vs"/>
          <p:cNvSpPr txBox="1"/>
          <p:nvPr/>
        </p:nvSpPr>
        <p:spPr>
          <a:xfrm>
            <a:off x="650000" y="2350000"/>
            <a:ext cx="900000" cy="500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mid"/>
          <a:lstStyle/>
          <a:p>
            <a:pPr algn="ctr"/>
            <a:r>
              <a:rPr lang="ja-JP" sz="1900" b="1">
                <a:solidFill>
                  <a:srgbClr val="0F172A"/>
                </a:solidFill>
                <a:latin typeface="Yu Gothic"/>
                <a:ea typeface="Yu Gothic"/>
              </a:rPr>
              <a:t>Vs</a:t>
            </a:r>
            <a:endParaRPr lang="ja-JP" sz="1900"/>
          </a:p>
        </p:txBody>
      </p:sp>
      <p:sp>
        <p:nvSpPr>
          <p:cNvPr id="6" name="wire1"/>
          <p:cNvSpPr/>
          <p:nvPr/>
        </p:nvSpPr>
        <p:spPr>
          <a:xfrm flipH="0" flipV="0">
            <a:off x="1550000" y="2600000"/>
            <a:ext cx="1450000" cy="1"/>
          </a:xfrm>
          <a:prstGeom prst="line">
            <a:avLst/>
          </a:prstGeom>
          <a:ln w="25000">
            <a:solidFill>
              <a:srgbClr val="334155"/>
            </a:solidFill>
          </a:ln>
        </p:spPr>
      </p:sp>
      <p:sp>
        <p:nvSpPr>
          <p:cNvPr id="7" name="Z"/>
          <p:cNvSpPr txBox="1"/>
          <p:nvPr/>
        </p:nvSpPr>
        <p:spPr>
          <a:xfrm>
            <a:off x="3000000" y="2300000"/>
            <a:ext cx="1700000" cy="6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ctr"/>
            <a:r>
              <a:rPr lang="ja-JP" sz="1900" b="1">
                <a:solidFill>
                  <a:srgbClr val="0F172A"/>
                </a:solidFill>
                <a:latin typeface="Yu Gothic"/>
                <a:ea typeface="Yu Gothic"/>
              </a:rPr>
              <a:t>Z = R + jX</a:t>
            </a:r>
            <a:endParaRPr lang="ja-JP" sz="1900"/>
          </a:p>
        </p:txBody>
      </p:sp>
      <p:sp>
        <p:nvSpPr>
          <p:cNvPr id="8" name="wire2"/>
          <p:cNvSpPr/>
          <p:nvPr/>
        </p:nvSpPr>
        <p:spPr>
          <a:xfrm flipH="0" flipV="0">
            <a:off x="4700000" y="2600000"/>
            <a:ext cx="1100000" cy="1"/>
          </a:xfrm>
          <a:prstGeom prst="line">
            <a:avLst/>
          </a:prstGeom>
          <a:ln w="25000">
            <a:solidFill>
              <a:srgbClr val="334155"/>
            </a:solidFill>
          </a:ln>
        </p:spPr>
      </p:sp>
      <p:sp>
        <p:nvSpPr>
          <p:cNvPr id="9" name="vr"/>
          <p:cNvSpPr txBox="1"/>
          <p:nvPr/>
        </p:nvSpPr>
        <p:spPr>
          <a:xfrm>
            <a:off x="5800000" y="2350000"/>
            <a:ext cx="900000" cy="500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mid"/>
          <a:lstStyle/>
          <a:p>
            <a:pPr algn="ctr"/>
            <a:r>
              <a:rPr lang="ja-JP" sz="1900" b="1">
                <a:solidFill>
                  <a:srgbClr val="0F172A"/>
                </a:solidFill>
                <a:latin typeface="Yu Gothic"/>
                <a:ea typeface="Yu Gothic"/>
              </a:rPr>
              <a:t>Vr</a:t>
            </a:r>
            <a:endParaRPr lang="ja-JP" sz="1900"/>
          </a:p>
        </p:txBody>
      </p:sp>
      <p:sp>
        <p:nvSpPr>
          <p:cNvPr id="10" name="eq"/>
          <p:cNvSpPr txBox="1"/>
          <p:nvPr/>
        </p:nvSpPr>
        <p:spPr>
          <a:xfrm>
            <a:off x="1000000" y="3350000"/>
            <a:ext cx="5200000" cy="72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ctr"/>
            <a:r>
              <a:rPr lang="ja-JP" sz="1850" b="1">
                <a:solidFill>
                  <a:srgbClr val="1E293B"/>
                </a:solidFill>
                <a:latin typeface="Yu Gothic"/>
                <a:ea typeface="Yu Gothic"/>
              </a:rPr>
              <a:t>Vs = Vr + ZI</a:t>
            </a:r>
            <a:endParaRPr lang="ja-JP" sz="1850"/>
          </a:p>
          <a:p>
            <a:pPr algn="ctr"/>
            <a:r>
              <a:rPr lang="ja-JP" sz="1850" b="1">
                <a:solidFill>
                  <a:srgbClr val="1E293B"/>
                </a:solidFill>
                <a:latin typeface="Yu Gothic"/>
                <a:ea typeface="Yu Gothic"/>
              </a:rPr>
              <a:t>送電端・受電端・電流のフェーザ関係を1本で整理</a:t>
            </a:r>
            <a:endParaRPr lang="ja-JP" sz="1850"/>
          </a:p>
        </p:txBody>
      </p:sp>
      <p:sp>
        <p:nvSpPr>
          <p:cNvPr id="20" name="rightlbl"/>
          <p:cNvSpPr txBox="1"/>
          <p:nvPr/>
        </p:nvSpPr>
        <p:spPr>
          <a:xfrm>
            <a:off x="6900000" y="1500000"/>
            <a:ext cx="1800000" cy="500000"/>
          </a:xfrm>
          <a:prstGeom prst="rect">
            <a:avLst/>
          </a:prstGeom>
          <a:noFill/>
          <a:ln>
            <a:noFill/>
          </a:ln>
        </p:spPr>
        <p:txBody>
          <a:bodyPr wrap="square" anchor="mid"/>
          <a:lstStyle/>
          <a:p>
            <a:pPr algn="l"/>
            <a:r>
              <a:rPr lang="ja-JP" sz="1700" b="1">
                <a:solidFill>
                  <a:srgbClr val="0F172A"/>
                </a:solidFill>
                <a:latin typeface="Yu Gothic"/>
                <a:ea typeface="Yu Gothic"/>
              </a:rPr>
              <a:t>π形等価回路</a:t>
            </a:r>
            <a:endParaRPr lang="ja-JP" sz="1700"/>
          </a:p>
        </p:txBody>
      </p:sp>
      <p:sp>
        <p:nvSpPr>
          <p:cNvPr id="21" name="top"/>
          <p:cNvSpPr/>
          <p:nvPr/>
        </p:nvSpPr>
        <p:spPr>
          <a:xfrm flipH="0" flipV="0">
            <a:off x="7000000" y="2600000"/>
            <a:ext cx="4000000" cy="1"/>
          </a:xfrm>
          <a:prstGeom prst="line">
            <a:avLst/>
          </a:prstGeom>
          <a:ln w="25000">
            <a:solidFill>
              <a:srgbClr val="334155"/>
            </a:solidFill>
          </a:ln>
        </p:spPr>
      </p:sp>
      <p:sp>
        <p:nvSpPr>
          <p:cNvPr id="22" name="z2"/>
          <p:cNvSpPr txBox="1"/>
          <p:nvPr/>
        </p:nvSpPr>
        <p:spPr>
          <a:xfrm>
            <a:off x="8150000" y="2300000"/>
            <a:ext cx="1700000" cy="6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ctr"/>
            <a:r>
              <a:rPr lang="ja-JP" sz="1850" b="1">
                <a:solidFill>
                  <a:srgbClr val="0F172A"/>
                </a:solidFill>
                <a:latin typeface="Yu Gothic"/>
                <a:ea typeface="Yu Gothic"/>
              </a:rPr>
              <a:t>直列 Z</a:t>
            </a:r>
            <a:endParaRPr lang="ja-JP" sz="1850"/>
          </a:p>
        </p:txBody>
      </p:sp>
      <p:sp>
        <p:nvSpPr>
          <p:cNvPr id="23" name="branch"/>
          <p:cNvSpPr/>
          <p:nvPr/>
        </p:nvSpPr>
        <p:spPr>
          <a:xfrm flipH="0" flipV="0">
            <a:off x="7350000" y="2600000"/>
            <a:ext cx="1" cy="1400000"/>
          </a:xfrm>
          <a:prstGeom prst="line">
            <a:avLst/>
          </a:prstGeom>
          <a:ln w="22000">
            <a:solidFill>
              <a:srgbClr val="334155"/>
            </a:solidFill>
          </a:ln>
        </p:spPr>
      </p:sp>
      <p:sp>
        <p:nvSpPr>
          <p:cNvPr id="24" name="y2"/>
          <p:cNvSpPr txBox="1"/>
          <p:nvPr/>
        </p:nvSpPr>
        <p:spPr>
          <a:xfrm>
            <a:off x="6700000" y="3250000"/>
            <a:ext cx="1300000" cy="55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ctr"/>
            <a:r>
              <a:rPr lang="ja-JP" sz="1700" b="1">
                <a:solidFill>
                  <a:srgbClr val="0F172A"/>
                </a:solidFill>
                <a:latin typeface="Yu Gothic"/>
                <a:ea typeface="Yu Gothic"/>
              </a:rPr>
              <a:t>Y / 2</a:t>
            </a:r>
            <a:endParaRPr lang="ja-JP" sz="1700"/>
          </a:p>
        </p:txBody>
      </p:sp>
      <p:sp>
        <p:nvSpPr>
          <p:cNvPr id="25" name="ground"/>
          <p:cNvSpPr/>
          <p:nvPr/>
        </p:nvSpPr>
        <p:spPr>
          <a:xfrm flipH="0" flipV="0">
            <a:off x="7050000" y="4050000"/>
            <a:ext cx="600000" cy="1"/>
          </a:xfrm>
          <a:prstGeom prst="line">
            <a:avLst/>
          </a:prstGeom>
          <a:ln w="22000">
            <a:solidFill>
              <a:srgbClr val="334155"/>
            </a:solidFill>
          </a:ln>
        </p:spPr>
      </p:sp>
      <p:sp>
        <p:nvSpPr>
          <p:cNvPr id="26" name="branch"/>
          <p:cNvSpPr/>
          <p:nvPr/>
        </p:nvSpPr>
        <p:spPr>
          <a:xfrm flipH="0" flipV="0">
            <a:off x="10650000" y="2600000"/>
            <a:ext cx="1" cy="1400000"/>
          </a:xfrm>
          <a:prstGeom prst="line">
            <a:avLst/>
          </a:prstGeom>
          <a:ln w="22000">
            <a:solidFill>
              <a:srgbClr val="334155"/>
            </a:solidFill>
          </a:ln>
        </p:spPr>
      </p:sp>
      <p:sp>
        <p:nvSpPr>
          <p:cNvPr id="27" name="y2"/>
          <p:cNvSpPr txBox="1"/>
          <p:nvPr/>
        </p:nvSpPr>
        <p:spPr>
          <a:xfrm>
            <a:off x="10000000" y="3250000"/>
            <a:ext cx="1300000" cy="55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ctr"/>
            <a:r>
              <a:rPr lang="ja-JP" sz="1700" b="1">
                <a:solidFill>
                  <a:srgbClr val="0F172A"/>
                </a:solidFill>
                <a:latin typeface="Yu Gothic"/>
                <a:ea typeface="Yu Gothic"/>
              </a:rPr>
              <a:t>Y / 2</a:t>
            </a:r>
            <a:endParaRPr lang="ja-JP" sz="1700"/>
          </a:p>
        </p:txBody>
      </p:sp>
      <p:sp>
        <p:nvSpPr>
          <p:cNvPr id="28" name="ground"/>
          <p:cNvSpPr/>
          <p:nvPr/>
        </p:nvSpPr>
        <p:spPr>
          <a:xfrm flipH="0" flipV="0">
            <a:off x="10350000" y="4050000"/>
            <a:ext cx="600000" cy="1"/>
          </a:xfrm>
          <a:prstGeom prst="line">
            <a:avLst/>
          </a:prstGeom>
          <a:ln w="22000">
            <a:solidFill>
              <a:srgbClr val="334155"/>
            </a:solidFill>
          </a:ln>
        </p:spPr>
      </p:sp>
      <p:sp>
        <p:nvSpPr>
          <p:cNvPr id="31" name="piText"/>
          <p:cNvSpPr txBox="1"/>
          <p:nvPr/>
        </p:nvSpPr>
        <p:spPr>
          <a:xfrm>
            <a:off x="7000000" y="4400000"/>
            <a:ext cx="4100000" cy="900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</a:ln>
        </p:spPr>
        <p:txBody>
          <a:bodyPr wrap="square" anchor="mid"/>
          <a:lstStyle/>
          <a:p>
            <a:pPr algn="l"/>
            <a:r>
              <a:rPr lang="ja-JP" sz="1450" b="0">
                <a:solidFill>
                  <a:srgbClr val="475569"/>
                </a:solidFill>
                <a:latin typeface="Yu Gothic"/>
                <a:ea typeface="Yu Gothic"/>
              </a:rPr>
              <a:t>分路枝を追加した集中定数表現。</a:t>
            </a:r>
            <a:endParaRPr lang="ja-JP" sz="1450"/>
          </a:p>
          <a:p>
            <a:pPr algn="l"/>
            <a:r>
              <a:rPr lang="ja-JP" sz="1450" b="0">
                <a:solidFill>
                  <a:srgbClr val="475569"/>
                </a:solidFill>
                <a:latin typeface="Yu Gothic"/>
                <a:ea typeface="Yu Gothic"/>
              </a:rPr>
              <a:t>四端子定数・分布定数線路の厳密計算は扱わない。</a:t>
            </a:r>
            <a:endParaRPr lang="ja-JP" sz="1450"/>
          </a:p>
        </p:txBody>
      </p:sp>
      <p:sp>
        <p:nvSpPr>
          <p:cNvPr id="40" name="gate"/>
          <p:cNvSpPr txBox="1"/>
          <p:nvPr/>
        </p:nvSpPr>
        <p:spPr>
          <a:xfrm>
            <a:off x="800000" y="5600000"/>
            <a:ext cx="10400000" cy="5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mid"/>
          <a:lstStyle/>
          <a:p>
            <a:pPr algn="ctr"/>
            <a:r>
              <a:rPr lang="ja-JP" sz="1250" b="1">
                <a:solidFill>
                  <a:srgbClr val="334155"/>
                </a:solidFill>
                <a:latin typeface="Yu Gothic"/>
                <a:ea typeface="Yu Gothic"/>
              </a:rPr>
              <a:t>固定10項目 10/10 ｜ 可視化3項目 3/3 ｜ 正式 一次1問＋二次3問・17答案要素は変更なし</a:t>
            </a:r>
            <a:endParaRPr lang="ja-JP" sz="12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DC2626"/>
      </a:accent2>
      <a:accent3>
        <a:srgbClr val="16A34A"/>
      </a:accent3>
      <a:accent4>
        <a:srgbClr val="D97706"/>
      </a:accent4>
      <a:accent5>
        <a:srgbClr val="7C3AED"/>
      </a:accent5>
      <a:accent6>
        <a:srgbClr val="0891B2"/>
      </a:accent6>
      <a:hlink>
        <a:srgbClr val="0563C1"/>
      </a:hlink>
      <a:folHlink>
        <a:srgbClr val="954F72"/>
      </a:folHlink>
    </a:clrScheme>
    <a:fontScheme name="Minimal">
      <a:majorFont>
        <a:latin typeface="Yu Gothic"/>
        <a:ea typeface="Yu Gothic"/>
        <a:cs typeface="Arial"/>
      </a:majorFont>
      <a:minorFont>
        <a:latin typeface="Yu Gothic"/>
        <a:ea typeface="Yu Gothic"/>
        <a:cs typeface="Arial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4</Slides>
  <PresentationFormat>On-screen Show (16:9)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Topic 10 なぜ変電所を何十kmも離せない？</dc:title>
  <dc:creator>OpenAI</dc:creator>
  <dcterms:created xsi:type="dcterms:W3CDTF">2026-09-17T00:00:00Z</dcterms:created>
</cp:coreProperties>
</file>