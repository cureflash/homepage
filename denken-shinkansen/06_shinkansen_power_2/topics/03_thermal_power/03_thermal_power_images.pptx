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00000" y="45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r>
              <a:rPr lang="ja-JP" sz="2600" b="1"/>
              <a:t>Topic 03｜コンバインドサイクルと熱収支</a:t>
            </a:r>
            <a:endParaRPr lang="ja-JP" sz="2600"/>
          </a:p>
        </p:txBody>
      </p:sp>
      <p:sp>
        <p:nvSpPr>
          <p:cNvPr id="3" name="Body"/>
          <p:cNvSpPr txBox="1"/>
          <p:nvPr/>
        </p:nvSpPr>
        <p:spPr>
          <a:xfrm>
            <a:off x="850000" y="1400000"/>
            <a:ext cx="105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r>
              <a:rPr lang="ja-JP" sz="1800" b="0"/>
              <a:t>圧縮機 → 燃焼器 → ガスタービン → 排熱回収 → 蒸気タービン</a:t>
            </a:r>
            <a:endParaRPr lang="ja-JP" sz="1800"/>
          </a:p>
          <a:p>
            <a:r>
              <a:rPr lang="ja-JP" sz="1800" b="0"/>
              <a:t>Pg = PGT + PST　／　Ps = Pg − Paux</a:t>
            </a:r>
            <a:endParaRPr lang="ja-JP" sz="1800"/>
          </a:p>
          <a:p>
            <a:r>
              <a:rPr lang="ja-JP" sz="1800" b="0"/>
              <a:t>ηg = Pg / Qf　／　ηs = Ps / Qf</a:t>
            </a:r>
            <a:endParaRPr lang="ja-JP" sz="1800"/>
          </a:p>
          <a:p>
            <a:r>
              <a:rPr lang="ja-JP" sz="1800" b="0"/>
              <a:t>対応：H27一次 問1／R3一次 問5／R1二次 問1</a:t>
            </a:r>
            <a:endParaRPr lang="ja-JP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00000" y="45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r>
              <a:rPr lang="ja-JP" sz="2600" b="1"/>
              <a:t>蒸気タービン発電機の運用・重要補機</a:t>
            </a:r>
            <a:endParaRPr lang="ja-JP" sz="2600"/>
          </a:p>
        </p:txBody>
      </p:sp>
      <p:sp>
        <p:nvSpPr>
          <p:cNvPr id="3" name="Body"/>
          <p:cNvSpPr txBox="1"/>
          <p:nvPr/>
        </p:nvSpPr>
        <p:spPr>
          <a:xfrm>
            <a:off x="850000" y="1400000"/>
            <a:ext cx="105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r>
              <a:rPr lang="ja-JP" sz="1800" b="0"/>
              <a:t>タービン油ポンプ：停止後も軸受潤滑を維持し、油膜切れ・過熱・損傷を防ぐ。</a:t>
            </a:r>
            <a:endParaRPr lang="ja-JP" sz="1800"/>
          </a:p>
          <a:p>
            <a:r>
              <a:rPr lang="ja-JP" sz="1800" b="0"/>
              <a:t>ターニングギヤ電動機：停止後にロータを低速回転させ、不均一冷却による曲がりを防ぐ。</a:t>
            </a:r>
            <a:endParaRPr lang="ja-JP" sz="1800"/>
          </a:p>
          <a:p>
            <a:r>
              <a:rPr lang="ja-JP" sz="1800" b="0"/>
              <a:t>密封油ポンプ：水素冷却発電機の軸封部へ密封油を供給し、水素漏えいを防ぐ。</a:t>
            </a:r>
            <a:endParaRPr lang="ja-JP" sz="1800"/>
          </a:p>
          <a:p>
            <a:r>
              <a:rPr lang="ja-JP" sz="1800" b="0"/>
              <a:t>発電機内部に水素が残る間は軸封維持が必要。通常交流電源喪失時も非常用電源から継続給電する。</a:t>
            </a:r>
            <a:endParaRPr lang="ja-JP" sz="1800"/>
          </a:p>
          <a:p>
            <a:r>
              <a:rPr lang="ja-JP" sz="1800" b="0"/>
              <a:t>対応：H25一次 問1／R3一次 問5／R1二次 問1</a:t>
            </a:r>
            <a:endParaRPr lang="ja-JP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00000" y="45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r>
              <a:rPr lang="ja-JP" sz="2600" b="1"/>
              <a:t>大気温度上昇と負荷追従</a:t>
            </a:r>
            <a:endParaRPr lang="ja-JP" sz="2600"/>
          </a:p>
        </p:txBody>
      </p:sp>
      <p:sp>
        <p:nvSpPr>
          <p:cNvPr id="3" name="Body"/>
          <p:cNvSpPr txBox="1"/>
          <p:nvPr/>
        </p:nvSpPr>
        <p:spPr>
          <a:xfrm>
            <a:off x="850000" y="1400000"/>
            <a:ext cx="105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r>
              <a:rPr lang="ja-JP" sz="1800" b="0"/>
              <a:t>大気温度上昇 → 吸気密度低下 → 空気質量流量低下</a:t>
            </a:r>
            <a:endParaRPr lang="ja-JP" sz="1800"/>
          </a:p>
          <a:p>
            <a:r>
              <a:rPr lang="ja-JP" sz="1800" b="0"/>
              <a:t>→ GT最大出力低下 → 排ガス量・排熱回収量低下</a:t>
            </a:r>
            <a:endParaRPr lang="ja-JP" sz="1800"/>
          </a:p>
          <a:p>
            <a:r>
              <a:rPr lang="ja-JP" sz="1800" b="0"/>
              <a:t>→ 蒸気発生量低下 → ST出力低下 → コンバインド最大出力低下</a:t>
            </a:r>
            <a:endParaRPr lang="ja-JP" sz="1800"/>
          </a:p>
          <a:p>
            <a:r>
              <a:rPr lang="ja-JP" sz="1800" b="0"/>
              <a:t>対策：吸気冷却で吸気密度・質量流量の低下を緩和する。</a:t>
            </a:r>
            <a:endParaRPr lang="ja-JP" sz="1800"/>
          </a:p>
          <a:p>
            <a:r>
              <a:rPr lang="ja-JP" sz="1800" b="0"/>
              <a:t>二次答案：原因 → 中間現象 → 出力への影響 → 改善策</a:t>
            </a:r>
            <a:endParaRPr lang="ja-JP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00000" y="45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r>
              <a:rPr lang="ja-JP" sz="2600" b="1"/>
              <a:t>川崎発電所と新幹線負荷への接続</a:t>
            </a:r>
            <a:endParaRPr lang="ja-JP" sz="2600"/>
          </a:p>
        </p:txBody>
      </p:sp>
      <p:sp>
        <p:nvSpPr>
          <p:cNvPr id="3" name="Body"/>
          <p:cNvSpPr txBox="1"/>
          <p:nvPr/>
        </p:nvSpPr>
        <p:spPr>
          <a:xfrm>
            <a:off x="850000" y="1400000"/>
            <a:ext cx="105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r>
              <a:rPr lang="ja-JP" sz="1800" b="0"/>
              <a:t>一次資料確認済み実値：総出力 809 MW／発電機4台／都市ガス・天然ガス／2024年度発電効率 43.1%</a:t>
            </a:r>
            <a:endParaRPr lang="ja-JP" sz="1800"/>
          </a:p>
          <a:p>
            <a:r>
              <a:rPr lang="ja-JP" sz="1800" b="0"/>
              <a:t>教材上の仮定例：夏季最大発電端 720 MW、所内率 4.0%、送電端負荷 670+35 MW</a:t>
            </a:r>
            <a:endParaRPr lang="ja-JP" sz="1800"/>
          </a:p>
          <a:p>
            <a:r>
              <a:rPr lang="ja-JP" sz="1800" b="0"/>
              <a:t>最大送電端 = 691.2 MW／必要発電端 = 734.375 MW／送電端不足 = 13.8 MW</a:t>
            </a:r>
            <a:endParaRPr lang="ja-JP" sz="1800"/>
          </a:p>
          <a:p>
            <a:r>
              <a:rPr lang="ja-JP" sz="1800" b="0"/>
              <a:t>実値と仮定値を混同しない。未確認の列車1本当たり電力・個別効率曲線・実設備ランプレートは使わない。</a:t>
            </a:r>
            <a:endParaRPr lang="ja-JP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 Display"/>
        <a:ea typeface="Yu Gothic"/>
        <a:cs typeface=""/>
      </a:majorFont>
      <a:minorFont>
        <a:latin typeface="Aptos"/>
        <a:ea typeface="Yu Gothic"/>
        <a:cs typeface="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4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Topic 03 川崎発電所は新幹線の負荷変動に追従できる？</dc:title>
  <dc:creator>denken-shinkansen</dc:creator>
  <dcterms:created xsi:type="dcterms:W3CDTF">2026-09-14T00:00:00Z</dcterms:created>
</cp:coreProperties>
</file>