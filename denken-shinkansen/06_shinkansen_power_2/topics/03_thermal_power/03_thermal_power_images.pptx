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11064240" cy="4754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Noto Sans CJK JP"/>
              </a:rPr>
              <a:t>川崎発電所は新幹線の負荷変動に追従できる？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CJK JP"/>
              </a:rPr>
              <a:t>コンバインドサイクルの熱流れ・熱収支・試験要求を一枚につなぐ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16459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Noto Sans CJK JP"/>
              </a:rPr>
              <a:t>電験二種・電力｜Topic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13258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234440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7324D"/>
                </a:solidFill>
                <a:latin typeface="Noto Sans CJK JP"/>
              </a:rPr>
              <a:t>圧縮機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828800"/>
            <a:ext cx="393192" cy="0"/>
          </a:xfrm>
          <a:prstGeom prst="line">
            <a:avLst/>
          </a:prstGeom>
          <a:ln w="25400">
            <a:solidFill>
              <a:srgbClr val="2F6B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23160" y="1417320"/>
            <a:ext cx="13258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1645920"/>
            <a:ext cx="1234440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7324D"/>
                </a:solidFill>
                <a:latin typeface="Noto Sans CJK JP"/>
              </a:rPr>
              <a:t>燃焼器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49039" y="1828800"/>
            <a:ext cx="393193" cy="0"/>
          </a:xfrm>
          <a:prstGeom prst="line">
            <a:avLst/>
          </a:prstGeom>
          <a:ln w="25400">
            <a:solidFill>
              <a:srgbClr val="2F6B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251960" y="1417320"/>
            <a:ext cx="13258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45920"/>
            <a:ext cx="1234440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7324D"/>
                </a:solidFill>
                <a:latin typeface="Noto Sans CJK JP"/>
              </a:rPr>
              <a:t>GT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577840" y="1828800"/>
            <a:ext cx="393192" cy="0"/>
          </a:xfrm>
          <a:prstGeom prst="line">
            <a:avLst/>
          </a:prstGeom>
          <a:ln w="25400">
            <a:solidFill>
              <a:srgbClr val="2F6B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080760" y="1417320"/>
            <a:ext cx="1325880" cy="822960"/>
          </a:xfrm>
          <a:prstGeom prst="roundRect">
            <a:avLst/>
          </a:prstGeom>
          <a:solidFill>
            <a:srgbClr val="FFF3E0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645920"/>
            <a:ext cx="1234440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7324D"/>
                </a:solidFill>
                <a:latin typeface="Noto Sans CJK JP"/>
              </a:rPr>
              <a:t>排熱回収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06640" y="1828800"/>
            <a:ext cx="393192" cy="0"/>
          </a:xfrm>
          <a:prstGeom prst="line">
            <a:avLst/>
          </a:prstGeom>
          <a:ln w="25400">
            <a:solidFill>
              <a:srgbClr val="2F6B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909560" y="1417320"/>
            <a:ext cx="13258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1645920"/>
            <a:ext cx="1234440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7324D"/>
                </a:solidFill>
                <a:latin typeface="Noto Sans CJK JP"/>
              </a:rPr>
              <a:t>ST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35440" y="1828800"/>
            <a:ext cx="393192" cy="0"/>
          </a:xfrm>
          <a:prstGeom prst="line">
            <a:avLst/>
          </a:prstGeom>
          <a:ln w="25400">
            <a:solidFill>
              <a:srgbClr val="2F6B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738360" y="1417320"/>
            <a:ext cx="13258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645920"/>
            <a:ext cx="1234440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7324D"/>
                </a:solidFill>
                <a:latin typeface="Noto Sans CJK JP"/>
              </a:rPr>
              <a:t>発電機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523744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1F2937"/>
                </a:solidFill>
                <a:latin typeface="Noto Sans CJK JP"/>
              </a:rPr>
              <a:t>燃料の熱をGTで使い、残る排熱をSTでもう一度使う → 総発電電力・熱効率を高める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154680"/>
            <a:ext cx="3429000" cy="2212848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F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264408"/>
            <a:ext cx="3136392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2F6B9A"/>
                </a:solidFill>
                <a:latin typeface="Noto Sans CJK JP"/>
              </a:rPr>
              <a:t>熱収支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3630168"/>
            <a:ext cx="3136392" cy="16184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Noto Sans CJK JP"/>
              </a:rPr>
              <a:t>Pg = PGT + PST</a:t>
            </a:r>
            <a:br/>
            <a:r>
              <a:t>Ps = Pg − Paux</a:t>
            </a:r>
            <a:br/>
            <a:r>
              <a:t>ηg = Pg / Qf</a:t>
            </a:r>
            <a:br/>
            <a:r>
              <a:t>ηs = Ps / Qf</a:t>
            </a:r>
            <a:br/>
            <a:r>
              <a:t>ηs = ηg(1−a)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0832" y="3154680"/>
            <a:ext cx="3429000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17136" y="3264408"/>
            <a:ext cx="3136392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17324D"/>
                </a:solidFill>
                <a:latin typeface="Noto Sans CJK JP"/>
              </a:rPr>
              <a:t>一次で判定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3630168"/>
            <a:ext cx="3136392" cy="16184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20" b="0">
                <a:solidFill>
                  <a:srgbClr val="1F2937"/>
                </a:solidFill>
                <a:latin typeface="Noto Sans CJK JP"/>
              </a:rPr>
              <a:t>機器と熱サイクル</a:t>
            </a:r>
            <a:br/>
            <a:r>
              <a:t>非常用電源・重要補機</a:t>
            </a:r>
            <a:br/>
            <a:r>
              <a:t>起動時の熱応力・振動・危険速度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3154680"/>
            <a:ext cx="3429000" cy="2212848"/>
          </a:xfrm>
          <a:prstGeom prst="roundRect">
            <a:avLst/>
          </a:prstGeom>
          <a:solidFill>
            <a:srgbClr val="E9F5EF"/>
          </a:solidFill>
          <a:ln w="12700">
            <a:solidFill>
              <a:srgbClr val="2F7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3264408"/>
            <a:ext cx="3136392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2F7D55"/>
                </a:solidFill>
                <a:latin typeface="Noto Sans CJK JP"/>
              </a:rPr>
              <a:t>二次で記述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3630168"/>
            <a:ext cx="3136392" cy="16184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Noto Sans CJK JP"/>
              </a:rPr>
              <a:t>原因→中間現象→出力→対策</a:t>
            </a:r>
            <a:br/>
            <a:r>
              <a:t>補機名→現象→損傷→目的</a:t>
            </a:r>
            <a:br/>
            <a:r>
              <a:t>発電端／送電端を区別して計算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806440"/>
            <a:ext cx="10881360" cy="27432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6B7280"/>
                </a:solidFill>
                <a:latin typeface="Noto Sans CJK JP"/>
              </a:rPr>
              <a:t>正式対象：R3一次問5 / H29二次問1 / R1二次問1 / H27一次問1 / H25一次問1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11064240" cy="4754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Noto Sans CJK JP"/>
              </a:rPr>
              <a:t>起動・停止：蒸気タービンは「止めても電力が要る」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CJK JP"/>
              </a:rPr>
              <a:t>H25一次・R3一次・R1二次の共通軸は、安全停止までの物理現象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16459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Noto Sans CJK JP"/>
              </a:rPr>
              <a:t>電験二種・電力｜Topic 03</a:t>
            </a:r>
          </a:p>
        </p:txBody>
      </p:sp>
      <p:sp>
        <p:nvSpPr>
          <p:cNvPr id="6" name="Oval 5"/>
          <p:cNvSpPr/>
          <p:nvPr/>
        </p:nvSpPr>
        <p:spPr>
          <a:xfrm>
            <a:off x="804672" y="1600200"/>
            <a:ext cx="310896" cy="310896"/>
          </a:xfrm>
          <a:prstGeom prst="ellipse">
            <a:avLst/>
          </a:prstGeom>
          <a:solidFill>
            <a:srgbClr val="2F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960120" y="1911095"/>
            <a:ext cx="0" cy="557785"/>
          </a:xfrm>
          <a:prstGeom prst="line">
            <a:avLst/>
          </a:prstGeom>
          <a:ln w="25400">
            <a:solidFill>
              <a:srgbClr val="D8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98448" y="1417320"/>
            <a:ext cx="150876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17324D"/>
                </a:solidFill>
                <a:latin typeface="Noto Sans CJK JP"/>
              </a:rPr>
              <a:t>真空・軸封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417320"/>
            <a:ext cx="210312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50" b="0">
                <a:solidFill>
                  <a:srgbClr val="1F2937"/>
                </a:solidFill>
                <a:latin typeface="Noto Sans CJK JP"/>
              </a:rPr>
              <a:t>蒸気投入前の条件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560320"/>
            <a:ext cx="310896" cy="310896"/>
          </a:xfrm>
          <a:prstGeom prst="ellipse">
            <a:avLst/>
          </a:prstGeom>
          <a:solidFill>
            <a:srgbClr val="2F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60120" y="2871216"/>
            <a:ext cx="0" cy="557784"/>
          </a:xfrm>
          <a:prstGeom prst="line">
            <a:avLst/>
          </a:prstGeom>
          <a:ln w="25400">
            <a:solidFill>
              <a:srgbClr val="D8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298448" y="2377440"/>
            <a:ext cx="150876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17324D"/>
                </a:solidFill>
                <a:latin typeface="Noto Sans CJK JP"/>
              </a:rPr>
              <a:t>温度変化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77440"/>
            <a:ext cx="210312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50" b="0">
                <a:solidFill>
                  <a:srgbClr val="1F2937"/>
                </a:solidFill>
                <a:latin typeface="Noto Sans CJK JP"/>
              </a:rPr>
              <a:t>急変→熱応力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520440"/>
            <a:ext cx="310896" cy="310896"/>
          </a:xfrm>
          <a:prstGeom prst="ellipse">
            <a:avLst/>
          </a:prstGeom>
          <a:solidFill>
            <a:srgbClr val="2F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60120" y="3831336"/>
            <a:ext cx="0" cy="557784"/>
          </a:xfrm>
          <a:prstGeom prst="line">
            <a:avLst/>
          </a:prstGeom>
          <a:ln w="25400">
            <a:solidFill>
              <a:srgbClr val="D8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98448" y="3337560"/>
            <a:ext cx="150876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17324D"/>
                </a:solidFill>
                <a:latin typeface="Noto Sans CJK JP"/>
              </a:rPr>
              <a:t>昇速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337560"/>
            <a:ext cx="210312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50" b="0">
                <a:solidFill>
                  <a:srgbClr val="1F2937"/>
                </a:solidFill>
                <a:latin typeface="Noto Sans CJK JP"/>
              </a:rPr>
              <a:t>振動を監視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4480560"/>
            <a:ext cx="310896" cy="310896"/>
          </a:xfrm>
          <a:prstGeom prst="ellipse">
            <a:avLst/>
          </a:prstGeom>
          <a:solidFill>
            <a:srgbClr val="2F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8448" y="4297680"/>
            <a:ext cx="150876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17324D"/>
                </a:solidFill>
                <a:latin typeface="Noto Sans CJK JP"/>
              </a:rPr>
              <a:t>危険速度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297680"/>
            <a:ext cx="210312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50" b="0">
                <a:solidFill>
                  <a:srgbClr val="1F2937"/>
                </a:solidFill>
                <a:latin typeface="Noto Sans CJK JP"/>
              </a:rPr>
              <a:t>長時間滞在しない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7800" y="1417320"/>
            <a:ext cx="2788920" cy="31546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04104" y="1527048"/>
            <a:ext cx="2496312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Noto Sans CJK JP"/>
              </a:rPr>
              <a:t>タービン油ポンプ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4104" y="1892808"/>
            <a:ext cx="2496312" cy="256032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20" b="0">
                <a:solidFill>
                  <a:srgbClr val="1F2937"/>
                </a:solidFill>
                <a:latin typeface="Noto Sans CJK JP"/>
              </a:rPr>
              <a:t>停止後もロータは惰性回転する。</a:t>
            </a:r>
            <a:br/>
            <a:br/>
            <a:r>
              <a:t>軸受へ潤滑油を供給し、油膜切れ・過熱・損傷を防ぐ。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6760" y="1417320"/>
            <a:ext cx="2788920" cy="3154680"/>
          </a:xfrm>
          <a:prstGeom prst="roundRect">
            <a:avLst/>
          </a:prstGeom>
          <a:solidFill>
            <a:srgbClr val="E9F5EF"/>
          </a:solidFill>
          <a:ln w="12700">
            <a:solidFill>
              <a:srgbClr val="2F7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13064" y="1527048"/>
            <a:ext cx="2496312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2F7D55"/>
                </a:solidFill>
                <a:latin typeface="Noto Sans CJK JP"/>
              </a:rPr>
              <a:t>ターニングギヤ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3064" y="1892808"/>
            <a:ext cx="2496312" cy="256032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20" b="0">
                <a:solidFill>
                  <a:srgbClr val="1F2937"/>
                </a:solidFill>
                <a:latin typeface="Noto Sans CJK JP"/>
              </a:rPr>
              <a:t>停止後のロータを低速回転させる。</a:t>
            </a:r>
            <a:br/>
            <a:br/>
            <a:r>
              <a:t>上下の温度差による不均一収縮を抑え、ロータの曲がりを防ぐ。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4800600"/>
            <a:ext cx="5897880" cy="786384"/>
          </a:xfrm>
          <a:prstGeom prst="roundRect">
            <a:avLst/>
          </a:prstGeom>
          <a:solidFill>
            <a:srgbClr val="FCEDEA"/>
          </a:solidFill>
          <a:ln w="12700">
            <a:solidFill>
              <a:srgbClr val="B54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4104" y="4910328"/>
            <a:ext cx="5605272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B5473A"/>
                </a:solidFill>
                <a:latin typeface="Noto Sans CJK JP"/>
              </a:rPr>
              <a:t>二次答案の型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5276088"/>
            <a:ext cx="5605272" cy="192023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60" b="0">
                <a:solidFill>
                  <a:srgbClr val="1F2937"/>
                </a:solidFill>
                <a:latin typeface="Noto Sans CJK JP"/>
              </a:rPr>
              <a:t>補機名だけで終えず「停止後の物理現象 → 放置時の損傷 → 継続運転の目的」まで書く。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806440"/>
            <a:ext cx="457200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JP"/>
              </a:rPr>
              <a:t>範囲境界：復水・給水設備の詳細構成そのものは追加しない。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11064240" cy="4754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Noto Sans CJK JP"/>
              </a:rPr>
              <a:t>夏の高温で最大出力が落ちる因果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CJK JP"/>
              </a:rPr>
              <a:t>H29二次：途中を飛ばさず、原因→中間現象→出力への影響→対策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16459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Noto Sans CJK JP"/>
              </a:rPr>
              <a:t>電験二種・電力｜Topic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325880" cy="786384"/>
          </a:xfrm>
          <a:prstGeom prst="roundRect">
            <a:avLst/>
          </a:prstGeom>
          <a:solidFill>
            <a:srgbClr val="FCEDEA"/>
          </a:solidFill>
          <a:ln>
            <a:solidFill>
              <a:srgbClr val="B54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1664208"/>
            <a:ext cx="1252728" cy="2468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280" b="1">
                <a:solidFill>
                  <a:srgbClr val="B5473A"/>
                </a:solidFill>
                <a:latin typeface="Noto Sans CJK JP"/>
              </a:rPr>
              <a:t>大気温度↑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1810512"/>
            <a:ext cx="256031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57400" y="1417320"/>
            <a:ext cx="1325880" cy="786384"/>
          </a:xfrm>
          <a:prstGeom prst="roundRect">
            <a:avLst/>
          </a:prstGeom>
          <a:solidFill>
            <a:srgbClr val="FFF3E0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664208"/>
            <a:ext cx="1252728" cy="2468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280" b="1">
                <a:solidFill>
                  <a:srgbClr val="D97706"/>
                </a:solidFill>
                <a:latin typeface="Noto Sans CJK JP"/>
              </a:rPr>
              <a:t>吸気密度↓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83280" y="1810512"/>
            <a:ext cx="256032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703320" y="1417320"/>
            <a:ext cx="1325880" cy="786384"/>
          </a:xfrm>
          <a:prstGeom prst="roundRect">
            <a:avLst/>
          </a:prstGeom>
          <a:solidFill>
            <a:srgbClr val="EAF2F8"/>
          </a:solidFill>
          <a:ln>
            <a:solidFill>
              <a:srgbClr val="2F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1664208"/>
            <a:ext cx="1252728" cy="2468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280" b="1">
                <a:solidFill>
                  <a:srgbClr val="2F6B9A"/>
                </a:solidFill>
                <a:latin typeface="Noto Sans CJK JP"/>
              </a:rPr>
              <a:t>質量流量↓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0" y="1810512"/>
            <a:ext cx="256032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49240" y="1417320"/>
            <a:ext cx="1325880" cy="786384"/>
          </a:xfrm>
          <a:prstGeom prst="roundRect">
            <a:avLst/>
          </a:prstGeom>
          <a:solidFill>
            <a:srgbClr val="EAF2F8"/>
          </a:solidFill>
          <a:ln>
            <a:solidFill>
              <a:srgbClr val="2F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5816" y="1664208"/>
            <a:ext cx="1252728" cy="2468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280" b="1">
                <a:solidFill>
                  <a:srgbClr val="2F6B9A"/>
                </a:solidFill>
                <a:latin typeface="Noto Sans CJK JP"/>
              </a:rPr>
              <a:t>GT出力↓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675120" y="1810512"/>
            <a:ext cx="256032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95159" y="1417320"/>
            <a:ext cx="1325880" cy="786384"/>
          </a:xfrm>
          <a:prstGeom prst="roundRect">
            <a:avLst/>
          </a:prstGeom>
          <a:solidFill>
            <a:srgbClr val="FFF3E0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31736" y="1664208"/>
            <a:ext cx="1252728" cy="2468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280" b="1">
                <a:solidFill>
                  <a:srgbClr val="D97706"/>
                </a:solidFill>
                <a:latin typeface="Noto Sans CJK JP"/>
              </a:rPr>
              <a:t>排熱回収↓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321040" y="1810512"/>
            <a:ext cx="256032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641080" y="1417320"/>
            <a:ext cx="1325880" cy="786384"/>
          </a:xfrm>
          <a:prstGeom prst="roundRect">
            <a:avLst/>
          </a:prstGeom>
          <a:solidFill>
            <a:srgbClr val="E9F5EF"/>
          </a:solidFill>
          <a:ln>
            <a:solidFill>
              <a:srgbClr val="2F7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77655" y="1664208"/>
            <a:ext cx="1252728" cy="2468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280" b="1">
                <a:solidFill>
                  <a:srgbClr val="2F7D55"/>
                </a:solidFill>
                <a:latin typeface="Noto Sans CJK JP"/>
              </a:rPr>
              <a:t>ST出力↓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966959" y="1810512"/>
            <a:ext cx="256032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287000" y="1417320"/>
            <a:ext cx="1325880" cy="786384"/>
          </a:xfrm>
          <a:prstGeom prst="roundRect">
            <a:avLst/>
          </a:prstGeom>
          <a:solidFill>
            <a:srgbClr val="FCEDEA"/>
          </a:solidFill>
          <a:ln>
            <a:solidFill>
              <a:srgbClr val="B54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23576" y="1664208"/>
            <a:ext cx="1252728" cy="2468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280" b="1">
                <a:solidFill>
                  <a:srgbClr val="B5473A"/>
                </a:solidFill>
                <a:latin typeface="Noto Sans CJK JP"/>
              </a:rPr>
              <a:t>総出力↓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274320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2852928"/>
            <a:ext cx="4919472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17324D"/>
                </a:solidFill>
                <a:latin typeface="Noto Sans CJK JP"/>
              </a:rPr>
              <a:t>負荷追従の時間差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218688"/>
            <a:ext cx="4919472" cy="17373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20" b="0">
                <a:solidFill>
                  <a:srgbClr val="1F2937"/>
                </a:solidFill>
                <a:latin typeface="Noto Sans CJK JP"/>
              </a:rPr>
              <a:t>GTの燃料投入・出力変化</a:t>
            </a:r>
            <a:br/>
            <a:r>
              <a:t>↓ 排ガス熱量</a:t>
            </a:r>
            <a:br/>
            <a:r>
              <a:t>↓ 蒸気発生量</a:t>
            </a:r>
            <a:br/>
            <a:r>
              <a:t>↓ ST出力</a:t>
            </a:r>
            <a:br/>
            <a:br/>
            <a:r>
              <a:t>蒸気側には熱容量があり、各段は瞬時に同率では変化しない。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743200"/>
            <a:ext cx="5212080" cy="2331720"/>
          </a:xfrm>
          <a:prstGeom prst="roundRect">
            <a:avLst/>
          </a:prstGeom>
          <a:solidFill>
            <a:srgbClr val="E9F5EF"/>
          </a:solidFill>
          <a:ln w="12700">
            <a:solidFill>
              <a:srgbClr val="2F7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852928"/>
            <a:ext cx="4919472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2F7D55"/>
                </a:solidFill>
                <a:latin typeface="Noto Sans CJK JP"/>
              </a:rPr>
              <a:t>改善策：吸気冷却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3218688"/>
            <a:ext cx="4919472" cy="173736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40" b="0">
                <a:solidFill>
                  <a:srgbClr val="1F2937"/>
                </a:solidFill>
                <a:latin typeface="Noto Sans CJK JP"/>
              </a:rPr>
              <a:t>吸気を冷却</a:t>
            </a:r>
            <a:br/>
            <a:r>
              <a:t>→ 密度低下を緩和</a:t>
            </a:r>
            <a:br/>
            <a:r>
              <a:t>→ 質量流量低下を緩和</a:t>
            </a:r>
            <a:br/>
            <a:r>
              <a:t>→ GT最大出力低下を緩和</a:t>
            </a:r>
            <a:br/>
            <a:r>
              <a:t>→ コンバインド最大出力低下を緩和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32120"/>
            <a:ext cx="107899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B5473A"/>
                </a:solidFill>
                <a:latin typeface="Noto Sans CJK JP"/>
              </a:rPr>
              <a:t>「暑いと効率が悪い」だけでは不足。因果の鎖を答案にする。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11064240" cy="47548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300" b="1">
                <a:solidFill>
                  <a:srgbClr val="17324D"/>
                </a:solidFill>
                <a:latin typeface="Noto Sans CJK JP"/>
              </a:rPr>
              <a:t>川崎発電所への接続：実値と仮定値を混ぜない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CJK JP"/>
              </a:rPr>
              <a:t>確認済み実値を固定し、供給余力は教材上の仮定条件で計算する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16459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Noto Sans CJK JP"/>
              </a:rPr>
              <a:t>電験二種・電力｜Topic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3246120" cy="1993392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F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408176"/>
            <a:ext cx="2953512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2F6B9A"/>
                </a:solidFill>
                <a:latin typeface="Noto Sans CJK JP"/>
              </a:rPr>
              <a:t>一次資料で確認した実値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1773936"/>
            <a:ext cx="2953512" cy="1399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Noto Sans CJK JP"/>
              </a:rPr>
              <a:t>総出力 809 MW</a:t>
            </a:r>
            <a:br/>
            <a:r>
              <a:t>発電機 4台</a:t>
            </a:r>
            <a:br/>
            <a:r>
              <a:t>燃料：都市ガス・天然ガス</a:t>
            </a:r>
            <a:br/>
            <a:r>
              <a:t>2024年度発電効率 43.1%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84448"/>
            <a:ext cx="3246120" cy="13258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3694176"/>
            <a:ext cx="2953512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Noto Sans CJK JP"/>
              </a:rPr>
              <a:t>注意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059935"/>
            <a:ext cx="2953512" cy="731519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20" b="0">
                <a:solidFill>
                  <a:srgbClr val="1F2937"/>
                </a:solidFill>
                <a:latin typeface="Noto Sans CJK JP"/>
              </a:rPr>
              <a:t>809 MWの全量を任意時刻に新幹線へ使える、とは意味しない。43.1%も瞬時の負荷率―効率曲線ではない。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298448"/>
            <a:ext cx="7360920" cy="4224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4" y="1408176"/>
            <a:ext cx="7068312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17324D"/>
                </a:solidFill>
                <a:latin typeface="Noto Sans CJK JP"/>
              </a:rPr>
              <a:t>複合・ひっかけ例題（すべて仮定値）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4" y="1773936"/>
            <a:ext cx="7068312" cy="3630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Noto Sans CJK JP"/>
              </a:rPr>
              <a:t>夏季最大発電端 720 MW / 所内率 4.0% / 負荷 670 MW→+35 MW</a:t>
            </a:r>
            <a:br/>
            <a:br/>
            <a:r>
              <a:t>最大送電端：720×0.96 = 691.2 MW</a:t>
            </a:r>
            <a:br/>
            <a:r>
              <a:t>増加後負荷：670+35 = 705 MW</a:t>
            </a:r>
            <a:br/>
            <a:r>
              <a:t>必要発電端：705/0.96 = 734.375 MW</a:t>
            </a:r>
            <a:br/>
            <a:br/>
            <a:r>
              <a:t>734.375 &gt; 720 → 発電端で14.375 MW不足</a:t>
            </a:r>
            <a:br/>
            <a:r>
              <a:t>705−691.2 = 13.8 MW → 送電端でも不足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074920"/>
            <a:ext cx="6858000" cy="329184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250" b="1">
                <a:solidFill>
                  <a:srgbClr val="2F7D55"/>
                </a:solidFill>
                <a:latin typeface="Noto Sans CJK JP"/>
              </a:rPr>
              <a:t>比較する端点をそろえる：送電端負荷 ↔ 送電端能力 ／ 発電端必要出力 ↔ 発電端上限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15584"/>
            <a:ext cx="108356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Noto Sans CJK JP"/>
              </a:rPr>
              <a:t>未確認の個別効率曲線・列車1本電力・実設備ランプレートは使用していない。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