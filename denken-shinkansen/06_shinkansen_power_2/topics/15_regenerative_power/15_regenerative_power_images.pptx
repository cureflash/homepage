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nd"/>
          <p:cNvSpPr/>
          <p:nvPr/>
        </p:nvSpPr>
        <p:spPr>
          <a:xfrm>
            <a:off x="0" y="0"/>
            <a:ext cx="12192000" cy="900000"/>
          </a:xfrm>
          <a:prstGeom prst="roundRect">
            <a:avLst/>
          </a:prstGeom>
          <a:solidFill>
            <a:srgbClr val="203650"/>
          </a:solidFill>
          <a:ln w="12700">
            <a:solidFill>
              <a:srgbClr val="203650"/>
            </a:solidFill>
          </a:ln>
        </p:spPr>
        <p:txBody>
          <a:bodyPr wrap="square"/>
          <a:lstStyle/>
          <a:p>
            <a:r>
              <a:rPr lang="ja-JP" sz="2600" dirty="0">
                <a:solidFill>
                  <a:srgbClr val="FFFFFF"/>
                </a:solidFill>
                <a:latin typeface="Noto Sans CJK JP"/>
                <a:ea typeface="Noto Sans CJK JP"/>
              </a:rPr>
              <a:t>回生電力が大量に戻ったら？</a:t>
            </a:r>
            <a:endParaRPr lang="ja-JP" sz="2600"/>
          </a:p>
        </p:txBody>
      </p:sp>
      <p:sp>
        <p:nvSpPr>
          <p:cNvPr id="3" name="Content"/>
          <p:cNvSpPr/>
          <p:nvPr/>
        </p:nvSpPr>
        <p:spPr>
          <a:xfrm>
            <a:off x="500000" y="1200000"/>
            <a:ext cx="11192000" cy="48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9E2F3"/>
            </a:solidFill>
          </a:ln>
        </p:spPr>
        <p:txBody>
          <a:bodyPr wrap="square"/>
          <a:lstStyle/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回生：列車 → 系統側（通常受電方向と逆）</a:t>
            </a:r>
            <a:endParaRPr lang="ja-JP" sz="1700"/>
          </a:p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受入先：①他列車・一般負荷 ②蓄電設備 ③上位系統への逆潮流</a:t>
            </a:r>
            <a:endParaRPr lang="ja-JP" sz="1700"/>
          </a:p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P_grid = P_traction − P_regen + P_charge − P_discharge</a:t>
            </a:r>
            <a:endParaRPr lang="ja-JP" sz="1700"/>
          </a:p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P_grid &gt; 0：受電 ／ P_grid &lt; 0：逆潮流</a:t>
            </a:r>
            <a:endParaRPr lang="ja-JP" sz="1700"/>
          </a:p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系統受容性が不足すると逆潮流・電圧上昇の要因。全受入先に余地がなければ回生失効の概念へ。</a:t>
            </a:r>
            <a:endParaRPr lang="ja-JP" sz="1700"/>
          </a:p>
        </p:txBody>
      </p:sp>
      <p:sp>
        <p:nvSpPr>
          <p:cNvPr id="4" name="Footer"/>
          <p:cNvSpPr/>
          <p:nvPr/>
        </p:nvSpPr>
        <p:spPr>
          <a:xfrm>
            <a:off x="700000" y="6200000"/>
            <a:ext cx="10800000" cy="4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/>
          <a:lstStyle/>
          <a:p>
            <a:r>
              <a:rPr lang="ja-JP" sz="900" dirty="0">
                <a:solidFill>
                  <a:srgbClr val="1F3651"/>
                </a:solidFill>
                <a:latin typeface="Noto Sans CJK JP"/>
                <a:ea typeface="Noto Sans CJK JP"/>
              </a:rPr>
              <a:t>Topic 15 / 既存source・固定過去問のみ。数値例は教材用仮定値。</a:t>
            </a:r>
            <a:endParaRPr lang="ja-JP" sz="9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nd"/>
          <p:cNvSpPr/>
          <p:nvPr/>
        </p:nvSpPr>
        <p:spPr>
          <a:xfrm>
            <a:off x="0" y="0"/>
            <a:ext cx="12192000" cy="900000"/>
          </a:xfrm>
          <a:prstGeom prst="roundRect">
            <a:avLst/>
          </a:prstGeom>
          <a:solidFill>
            <a:srgbClr val="203650"/>
          </a:solidFill>
          <a:ln w="12700">
            <a:solidFill>
              <a:srgbClr val="203650"/>
            </a:solidFill>
          </a:ln>
        </p:spPr>
        <p:txBody>
          <a:bodyPr wrap="square"/>
          <a:lstStyle/>
          <a:p>
            <a:r>
              <a:rPr lang="ja-JP" sz="2600" dirty="0">
                <a:solidFill>
                  <a:srgbClr val="FFFFFF"/>
                </a:solidFill>
                <a:latin typeface="Noto Sans CJK JP"/>
                <a:ea typeface="Noto Sans CJK JP"/>
              </a:rPr>
              <a:t>時間軸で見る：力行・回生・蓄電・逆潮流</a:t>
            </a:r>
            <a:endParaRPr lang="ja-JP" sz="2600"/>
          </a:p>
        </p:txBody>
      </p:sp>
      <p:sp>
        <p:nvSpPr>
          <p:cNvPr id="3" name="Content"/>
          <p:cNvSpPr/>
          <p:nvPr/>
        </p:nvSpPr>
        <p:spPr>
          <a:xfrm>
            <a:off x="500000" y="1200000"/>
            <a:ext cx="11192000" cy="48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9E2F3"/>
            </a:solidFill>
          </a:ln>
        </p:spPr>
        <p:txBody>
          <a:bodyPr wrap="square"/>
          <a:lstStyle/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時刻[min]          0–1   1–2   2–3   3–4   4–5</a:t>
            </a:r>
            <a:endParaRPr lang="ja-JP" sz="1700"/>
          </a:p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力行 P_trac [MW]     6     3     2     7     4</a:t>
            </a:r>
            <a:endParaRPr lang="ja-JP" sz="1700"/>
          </a:p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回生 P_regen[MW]     0     5     6     0     1</a:t>
            </a:r>
            <a:endParaRPr lang="ja-JP" sz="1700"/>
          </a:p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蓄電なし P_grid      6    −2    −4     7     3</a:t>
            </a:r>
            <a:endParaRPr lang="ja-JP" sz="1700"/>
          </a:p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蓄電あり P_grid      6     0    −2     5     2</a:t>
            </a:r>
            <a:endParaRPr lang="ja-JP" sz="1700"/>
          </a:p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2–3 min：2 − 6 + 2 = −2 MW → 蓄電2 MW後も2 MWが上位側へ戻る。</a:t>
            </a:r>
            <a:endParaRPr lang="ja-JP" sz="1700"/>
          </a:p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可視化①力行/回生の時系列 ②変電所から見た正味電力 ③蓄電あり/なし比較</a:t>
            </a:r>
            <a:endParaRPr lang="ja-JP" sz="1700"/>
          </a:p>
        </p:txBody>
      </p:sp>
      <p:sp>
        <p:nvSpPr>
          <p:cNvPr id="4" name="Footer"/>
          <p:cNvSpPr/>
          <p:nvPr/>
        </p:nvSpPr>
        <p:spPr>
          <a:xfrm>
            <a:off x="700000" y="6200000"/>
            <a:ext cx="10800000" cy="4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/>
          <a:lstStyle/>
          <a:p>
            <a:r>
              <a:rPr lang="ja-JP" sz="900" dirty="0">
                <a:solidFill>
                  <a:srgbClr val="1F3651"/>
                </a:solidFill>
                <a:latin typeface="Noto Sans CJK JP"/>
                <a:ea typeface="Noto Sans CJK JP"/>
              </a:rPr>
              <a:t>Topic 15 / 既存source・固定過去問のみ。数値例は教材用仮定値。</a:t>
            </a:r>
            <a:endParaRPr lang="ja-JP"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nd"/>
          <p:cNvSpPr/>
          <p:nvPr/>
        </p:nvSpPr>
        <p:spPr>
          <a:xfrm>
            <a:off x="0" y="0"/>
            <a:ext cx="12192000" cy="900000"/>
          </a:xfrm>
          <a:prstGeom prst="roundRect">
            <a:avLst/>
          </a:prstGeom>
          <a:solidFill>
            <a:srgbClr val="203650"/>
          </a:solidFill>
          <a:ln w="12700">
            <a:solidFill>
              <a:srgbClr val="203650"/>
            </a:solidFill>
          </a:ln>
        </p:spPr>
        <p:txBody>
          <a:bodyPr wrap="square"/>
          <a:lstStyle/>
          <a:p>
            <a:r>
              <a:rPr lang="ja-JP" sz="2600" dirty="0">
                <a:solidFill>
                  <a:srgbClr val="FFFFFF"/>
                </a:solidFill>
                <a:latin typeface="Noto Sans CJK JP"/>
                <a:ea typeface="Noto Sans CJK JP"/>
              </a:rPr>
              <a:t>二次電池：一次試験の頻出指標</a:t>
            </a:r>
            <a:endParaRPr lang="ja-JP" sz="2600"/>
          </a:p>
        </p:txBody>
      </p:sp>
      <p:sp>
        <p:nvSpPr>
          <p:cNvPr id="3" name="Content"/>
          <p:cNvSpPr/>
          <p:nvPr/>
        </p:nvSpPr>
        <p:spPr>
          <a:xfrm>
            <a:off x="500000" y="1200000"/>
            <a:ext cx="11192000" cy="48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9E2F3"/>
            </a:solidFill>
          </a:ln>
        </p:spPr>
        <p:txBody>
          <a:bodyPr wrap="square"/>
          <a:lstStyle/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SOC = E_now / E_rated × 100 [%] ／ C-rate ≒ P / E_rated [1/h]</a:t>
            </a:r>
            <a:endParaRPr lang="ja-JP" sz="1700"/>
          </a:p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η_ch = E_stored/E_in ／ η_dis = E_out/E_from_storage ／ η_rt = η_ch η_dis</a:t>
            </a:r>
            <a:endParaRPr lang="ja-JP" sz="1700"/>
          </a:p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自己放電：無負荷でも蓄電量が時間とともに減少</a:t>
            </a:r>
            <a:endParaRPr lang="ja-JP" sz="1700"/>
          </a:p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NaS：高温作動型（約300 ℃程度） ／ Li-ion：高エネルギー密度・モジュール化しやすい</a:t>
            </a:r>
            <a:endParaRPr lang="ja-JP" sz="1700"/>
          </a:p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レドックスフロー：容量は主に電解液・タンク、出力は主にセルスタック</a:t>
            </a:r>
            <a:endParaRPr lang="ja-JP" sz="1700"/>
          </a:p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R2一次問6：5/5答案要素 ／ H28一次問5：5/5答案要素</a:t>
            </a:r>
            <a:endParaRPr lang="ja-JP" sz="1700"/>
          </a:p>
        </p:txBody>
      </p:sp>
      <p:sp>
        <p:nvSpPr>
          <p:cNvPr id="4" name="Footer"/>
          <p:cNvSpPr/>
          <p:nvPr/>
        </p:nvSpPr>
        <p:spPr>
          <a:xfrm>
            <a:off x="700000" y="6200000"/>
            <a:ext cx="10800000" cy="4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/>
          <a:lstStyle/>
          <a:p>
            <a:r>
              <a:rPr lang="ja-JP" sz="900" dirty="0">
                <a:solidFill>
                  <a:srgbClr val="1F3651"/>
                </a:solidFill>
                <a:latin typeface="Noto Sans CJK JP"/>
                <a:ea typeface="Noto Sans CJK JP"/>
              </a:rPr>
              <a:t>Topic 15 / 既存source・固定過去問のみ。数値例は教材用仮定値。</a:t>
            </a:r>
            <a:endParaRPr lang="ja-JP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nd"/>
          <p:cNvSpPr/>
          <p:nvPr/>
        </p:nvSpPr>
        <p:spPr>
          <a:xfrm>
            <a:off x="0" y="0"/>
            <a:ext cx="12192000" cy="900000"/>
          </a:xfrm>
          <a:prstGeom prst="roundRect">
            <a:avLst/>
          </a:prstGeom>
          <a:solidFill>
            <a:srgbClr val="203650"/>
          </a:solidFill>
          <a:ln w="12700">
            <a:solidFill>
              <a:srgbClr val="203650"/>
            </a:solidFill>
          </a:ln>
        </p:spPr>
        <p:txBody>
          <a:bodyPr wrap="square"/>
          <a:lstStyle/>
          <a:p>
            <a:r>
              <a:rPr lang="ja-JP" sz="2600" dirty="0">
                <a:solidFill>
                  <a:srgbClr val="FFFFFF"/>
                </a:solidFill>
                <a:latin typeface="Noto Sans CJK JP"/>
                <a:ea typeface="Noto Sans CJK JP"/>
              </a:rPr>
              <a:t>揚水発電：発電と揚水を分ける</a:t>
            </a:r>
            <a:endParaRPr lang="ja-JP" sz="2600"/>
          </a:p>
        </p:txBody>
      </p:sp>
      <p:sp>
        <p:nvSpPr>
          <p:cNvPr id="3" name="Content"/>
          <p:cNvSpPr/>
          <p:nvPr/>
        </p:nvSpPr>
        <p:spPr>
          <a:xfrm>
            <a:off x="500000" y="1200000"/>
            <a:ext cx="11192000" cy="48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9E2F3"/>
            </a:solidFill>
          </a:ln>
        </p:spPr>
        <p:txBody>
          <a:bodyPr wrap="square"/>
          <a:lstStyle/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H_gen = H_static − h_loss</a:t>
            </a:r>
            <a:endParaRPr lang="ja-JP" sz="1700"/>
          </a:p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P_gen = ρ g Q H_gen η_t η_g</a:t>
            </a:r>
            <a:endParaRPr lang="ja-JP" sz="1700"/>
          </a:p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H_pump = H_static + h_loss</a:t>
            </a:r>
            <a:endParaRPr lang="ja-JP" sz="1700"/>
          </a:p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P_pump,in = ρ g Q H_pump / (η_p η_m)</a:t>
            </a:r>
            <a:endParaRPr lang="ja-JP" sz="1700"/>
          </a:p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η_total = E_gen / E_pump</a:t>
            </a:r>
            <a:endParaRPr lang="ja-JP" sz="1700"/>
          </a:p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発電時は損失水頭を引き効率を掛ける。揚水時は損失水頭を足し効率で割る。</a:t>
            </a:r>
            <a:endParaRPr lang="ja-JP" sz="1700"/>
          </a:p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H26一次問1：5/5答案要素</a:t>
            </a:r>
            <a:endParaRPr lang="ja-JP" sz="1700"/>
          </a:p>
        </p:txBody>
      </p:sp>
      <p:sp>
        <p:nvSpPr>
          <p:cNvPr id="4" name="Footer"/>
          <p:cNvSpPr/>
          <p:nvPr/>
        </p:nvSpPr>
        <p:spPr>
          <a:xfrm>
            <a:off x="700000" y="6200000"/>
            <a:ext cx="10800000" cy="4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/>
          <a:lstStyle/>
          <a:p>
            <a:r>
              <a:rPr lang="ja-JP" sz="900" dirty="0">
                <a:solidFill>
                  <a:srgbClr val="1F3651"/>
                </a:solidFill>
                <a:latin typeface="Noto Sans CJK JP"/>
                <a:ea typeface="Noto Sans CJK JP"/>
              </a:rPr>
              <a:t>Topic 15 / 既存source・固定過去問のみ。数値例は教材用仮定値。</a:t>
            </a:r>
            <a:endParaRPr lang="ja-JP"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nd"/>
          <p:cNvSpPr/>
          <p:nvPr/>
        </p:nvSpPr>
        <p:spPr>
          <a:xfrm>
            <a:off x="0" y="0"/>
            <a:ext cx="12192000" cy="900000"/>
          </a:xfrm>
          <a:prstGeom prst="roundRect">
            <a:avLst/>
          </a:prstGeom>
          <a:solidFill>
            <a:srgbClr val="203650"/>
          </a:solidFill>
          <a:ln w="12700">
            <a:solidFill>
              <a:srgbClr val="203650"/>
            </a:solidFill>
          </a:ln>
        </p:spPr>
        <p:txBody>
          <a:bodyPr wrap="square"/>
          <a:lstStyle/>
          <a:p>
            <a:r>
              <a:rPr lang="ja-JP" sz="2600" dirty="0">
                <a:solidFill>
                  <a:srgbClr val="FFFFFF"/>
                </a:solidFill>
                <a:latin typeface="Noto Sans CJK JP"/>
                <a:ea typeface="Noto Sans CJK JP"/>
              </a:rPr>
              <a:t>二次記述：電力融通と貯蔵方式</a:t>
            </a:r>
            <a:endParaRPr lang="ja-JP" sz="2600"/>
          </a:p>
        </p:txBody>
      </p:sp>
      <p:sp>
        <p:nvSpPr>
          <p:cNvPr id="3" name="Content"/>
          <p:cNvSpPr/>
          <p:nvPr/>
        </p:nvSpPr>
        <p:spPr>
          <a:xfrm>
            <a:off x="500000" y="1200000"/>
            <a:ext cx="11192000" cy="48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9E2F3"/>
            </a:solidFill>
          </a:ln>
        </p:spPr>
        <p:txBody>
          <a:bodyPr wrap="square"/>
          <a:lstStyle/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広域連系：ピーク時刻の非同時性 → 合成最大電力低下 → 負荷率改善</a:t>
            </a:r>
            <a:endParaRPr lang="ja-JP" sz="1700"/>
          </a:p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需要家側蓄電池：低需要時充電・ピーク時放電 → 負荷平準化／ピークカット</a:t>
            </a:r>
            <a:endParaRPr lang="ja-JP" sz="1700"/>
          </a:p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電池：化学エネルギー。変換器を介し充放電。高エネルギー密度・モジュール化。</a:t>
            </a:r>
            <a:endParaRPr lang="ja-JP" sz="1700"/>
          </a:p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フライホイール：E = 1/2 Jω²。応答が速く繰返し充放電向き。</a:t>
            </a:r>
            <a:endParaRPr lang="ja-JP" sz="1700"/>
          </a:p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SMES：E = 1/2 LI²。超電導コイルの磁気エネルギー。応答が速い。</a:t>
            </a:r>
            <a:endParaRPr lang="ja-JP" sz="1700"/>
          </a:p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H25二次問6：3/3答案群 ／ H21二次問4：6/6答案要素</a:t>
            </a:r>
            <a:endParaRPr lang="ja-JP" sz="1700"/>
          </a:p>
          <a:p>
            <a:r>
              <a:rPr lang="ja-JP" sz="1700" dirty="0">
                <a:solidFill>
                  <a:srgbClr val="1F3651"/>
                </a:solidFill>
                <a:latin typeface="Noto Sans CJK JP"/>
                <a:ea typeface="Noto Sans CJK JP"/>
              </a:rPr>
              <a:t>答案は「方式名 → エネルギー形態 → 原理 → 特徴」。</a:t>
            </a:r>
            <a:endParaRPr lang="ja-JP" sz="1700"/>
          </a:p>
        </p:txBody>
      </p:sp>
      <p:sp>
        <p:nvSpPr>
          <p:cNvPr id="4" name="Footer"/>
          <p:cNvSpPr/>
          <p:nvPr/>
        </p:nvSpPr>
        <p:spPr>
          <a:xfrm>
            <a:off x="700000" y="6200000"/>
            <a:ext cx="10800000" cy="4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/>
          <a:lstStyle/>
          <a:p>
            <a:r>
              <a:rPr lang="ja-JP" sz="900" dirty="0">
                <a:solidFill>
                  <a:srgbClr val="1F3651"/>
                </a:solidFill>
                <a:latin typeface="Noto Sans CJK JP"/>
                <a:ea typeface="Noto Sans CJK JP"/>
              </a:rPr>
              <a:t>Topic 15 / 既存source・固定過去問のみ。数値例は教材用仮定値。</a:t>
            </a:r>
            <a:endParaRPr lang="ja-JP" sz="900"/>
          </a:p>
        </p:txBody>
      </p:sp>
    </p:spTree>
  </p:cSld>
  <p:clrMapOvr>
    <a:masterClrMapping/>
  </p:clrMapOvr>
</p:sld>
</file>