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D242B"/>
                </a:solidFill>
                <a:latin typeface="Noto Sans CJK JP"/>
              </a:rPr>
              <a:t>3. 東京―佐世保の必要走行エネルギー比較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06B"/>
                </a:solidFill>
                <a:latin typeface="Noto Sans CJK JP"/>
              </a:rPr>
              <a:t>系列SPEC補強 / すべて教材用仮定値で比較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7432"/>
          </a:xfrm>
          <a:prstGeom prst="rect">
            <a:avLst/>
          </a:prstGeom>
          <a:solidFill>
            <a:srgbClr val="3B5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65760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33284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必要エネルギー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3328416" cy="3904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D242B"/>
                </a:solidFill>
                <a:latin typeface="Noto Sans CJK JP"/>
              </a:rPr>
              <a:t>総走行時間 t = 8.0 h
平均必要車輪出力 P_req = 4.0 MW
E_req = P_req t
      = 4.0 × 8.0
      = 32 MWh
実在列車の運転時分・消費電力量は用いない。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71600"/>
            <a:ext cx="71780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481328"/>
            <a:ext cx="68488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8.0 hの供給可能エネルギー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1874519"/>
            <a:ext cx="6848855" cy="3904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D242B"/>
                </a:solidFill>
                <a:latin typeface="Noto Sans CJK JP"/>
              </a:rPr>
              <a:t>η_th 20%: 47.4 MWh　（+15.4 MWh）
η_th 25%: 59.3 MWh　（+27.3 MWh）
η_th 30%: 71.2 MWh　（+39.2 MWh）
3ケースとも教材条件の32 MWhを上回る。
ただしこれは熱収支・多段効率をエネルギーへ接続する例で、実運転成立性を示さない。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6510528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4606B"/>
                </a:solidFill>
                <a:latin typeface="Noto Sans CJK JP"/>
              </a:rPr>
              <a:t>Topic 04 | 電験二種「電力」 / 「電力・管理」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D242B"/>
                </a:solidFill>
                <a:latin typeface="Noto Sans CJK JP"/>
              </a:rPr>
              <a:t>4. 所内電源・非常用電源・停止時補機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06B"/>
                </a:solidFill>
                <a:latin typeface="Noto Sans CJK JP"/>
              </a:rPr>
              <a:t>R3一次「電力」問5 / R1二次「電力・管理」問1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7432"/>
          </a:xfrm>
          <a:prstGeom prst="rect">
            <a:avLst/>
          </a:prstGeom>
          <a:solidFill>
            <a:srgbClr val="3B5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直流非常用電源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24140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2B"/>
                </a:solidFill>
                <a:latin typeface="Noto Sans CJK JP"/>
              </a:rPr>
              <a:t>蓄電池で保護・制御回路などへ給電。
必要容量は負荷と停電継続時間から考える。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7432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481328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非常用交流電源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1874519"/>
            <a:ext cx="24140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2B"/>
                </a:solidFill>
                <a:latin typeface="Noto Sans CJK JP"/>
              </a:rPr>
              <a:t>交流で継続駆動する重要補機へ、非常用ディーゼル発電機等から給電。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25146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481328"/>
            <a:ext cx="21854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ターニングギヤ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1874519"/>
            <a:ext cx="21854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D242B"/>
                </a:solidFill>
                <a:latin typeface="Noto Sans CJK JP"/>
              </a:rPr>
              <a:t>高温ロータを低速回転。
不均一冷却による熱偏心・曲がりを防ぐ。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371600"/>
            <a:ext cx="25146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1481328"/>
            <a:ext cx="21854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密封油ポンプ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2872" y="1874519"/>
            <a:ext cx="21854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D242B"/>
                </a:solidFill>
                <a:latin typeface="Noto Sans CJK JP"/>
              </a:rPr>
              <a:t>水素冷却発電機の軸封へ密封油を供給。
水素の機外漏えいを防ぐ。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9893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B556A"/>
                </a:solidFill>
                <a:latin typeface="Noto Sans CJK JP"/>
              </a:rPr>
              <a:t>二次論説: 「停止後に残る状態 → 放置時の問題 → 継続運転の目的」の順で書く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6510528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4606B"/>
                </a:solidFill>
                <a:latin typeface="Noto Sans CJK JP"/>
              </a:rPr>
              <a:t>Topic 04 | 電験二種「電力」 / 「電力・管理」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D242B"/>
                </a:solidFill>
                <a:latin typeface="Noto Sans CJK JP"/>
              </a:rPr>
              <a:t>5. 負荷変動・速度調定率・並列負荷分担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06B"/>
                </a:solidFill>
                <a:latin typeface="Noto Sans CJK JP"/>
              </a:rPr>
              <a:t>R3二次「電力・管理」問6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7432"/>
          </a:xfrm>
          <a:prstGeom prst="rect">
            <a:avLst/>
          </a:prstGeom>
          <a:solidFill>
            <a:srgbClr val="3B5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6576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33284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速度調定率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33284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D242B"/>
                </a:solidFill>
                <a:latin typeface="Noto Sans CJK JP"/>
              </a:rPr>
              <a:t>R = Δf₀ / f_n × 100 [%]
K = P_n / (f_n R) [MW/Hz]
Rは小数で代入。
負荷減少 → 周波数上昇
負荷増加 → 周波数低下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71600"/>
            <a:ext cx="365760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481328"/>
            <a:ext cx="33284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並列発電機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1874519"/>
            <a:ext cx="332841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D242B"/>
                </a:solidFill>
                <a:latin typeface="Noto Sans CJK JP"/>
              </a:rPr>
              <a:t>(K_A + K_B) Δf = |ΔP_L|
同一系統なので Δf は共通。
各機の出力変化を加えると、系統負荷変化に一致する。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291840" cy="4480560"/>
          </a:xfrm>
          <a:prstGeom prst="roundRect">
            <a:avLst/>
          </a:prstGeom>
          <a:solidFill>
            <a:srgbClr val="F5F7F8"/>
          </a:solidFill>
          <a:ln>
            <a:solidFill>
              <a:srgbClr val="BE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481328"/>
            <a:ext cx="296265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556A"/>
                </a:solidFill>
                <a:latin typeface="Noto Sans CJK JP"/>
              </a:rPr>
              <a:t>例題結果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1874519"/>
            <a:ext cx="2962656" cy="3858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D242B"/>
                </a:solidFill>
                <a:latin typeface="Noto Sans CJK JP"/>
              </a:rPr>
              <a:t>A: 100 MW / 4%
B: 60 MW / 5%
負荷減少 24 MW
Δf = 0.324 Hz
f = 50.324 Hz
A = 63.8 MW
B = 42.2 MW
「むつ」: 約6%程度までの比較的小負荷変動に良好追従。限界値は推測しない。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6510528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4606B"/>
                </a:solidFill>
                <a:latin typeface="Noto Sans CJK JP"/>
              </a:rPr>
              <a:t>Topic 04 | 電験二種「電力」 / 「電力・管理」 | 5</a:t>
            </a:r>
          </a:p>
        </p:txBody>
      </p:sp>
    </p:spTree>
  </p:cSld>
  <p:clrMapOvr>
    <a:masterClrMapping/>
  </p:clrMapOvr>
</p:sld>
</file>