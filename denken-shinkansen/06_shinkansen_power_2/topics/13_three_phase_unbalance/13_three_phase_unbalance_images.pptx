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650000" y="5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>
                <a:solidFill>
                  <a:srgbClr val="2266AA"/>
                </a:solidFill>
              </a:rPr>
              <a:t>単相負荷と三相不平衡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0000" y="1600000"/>
            <a:ext cx="10800000" cy="4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1800" b="0">
                <a:solidFill>
                  <a:srgbClr val="182033"/>
                </a:solidFill>
              </a:rPr>
              <a:t>平衡：三相の大きさが等しく120°位相差</a:t>
            </a:r>
          </a:p>
          <a:p>
            <a:r>
              <a:rPr lang="ja-JP" sz="1800" b="0">
                <a:solidFill>
                  <a:srgbClr val="182033"/>
                </a:solidFill>
              </a:rPr>
              <a:t>不平衡：大きさ・位相関係が崩れる</a:t>
            </a:r>
          </a:p>
          <a:p>
            <a:r>
              <a:rPr lang="ja-JP" sz="1800" b="0">
                <a:solidFill>
                  <a:srgbClr val="182033"/>
                </a:solidFill>
              </a:rPr>
              <a:t>正相：a-b-c　逆相：a-c-b　零相：三相同相</a:t>
            </a:r>
          </a:p>
          <a:p>
            <a:r>
              <a:rPr lang="ja-JP" sz="1800" b="0">
                <a:solidFill>
                  <a:srgbClr val="182033"/>
                </a:solidFill>
              </a:rPr>
              <a:t>任意の不平衡量 = 正相 + 逆相 + 零相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650000" y="5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>
                <a:solidFill>
                  <a:srgbClr val="2266AA"/>
                </a:solidFill>
              </a:rPr>
              <a:t>a演算子と対称座標変換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0000" y="1600000"/>
            <a:ext cx="10800000" cy="4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1800" b="0">
                <a:solidFill>
                  <a:srgbClr val="182033"/>
                </a:solidFill>
              </a:rPr>
              <a:t>a=exp(j2π/3)=-1/2+j√3/2</a:t>
            </a:r>
          </a:p>
          <a:p>
            <a:r>
              <a:rPr lang="ja-JP" sz="1800" b="0">
                <a:solidFill>
                  <a:srgbClr val="182033"/>
                </a:solidFill>
              </a:rPr>
              <a:t>X0=(Xa+Xb+Xc)/3</a:t>
            </a:r>
          </a:p>
          <a:p>
            <a:r>
              <a:rPr lang="ja-JP" sz="1800" b="0">
                <a:solidFill>
                  <a:srgbClr val="182033"/>
                </a:solidFill>
              </a:rPr>
              <a:t>X1=(Xa+aXb+a²Xc)/3</a:t>
            </a:r>
          </a:p>
          <a:p>
            <a:r>
              <a:rPr lang="ja-JP" sz="1800" b="0">
                <a:solidFill>
                  <a:srgbClr val="182033"/>
                </a:solidFill>
              </a:rPr>
              <a:t>X2=(Xa+a²Xb+aXc)/3</a:t>
            </a:r>
          </a:p>
          <a:p>
            <a:r>
              <a:rPr lang="ja-JP" sz="1800" b="0">
                <a:solidFill>
                  <a:srgbClr val="182033"/>
                </a:solidFill>
              </a:rPr>
              <a:t>例：Ia=90, Ib=-90, Ic=0 → I0=0, I1=51.96∠-30°, I2=51.96∠+30°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650000" y="5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>
                <a:solidFill>
                  <a:srgbClr val="2266AA"/>
                </a:solidFill>
              </a:rPr>
              <a:t>逆相の影響と不平衡緩和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0000" y="1600000"/>
            <a:ext cx="10800000" cy="4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1800" b="0">
                <a:solidFill>
                  <a:srgbClr val="182033"/>
                </a:solidFill>
              </a:rPr>
              <a:t>逆相電流→逆回転磁界→回転子の誘導電流・渦電流→局部加熱</a:t>
            </a:r>
          </a:p>
          <a:p>
            <a:r>
              <a:rPr lang="ja-JP" sz="1800" b="0">
                <a:solidFill>
                  <a:srgbClr val="182033"/>
                </a:solidFill>
              </a:rPr>
              <a:t>電圧不平衡率=|V2|/|V1|×100[%]（正式ゲート：3%以下）</a:t>
            </a:r>
          </a:p>
          <a:p>
            <a:r>
              <a:rPr lang="ja-JP" sz="1800" b="0">
                <a:solidFill>
                  <a:srgbClr val="182033"/>
                </a:solidFill>
              </a:rPr>
              <a:t>緩和：相振り分け／き電用変圧器の結線＋負荷配分／強い上位系統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2"/>
          <p:cNvSpPr txBox="1"/>
          <p:nvPr/>
        </p:nvSpPr>
        <p:spPr>
          <a:xfrm>
            <a:off x="650000" y="5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>
                <a:solidFill>
                  <a:srgbClr val="2266AA"/>
                </a:solidFill>
              </a:rPr>
              <a:t>異容量V結線：フェーザで容量判定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0000" y="1600000"/>
            <a:ext cx="10800000" cy="42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1800" b="0">
                <a:solidFill>
                  <a:srgbClr val="182033"/>
                </a:solidFill>
              </a:rPr>
              <a:t>Ta:Sa, Tb:Sb (Sa&lt;Sb)</a:t>
            </a:r>
          </a:p>
          <a:p>
            <a:r>
              <a:rPr lang="ja-JP" sz="1800" b="0">
                <a:solidFill>
                  <a:srgbClr val="182033"/>
                </a:solidFill>
              </a:rPr>
              <a:t>P3,max=√3 Sa</a:t>
            </a:r>
          </a:p>
          <a:p>
            <a:r>
              <a:rPr lang="ja-JP" sz="1800" b="0">
                <a:solidFill>
                  <a:srgbClr val="182033"/>
                </a:solidFill>
              </a:rPr>
              <a:t>二つの単相負荷を同一にする最大条件</a:t>
            </a:r>
          </a:p>
          <a:p>
            <a:r>
              <a:rPr lang="ja-JP" sz="1800" b="0">
                <a:solidFill>
                  <a:srgbClr val="182033"/>
                </a:solidFill>
              </a:rPr>
              <a:t>Ta：三相平衡負荷電流のみ</a:t>
            </a:r>
          </a:p>
          <a:p>
            <a:r>
              <a:rPr lang="ja-JP" sz="1800" b="0">
                <a:solidFill>
                  <a:srgbClr val="182033"/>
                </a:solidFill>
              </a:rPr>
              <a:t>Tb：三相平衡＋単相負荷のフェーザ和、三相成分はSa cos30°</a:t>
            </a:r>
          </a:p>
          <a:p>
            <a:r>
              <a:rPr lang="ja-JP" sz="1800" b="0">
                <a:solidFill>
                  <a:srgbClr val="182033"/>
                </a:solidFill>
              </a:rPr>
              <a:t>P1,max=Sb-Sa cos30°</a:t>
            </a:r>
          </a:p>
          <a:p>
            <a:r>
              <a:rPr lang="ja-JP" sz="1800" b="0">
                <a:solidFill>
                  <a:srgbClr val="182033"/>
                </a:solidFill>
              </a:rPr>
              <a:t>ηu=(P3,max+P1,max)/(Sa+Sb)×100</a:t>
            </a:r>
          </a:p>
          <a:p>
            <a:r>
              <a:rPr lang="ja-JP" sz="1800" b="0">
                <a:solidFill>
                  <a:srgbClr val="182033"/>
                </a:solidFill>
              </a:rPr>
              <a:t>仮定値Sa=20,Sb=35→34.64kW,17.68kW,95.13%</a:t>
            </a:r>
          </a:p>
        </p:txBody>
      </p:sp>
    </p:spTree>
  </p:cSld>
</p:sld>
</file>