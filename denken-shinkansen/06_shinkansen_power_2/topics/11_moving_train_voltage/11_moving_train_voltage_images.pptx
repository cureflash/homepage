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2191999" cy="393192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HeaderText"/>
          <p:cNvSpPr txBox="1"/>
          <p:nvPr/>
        </p:nvSpPr>
        <p:spPr>
          <a:xfrm>
            <a:off x="256032" y="36576"/>
            <a:ext cx="4663440" cy="283464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l"/>
            <a:r>
              <a:rPr lang="ja-JP" sz="1100" b="1">
                <a:solidFill>
                  <a:srgbClr val="FFFFFF"/>
                </a:solidFill>
                <a:latin typeface="Noto Sans CJK JP"/>
                <a:ea typeface="Noto Sans CJK JP"/>
              </a:rPr>
              <a:t>電験二種・電力／Topic 11</a:t>
            </a:r>
          </a:p>
        </p:txBody>
      </p:sp>
      <p:sp>
        <p:nvSpPr>
          <p:cNvPr id="4" name="HeaderRight"/>
          <p:cNvSpPr txBox="1"/>
          <p:nvPr/>
        </p:nvSpPr>
        <p:spPr>
          <a:xfrm>
            <a:off x="7772400" y="36576"/>
            <a:ext cx="4114800" cy="283464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r"/>
            <a:r>
              <a:rPr lang="ja-JP" sz="900" b="0">
                <a:solidFill>
                  <a:srgbClr val="DCE8F2"/>
                </a:solidFill>
                <a:latin typeface="Noto Sans CJK JP"/>
                <a:ea typeface="Noto Sans CJK JP"/>
              </a:rPr>
              <a:t>移動負荷と電圧降下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38912" y="56692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2400" b="1">
                <a:solidFill>
                  <a:srgbClr val="0F172A"/>
                </a:solidFill>
                <a:latin typeface="Noto Sans CJK JP"/>
                <a:ea typeface="Noto Sans CJK JP"/>
              </a:rPr>
              <a:t>1｜列車位置 x が変わると、線路インピーダンスが変わる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475488" y="106070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050" b="0">
                <a:solidFill>
                  <a:srgbClr val="64748B"/>
                </a:solidFill>
                <a:latin typeface="Noto Sans CJK JP"/>
                <a:ea typeface="Noto Sans CJK JP"/>
              </a:rPr>
              <a:t>位置を電気回路へ変換する。単一移動負荷だけを扱う。</a:t>
            </a:r>
          </a:p>
        </p:txBody>
      </p:sp>
      <p:sp>
        <p:nvSpPr>
          <p:cNvPr id="7" name="Left"/>
          <p:cNvSpPr txBox="1"/>
          <p:nvPr/>
        </p:nvSpPr>
        <p:spPr>
          <a:xfrm>
            <a:off x="502920" y="1508760"/>
            <a:ext cx="4023360" cy="4434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8"/>
            </a:solidFill>
          </a:ln>
        </p:spPr>
        <p:txBody>
          <a:bodyPr lIns="146304" rIns="146304" tIns="146304" bIns="146304" wrap="square" anchor="t"/>
          <a:lstStyle/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モデル: Vs ─ Z(x) ─ Vr ─ S=P+jQ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Z(x)=z'x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R(x)=r'x,  X(x)=x'x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Vs=Vr+Z(x)I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xが大きいほど対象区間Zが増える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x=12 km → Vr=24.867 kV</a:t>
            </a:r>
          </a:p>
        </p:txBody>
      </p:sp>
      <p:sp>
        <p:nvSpPr>
          <p:cNvPr id="8" name="Chart"/>
          <p:cNvSpPr/>
          <p:nvPr/>
        </p:nvSpPr>
        <p:spPr>
          <a:xfrm>
            <a:off x="4754880" y="1508760"/>
            <a:ext cx="6903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</p:sp>
      <p:sp>
        <p:nvSpPr>
          <p:cNvPr id="9" name="ChartTitle"/>
          <p:cNvSpPr txBox="1"/>
          <p:nvPr/>
        </p:nvSpPr>
        <p:spPr>
          <a:xfrm>
            <a:off x="5074920" y="1682496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300" b="1">
                <a:solidFill>
                  <a:srgbClr val="334155"/>
                </a:solidFill>
                <a:latin typeface="Noto Sans CJK JP"/>
                <a:ea typeface="Noto Sans CJK JP"/>
              </a:rPr>
              <a:t>パンタグラフ電圧 Vr [kV]</a:t>
            </a:r>
          </a:p>
        </p:txBody>
      </p:sp>
      <p:sp>
        <p:nvSpPr>
          <p:cNvPr id="10" name="XAxis"/>
          <p:cNvSpPr/>
          <p:nvPr/>
        </p:nvSpPr>
        <p:spPr>
          <a:xfrm>
            <a:off x="5349240" y="5266944"/>
            <a:ext cx="5669280" cy="0"/>
          </a:xfrm>
          <a:prstGeom prst="line">
            <a:avLst/>
          </a:prstGeom>
          <a:ln w="16000">
            <a:solidFill>
              <a:srgbClr val="94A3B8"/>
            </a:solidFill>
            <a:prstDash val="solid"/>
          </a:ln>
        </p:spPr>
      </p:sp>
      <p:sp>
        <p:nvSpPr>
          <p:cNvPr id="11" name="YAxis"/>
          <p:cNvSpPr/>
          <p:nvPr/>
        </p:nvSpPr>
        <p:spPr>
          <a:xfrm>
            <a:off x="5349240" y="2660904"/>
            <a:ext cx="0" cy="2606040"/>
          </a:xfrm>
          <a:prstGeom prst="line">
            <a:avLst/>
          </a:prstGeom>
          <a:ln w="16000">
            <a:solidFill>
              <a:srgbClr val="94A3B8"/>
            </a:solidFill>
            <a:prstDash val="solid"/>
          </a:ln>
        </p:spPr>
      </p:sp>
      <p:sp>
        <p:nvSpPr>
          <p:cNvPr id="12" name="Grid1"/>
          <p:cNvSpPr/>
          <p:nvPr/>
        </p:nvSpPr>
        <p:spPr>
          <a:xfrm>
            <a:off x="5349240" y="461543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3" name="Grid2"/>
          <p:cNvSpPr/>
          <p:nvPr/>
        </p:nvSpPr>
        <p:spPr>
          <a:xfrm>
            <a:off x="5349240" y="396392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4" name="Grid3"/>
          <p:cNvSpPr/>
          <p:nvPr/>
        </p:nvSpPr>
        <p:spPr>
          <a:xfrm>
            <a:off x="5349240" y="331241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5" name="Data0"/>
          <p:cNvSpPr/>
          <p:nvPr/>
        </p:nvSpPr>
        <p:spPr>
          <a:xfrm>
            <a:off x="5349240" y="2869388"/>
            <a:ext cx="5669280" cy="625449"/>
          </a:xfrm>
          <a:prstGeom prst="line">
            <a:avLst/>
          </a:prstGeom>
          <a:ln w="25000">
            <a:solidFill>
              <a:srgbClr val="2E86C1"/>
            </a:solidFill>
            <a:prstDash val="solid"/>
          </a:ln>
        </p:spPr>
      </p:sp>
      <p:sp>
        <p:nvSpPr>
          <p:cNvPr id="16" name="XLabels"/>
          <p:cNvSpPr txBox="1"/>
          <p:nvPr/>
        </p:nvSpPr>
        <p:spPr>
          <a:xfrm>
            <a:off x="5184648" y="5312664"/>
            <a:ext cx="5998464" cy="50292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c"/>
            <a:r>
              <a:rPr lang="ja-JP" sz="950" b="0">
                <a:solidFill>
                  <a:srgbClr val="64748B"/>
                </a:solidFill>
                <a:latin typeface="Noto Sans CJK JP"/>
                <a:ea typeface="Noto Sans CJK JP"/>
              </a:rPr>
              <a:t>0 km　　　　　　　　　　　 6 km　　　　　　　　　　 12 km</a:t>
            </a:r>
          </a:p>
        </p:txBody>
      </p:sp>
      <p:sp>
        <p:nvSpPr>
          <p:cNvPr id="17" name="ChartLabels"/>
          <p:cNvSpPr txBox="1"/>
          <p:nvPr/>
        </p:nvSpPr>
        <p:spPr>
          <a:xfrm>
            <a:off x="5486400" y="2057400"/>
            <a:ext cx="544068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x=0 km : 25.000 kV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x=6 km : 24.933 kV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x=12 km: 24.867 kV</a:t>
            </a:r>
          </a:p>
        </p:txBody>
      </p:sp>
      <p:sp>
        <p:nvSpPr>
          <p:cNvPr id="18" name="FooterLine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ln w="9000">
            <a:solidFill>
              <a:srgbClr val="CBD5E1"/>
            </a:solidFill>
            <a:prstDash val="solid"/>
          </a:ln>
        </p:spPr>
      </p:sp>
      <p:sp>
        <p:nvSpPr>
          <p:cNvPr id="19" name="Footer"/>
          <p:cNvSpPr txBox="1"/>
          <p:nvPr/>
        </p:nvSpPr>
        <p:spPr>
          <a:xfrm>
            <a:off x="457200" y="6492240"/>
            <a:ext cx="11155680" cy="246888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c"/>
            <a:r>
              <a:rPr lang="ja-JP" sz="750" b="0">
                <a:solidFill>
                  <a:srgbClr val="64748B"/>
                </a:solidFill>
                <a:latin typeface="Noto Sans CJK JP"/>
                <a:ea typeface="Noto Sans CJK JP"/>
              </a:rPr>
              <a:t>学習用仮定値｜実設備値ではない｜Topic 12以降は扱わない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2191999" cy="393192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HeaderText"/>
          <p:cNvSpPr txBox="1"/>
          <p:nvPr/>
        </p:nvSpPr>
        <p:spPr>
          <a:xfrm>
            <a:off x="256032" y="36576"/>
            <a:ext cx="4663440" cy="283464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l"/>
            <a:r>
              <a:rPr lang="ja-JP" sz="1100" b="1">
                <a:solidFill>
                  <a:srgbClr val="FFFFFF"/>
                </a:solidFill>
                <a:latin typeface="Noto Sans CJK JP"/>
                <a:ea typeface="Noto Sans CJK JP"/>
              </a:rPr>
              <a:t>電験二種・電力／Topic 11</a:t>
            </a:r>
          </a:p>
        </p:txBody>
      </p:sp>
      <p:sp>
        <p:nvSpPr>
          <p:cNvPr id="4" name="HeaderRight"/>
          <p:cNvSpPr txBox="1"/>
          <p:nvPr/>
        </p:nvSpPr>
        <p:spPr>
          <a:xfrm>
            <a:off x="7772400" y="36576"/>
            <a:ext cx="4114800" cy="283464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r"/>
            <a:r>
              <a:rPr lang="ja-JP" sz="900" b="0">
                <a:solidFill>
                  <a:srgbClr val="DCE8F2"/>
                </a:solidFill>
                <a:latin typeface="Noto Sans CJK JP"/>
                <a:ea typeface="Noto Sans CJK JP"/>
              </a:rPr>
              <a:t>移動負荷と電圧降下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38912" y="56692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2400" b="1">
                <a:solidFill>
                  <a:srgbClr val="0F172A"/>
                </a:solidFill>
                <a:latin typeface="Noto Sans CJK JP"/>
                <a:ea typeface="Noto Sans CJK JP"/>
              </a:rPr>
              <a:t>2｜複素電力と力率から線路電流を求める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475488" y="106070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050" b="0">
                <a:solidFill>
                  <a:srgbClr val="64748B"/>
                </a:solidFill>
                <a:latin typeface="Noto Sans CJK JP"/>
                <a:ea typeface="Noto Sans CJK JP"/>
              </a:rPr>
              <a:t>受電端Vrを基準に、P・Q・力率からIを決める。</a:t>
            </a:r>
          </a:p>
        </p:txBody>
      </p:sp>
      <p:sp>
        <p:nvSpPr>
          <p:cNvPr id="7" name="Left"/>
          <p:cNvSpPr txBox="1"/>
          <p:nvPr/>
        </p:nvSpPr>
        <p:spPr>
          <a:xfrm>
            <a:off x="502920" y="1508760"/>
            <a:ext cx="4023360" cy="4434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8"/>
            </a:solidFill>
          </a:ln>
        </p:spPr>
        <p:txBody>
          <a:bodyPr lIns="146304" rIns="146304" tIns="146304" bIns="146304" wrap="square" anchor="t"/>
          <a:lstStyle/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S=P+jQ=Vr I*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I=(P−jQ)/Vr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|I|=P/(Vr cosφ)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遅れ力率0.90 → Q&gt;0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Vr低下により|I|はわずかに増える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x=12 km → 178.7 A</a:t>
            </a:r>
          </a:p>
        </p:txBody>
      </p:sp>
      <p:sp>
        <p:nvSpPr>
          <p:cNvPr id="8" name="Chart"/>
          <p:cNvSpPr/>
          <p:nvPr/>
        </p:nvSpPr>
        <p:spPr>
          <a:xfrm>
            <a:off x="4754880" y="1508760"/>
            <a:ext cx="6903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</p:sp>
      <p:sp>
        <p:nvSpPr>
          <p:cNvPr id="9" name="ChartTitle"/>
          <p:cNvSpPr txBox="1"/>
          <p:nvPr/>
        </p:nvSpPr>
        <p:spPr>
          <a:xfrm>
            <a:off x="5074920" y="1682496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300" b="1">
                <a:solidFill>
                  <a:srgbClr val="334155"/>
                </a:solidFill>
                <a:latin typeface="Noto Sans CJK JP"/>
                <a:ea typeface="Noto Sans CJK JP"/>
              </a:rPr>
              <a:t>線路電流 |I| [A]</a:t>
            </a:r>
          </a:p>
        </p:txBody>
      </p:sp>
      <p:sp>
        <p:nvSpPr>
          <p:cNvPr id="10" name="XAxis"/>
          <p:cNvSpPr/>
          <p:nvPr/>
        </p:nvSpPr>
        <p:spPr>
          <a:xfrm>
            <a:off x="5349240" y="5266944"/>
            <a:ext cx="5669280" cy="0"/>
          </a:xfrm>
          <a:prstGeom prst="line">
            <a:avLst/>
          </a:prstGeom>
          <a:ln w="16000">
            <a:solidFill>
              <a:srgbClr val="94A3B8"/>
            </a:solidFill>
            <a:prstDash val="solid"/>
          </a:ln>
        </p:spPr>
      </p:sp>
      <p:sp>
        <p:nvSpPr>
          <p:cNvPr id="11" name="YAxis"/>
          <p:cNvSpPr/>
          <p:nvPr/>
        </p:nvSpPr>
        <p:spPr>
          <a:xfrm>
            <a:off x="5349240" y="2660904"/>
            <a:ext cx="0" cy="2606040"/>
          </a:xfrm>
          <a:prstGeom prst="line">
            <a:avLst/>
          </a:prstGeom>
          <a:ln w="16000">
            <a:solidFill>
              <a:srgbClr val="94A3B8"/>
            </a:solidFill>
            <a:prstDash val="solid"/>
          </a:ln>
        </p:spPr>
      </p:sp>
      <p:sp>
        <p:nvSpPr>
          <p:cNvPr id="12" name="Grid1"/>
          <p:cNvSpPr/>
          <p:nvPr/>
        </p:nvSpPr>
        <p:spPr>
          <a:xfrm>
            <a:off x="5349240" y="461543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3" name="Grid2"/>
          <p:cNvSpPr/>
          <p:nvPr/>
        </p:nvSpPr>
        <p:spPr>
          <a:xfrm>
            <a:off x="5349240" y="396392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4" name="Grid3"/>
          <p:cNvSpPr/>
          <p:nvPr/>
        </p:nvSpPr>
        <p:spPr>
          <a:xfrm>
            <a:off x="5349240" y="331241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5" name="Data0"/>
          <p:cNvSpPr/>
          <p:nvPr/>
        </p:nvSpPr>
        <p:spPr>
          <a:xfrm>
            <a:off x="5349240" y="4615434"/>
            <a:ext cx="5669280" cy="-781812"/>
          </a:xfrm>
          <a:prstGeom prst="line">
            <a:avLst/>
          </a:prstGeom>
          <a:ln w="25000">
            <a:solidFill>
              <a:srgbClr val="2E86C1"/>
            </a:solidFill>
            <a:prstDash val="solid"/>
          </a:ln>
        </p:spPr>
      </p:sp>
      <p:sp>
        <p:nvSpPr>
          <p:cNvPr id="16" name="XLabels"/>
          <p:cNvSpPr txBox="1"/>
          <p:nvPr/>
        </p:nvSpPr>
        <p:spPr>
          <a:xfrm>
            <a:off x="5184648" y="5312664"/>
            <a:ext cx="5998464" cy="50292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c"/>
            <a:r>
              <a:rPr lang="ja-JP" sz="950" b="0">
                <a:solidFill>
                  <a:srgbClr val="64748B"/>
                </a:solidFill>
                <a:latin typeface="Noto Sans CJK JP"/>
                <a:ea typeface="Noto Sans CJK JP"/>
              </a:rPr>
              <a:t>0 km　　　　　　　　　　　 6 km　　　　　　　　　　 12 km</a:t>
            </a:r>
          </a:p>
        </p:txBody>
      </p:sp>
      <p:sp>
        <p:nvSpPr>
          <p:cNvPr id="17" name="ChartLabels"/>
          <p:cNvSpPr txBox="1"/>
          <p:nvPr/>
        </p:nvSpPr>
        <p:spPr>
          <a:xfrm>
            <a:off x="5486400" y="2057400"/>
            <a:ext cx="544068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x=0 km : 177.8 A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x=6 km : 178.3 A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x=12 km: 178.7 A</a:t>
            </a:r>
          </a:p>
        </p:txBody>
      </p:sp>
      <p:sp>
        <p:nvSpPr>
          <p:cNvPr id="18" name="FooterLine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ln w="9000">
            <a:solidFill>
              <a:srgbClr val="CBD5E1"/>
            </a:solidFill>
            <a:prstDash val="solid"/>
          </a:ln>
        </p:spPr>
      </p:sp>
      <p:sp>
        <p:nvSpPr>
          <p:cNvPr id="19" name="Footer"/>
          <p:cNvSpPr txBox="1"/>
          <p:nvPr/>
        </p:nvSpPr>
        <p:spPr>
          <a:xfrm>
            <a:off x="457200" y="6492240"/>
            <a:ext cx="11155680" cy="246888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c"/>
            <a:r>
              <a:rPr lang="ja-JP" sz="750" b="0">
                <a:solidFill>
                  <a:srgbClr val="64748B"/>
                </a:solidFill>
                <a:latin typeface="Noto Sans CJK JP"/>
                <a:ea typeface="Noto Sans CJK JP"/>
              </a:rPr>
              <a:t>学習用仮定値｜実設備値ではない｜Topic 12以降は扱わない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2191999" cy="393192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HeaderText"/>
          <p:cNvSpPr txBox="1"/>
          <p:nvPr/>
        </p:nvSpPr>
        <p:spPr>
          <a:xfrm>
            <a:off x="256032" y="36576"/>
            <a:ext cx="4663440" cy="283464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l"/>
            <a:r>
              <a:rPr lang="ja-JP" sz="1100" b="1">
                <a:solidFill>
                  <a:srgbClr val="FFFFFF"/>
                </a:solidFill>
                <a:latin typeface="Noto Sans CJK JP"/>
                <a:ea typeface="Noto Sans CJK JP"/>
              </a:rPr>
              <a:t>電験二種・電力／Topic 11</a:t>
            </a:r>
          </a:p>
        </p:txBody>
      </p:sp>
      <p:sp>
        <p:nvSpPr>
          <p:cNvPr id="4" name="HeaderRight"/>
          <p:cNvSpPr txBox="1"/>
          <p:nvPr/>
        </p:nvSpPr>
        <p:spPr>
          <a:xfrm>
            <a:off x="7772400" y="36576"/>
            <a:ext cx="4114800" cy="283464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r"/>
            <a:r>
              <a:rPr lang="ja-JP" sz="900" b="0">
                <a:solidFill>
                  <a:srgbClr val="DCE8F2"/>
                </a:solidFill>
                <a:latin typeface="Noto Sans CJK JP"/>
                <a:ea typeface="Noto Sans CJK JP"/>
              </a:rPr>
              <a:t>移動負荷と電圧降下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38912" y="56692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2400" b="1">
                <a:solidFill>
                  <a:srgbClr val="0F172A"/>
                </a:solidFill>
                <a:latin typeface="Noto Sans CJK JP"/>
                <a:ea typeface="Noto Sans CJK JP"/>
              </a:rPr>
              <a:t>3｜有効電力損失は I²R で増える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475488" y="106070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050" b="0">
                <a:solidFill>
                  <a:srgbClr val="64748B"/>
                </a:solidFill>
                <a:latin typeface="Noto Sans CJK JP"/>
                <a:ea typeface="Noto Sans CJK JP"/>
              </a:rPr>
              <a:t>位置が遠いほどR(x)が増え、固定PモデルではIも少し増える。</a:t>
            </a:r>
          </a:p>
        </p:txBody>
      </p:sp>
      <p:sp>
        <p:nvSpPr>
          <p:cNvPr id="7" name="Left"/>
          <p:cNvSpPr txBox="1"/>
          <p:nvPr/>
        </p:nvSpPr>
        <p:spPr>
          <a:xfrm>
            <a:off x="502920" y="1508760"/>
            <a:ext cx="4023360" cy="4434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8"/>
            </a:solidFill>
          </a:ln>
        </p:spPr>
        <p:txBody>
          <a:bodyPr lIns="146304" rIns="146304" tIns="146304" bIns="146304" wrap="square" anchor="t"/>
          <a:lstStyle/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P_loss=|I|²R(x)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R(x)=0.04x Ω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x=0 km : 0 kW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x=6 km : 7.63 kW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x=12 km: 15.33 kW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電圧降下と損失を同じxで追う</a:t>
            </a:r>
          </a:p>
        </p:txBody>
      </p:sp>
      <p:sp>
        <p:nvSpPr>
          <p:cNvPr id="8" name="Chart"/>
          <p:cNvSpPr/>
          <p:nvPr/>
        </p:nvSpPr>
        <p:spPr>
          <a:xfrm>
            <a:off x="4754880" y="1508760"/>
            <a:ext cx="6903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</p:sp>
      <p:sp>
        <p:nvSpPr>
          <p:cNvPr id="9" name="ChartTitle"/>
          <p:cNvSpPr txBox="1"/>
          <p:nvPr/>
        </p:nvSpPr>
        <p:spPr>
          <a:xfrm>
            <a:off x="5074920" y="1682496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300" b="1">
                <a:solidFill>
                  <a:srgbClr val="334155"/>
                </a:solidFill>
                <a:latin typeface="Noto Sans CJK JP"/>
                <a:ea typeface="Noto Sans CJK JP"/>
              </a:rPr>
              <a:t>有効電力損失 P_loss [kW]</a:t>
            </a:r>
          </a:p>
        </p:txBody>
      </p:sp>
      <p:sp>
        <p:nvSpPr>
          <p:cNvPr id="10" name="XAxis"/>
          <p:cNvSpPr/>
          <p:nvPr/>
        </p:nvSpPr>
        <p:spPr>
          <a:xfrm>
            <a:off x="5349240" y="5266944"/>
            <a:ext cx="5669280" cy="0"/>
          </a:xfrm>
          <a:prstGeom prst="line">
            <a:avLst/>
          </a:prstGeom>
          <a:ln w="16000">
            <a:solidFill>
              <a:srgbClr val="94A3B8"/>
            </a:solidFill>
            <a:prstDash val="solid"/>
          </a:ln>
        </p:spPr>
      </p:sp>
      <p:sp>
        <p:nvSpPr>
          <p:cNvPr id="11" name="YAxis"/>
          <p:cNvSpPr/>
          <p:nvPr/>
        </p:nvSpPr>
        <p:spPr>
          <a:xfrm>
            <a:off x="5349240" y="2660904"/>
            <a:ext cx="0" cy="2606040"/>
          </a:xfrm>
          <a:prstGeom prst="line">
            <a:avLst/>
          </a:prstGeom>
          <a:ln w="16000">
            <a:solidFill>
              <a:srgbClr val="94A3B8"/>
            </a:solidFill>
            <a:prstDash val="solid"/>
          </a:ln>
        </p:spPr>
      </p:sp>
      <p:sp>
        <p:nvSpPr>
          <p:cNvPr id="12" name="Grid1"/>
          <p:cNvSpPr/>
          <p:nvPr/>
        </p:nvSpPr>
        <p:spPr>
          <a:xfrm>
            <a:off x="5349240" y="461543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3" name="Grid2"/>
          <p:cNvSpPr/>
          <p:nvPr/>
        </p:nvSpPr>
        <p:spPr>
          <a:xfrm>
            <a:off x="5349240" y="396392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4" name="Grid3"/>
          <p:cNvSpPr/>
          <p:nvPr/>
        </p:nvSpPr>
        <p:spPr>
          <a:xfrm>
            <a:off x="5349240" y="331241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5" name="Data0"/>
          <p:cNvSpPr/>
          <p:nvPr/>
        </p:nvSpPr>
        <p:spPr>
          <a:xfrm>
            <a:off x="5349240" y="5136642"/>
            <a:ext cx="5669280" cy="-2084832"/>
          </a:xfrm>
          <a:prstGeom prst="line">
            <a:avLst/>
          </a:prstGeom>
          <a:ln w="25000">
            <a:solidFill>
              <a:srgbClr val="2E86C1"/>
            </a:solidFill>
            <a:prstDash val="solid"/>
          </a:ln>
        </p:spPr>
      </p:sp>
      <p:sp>
        <p:nvSpPr>
          <p:cNvPr id="16" name="XLabels"/>
          <p:cNvSpPr txBox="1"/>
          <p:nvPr/>
        </p:nvSpPr>
        <p:spPr>
          <a:xfrm>
            <a:off x="5184648" y="5312664"/>
            <a:ext cx="5998464" cy="50292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c"/>
            <a:r>
              <a:rPr lang="ja-JP" sz="950" b="0">
                <a:solidFill>
                  <a:srgbClr val="64748B"/>
                </a:solidFill>
                <a:latin typeface="Noto Sans CJK JP"/>
                <a:ea typeface="Noto Sans CJK JP"/>
              </a:rPr>
              <a:t>0 km　　　　　　　　　　　 6 km　　　　　　　　　　 12 km</a:t>
            </a:r>
          </a:p>
        </p:txBody>
      </p:sp>
      <p:sp>
        <p:nvSpPr>
          <p:cNvPr id="17" name="ChartLabels"/>
          <p:cNvSpPr txBox="1"/>
          <p:nvPr/>
        </p:nvSpPr>
        <p:spPr>
          <a:xfrm>
            <a:off x="5486400" y="2057400"/>
            <a:ext cx="544068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0 km : 0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6 km : 7.63 kW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12 km: 15.33 kW</a:t>
            </a:r>
          </a:p>
        </p:txBody>
      </p:sp>
      <p:sp>
        <p:nvSpPr>
          <p:cNvPr id="18" name="FooterLine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ln w="9000">
            <a:solidFill>
              <a:srgbClr val="CBD5E1"/>
            </a:solidFill>
            <a:prstDash val="solid"/>
          </a:ln>
        </p:spPr>
      </p:sp>
      <p:sp>
        <p:nvSpPr>
          <p:cNvPr id="19" name="Footer"/>
          <p:cNvSpPr txBox="1"/>
          <p:nvPr/>
        </p:nvSpPr>
        <p:spPr>
          <a:xfrm>
            <a:off x="457200" y="6492240"/>
            <a:ext cx="11155680" cy="246888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c"/>
            <a:r>
              <a:rPr lang="ja-JP" sz="750" b="0">
                <a:solidFill>
                  <a:srgbClr val="64748B"/>
                </a:solidFill>
                <a:latin typeface="Noto Sans CJK JP"/>
                <a:ea typeface="Noto Sans CJK JP"/>
              </a:rPr>
              <a:t>学習用仮定値｜実設備値ではない｜Topic 12以降は扱わない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2191999" cy="393192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HeaderText"/>
          <p:cNvSpPr txBox="1"/>
          <p:nvPr/>
        </p:nvSpPr>
        <p:spPr>
          <a:xfrm>
            <a:off x="256032" y="36576"/>
            <a:ext cx="4663440" cy="283464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l"/>
            <a:r>
              <a:rPr lang="ja-JP" sz="1100" b="1">
                <a:solidFill>
                  <a:srgbClr val="FFFFFF"/>
                </a:solidFill>
                <a:latin typeface="Noto Sans CJK JP"/>
                <a:ea typeface="Noto Sans CJK JP"/>
              </a:rPr>
              <a:t>電験二種・電力／Topic 11</a:t>
            </a:r>
          </a:p>
        </p:txBody>
      </p:sp>
      <p:sp>
        <p:nvSpPr>
          <p:cNvPr id="4" name="HeaderRight"/>
          <p:cNvSpPr txBox="1"/>
          <p:nvPr/>
        </p:nvSpPr>
        <p:spPr>
          <a:xfrm>
            <a:off x="7772400" y="36576"/>
            <a:ext cx="4114800" cy="283464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r"/>
            <a:r>
              <a:rPr lang="ja-JP" sz="900" b="0">
                <a:solidFill>
                  <a:srgbClr val="DCE8F2"/>
                </a:solidFill>
                <a:latin typeface="Noto Sans CJK JP"/>
                <a:ea typeface="Noto Sans CJK JP"/>
              </a:rPr>
              <a:t>移動負荷と電圧降下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38912" y="56692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2400" b="1">
                <a:solidFill>
                  <a:srgbClr val="0F172A"/>
                </a:solidFill>
                <a:latin typeface="Noto Sans CJK JP"/>
                <a:ea typeface="Noto Sans CJK JP"/>
              </a:rPr>
              <a:t>4｜「負荷のQ」と「線路のQ」を混同しない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475488" y="106070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050" b="0">
                <a:solidFill>
                  <a:srgbClr val="64748B"/>
                </a:solidFill>
                <a:latin typeface="Noto Sans CJK JP"/>
                <a:ea typeface="Noto Sans CJK JP"/>
              </a:rPr>
              <a:t>SPEC指定の無効電力を、負荷側と線路側に分けて読む。</a:t>
            </a:r>
          </a:p>
        </p:txBody>
      </p:sp>
      <p:sp>
        <p:nvSpPr>
          <p:cNvPr id="7" name="Left"/>
          <p:cNvSpPr txBox="1"/>
          <p:nvPr/>
        </p:nvSpPr>
        <p:spPr>
          <a:xfrm>
            <a:off x="502920" y="1508760"/>
            <a:ext cx="4023360" cy="4434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8"/>
            </a:solidFill>
          </a:ln>
        </p:spPr>
        <p:txBody>
          <a:bodyPr lIns="146304" rIns="146304" tIns="146304" bIns="146304" wrap="square" anchor="t"/>
          <a:lstStyle/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Q_load=P tanφ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Q_line=|I|²X(x)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固定P・固定力率 → Q_load一定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x増加 → X(x), I が増え Q_line増加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正式ゲート: 一次1問＋二次3問</a:t>
            </a:r>
          </a:p>
          <a:p>
            <a:pPr algn="l"/>
            <a:r>
              <a:rPr lang="ja-JP" sz="1500" b="0">
                <a:solidFill>
                  <a:srgbClr val="1F2937"/>
                </a:solidFill>
                <a:latin typeface="Noto Sans CJK JP"/>
                <a:ea typeface="Noto Sans CJK JP"/>
              </a:rPr>
              <a:t>4問・17答案要素を変更しない</a:t>
            </a:r>
          </a:p>
        </p:txBody>
      </p:sp>
      <p:sp>
        <p:nvSpPr>
          <p:cNvPr id="8" name="Chart"/>
          <p:cNvSpPr/>
          <p:nvPr/>
        </p:nvSpPr>
        <p:spPr>
          <a:xfrm>
            <a:off x="4754880" y="1508760"/>
            <a:ext cx="6903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</p:sp>
      <p:sp>
        <p:nvSpPr>
          <p:cNvPr id="9" name="ChartTitle"/>
          <p:cNvSpPr txBox="1"/>
          <p:nvPr/>
        </p:nvSpPr>
        <p:spPr>
          <a:xfrm>
            <a:off x="5074920" y="1682496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300" b="1">
                <a:solidFill>
                  <a:srgbClr val="334155"/>
                </a:solidFill>
                <a:latin typeface="Noto Sans CJK JP"/>
                <a:ea typeface="Noto Sans CJK JP"/>
              </a:rPr>
              <a:t>無効電力 [kvar]</a:t>
            </a:r>
          </a:p>
        </p:txBody>
      </p:sp>
      <p:sp>
        <p:nvSpPr>
          <p:cNvPr id="10" name="XAxis"/>
          <p:cNvSpPr/>
          <p:nvPr/>
        </p:nvSpPr>
        <p:spPr>
          <a:xfrm>
            <a:off x="5349240" y="5266944"/>
            <a:ext cx="5669280" cy="0"/>
          </a:xfrm>
          <a:prstGeom prst="line">
            <a:avLst/>
          </a:prstGeom>
          <a:ln w="16000">
            <a:solidFill>
              <a:srgbClr val="94A3B8"/>
            </a:solidFill>
            <a:prstDash val="solid"/>
          </a:ln>
        </p:spPr>
      </p:sp>
      <p:sp>
        <p:nvSpPr>
          <p:cNvPr id="11" name="YAxis"/>
          <p:cNvSpPr/>
          <p:nvPr/>
        </p:nvSpPr>
        <p:spPr>
          <a:xfrm>
            <a:off x="5349240" y="2660904"/>
            <a:ext cx="0" cy="2606040"/>
          </a:xfrm>
          <a:prstGeom prst="line">
            <a:avLst/>
          </a:prstGeom>
          <a:ln w="16000">
            <a:solidFill>
              <a:srgbClr val="94A3B8"/>
            </a:solidFill>
            <a:prstDash val="solid"/>
          </a:ln>
        </p:spPr>
      </p:sp>
      <p:sp>
        <p:nvSpPr>
          <p:cNvPr id="12" name="Grid1"/>
          <p:cNvSpPr/>
          <p:nvPr/>
        </p:nvSpPr>
        <p:spPr>
          <a:xfrm>
            <a:off x="5349240" y="461543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3" name="Grid2"/>
          <p:cNvSpPr/>
          <p:nvPr/>
        </p:nvSpPr>
        <p:spPr>
          <a:xfrm>
            <a:off x="5349240" y="396392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4" name="Grid3"/>
          <p:cNvSpPr/>
          <p:nvPr/>
        </p:nvSpPr>
        <p:spPr>
          <a:xfrm>
            <a:off x="5349240" y="3312414"/>
            <a:ext cx="5669280" cy="0"/>
          </a:xfrm>
          <a:prstGeom prst="line">
            <a:avLst/>
          </a:prstGeom>
          <a:ln w="9000">
            <a:solidFill>
              <a:srgbClr val="E2E8F0"/>
            </a:solidFill>
            <a:prstDash val="solid"/>
          </a:ln>
        </p:spPr>
      </p:sp>
      <p:sp>
        <p:nvSpPr>
          <p:cNvPr id="15" name="Data0"/>
          <p:cNvSpPr/>
          <p:nvPr/>
        </p:nvSpPr>
        <p:spPr>
          <a:xfrm>
            <a:off x="5349240" y="3182112"/>
            <a:ext cx="5669280" cy="0"/>
          </a:xfrm>
          <a:prstGeom prst="line">
            <a:avLst/>
          </a:prstGeom>
          <a:ln w="25000">
            <a:solidFill>
              <a:srgbClr val="2E86C1"/>
            </a:solidFill>
            <a:prstDash val="solid"/>
          </a:ln>
        </p:spPr>
      </p:sp>
      <p:sp>
        <p:nvSpPr>
          <p:cNvPr id="16" name="Data1"/>
          <p:cNvSpPr/>
          <p:nvPr/>
        </p:nvSpPr>
        <p:spPr>
          <a:xfrm>
            <a:off x="5349240" y="5136642"/>
            <a:ext cx="5669280" cy="-651510"/>
          </a:xfrm>
          <a:prstGeom prst="line">
            <a:avLst/>
          </a:prstGeom>
          <a:ln w="25000">
            <a:solidFill>
              <a:srgbClr val="D9534F"/>
            </a:solidFill>
            <a:prstDash val="solid"/>
          </a:ln>
        </p:spPr>
      </p:sp>
      <p:sp>
        <p:nvSpPr>
          <p:cNvPr id="17" name="XLabels"/>
          <p:cNvSpPr txBox="1"/>
          <p:nvPr/>
        </p:nvSpPr>
        <p:spPr>
          <a:xfrm>
            <a:off x="5184648" y="5312664"/>
            <a:ext cx="5998464" cy="50292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t"/>
          <a:lstStyle/>
          <a:p>
            <a:pPr algn="c"/>
            <a:r>
              <a:rPr lang="ja-JP" sz="950" b="0">
                <a:solidFill>
                  <a:srgbClr val="64748B"/>
                </a:solidFill>
                <a:latin typeface="Noto Sans CJK JP"/>
                <a:ea typeface="Noto Sans CJK JP"/>
              </a:rPr>
              <a:t>0 km　　　　　　　　　　　 6 km　　　　　　　　　　 12 km</a:t>
            </a:r>
          </a:p>
        </p:txBody>
      </p:sp>
      <p:sp>
        <p:nvSpPr>
          <p:cNvPr id="18" name="ChartLabels"/>
          <p:cNvSpPr txBox="1"/>
          <p:nvPr/>
        </p:nvSpPr>
        <p:spPr>
          <a:xfrm>
            <a:off x="5486400" y="2057400"/>
            <a:ext cx="544068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lIns="91440" rIns="91440" tIns="91440" bIns="91440" wrap="square" anchor="t"/>
          <a:lstStyle/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紫: Q_load ≈ 1937 kvar（一定）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赤: Q_line 0 → 23.0 kvar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H27二次Q3: 位置変数・積分</a:t>
            </a:r>
          </a:p>
          <a:p>
            <a:pPr algn="l"/>
            <a:r>
              <a:rPr lang="ja-JP" sz="1100" b="0">
                <a:solidFill>
                  <a:srgbClr val="334155"/>
                </a:solidFill>
                <a:latin typeface="Noto Sans CJK JP"/>
                <a:ea typeface="Noto Sans CJK JP"/>
              </a:rPr>
              <a:t>H27二次Q4/H26二次Q4: 送受電端</a:t>
            </a:r>
          </a:p>
        </p:txBody>
      </p:sp>
      <p:sp>
        <p:nvSpPr>
          <p:cNvPr id="19" name="FooterLine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ln w="9000">
            <a:solidFill>
              <a:srgbClr val="CBD5E1"/>
            </a:solidFill>
            <a:prstDash val="solid"/>
          </a:ln>
        </p:spPr>
      </p:sp>
      <p:sp>
        <p:nvSpPr>
          <p:cNvPr id="20" name="Footer"/>
          <p:cNvSpPr txBox="1"/>
          <p:nvPr/>
        </p:nvSpPr>
        <p:spPr>
          <a:xfrm>
            <a:off x="457200" y="6492240"/>
            <a:ext cx="11155680" cy="246888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wrap="square" anchor="ctr"/>
          <a:lstStyle/>
          <a:p>
            <a:pPr algn="c"/>
            <a:r>
              <a:rPr lang="ja-JP" sz="750" b="0">
                <a:solidFill>
                  <a:srgbClr val="64748B"/>
                </a:solidFill>
                <a:latin typeface="Noto Sans CJK JP"/>
                <a:ea typeface="Noto Sans CJK JP"/>
              </a:rPr>
              <a:t>学習用仮定値｜実設備値ではない｜Topic 12以降は扱わない</a:t>
            </a:r>
          </a:p>
        </p:txBody>
      </p:sp>
    </p:spTree>
  </p:cSld>
  <p:clrMapOvr>
    <a:masterClrMapping/>
  </p:clrMapOvr>
</p:sld>
</file>