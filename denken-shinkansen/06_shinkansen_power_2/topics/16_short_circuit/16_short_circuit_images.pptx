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500" b="1" i="0">
                <a:solidFill>
                  <a:srgbClr val="162F49"/>
                </a:solidFill>
                <a:latin typeface="Noto Sans CJK JP"/>
              </a:rPr>
              <a:t>基準量・p.u.・％Zから三相短絡電流へ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11064240" cy="23774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50" b="0" i="0">
                <a:solidFill>
                  <a:srgbClr val="5A6470"/>
                </a:solidFill>
                <a:latin typeface="Noto Sans CJK JP"/>
              </a:rPr>
              <a:t>電圧階級と容量基準を揃えてから、故障点から見た等価インピーダンスを作る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69264"/>
            <a:ext cx="11155680" cy="32004"/>
          </a:xfrm>
          <a:prstGeom prst="rect">
            <a:avLst/>
          </a:prstGeom>
          <a:solidFill>
            <a:srgbClr val="2E68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3383280" cy="11887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E68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sz="1600" b="1">
                <a:solidFill>
                  <a:srgbClr val="162F49"/>
                </a:solidFill>
                <a:latin typeface="Noto Sans CJK JP"/>
              </a:defRPr>
            </a:pPr>
            <a:r>
              <a:t>基準量</a:t>
            </a:r>
          </a:p>
          <a:p>
            <a:pPr>
              <a:spcAft>
                <a:spcPts val="200"/>
              </a:spcAft>
              <a:defRPr sz="1700" b="0">
                <a:solidFill>
                  <a:srgbClr val="2E68A4"/>
                </a:solidFill>
                <a:latin typeface="Noto Sans CJK JP"/>
              </a:defRPr>
            </a:pPr>
            <a:r>
              <a:t>I_B = S_B / (√3 V_B)</a:t>
            </a:r>
          </a:p>
          <a:p>
            <a:pPr>
              <a:spcAft>
                <a:spcPts val="200"/>
              </a:spcAft>
              <a:defRPr sz="1700" b="0">
                <a:solidFill>
                  <a:srgbClr val="2E68A4"/>
                </a:solidFill>
                <a:latin typeface="Noto Sans CJK JP"/>
              </a:defRPr>
            </a:pPr>
            <a:r>
              <a:t>Z_B = V_B² / S_B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234440"/>
            <a:ext cx="3383280" cy="11887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E82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sz="1600" b="1">
                <a:solidFill>
                  <a:srgbClr val="162F49"/>
                </a:solidFill>
                <a:latin typeface="Noto Sans CJK JP"/>
              </a:defRPr>
            </a:pPr>
            <a:r>
              <a:t>p.u. と ％Z</a:t>
            </a:r>
          </a:p>
          <a:p>
            <a:pPr>
              <a:spcAft>
                <a:spcPts val="200"/>
              </a:spcAft>
              <a:defRPr sz="1700" b="0">
                <a:solidFill>
                  <a:srgbClr val="1E827F"/>
                </a:solidFill>
                <a:latin typeface="Noto Sans CJK JP"/>
              </a:defRPr>
            </a:pPr>
            <a:r>
              <a:t>Z_pu = Z / Z_B</a:t>
            </a:r>
          </a:p>
          <a:p>
            <a:pPr>
              <a:spcAft>
                <a:spcPts val="200"/>
              </a:spcAft>
              <a:defRPr sz="1700" b="0">
                <a:solidFill>
                  <a:srgbClr val="1E827F"/>
                </a:solidFill>
                <a:latin typeface="Noto Sans CJK JP"/>
              </a:defRPr>
            </a:pPr>
            <a:r>
              <a:t>％Z = 100 Z_pu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234440"/>
            <a:ext cx="3749039" cy="11887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B71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sz="1600" b="1">
                <a:solidFill>
                  <a:srgbClr val="162F49"/>
                </a:solidFill>
                <a:latin typeface="Noto Sans CJK JP"/>
              </a:defRPr>
            </a:pPr>
            <a:r>
              <a:t>共通基準への換算</a:t>
            </a:r>
          </a:p>
          <a:p>
            <a:pPr>
              <a:spcAft>
                <a:spcPts val="200"/>
              </a:spcAft>
              <a:defRPr sz="1400" b="0">
                <a:solidFill>
                  <a:srgbClr val="BB7125"/>
                </a:solidFill>
                <a:latin typeface="Noto Sans CJK JP"/>
              </a:defRPr>
            </a:pPr>
            <a:r>
              <a:t>Z_pu,new = Z_pu,old × (S_new/S_old)</a:t>
            </a:r>
          </a:p>
          <a:p>
            <a:pPr>
              <a:spcAft>
                <a:spcPts val="200"/>
              </a:spcAft>
              <a:defRPr sz="1400" b="0">
                <a:solidFill>
                  <a:srgbClr val="BB7125"/>
                </a:solidFill>
                <a:latin typeface="Noto Sans CJK JP"/>
              </a:defRPr>
            </a:pPr>
            <a:r>
              <a:t>× (V_old/V_new)²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761488"/>
            <a:ext cx="1874519" cy="566928"/>
          </a:xfrm>
          <a:prstGeom prst="roundRect">
            <a:avLst/>
          </a:prstGeom>
          <a:solidFill>
            <a:srgbClr val="E1ECF7"/>
          </a:solidFill>
          <a:ln>
            <a:solidFill>
              <a:srgbClr val="E1EC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2E68A4"/>
                </a:solidFill>
                <a:latin typeface="Noto Sans CJK JP"/>
              </a:rPr>
              <a:t>① 基準を決める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51760" y="3044952"/>
            <a:ext cx="384048" cy="0"/>
          </a:xfrm>
          <a:prstGeom prst="line">
            <a:avLst/>
          </a:prstGeom>
          <a:ln w="25400">
            <a:solidFill>
              <a:srgbClr val="5A6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063240" y="2761488"/>
            <a:ext cx="1874519" cy="566928"/>
          </a:xfrm>
          <a:prstGeom prst="roundRect">
            <a:avLst/>
          </a:prstGeom>
          <a:solidFill>
            <a:srgbClr val="E1F3E5"/>
          </a:solidFill>
          <a:ln>
            <a:solidFill>
              <a:srgbClr val="E1F3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70" b="1">
                <a:solidFill>
                  <a:srgbClr val="367C4A"/>
                </a:solidFill>
                <a:latin typeface="Noto Sans CJK JP"/>
              </a:rPr>
              <a:t>② 同一基準へ換算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965192" y="3044952"/>
            <a:ext cx="384048" cy="0"/>
          </a:xfrm>
          <a:prstGeom prst="line">
            <a:avLst/>
          </a:prstGeom>
          <a:ln w="25400">
            <a:solidFill>
              <a:srgbClr val="5A6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76672" y="2761488"/>
            <a:ext cx="1874519" cy="566928"/>
          </a:xfrm>
          <a:prstGeom prst="roundRect">
            <a:avLst/>
          </a:prstGeom>
          <a:solidFill>
            <a:srgbClr val="FAEBD7"/>
          </a:solidFill>
          <a:ln>
            <a:solidFill>
              <a:srgbClr val="FAEB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70" b="1">
                <a:solidFill>
                  <a:srgbClr val="BB7125"/>
                </a:solidFill>
                <a:latin typeface="Noto Sans CJK JP"/>
              </a:rPr>
              <a:t>③ 直列/並列合成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78624" y="3044952"/>
            <a:ext cx="384048" cy="0"/>
          </a:xfrm>
          <a:prstGeom prst="line">
            <a:avLst/>
          </a:prstGeom>
          <a:ln w="25400">
            <a:solidFill>
              <a:srgbClr val="5A6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690104" y="2761488"/>
            <a:ext cx="1783080" cy="566928"/>
          </a:xfrm>
          <a:prstGeom prst="roundRect">
            <a:avLst/>
          </a:prstGeom>
          <a:solidFill>
            <a:srgbClr val="D7F1EF"/>
          </a:solidFill>
          <a:ln>
            <a:solidFill>
              <a:srgbClr val="D7F1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70" b="1">
                <a:solidFill>
                  <a:srgbClr val="1E827F"/>
                </a:solidFill>
                <a:latin typeface="Noto Sans CJK JP"/>
              </a:rPr>
              <a:t>④ I_pu = 1/Z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500616" y="3044952"/>
            <a:ext cx="384048" cy="0"/>
          </a:xfrm>
          <a:prstGeom prst="line">
            <a:avLst/>
          </a:prstGeom>
          <a:ln w="25400">
            <a:solidFill>
              <a:srgbClr val="5A6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912096" y="2761488"/>
            <a:ext cx="1554480" cy="566928"/>
          </a:xfrm>
          <a:prstGeom prst="roundRect">
            <a:avLst/>
          </a:prstGeom>
          <a:solidFill>
            <a:srgbClr val="E1ECF7"/>
          </a:solidFill>
          <a:ln>
            <a:solidFill>
              <a:srgbClr val="E1EC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90" b="1">
                <a:solidFill>
                  <a:srgbClr val="2E68A4"/>
                </a:solidFill>
                <a:latin typeface="Noto Sans CJK JP"/>
              </a:rPr>
              <a:t>⑤ I = I_pu I_B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675887"/>
            <a:ext cx="5504688" cy="16642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E68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sz="1700" b="1">
                <a:solidFill>
                  <a:srgbClr val="162F49"/>
                </a:solidFill>
                <a:latin typeface="Noto Sans CJK JP"/>
              </a:defRPr>
            </a:pPr>
            <a:r>
              <a:t>短絡容量</a:t>
            </a:r>
          </a:p>
          <a:p>
            <a:pPr>
              <a:spcAft>
                <a:spcPts val="200"/>
              </a:spcAft>
              <a:defRPr sz="1900" b="0">
                <a:solidFill>
                  <a:srgbClr val="2E68A4"/>
                </a:solidFill>
                <a:latin typeface="Noto Sans CJK JP"/>
              </a:defRPr>
            </a:pPr>
            <a:r>
              <a:t>S_sc = √3 V_LL I_sc</a:t>
            </a:r>
          </a:p>
          <a:p>
            <a:pPr>
              <a:spcAft>
                <a:spcPts val="200"/>
              </a:spcAft>
              <a:defRPr sz="1700" b="0">
                <a:solidFill>
                  <a:srgbClr val="2E68A4"/>
                </a:solidFill>
                <a:latin typeface="Noto Sans CJK JP"/>
              </a:defRPr>
            </a:pPr>
            <a:r>
              <a:t>I_sc = S_sc / (√3 V_LL)</a:t>
            </a:r>
          </a:p>
          <a:p>
            <a:pPr>
              <a:spcAft>
                <a:spcPts val="200"/>
              </a:spcAft>
              <a:defRPr sz="1280" b="1">
                <a:solidFill>
                  <a:srgbClr val="B04141"/>
                </a:solidFill>
                <a:latin typeface="Noto Sans CJK JP"/>
              </a:defRPr>
            </a:pPr>
            <a:r>
              <a:t>V_LL は短絡点の基準線間電圧・故障前電圧。ボルト短絡後の故障点 0 V を代入しない。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45936" y="3675887"/>
            <a:ext cx="5175504" cy="16642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67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sz="1700" b="1">
                <a:solidFill>
                  <a:srgbClr val="162F49"/>
                </a:solidFill>
                <a:latin typeface="Noto Sans CJK JP"/>
              </a:defRPr>
            </a:pPr>
            <a:r>
              <a:t>短絡容量と遮断容量</a:t>
            </a:r>
          </a:p>
          <a:p>
            <a:pPr>
              <a:spcAft>
                <a:spcPts val="200"/>
              </a:spcAft>
              <a:defRPr sz="1320" b="0">
                <a:solidFill>
                  <a:srgbClr val="14191E"/>
                </a:solidFill>
                <a:latin typeface="Noto Sans CJK JP"/>
              </a:defRPr>
            </a:pPr>
            <a:r>
              <a:t>短絡容量: 故障点から見た系統の故障レベル</a:t>
            </a:r>
          </a:p>
          <a:p>
            <a:pPr>
              <a:spcAft>
                <a:spcPts val="200"/>
              </a:spcAft>
              <a:defRPr sz="1320" b="0">
                <a:solidFill>
                  <a:srgbClr val="14191E"/>
                </a:solidFill>
                <a:latin typeface="Noto Sans CJK JP"/>
              </a:defRPr>
            </a:pPr>
            <a:r>
              <a:t>遮断容量: 遮断器が安全に遮断できる能力を容量で表したもの</a:t>
            </a:r>
          </a:p>
          <a:p>
            <a:pPr>
              <a:spcAft>
                <a:spcPts val="200"/>
              </a:spcAft>
              <a:defRPr sz="1500" b="1">
                <a:solidFill>
                  <a:srgbClr val="367C4A"/>
                </a:solidFill>
                <a:latin typeface="Noto Sans CJK JP"/>
              </a:defRPr>
            </a:pPr>
            <a:r>
              <a:t>想定短絡容量 ≤ 遮断容量 が必要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41264"/>
            <a:ext cx="10863072" cy="566928"/>
          </a:xfrm>
          <a:prstGeom prst="roundRect">
            <a:avLst/>
          </a:prstGeom>
          <a:solidFill>
            <a:srgbClr val="FAE1E1"/>
          </a:solidFill>
          <a:ln w="13970">
            <a:solidFill>
              <a:srgbClr val="B0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  <a:defRPr sz="1180" b="1">
                <a:solidFill>
                  <a:srgbClr val="B04141"/>
                </a:solidFill>
                <a:latin typeface="Noto Sans CJK JP"/>
              </a:defRPr>
            </a:pPr>
            <a:r>
              <a:t>典型ミス</a:t>
            </a:r>
          </a:p>
          <a:p>
            <a:pPr>
              <a:spcAft>
                <a:spcPts val="200"/>
              </a:spcAft>
              <a:defRPr sz="1180" b="0">
                <a:solidFill>
                  <a:srgbClr val="14191E"/>
                </a:solidFill>
                <a:latin typeface="Noto Sans CJK JP"/>
              </a:defRPr>
            </a:pPr>
            <a:r>
              <a:t>％Z=10 を 10 p.u. としない（10％=0.10 p.u.）。異なる容量基準の％Zをそのまま足さない。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44200" y="6528816"/>
            <a:ext cx="9144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50" b="0" i="0">
                <a:solidFill>
                  <a:srgbClr val="5A6470"/>
                </a:solidFill>
                <a:latin typeface="Noto Sans CJK JP"/>
              </a:rPr>
              <a:t>Topic 16  |  2/6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500" b="1" i="0">
                <a:solidFill>
                  <a:srgbClr val="162F49"/>
                </a:solidFill>
                <a:latin typeface="Noto Sans CJK JP"/>
              </a:rPr>
              <a:t>故障種別で対称分回路の接続を選ぶ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11064240" cy="23774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50" b="0" i="0">
                <a:solidFill>
                  <a:srgbClr val="5A6470"/>
                </a:solidFill>
                <a:latin typeface="Noto Sans CJK JP"/>
              </a:rPr>
              <a:t>Z1: 正相 / Z2: 逆相 / Z0: 零相。零相回路は変圧器結線・中性点接地条件から作る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69264"/>
            <a:ext cx="11155680" cy="32004"/>
          </a:xfrm>
          <a:prstGeom prst="rect">
            <a:avLst/>
          </a:prstGeom>
          <a:solidFill>
            <a:srgbClr val="2E68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1874519" cy="868680"/>
          </a:xfrm>
          <a:prstGeom prst="roundRect">
            <a:avLst/>
          </a:prstGeom>
          <a:solidFill>
            <a:srgbClr val="E1ECF7"/>
          </a:solidFill>
          <a:ln w="13970">
            <a:solidFill>
              <a:srgbClr val="2E68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sz="1600" b="1">
                <a:solidFill>
                  <a:srgbClr val="162F49"/>
                </a:solidFill>
                <a:latin typeface="Noto Sans CJK JP"/>
              </a:defRPr>
            </a:pPr>
            <a:r>
              <a:t>三相短絡</a:t>
            </a:r>
          </a:p>
          <a:p>
            <a:pPr>
              <a:spcAft>
                <a:spcPts val="200"/>
              </a:spcAft>
              <a:defRPr sz="1130" b="0">
                <a:solidFill>
                  <a:srgbClr val="5A6470"/>
                </a:solidFill>
                <a:latin typeface="Noto Sans CJK JP"/>
              </a:defRPr>
            </a:pPr>
            <a:r>
              <a:t>平衡故障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325880"/>
            <a:ext cx="3703320" cy="868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E68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sz="1250" b="1">
                <a:solidFill>
                  <a:srgbClr val="162F49"/>
                </a:solidFill>
                <a:latin typeface="Noto Sans CJK JP"/>
              </a:defRPr>
            </a:pPr>
            <a:r>
              <a:t>回路</a:t>
            </a:r>
          </a:p>
          <a:p>
            <a:pPr>
              <a:spcAft>
                <a:spcPts val="200"/>
              </a:spcAft>
              <a:defRPr sz="1350" b="0">
                <a:solidFill>
                  <a:srgbClr val="14191E"/>
                </a:solidFill>
                <a:latin typeface="Noto Sans CJK JP"/>
              </a:defRPr>
            </a:pPr>
            <a:r>
              <a:t>正相のみ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325880"/>
            <a:ext cx="4937760" cy="868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E68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sz="1250" b="1">
                <a:solidFill>
                  <a:srgbClr val="162F49"/>
                </a:solidFill>
                <a:latin typeface="Noto Sans CJK JP"/>
              </a:defRPr>
            </a:pPr>
            <a:r>
              <a:t>基本式</a:t>
            </a:r>
          </a:p>
          <a:p>
            <a:pPr>
              <a:spcAft>
                <a:spcPts val="200"/>
              </a:spcAft>
              <a:defRPr sz="1320" b="0">
                <a:solidFill>
                  <a:srgbClr val="14191E"/>
                </a:solidFill>
                <a:latin typeface="Noto Sans CJK JP"/>
              </a:defRPr>
            </a:pPr>
            <a:r>
              <a:t>I₁ = E/Z₁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23160"/>
            <a:ext cx="1874519" cy="868680"/>
          </a:xfrm>
          <a:prstGeom prst="roundRect">
            <a:avLst/>
          </a:prstGeom>
          <a:solidFill>
            <a:srgbClr val="E1F3E5"/>
          </a:solidFill>
          <a:ln w="13970">
            <a:solidFill>
              <a:srgbClr val="367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sz="1600" b="1">
                <a:solidFill>
                  <a:srgbClr val="162F49"/>
                </a:solidFill>
                <a:latin typeface="Noto Sans CJK JP"/>
              </a:defRPr>
            </a:pPr>
            <a:r>
              <a:t>一線地絡</a:t>
            </a:r>
          </a:p>
          <a:p>
            <a:pPr>
              <a:spcAft>
                <a:spcPts val="200"/>
              </a:spcAft>
              <a:defRPr sz="1130" b="0">
                <a:solidFill>
                  <a:srgbClr val="5A6470"/>
                </a:solidFill>
                <a:latin typeface="Noto Sans CJK JP"/>
              </a:defRPr>
            </a:pPr>
            <a:r>
              <a:t>Ia = 3I0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2423160"/>
            <a:ext cx="3703320" cy="868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67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sz="1250" b="1">
                <a:solidFill>
                  <a:srgbClr val="162F49"/>
                </a:solidFill>
                <a:latin typeface="Noto Sans CJK JP"/>
              </a:defRPr>
            </a:pPr>
            <a:r>
              <a:t>回路</a:t>
            </a:r>
          </a:p>
          <a:p>
            <a:pPr>
              <a:spcAft>
                <a:spcPts val="200"/>
              </a:spcAft>
              <a:defRPr sz="1350" b="0">
                <a:solidFill>
                  <a:srgbClr val="14191E"/>
                </a:solidFill>
                <a:latin typeface="Noto Sans CJK JP"/>
              </a:defRPr>
            </a:pPr>
            <a:r>
              <a:t>Z1 + Z2 + Z0（直列）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423160"/>
            <a:ext cx="4937760" cy="868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67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sz="1250" b="1">
                <a:solidFill>
                  <a:srgbClr val="162F49"/>
                </a:solidFill>
                <a:latin typeface="Noto Sans CJK JP"/>
              </a:defRPr>
            </a:pPr>
            <a:r>
              <a:t>基本式</a:t>
            </a:r>
          </a:p>
          <a:p>
            <a:pPr>
              <a:spcAft>
                <a:spcPts val="200"/>
              </a:spcAft>
              <a:defRPr sz="1320" b="0">
                <a:solidFill>
                  <a:srgbClr val="14191E"/>
                </a:solidFill>
                <a:latin typeface="Noto Sans CJK JP"/>
              </a:defRPr>
            </a:pPr>
            <a:r>
              <a:t>I₁=I₂=I₀=E/(Z1+Z2+Z0)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520439"/>
            <a:ext cx="1874519" cy="868680"/>
          </a:xfrm>
          <a:prstGeom prst="roundRect">
            <a:avLst/>
          </a:prstGeom>
          <a:solidFill>
            <a:srgbClr val="FAEBD7"/>
          </a:solidFill>
          <a:ln w="13970">
            <a:solidFill>
              <a:srgbClr val="BB71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sz="1600" b="1">
                <a:solidFill>
                  <a:srgbClr val="162F49"/>
                </a:solidFill>
                <a:latin typeface="Noto Sans CJK JP"/>
              </a:defRPr>
            </a:pPr>
            <a:r>
              <a:t>線間短絡</a:t>
            </a:r>
          </a:p>
          <a:p>
            <a:pPr>
              <a:spcAft>
                <a:spcPts val="200"/>
              </a:spcAft>
              <a:defRPr sz="1130" b="0">
                <a:solidFill>
                  <a:srgbClr val="5A6470"/>
                </a:solidFill>
                <a:latin typeface="Noto Sans CJK JP"/>
              </a:defRPr>
            </a:pPr>
            <a:r>
              <a:t>|I_fault|=√3|I₁|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97480" y="3520439"/>
            <a:ext cx="3703320" cy="868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B71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sz="1250" b="1">
                <a:solidFill>
                  <a:srgbClr val="162F49"/>
                </a:solidFill>
                <a:latin typeface="Noto Sans CJK JP"/>
              </a:defRPr>
            </a:pPr>
            <a:r>
              <a:t>回路</a:t>
            </a:r>
          </a:p>
          <a:p>
            <a:pPr>
              <a:spcAft>
                <a:spcPts val="200"/>
              </a:spcAft>
              <a:defRPr sz="1350" b="0">
                <a:solidFill>
                  <a:srgbClr val="14191E"/>
                </a:solidFill>
                <a:latin typeface="Noto Sans CJK JP"/>
              </a:defRPr>
            </a:pPr>
            <a:r>
              <a:t>正相 + 逆相 / 零相なし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3520439"/>
            <a:ext cx="4937760" cy="868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B71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sz="1250" b="1">
                <a:solidFill>
                  <a:srgbClr val="162F49"/>
                </a:solidFill>
                <a:latin typeface="Noto Sans CJK JP"/>
              </a:defRPr>
            </a:pPr>
            <a:r>
              <a:t>基本式</a:t>
            </a:r>
          </a:p>
          <a:p>
            <a:pPr>
              <a:spcAft>
                <a:spcPts val="200"/>
              </a:spcAft>
              <a:defRPr sz="1320" b="0">
                <a:solidFill>
                  <a:srgbClr val="14191E"/>
                </a:solidFill>
                <a:latin typeface="Noto Sans CJK JP"/>
              </a:defRPr>
            </a:pPr>
            <a:r>
              <a:t>I₀=0, I₂=-I₁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617720"/>
            <a:ext cx="1874519" cy="868680"/>
          </a:xfrm>
          <a:prstGeom prst="roundRect">
            <a:avLst/>
          </a:prstGeom>
          <a:solidFill>
            <a:srgbClr val="D7F1EF"/>
          </a:solidFill>
          <a:ln w="13970">
            <a:solidFill>
              <a:srgbClr val="1E82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sz="1600" b="1">
                <a:solidFill>
                  <a:srgbClr val="162F49"/>
                </a:solidFill>
                <a:latin typeface="Noto Sans CJK JP"/>
              </a:defRPr>
            </a:pPr>
            <a:r>
              <a:t>二線地絡</a:t>
            </a:r>
          </a:p>
          <a:p>
            <a:pPr>
              <a:spcAft>
                <a:spcPts val="200"/>
              </a:spcAft>
              <a:defRPr sz="1130" b="0">
                <a:solidFill>
                  <a:srgbClr val="5A6470"/>
                </a:solidFill>
                <a:latin typeface="Noto Sans CJK JP"/>
              </a:defRPr>
            </a:pPr>
            <a:r>
              <a:t>各相へ逆変換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97480" y="4617720"/>
            <a:ext cx="3703320" cy="868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E82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sz="1250" b="1">
                <a:solidFill>
                  <a:srgbClr val="162F49"/>
                </a:solidFill>
                <a:latin typeface="Noto Sans CJK JP"/>
              </a:defRPr>
            </a:pPr>
            <a:r>
              <a:t>回路</a:t>
            </a:r>
          </a:p>
          <a:p>
            <a:pPr>
              <a:spcAft>
                <a:spcPts val="200"/>
              </a:spcAft>
              <a:defRPr sz="1350" b="0">
                <a:solidFill>
                  <a:srgbClr val="14191E"/>
                </a:solidFill>
                <a:latin typeface="Noto Sans CJK JP"/>
              </a:defRPr>
            </a:pPr>
            <a:r>
              <a:t>正相 + (逆相 || 零相)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4617720"/>
            <a:ext cx="4937760" cy="868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E82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sz="1250" b="1">
                <a:solidFill>
                  <a:srgbClr val="162F49"/>
                </a:solidFill>
                <a:latin typeface="Noto Sans CJK JP"/>
              </a:defRPr>
            </a:pPr>
            <a:r>
              <a:t>基本式</a:t>
            </a:r>
          </a:p>
          <a:p>
            <a:pPr>
              <a:spcAft>
                <a:spcPts val="200"/>
              </a:spcAft>
              <a:defRPr sz="1320" b="0">
                <a:solidFill>
                  <a:srgbClr val="14191E"/>
                </a:solidFill>
                <a:latin typeface="Noto Sans CJK JP"/>
              </a:defRPr>
            </a:pPr>
            <a:r>
              <a:t>I₁=E/{Z₁+(Z₂Z₀)/(Z₂+Z₀)}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742432"/>
            <a:ext cx="10863072" cy="530352"/>
          </a:xfrm>
          <a:prstGeom prst="roundRect">
            <a:avLst/>
          </a:prstGeom>
          <a:solidFill>
            <a:srgbClr val="FAE1E1"/>
          </a:solidFill>
          <a:ln w="13970">
            <a:solidFill>
              <a:srgbClr val="B0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200"/>
              </a:spcAft>
              <a:defRPr sz="1180" b="1">
                <a:solidFill>
                  <a:srgbClr val="B04141"/>
                </a:solidFill>
                <a:latin typeface="Noto Sans CJK JP"/>
              </a:defRPr>
            </a:pPr>
            <a:r>
              <a:t>零相回路の注意</a:t>
            </a:r>
          </a:p>
          <a:p>
            <a:pPr>
              <a:spcAft>
                <a:spcPts val="200"/>
              </a:spcAft>
              <a:defRPr sz="1150" b="0">
                <a:solidFill>
                  <a:srgbClr val="14191E"/>
                </a:solidFill>
                <a:latin typeface="Noto Sans CJK JP"/>
              </a:defRPr>
            </a:pPr>
            <a:r>
              <a:t>接地された中性点が帰路を作る場合がある。Δ巻線は内部循環できても、外部三線側へ零相線電流をそのまま通さない。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44200" y="6528816"/>
            <a:ext cx="9144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50" b="0" i="0">
                <a:solidFill>
                  <a:srgbClr val="5A6470"/>
                </a:solidFill>
                <a:latin typeface="Noto Sans CJK JP"/>
              </a:rPr>
              <a:t>Topic 16  |  3/6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500" b="1" i="0">
                <a:solidFill>
                  <a:srgbClr val="162F49"/>
                </a:solidFill>
                <a:latin typeface="Noto Sans CJK JP"/>
              </a:rPr>
              <a:t>一線地絡を「二次答案の手順」に落とす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11064240" cy="23774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50" b="0" i="0">
                <a:solidFill>
                  <a:srgbClr val="5A6470"/>
                </a:solidFill>
                <a:latin typeface="Noto Sans CJK JP"/>
              </a:rPr>
              <a:t>令和7年度 二次「電力・管理」問2に対応する5答案要素: Z0 / Z1 / Z2 / 地絡電流[p.u.] / 地絡電流[A]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69264"/>
            <a:ext cx="11155680" cy="32004"/>
          </a:xfrm>
          <a:prstGeom prst="rect">
            <a:avLst/>
          </a:prstGeom>
          <a:solidFill>
            <a:srgbClr val="2E68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234440"/>
            <a:ext cx="502920" cy="502920"/>
          </a:xfrm>
          <a:prstGeom prst="roundRect">
            <a:avLst/>
          </a:prstGeom>
          <a:solidFill>
            <a:srgbClr val="2E68A4"/>
          </a:solidFill>
          <a:ln>
            <a:solidFill>
              <a:srgbClr val="2E68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JP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1216152"/>
            <a:ext cx="10195560" cy="57607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  <a:defRPr sz="1400" b="1">
                <a:solidFill>
                  <a:srgbClr val="162F49"/>
                </a:solidFill>
                <a:latin typeface="Noto Sans CJK JP"/>
              </a:defRPr>
            </a:pPr>
            <a:r>
              <a:t>零相回路を作る</a:t>
            </a:r>
          </a:p>
          <a:p>
            <a:pPr>
              <a:spcAft>
                <a:spcPts val="200"/>
              </a:spcAft>
              <a:defRPr sz="1260" b="0">
                <a:solidFill>
                  <a:srgbClr val="14191E"/>
                </a:solidFill>
                <a:latin typeface="Noto Sans CJK JP"/>
              </a:defRPr>
            </a:pPr>
            <a:r>
              <a:t>変圧器結線・中性点接地条件から Z0 を合成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57400"/>
            <a:ext cx="502920" cy="502920"/>
          </a:xfrm>
          <a:prstGeom prst="roundRect">
            <a:avLst/>
          </a:prstGeom>
          <a:solidFill>
            <a:srgbClr val="2E68A4"/>
          </a:solidFill>
          <a:ln>
            <a:solidFill>
              <a:srgbClr val="2E68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JP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25880" y="2039112"/>
            <a:ext cx="10195560" cy="57607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  <a:defRPr sz="1400" b="1">
                <a:solidFill>
                  <a:srgbClr val="162F49"/>
                </a:solidFill>
                <a:latin typeface="Noto Sans CJK JP"/>
              </a:defRPr>
            </a:pPr>
            <a:r>
              <a:t>正相回路を作る</a:t>
            </a:r>
          </a:p>
          <a:p>
            <a:pPr>
              <a:spcAft>
                <a:spcPts val="200"/>
              </a:spcAft>
              <a:defRPr sz="1260" b="0">
                <a:solidFill>
                  <a:srgbClr val="14191E"/>
                </a:solidFill>
                <a:latin typeface="Noto Sans CJK JP"/>
              </a:defRPr>
            </a:pPr>
            <a:r>
              <a:t>電源・変圧器・線路を同一基準へ換算して Z1 を合成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880360"/>
            <a:ext cx="502920" cy="502920"/>
          </a:xfrm>
          <a:prstGeom prst="roundRect">
            <a:avLst/>
          </a:prstGeom>
          <a:solidFill>
            <a:srgbClr val="2E68A4"/>
          </a:solidFill>
          <a:ln>
            <a:solidFill>
              <a:srgbClr val="2E68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JP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25880" y="2862072"/>
            <a:ext cx="10195560" cy="57607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  <a:defRPr sz="1400" b="1">
                <a:solidFill>
                  <a:srgbClr val="162F49"/>
                </a:solidFill>
                <a:latin typeface="Noto Sans CJK JP"/>
              </a:defRPr>
            </a:pPr>
            <a:r>
              <a:t>逆相回路を作る</a:t>
            </a:r>
          </a:p>
          <a:p>
            <a:pPr>
              <a:spcAft>
                <a:spcPts val="200"/>
              </a:spcAft>
              <a:defRPr sz="1260" b="0">
                <a:solidFill>
                  <a:srgbClr val="14191E"/>
                </a:solidFill>
                <a:latin typeface="Noto Sans CJK JP"/>
              </a:defRPr>
            </a:pPr>
            <a:r>
              <a:t>同様に Z2 を合成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03320"/>
            <a:ext cx="502920" cy="502920"/>
          </a:xfrm>
          <a:prstGeom prst="roundRect">
            <a:avLst/>
          </a:prstGeom>
          <a:solidFill>
            <a:srgbClr val="2E68A4"/>
          </a:solidFill>
          <a:ln>
            <a:solidFill>
              <a:srgbClr val="2E68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JP"/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5880" y="3685032"/>
            <a:ext cx="10195560" cy="57607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  <a:defRPr sz="1400" b="1">
                <a:solidFill>
                  <a:srgbClr val="162F49"/>
                </a:solidFill>
                <a:latin typeface="Noto Sans CJK JP"/>
              </a:defRPr>
            </a:pPr>
            <a:r>
              <a:t>p.u.地絡電流</a:t>
            </a:r>
          </a:p>
          <a:p>
            <a:pPr>
              <a:spcAft>
                <a:spcPts val="200"/>
              </a:spcAft>
              <a:defRPr sz="1260" b="0">
                <a:solidFill>
                  <a:srgbClr val="14191E"/>
                </a:solidFill>
                <a:latin typeface="Noto Sans CJK JP"/>
              </a:defRPr>
            </a:pPr>
            <a:r>
              <a:t>I1=I2=I0=E/(Z1+Z2+Z0) → Ia=3I0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26280"/>
            <a:ext cx="502920" cy="502920"/>
          </a:xfrm>
          <a:prstGeom prst="roundRect">
            <a:avLst/>
          </a:prstGeom>
          <a:solidFill>
            <a:srgbClr val="2E68A4"/>
          </a:solidFill>
          <a:ln>
            <a:solidFill>
              <a:srgbClr val="2E68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JP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25880" y="4507992"/>
            <a:ext cx="10195560" cy="57607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  <a:defRPr sz="1400" b="1">
                <a:solidFill>
                  <a:srgbClr val="162F49"/>
                </a:solidFill>
                <a:latin typeface="Noto Sans CJK JP"/>
              </a:defRPr>
            </a:pPr>
            <a:r>
              <a:t>実電流へ復元</a:t>
            </a:r>
          </a:p>
          <a:p>
            <a:pPr>
              <a:spcAft>
                <a:spcPts val="200"/>
              </a:spcAft>
              <a:defRPr sz="1260" b="0">
                <a:solidFill>
                  <a:srgbClr val="14191E"/>
                </a:solidFill>
                <a:latin typeface="Noto Sans CJK JP"/>
              </a:defRPr>
            </a:pPr>
            <a:r>
              <a:t>I_B=S_B/(√3V_B),  Ia[A]=Ia[p.u.]×I_B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504688"/>
            <a:ext cx="5074920" cy="694944"/>
          </a:xfrm>
          <a:prstGeom prst="roundRect">
            <a:avLst/>
          </a:prstGeom>
          <a:solidFill>
            <a:srgbClr val="E1ECF7"/>
          </a:solidFill>
          <a:ln w="13970">
            <a:solidFill>
              <a:srgbClr val="2E68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  <a:defRPr sz="1180" b="1">
                <a:solidFill>
                  <a:srgbClr val="162F49"/>
                </a:solidFill>
                <a:latin typeface="Noto Sans CJK JP"/>
              </a:defRPr>
            </a:pPr>
            <a:r>
              <a:t>例</a:t>
            </a:r>
          </a:p>
          <a:p>
            <a:pPr>
              <a:spcAft>
                <a:spcPts val="200"/>
              </a:spcAft>
              <a:defRPr sz="1180" b="0">
                <a:solidFill>
                  <a:srgbClr val="14191E"/>
                </a:solidFill>
                <a:latin typeface="Noto Sans CJK JP"/>
              </a:defRPr>
            </a:pPr>
            <a:r>
              <a:t>Z1=j0.20, Z2=j0.20, Z0=j0.10 p.u. → |Ia|=6.0 p.u.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16168" y="5504688"/>
            <a:ext cx="5605272" cy="694944"/>
          </a:xfrm>
          <a:prstGeom prst="roundRect">
            <a:avLst/>
          </a:prstGeom>
          <a:solidFill>
            <a:srgbClr val="E1F3E5"/>
          </a:solidFill>
          <a:ln w="13970">
            <a:solidFill>
              <a:srgbClr val="367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  <a:defRPr sz="1180" b="1">
                <a:solidFill>
                  <a:srgbClr val="162F49"/>
                </a:solidFill>
                <a:latin typeface="Noto Sans CJK JP"/>
              </a:defRPr>
            </a:pPr>
            <a:r>
              <a:t>検算</a:t>
            </a:r>
          </a:p>
          <a:p>
            <a:pPr>
              <a:spcAft>
                <a:spcPts val="200"/>
              </a:spcAft>
              <a:defRPr sz="1180" b="0">
                <a:solidFill>
                  <a:srgbClr val="14191E"/>
                </a:solidFill>
                <a:latin typeface="Noto Sans CJK JP"/>
              </a:defRPr>
            </a:pPr>
            <a:r>
              <a:t>66 kV・100 MVA基準なら I_B=0.8748 kA → |Ia|≈5.25 kA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6528816"/>
            <a:ext cx="9144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50" b="0" i="0">
                <a:solidFill>
                  <a:srgbClr val="5A6470"/>
                </a:solidFill>
                <a:latin typeface="Noto Sans CJK JP"/>
              </a:rPr>
              <a:t>Topic 16  |  4/6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500" b="1" i="0">
                <a:solidFill>
                  <a:srgbClr val="162F49"/>
                </a:solidFill>
                <a:latin typeface="Noto Sans CJK JP"/>
              </a:rPr>
              <a:t>系統構成と故障位置が変われば、短絡電流も変わる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11064240" cy="23774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50" b="0" i="0">
                <a:solidFill>
                  <a:srgbClr val="5A6470"/>
                </a:solidFill>
                <a:latin typeface="Noto Sans CJK JP"/>
              </a:rPr>
              <a:t>直列・並列合成 / CB開閉 / 故障位置―短絡電流の傾向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69264"/>
            <a:ext cx="11155680" cy="32004"/>
          </a:xfrm>
          <a:prstGeom prst="rect">
            <a:avLst/>
          </a:prstGeom>
          <a:solidFill>
            <a:srgbClr val="2E68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243584"/>
            <a:ext cx="3703320" cy="11155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E68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sz="1500" b="1">
                <a:solidFill>
                  <a:srgbClr val="162F49"/>
                </a:solidFill>
                <a:latin typeface="Noto Sans CJK JP"/>
              </a:defRPr>
            </a:pPr>
            <a:r>
              <a:t>直列</a:t>
            </a:r>
          </a:p>
          <a:p>
            <a:pPr>
              <a:spcAft>
                <a:spcPts val="200"/>
              </a:spcAft>
              <a:defRPr sz="1700" b="0">
                <a:solidFill>
                  <a:srgbClr val="2E68A4"/>
                </a:solidFill>
                <a:latin typeface="Noto Sans CJK JP"/>
              </a:defRPr>
            </a:pPr>
            <a:r>
              <a:t>Z_eq = Z1 + Z2 + …</a:t>
            </a:r>
          </a:p>
          <a:p>
            <a:pPr>
              <a:spcAft>
                <a:spcPts val="200"/>
              </a:spcAft>
              <a:defRPr sz="1280" b="0">
                <a:solidFill>
                  <a:srgbClr val="14191E"/>
                </a:solidFill>
                <a:latin typeface="Noto Sans CJK JP"/>
              </a:defRPr>
            </a:pPr>
            <a:r>
              <a:t>Zが増える → I_f は小さくなる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542032"/>
            <a:ext cx="3703320" cy="11155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E82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sz="1500" b="1">
                <a:solidFill>
                  <a:srgbClr val="162F49"/>
                </a:solidFill>
                <a:latin typeface="Noto Sans CJK JP"/>
              </a:defRPr>
            </a:pPr>
            <a:r>
              <a:t>並列</a:t>
            </a:r>
          </a:p>
          <a:p>
            <a:pPr>
              <a:spcAft>
                <a:spcPts val="200"/>
              </a:spcAft>
              <a:defRPr sz="1600" b="0">
                <a:solidFill>
                  <a:srgbClr val="1E827F"/>
                </a:solidFill>
                <a:latin typeface="Noto Sans CJK JP"/>
              </a:defRPr>
            </a:pPr>
            <a:r>
              <a:t>Z_eq = Za Zb / (Za + Zb)</a:t>
            </a:r>
          </a:p>
          <a:p>
            <a:pPr>
              <a:spcAft>
                <a:spcPts val="200"/>
              </a:spcAft>
              <a:defRPr sz="1260" b="0">
                <a:solidFill>
                  <a:srgbClr val="14191E"/>
                </a:solidFill>
                <a:latin typeface="Noto Sans CJK JP"/>
              </a:defRPr>
            </a:pPr>
            <a:r>
              <a:t>並列経路が増える → Z_eq が小さくなり、I_f は増え得る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840480"/>
            <a:ext cx="3703320" cy="1261872"/>
          </a:xfrm>
          <a:prstGeom prst="roundRect">
            <a:avLst/>
          </a:prstGeom>
          <a:solidFill>
            <a:srgbClr val="FAEBD7"/>
          </a:solidFill>
          <a:ln w="13970">
            <a:solidFill>
              <a:srgbClr val="BB71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sz="1320" b="1">
                <a:solidFill>
                  <a:srgbClr val="162F49"/>
                </a:solidFill>
                <a:latin typeface="Noto Sans CJK JP"/>
              </a:defRPr>
            </a:pPr>
            <a:r>
              <a:t>H21 二次「電力・管理」問6 clean blind値</a:t>
            </a:r>
          </a:p>
          <a:p>
            <a:pPr>
              <a:spcAft>
                <a:spcPts val="200"/>
              </a:spcAft>
              <a:defRPr sz="1550" b="1">
                <a:solidFill>
                  <a:srgbClr val="2E68A4"/>
                </a:solidFill>
                <a:latin typeface="Noto Sans CJK JP"/>
              </a:defRPr>
            </a:pPr>
            <a:r>
              <a:t>CB3開放: 6.08 kA</a:t>
            </a:r>
          </a:p>
          <a:p>
            <a:pPr>
              <a:spcAft>
                <a:spcPts val="200"/>
              </a:spcAft>
              <a:defRPr sz="1550" b="1">
                <a:solidFill>
                  <a:srgbClr val="B04141"/>
                </a:solidFill>
                <a:latin typeface="Noto Sans CJK JP"/>
              </a:defRPr>
            </a:pPr>
            <a:r>
              <a:t>CB3投入: 10.3 kA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303520"/>
            <a:ext cx="3703320" cy="713232"/>
          </a:xfrm>
          <a:prstGeom prst="roundRect">
            <a:avLst/>
          </a:prstGeom>
          <a:solidFill>
            <a:srgbClr val="EBEFF3"/>
          </a:solidFill>
          <a:ln w="13970">
            <a:solidFill>
              <a:srgbClr val="CD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  <a:defRPr sz="1180" b="1">
                <a:solidFill>
                  <a:srgbClr val="162F49"/>
                </a:solidFill>
                <a:latin typeface="Noto Sans CJK JP"/>
              </a:defRPr>
            </a:pPr>
            <a:r>
              <a:t>読み方</a:t>
            </a:r>
          </a:p>
          <a:p>
            <a:pPr>
              <a:spcAft>
                <a:spcPts val="200"/>
              </a:spcAft>
              <a:defRPr sz="1140" b="0">
                <a:solidFill>
                  <a:srgbClr val="14191E"/>
                </a:solidFill>
                <a:latin typeface="Noto Sans CJK JP"/>
              </a:defRPr>
            </a:pPr>
            <a:r>
              <a:t>本TopicではCBを「接続状態の変化」として読む。遮断器定格・保護協調はTopic 17。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8032" y="5596128"/>
            <a:ext cx="649224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40" b="0" i="0">
                <a:solidFill>
                  <a:srgbClr val="5A6470"/>
                </a:solidFill>
                <a:latin typeface="Noto Sans CJK JP"/>
              </a:rPr>
              <a:t>仮定値: V_feed=25 kV, Z_up=j1.50 Ω, z=j0.080 Ω/km。実際のATき電回路の実設備値ではない。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6528816"/>
            <a:ext cx="9144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50" b="0" i="0">
                <a:solidFill>
                  <a:srgbClr val="5A6470"/>
                </a:solidFill>
                <a:latin typeface="Noto Sans CJK JP"/>
              </a:rPr>
              <a:t>Topic 16  |  5/6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576925" y="4812487"/>
            <a:ext cx="5340096" cy="0"/>
          </a:xfrm>
          <a:prstGeom prst="line">
            <a:avLst/>
          </a:prstGeom>
          <a:ln w="1778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576925" y="1836115"/>
            <a:ext cx="0" cy="2976372"/>
          </a:xfrm>
          <a:prstGeom prst="line">
            <a:avLst/>
          </a:prstGeom>
          <a:ln w="1778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576925" y="2056036"/>
            <a:ext cx="890016" cy="580393"/>
          </a:xfrm>
          <a:prstGeom prst="line">
            <a:avLst/>
          </a:prstGeom>
          <a:ln w="25400">
            <a:solidFill>
              <a:srgbClr val="265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66941" y="2636429"/>
            <a:ext cx="890016" cy="378661"/>
          </a:xfrm>
          <a:prstGeom prst="line">
            <a:avLst/>
          </a:prstGeom>
          <a:ln w="25400">
            <a:solidFill>
              <a:srgbClr val="265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356957" y="3015090"/>
            <a:ext cx="1780032" cy="464644"/>
          </a:xfrm>
          <a:prstGeom prst="line">
            <a:avLst/>
          </a:prstGeom>
          <a:ln w="25400">
            <a:solidFill>
              <a:srgbClr val="265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136989" y="3479734"/>
            <a:ext cx="1780032" cy="272834"/>
          </a:xfrm>
          <a:prstGeom prst="line">
            <a:avLst/>
          </a:prstGeom>
          <a:ln w="25400">
            <a:solidFill>
              <a:srgbClr val="265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538825" y="2017936"/>
            <a:ext cx="76200" cy="76200"/>
          </a:xfrm>
          <a:prstGeom prst="ellipse">
            <a:avLst/>
          </a:prstGeom>
          <a:solidFill>
            <a:srgbClr val="265E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8325" y="1827436"/>
            <a:ext cx="508000" cy="177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latin typeface="Noto Sans CJK JP"/>
              </a:rPr>
              <a:t>16.67</a:t>
            </a:r>
          </a:p>
        </p:txBody>
      </p:sp>
      <p:sp>
        <p:nvSpPr>
          <p:cNvPr id="20" name="Oval 19"/>
          <p:cNvSpPr/>
          <p:nvPr/>
        </p:nvSpPr>
        <p:spPr>
          <a:xfrm>
            <a:off x="6428841" y="2598329"/>
            <a:ext cx="76200" cy="76200"/>
          </a:xfrm>
          <a:prstGeom prst="ellipse">
            <a:avLst/>
          </a:prstGeom>
          <a:solidFill>
            <a:srgbClr val="265E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38341" y="2407829"/>
            <a:ext cx="508000" cy="177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latin typeface="Noto Sans CJK JP"/>
              </a:rPr>
              <a:t>13.16</a:t>
            </a:r>
          </a:p>
        </p:txBody>
      </p:sp>
      <p:sp>
        <p:nvSpPr>
          <p:cNvPr id="22" name="Oval 21"/>
          <p:cNvSpPr/>
          <p:nvPr/>
        </p:nvSpPr>
        <p:spPr>
          <a:xfrm>
            <a:off x="7318857" y="2976990"/>
            <a:ext cx="76200" cy="76200"/>
          </a:xfrm>
          <a:prstGeom prst="ellipse">
            <a:avLst/>
          </a:prstGeom>
          <a:solidFill>
            <a:srgbClr val="265E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28357" y="2786490"/>
            <a:ext cx="508000" cy="177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latin typeface="Noto Sans CJK JP"/>
              </a:rPr>
              <a:t>10.87</a:t>
            </a:r>
          </a:p>
        </p:txBody>
      </p:sp>
      <p:sp>
        <p:nvSpPr>
          <p:cNvPr id="24" name="Oval 23"/>
          <p:cNvSpPr/>
          <p:nvPr/>
        </p:nvSpPr>
        <p:spPr>
          <a:xfrm>
            <a:off x="9098889" y="3441634"/>
            <a:ext cx="76200" cy="76200"/>
          </a:xfrm>
          <a:prstGeom prst="ellipse">
            <a:avLst/>
          </a:prstGeom>
          <a:solidFill>
            <a:srgbClr val="265E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08389" y="3251134"/>
            <a:ext cx="508000" cy="177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latin typeface="Noto Sans CJK JP"/>
              </a:rPr>
              <a:t>8.06</a:t>
            </a:r>
          </a:p>
        </p:txBody>
      </p:sp>
      <p:sp>
        <p:nvSpPr>
          <p:cNvPr id="26" name="Oval 25"/>
          <p:cNvSpPr/>
          <p:nvPr/>
        </p:nvSpPr>
        <p:spPr>
          <a:xfrm>
            <a:off x="10878921" y="3714468"/>
            <a:ext cx="76200" cy="76200"/>
          </a:xfrm>
          <a:prstGeom prst="ellipse">
            <a:avLst/>
          </a:prstGeom>
          <a:solidFill>
            <a:srgbClr val="265E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88421" y="3523968"/>
            <a:ext cx="508000" cy="177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latin typeface="Noto Sans CJK JP"/>
              </a:rPr>
              <a:t>6.41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01021" y="4850587"/>
            <a:ext cx="1016000" cy="177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latin typeface="Noto Sans CJK JP"/>
              </a:rPr>
              <a:t>距離 x [km]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68925" y="1785315"/>
            <a:ext cx="1016000" cy="177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latin typeface="Noto Sans CJK JP"/>
              </a:rPr>
              <a:t>I_f [kA]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500" b="1" i="0">
                <a:solidFill>
                  <a:srgbClr val="162F49"/>
                </a:solidFill>
                <a:latin typeface="Noto Sans CJK JP"/>
              </a:rPr>
              <a:t>固定5問・23答案要素とPowerPointの接続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11064240" cy="23774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50" b="0" i="0">
                <a:solidFill>
                  <a:srgbClr val="5A6470"/>
                </a:solidFill>
                <a:latin typeface="Noto Sans CJK JP"/>
              </a:rPr>
              <a:t>正式過去問の追加・差替えなし。PowerPointは固定範囲だけを可視化する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69264"/>
            <a:ext cx="11155680" cy="32004"/>
          </a:xfrm>
          <a:prstGeom prst="rect">
            <a:avLst/>
          </a:prstGeom>
          <a:solidFill>
            <a:srgbClr val="2E68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502920"/>
          </a:xfrm>
          <a:prstGeom prst="roundRect">
            <a:avLst/>
          </a:prstGeom>
          <a:solidFill>
            <a:srgbClr val="162F49"/>
          </a:solidFill>
          <a:ln w="13970">
            <a:solidFill>
              <a:srgbClr val="162F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200"/>
              </a:spcAft>
              <a:defRPr sz="1300" b="1">
                <a:solidFill>
                  <a:srgbClr val="FFFFFF"/>
                </a:solidFill>
                <a:latin typeface="Noto Sans CJK JP"/>
              </a:defRPr>
            </a:pPr>
            <a:r>
              <a:t>公式過去問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71032" y="1234440"/>
            <a:ext cx="1143000" cy="502920"/>
          </a:xfrm>
          <a:prstGeom prst="roundRect">
            <a:avLst/>
          </a:prstGeom>
          <a:solidFill>
            <a:srgbClr val="162F49"/>
          </a:solidFill>
          <a:ln w="13970">
            <a:solidFill>
              <a:srgbClr val="162F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200"/>
              </a:spcAft>
              <a:defRPr sz="1200" b="1">
                <a:solidFill>
                  <a:srgbClr val="FFFFFF"/>
                </a:solidFill>
                <a:latin typeface="Noto Sans CJK JP"/>
              </a:defRPr>
            </a:pPr>
            <a:r>
              <a:t>答案要素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41464" y="1234440"/>
            <a:ext cx="1965960" cy="502920"/>
          </a:xfrm>
          <a:prstGeom prst="roundRect">
            <a:avLst/>
          </a:prstGeom>
          <a:solidFill>
            <a:srgbClr val="162F49"/>
          </a:solidFill>
          <a:ln w="13970">
            <a:solidFill>
              <a:srgbClr val="162F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200"/>
              </a:spcAft>
              <a:defRPr sz="1200" b="1">
                <a:solidFill>
                  <a:srgbClr val="FFFFFF"/>
                </a:solidFill>
                <a:latin typeface="Noto Sans CJK JP"/>
              </a:defRPr>
            </a:pPr>
            <a:r>
              <a:t>接続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34856" y="1234440"/>
            <a:ext cx="2395728" cy="502920"/>
          </a:xfrm>
          <a:prstGeom prst="roundRect">
            <a:avLst/>
          </a:prstGeom>
          <a:solidFill>
            <a:srgbClr val="162F49"/>
          </a:solidFill>
          <a:ln w="13970">
            <a:solidFill>
              <a:srgbClr val="162F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200"/>
              </a:spcAft>
              <a:defRPr sz="1200" b="1">
                <a:solidFill>
                  <a:srgbClr val="FFFFFF"/>
                </a:solidFill>
                <a:latin typeface="Noto Sans CJK JP"/>
              </a:defRPr>
            </a:pPr>
            <a:r>
              <a:t>主な論点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10512"/>
            <a:ext cx="5303520" cy="530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  <a:defRPr sz="1210" b="0">
                <a:solidFill>
                  <a:srgbClr val="14191E"/>
                </a:solidFill>
                <a:latin typeface="Noto Sans CJK JP"/>
              </a:defRPr>
            </a:pPr>
            <a:r>
              <a:t>R2 一次「電力」問3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71032" y="1810512"/>
            <a:ext cx="1143000" cy="530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  <a:defRPr sz="1300" b="1">
                <a:solidFill>
                  <a:srgbClr val="162F49"/>
                </a:solidFill>
                <a:latin typeface="Noto Sans CJK JP"/>
              </a:defRPr>
            </a:pPr>
            <a:r>
              <a:t>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41464" y="1810512"/>
            <a:ext cx="1965960" cy="530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  <a:defRPr sz="1210" b="0">
                <a:solidFill>
                  <a:srgbClr val="2E68A4"/>
                </a:solidFill>
                <a:latin typeface="Noto Sans CJK JP"/>
              </a:defRPr>
            </a:pPr>
            <a:r>
              <a:t>Slide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34856" y="1810512"/>
            <a:ext cx="2395728" cy="530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  <a:defRPr sz="1150" b="0">
                <a:solidFill>
                  <a:srgbClr val="14191E"/>
                </a:solidFill>
                <a:latin typeface="Noto Sans CJK JP"/>
              </a:defRPr>
            </a:pPr>
            <a:r>
              <a:t>短絡現象・影響・抑制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50591"/>
            <a:ext cx="5303520" cy="530352"/>
          </a:xfrm>
          <a:prstGeom prst="roundRect">
            <a:avLst/>
          </a:prstGeom>
          <a:solidFill>
            <a:srgbClr val="F5F7F9"/>
          </a:solidFill>
          <a:ln w="1397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  <a:defRPr sz="1210" b="0">
                <a:solidFill>
                  <a:srgbClr val="14191E"/>
                </a:solidFill>
                <a:latin typeface="Noto Sans CJK JP"/>
              </a:defRPr>
            </a:pPr>
            <a:r>
              <a:t>H25 一次「電力」問4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71032" y="2450591"/>
            <a:ext cx="1143000" cy="530352"/>
          </a:xfrm>
          <a:prstGeom prst="roundRect">
            <a:avLst/>
          </a:prstGeom>
          <a:solidFill>
            <a:srgbClr val="F5F7F9"/>
          </a:solidFill>
          <a:ln w="1397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  <a:defRPr sz="1300" b="1">
                <a:solidFill>
                  <a:srgbClr val="162F49"/>
                </a:solidFill>
                <a:latin typeface="Noto Sans CJK JP"/>
              </a:defRPr>
            </a:pPr>
            <a:r>
              <a:t>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41464" y="2450591"/>
            <a:ext cx="1965960" cy="530352"/>
          </a:xfrm>
          <a:prstGeom prst="roundRect">
            <a:avLst/>
          </a:prstGeom>
          <a:solidFill>
            <a:srgbClr val="F5F7F9"/>
          </a:solidFill>
          <a:ln w="1397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  <a:defRPr sz="1210" b="0">
                <a:solidFill>
                  <a:srgbClr val="2E68A4"/>
                </a:solidFill>
                <a:latin typeface="Noto Sans CJK JP"/>
              </a:defRPr>
            </a:pPr>
            <a:r>
              <a:t>Slides 1–2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34856" y="2450591"/>
            <a:ext cx="2395728" cy="530352"/>
          </a:xfrm>
          <a:prstGeom prst="roundRect">
            <a:avLst/>
          </a:prstGeom>
          <a:solidFill>
            <a:srgbClr val="F5F7F9"/>
          </a:solidFill>
          <a:ln w="1397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  <a:defRPr sz="1150" b="0">
                <a:solidFill>
                  <a:srgbClr val="14191E"/>
                </a:solidFill>
                <a:latin typeface="Noto Sans CJK JP"/>
              </a:defRPr>
            </a:pPr>
            <a:r>
              <a:t>短絡容量・抑制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90672"/>
            <a:ext cx="5303520" cy="530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  <a:defRPr sz="1210" b="0">
                <a:solidFill>
                  <a:srgbClr val="14191E"/>
                </a:solidFill>
                <a:latin typeface="Noto Sans CJK JP"/>
              </a:defRPr>
            </a:pPr>
            <a:r>
              <a:t>R7 二次「電力・管理」問2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71032" y="3090672"/>
            <a:ext cx="1143000" cy="530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  <a:defRPr sz="1300" b="1">
                <a:solidFill>
                  <a:srgbClr val="162F49"/>
                </a:solidFill>
                <a:latin typeface="Noto Sans CJK JP"/>
              </a:defRPr>
            </a:pPr>
            <a: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41464" y="3090672"/>
            <a:ext cx="1965960" cy="530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  <a:defRPr sz="1210" b="0">
                <a:solidFill>
                  <a:srgbClr val="2E68A4"/>
                </a:solidFill>
                <a:latin typeface="Noto Sans CJK JP"/>
              </a:defRPr>
            </a:pPr>
            <a:r>
              <a:t>Slides 3–4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34856" y="3090672"/>
            <a:ext cx="2395728" cy="530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  <a:defRPr sz="1150" b="0">
                <a:solidFill>
                  <a:srgbClr val="14191E"/>
                </a:solidFill>
                <a:latin typeface="Noto Sans CJK JP"/>
              </a:defRPr>
            </a:pPr>
            <a:r>
              <a:t>対称座標法・一線地絡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730752"/>
            <a:ext cx="5303520" cy="530352"/>
          </a:xfrm>
          <a:prstGeom prst="roundRect">
            <a:avLst/>
          </a:prstGeom>
          <a:solidFill>
            <a:srgbClr val="F5F7F9"/>
          </a:solidFill>
          <a:ln w="1397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  <a:defRPr sz="1210" b="0">
                <a:solidFill>
                  <a:srgbClr val="14191E"/>
                </a:solidFill>
                <a:latin typeface="Noto Sans CJK JP"/>
              </a:defRPr>
            </a:pPr>
            <a:r>
              <a:t>R3 二次「電力・管理」問3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71032" y="3730752"/>
            <a:ext cx="1143000" cy="530352"/>
          </a:xfrm>
          <a:prstGeom prst="roundRect">
            <a:avLst/>
          </a:prstGeom>
          <a:solidFill>
            <a:srgbClr val="F5F7F9"/>
          </a:solidFill>
          <a:ln w="1397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  <a:defRPr sz="1300" b="1">
                <a:solidFill>
                  <a:srgbClr val="162F49"/>
                </a:solidFill>
                <a:latin typeface="Noto Sans CJK JP"/>
              </a:defRPr>
            </a:pPr>
            <a: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41464" y="3730752"/>
            <a:ext cx="1965960" cy="530352"/>
          </a:xfrm>
          <a:prstGeom prst="roundRect">
            <a:avLst/>
          </a:prstGeom>
          <a:solidFill>
            <a:srgbClr val="F5F7F9"/>
          </a:solidFill>
          <a:ln w="1397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  <a:defRPr sz="1210" b="0">
                <a:solidFill>
                  <a:srgbClr val="2E68A4"/>
                </a:solidFill>
                <a:latin typeface="Noto Sans CJK JP"/>
              </a:defRPr>
            </a:pPr>
            <a:r>
              <a:t>Slides 2, 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34856" y="3730752"/>
            <a:ext cx="2395728" cy="530352"/>
          </a:xfrm>
          <a:prstGeom prst="roundRect">
            <a:avLst/>
          </a:prstGeom>
          <a:solidFill>
            <a:srgbClr val="F5F7F9"/>
          </a:solidFill>
          <a:ln w="1397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  <a:defRPr sz="1150" b="0">
                <a:solidFill>
                  <a:srgbClr val="14191E"/>
                </a:solidFill>
                <a:latin typeface="Noto Sans CJK JP"/>
              </a:defRPr>
            </a:pPr>
            <a:r>
              <a:t>p.u.・％Z・逆算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370831"/>
            <a:ext cx="5303520" cy="530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  <a:defRPr sz="1210" b="0">
                <a:solidFill>
                  <a:srgbClr val="14191E"/>
                </a:solidFill>
                <a:latin typeface="Noto Sans CJK JP"/>
              </a:defRPr>
            </a:pPr>
            <a:r>
              <a:t>H21 二次「電力・管理」問6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71032" y="4370831"/>
            <a:ext cx="1143000" cy="530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  <a:defRPr sz="1300" b="1">
                <a:solidFill>
                  <a:srgbClr val="162F49"/>
                </a:solidFill>
                <a:latin typeface="Noto Sans CJK JP"/>
              </a:defRPr>
            </a:pPr>
            <a:r>
              <a:t>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41464" y="4370831"/>
            <a:ext cx="1965960" cy="530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  <a:defRPr sz="1210" b="0">
                <a:solidFill>
                  <a:srgbClr val="2E68A4"/>
                </a:solidFill>
                <a:latin typeface="Noto Sans CJK JP"/>
              </a:defRPr>
            </a:pPr>
            <a:r>
              <a:t>Slide 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34856" y="4370831"/>
            <a:ext cx="2395728" cy="530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  <a:defRPr sz="1150" b="0">
                <a:solidFill>
                  <a:srgbClr val="14191E"/>
                </a:solidFill>
                <a:latin typeface="Noto Sans CJK JP"/>
              </a:defRPr>
            </a:pPr>
            <a:r>
              <a:t>直列/並列・CB接続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148072"/>
            <a:ext cx="3657600" cy="969264"/>
          </a:xfrm>
          <a:prstGeom prst="roundRect">
            <a:avLst/>
          </a:prstGeom>
          <a:solidFill>
            <a:srgbClr val="E1ECF7"/>
          </a:solidFill>
          <a:ln w="13970">
            <a:solidFill>
              <a:srgbClr val="2E68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200"/>
              </a:spcAft>
              <a:defRPr sz="1270" b="1">
                <a:solidFill>
                  <a:srgbClr val="162F49"/>
                </a:solidFill>
                <a:latin typeface="Noto Sans CJK JP"/>
              </a:defRPr>
            </a:pPr>
            <a:r>
              <a:t>短絡電流上限から逆算</a:t>
            </a:r>
          </a:p>
          <a:p>
            <a:pPr>
              <a:spcAft>
                <a:spcPts val="200"/>
              </a:spcAft>
              <a:defRPr sz="1080" b="0">
                <a:solidFill>
                  <a:srgbClr val="2E68A4"/>
                </a:solidFill>
                <a:latin typeface="Noto Sans CJK JP"/>
              </a:defRPr>
            </a:pPr>
            <a:r>
              <a:t>I_lim → I_lim,pu → Z_total ≥ 1/I_lim,pu</a:t>
            </a:r>
          </a:p>
          <a:p>
            <a:pPr>
              <a:spcAft>
                <a:spcPts val="200"/>
              </a:spcAft>
              <a:defRPr sz="1050" b="0">
                <a:solidFill>
                  <a:srgbClr val="14191E"/>
                </a:solidFill>
                <a:latin typeface="Noto Sans CJK JP"/>
              </a:defRPr>
            </a:pPr>
            <a:r>
              <a:t>→ 固定Zを引き、未知インピーダンス/容量を解く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62272" y="5148072"/>
            <a:ext cx="3657600" cy="969264"/>
          </a:xfrm>
          <a:prstGeom prst="roundRect">
            <a:avLst/>
          </a:prstGeom>
          <a:solidFill>
            <a:srgbClr val="E1F3E5"/>
          </a:solidFill>
          <a:ln w="13970">
            <a:solidFill>
              <a:srgbClr val="367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200"/>
              </a:spcAft>
              <a:defRPr sz="1270" b="1">
                <a:solidFill>
                  <a:srgbClr val="162F49"/>
                </a:solidFill>
                <a:latin typeface="Noto Sans CJK JP"/>
              </a:defRPr>
            </a:pPr>
            <a:r>
              <a:t>補正5項目</a:t>
            </a:r>
          </a:p>
          <a:p>
            <a:pPr>
              <a:spcAft>
                <a:spcPts val="200"/>
              </a:spcAft>
              <a:defRPr sz="1019" b="0">
                <a:solidFill>
                  <a:srgbClr val="14191E"/>
                </a:solidFill>
                <a:latin typeface="Noto Sans CJK JP"/>
              </a:defRPr>
            </a:pPr>
            <a:r>
              <a:t>電磁誘導障害 / 遮断容量 / BTB / 電圧階級上昇+系統分割 / V_LLの意味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66175" y="5148072"/>
            <a:ext cx="3255264" cy="969264"/>
          </a:xfrm>
          <a:prstGeom prst="roundRect">
            <a:avLst/>
          </a:prstGeom>
          <a:solidFill>
            <a:srgbClr val="FAEBD7"/>
          </a:solidFill>
          <a:ln w="13970">
            <a:solidFill>
              <a:srgbClr val="BB71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200"/>
              </a:spcAft>
              <a:defRPr sz="1240" b="1">
                <a:solidFill>
                  <a:srgbClr val="162F49"/>
                </a:solidFill>
                <a:latin typeface="Noto Sans CJK JP"/>
              </a:defRPr>
            </a:pPr>
            <a:r>
              <a:t>後続Topicとの境界</a:t>
            </a:r>
          </a:p>
          <a:p>
            <a:pPr>
              <a:spcAft>
                <a:spcPts val="200"/>
              </a:spcAft>
              <a:defRPr sz="990" b="0">
                <a:solidFill>
                  <a:srgbClr val="14191E"/>
                </a:solidFill>
                <a:latin typeface="Noto Sans CJK JP"/>
              </a:defRPr>
            </a:pPr>
            <a:r>
              <a:t>17: 保護・遮断器 / 18: 雷サージ / 20: 安定度 / 21: 系統運用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44200" y="6528816"/>
            <a:ext cx="9144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50" b="0" i="0">
                <a:solidFill>
                  <a:srgbClr val="5A6470"/>
                </a:solidFill>
                <a:latin typeface="Noto Sans CJK JP"/>
              </a:rPr>
              <a:t>Topic 16  |  6/6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Topic 16 25kV架線が短絡したら何kA流れる？</dc:title>
  <dc:subject>第二種電気主任技術者 電力・管理 / 短絡計算・対称座標法</dc:subject>
  <dc:creator>OpenAI / cureflash project</dc:creator>
  <cp:keywords/>
  <dc:description>Fixed 5 official questions / 23 answer elements; corrected 5 learner-facing gaps after completion blind.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