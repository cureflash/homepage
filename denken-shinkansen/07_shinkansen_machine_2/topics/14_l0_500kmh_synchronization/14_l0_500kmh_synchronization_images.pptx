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4F81BD" accent2="C0504D" accent3="9BBB59" accent4="8064A2" accent5="4BACC6" accent6="F79646" bg1="FFFFFF" bg2="EEECE1" folHlink="800080" hlink="0000FF" tx1="000000" tx2="1F497D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ja-JP" sz="2800" b="1">
                <a:solidFill>
                  <a:srgbClr val="17365D"/>
                </a:solidFill>
                <a:latin typeface="Noto Sans CJK JP"/>
                <a:ea typeface="Noto Sans CJK JP"/>
              </a:rPr>
              <a:t>同期機フェーザ：θ と δ を分ける</a:t>
            </a:r>
            <a:endParaRPr lang="ja-JP" sz="2800"/>
          </a:p>
        </p:txBody>
      </p:sp>
      <p:sp>
        <p:nvSpPr>
          <p:cNvPr id="3" name="kick"/>
          <p:cNvSpPr txBox="1"/>
          <p:nvPr/>
        </p:nvSpPr>
        <p:spPr>
          <a:xfrm>
            <a:off x="530352" y="75895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ja-JP" sz="1100" b="0">
                <a:solidFill>
                  <a:srgbClr val="64748B"/>
                </a:solidFill>
                <a:latin typeface="Noto Sans CJK JP"/>
                <a:ea typeface="Noto Sans CJK JP"/>
              </a:rPr>
              <a:t>Topic 14 / 一次1問＋二次4問・27答案要素へ接続</a:t>
            </a:r>
            <a:endParaRPr lang="ja-JP" sz="1100"/>
          </a:p>
        </p:txBody>
      </p:sp>
      <p:sp>
        <p:nvSpPr>
          <p:cNvPr id="4" name="gen"/>
          <p:cNvSpPr txBox="1"/>
          <p:nvPr/>
        </p:nvSpPr>
        <p:spPr>
          <a:xfrm>
            <a:off x="594360" y="1234440"/>
            <a:ext cx="5349240" cy="1051560"/>
          </a:xfrm>
          <a:prstGeom prst="rect">
            <a:avLst/>
          </a:prstGeom>
          <a:solidFill>
            <a:srgbClr val="EAF2FB"/>
          </a:solidFill>
          <a:ln w="12700">
            <a:solidFill>
              <a:srgbClr val="B7C9DF"/>
            </a:solidFill>
          </a:ln>
        </p:spPr>
        <p:txBody>
          <a:bodyPr wrap="square" lIns="91440" rIns="91440" tIns="45720" bIns="45720" anchor="ctr"/>
          <a:lstStyle/>
          <a:p>
            <a:pPr algn="True"/>
            <a:r>
              <a:rPr lang="ja-JP" sz="2400" b="1">
                <a:solidFill>
                  <a:srgbClr val="17365D"/>
                </a:solidFill>
                <a:latin typeface="Noto Sans CJK JP"/>
                <a:ea typeface="Noto Sans CJK JP"/>
              </a:rPr>
              <a:t>発電機（機外向き電流）</a:t>
            </a:r>
            <a:endParaRPr lang="ja-JP" sz="2400"/>
          </a:p>
          <a:p>
            <a:pPr algn="True"/>
            <a:r>
              <a:rPr lang="ja-JP" sz="2400" b="1">
                <a:solidFill>
                  <a:srgbClr val="17365D"/>
                </a:solidFill>
                <a:latin typeface="Noto Sans CJK JP"/>
                <a:ea typeface="Noto Sans CJK JP"/>
              </a:rPr>
              <a:t>E = V + jXₛI</a:t>
            </a:r>
            <a:endParaRPr lang="ja-JP" sz="2400"/>
          </a:p>
        </p:txBody>
      </p:sp>
      <p:sp>
        <p:nvSpPr>
          <p:cNvPr id="5" name="motor"/>
          <p:cNvSpPr txBox="1"/>
          <p:nvPr/>
        </p:nvSpPr>
        <p:spPr>
          <a:xfrm>
            <a:off x="6217920" y="1234440"/>
            <a:ext cx="5349240" cy="1051560"/>
          </a:xfrm>
          <a:prstGeom prst="rect">
            <a:avLst/>
          </a:prstGeom>
          <a:solidFill>
            <a:srgbClr val="FFF3E3"/>
          </a:solidFill>
          <a:ln w="12700">
            <a:solidFill>
              <a:srgbClr val="E7C38A"/>
            </a:solidFill>
          </a:ln>
        </p:spPr>
        <p:txBody>
          <a:bodyPr wrap="square" lIns="91440" rIns="91440" tIns="45720" bIns="45720" anchor="ctr"/>
          <a:lstStyle/>
          <a:p>
            <a:pPr algn="True"/>
            <a:r>
              <a:rPr lang="ja-JP" sz="2400" b="1">
                <a:solidFill>
                  <a:srgbClr val="7B3F00"/>
                </a:solidFill>
                <a:latin typeface="Noto Sans CJK JP"/>
                <a:ea typeface="Noto Sans CJK JP"/>
              </a:rPr>
              <a:t>電動機（機内向き電流）</a:t>
            </a:r>
            <a:endParaRPr lang="ja-JP" sz="2400"/>
          </a:p>
          <a:p>
            <a:pPr algn="True"/>
            <a:r>
              <a:rPr lang="ja-JP" sz="2400" b="1">
                <a:solidFill>
                  <a:srgbClr val="7B3F00"/>
                </a:solidFill>
                <a:latin typeface="Noto Sans CJK JP"/>
                <a:ea typeface="Noto Sans CJK JP"/>
              </a:rPr>
              <a:t>V = E + jXₛI</a:t>
            </a:r>
            <a:endParaRPr lang="ja-JP" sz="2400"/>
          </a:p>
        </p:txBody>
      </p:sp>
      <p:sp>
        <p:nvSpPr>
          <p:cNvPr id="6" name="theta"/>
          <p:cNvSpPr txBox="1"/>
          <p:nvPr/>
        </p:nvSpPr>
        <p:spPr>
          <a:xfrm>
            <a:off x="685800" y="2606040"/>
            <a:ext cx="502920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rIns="91440" tIns="45720" bIns="45720" anchor="ctr"/>
          <a:lstStyle/>
          <a:p>
            <a:pPr algn="True"/>
            <a:r>
              <a:rPr lang="ja-JP" sz="2000" b="1">
                <a:solidFill>
                  <a:srgbClr val="233247"/>
                </a:solidFill>
                <a:latin typeface="Noto Sans CJK JP"/>
                <a:ea typeface="Noto Sans CJK JP"/>
              </a:rPr>
              <a:t>力率角 θ</a:t>
            </a:r>
            <a:endParaRPr lang="ja-JP" sz="2000"/>
          </a:p>
          <a:p>
            <a:pPr algn="True"/>
            <a:r>
              <a:rPr lang="ja-JP" sz="2000" b="1">
                <a:solidFill>
                  <a:srgbClr val="233247"/>
                </a:solidFill>
                <a:latin typeface="Noto Sans CJK JP"/>
                <a:ea typeface="Noto Sans CJK JP"/>
              </a:rPr>
              <a:t>V と I の位相差 → cosθ が力率</a:t>
            </a:r>
            <a:endParaRPr lang="ja-JP" sz="2000"/>
          </a:p>
        </p:txBody>
      </p:sp>
      <p:sp>
        <p:nvSpPr>
          <p:cNvPr id="7" name="delta"/>
          <p:cNvSpPr txBox="1"/>
          <p:nvPr/>
        </p:nvSpPr>
        <p:spPr>
          <a:xfrm>
            <a:off x="6355080" y="2606040"/>
            <a:ext cx="5029200" cy="822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rIns="91440" tIns="45720" bIns="45720" anchor="ctr"/>
          <a:lstStyle/>
          <a:p>
            <a:pPr algn="True"/>
            <a:r>
              <a:rPr lang="ja-JP" sz="2000" b="1">
                <a:solidFill>
                  <a:srgbClr val="233247"/>
                </a:solidFill>
                <a:latin typeface="Noto Sans CJK JP"/>
                <a:ea typeface="Noto Sans CJK JP"/>
              </a:rPr>
              <a:t>負荷角 δ</a:t>
            </a:r>
            <a:endParaRPr lang="ja-JP" sz="2000"/>
          </a:p>
          <a:p>
            <a:pPr algn="True"/>
            <a:r>
              <a:rPr lang="ja-JP" sz="2000" b="1">
                <a:solidFill>
                  <a:srgbClr val="233247"/>
                </a:solidFill>
                <a:latin typeface="Noto Sans CJK JP"/>
                <a:ea typeface="Noto Sans CJK JP"/>
              </a:rPr>
              <a:t>V と E の位相差 → sinδ が電力角式</a:t>
            </a:r>
            <a:endParaRPr lang="ja-JP" sz="2000"/>
          </a:p>
        </p:txBody>
      </p:sp>
      <p:sp>
        <p:nvSpPr>
          <p:cNvPr id="8" name="rule"/>
          <p:cNvSpPr txBox="1"/>
          <p:nvPr/>
        </p:nvSpPr>
        <p:spPr>
          <a:xfrm>
            <a:off x="685800" y="3703320"/>
            <a:ext cx="10698480" cy="777240"/>
          </a:xfrm>
          <a:prstGeom prst="rect">
            <a:avLst/>
          </a:prstGeom>
          <a:solidFill>
            <a:srgbClr val="EEF6FF"/>
          </a:solidFill>
          <a:ln w="12700">
            <a:solidFill>
              <a:srgbClr val="A9C7E8"/>
            </a:solidFill>
          </a:ln>
        </p:spPr>
        <p:txBody>
          <a:bodyPr wrap="square" lIns="91440" rIns="91440" tIns="45720" bIns="45720" anchor="ctr"/>
          <a:lstStyle/>
          <a:p>
            <a:pPr algn="True"/>
            <a:r>
              <a:rPr lang="ja-JP" sz="1800" b="1">
                <a:solidFill>
                  <a:srgbClr val="17365D"/>
                </a:solidFill>
                <a:latin typeface="Noto Sans CJK JP"/>
                <a:ea typeface="Noto Sans CJK JP"/>
              </a:rPr>
              <a:t>解法：I を置く → 90°進めて jXₛI → KVLで E を閉じる。θ と δ は一般に同じ角ではない。</a:t>
            </a:r>
            <a:endParaRPr lang="ja-JP" sz="1800"/>
          </a:p>
        </p:txBody>
      </p:sp>
      <p:sp>
        <p:nvSpPr>
          <p:cNvPr id="9" name="l0"/>
          <p:cNvSpPr txBox="1"/>
          <p:nvPr/>
        </p:nvSpPr>
        <p:spPr>
          <a:xfrm>
            <a:off x="685800" y="4663440"/>
            <a:ext cx="10698480" cy="1051560"/>
          </a:xfrm>
          <a:prstGeom prst="rect">
            <a:avLst/>
          </a:prstGeom>
          <a:solidFill>
            <a:srgbClr val="FFFDF5"/>
          </a:solidFill>
          <a:ln w="12700">
            <a:solidFill>
              <a:srgbClr val="E7D8A4"/>
            </a:solidFill>
          </a:ln>
        </p:spPr>
        <p:txBody>
          <a:bodyPr wrap="square" lIns="91440" rIns="91440" tIns="45720" bIns="45720" anchor="ctr"/>
          <a:lstStyle/>
          <a:p>
            <a:pPr algn="True"/>
            <a:r>
              <a:rPr lang="ja-JP" sz="1600" b="0">
                <a:solidFill>
                  <a:srgbClr val="334155"/>
                </a:solidFill>
                <a:latin typeface="Noto Sans CJK JP"/>
                <a:ea typeface="Noto Sans CJK JP"/>
              </a:rPr>
              <a:t>L0系への接続は概念のみ：移動磁界と車両側界磁の相対電気位相が推進・電力授受の鍵。</a:t>
            </a:r>
            <a:endParaRPr lang="ja-JP" sz="1600"/>
          </a:p>
          <a:p>
            <a:pPr algn="True"/>
            <a:r>
              <a:rPr lang="ja-JP" sz="1600" b="0">
                <a:solidFill>
                  <a:srgbClr val="334155"/>
                </a:solidFill>
                <a:latin typeface="Noto Sans CJK JP"/>
                <a:ea typeface="Noto Sans CJK JP"/>
              </a:rPr>
              <a:t>未確認の極ピッチ・電圧・電流・推力・500 km/h時周波数は実値化しない。</a:t>
            </a:r>
            <a:endParaRPr lang="ja-JP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ja-JP" sz="2800" b="1">
                <a:solidFill>
                  <a:srgbClr val="17365D"/>
                </a:solidFill>
                <a:latin typeface="Noto Sans CJK JP"/>
                <a:ea typeface="Noto Sans CJK JP"/>
              </a:rPr>
              <a:t>電力角特性：P = VE/Xₛ sinδ</a:t>
            </a:r>
            <a:endParaRPr lang="ja-JP" sz="2800"/>
          </a:p>
        </p:txBody>
      </p:sp>
      <p:sp>
        <p:nvSpPr>
          <p:cNvPr id="3" name="kick"/>
          <p:cNvSpPr txBox="1"/>
          <p:nvPr/>
        </p:nvSpPr>
        <p:spPr>
          <a:xfrm>
            <a:off x="530352" y="75895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ja-JP" sz="1100" b="0">
                <a:solidFill>
                  <a:srgbClr val="64748B"/>
                </a:solidFill>
                <a:latin typeface="Noto Sans CJK JP"/>
                <a:ea typeface="Noto Sans CJK JP"/>
              </a:rPr>
              <a:t>成立条件：三相平衡・円筒形基本モデル・Rₐ無視・定常状態・基準一致</a:t>
            </a:r>
            <a:endParaRPr lang="ja-JP" sz="1100"/>
          </a:p>
        </p:txBody>
      </p:sp>
      <p:sp>
        <p:nvSpPr>
          <p:cNvPr id="4" name="formula"/>
          <p:cNvSpPr txBox="1"/>
          <p:nvPr/>
        </p:nvSpPr>
        <p:spPr>
          <a:xfrm>
            <a:off x="640080" y="1234440"/>
            <a:ext cx="3749039" cy="1143000"/>
          </a:xfrm>
          <a:prstGeom prst="rect">
            <a:avLst/>
          </a:prstGeom>
          <a:solidFill>
            <a:srgbClr val="EAF2FB"/>
          </a:solidFill>
          <a:ln w="12700">
            <a:solidFill>
              <a:srgbClr val="9FB9D5"/>
            </a:solidFill>
          </a:ln>
        </p:spPr>
        <p:txBody>
          <a:bodyPr wrap="square" lIns="91440" rIns="91440" tIns="45720" bIns="45720" anchor="ctr"/>
          <a:lstStyle/>
          <a:p>
            <a:pPr algn="True"/>
            <a:r>
              <a:rPr lang="ja-JP" sz="2800" b="1">
                <a:solidFill>
                  <a:srgbClr val="17365D"/>
                </a:solidFill>
                <a:latin typeface="Noto Sans CJK JP"/>
                <a:ea typeface="Noto Sans CJK JP"/>
              </a:rPr>
              <a:t>P = VE/Xₛ · sinδ</a:t>
            </a:r>
            <a:endParaRPr lang="ja-JP" sz="2800"/>
          </a:p>
          <a:p>
            <a:pPr algn="True"/>
            <a:r>
              <a:rPr lang="ja-JP" sz="2800" b="1">
                <a:solidFill>
                  <a:srgbClr val="17365D"/>
                </a:solidFill>
                <a:latin typeface="Noto Sans CJK JP"/>
                <a:ea typeface="Noto Sans CJK JP"/>
              </a:rPr>
              <a:t>Pmax = VE/Xₛ</a:t>
            </a:r>
            <a:endParaRPr lang="ja-JP" sz="2800"/>
          </a:p>
        </p:txBody>
      </p:sp>
      <p:sp>
        <p:nvSpPr>
          <p:cNvPr id="5" name="reverse"/>
          <p:cNvSpPr txBox="1"/>
          <p:nvPr/>
        </p:nvSpPr>
        <p:spPr>
          <a:xfrm>
            <a:off x="640080" y="2651760"/>
            <a:ext cx="3749039" cy="96012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rIns="91440" tIns="45720" bIns="45720" anchor="ctr"/>
          <a:lstStyle/>
          <a:p>
            <a:pPr algn="True"/>
            <a:r>
              <a:rPr lang="ja-JP" sz="2100" b="1">
                <a:solidFill>
                  <a:srgbClr val="233247"/>
                </a:solidFill>
                <a:latin typeface="Noto Sans CJK JP"/>
                <a:ea typeface="Noto Sans CJK JP"/>
              </a:rPr>
              <a:t>逆算</a:t>
            </a:r>
            <a:endParaRPr lang="ja-JP" sz="2100"/>
          </a:p>
          <a:p>
            <a:pPr algn="True"/>
            <a:r>
              <a:rPr lang="ja-JP" sz="2100" b="1">
                <a:solidFill>
                  <a:srgbClr val="233247"/>
                </a:solidFill>
                <a:latin typeface="Noto Sans CJK JP"/>
                <a:ea typeface="Noto Sans CJK JP"/>
              </a:rPr>
              <a:t>sinδ = PXₛ/(VE) ≤ 1</a:t>
            </a:r>
            <a:endParaRPr lang="ja-JP" sz="2100"/>
          </a:p>
        </p:txBody>
      </p:sp>
      <p:sp>
        <p:nvSpPr>
          <p:cNvPr id="6" name="trend"/>
          <p:cNvSpPr txBox="1"/>
          <p:nvPr/>
        </p:nvSpPr>
        <p:spPr>
          <a:xfrm>
            <a:off x="4709160" y="1234440"/>
            <a:ext cx="6812280" cy="2377440"/>
          </a:xfrm>
          <a:prstGeom prst="rect">
            <a:avLst/>
          </a:prstGeom>
          <a:solidFill>
            <a:srgbClr val="FFF8ED"/>
          </a:solidFill>
          <a:ln w="12700">
            <a:solidFill>
              <a:srgbClr val="E8C98F"/>
            </a:solidFill>
          </a:ln>
        </p:spPr>
        <p:txBody>
          <a:bodyPr wrap="square" lIns="91440" rIns="91440" tIns="45720" bIns="45720" anchor="ctr"/>
          <a:lstStyle/>
          <a:p>
            <a:pPr algn="True"/>
            <a:r>
              <a:rPr lang="ja-JP" sz="2000" b="0">
                <a:solidFill>
                  <a:srgbClr val="233247"/>
                </a:solidFill>
                <a:latin typeface="Noto Sans CJK JP"/>
                <a:ea typeface="Noto Sans CJK JP"/>
              </a:rPr>
              <a:t>同じ電力 P を保つとき</a:t>
            </a:r>
            <a:endParaRPr lang="ja-JP" sz="2000"/>
          </a:p>
          <a:p>
            <a:pPr algn="True"/>
            <a:r>
              <a:rPr lang="ja-JP" sz="2000" b="0">
                <a:solidFill>
                  <a:srgbClr val="233247"/>
                </a:solidFill>
                <a:latin typeface="Noto Sans CJK JP"/>
                <a:ea typeface="Noto Sans CJK JP"/>
              </a:rPr>
              <a:t>・励磁低下 → E↓ → δ↑ / Pmax↓</a:t>
            </a:r>
            <a:endParaRPr lang="ja-JP" sz="2000"/>
          </a:p>
          <a:p>
            <a:pPr algn="True"/>
            <a:r>
              <a:rPr lang="ja-JP" sz="2000" b="0">
                <a:solidFill>
                  <a:srgbClr val="233247"/>
                </a:solidFill>
                <a:latin typeface="Noto Sans CJK JP"/>
                <a:ea typeface="Noto Sans CJK JP"/>
              </a:rPr>
              <a:t>・直列リアクタンス増加 → X↑ → δ↑ / Pmax↓</a:t>
            </a:r>
            <a:endParaRPr lang="ja-JP" sz="2000"/>
          </a:p>
          <a:p>
            <a:pPr algn="True"/>
            <a:r>
              <a:rPr lang="ja-JP" sz="2000" b="0">
                <a:solidFill>
                  <a:srgbClr val="233247"/>
                </a:solidFill>
                <a:latin typeface="Noto Sans CJK JP"/>
                <a:ea typeface="Noto Sans CJK JP"/>
              </a:rPr>
              <a:t>・δ=90°で単純モデルの最大出力</a:t>
            </a:r>
            <a:endParaRPr lang="ja-JP" sz="2000"/>
          </a:p>
        </p:txBody>
      </p:sp>
      <p:sp>
        <p:nvSpPr>
          <p:cNvPr id="7" name="flow"/>
          <p:cNvSpPr txBox="1"/>
          <p:nvPr/>
        </p:nvSpPr>
        <p:spPr>
          <a:xfrm>
            <a:off x="4709160" y="3886200"/>
            <a:ext cx="6812280" cy="1417320"/>
          </a:xfrm>
          <a:prstGeom prst="rect">
            <a:avLst/>
          </a:prstGeom>
          <a:solidFill>
            <a:srgbClr val="EEF6FF"/>
          </a:solidFill>
          <a:ln w="12700">
            <a:solidFill>
              <a:srgbClr val="A9C7E8"/>
            </a:solidFill>
          </a:ln>
        </p:spPr>
        <p:txBody>
          <a:bodyPr wrap="square" lIns="91440" rIns="91440" tIns="45720" bIns="45720" anchor="ctr"/>
          <a:lstStyle/>
          <a:p>
            <a:pPr algn="True"/>
            <a:r>
              <a:rPr lang="ja-JP" sz="1800" b="0">
                <a:solidFill>
                  <a:srgbClr val="17365D"/>
                </a:solidFill>
                <a:latin typeface="Noto Sans CJK JP"/>
                <a:ea typeface="Noto Sans CJK JP"/>
              </a:rPr>
              <a:t>再利用する解法</a:t>
            </a:r>
            <a:endParaRPr lang="ja-JP" sz="1800"/>
          </a:p>
          <a:p>
            <a:pPr algn="True"/>
            <a:r>
              <a:rPr lang="ja-JP" sz="1800" b="0">
                <a:solidFill>
                  <a:srgbClr val="17365D"/>
                </a:solidFill>
                <a:latin typeface="Noto Sans CJK JP"/>
                <a:ea typeface="Noto Sans CJK JP"/>
              </a:rPr>
              <a:t>① 実単位 or p.u. を判定 → ② 式の成立条件 → ③ 求める量へ逆算 → ④ |sinδ|≤1 と増減方向を検算</a:t>
            </a:r>
            <a:endParaRPr lang="ja-JP" sz="1800"/>
          </a:p>
        </p:txBody>
      </p:sp>
      <p:sp>
        <p:nvSpPr>
          <p:cNvPr id="8" name="boundary"/>
          <p:cNvSpPr txBox="1"/>
          <p:nvPr/>
        </p:nvSpPr>
        <p:spPr>
          <a:xfrm>
            <a:off x="640080" y="3977639"/>
            <a:ext cx="3749039" cy="1234440"/>
          </a:xfrm>
          <a:prstGeom prst="rect">
            <a:avLst/>
          </a:prstGeom>
          <a:solidFill>
            <a:srgbClr val="FFF0EE"/>
          </a:solidFill>
          <a:ln w="12700">
            <a:solidFill>
              <a:srgbClr val="E6AEA6"/>
            </a:solidFill>
          </a:ln>
        </p:spPr>
        <p:txBody>
          <a:bodyPr wrap="square" lIns="91440" rIns="91440" tIns="45720" bIns="45720" anchor="ctr"/>
          <a:lstStyle/>
          <a:p>
            <a:pPr algn="True"/>
            <a:r>
              <a:rPr lang="ja-JP" sz="1600" b="0">
                <a:solidFill>
                  <a:srgbClr val="7A271A"/>
                </a:solidFill>
                <a:latin typeface="Noto Sans CJK JP"/>
                <a:ea typeface="Noto Sans CJK JP"/>
              </a:rPr>
              <a:t>範囲境界</a:t>
            </a:r>
            <a:endParaRPr lang="ja-JP" sz="1600"/>
          </a:p>
          <a:p>
            <a:pPr algn="True"/>
            <a:r>
              <a:rPr lang="ja-JP" sz="1600" b="0">
                <a:solidFill>
                  <a:srgbClr val="7A271A"/>
                </a:solidFill>
                <a:latin typeface="Noto Sans CJK JP"/>
                <a:ea typeface="Noto Sans CJK JP"/>
              </a:rPr>
              <a:t>過渡安定度・等面積法・過渡/初期過渡リアクタンスは扱わない。</a:t>
            </a:r>
            <a:endParaRPr lang="ja-JP"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ja-JP" sz="2800" b="1">
                <a:solidFill>
                  <a:srgbClr val="17365D"/>
                </a:solidFill>
                <a:latin typeface="Noto Sans CJK JP"/>
                <a:ea typeface="Noto Sans CJK JP"/>
              </a:rPr>
              <a:t>励磁・力率・V曲線</a:t>
            </a:r>
            <a:endParaRPr lang="ja-JP" sz="2800"/>
          </a:p>
        </p:txBody>
      </p:sp>
      <p:sp>
        <p:nvSpPr>
          <p:cNvPr id="3" name="kick"/>
          <p:cNvSpPr txBox="1"/>
          <p:nvPr/>
        </p:nvSpPr>
        <p:spPr>
          <a:xfrm>
            <a:off x="530352" y="75895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ja-JP" sz="1100" b="0">
                <a:solidFill>
                  <a:srgbClr val="64748B"/>
                </a:solidFill>
                <a:latin typeface="Noto Sans CJK JP"/>
                <a:ea typeface="Noto Sans CJK JP"/>
              </a:rPr>
              <a:t>H29一次 / R07二次：励磁変化をフェーザと電機子電流へつなぐ</a:t>
            </a:r>
            <a:endParaRPr lang="ja-JP" sz="1100"/>
          </a:p>
        </p:txBody>
      </p:sp>
      <p:sp>
        <p:nvSpPr>
          <p:cNvPr id="4" name="three"/>
          <p:cNvSpPr txBox="1"/>
          <p:nvPr/>
        </p:nvSpPr>
        <p:spPr>
          <a:xfrm>
            <a:off x="594360" y="1234440"/>
            <a:ext cx="3886200" cy="24231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rIns="91440" tIns="45720" bIns="45720" anchor="ctr"/>
          <a:lstStyle/>
          <a:p>
            <a:pPr algn="True"/>
            <a:r>
              <a:rPr lang="ja-JP" sz="1900" b="0">
                <a:solidFill>
                  <a:srgbClr val="233247"/>
                </a:solidFill>
                <a:latin typeface="Noto Sans CJK JP"/>
                <a:ea typeface="Noto Sans CJK JP"/>
              </a:rPr>
              <a:t>同期電動機（一定出力）</a:t>
            </a:r>
            <a:endParaRPr lang="ja-JP" sz="1900"/>
          </a:p>
          <a:p>
            <a:endParaRPr lang="ja-JP" sz="1900"/>
          </a:p>
          <a:p>
            <a:pPr algn="True"/>
            <a:r>
              <a:rPr lang="ja-JP" sz="1900" b="0">
                <a:solidFill>
                  <a:srgbClr val="233247"/>
                </a:solidFill>
                <a:latin typeface="Noto Sans CJK JP"/>
                <a:ea typeface="Noto Sans CJK JP"/>
              </a:rPr>
              <a:t>不足励磁：遅れ力率側</a:t>
            </a:r>
            <a:endParaRPr lang="ja-JP" sz="1900"/>
          </a:p>
          <a:p>
            <a:pPr algn="True"/>
            <a:r>
              <a:rPr lang="ja-JP" sz="1900" b="0">
                <a:solidFill>
                  <a:srgbClr val="233247"/>
                </a:solidFill>
                <a:latin typeface="Noto Sans CJK JP"/>
                <a:ea typeface="Noto Sans CJK JP"/>
              </a:rPr>
              <a:t>適正励磁：力率1付近・電流最小</a:t>
            </a:r>
            <a:endParaRPr lang="ja-JP" sz="1900"/>
          </a:p>
          <a:p>
            <a:pPr algn="True"/>
            <a:r>
              <a:rPr lang="ja-JP" sz="1900" b="0">
                <a:solidFill>
                  <a:srgbClr val="233247"/>
                </a:solidFill>
                <a:latin typeface="Noto Sans CJK JP"/>
                <a:ea typeface="Noto Sans CJK JP"/>
              </a:rPr>
              <a:t>過励磁：進み力率側</a:t>
            </a:r>
            <a:endParaRPr lang="ja-JP" sz="1900"/>
          </a:p>
        </p:txBody>
      </p:sp>
      <p:sp>
        <p:nvSpPr>
          <p:cNvPr id="5" name="vcurve"/>
          <p:cNvSpPr txBox="1"/>
          <p:nvPr/>
        </p:nvSpPr>
        <p:spPr>
          <a:xfrm>
            <a:off x="4709160" y="1234440"/>
            <a:ext cx="6812280" cy="1051560"/>
          </a:xfrm>
          <a:prstGeom prst="rect">
            <a:avLst/>
          </a:prstGeom>
          <a:solidFill>
            <a:srgbClr val="EAF2FB"/>
          </a:solidFill>
          <a:ln w="12700">
            <a:solidFill>
              <a:srgbClr val="9FB9D5"/>
            </a:solidFill>
          </a:ln>
        </p:spPr>
        <p:txBody>
          <a:bodyPr wrap="square" lIns="91440" rIns="91440" tIns="45720" bIns="45720" anchor="ctr"/>
          <a:lstStyle/>
          <a:p>
            <a:pPr algn="True"/>
            <a:r>
              <a:rPr lang="ja-JP" sz="2000" b="1">
                <a:solidFill>
                  <a:srgbClr val="17365D"/>
                </a:solidFill>
                <a:latin typeface="Noto Sans CJK JP"/>
                <a:ea typeface="Noto Sans CJK JP"/>
              </a:rPr>
              <a:t>V曲線</a:t>
            </a:r>
            <a:endParaRPr lang="ja-JP" sz="2000"/>
          </a:p>
          <a:p>
            <a:pPr algn="True"/>
            <a:r>
              <a:rPr lang="ja-JP" sz="2000" b="1">
                <a:solidFill>
                  <a:srgbClr val="17365D"/>
                </a:solidFill>
                <a:latin typeface="Noto Sans CJK JP"/>
                <a:ea typeface="Noto Sans CJK JP"/>
              </a:rPr>
              <a:t>界磁電流を横軸、電機子電流を縦軸 → 中央付近で最小</a:t>
            </a:r>
            <a:endParaRPr lang="ja-JP" sz="2000"/>
          </a:p>
        </p:txBody>
      </p:sp>
      <p:sp>
        <p:nvSpPr>
          <p:cNvPr id="6" name="curvebox"/>
          <p:cNvSpPr txBox="1"/>
          <p:nvPr/>
        </p:nvSpPr>
        <p:spPr>
          <a:xfrm>
            <a:off x="4709160" y="2487168"/>
            <a:ext cx="68122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91440" rIns="91440" tIns="45720" bIns="45720" anchor="ctr"/>
          <a:lstStyle/>
          <a:p>
            <a:endParaRPr lang="ja-JP" sz="1200"/>
          </a:p>
        </p:txBody>
      </p:sp>
      <p:cxnSp>
        <p:nvCxnSpPr>
          <p:cNvPr id="7" name="line7"/>
          <p:cNvCxnSpPr/>
          <p:nvPr/>
        </p:nvCxnSpPr>
        <p:spPr>
          <a:xfrm flipV="1">
            <a:off x="5074920" y="2697480"/>
            <a:ext cx="9144" cy="548639"/>
          </a:xfrm>
          <a:prstGeom prst="line">
            <a:avLst/>
          </a:prstGeom>
          <a:ln w="12700">
            <a:solidFill>
              <a:srgbClr val="64748B"/>
            </a:solidFill>
          </a:ln>
        </p:spPr>
      </p:cxnSp>
      <p:cxnSp>
        <p:nvCxnSpPr>
          <p:cNvPr id="8" name="line8"/>
          <p:cNvCxnSpPr/>
          <p:nvPr/>
        </p:nvCxnSpPr>
        <p:spPr>
          <a:xfrm>
            <a:off x="5074920" y="3246120"/>
            <a:ext cx="6035040" cy="9144"/>
          </a:xfrm>
          <a:prstGeom prst="line">
            <a:avLst/>
          </a:prstGeom>
          <a:ln w="12700">
            <a:solidFill>
              <a:srgbClr val="64748B"/>
            </a:solidFill>
          </a:ln>
        </p:spPr>
      </p:cxnSp>
      <p:cxnSp>
        <p:nvCxnSpPr>
          <p:cNvPr id="9" name="line9"/>
          <p:cNvCxnSpPr/>
          <p:nvPr/>
        </p:nvCxnSpPr>
        <p:spPr>
          <a:xfrm>
            <a:off x="5440680" y="2788920"/>
            <a:ext cx="1371600" cy="338328"/>
          </a:xfrm>
          <a:prstGeom prst="line">
            <a:avLst/>
          </a:prstGeom>
          <a:ln w="38100">
            <a:solidFill>
              <a:srgbClr val="2F5597"/>
            </a:solidFill>
          </a:ln>
        </p:spPr>
      </p:cxnSp>
      <p:cxnSp>
        <p:nvCxnSpPr>
          <p:cNvPr id="10" name="line10"/>
          <p:cNvCxnSpPr/>
          <p:nvPr/>
        </p:nvCxnSpPr>
        <p:spPr>
          <a:xfrm>
            <a:off x="6812280" y="3127248"/>
            <a:ext cx="1417319" cy="73152"/>
          </a:xfrm>
          <a:prstGeom prst="line">
            <a:avLst/>
          </a:prstGeom>
          <a:ln w="38100">
            <a:solidFill>
              <a:srgbClr val="2F5597"/>
            </a:solidFill>
          </a:ln>
        </p:spPr>
      </p:cxnSp>
      <p:cxnSp>
        <p:nvCxnSpPr>
          <p:cNvPr id="11" name="line11"/>
          <p:cNvCxnSpPr/>
          <p:nvPr/>
        </p:nvCxnSpPr>
        <p:spPr>
          <a:xfrm flipV="1">
            <a:off x="8229600" y="3127248"/>
            <a:ext cx="1417320" cy="73152"/>
          </a:xfrm>
          <a:prstGeom prst="line">
            <a:avLst/>
          </a:prstGeom>
          <a:ln w="38100">
            <a:solidFill>
              <a:srgbClr val="2F5597"/>
            </a:solidFill>
          </a:ln>
        </p:spPr>
      </p:cxnSp>
      <p:cxnSp>
        <p:nvCxnSpPr>
          <p:cNvPr id="12" name="line12"/>
          <p:cNvCxnSpPr/>
          <p:nvPr/>
        </p:nvCxnSpPr>
        <p:spPr>
          <a:xfrm flipV="1">
            <a:off x="9646920" y="2788920"/>
            <a:ext cx="1188719" cy="338328"/>
          </a:xfrm>
          <a:prstGeom prst="line">
            <a:avLst/>
          </a:prstGeom>
          <a:ln w="38100">
            <a:solidFill>
              <a:srgbClr val="2F5597"/>
            </a:solidFill>
          </a:ln>
        </p:spPr>
      </p:cxnSp>
      <p:sp>
        <p:nvSpPr>
          <p:cNvPr id="13" name="ia"/>
          <p:cNvSpPr txBox="1"/>
          <p:nvPr/>
        </p:nvSpPr>
        <p:spPr>
          <a:xfrm>
            <a:off x="5102352" y="259689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ja-JP" sz="1200" b="1">
                <a:solidFill>
                  <a:srgbClr val="64748B"/>
                </a:solidFill>
                <a:latin typeface="Noto Sans CJK JP"/>
                <a:ea typeface="Noto Sans CJK JP"/>
              </a:rPr>
              <a:t>Iₐ</a:t>
            </a:r>
            <a:endParaRPr lang="ja-JP" sz="1200"/>
          </a:p>
        </p:txBody>
      </p:sp>
      <p:sp>
        <p:nvSpPr>
          <p:cNvPr id="14" name="if"/>
          <p:cNvSpPr txBox="1"/>
          <p:nvPr/>
        </p:nvSpPr>
        <p:spPr>
          <a:xfrm>
            <a:off x="10716768" y="3227832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ja-JP" sz="1200" b="1">
                <a:solidFill>
                  <a:srgbClr val="64748B"/>
                </a:solidFill>
                <a:latin typeface="Noto Sans CJK JP"/>
                <a:ea typeface="Noto Sans CJK JP"/>
              </a:rPr>
              <a:t>Iƒ</a:t>
            </a:r>
            <a:endParaRPr lang="ja-JP" sz="1200"/>
          </a:p>
        </p:txBody>
      </p:sp>
      <p:sp>
        <p:nvSpPr>
          <p:cNvPr id="15" name="cond"/>
          <p:cNvSpPr txBox="1"/>
          <p:nvPr/>
        </p:nvSpPr>
        <p:spPr>
          <a:xfrm>
            <a:off x="4709160" y="3703320"/>
            <a:ext cx="6812280" cy="1417320"/>
          </a:xfrm>
          <a:prstGeom prst="rect">
            <a:avLst/>
          </a:prstGeom>
          <a:solidFill>
            <a:srgbClr val="FFF8ED"/>
          </a:solidFill>
          <a:ln w="12700">
            <a:solidFill>
              <a:srgbClr val="E8C98F"/>
            </a:solidFill>
          </a:ln>
        </p:spPr>
        <p:txBody>
          <a:bodyPr wrap="square" lIns="91440" rIns="91440" tIns="45720" bIns="45720" anchor="ctr"/>
          <a:lstStyle/>
          <a:p>
            <a:pPr algn="True"/>
            <a:r>
              <a:rPr lang="ja-JP" sz="1800" b="0">
                <a:solidFill>
                  <a:srgbClr val="233247"/>
                </a:solidFill>
                <a:latin typeface="Noto Sans CJK JP"/>
                <a:ea typeface="Noto Sans CJK JP"/>
              </a:rPr>
              <a:t>同期調相機（理想化・無負荷・損失無視）</a:t>
            </a:r>
            <a:endParaRPr lang="ja-JP" sz="1800"/>
          </a:p>
          <a:p>
            <a:pPr algn="True"/>
            <a:r>
              <a:rPr lang="ja-JP" sz="1800" b="0">
                <a:solidFill>
                  <a:srgbClr val="233247"/>
                </a:solidFill>
                <a:latin typeface="Noto Sans CJK JP"/>
                <a:ea typeface="Noto Sans CJK JP"/>
              </a:rPr>
              <a:t>I = (V − E)/(jXₛ)</a:t>
            </a:r>
            <a:endParaRPr lang="ja-JP" sz="1800"/>
          </a:p>
          <a:p>
            <a:pPr algn="True"/>
            <a:r>
              <a:rPr lang="ja-JP" sz="1800" b="0">
                <a:solidFill>
                  <a:srgbClr val="233247"/>
                </a:solidFill>
                <a:latin typeface="Noto Sans CJK JP"/>
                <a:ea typeface="Noto Sans CJK JP"/>
              </a:rPr>
              <a:t>E&lt;V：遅れ側 / E=V：最小 / E&gt;V：進み側</a:t>
            </a:r>
            <a:endParaRPr lang="ja-JP" sz="1800"/>
          </a:p>
        </p:txBody>
      </p:sp>
      <p:sp>
        <p:nvSpPr>
          <p:cNvPr id="16" name="genwarn"/>
          <p:cNvSpPr txBox="1"/>
          <p:nvPr/>
        </p:nvSpPr>
        <p:spPr>
          <a:xfrm>
            <a:off x="594360" y="3931920"/>
            <a:ext cx="3886200" cy="1234440"/>
          </a:xfrm>
          <a:prstGeom prst="rect">
            <a:avLst/>
          </a:prstGeom>
          <a:solidFill>
            <a:srgbClr val="FFF0EE"/>
          </a:solidFill>
          <a:ln w="12700">
            <a:solidFill>
              <a:srgbClr val="E6AEA6"/>
            </a:solidFill>
          </a:ln>
        </p:spPr>
        <p:txBody>
          <a:bodyPr wrap="square" lIns="91440" rIns="91440" tIns="45720" bIns="45720" anchor="ctr"/>
          <a:lstStyle/>
          <a:p>
            <a:pPr algn="True"/>
            <a:r>
              <a:rPr lang="ja-JP" sz="1600" b="0">
                <a:solidFill>
                  <a:srgbClr val="7A271A"/>
                </a:solidFill>
                <a:latin typeface="Noto Sans CJK JP"/>
                <a:ea typeface="Noto Sans CJK JP"/>
              </a:rPr>
              <a:t>注意</a:t>
            </a:r>
            <a:endParaRPr lang="ja-JP" sz="1600"/>
          </a:p>
          <a:p>
            <a:pPr algn="True"/>
            <a:r>
              <a:rPr lang="ja-JP" sz="1600" b="0">
                <a:solidFill>
                  <a:srgbClr val="7A271A"/>
                </a:solidFill>
                <a:latin typeface="Noto Sans CJK JP"/>
                <a:ea typeface="Noto Sans CJK JP"/>
              </a:rPr>
              <a:t>発電機では電流正方向が異なる。電動機と同じ語感で遅れ/進みを丸暗記しない。</a:t>
            </a:r>
            <a:endParaRPr lang="ja-JP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ja-JP" sz="2800" b="1">
                <a:solidFill>
                  <a:srgbClr val="17365D"/>
                </a:solidFill>
                <a:latin typeface="Noto Sans CJK JP"/>
                <a:ea typeface="Noto Sans CJK JP"/>
              </a:rPr>
              <a:t>試験特性 → Xₛ → 電力角式</a:t>
            </a:r>
            <a:endParaRPr lang="ja-JP" sz="2800"/>
          </a:p>
        </p:txBody>
      </p:sp>
      <p:sp>
        <p:nvSpPr>
          <p:cNvPr id="3" name="kick"/>
          <p:cNvSpPr txBox="1"/>
          <p:nvPr/>
        </p:nvSpPr>
        <p:spPr>
          <a:xfrm>
            <a:off x="530352" y="758952"/>
            <a:ext cx="1097280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ctr"/>
          <a:lstStyle/>
          <a:p>
            <a:pPr algn="l"/>
            <a:r>
              <a:rPr lang="ja-JP" sz="1100" b="0">
                <a:solidFill>
                  <a:srgbClr val="64748B"/>
                </a:solidFill>
                <a:latin typeface="Noto Sans CJK JP"/>
                <a:ea typeface="Noto Sans CJK JP"/>
              </a:rPr>
              <a:t>R06二次 + 固定5過去問：27答案要素を同一計算鎖へ</a:t>
            </a:r>
            <a:endParaRPr lang="ja-JP" sz="1100"/>
          </a:p>
        </p:txBody>
      </p:sp>
      <p:sp>
        <p:nvSpPr>
          <p:cNvPr id="4" name="occ"/>
          <p:cNvSpPr txBox="1"/>
          <p:nvPr/>
        </p:nvSpPr>
        <p:spPr>
          <a:xfrm>
            <a:off x="594360" y="1188720"/>
            <a:ext cx="3566160" cy="1325880"/>
          </a:xfrm>
          <a:prstGeom prst="rect">
            <a:avLst/>
          </a:prstGeom>
          <a:solidFill>
            <a:srgbClr val="EAF2FB"/>
          </a:solidFill>
          <a:ln w="12700">
            <a:solidFill>
              <a:srgbClr val="9FB9D5"/>
            </a:solidFill>
          </a:ln>
        </p:spPr>
        <p:txBody>
          <a:bodyPr wrap="square" lIns="91440" rIns="91440" tIns="45720" bIns="45720" anchor="ctr"/>
          <a:lstStyle/>
          <a:p>
            <a:pPr algn="True"/>
            <a:r>
              <a:rPr lang="ja-JP" sz="1800" b="0">
                <a:solidFill>
                  <a:srgbClr val="17365D"/>
                </a:solidFill>
                <a:latin typeface="Noto Sans CJK JP"/>
                <a:ea typeface="Noto Sans CJK JP"/>
              </a:rPr>
              <a:t>無負荷飽和曲線 OCC</a:t>
            </a:r>
            <a:endParaRPr lang="ja-JP" sz="1800"/>
          </a:p>
          <a:p>
            <a:pPr algn="True"/>
            <a:r>
              <a:rPr lang="ja-JP" sz="1800" b="0">
                <a:solidFill>
                  <a:srgbClr val="17365D"/>
                </a:solidFill>
                <a:latin typeface="Noto Sans CJK JP"/>
                <a:ea typeface="Noto Sans CJK JP"/>
              </a:rPr>
              <a:t>端子開放・定格速度</a:t>
            </a:r>
            <a:endParaRPr lang="ja-JP" sz="1800"/>
          </a:p>
          <a:p>
            <a:pPr algn="True"/>
            <a:r>
              <a:rPr lang="ja-JP" sz="1800" b="0">
                <a:solidFill>
                  <a:srgbClr val="17365D"/>
                </a:solidFill>
                <a:latin typeface="Noto Sans CJK JP"/>
                <a:ea typeface="Noto Sans CJK JP"/>
              </a:rPr>
              <a:t>Iƒ ↑ → 無負荷電圧 ↑（飽和）</a:t>
            </a:r>
            <a:endParaRPr lang="ja-JP" sz="1800"/>
          </a:p>
        </p:txBody>
      </p:sp>
      <p:sp>
        <p:nvSpPr>
          <p:cNvPr id="5" name="scc"/>
          <p:cNvSpPr txBox="1"/>
          <p:nvPr/>
        </p:nvSpPr>
        <p:spPr>
          <a:xfrm>
            <a:off x="4315968" y="1188720"/>
            <a:ext cx="3566160" cy="1325880"/>
          </a:xfrm>
          <a:prstGeom prst="rect">
            <a:avLst/>
          </a:prstGeom>
          <a:solidFill>
            <a:srgbClr val="FFF3E3"/>
          </a:solidFill>
          <a:ln w="12700">
            <a:solidFill>
              <a:srgbClr val="E7C38A"/>
            </a:solidFill>
          </a:ln>
        </p:spPr>
        <p:txBody>
          <a:bodyPr wrap="square" lIns="91440" rIns="91440" tIns="45720" bIns="45720" anchor="ctr"/>
          <a:lstStyle/>
          <a:p>
            <a:pPr algn="True"/>
            <a:r>
              <a:rPr lang="ja-JP" sz="1800" b="0">
                <a:solidFill>
                  <a:srgbClr val="7B3F00"/>
                </a:solidFill>
                <a:latin typeface="Noto Sans CJK JP"/>
                <a:ea typeface="Noto Sans CJK JP"/>
              </a:rPr>
              <a:t>三相短絡特性 SCC</a:t>
            </a:r>
            <a:endParaRPr lang="ja-JP" sz="1800"/>
          </a:p>
          <a:p>
            <a:pPr algn="True"/>
            <a:r>
              <a:rPr lang="ja-JP" sz="1800" b="0">
                <a:solidFill>
                  <a:srgbClr val="7B3F00"/>
                </a:solidFill>
                <a:latin typeface="Noto Sans CJK JP"/>
                <a:ea typeface="Noto Sans CJK JP"/>
              </a:rPr>
              <a:t>三相端子短絡・定格速度</a:t>
            </a:r>
            <a:endParaRPr lang="ja-JP" sz="1800"/>
          </a:p>
          <a:p>
            <a:pPr algn="True"/>
            <a:r>
              <a:rPr lang="ja-JP" sz="1800" b="0">
                <a:solidFill>
                  <a:srgbClr val="7B3F00"/>
                </a:solidFill>
                <a:latin typeface="Noto Sans CJK JP"/>
                <a:ea typeface="Noto Sans CJK JP"/>
              </a:rPr>
              <a:t>Iƒ ↑ → 短絡電流 ↑（ほぼ直線）</a:t>
            </a:r>
            <a:endParaRPr lang="ja-JP" sz="1800"/>
          </a:p>
        </p:txBody>
      </p:sp>
      <p:sp>
        <p:nvSpPr>
          <p:cNvPr id="6" name="calc"/>
          <p:cNvSpPr txBox="1"/>
          <p:nvPr/>
        </p:nvSpPr>
        <p:spPr>
          <a:xfrm>
            <a:off x="8046720" y="1188720"/>
            <a:ext cx="3566160" cy="26517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rIns="91440" tIns="45720" bIns="45720" anchor="ctr"/>
          <a:lstStyle/>
          <a:p>
            <a:pPr algn="True"/>
            <a:r>
              <a:rPr lang="ja-JP" sz="1900" b="1">
                <a:solidFill>
                  <a:srgbClr val="233247"/>
                </a:solidFill>
                <a:latin typeface="Noto Sans CJK JP"/>
                <a:ea typeface="Noto Sans CJK JP"/>
              </a:rPr>
              <a:t>計算鎖</a:t>
            </a:r>
            <a:endParaRPr lang="ja-JP" sz="1900"/>
          </a:p>
          <a:p>
            <a:pPr algn="True"/>
            <a:r>
              <a:rPr lang="ja-JP" sz="1900" b="1">
                <a:solidFill>
                  <a:srgbClr val="233247"/>
                </a:solidFill>
                <a:latin typeface="Noto Sans CJK JP"/>
                <a:ea typeface="Noto Sans CJK JP"/>
              </a:rPr>
              <a:t>Kₛ = IƒV / IƒI</a:t>
            </a:r>
            <a:endParaRPr lang="ja-JP" sz="1900"/>
          </a:p>
          <a:p>
            <a:pPr algn="True"/>
            <a:r>
              <a:rPr lang="ja-JP" sz="1900" b="1">
                <a:solidFill>
                  <a:srgbClr val="233247"/>
                </a:solidFill>
                <a:latin typeface="Noto Sans CJK JP"/>
                <a:ea typeface="Noto Sans CJK JP"/>
              </a:rPr>
              <a:t>Xₛ[p.u.] ≈ 1/Kₛ</a:t>
            </a:r>
            <a:endParaRPr lang="ja-JP" sz="1900"/>
          </a:p>
          <a:p>
            <a:pPr algn="True"/>
            <a:r>
              <a:rPr lang="ja-JP" sz="1900" b="1">
                <a:solidFill>
                  <a:srgbClr val="233247"/>
                </a:solidFill>
                <a:latin typeface="Noto Sans CJK JP"/>
                <a:ea typeface="Noto Sans CJK JP"/>
              </a:rPr>
              <a:t>ZB = VLL² / S₃φ</a:t>
            </a:r>
            <a:endParaRPr lang="ja-JP" sz="1900"/>
          </a:p>
          <a:p>
            <a:pPr algn="True"/>
            <a:r>
              <a:rPr lang="ja-JP" sz="1900" b="1">
                <a:solidFill>
                  <a:srgbClr val="233247"/>
                </a:solidFill>
                <a:latin typeface="Noto Sans CJK JP"/>
                <a:ea typeface="Noto Sans CJK JP"/>
              </a:rPr>
              <a:t>Xₛ[Ω] = Xₛ[p.u.]·ZB</a:t>
            </a:r>
            <a:endParaRPr lang="ja-JP" sz="1900"/>
          </a:p>
        </p:txBody>
      </p:sp>
      <p:sp>
        <p:nvSpPr>
          <p:cNvPr id="7" name="mapping"/>
          <p:cNvSpPr txBox="1"/>
          <p:nvPr/>
        </p:nvSpPr>
        <p:spPr>
          <a:xfrm>
            <a:off x="594360" y="2834640"/>
            <a:ext cx="7269480" cy="22402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lIns="91440" rIns="91440" tIns="45720" bIns="45720" anchor="ctr"/>
          <a:lstStyle/>
          <a:p>
            <a:pPr algn="True"/>
            <a:r>
              <a:rPr lang="ja-JP" sz="1700" b="0">
                <a:solidFill>
                  <a:srgbClr val="233247"/>
                </a:solidFill>
                <a:latin typeface="Noto Sans CJK JP"/>
                <a:ea typeface="Noto Sans CJK JP"/>
              </a:rPr>
              <a:t>固定EXAM_ALIGNMENT</a:t>
            </a:r>
            <a:endParaRPr lang="ja-JP" sz="1700"/>
          </a:p>
          <a:p>
            <a:pPr algn="True"/>
            <a:r>
              <a:rPr lang="ja-JP" sz="1700" b="0">
                <a:solidFill>
                  <a:srgbClr val="233247"/>
                </a:solidFill>
                <a:latin typeface="Noto Sans CJK JP"/>
                <a:ea typeface="Noto Sans CJK JP"/>
              </a:rPr>
              <a:t>H29 一次 機械 問1：2要素</a:t>
            </a:r>
            <a:endParaRPr lang="ja-JP" sz="1700"/>
          </a:p>
          <a:p>
            <a:pPr algn="True"/>
            <a:r>
              <a:rPr lang="ja-JP" sz="1700" b="0">
                <a:solidFill>
                  <a:srgbClr val="233247"/>
                </a:solidFill>
                <a:latin typeface="Noto Sans CJK JP"/>
                <a:ea typeface="Noto Sans CJK JP"/>
              </a:rPr>
              <a:t>R07 二次 問1：7要素 / R06 二次 問1：8要素</a:t>
            </a:r>
            <a:endParaRPr lang="ja-JP" sz="1700"/>
          </a:p>
          <a:p>
            <a:pPr algn="True"/>
            <a:r>
              <a:rPr lang="ja-JP" sz="1700" b="0">
                <a:solidFill>
                  <a:srgbClr val="233247"/>
                </a:solidFill>
                <a:latin typeface="Noto Sans CJK JP"/>
                <a:ea typeface="Noto Sans CJK JP"/>
              </a:rPr>
              <a:t>R05 二次 問1：8要素 / H27 二次 問1：2要素</a:t>
            </a:r>
            <a:endParaRPr lang="ja-JP" sz="1700"/>
          </a:p>
          <a:p>
            <a:pPr algn="True"/>
            <a:r>
              <a:rPr lang="ja-JP" sz="1700" b="0">
                <a:solidFill>
                  <a:srgbClr val="233247"/>
                </a:solidFill>
                <a:latin typeface="Noto Sans CJK JP"/>
                <a:ea typeface="Noto Sans CJK JP"/>
              </a:rPr>
              <a:t>合計 27 / 27 を維持</a:t>
            </a:r>
            <a:endParaRPr lang="ja-JP" sz="1700"/>
          </a:p>
        </p:txBody>
      </p:sp>
      <p:sp>
        <p:nvSpPr>
          <p:cNvPr id="8" name="scope"/>
          <p:cNvSpPr txBox="1"/>
          <p:nvPr/>
        </p:nvSpPr>
        <p:spPr>
          <a:xfrm>
            <a:off x="8046720" y="4069080"/>
            <a:ext cx="3566160" cy="1005840"/>
          </a:xfrm>
          <a:prstGeom prst="rect">
            <a:avLst/>
          </a:prstGeom>
          <a:solidFill>
            <a:srgbClr val="F0FDF4"/>
          </a:solidFill>
          <a:ln w="12700">
            <a:solidFill>
              <a:srgbClr val="A7D7B3"/>
            </a:solidFill>
          </a:ln>
        </p:spPr>
        <p:txBody>
          <a:bodyPr wrap="square" lIns="91440" rIns="91440" tIns="45720" bIns="45720" anchor="ctr"/>
          <a:lstStyle/>
          <a:p>
            <a:pPr algn="True"/>
            <a:r>
              <a:rPr lang="ja-JP" sz="1500" b="1">
                <a:solidFill>
                  <a:srgbClr val="166534"/>
                </a:solidFill>
                <a:latin typeface="Noto Sans CJK JP"/>
                <a:ea typeface="Noto Sans CJK JP"/>
              </a:rPr>
              <a:t>範囲外追加 0件</a:t>
            </a:r>
            <a:endParaRPr lang="ja-JP" sz="1500"/>
          </a:p>
          <a:p>
            <a:pPr algn="True"/>
            <a:r>
              <a:rPr lang="ja-JP" sz="1500" b="1">
                <a:solidFill>
                  <a:srgbClr val="166534"/>
                </a:solidFill>
                <a:latin typeface="Noto Sans CJK JP"/>
                <a:ea typeface="Noto Sans CJK JP"/>
              </a:rPr>
              <a:t>Topic 15以降先取り 0件</a:t>
            </a:r>
            <a:endParaRPr lang="ja-JP" sz="1500"/>
          </a:p>
          <a:p>
            <a:pPr algn="True"/>
            <a:r>
              <a:rPr lang="ja-JP" sz="1500" b="1">
                <a:solidFill>
                  <a:srgbClr val="166534"/>
                </a:solidFill>
                <a:latin typeface="Noto Sans CJK JP"/>
                <a:ea typeface="Noto Sans CJK JP"/>
              </a:rPr>
              <a:t>未確認L0実値追加 0件</a:t>
            </a:r>
            <a:endParaRPr lang="ja-JP" sz="15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opic14">
  <a:themeElements>
    <a:clrScheme name="Topic14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opic14">
      <a:majorFont>
        <a:latin typeface="Noto Sans CJK JP"/>
        <a:ea typeface="Noto Sans CJK JP"/>
        <a:cs typeface="Arial"/>
      </a:majorFont>
      <a:minorFont>
        <a:latin typeface="Noto Sans CJK JP"/>
        <a:ea typeface="Noto Sans CJK JP"/>
        <a:cs typeface="Arial"/>
      </a:minorFont>
    </a:fontScheme>
    <a:fmtScheme name="Topic14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