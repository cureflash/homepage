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JP"/>
              </a:rPr>
              <a:t>再粘着制御をメカトロニクスの閉ループで見る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一次：センサ・制御演算・アクチュエータ／シーケンス制御とフィードバック制御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センサ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828800"/>
            <a:ext cx="1600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制御演算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828800"/>
            <a:ext cx="187451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アクチュエータ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1691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車輪・粘着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157984"/>
            <a:ext cx="59436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2157984"/>
            <a:ext cx="68580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2157984"/>
            <a:ext cx="68580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2157984"/>
            <a:ext cx="100584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828800"/>
            <a:ext cx="1325880" cy="65836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008060"/>
                </a:solidFill>
                <a:latin typeface="Noto Sans CJK JP"/>
              </a:rPr>
              <a:t>車輪状態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8208" y="2514600"/>
            <a:ext cx="0" cy="132588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98448" y="3840480"/>
            <a:ext cx="9509760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8448" y="2514600"/>
            <a:ext cx="0" cy="132588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0480" y="3401568"/>
            <a:ext cx="44805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008060"/>
                </a:solidFill>
                <a:latin typeface="Noto Sans CJK JP"/>
              </a:rPr>
              <a:t>出力側の状態を戻して操作量を修正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90288"/>
            <a:ext cx="3703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700016"/>
            <a:ext cx="3447287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8060"/>
                </a:solidFill>
                <a:latin typeface="Noto Sans CJK JP"/>
              </a:rPr>
              <a:t>フィードバック制御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093207"/>
            <a:ext cx="3447287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測定した車輪状態に応じて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トルク指令などの操作量を修正する。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590288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4700016"/>
            <a:ext cx="2990087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B5EAA"/>
                </a:solidFill>
                <a:latin typeface="Noto Sans CJK JP"/>
              </a:rPr>
              <a:t>シーケンス制御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5093207"/>
            <a:ext cx="2990087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あらかじめ定めた順序・条件に従って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動作を進める。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590288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4700016"/>
            <a:ext cx="331012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751F"/>
                </a:solidFill>
                <a:latin typeface="Noto Sans CJK JP"/>
              </a:rPr>
              <a:t>アクチュエータ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093207"/>
            <a:ext cx="3310128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制御信号を力・トルク・変位などの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機械作用へ変換する。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25312"/>
            <a:ext cx="10607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JP"/>
              </a:rPr>
              <a:t>再粘着では「検出 → 判断 → 操作 → 状態変化 → 再検出」の循環を一般モデルとして扱う。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110642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教材用一般モデル。新幹線実車のセンサ方式・しきい値・制御周期・トルク抑制率を示すものではない。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JP"/>
              </a:rPr>
              <a:t>車輪速度を測り、加速度を推定する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一次：ロータリエンコーダ／磁気・光電センサの原理と物理量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0233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Noto Sans CJK JP"/>
              </a:rPr>
              <a:t>ロータリエンコーダ（一般原理）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91440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1B5EAA"/>
                </a:solidFill>
                <a:latin typeface="Noto Sans CJK JP"/>
              </a:rPr>
              <a:t>回転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68" y="1929384"/>
            <a:ext cx="64008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12848" y="1664208"/>
            <a:ext cx="1234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JP"/>
              </a:rPr>
              <a:t>パルス列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0604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Noto Sans CJK JP"/>
              </a:rPr>
              <a:t>A相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788920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36192" y="2532888"/>
            <a:ext cx="0" cy="256032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6192" y="2532888"/>
            <a:ext cx="246888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47088" y="2788920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03120" y="2532888"/>
            <a:ext cx="0" cy="256032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3120" y="2532888"/>
            <a:ext cx="246888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14015" y="2788920"/>
            <a:ext cx="256033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70048" y="2532888"/>
            <a:ext cx="0" cy="256032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70048" y="2532888"/>
            <a:ext cx="246887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80944" y="2788920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36976" y="2532888"/>
            <a:ext cx="0" cy="256032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36976" y="2532888"/>
            <a:ext cx="246887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47872" y="2788920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03904" y="2532888"/>
            <a:ext cx="0" cy="256032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03904" y="2532888"/>
            <a:ext cx="246887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31546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Noto Sans CJK JP"/>
              </a:rPr>
              <a:t>B相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44751" y="3337560"/>
            <a:ext cx="256033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700784" y="3081528"/>
            <a:ext cx="0" cy="256032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00784" y="3081528"/>
            <a:ext cx="246888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11679" y="3337560"/>
            <a:ext cx="256032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67711" y="3081528"/>
            <a:ext cx="0" cy="256032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67711" y="3081528"/>
            <a:ext cx="246889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78608" y="3337560"/>
            <a:ext cx="256031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834639" y="3081528"/>
            <a:ext cx="0" cy="256032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34639" y="3081528"/>
            <a:ext cx="246889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45535" y="3337560"/>
            <a:ext cx="256033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01568" y="3081528"/>
            <a:ext cx="0" cy="256032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01568" y="3081528"/>
            <a:ext cx="246887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12463" y="3337560"/>
            <a:ext cx="256033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68496" y="3081528"/>
            <a:ext cx="0" cy="256032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68496" y="3081528"/>
            <a:ext cx="246887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3703320"/>
            <a:ext cx="388620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一定時間のパルス数 → 回転速度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累積パルス数 → 回転角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A/B相の先行関係 → 回転方向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00600"/>
            <a:ext cx="2240280" cy="5120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500" b="1">
                <a:solidFill>
                  <a:srgbClr val="1B5EAA"/>
                </a:solidFill>
                <a:latin typeface="Noto Sans CJK JP"/>
              </a:rPr>
              <a:t>ω = 2πN/(PΔt)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248" y="4919472"/>
            <a:ext cx="1417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Noto Sans CJK JP"/>
              </a:rPr>
              <a:t>P：有効カウント数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2040" y="1234440"/>
            <a:ext cx="2880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0055" y="1344168"/>
            <a:ext cx="262432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8060"/>
                </a:solidFill>
                <a:latin typeface="Noto Sans CJK JP"/>
              </a:rPr>
              <a:t>加速度推定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0055" y="1737360"/>
            <a:ext cx="2624328" cy="1143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時刻の異なる速度から差分で求める。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a_w ≈ [v_w(t+Δt)−v_w(t)]/Δt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Δt は教材式の記号であり実車周期ではない。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1234440"/>
            <a:ext cx="333756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Noto Sans CJK JP"/>
              </a:rPr>
              <a:t>センサは「何を電気量へ変換するか」で整理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5008" y="1783080"/>
            <a:ext cx="96012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1B5EAA"/>
                </a:solidFill>
                <a:latin typeface="Noto Sans CJK JP"/>
              </a:rPr>
              <a:t>磁気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1819656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Noto Sans CJK JP"/>
              </a:rPr>
              <a:t>磁界・磁束の変化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2066543"/>
            <a:ext cx="21488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ホール素子／磁気抵抗素子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65008" y="2569464"/>
            <a:ext cx="96012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1B5EAA"/>
                </a:solidFill>
                <a:latin typeface="Noto Sans CJK JP"/>
              </a:rPr>
              <a:t>光電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606040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Noto Sans CJK JP"/>
              </a:rPr>
              <a:t>光量・遮光状態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2852928"/>
            <a:ext cx="21488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フォトダイオード／フォトトランジスタ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65008" y="3355848"/>
            <a:ext cx="96012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008060"/>
                </a:solidFill>
                <a:latin typeface="Noto Sans CJK JP"/>
              </a:rPr>
              <a:t>回転パルス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3392424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Noto Sans CJK JP"/>
              </a:rPr>
              <a:t>回転角・回転速度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3639312"/>
            <a:ext cx="21488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ロータリエンコーダ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92040" y="3794760"/>
            <a:ext cx="651052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0055" y="3904488"/>
            <a:ext cx="6254496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B43232"/>
                </a:solidFill>
                <a:latin typeface="Noto Sans CJK JP"/>
              </a:rPr>
              <a:t>空転・滑走を観測する量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0055" y="4297680"/>
            <a:ext cx="6254496" cy="7589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車輪周速度 v_w と基準速度 v_ref のずれ Δv=v_w−v_ref を見る。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力行時に v_w が過大側：空転／制動時に過小側：滑走。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5376672"/>
            <a:ext cx="60350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300" b="0">
                <a:solidFill>
                  <a:srgbClr val="4B5563"/>
                </a:solidFill>
                <a:latin typeface="Noto Sans CJK JP"/>
              </a:rPr>
              <a:t>A-D変換器方式の詳細には進まない。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28816"/>
            <a:ext cx="110642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教材用一般モデル。新幹線実車のセンサ方式・しきい値・制御周期・トルク抑制率を示すものではない。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JP"/>
              </a:rPr>
              <a:t>状態検出から再粘着まで：一般モデルの流れ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非線形性・飽和・応答速度を同時に意識する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103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709928"/>
            <a:ext cx="1847087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B5EAA"/>
                </a:solidFill>
                <a:latin typeface="Noto Sans CJK JP"/>
              </a:rPr>
              <a:t>① 状態検出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03120"/>
            <a:ext cx="1847087" cy="594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v_w、v_ref、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速度変化率を見る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39" y="2194560"/>
            <a:ext cx="164593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6002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709928"/>
            <a:ext cx="189280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B43232"/>
                </a:solidFill>
                <a:latin typeface="Noto Sans CJK JP"/>
              </a:rPr>
              <a:t>② トルク抑制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103120"/>
            <a:ext cx="1892808" cy="594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粘着限界を超えた状態で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増トルクしない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194560"/>
            <a:ext cx="182880" cy="0"/>
          </a:xfrm>
          <a:prstGeom prst="line">
            <a:avLst/>
          </a:prstGeom>
          <a:ln w="25400">
            <a:solidFill>
              <a:srgbClr val="B4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21808" y="16002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1709928"/>
            <a:ext cx="189280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08060"/>
                </a:solidFill>
                <a:latin typeface="Noto Sans CJK JP"/>
              </a:rPr>
              <a:t>③ 回復確認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103120"/>
            <a:ext cx="1892808" cy="594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車輪状態が基準側へ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戻ることを観測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70648" y="2194560"/>
            <a:ext cx="192024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160020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1709928"/>
            <a:ext cx="18013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751F"/>
                </a:solidFill>
                <a:latin typeface="Noto Sans CJK JP"/>
              </a:rPr>
              <a:t>④ トルク回復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103120"/>
            <a:ext cx="1801368" cy="594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回復確認後に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操作量を戻す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9800" y="2971800"/>
            <a:ext cx="0" cy="59436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68680" y="3566160"/>
            <a:ext cx="8961120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68680" y="2971800"/>
            <a:ext cx="0" cy="59436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63440" y="3273552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008060"/>
                </a:solidFill>
                <a:latin typeface="Noto Sans CJK JP"/>
              </a:rPr>
              <a:t>再検出して循環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60520"/>
            <a:ext cx="34290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270248"/>
            <a:ext cx="3172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B5EAA"/>
                </a:solidFill>
                <a:latin typeface="Noto Sans CJK JP"/>
              </a:rPr>
              <a:t>非線形性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663440"/>
            <a:ext cx="3172968" cy="66751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粘着力は状態に対して常に比例とは限らない。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線形モデルだけで全領域を表せない。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8808" y="4160520"/>
            <a:ext cx="35204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6824" y="4270248"/>
            <a:ext cx="326440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751F"/>
                </a:solidFill>
                <a:latin typeface="Noto Sans CJK JP"/>
              </a:rPr>
              <a:t>飽和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24" y="4663440"/>
            <a:ext cx="3264408" cy="66751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トルク指令やアクチュエータには上限・下限がある。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指令を増やしても出力が増えない領域がある。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7" y="4160520"/>
            <a:ext cx="35204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0144" y="4270248"/>
            <a:ext cx="326440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B43232"/>
                </a:solidFill>
                <a:latin typeface="Noto Sans CJK JP"/>
              </a:rPr>
              <a:t>応答速度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4663440"/>
            <a:ext cx="3264408" cy="667511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検出→演算→操作が遅いほど、状態変化への対応も遅れる。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ただし実車の周期・しきい値はここでは置かない。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JP"/>
              </a:rPr>
              <a:t>重要：この4段階は教材用の一般モデルであり、特定新幹線の実車判定ロジックを表さない。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110642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教材用一般モデル。新幹線実車のセンサ方式・しきい値・制御周期・トルク抑制率を示すものではない。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Noto Sans CJK JP"/>
              </a:rPr>
              <a:t>二次試験へ：閉ループ伝達関数から時間応答まで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R07二次「機械・制御」型の解法順を再利用する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371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JP"/>
              </a:rPr>
              <a:t>目標値 R(s)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1609344"/>
            <a:ext cx="45720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68880" y="1325880"/>
            <a:ext cx="91440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JP"/>
              </a:rPr>
              <a:t>比較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609344"/>
            <a:ext cx="50292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325880"/>
            <a:ext cx="10515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G(s)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1609344"/>
            <a:ext cx="54864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0" y="1325880"/>
            <a:ext cx="109728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400" b="1">
                <a:solidFill>
                  <a:srgbClr val="008060"/>
                </a:solidFill>
                <a:latin typeface="Noto Sans CJK JP"/>
              </a:rPr>
              <a:t>Y(s)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1901952"/>
            <a:ext cx="0" cy="704088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926080" y="2606040"/>
            <a:ext cx="3108960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26080" y="1901952"/>
            <a:ext cx="0" cy="704088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24912" y="1847088"/>
            <a:ext cx="2286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B43232"/>
                </a:solidFill>
                <a:latin typeface="Noto Sans CJK JP"/>
              </a:rP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98648"/>
            <a:ext cx="5669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単位負帰還：T(s)=G(s)/(1+G(s))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188720"/>
            <a:ext cx="4206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1736" y="1298448"/>
            <a:ext cx="3950207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B5EAA"/>
                </a:solidFill>
                <a:latin typeface="Noto Sans CJK JP"/>
              </a:rPr>
              <a:t>教材用標準例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1691640"/>
            <a:ext cx="3950207" cy="1828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閉ループ伝達関数が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G_y(s)=3/(s+3)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なら、インパルス応答は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g_y(t)=3e^(−3t)。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単位ステップ応答は y(t)=1−e^(−3t)。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Noto Sans CJK JP"/>
              </a:rPr>
              <a:t>（実車再粘着系の伝達関数ではない）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5532120"/>
            <a:ext cx="4983480" cy="0"/>
          </a:xfrm>
          <a:prstGeom prst="line">
            <a:avLst/>
          </a:prstGeom>
          <a:ln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0120" y="3931920"/>
            <a:ext cx="0" cy="1600200"/>
          </a:xfrm>
          <a:prstGeom prst="line">
            <a:avLst/>
          </a:prstGeom>
          <a:ln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0120" y="5337848"/>
            <a:ext cx="113260" cy="19427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73380" y="5168341"/>
            <a:ext cx="113261" cy="169507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86641" y="5020442"/>
            <a:ext cx="113261" cy="14789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99902" y="4891397"/>
            <a:ext cx="113261" cy="12904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13163" y="4778801"/>
            <a:ext cx="113261" cy="112596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26424" y="4680559"/>
            <a:ext cx="113261" cy="9824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39685" y="4594840"/>
            <a:ext cx="113261" cy="8571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52946" y="4520048"/>
            <a:ext cx="113261" cy="7479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866207" y="4454790"/>
            <a:ext cx="113261" cy="65258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79468" y="4397851"/>
            <a:ext cx="113261" cy="5693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92729" y="4348170"/>
            <a:ext cx="113261" cy="4968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205990" y="4304822"/>
            <a:ext cx="113260" cy="43348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319250" y="4267000"/>
            <a:ext cx="113261" cy="3782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32511" y="4233999"/>
            <a:ext cx="113261" cy="3300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45772" y="4205205"/>
            <a:ext cx="113261" cy="28794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59033" y="4180082"/>
            <a:ext cx="113261" cy="2512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72294" y="4158161"/>
            <a:ext cx="113261" cy="2192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885555" y="4139035"/>
            <a:ext cx="113261" cy="19126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998816" y="4122346"/>
            <a:ext cx="113261" cy="1668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12077" y="4107785"/>
            <a:ext cx="113261" cy="1456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25338" y="4095080"/>
            <a:ext cx="113261" cy="1270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38599" y="4083995"/>
            <a:ext cx="113261" cy="1108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451860" y="4074323"/>
            <a:ext cx="113260" cy="967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65120" y="4065884"/>
            <a:ext cx="113261" cy="843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78381" y="4058520"/>
            <a:ext cx="113261" cy="7364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91642" y="4052095"/>
            <a:ext cx="113261" cy="642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04903" y="4046489"/>
            <a:ext cx="113261" cy="5606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18164" y="4041598"/>
            <a:ext cx="113261" cy="489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31425" y="4037331"/>
            <a:ext cx="113261" cy="4267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44686" y="4033607"/>
            <a:ext cx="113261" cy="3724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57947" y="4030358"/>
            <a:ext cx="113261" cy="324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71208" y="4027523"/>
            <a:ext cx="113261" cy="283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84469" y="4025050"/>
            <a:ext cx="113261" cy="247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97730" y="4022891"/>
            <a:ext cx="113260" cy="2159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810990" y="4021008"/>
            <a:ext cx="113261" cy="188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24251" y="4019365"/>
            <a:ext cx="113261" cy="164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037512" y="4017932"/>
            <a:ext cx="113261" cy="143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150773" y="4016681"/>
            <a:ext cx="113261" cy="125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264034" y="4015590"/>
            <a:ext cx="113261" cy="1091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377295" y="4014637"/>
            <a:ext cx="113261" cy="95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490556" y="4013807"/>
            <a:ext cx="113261" cy="830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603817" y="4013082"/>
            <a:ext cx="113261" cy="725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17078" y="4012449"/>
            <a:ext cx="113261" cy="633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830339" y="4011897"/>
            <a:ext cx="113261" cy="552"/>
          </a:xfrm>
          <a:prstGeom prst="line">
            <a:avLst/>
          </a:prstGeom>
          <a:ln w="2286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49808" y="5422392"/>
            <a:ext cx="18288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977639"/>
            <a:ext cx="18288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98464" y="5486400"/>
            <a:ext cx="2286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3703320"/>
            <a:ext cx="24688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08060"/>
                </a:solidFill>
                <a:latin typeface="Noto Sans CJK JP"/>
              </a:rPr>
              <a:t>y(t)=1−e^(−3t)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3822191"/>
            <a:ext cx="11430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JP"/>
              </a:rPr>
              <a:t>解法順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03720" y="4187952"/>
            <a:ext cx="4297680" cy="2834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B5EAA"/>
                </a:solidFill>
                <a:latin typeface="Noto Sans CJK JP"/>
              </a:rPr>
              <a:t>① ブロック線図から閉ループ伝達関数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03720" y="4544568"/>
            <a:ext cx="4297680" cy="2834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B5EAA"/>
                </a:solidFill>
                <a:latin typeface="Noto Sans CJK JP"/>
              </a:rPr>
              <a:t>② 入力をラプラス領域で掛ける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03720" y="4901184"/>
            <a:ext cx="4297680" cy="2834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1B5EAA"/>
                </a:solidFill>
                <a:latin typeface="Noto Sans CJK JP"/>
              </a:rPr>
              <a:t>③ 部分分数分解 → 逆ラプラス変換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03720" y="5257800"/>
            <a:ext cx="4297680" cy="2834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008060"/>
                </a:solidFill>
                <a:latin typeface="Noto Sans CJK JP"/>
              </a:rPr>
              <a:t>④ 指定時刻を最後に代入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903720" y="5614416"/>
            <a:ext cx="4297680" cy="283464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00" b="1">
                <a:solidFill>
                  <a:srgbClr val="008060"/>
                </a:solidFill>
                <a:latin typeface="Noto Sans CJK JP"/>
              </a:rPr>
              <a:t>⑤ 初期値・定常値を検算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961888"/>
            <a:ext cx="1078992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固定EXAM_ALIGNMENT：一次4問＋二次1問・14答案要素を、一次の語句選択と二次の途中式の両方でカバーする。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528816"/>
            <a:ext cx="110642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教材用一般モデル。新幹線実車のセンサ方式・しきい値・制御周期・トルク抑制率を示すものではない。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