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3045"/>
                </a:solidFill>
                <a:latin typeface="Noto Sans CJK JP"/>
              </a:rPr>
              <a:t>0系を210 km/hまで加速させる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D68"/>
                </a:solidFill>
                <a:latin typeface="Noto Sans CJK JP"/>
              </a:rPr>
              <a:t>電験二種「機械・制御」｜Topic 03 解説画像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3200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52B"/>
                </a:solidFill>
                <a:latin typeface="Noto Sans CJK JP"/>
              </a:rPr>
              <a:t>端子電圧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377440"/>
            <a:ext cx="64008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54680" y="1874519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52B"/>
                </a:solidFill>
                <a:latin typeface="Noto Sans CJK JP"/>
              </a:rPr>
              <a:t>逆起電力・トルク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4880" y="2377440"/>
            <a:ext cx="68580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40680" y="1874519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52B"/>
                </a:solidFill>
                <a:latin typeface="Noto Sans CJK JP"/>
              </a:rPr>
              <a:t>主電動機回転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80" y="2377440"/>
            <a:ext cx="685799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26679" y="1874519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52B"/>
                </a:solidFill>
                <a:latin typeface="Noto Sans CJK JP"/>
              </a:rPr>
              <a:t>歯車・車輪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2377440"/>
            <a:ext cx="50292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874519"/>
            <a:ext cx="1828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52B"/>
                </a:solidFill>
                <a:latin typeface="Noto Sans CJK JP"/>
              </a:rPr>
              <a:t>列車速度・加速度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13045"/>
                </a:solidFill>
                <a:latin typeface="Noto Sans CJK JP"/>
              </a:rPr>
              <a:t>V = E + IₐRₐ(+Vᵦ)　→　E = kφω　／　T = kφIₐ　→　P = Tω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572000"/>
            <a:ext cx="3063240" cy="1005840"/>
          </a:xfrm>
          <a:prstGeom prst="roundRect">
            <a:avLst/>
          </a:prstGeom>
          <a:solidFill>
            <a:srgbClr val="EDF7F2"/>
          </a:solidFill>
          <a:ln>
            <a:solidFill>
              <a:srgbClr val="39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0252B"/>
                </a:solidFill>
                <a:latin typeface="Noto Sans CJK JP"/>
              </a:rPr>
              <a:t>低速：定トルク
P ∝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572000"/>
            <a:ext cx="3063240" cy="1005840"/>
          </a:xfrm>
          <a:prstGeom prst="roundRect">
            <a:avLst/>
          </a:prstGeom>
          <a:solidFill>
            <a:srgbClr val="FEF5EB"/>
          </a:solidFill>
          <a:ln>
            <a:solidFill>
              <a:srgbClr val="E1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0252B"/>
                </a:solidFill>
                <a:latin typeface="Noto Sans CJK JP"/>
              </a:rPr>
              <a:t>高速：弱め界磁
定出力なら T ∝ 1/ω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572000"/>
            <a:ext cx="3063240" cy="1005840"/>
          </a:xfrm>
          <a:prstGeom prst="roundRect">
            <a:avLst/>
          </a:prstGeom>
          <a:solidFill>
            <a:srgbClr val="EFF5FC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0252B"/>
                </a:solidFill>
                <a:latin typeface="Noto Sans CJK JP"/>
              </a:rPr>
              <a:t>加速：駆動側 − 負荷側
= 慣性 × 加速度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D68"/>
                </a:solidFill>
                <a:latin typeface="Noto Sans CJK JP"/>
              </a:rPr>
              <a:t>固定範囲：電圧・タップ制御／弱め界磁／定トルク・定出力／歯車・車輪／走行抵抗／加速度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3045"/>
                </a:solidFill>
                <a:latin typeface="Noto Sans CJK JP"/>
              </a:rPr>
              <a:t>速度制御：タップで電圧を上げ、上限後は弱め界磁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D68"/>
                </a:solidFill>
                <a:latin typeface="Noto Sans CJK JP"/>
              </a:rPr>
              <a:t>0系の低圧側タップ切換は「Vを段階的に変える」実車例として使う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3200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960120"/>
          </a:xfrm>
          <a:prstGeom prst="roundRect">
            <a:avLst/>
          </a:prstGeom>
          <a:solidFill>
            <a:srgbClr val="EFF5FC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252B"/>
                </a:solidFill>
                <a:latin typeface="Noto Sans CJK JP"/>
              </a:rPr>
              <a:t>ω = (V − IₐRₐ)/(kφ)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7480"/>
            <a:ext cx="3246120" cy="960120"/>
          </a:xfrm>
          <a:prstGeom prst="roundRect">
            <a:avLst/>
          </a:prstGeom>
          <a:solidFill>
            <a:srgbClr val="EDF7F2"/>
          </a:solidFill>
          <a:ln>
            <a:solidFill>
              <a:srgbClr val="39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252B"/>
                </a:solidFill>
                <a:latin typeface="Noto Sans CJK JP"/>
              </a:rPr>
              <a:t>T = kφIₐ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3246120" cy="960120"/>
          </a:xfrm>
          <a:prstGeom prst="roundRect">
            <a:avLst/>
          </a:prstGeom>
          <a:solidFill>
            <a:srgbClr val="FEF5EB"/>
          </a:solidFill>
          <a:ln>
            <a:solidFill>
              <a:srgbClr val="E1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252B"/>
                </a:solidFill>
                <a:latin typeface="Noto Sans CJK JP"/>
              </a:rPr>
              <a:t>P = Tω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417320"/>
            <a:ext cx="6995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13045"/>
                </a:solidFill>
                <a:latin typeface="Noto Sans CJK JP"/>
              </a:rPr>
              <a:t>定トルク → 定出力の考え方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5257800"/>
            <a:ext cx="6126480" cy="0"/>
          </a:xfrm>
          <a:prstGeom prst="line">
            <a:avLst/>
          </a:prstGeom>
          <a:ln w="20320">
            <a:solidFill>
              <a:srgbClr val="213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663440" y="2148840"/>
            <a:ext cx="0" cy="3108960"/>
          </a:xfrm>
          <a:prstGeom prst="line">
            <a:avLst/>
          </a:prstGeom>
          <a:ln w="20320">
            <a:solidFill>
              <a:srgbClr val="213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2743200"/>
            <a:ext cx="2514600" cy="0"/>
          </a:xfrm>
          <a:prstGeom prst="line">
            <a:avLst/>
          </a:prstGeom>
          <a:ln w="3810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23760" y="2743200"/>
            <a:ext cx="3383280" cy="1874520"/>
          </a:xfrm>
          <a:prstGeom prst="line">
            <a:avLst/>
          </a:prstGeom>
          <a:ln w="3810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709160" y="3337560"/>
            <a:ext cx="2514600" cy="1600200"/>
          </a:xfrm>
          <a:prstGeom prst="line">
            <a:avLst/>
          </a:prstGeom>
          <a:ln w="38100">
            <a:solidFill>
              <a:srgbClr val="E178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23760" y="3337560"/>
            <a:ext cx="3383280" cy="0"/>
          </a:xfrm>
          <a:prstGeom prst="line">
            <a:avLst/>
          </a:prstGeom>
          <a:ln w="38100">
            <a:solidFill>
              <a:srgbClr val="E178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5D68"/>
                </a:solidFill>
                <a:latin typeface="Noto Sans CJK JP"/>
              </a:rPr>
              <a:t>基底速度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3760" y="2286000"/>
            <a:ext cx="0" cy="2971800"/>
          </a:xfrm>
          <a:prstGeom prst="line">
            <a:avLst/>
          </a:prstGeom>
          <a:ln w="12700">
            <a:solidFill>
              <a:srgbClr val="525D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21240" y="43434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FA8"/>
                </a:solidFill>
                <a:latin typeface="Noto Sans CJK JP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9718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1781E"/>
                </a:solidFill>
                <a:latin typeface="Noto Sans CJK JP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5321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43939"/>
                </a:solidFill>
                <a:latin typeface="Noto Sans CJK JP"/>
              </a:rPr>
              <a:t>注意：一次資料はタップ切替器25段を確認。各段電圧が等間隔とは仮定しない。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D68"/>
                </a:solidFill>
                <a:latin typeface="Noto Sans CJK JP"/>
              </a:rPr>
              <a:t>一次資料：日本車輌製造「0系新幹線の主要諸元」 https://www.n-sharyo.co.jp/museum/tec0/tec0-spec.html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3045"/>
                </a:solidFill>
                <a:latin typeface="Noto Sans CJK JP"/>
              </a:rPr>
              <a:t>主電動機 → 歯車 → 車輪 → 列車速度 → 加速度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D68"/>
                </a:solidFill>
                <a:latin typeface="Noto Sans CJK JP"/>
              </a:rPr>
              <a:t>歯車比の向きと単位換算が典型的な失点点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3200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0252B"/>
                </a:solidFill>
                <a:latin typeface="Noto Sans CJK JP"/>
              </a:rPr>
              <a:t>nₘ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6002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0252B"/>
                </a:solidFill>
                <a:latin typeface="Noto Sans CJK JP"/>
              </a:rPr>
              <a:t>÷ 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002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0252B"/>
                </a:solidFill>
                <a:latin typeface="Noto Sans CJK JP"/>
              </a:rPr>
              <a:t>n_w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002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0252B"/>
                </a:solidFill>
                <a:latin typeface="Noto Sans CJK JP"/>
              </a:rPr>
              <a:t>× πD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60020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0252B"/>
                </a:solidFill>
                <a:latin typeface="Noto Sans CJK JP"/>
              </a:rPr>
              <a:t>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1965960"/>
            <a:ext cx="59436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51960" y="1965960"/>
            <a:ext cx="59436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09360" y="1965960"/>
            <a:ext cx="59436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66760" y="1965960"/>
            <a:ext cx="59436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6060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13045"/>
                </a:solidFill>
                <a:latin typeface="Noto Sans CJK JP"/>
              </a:rPr>
              <a:t>i = nₘ/n_w　　v = 0.06πDnₘ/i  [km/h]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29000"/>
            <a:ext cx="310896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0252B"/>
                </a:solidFill>
                <a:latin typeface="Noto Sans CJK JP"/>
              </a:rPr>
              <a:t>車輪側トルク
T_w = iTₘ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429000"/>
            <a:ext cx="3108960" cy="1234440"/>
          </a:xfrm>
          <a:prstGeom prst="roundRect">
            <a:avLst/>
          </a:prstGeom>
          <a:solidFill>
            <a:srgbClr val="EDF7F2"/>
          </a:solidFill>
          <a:ln>
            <a:solidFill>
              <a:srgbClr val="39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0252B"/>
                </a:solidFill>
                <a:latin typeface="Noto Sans CJK JP"/>
              </a:rPr>
              <a:t>駆動力
F = T_w/r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429000"/>
            <a:ext cx="3108960" cy="1234440"/>
          </a:xfrm>
          <a:prstGeom prst="roundRect">
            <a:avLst/>
          </a:prstGeom>
          <a:solidFill>
            <a:srgbClr val="FEF5EB"/>
          </a:solidFill>
          <a:ln>
            <a:solidFill>
              <a:srgbClr val="E1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0252B"/>
                </a:solidFill>
                <a:latin typeface="Noto Sans CJK JP"/>
              </a:rPr>
              <a:t>加速度
a = (F − F_r)/m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43939"/>
                </a:solidFill>
                <a:latin typeface="Noto Sans CJK JP"/>
              </a:rPr>
              <a:t>0系で確認済み：i = 2.17、2両1ユニット8主電動機。車輪径D・主電動機回転速度は未確認→実車値として置かない。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50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13045"/>
                </a:solidFill>
                <a:latin typeface="Noto Sans CJK JP"/>
              </a:rPr>
              <a:t>回転系 J·dω/dt = T_M − T_L と、並進系 m·dv/dt = F − F_r は同じ構造。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D68"/>
                </a:solidFill>
                <a:latin typeface="Noto Sans CJK JP"/>
              </a:rPr>
              <a:t>一次資料：日本車輌製造。実在値・計算値・教材上の仮定値を区別する。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3045"/>
                </a:solidFill>
                <a:latin typeface="Noto Sans CJK JP"/>
              </a:rPr>
              <a:t>二次記述：速度比 → 逆起電力 → 電流 → 端子電圧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D68"/>
                </a:solidFill>
                <a:latin typeface="Noto Sans CJK JP"/>
              </a:rPr>
              <a:t>H24 二次「機械・制御」問1(4)型の再利用可能な解法骨格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3200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52B"/>
                </a:solidFill>
                <a:latin typeface="Noto Sans CJK JP"/>
              </a:rPr>
              <a:t>① 速度比
E₂/E₁ = n₂/n₁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2304288"/>
            <a:ext cx="45720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2628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9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52B"/>
                </a:solidFill>
                <a:latin typeface="Noto Sans CJK JP"/>
              </a:rPr>
              <a:t>② トルク比
Iₐ₂/Iₐ₁ = T₂/T₁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26679" y="2304288"/>
            <a:ext cx="457200" cy="0"/>
          </a:xfrm>
          <a:prstGeom prst="line">
            <a:avLst/>
          </a:prstGeom>
          <a:ln w="31750">
            <a:solidFill>
              <a:srgbClr val="1A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32104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52B"/>
                </a:solidFill>
                <a:latin typeface="Noto Sans CJK JP"/>
              </a:rPr>
              <a:t>③ 端子電圧
V₂ = E₂ + Iₐ₂Rₐ + Vᵦ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20440"/>
            <a:ext cx="4754880" cy="1188720"/>
          </a:xfrm>
          <a:prstGeom prst="roundRect">
            <a:avLst/>
          </a:prstGeom>
          <a:solidFill>
            <a:srgbClr val="EFF5FC"/>
          </a:solidFill>
          <a:ln>
            <a:solidFill>
              <a:srgbClr val="1A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0252B"/>
                </a:solidFill>
                <a:latin typeface="Noto Sans CJK JP"/>
              </a:rPr>
              <a:t>一定界磁のとき
E ∝ n ／ T ∝ Iₐ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520440"/>
            <a:ext cx="4754880" cy="1188720"/>
          </a:xfrm>
          <a:prstGeom prst="roundRect">
            <a:avLst/>
          </a:prstGeom>
          <a:solidFill>
            <a:srgbClr val="FEF5EB"/>
          </a:solidFill>
          <a:ln>
            <a:solidFill>
              <a:srgbClr val="E1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0252B"/>
                </a:solidFill>
                <a:latin typeface="Noto Sans CJK JP"/>
              </a:rPr>
              <a:t>弱め界磁が入るとき
E ∝ φn ／ T ∝ φIₐ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43939"/>
                </a:solidFill>
                <a:latin typeface="Noto Sans CJK JP"/>
              </a:rPr>
              <a:t>一定界磁の比例式を弱め界磁域へそのまま使わない。途中式・前提・単位まで書ける形にする。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D68"/>
                </a:solidFill>
                <a:latin typeface="Noto Sans CJK JP"/>
              </a:rPr>
              <a:t>過去問ゲート：H28一次 機械 問1・問5／H26一次 機械 問5／H25一次 機械 問3／H24二次 機械・制御 問1(4)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3045"/>
                </a:solidFill>
                <a:latin typeface="Noto Sans CJK JP"/>
              </a:rPr>
              <a:t>0系で確認できた実車値と、教材での扱い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D68"/>
                </a:solidFill>
                <a:latin typeface="Noto Sans CJK JP"/>
              </a:rPr>
              <a:t>未確認値を真値化しない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09960" cy="32004"/>
          </a:xfrm>
          <a:prstGeom prst="rect">
            <a:avLst/>
          </a:prstGeom>
          <a:solidFill>
            <a:srgbClr val="1A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3045"/>
                </a:solidFill>
                <a:latin typeface="Noto Sans CJK JP"/>
              </a:rPr>
              <a:t>2両1ユニット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32588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52B"/>
                </a:solidFill>
                <a:latin typeface="Noto Sans CJK JP"/>
              </a:rPr>
              <a:t>8主電動機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3258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825C"/>
                </a:solidFill>
                <a:latin typeface="Noto Sans CJK JP"/>
              </a:rPr>
              <a:t>実車値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3045"/>
                </a:solidFill>
                <a:latin typeface="Noto Sans CJK JP"/>
              </a:rPr>
              <a:t>連続定格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92807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52B"/>
                </a:solidFill>
                <a:latin typeface="Noto Sans CJK JP"/>
              </a:rPr>
              <a:t>1,480 kW・167 km/h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892807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825C"/>
                </a:solidFill>
                <a:latin typeface="Noto Sans CJK JP"/>
              </a:rPr>
              <a:t>実車値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597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3045"/>
                </a:solidFill>
                <a:latin typeface="Noto Sans CJK JP"/>
              </a:rPr>
              <a:t>歯数比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5973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52B"/>
                </a:solidFill>
                <a:latin typeface="Noto Sans CJK JP"/>
              </a:rPr>
              <a:t>29:63 = 1:2.17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459736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825C"/>
                </a:solidFill>
                <a:latin typeface="Noto Sans CJK JP"/>
              </a:rPr>
              <a:t>実車値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266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3045"/>
                </a:solidFill>
                <a:latin typeface="Noto Sans CJK JP"/>
              </a:rPr>
              <a:t>タップ切替器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2666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52B"/>
                </a:solidFill>
                <a:latin typeface="Noto Sans CJK JP"/>
              </a:rPr>
              <a:t>25段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026664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825C"/>
                </a:solidFill>
                <a:latin typeface="Noto Sans CJK JP"/>
              </a:rPr>
              <a:t>実車値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93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3045"/>
                </a:solidFill>
                <a:latin typeface="Noto Sans CJK JP"/>
              </a:rPr>
              <a:t>最高速度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59359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52B"/>
                </a:solidFill>
                <a:latin typeface="Noto Sans CJK JP"/>
              </a:rPr>
              <a:t>210 km/h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59359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825C"/>
                </a:solidFill>
                <a:latin typeface="Noto Sans CJK JP"/>
              </a:rPr>
              <a:t>実車値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3045"/>
                </a:solidFill>
                <a:latin typeface="Noto Sans CJK JP"/>
              </a:rPr>
              <a:t>1台当たり出力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16052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52B"/>
                </a:solidFill>
                <a:latin typeface="Noto Sans CJK JP"/>
              </a:rPr>
              <a:t>1,480/8 = 185 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6052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781E"/>
                </a:solidFill>
                <a:latin typeface="Noto Sans CJK JP"/>
              </a:rPr>
              <a:t>計算値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27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3045"/>
                </a:solidFill>
                <a:latin typeface="Noto Sans CJK JP"/>
              </a:rPr>
              <a:t>167 km/h時の理想駆動力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727448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52B"/>
                </a:solidFill>
                <a:latin typeface="Noto Sans CJK JP"/>
              </a:rPr>
              <a:t>P/v ≈ 31.9 kN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72744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781E"/>
                </a:solidFill>
                <a:latin typeface="Noto Sans CJK JP"/>
              </a:rPr>
              <a:t>計算値（実測牽引力ではない）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40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3045"/>
                </a:solidFill>
                <a:latin typeface="Noto Sans CJK JP"/>
              </a:rPr>
              <a:t>一次資料：日本車輌製造「0系新幹線の主要諸元」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972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D68"/>
                </a:solidFill>
                <a:latin typeface="Noto Sans CJK JP"/>
              </a:rPr>
              <a:t>https://www.n-sharyo.co.jp/museum/tec0/tec0-spec.html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144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D68"/>
                </a:solidFill>
                <a:latin typeface="Noto Sans CJK JP"/>
              </a:rPr>
              <a:t>公式過去問：一般財団法人 電気技術者試験センター　二種過去問題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25D68"/>
                </a:solidFill>
                <a:latin typeface="Noto Sans CJK JP"/>
              </a:rPr>
              <a:t>参考：e-sysnet「直流電動機の始動と速度制御」／電験王2 各年度解説（説明粒度・解法順のみ参照）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