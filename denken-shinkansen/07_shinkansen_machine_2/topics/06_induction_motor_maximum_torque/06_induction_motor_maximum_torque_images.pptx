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 txBox="1"/>
          <p:nvPr/>
        </p:nvSpPr>
        <p:spPr>
          <a:xfrm>
            <a:off x="500000" y="500000"/>
            <a:ext cx="11100000" cy="5700000"/>
          </a:xfrm>
          <a:prstGeom prst="rect">
            <a:avLst/>
          </a:prstGeom>
          <a:noFill/>
        </p:spPr>
        <p:txBody>
          <a:bodyPr/>
          <a:lstStyle/>
          <a:p>
            <a:r>
              <a:rPr lang="ja-JP" sz="3200" b="1"/>
              <a:t>Topic 06  誘導電動機の最大トルク</a:t>
            </a:r>
          </a:p>
          <a:p>
            <a:pPr>
              <a:spcAft>
                <a:spcPts val="900"/>
              </a:spcAft>
            </a:pPr>
            <a:r>
              <a:rPr lang="ja-JP" sz="2400"/>
              <a:t>同期速度 → すべり → 二次周波数 → T(s) → s_m / T_m</a:t>
            </a:r>
          </a:p>
          <a:p>
            <a:pPr>
              <a:spcAft>
                <a:spcPts val="900"/>
              </a:spcAft>
            </a:pPr>
            <a:r>
              <a:rPr lang="ja-JP" sz="2400"/>
              <a:t>固定：一次2問＋二次4問、6問・20小問 / 制作前 20/20 PASS</a:t>
            </a:r>
          </a:p>
          <a:p>
            <a:pPr>
              <a:spcAft>
                <a:spcPts val="900"/>
              </a:spcAft>
            </a:pPr>
            <a:r>
              <a:rPr lang="ja-JP" sz="2400"/>
              <a:t>n_s=120f/P、s=(n_s-n)/n_s、f_2=sf</a:t>
            </a:r>
          </a:p>
          <a:p>
            <a:pPr>
              <a:spcAft>
                <a:spcPts val="900"/>
              </a:spcAft>
            </a:pPr>
            <a:r>
              <a:rPr lang="ja-JP" sz="2400"/>
              <a:t>固定範囲外：二重かご形詳細、逆相制動、Topic 07以降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 txBox="1"/>
          <p:nvPr/>
        </p:nvSpPr>
        <p:spPr>
          <a:xfrm>
            <a:off x="500000" y="500000"/>
            <a:ext cx="11100000" cy="5700000"/>
          </a:xfrm>
          <a:prstGeom prst="rect">
            <a:avLst/>
          </a:prstGeom>
          <a:noFill/>
        </p:spPr>
        <p:txBody>
          <a:bodyPr/>
          <a:lstStyle/>
          <a:p>
            <a:r>
              <a:rPr lang="ja-JP" sz="3200" b="1"/>
              <a:t>最大トルク条件</a:t>
            </a:r>
          </a:p>
          <a:p>
            <a:pPr>
              <a:spcAft>
                <a:spcPts val="900"/>
              </a:spcAft>
            </a:pPr>
            <a:r>
              <a:rPr lang="ja-JP" sz="2400"/>
              <a:t>T=(3/ω_s)·V₁²(r₂'/s)/[(r₁+r₂'/s)²+X²]</a:t>
            </a:r>
          </a:p>
          <a:p>
            <a:pPr>
              <a:spcAft>
                <a:spcPts val="900"/>
              </a:spcAft>
            </a:pPr>
            <a:r>
              <a:rPr lang="ja-JP" sz="2400"/>
              <a:t>s_m=r₂'/√(r₁²+X²)、最大トルク＝停動トルク</a:t>
            </a:r>
          </a:p>
          <a:p>
            <a:pPr>
              <a:spcAft>
                <a:spcPts val="900"/>
              </a:spcAft>
            </a:pPr>
            <a:r>
              <a:rPr lang="ja-JP" sz="2400"/>
              <a:t>仮定例：4極50Hz, V₁=200V, r₁=.20Ω, r₂'=.10Ω, X=.80Ω</a:t>
            </a:r>
          </a:p>
          <a:p>
            <a:pPr>
              <a:spcAft>
                <a:spcPts val="900"/>
              </a:spcAft>
            </a:pPr>
            <a:r>
              <a:rPr lang="ja-JP" sz="2400"/>
              <a:t>s_m≈0.121、T_m≈373 N·m / 同期速度近傍のみ T∝s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 txBox="1"/>
          <p:nvPr/>
        </p:nvSpPr>
        <p:spPr>
          <a:xfrm>
            <a:off x="500000" y="500000"/>
            <a:ext cx="11100000" cy="5700000"/>
          </a:xfrm>
          <a:prstGeom prst="rect">
            <a:avLst/>
          </a:prstGeom>
          <a:noFill/>
        </p:spPr>
        <p:txBody>
          <a:bodyPr/>
          <a:lstStyle/>
          <a:p>
            <a:r>
              <a:rPr lang="ja-JP" sz="3200" b="1"/>
              <a:t>比例推移と電圧変更</a:t>
            </a:r>
          </a:p>
          <a:p>
            <a:pPr>
              <a:spcAft>
                <a:spcPts val="900"/>
              </a:spcAft>
            </a:pPr>
            <a:r>
              <a:rPr lang="ja-JP" sz="2400"/>
              <a:t>r₂' 2倍：s_m 0.121→0.243、T_m≈373 N·mで不変</a:t>
            </a:r>
          </a:p>
          <a:p>
            <a:pPr>
              <a:spcAft>
                <a:spcPts val="900"/>
              </a:spcAft>
            </a:pPr>
            <a:r>
              <a:rPr lang="ja-JP" sz="2400"/>
              <a:t>比例推移：同一トルクを生じる滑りも二次抵抗と同じ比率で移る</a:t>
            </a:r>
          </a:p>
          <a:p>
            <a:pPr>
              <a:spcAft>
                <a:spcPts val="900"/>
              </a:spcAft>
            </a:pPr>
            <a:r>
              <a:rPr lang="ja-JP" sz="2400"/>
              <a:t>電圧0.8倍：T,T_mは0.64倍、T_m≈239 N·m、s_m不変</a:t>
            </a:r>
          </a:p>
          <a:p>
            <a:pPr>
              <a:spcAft>
                <a:spcPts val="900"/>
              </a:spcAft>
            </a:pPr>
            <a:r>
              <a:rPr lang="ja-JP" sz="2400"/>
              <a:t>最大トルクの大きさと発生滑りを分けて判断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 txBox="1"/>
          <p:nvPr/>
        </p:nvSpPr>
        <p:spPr>
          <a:xfrm>
            <a:off x="500000" y="500000"/>
            <a:ext cx="11100000" cy="5700000"/>
          </a:xfrm>
          <a:prstGeom prst="rect">
            <a:avLst/>
          </a:prstGeom>
          <a:noFill/>
        </p:spPr>
        <p:txBody>
          <a:bodyPr/>
          <a:lstStyle/>
          <a:p>
            <a:r>
              <a:rPr lang="ja-JP" sz="3200" b="1"/>
              <a:t>周波数変更：Xを固定しない</a:t>
            </a:r>
          </a:p>
          <a:p>
            <a:pPr>
              <a:spcAft>
                <a:spcPts val="900"/>
              </a:spcAft>
            </a:pPr>
            <a:r>
              <a:rPr lang="ja-JP" sz="2400"/>
              <a:t>V・抵抗・L固定：50→60Hz</a:t>
            </a:r>
          </a:p>
          <a:p>
            <a:pPr>
              <a:spcAft>
                <a:spcPts val="900"/>
              </a:spcAft>
            </a:pPr>
            <a:r>
              <a:rPr lang="ja-JP" sz="2400"/>
              <a:t>n_s 1500→1800 min⁻¹、X=2πfL 0.80→0.96Ω</a:t>
            </a:r>
          </a:p>
          <a:p>
            <a:pPr>
              <a:spcAft>
                <a:spcPts val="900"/>
              </a:spcAft>
            </a:pPr>
            <a:r>
              <a:rPr lang="ja-JP" sz="2400"/>
              <a:t>s_m 0.121→0.102、T_m 約373→約270 N·m</a:t>
            </a:r>
          </a:p>
          <a:p>
            <a:pPr>
              <a:spcAft>
                <a:spcPts val="900"/>
              </a:spcAft>
            </a:pPr>
            <a:r>
              <a:rPr lang="ja-JP" sz="2400"/>
              <a:t>周波数変更は速度軸だけの横移動ではない / 未確認実車値なし</a:t>
            </a:r>
          </a:p>
        </p:txBody>
      </p:sp>
    </p:spTree>
  </p:cSld>
</p:sld>
</file>