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81BD" accent2="C0504D" accent3="9BBB59" accent4="8064A2" accent5="4BACC6" accent6="F79646" bg1="FFFFFF" bg2="EEECE1" folHlink="800080" hlink="0000FF" tx1="000000" tx2="1F497D"/>
  <p:sldLayoutIdLst>
    <p:sldLayoutId id="1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2800" b="1">
                <a:solidFill>
                  <a:srgbClr val="17365D"/>
                </a:solidFill>
              </a:rPr>
              <a:t>Topic 18｜一次遅れ：時定数で応答の速さを読む</a:t>
            </a:r>
            <a:endParaRPr lang="ja-JP" sz="2800"/>
          </a:p>
        </p:txBody>
      </p:sp>
      <p:sp>
        <p:nvSpPr>
          <p:cNvPr id="3" name="Lead"/>
          <p:cNvSpPr txBox="1"/>
          <p:nvPr/>
        </p:nvSpPr>
        <p:spPr>
          <a:xfrm>
            <a:off x="502920" y="74980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900" b="1">
                <a:solidFill>
                  <a:srgbClr val="222222"/>
                </a:solidFill>
              </a:rPr>
              <a:t>G(s)=K/(Ts+1)　単位ステップ → y(t)=K(1−e^(−t/T))</a:t>
            </a:r>
            <a:endParaRPr lang="ja-JP" sz="1900"/>
          </a:p>
        </p:txBody>
      </p:sp>
      <p:sp>
        <p:nvSpPr>
          <p:cNvPr id="4" name="Key"/>
          <p:cNvSpPr/>
          <p:nvPr/>
        </p:nvSpPr>
        <p:spPr>
          <a:xfrm>
            <a:off x="502920" y="1261872"/>
            <a:ext cx="4983480" cy="121615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7A9CC6"/>
            </a:solidFill>
          </a:ln>
        </p:spPr>
      </p:sp>
      <p:sp>
        <p:nvSpPr>
          <p:cNvPr id="5" name="KeyText"/>
          <p:cNvSpPr txBox="1"/>
          <p:nvPr/>
        </p:nvSpPr>
        <p:spPr>
          <a:xfrm>
            <a:off x="658368" y="1371600"/>
            <a:ext cx="4645152" cy="932688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700" b="0">
                <a:solidFill>
                  <a:srgbClr val="17365D"/>
                </a:solidFill>
              </a:rPr>
              <a:t>t=T で最終値の 63.2%</a:t>
            </a:r>
            <a:endParaRPr lang="ja-JP" sz="1700"/>
          </a:p>
          <a:p>
            <a:pPr algn="l"/>
            <a:r>
              <a:rPr lang="ja-JP" sz="1700" b="0">
                <a:solidFill>
                  <a:srgbClr val="17365D"/>
                </a:solidFill>
              </a:rPr>
              <a:t>10–90%立上り時間 ≈ 2.20T</a:t>
            </a:r>
            <a:endParaRPr lang="ja-JP" sz="1700"/>
          </a:p>
          <a:p>
            <a:pPr algn="l"/>
            <a:r>
              <a:rPr lang="ja-JP" sz="1700" b="0">
                <a:solidFill>
                  <a:srgbClr val="17365D"/>
                </a:solidFill>
              </a:rPr>
              <a:t>2%整定時間 ≈ 3.91T（概算4T）</a:t>
            </a:r>
            <a:endParaRPr lang="ja-JP" sz="1700"/>
          </a:p>
        </p:txBody>
      </p:sp>
      <p:sp>
        <p:nvSpPr>
          <p:cNvPr id="6" name="Model"/>
          <p:cNvSpPr txBox="1"/>
          <p:nvPr/>
        </p:nvSpPr>
        <p:spPr>
          <a:xfrm>
            <a:off x="566928" y="2761488"/>
            <a:ext cx="48006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500" b="0">
                <a:solidFill>
                  <a:srgbClr val="333333"/>
                </a:solidFill>
              </a:rPr>
              <a:t>速度指令 Δvᵣ(t) → [ 1/(Ts+1) ] → 速度変化 Δv(t)</a:t>
            </a:r>
            <a:endParaRPr lang="ja-JP" sz="1500"/>
          </a:p>
          <a:p>
            <a:pPr algn="l"/>
            <a:r>
              <a:rPr lang="ja-JP" sz="1500" b="0">
                <a:solidFill>
                  <a:srgbClr val="333333"/>
                </a:solidFill>
              </a:rPr>
              <a:t>※ 教材上の一般化モデル。新幹線実車の時定数ではない。</a:t>
            </a:r>
            <a:endParaRPr lang="ja-JP" sz="1500"/>
          </a:p>
        </p:txBody>
      </p:sp>
      <p:cxnSp>
        <p:nvCxnSpPr>
          <p:cNvPr id="7" name="Line 7"/>
          <p:cNvCxnSpPr/>
          <p:nvPr/>
        </p:nvCxnSpPr>
        <p:spPr>
          <a:xfrm>
            <a:off x="5989320" y="5257800"/>
            <a:ext cx="5257800" cy="914"/>
          </a:xfrm>
          <a:prstGeom prst="line">
            <a:avLst/>
          </a:prstGeom>
          <a:ln w="18000">
            <a:solidFill>
              <a:srgbClr val="444444"/>
            </a:solidFill>
          </a:ln>
        </p:spPr>
      </p:cxnSp>
      <p:cxnSp>
        <p:nvCxnSpPr>
          <p:cNvPr id="8" name="Line 8"/>
          <p:cNvCxnSpPr/>
          <p:nvPr/>
        </p:nvCxnSpPr>
        <p:spPr>
          <a:xfrm flipV="1">
            <a:off x="5989320" y="1325880"/>
            <a:ext cx="914" cy="3931920"/>
          </a:xfrm>
          <a:prstGeom prst="line">
            <a:avLst/>
          </a:prstGeom>
          <a:ln w="18000">
            <a:solidFill>
              <a:srgbClr val="444444"/>
            </a:solidFill>
          </a:ln>
        </p:spPr>
      </p:cxnSp>
      <p:sp>
        <p:nvSpPr>
          <p:cNvPr id="9" name="gtitle"/>
          <p:cNvSpPr txBox="1"/>
          <p:nvPr/>
        </p:nvSpPr>
        <p:spPr>
          <a:xfrm>
            <a:off x="5989320" y="93268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600" b="1">
                <a:solidFill>
                  <a:srgbClr val="333333"/>
                </a:solidFill>
              </a:rPr>
              <a:t>時定数変更比較：T=1, 2, 4 s（K=1）</a:t>
            </a:r>
            <a:endParaRPr lang="ja-JP" sz="1600"/>
          </a:p>
        </p:txBody>
      </p:sp>
      <p:cxnSp>
        <p:nvCxnSpPr>
          <p:cNvPr id="10" name="Line 10"/>
          <p:cNvCxnSpPr/>
          <p:nvPr/>
        </p:nvCxnSpPr>
        <p:spPr>
          <a:xfrm flipV="1">
            <a:off x="5989320" y="2579795"/>
            <a:ext cx="751114" cy="2678004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11" name="Line 11"/>
          <p:cNvCxnSpPr/>
          <p:nvPr/>
        </p:nvCxnSpPr>
        <p:spPr>
          <a:xfrm flipV="1">
            <a:off x="6740434" y="1725761"/>
            <a:ext cx="751114" cy="854033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12" name="Line 12"/>
          <p:cNvCxnSpPr/>
          <p:nvPr/>
        </p:nvCxnSpPr>
        <p:spPr>
          <a:xfrm flipV="1">
            <a:off x="7491548" y="1453404"/>
            <a:ext cx="751114" cy="272356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13" name="Line 13"/>
          <p:cNvCxnSpPr/>
          <p:nvPr/>
        </p:nvCxnSpPr>
        <p:spPr>
          <a:xfrm flipV="1">
            <a:off x="8242662" y="1366548"/>
            <a:ext cx="751114" cy="86856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14" name="Line 14"/>
          <p:cNvCxnSpPr/>
          <p:nvPr/>
        </p:nvCxnSpPr>
        <p:spPr>
          <a:xfrm flipV="1">
            <a:off x="8993777" y="1338849"/>
            <a:ext cx="751114" cy="27699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15" name="Line 15"/>
          <p:cNvCxnSpPr/>
          <p:nvPr/>
        </p:nvCxnSpPr>
        <p:spPr>
          <a:xfrm flipV="1">
            <a:off x="9744891" y="1330016"/>
            <a:ext cx="751114" cy="8833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16" name="Line 16"/>
          <p:cNvCxnSpPr/>
          <p:nvPr/>
        </p:nvCxnSpPr>
        <p:spPr>
          <a:xfrm flipV="1">
            <a:off x="10496005" y="1327199"/>
            <a:ext cx="751114" cy="2817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17" name="Line 17"/>
          <p:cNvCxnSpPr/>
          <p:nvPr/>
        </p:nvCxnSpPr>
        <p:spPr>
          <a:xfrm flipV="1">
            <a:off x="5989320" y="3546306"/>
            <a:ext cx="751114" cy="1711493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18" name="Line 18"/>
          <p:cNvCxnSpPr/>
          <p:nvPr/>
        </p:nvCxnSpPr>
        <p:spPr>
          <a:xfrm flipV="1">
            <a:off x="6740434" y="2579795"/>
            <a:ext cx="751114" cy="966511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19" name="Line 19"/>
          <p:cNvCxnSpPr/>
          <p:nvPr/>
        </p:nvCxnSpPr>
        <p:spPr>
          <a:xfrm flipV="1">
            <a:off x="7491548" y="2033988"/>
            <a:ext cx="751114" cy="545806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20" name="Line 20"/>
          <p:cNvCxnSpPr/>
          <p:nvPr/>
        </p:nvCxnSpPr>
        <p:spPr>
          <a:xfrm flipV="1">
            <a:off x="8242662" y="1725761"/>
            <a:ext cx="751114" cy="308226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21" name="Line 21"/>
          <p:cNvCxnSpPr/>
          <p:nvPr/>
        </p:nvCxnSpPr>
        <p:spPr>
          <a:xfrm flipV="1">
            <a:off x="8993777" y="1551700"/>
            <a:ext cx="751114" cy="174061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22" name="Line 22"/>
          <p:cNvCxnSpPr/>
          <p:nvPr/>
        </p:nvCxnSpPr>
        <p:spPr>
          <a:xfrm flipV="1">
            <a:off x="9744891" y="1453404"/>
            <a:ext cx="751114" cy="98295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23" name="Line 23"/>
          <p:cNvCxnSpPr/>
          <p:nvPr/>
        </p:nvCxnSpPr>
        <p:spPr>
          <a:xfrm flipV="1">
            <a:off x="10496005" y="1397895"/>
            <a:ext cx="751114" cy="55509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24" name="Line 24"/>
          <p:cNvCxnSpPr/>
          <p:nvPr/>
        </p:nvCxnSpPr>
        <p:spPr>
          <a:xfrm flipV="1">
            <a:off x="5989320" y="4280628"/>
            <a:ext cx="751114" cy="977171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cxnSp>
        <p:nvCxnSpPr>
          <p:cNvPr id="25" name="Line 25"/>
          <p:cNvCxnSpPr/>
          <p:nvPr/>
        </p:nvCxnSpPr>
        <p:spPr>
          <a:xfrm flipV="1">
            <a:off x="6740434" y="3546306"/>
            <a:ext cx="751114" cy="734322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cxnSp>
        <p:nvCxnSpPr>
          <p:cNvPr id="26" name="Line 26"/>
          <p:cNvCxnSpPr/>
          <p:nvPr/>
        </p:nvCxnSpPr>
        <p:spPr>
          <a:xfrm flipV="1">
            <a:off x="7491548" y="2994480"/>
            <a:ext cx="751114" cy="551826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cxnSp>
        <p:nvCxnSpPr>
          <p:cNvPr id="27" name="Line 27"/>
          <p:cNvCxnSpPr/>
          <p:nvPr/>
        </p:nvCxnSpPr>
        <p:spPr>
          <a:xfrm flipV="1">
            <a:off x="8242662" y="2579795"/>
            <a:ext cx="751114" cy="414685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cxnSp>
        <p:nvCxnSpPr>
          <p:cNvPr id="28" name="Line 28"/>
          <p:cNvCxnSpPr/>
          <p:nvPr/>
        </p:nvCxnSpPr>
        <p:spPr>
          <a:xfrm flipV="1">
            <a:off x="8993777" y="2268168"/>
            <a:ext cx="751114" cy="311626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cxnSp>
        <p:nvCxnSpPr>
          <p:cNvPr id="29" name="Line 29"/>
          <p:cNvCxnSpPr/>
          <p:nvPr/>
        </p:nvCxnSpPr>
        <p:spPr>
          <a:xfrm flipV="1">
            <a:off x="9744891" y="2033988"/>
            <a:ext cx="751114" cy="234180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cxnSp>
        <p:nvCxnSpPr>
          <p:cNvPr id="30" name="Line 30"/>
          <p:cNvCxnSpPr/>
          <p:nvPr/>
        </p:nvCxnSpPr>
        <p:spPr>
          <a:xfrm flipV="1">
            <a:off x="10496005" y="1858007"/>
            <a:ext cx="751114" cy="175981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5989320" y="2772826"/>
            <a:ext cx="5257800" cy="914"/>
          </a:xfrm>
          <a:prstGeom prst="line">
            <a:avLst/>
          </a:prstGeom>
          <a:ln w="10000">
            <a:solidFill>
              <a:srgbClr val="999999"/>
            </a:solidFill>
            <a:prstDash val="dash"/>
          </a:ln>
        </p:spPr>
      </p:cxnSp>
      <p:sp>
        <p:nvSpPr>
          <p:cNvPr id="32" name="legend"/>
          <p:cNvSpPr txBox="1"/>
          <p:nvPr/>
        </p:nvSpPr>
        <p:spPr>
          <a:xfrm>
            <a:off x="6446520" y="544068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450" b="0">
                <a:solidFill>
                  <a:srgbClr val="333333"/>
                </a:solidFill>
              </a:rPr>
              <a:t>T=1 s：速い　　T=2 s　　T=4 s：遅い</a:t>
            </a:r>
            <a:endParaRPr lang="ja-JP" sz="1450"/>
          </a:p>
        </p:txBody>
      </p:sp>
      <p:sp>
        <p:nvSpPr>
          <p:cNvPr id="33" name="footer"/>
          <p:cNvSpPr txBox="1"/>
          <p:nvPr/>
        </p:nvSpPr>
        <p:spPr>
          <a:xfrm>
            <a:off x="502920" y="60533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350" b="0">
                <a:solidFill>
                  <a:srgbClr val="555555"/>
                </a:solidFill>
              </a:rPr>
              <a:t>試験では「Tが大きいほど遅い」「t=Tで63.2%」を式とグラフの両方で結ぶ。</a:t>
            </a:r>
            <a:endParaRPr lang="ja-JP" sz="13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2800" b="1">
                <a:solidFill>
                  <a:srgbClr val="17365D"/>
                </a:solidFill>
              </a:rPr>
              <a:t>Topic 18｜二次遅れ：ωₙ・ζから振動性と整定を読む</a:t>
            </a:r>
            <a:endParaRPr lang="ja-JP" sz="2800"/>
          </a:p>
        </p:txBody>
      </p:sp>
      <p:sp>
        <p:nvSpPr>
          <p:cNvPr id="3" name="Formula"/>
          <p:cNvSpPr txBox="1"/>
          <p:nvPr/>
        </p:nvSpPr>
        <p:spPr>
          <a:xfrm>
            <a:off x="502920" y="76809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2050" b="1">
                <a:solidFill>
                  <a:srgbClr val="222222"/>
                </a:solidFill>
              </a:rPr>
              <a:t>G(s)=Kωₙ² /(s²+2ζωₙs+ωₙ²)</a:t>
            </a:r>
            <a:endParaRPr lang="ja-JP" sz="2050"/>
          </a:p>
        </p:txBody>
      </p:sp>
      <p:sp>
        <p:nvSpPr>
          <p:cNvPr id="4" name="Compare"/>
          <p:cNvSpPr/>
          <p:nvPr/>
        </p:nvSpPr>
        <p:spPr>
          <a:xfrm>
            <a:off x="502920" y="1417320"/>
            <a:ext cx="5166360" cy="1874519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8C2CC"/>
            </a:solidFill>
          </a:ln>
        </p:spPr>
      </p:sp>
      <p:sp>
        <p:nvSpPr>
          <p:cNvPr id="5" name="CompareText"/>
          <p:cNvSpPr txBox="1"/>
          <p:nvPr/>
        </p:nvSpPr>
        <p:spPr>
          <a:xfrm>
            <a:off x="658368" y="1517904"/>
            <a:ext cx="4864608" cy="1600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650" b="0">
                <a:solidFill>
                  <a:srgbClr val="222222"/>
                </a:solidFill>
              </a:rPr>
              <a:t>分母を s²+as+b に正規化</a:t>
            </a:r>
            <a:endParaRPr lang="ja-JP" sz="1650"/>
          </a:p>
          <a:p>
            <a:pPr algn="l"/>
            <a:r>
              <a:rPr lang="ja-JP" sz="1650" b="0">
                <a:solidFill>
                  <a:srgbClr val="222222"/>
                </a:solidFill>
              </a:rPr>
              <a:t>ωₙ=√b　　ζ=a/(2√b)</a:t>
            </a:r>
            <a:endParaRPr lang="ja-JP" sz="1650"/>
          </a:p>
          <a:p>
            <a:pPr algn="l"/>
            <a:r>
              <a:rPr lang="ja-JP" sz="1650" b="0">
                <a:solidFill>
                  <a:srgbClr val="222222"/>
                </a:solidFill>
              </a:rPr>
              <a:t>0&lt;ζ&lt;1：減衰振動＋オーバーシュート</a:t>
            </a:r>
            <a:endParaRPr lang="ja-JP" sz="1650"/>
          </a:p>
          <a:p>
            <a:pPr algn="l"/>
            <a:r>
              <a:rPr lang="ja-JP" sz="1650" b="0">
                <a:solidFill>
                  <a:srgbClr val="222222"/>
                </a:solidFill>
              </a:rPr>
              <a:t>ζ=1：臨界減衰　　ζ&gt;1：過減衰</a:t>
            </a:r>
            <a:endParaRPr lang="ja-JP" sz="1650"/>
          </a:p>
        </p:txBody>
      </p:sp>
      <p:sp>
        <p:nvSpPr>
          <p:cNvPr id="6" name="Example"/>
          <p:cNvSpPr/>
          <p:nvPr/>
        </p:nvSpPr>
        <p:spPr>
          <a:xfrm>
            <a:off x="502920" y="3529584"/>
            <a:ext cx="5166360" cy="178308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D8B25B"/>
            </a:solidFill>
          </a:ln>
        </p:spPr>
      </p:sp>
      <p:sp>
        <p:nvSpPr>
          <p:cNvPr id="7" name="ExampleText"/>
          <p:cNvSpPr txBox="1"/>
          <p:nvPr/>
        </p:nvSpPr>
        <p:spPr>
          <a:xfrm>
            <a:off x="658368" y="3639312"/>
            <a:ext cx="4864608" cy="1536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650" b="0">
                <a:solidFill>
                  <a:srgbClr val="6B4F00"/>
                </a:solidFill>
              </a:rPr>
              <a:t>例：25/(s²+6s+25)</a:t>
            </a:r>
            <a:endParaRPr lang="ja-JP" sz="1650"/>
          </a:p>
          <a:p>
            <a:pPr algn="l"/>
            <a:r>
              <a:rPr lang="ja-JP" sz="1650" b="0">
                <a:solidFill>
                  <a:srgbClr val="6B4F00"/>
                </a:solidFill>
              </a:rPr>
              <a:t>ωₙ=5 rad/s　ζ=0.6　ωd=4 rad/s</a:t>
            </a:r>
            <a:endParaRPr lang="ja-JP" sz="1650"/>
          </a:p>
          <a:p>
            <a:pPr algn="l"/>
            <a:r>
              <a:rPr lang="ja-JP" sz="1650" b="0">
                <a:solidFill>
                  <a:srgbClr val="6B4F00"/>
                </a:solidFill>
              </a:rPr>
              <a:t>Mp≈9.48%　　2%整定 ts≈1.33 s</a:t>
            </a:r>
            <a:endParaRPr lang="ja-JP" sz="1650"/>
          </a:p>
        </p:txBody>
      </p:sp>
      <p:cxnSp>
        <p:nvCxnSpPr>
          <p:cNvPr id="8" name="Line 8"/>
          <p:cNvCxnSpPr/>
          <p:nvPr/>
        </p:nvCxnSpPr>
        <p:spPr>
          <a:xfrm>
            <a:off x="6035040" y="5303520"/>
            <a:ext cx="5166360" cy="914"/>
          </a:xfrm>
          <a:prstGeom prst="line">
            <a:avLst/>
          </a:prstGeom>
          <a:ln w="18000">
            <a:solidFill>
              <a:srgbClr val="444444"/>
            </a:solidFill>
          </a:ln>
        </p:spPr>
      </p:cxnSp>
      <p:cxnSp>
        <p:nvCxnSpPr>
          <p:cNvPr id="9" name="Line 9"/>
          <p:cNvCxnSpPr/>
          <p:nvPr/>
        </p:nvCxnSpPr>
        <p:spPr>
          <a:xfrm flipV="1">
            <a:off x="6035040" y="1325880"/>
            <a:ext cx="914" cy="3977639"/>
          </a:xfrm>
          <a:prstGeom prst="line">
            <a:avLst/>
          </a:prstGeom>
          <a:ln w="18000">
            <a:solidFill>
              <a:srgbClr val="444444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6035040" y="2737300"/>
            <a:ext cx="5166360" cy="914"/>
          </a:xfrm>
          <a:prstGeom prst="line">
            <a:avLst/>
          </a:prstGeom>
          <a:ln w="10000">
            <a:solidFill>
              <a:srgbClr val="999999"/>
            </a:solidFill>
            <a:prstDash val="dash"/>
          </a:ln>
        </p:spPr>
      </p:cxnSp>
      <p:sp>
        <p:nvSpPr>
          <p:cNvPr id="11" name="gtitle"/>
          <p:cNvSpPr txBox="1"/>
          <p:nvPr/>
        </p:nvSpPr>
        <p:spPr>
          <a:xfrm>
            <a:off x="5989320" y="932688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600" b="1">
                <a:solidFill>
                  <a:srgbClr val="333333"/>
                </a:solidFill>
              </a:rPr>
              <a:t>減衰係数変更比較：ωₙ=1 rad/s固定</a:t>
            </a:r>
            <a:endParaRPr lang="ja-JP" sz="1600"/>
          </a:p>
        </p:txBody>
      </p:sp>
      <p:cxnSp>
        <p:nvCxnSpPr>
          <p:cNvPr id="12" name="Line 12"/>
          <p:cNvCxnSpPr/>
          <p:nvPr/>
        </p:nvCxnSpPr>
        <p:spPr>
          <a:xfrm flipV="1">
            <a:off x="6035040" y="4061717"/>
            <a:ext cx="574040" cy="1241802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13" name="Line 13"/>
          <p:cNvCxnSpPr/>
          <p:nvPr/>
        </p:nvCxnSpPr>
        <p:spPr>
          <a:xfrm flipV="1">
            <a:off x="6609080" y="2075347"/>
            <a:ext cx="574039" cy="1986370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14" name="Line 14"/>
          <p:cNvCxnSpPr/>
          <p:nvPr/>
        </p:nvCxnSpPr>
        <p:spPr>
          <a:xfrm flipV="1">
            <a:off x="7183120" y="1396571"/>
            <a:ext cx="574039" cy="678775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757159" y="1396571"/>
            <a:ext cx="574040" cy="769591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331200" y="2166163"/>
            <a:ext cx="574040" cy="1006683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905240" y="3172847"/>
            <a:ext cx="574040" cy="254073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18" name="Line 18"/>
          <p:cNvCxnSpPr/>
          <p:nvPr/>
        </p:nvCxnSpPr>
        <p:spPr>
          <a:xfrm flipV="1">
            <a:off x="9479280" y="2970119"/>
            <a:ext cx="574039" cy="456801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19" name="Line 19"/>
          <p:cNvCxnSpPr/>
          <p:nvPr/>
        </p:nvCxnSpPr>
        <p:spPr>
          <a:xfrm flipV="1">
            <a:off x="10053320" y="2468010"/>
            <a:ext cx="574040" cy="502108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20" name="Line 20"/>
          <p:cNvCxnSpPr/>
          <p:nvPr/>
        </p:nvCxnSpPr>
        <p:spPr>
          <a:xfrm flipV="1">
            <a:off x="10627360" y="2388058"/>
            <a:ext cx="574039" cy="79952"/>
          </a:xfrm>
          <a:prstGeom prst="line">
            <a:avLst/>
          </a:prstGeom>
          <a:ln w="19000">
            <a:solidFill>
              <a:srgbClr val="0066CC"/>
            </a:solidFill>
          </a:ln>
        </p:spPr>
      </p:cxnSp>
      <p:cxnSp>
        <p:nvCxnSpPr>
          <p:cNvPr id="21" name="Line 21"/>
          <p:cNvCxnSpPr/>
          <p:nvPr/>
        </p:nvCxnSpPr>
        <p:spPr>
          <a:xfrm flipV="1">
            <a:off x="6035040" y="4276493"/>
            <a:ext cx="574040" cy="1027026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22" name="Line 22"/>
          <p:cNvCxnSpPr/>
          <p:nvPr/>
        </p:nvCxnSpPr>
        <p:spPr>
          <a:xfrm flipV="1">
            <a:off x="6609080" y="2902231"/>
            <a:ext cx="574039" cy="1374262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23" name="Line 23"/>
          <p:cNvCxnSpPr/>
          <p:nvPr/>
        </p:nvCxnSpPr>
        <p:spPr>
          <a:xfrm flipV="1">
            <a:off x="7183120" y="2338803"/>
            <a:ext cx="574039" cy="563427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7757159" y="2338803"/>
            <a:ext cx="574040" cy="82788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8331200" y="2421592"/>
            <a:ext cx="574040" cy="239785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8905240" y="2661378"/>
            <a:ext cx="574040" cy="130046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9479280" y="2791424"/>
            <a:ext cx="574039" cy="6374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28" name="Line 28"/>
          <p:cNvCxnSpPr/>
          <p:nvPr/>
        </p:nvCxnSpPr>
        <p:spPr>
          <a:xfrm flipV="1">
            <a:off x="10053320" y="2759170"/>
            <a:ext cx="574040" cy="38628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29" name="Line 29"/>
          <p:cNvCxnSpPr/>
          <p:nvPr/>
        </p:nvCxnSpPr>
        <p:spPr>
          <a:xfrm flipV="1">
            <a:off x="10627360" y="2731731"/>
            <a:ext cx="574039" cy="27438"/>
          </a:xfrm>
          <a:prstGeom prst="line">
            <a:avLst/>
          </a:prstGeom>
          <a:ln w="19000">
            <a:solidFill>
              <a:srgbClr val="D97706"/>
            </a:solidFill>
          </a:ln>
        </p:spPr>
      </p:cxnSp>
      <p:cxnSp>
        <p:nvCxnSpPr>
          <p:cNvPr id="30" name="Line 30"/>
          <p:cNvCxnSpPr/>
          <p:nvPr/>
        </p:nvCxnSpPr>
        <p:spPr>
          <a:xfrm flipV="1">
            <a:off x="6035040" y="4520728"/>
            <a:ext cx="574040" cy="782791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cxnSp>
        <p:nvCxnSpPr>
          <p:cNvPr id="31" name="Line 31"/>
          <p:cNvCxnSpPr/>
          <p:nvPr/>
        </p:nvCxnSpPr>
        <p:spPr>
          <a:xfrm flipV="1">
            <a:off x="6609080" y="3633388"/>
            <a:ext cx="574039" cy="887339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cxnSp>
        <p:nvCxnSpPr>
          <p:cNvPr id="32" name="Line 32"/>
          <p:cNvCxnSpPr/>
          <p:nvPr/>
        </p:nvCxnSpPr>
        <p:spPr>
          <a:xfrm flipV="1">
            <a:off x="7183120" y="3134005"/>
            <a:ext cx="574039" cy="499382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cxnSp>
        <p:nvCxnSpPr>
          <p:cNvPr id="33" name="Line 33"/>
          <p:cNvCxnSpPr/>
          <p:nvPr/>
        </p:nvCxnSpPr>
        <p:spPr>
          <a:xfrm flipV="1">
            <a:off x="7757159" y="2901378"/>
            <a:ext cx="574040" cy="232627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cxnSp>
        <p:nvCxnSpPr>
          <p:cNvPr id="34" name="Line 34"/>
          <p:cNvCxnSpPr/>
          <p:nvPr/>
        </p:nvCxnSpPr>
        <p:spPr>
          <a:xfrm flipV="1">
            <a:off x="8331200" y="2802336"/>
            <a:ext cx="574040" cy="99041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cxnSp>
        <p:nvCxnSpPr>
          <p:cNvPr id="35" name="Line 35"/>
          <p:cNvCxnSpPr/>
          <p:nvPr/>
        </p:nvCxnSpPr>
        <p:spPr>
          <a:xfrm flipV="1">
            <a:off x="8905240" y="2762338"/>
            <a:ext cx="574040" cy="39998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cxnSp>
        <p:nvCxnSpPr>
          <p:cNvPr id="36" name="Line 36"/>
          <p:cNvCxnSpPr/>
          <p:nvPr/>
        </p:nvCxnSpPr>
        <p:spPr>
          <a:xfrm flipV="1">
            <a:off x="9479280" y="2746737"/>
            <a:ext cx="574039" cy="15601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cxnSp>
        <p:nvCxnSpPr>
          <p:cNvPr id="37" name="Line 37"/>
          <p:cNvCxnSpPr/>
          <p:nvPr/>
        </p:nvCxnSpPr>
        <p:spPr>
          <a:xfrm flipV="1">
            <a:off x="10053320" y="2740800"/>
            <a:ext cx="574040" cy="5937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cxnSp>
        <p:nvCxnSpPr>
          <p:cNvPr id="38" name="Line 38"/>
          <p:cNvCxnSpPr/>
          <p:nvPr/>
        </p:nvCxnSpPr>
        <p:spPr>
          <a:xfrm flipV="1">
            <a:off x="10627360" y="2738582"/>
            <a:ext cx="574039" cy="2218"/>
          </a:xfrm>
          <a:prstGeom prst="line">
            <a:avLst/>
          </a:prstGeom>
          <a:ln w="19000">
            <a:solidFill>
              <a:srgbClr val="7C3AED"/>
            </a:solidFill>
          </a:ln>
        </p:spPr>
      </p:cxnSp>
      <p:sp>
        <p:nvSpPr>
          <p:cNvPr id="39" name="legend"/>
          <p:cNvSpPr txBox="1"/>
          <p:nvPr/>
        </p:nvSpPr>
        <p:spPr>
          <a:xfrm>
            <a:off x="6199632" y="5431536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400" b="0">
                <a:solidFill>
                  <a:srgbClr val="333333"/>
                </a:solidFill>
              </a:rPr>
              <a:t>ζ=0.2：大きく振動　　ζ=0.5　　ζ=1.0：非振動</a:t>
            </a:r>
            <a:endParaRPr lang="ja-JP" sz="1400"/>
          </a:p>
        </p:txBody>
      </p:sp>
      <p:sp>
        <p:nvSpPr>
          <p:cNvPr id="40" name="footer"/>
          <p:cNvSpPr txBox="1"/>
          <p:nvPr/>
        </p:nvSpPr>
        <p:spPr>
          <a:xfrm>
            <a:off x="502920" y="60533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350" b="0">
                <a:solidFill>
                  <a:srgbClr val="555555"/>
                </a:solidFill>
              </a:rPr>
              <a:t>Mp=exp{−πζ/√(1−ζ²)} は 0&lt;ζ&lt;1 の標準二次遅れに適用する。</a:t>
            </a:r>
            <a:endParaRPr lang="ja-JP" sz="1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2800" b="1">
                <a:solidFill>
                  <a:srgbClr val="17365D"/>
                </a:solidFill>
              </a:rPr>
              <a:t>Topic 18｜入力を見分けて Y(s)=G(s)U(s) を作る</a:t>
            </a:r>
            <a:endParaRPr lang="ja-JP" sz="2800"/>
          </a:p>
        </p:txBody>
      </p:sp>
      <p:sp>
        <p:nvSpPr>
          <p:cNvPr id="3" name="単位ステップ"/>
          <p:cNvSpPr/>
          <p:nvPr/>
        </p:nvSpPr>
        <p:spPr>
          <a:xfrm>
            <a:off x="502920" y="1078992"/>
            <a:ext cx="2057400" cy="96012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AAB4BE"/>
            </a:solidFill>
          </a:ln>
        </p:spPr>
      </p:sp>
      <p:sp>
        <p:nvSpPr>
          <p:cNvPr id="4" name="単位ステップt"/>
          <p:cNvSpPr txBox="1"/>
          <p:nvPr/>
        </p:nvSpPr>
        <p:spPr>
          <a:xfrm>
            <a:off x="576072" y="1170432"/>
            <a:ext cx="1911095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ctr"/>
            <a:r>
              <a:rPr lang="ja-JP" sz="1450" b="1">
                <a:solidFill>
                  <a:srgbClr val="263238"/>
                </a:solidFill>
              </a:rPr>
              <a:t>単位ステップ</a:t>
            </a:r>
            <a:endParaRPr lang="ja-JP" sz="1450"/>
          </a:p>
          <a:p>
            <a:pPr algn="ctr"/>
            <a:r>
              <a:rPr lang="ja-JP" sz="1450" b="1">
                <a:solidFill>
                  <a:srgbClr val="263238"/>
                </a:solidFill>
              </a:rPr>
              <a:t>U(s)=1/s</a:t>
            </a:r>
            <a:endParaRPr lang="ja-JP" sz="1450"/>
          </a:p>
        </p:txBody>
      </p:sp>
      <p:sp>
        <p:nvSpPr>
          <p:cNvPr id="5" name="単位インパルス"/>
          <p:cNvSpPr/>
          <p:nvPr/>
        </p:nvSpPr>
        <p:spPr>
          <a:xfrm>
            <a:off x="2880360" y="1078992"/>
            <a:ext cx="2057400" cy="960120"/>
          </a:xfrm>
          <a:prstGeom prst="roundRect">
            <a:avLst/>
          </a:prstGeom>
          <a:solidFill>
            <a:srgbClr val="F2F8EE"/>
          </a:solidFill>
          <a:ln w="12700">
            <a:solidFill>
              <a:srgbClr val="AAB4BE"/>
            </a:solidFill>
          </a:ln>
        </p:spPr>
      </p:sp>
      <p:sp>
        <p:nvSpPr>
          <p:cNvPr id="6" name="単位インパルスt"/>
          <p:cNvSpPr txBox="1"/>
          <p:nvPr/>
        </p:nvSpPr>
        <p:spPr>
          <a:xfrm>
            <a:off x="2953512" y="1170432"/>
            <a:ext cx="1911095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ctr"/>
            <a:r>
              <a:rPr lang="ja-JP" sz="1450" b="1">
                <a:solidFill>
                  <a:srgbClr val="263238"/>
                </a:solidFill>
              </a:rPr>
              <a:t>単位インパルス</a:t>
            </a:r>
            <a:endParaRPr lang="ja-JP" sz="1450"/>
          </a:p>
          <a:p>
            <a:pPr algn="ctr"/>
            <a:r>
              <a:rPr lang="ja-JP" sz="1450" b="1">
                <a:solidFill>
                  <a:srgbClr val="263238"/>
                </a:solidFill>
              </a:rPr>
              <a:t>U(s)=1</a:t>
            </a:r>
            <a:endParaRPr lang="ja-JP" sz="1450"/>
          </a:p>
        </p:txBody>
      </p:sp>
      <p:sp>
        <p:nvSpPr>
          <p:cNvPr id="7" name="指数入力 e^(−at)"/>
          <p:cNvSpPr/>
          <p:nvPr/>
        </p:nvSpPr>
        <p:spPr>
          <a:xfrm>
            <a:off x="5257800" y="1078992"/>
            <a:ext cx="2057400" cy="96012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AAB4BE"/>
            </a:solidFill>
          </a:ln>
        </p:spPr>
      </p:sp>
      <p:sp>
        <p:nvSpPr>
          <p:cNvPr id="8" name="指数入力 e^(−at)t"/>
          <p:cNvSpPr txBox="1"/>
          <p:nvPr/>
        </p:nvSpPr>
        <p:spPr>
          <a:xfrm>
            <a:off x="5330952" y="1170432"/>
            <a:ext cx="1911095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ctr"/>
            <a:r>
              <a:rPr lang="ja-JP" sz="1450" b="1">
                <a:solidFill>
                  <a:srgbClr val="263238"/>
                </a:solidFill>
              </a:rPr>
              <a:t>指数入力 e^(−at)</a:t>
            </a:r>
            <a:endParaRPr lang="ja-JP" sz="1450"/>
          </a:p>
          <a:p>
            <a:pPr algn="ctr"/>
            <a:r>
              <a:rPr lang="ja-JP" sz="1450" b="1">
                <a:solidFill>
                  <a:srgbClr val="263238"/>
                </a:solidFill>
              </a:rPr>
              <a:t>U(s)=1/(s+a)</a:t>
            </a:r>
            <a:endParaRPr lang="ja-JP" sz="1450"/>
          </a:p>
        </p:txBody>
      </p:sp>
      <p:cxnSp>
        <p:nvCxnSpPr>
          <p:cNvPr id="9" name="Line 9"/>
          <p:cNvCxnSpPr/>
          <p:nvPr/>
        </p:nvCxnSpPr>
        <p:spPr>
          <a:xfrm>
            <a:off x="7543800" y="1554480"/>
            <a:ext cx="685800" cy="914"/>
          </a:xfrm>
          <a:prstGeom prst="line">
            <a:avLst/>
          </a:prstGeom>
          <a:ln w="22000">
            <a:solidFill>
              <a:srgbClr val="6C7A89"/>
            </a:solidFill>
            <a:tailEnd type="triangle"/>
            <a:headEnd type="none"/>
          </a:ln>
        </p:spPr>
      </p:cxnSp>
      <p:sp>
        <p:nvSpPr>
          <p:cNvPr id="10" name="Flow"/>
          <p:cNvSpPr/>
          <p:nvPr/>
        </p:nvSpPr>
        <p:spPr>
          <a:xfrm>
            <a:off x="8321040" y="1078992"/>
            <a:ext cx="3154680" cy="96012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AAB4BE"/>
            </a:solidFill>
          </a:ln>
        </p:spPr>
      </p:sp>
      <p:sp>
        <p:nvSpPr>
          <p:cNvPr id="11" name="FlowText"/>
          <p:cNvSpPr txBox="1"/>
          <p:nvPr/>
        </p:nvSpPr>
        <p:spPr>
          <a:xfrm>
            <a:off x="8394192" y="1170432"/>
            <a:ext cx="3008376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ctr"/>
            <a:r>
              <a:rPr lang="ja-JP" sz="1450" b="1">
                <a:solidFill>
                  <a:srgbClr val="263238"/>
                </a:solidFill>
              </a:rPr>
              <a:t>Y(s)=G(s)U(s)</a:t>
            </a:r>
            <a:endParaRPr lang="ja-JP" sz="1450"/>
          </a:p>
          <a:p>
            <a:pPr algn="ctr"/>
            <a:r>
              <a:rPr lang="ja-JP" sz="1450" b="1">
                <a:solidFill>
                  <a:srgbClr val="263238"/>
                </a:solidFill>
              </a:rPr>
              <a:t>→ 部分分数 → 逆Laplace</a:t>
            </a:r>
            <a:endParaRPr lang="ja-JP" sz="1450"/>
          </a:p>
        </p:txBody>
      </p:sp>
      <p:sp>
        <p:nvSpPr>
          <p:cNvPr id="12" name="Example1"/>
          <p:cNvSpPr/>
          <p:nvPr/>
        </p:nvSpPr>
        <p:spPr>
          <a:xfrm>
            <a:off x="502920" y="2423160"/>
            <a:ext cx="5394960" cy="199339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BAC4CE"/>
            </a:solidFill>
          </a:ln>
        </p:spPr>
      </p:sp>
      <p:sp>
        <p:nvSpPr>
          <p:cNvPr id="13" name="Example1Text"/>
          <p:cNvSpPr txBox="1"/>
          <p:nvPr/>
        </p:nvSpPr>
        <p:spPr>
          <a:xfrm>
            <a:off x="658368" y="2542032"/>
            <a:ext cx="5074920" cy="1755648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600" b="0">
                <a:solidFill>
                  <a:srgbClr val="222222"/>
                </a:solidFill>
              </a:rPr>
              <a:t>例：G(s)=4/(s+4)</a:t>
            </a:r>
            <a:endParaRPr lang="ja-JP" sz="1600"/>
          </a:p>
          <a:p>
            <a:pPr algn="l"/>
            <a:r>
              <a:rPr lang="ja-JP" sz="1600" b="0">
                <a:solidFill>
                  <a:srgbClr val="222222"/>
                </a:solidFill>
              </a:rPr>
              <a:t>インパルス：y(t)=4e^(−4t)</a:t>
            </a:r>
            <a:endParaRPr lang="ja-JP" sz="1600"/>
          </a:p>
          <a:p>
            <a:pPr algn="l"/>
            <a:r>
              <a:rPr lang="ja-JP" sz="1600" b="0">
                <a:solidFill>
                  <a:srgbClr val="222222"/>
                </a:solidFill>
              </a:rPr>
              <a:t>ステップ：y(t)=1−e^(−4t)</a:t>
            </a:r>
            <a:endParaRPr lang="ja-JP" sz="1600"/>
          </a:p>
          <a:p>
            <a:pPr algn="l"/>
            <a:r>
              <a:rPr lang="ja-JP" sz="1600" b="0">
                <a:solidFill>
                  <a:srgbClr val="222222"/>
                </a:solidFill>
              </a:rPr>
              <a:t>指数 e^(−2t)：y(t)=2e^(−2t)−2e^(−4t)</a:t>
            </a:r>
            <a:endParaRPr lang="ja-JP" sz="1600"/>
          </a:p>
        </p:txBody>
      </p:sp>
      <p:sp>
        <p:nvSpPr>
          <p:cNvPr id="14" name="Example2"/>
          <p:cNvSpPr/>
          <p:nvPr/>
        </p:nvSpPr>
        <p:spPr>
          <a:xfrm>
            <a:off x="6199632" y="2423160"/>
            <a:ext cx="5257800" cy="1993392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D8B25B"/>
            </a:solidFill>
          </a:ln>
        </p:spPr>
      </p:sp>
      <p:sp>
        <p:nvSpPr>
          <p:cNvPr id="15" name="Example2Text"/>
          <p:cNvSpPr txBox="1"/>
          <p:nvPr/>
        </p:nvSpPr>
        <p:spPr>
          <a:xfrm>
            <a:off x="6355080" y="2542032"/>
            <a:ext cx="4937760" cy="1755648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600" b="0">
                <a:solidFill>
                  <a:srgbClr val="6B4F00"/>
                </a:solidFill>
              </a:rPr>
              <a:t>複合：Y/R=4/(s+5)、単位ステップ</a:t>
            </a:r>
            <a:endParaRPr lang="ja-JP" sz="1600"/>
          </a:p>
          <a:p>
            <a:pPr algn="l"/>
            <a:r>
              <a:rPr lang="ja-JP" sz="1600" b="0">
                <a:solidFill>
                  <a:srgbClr val="6B4F00"/>
                </a:solidFill>
              </a:rPr>
              <a:t>y(t)=0.8(1−e^(−5t))</a:t>
            </a:r>
            <a:endParaRPr lang="ja-JP" sz="1600"/>
          </a:p>
          <a:p>
            <a:pPr algn="l"/>
            <a:r>
              <a:rPr lang="ja-JP" sz="1600" b="0">
                <a:solidFill>
                  <a:srgbClr val="6B4F00"/>
                </a:solidFill>
              </a:rPr>
              <a:t>y(0.4)≈0.692　y(∞)=0.8</a:t>
            </a:r>
            <a:endParaRPr lang="ja-JP" sz="1600"/>
          </a:p>
          <a:p>
            <a:pPr algn="l"/>
            <a:r>
              <a:rPr lang="ja-JP" sz="1600" b="0">
                <a:solidFill>
                  <a:srgbClr val="6B4F00"/>
                </a:solidFill>
              </a:rPr>
              <a:t>e(∞)=1−0.8=0.2</a:t>
            </a:r>
            <a:endParaRPr lang="ja-JP" sz="1600"/>
          </a:p>
        </p:txBody>
      </p:sp>
      <p:sp>
        <p:nvSpPr>
          <p:cNvPr id="16" name="Final"/>
          <p:cNvSpPr txBox="1"/>
          <p:nvPr/>
        </p:nvSpPr>
        <p:spPr>
          <a:xfrm>
            <a:off x="548640" y="4773168"/>
            <a:ext cx="10927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550" b="0">
                <a:solidFill>
                  <a:srgbClr val="17365D"/>
                </a:solidFill>
              </a:rPr>
              <a:t>最終値の定理：y(∞)=lim[s→0] sY(s)（応答が有限値へ収束する条件で使用）</a:t>
            </a:r>
            <a:endParaRPr lang="ja-JP" sz="1550"/>
          </a:p>
          <a:p>
            <a:pPr algn="l"/>
            <a:r>
              <a:rPr lang="ja-JP" sz="1550" b="0">
                <a:solidFill>
                  <a:srgbClr val="17365D"/>
                </a:solidFill>
              </a:rPr>
              <a:t>出力の定常値 y(∞) と定常偏差 e(∞) を取り違えない。</a:t>
            </a:r>
            <a:endParaRPr lang="ja-JP" sz="1550"/>
          </a:p>
        </p:txBody>
      </p:sp>
      <p:sp>
        <p:nvSpPr>
          <p:cNvPr id="17" name="footer"/>
          <p:cNvSpPr txBox="1"/>
          <p:nvPr/>
        </p:nvSpPr>
        <p:spPr>
          <a:xfrm>
            <a:off x="502920" y="60533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350" b="0">
                <a:solidFill>
                  <a:srgbClr val="555555"/>
                </a:solidFill>
              </a:rPr>
              <a:t>二種二次は「入力種別 → Y(s) → 逆変換 → 指定時刻・最終値」まで途中式を採点可能に書く。</a:t>
            </a:r>
            <a:endParaRPr lang="ja-JP"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2800" b="1">
                <a:solidFill>
                  <a:srgbClr val="17365D"/>
                </a:solidFill>
              </a:rPr>
              <a:t>Topic 18｜本試験での解法手順と固定EXAM_ALIGNMENT</a:t>
            </a:r>
            <a:endParaRPr lang="ja-JP" sz="2800"/>
          </a:p>
        </p:txBody>
      </p:sp>
      <p:sp>
        <p:nvSpPr>
          <p:cNvPr id="3" name="step"/>
          <p:cNvSpPr/>
          <p:nvPr/>
        </p:nvSpPr>
        <p:spPr>
          <a:xfrm>
            <a:off x="502920" y="1051560"/>
            <a:ext cx="1627632" cy="6858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7A9CC6"/>
            </a:solidFill>
          </a:ln>
        </p:spPr>
      </p:sp>
      <p:sp>
        <p:nvSpPr>
          <p:cNvPr id="4" name="stept"/>
          <p:cNvSpPr txBox="1"/>
          <p:nvPr/>
        </p:nvSpPr>
        <p:spPr>
          <a:xfrm>
            <a:off x="548640" y="1161288"/>
            <a:ext cx="1536192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ctr"/>
            <a:r>
              <a:rPr lang="ja-JP" sz="1250" b="1">
                <a:solidFill>
                  <a:srgbClr val="17365D"/>
                </a:solidFill>
              </a:rPr>
              <a:t>① 入力を確認</a:t>
            </a:r>
            <a:endParaRPr lang="ja-JP" sz="1250"/>
          </a:p>
        </p:txBody>
      </p:sp>
      <p:cxnSp>
        <p:nvCxnSpPr>
          <p:cNvPr id="5" name="Line 5"/>
          <p:cNvCxnSpPr/>
          <p:nvPr/>
        </p:nvCxnSpPr>
        <p:spPr>
          <a:xfrm>
            <a:off x="2139696" y="1389888"/>
            <a:ext cx="210312" cy="914"/>
          </a:xfrm>
          <a:prstGeom prst="line">
            <a:avLst/>
          </a:prstGeom>
          <a:ln w="18000">
            <a:solidFill>
              <a:srgbClr val="7A9CC6"/>
            </a:solidFill>
            <a:tailEnd type="triangle"/>
            <a:headEnd type="none"/>
          </a:ln>
        </p:spPr>
      </p:cxnSp>
      <p:sp>
        <p:nvSpPr>
          <p:cNvPr id="6" name="step"/>
          <p:cNvSpPr/>
          <p:nvPr/>
        </p:nvSpPr>
        <p:spPr>
          <a:xfrm>
            <a:off x="2377439" y="1051560"/>
            <a:ext cx="1627632" cy="6858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7A9CC6"/>
            </a:solidFill>
          </a:ln>
        </p:spPr>
      </p:sp>
      <p:sp>
        <p:nvSpPr>
          <p:cNvPr id="7" name="stept"/>
          <p:cNvSpPr txBox="1"/>
          <p:nvPr/>
        </p:nvSpPr>
        <p:spPr>
          <a:xfrm>
            <a:off x="2423159" y="1161288"/>
            <a:ext cx="1536192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ctr"/>
            <a:r>
              <a:rPr lang="ja-JP" sz="1250" b="1">
                <a:solidFill>
                  <a:srgbClr val="17365D"/>
                </a:solidFill>
              </a:rPr>
              <a:t>② 分母を正規化</a:t>
            </a:r>
            <a:endParaRPr lang="ja-JP" sz="1250"/>
          </a:p>
        </p:txBody>
      </p:sp>
      <p:cxnSp>
        <p:nvCxnSpPr>
          <p:cNvPr id="8" name="Line 8"/>
          <p:cNvCxnSpPr/>
          <p:nvPr/>
        </p:nvCxnSpPr>
        <p:spPr>
          <a:xfrm>
            <a:off x="4014215" y="1389888"/>
            <a:ext cx="210311" cy="914"/>
          </a:xfrm>
          <a:prstGeom prst="line">
            <a:avLst/>
          </a:prstGeom>
          <a:ln w="18000">
            <a:solidFill>
              <a:srgbClr val="7A9CC6"/>
            </a:solidFill>
            <a:tailEnd type="triangle"/>
            <a:headEnd type="none"/>
          </a:ln>
        </p:spPr>
      </p:cxnSp>
      <p:sp>
        <p:nvSpPr>
          <p:cNvPr id="9" name="step"/>
          <p:cNvSpPr/>
          <p:nvPr/>
        </p:nvSpPr>
        <p:spPr>
          <a:xfrm>
            <a:off x="4251959" y="1051560"/>
            <a:ext cx="1627632" cy="6858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7A9CC6"/>
            </a:solidFill>
          </a:ln>
        </p:spPr>
      </p:sp>
      <p:sp>
        <p:nvSpPr>
          <p:cNvPr id="10" name="stept"/>
          <p:cNvSpPr txBox="1"/>
          <p:nvPr/>
        </p:nvSpPr>
        <p:spPr>
          <a:xfrm>
            <a:off x="4297679" y="1161288"/>
            <a:ext cx="1536192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ctr"/>
            <a:r>
              <a:rPr lang="ja-JP" sz="1250" b="1">
                <a:solidFill>
                  <a:srgbClr val="17365D"/>
                </a:solidFill>
              </a:rPr>
              <a:t>③ Y=GU</a:t>
            </a:r>
            <a:endParaRPr lang="ja-JP" sz="1250"/>
          </a:p>
        </p:txBody>
      </p:sp>
      <p:cxnSp>
        <p:nvCxnSpPr>
          <p:cNvPr id="11" name="Line 11"/>
          <p:cNvCxnSpPr/>
          <p:nvPr/>
        </p:nvCxnSpPr>
        <p:spPr>
          <a:xfrm>
            <a:off x="5888736" y="1389888"/>
            <a:ext cx="210312" cy="914"/>
          </a:xfrm>
          <a:prstGeom prst="line">
            <a:avLst/>
          </a:prstGeom>
          <a:ln w="18000">
            <a:solidFill>
              <a:srgbClr val="7A9CC6"/>
            </a:solidFill>
            <a:tailEnd type="triangle"/>
            <a:headEnd type="none"/>
          </a:ln>
        </p:spPr>
      </p:cxnSp>
      <p:sp>
        <p:nvSpPr>
          <p:cNvPr id="12" name="step"/>
          <p:cNvSpPr/>
          <p:nvPr/>
        </p:nvSpPr>
        <p:spPr>
          <a:xfrm>
            <a:off x="6126479" y="1051560"/>
            <a:ext cx="1627632" cy="6858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7A9CC6"/>
            </a:solidFill>
          </a:ln>
        </p:spPr>
      </p:sp>
      <p:sp>
        <p:nvSpPr>
          <p:cNvPr id="13" name="stept"/>
          <p:cNvSpPr txBox="1"/>
          <p:nvPr/>
        </p:nvSpPr>
        <p:spPr>
          <a:xfrm>
            <a:off x="6172199" y="1161288"/>
            <a:ext cx="1536192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ctr"/>
            <a:r>
              <a:rPr lang="ja-JP" sz="1250" b="1">
                <a:solidFill>
                  <a:srgbClr val="17365D"/>
                </a:solidFill>
              </a:rPr>
              <a:t>④ 部分分数・逆変換</a:t>
            </a:r>
            <a:endParaRPr lang="ja-JP" sz="1250"/>
          </a:p>
        </p:txBody>
      </p:sp>
      <p:cxnSp>
        <p:nvCxnSpPr>
          <p:cNvPr id="14" name="Line 14"/>
          <p:cNvCxnSpPr/>
          <p:nvPr/>
        </p:nvCxnSpPr>
        <p:spPr>
          <a:xfrm>
            <a:off x="7763255" y="1389888"/>
            <a:ext cx="210312" cy="914"/>
          </a:xfrm>
          <a:prstGeom prst="line">
            <a:avLst/>
          </a:prstGeom>
          <a:ln w="18000">
            <a:solidFill>
              <a:srgbClr val="7A9CC6"/>
            </a:solidFill>
            <a:tailEnd type="triangle"/>
            <a:headEnd type="none"/>
          </a:ln>
        </p:spPr>
      </p:cxnSp>
      <p:sp>
        <p:nvSpPr>
          <p:cNvPr id="15" name="step"/>
          <p:cNvSpPr/>
          <p:nvPr/>
        </p:nvSpPr>
        <p:spPr>
          <a:xfrm>
            <a:off x="8001000" y="1051560"/>
            <a:ext cx="1627632" cy="6858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7A9CC6"/>
            </a:solidFill>
          </a:ln>
        </p:spPr>
      </p:sp>
      <p:sp>
        <p:nvSpPr>
          <p:cNvPr id="16" name="stept"/>
          <p:cNvSpPr txBox="1"/>
          <p:nvPr/>
        </p:nvSpPr>
        <p:spPr>
          <a:xfrm>
            <a:off x="8046720" y="1161288"/>
            <a:ext cx="1536192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ctr"/>
            <a:r>
              <a:rPr lang="ja-JP" sz="1250" b="1">
                <a:solidFill>
                  <a:srgbClr val="17365D"/>
                </a:solidFill>
              </a:rPr>
              <a:t>⑤ 指定時刻/最終値</a:t>
            </a:r>
            <a:endParaRPr lang="ja-JP" sz="1250"/>
          </a:p>
        </p:txBody>
      </p:sp>
      <p:cxnSp>
        <p:nvCxnSpPr>
          <p:cNvPr id="17" name="Line 17"/>
          <p:cNvCxnSpPr/>
          <p:nvPr/>
        </p:nvCxnSpPr>
        <p:spPr>
          <a:xfrm>
            <a:off x="9637776" y="1389888"/>
            <a:ext cx="210312" cy="914"/>
          </a:xfrm>
          <a:prstGeom prst="line">
            <a:avLst/>
          </a:prstGeom>
          <a:ln w="18000">
            <a:solidFill>
              <a:srgbClr val="7A9CC6"/>
            </a:solidFill>
            <a:tailEnd type="triangle"/>
            <a:headEnd type="none"/>
          </a:ln>
        </p:spPr>
      </p:cxnSp>
      <p:sp>
        <p:nvSpPr>
          <p:cNvPr id="18" name="step"/>
          <p:cNvSpPr/>
          <p:nvPr/>
        </p:nvSpPr>
        <p:spPr>
          <a:xfrm>
            <a:off x="9875520" y="1051560"/>
            <a:ext cx="1627632" cy="6858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7A9CC6"/>
            </a:solidFill>
          </a:ln>
        </p:spPr>
      </p:sp>
      <p:sp>
        <p:nvSpPr>
          <p:cNvPr id="19" name="stept"/>
          <p:cNvSpPr txBox="1"/>
          <p:nvPr/>
        </p:nvSpPr>
        <p:spPr>
          <a:xfrm>
            <a:off x="9921240" y="1161288"/>
            <a:ext cx="1536192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ctr"/>
            <a:r>
              <a:rPr lang="ja-JP" sz="1250" b="1">
                <a:solidFill>
                  <a:srgbClr val="17365D"/>
                </a:solidFill>
              </a:rPr>
              <a:t>⑥ 定義・単位で検算</a:t>
            </a:r>
            <a:endParaRPr lang="ja-JP" sz="1250"/>
          </a:p>
        </p:txBody>
      </p:sp>
      <p:sp>
        <p:nvSpPr>
          <p:cNvPr id="20" name="MapTitle"/>
          <p:cNvSpPr txBox="1"/>
          <p:nvPr/>
        </p:nvSpPr>
        <p:spPr>
          <a:xfrm>
            <a:off x="502920" y="1993392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750" b="1">
                <a:solidFill>
                  <a:srgbClr val="333333"/>
                </a:solidFill>
              </a:rPr>
              <a:t>固定5問・12答案要素 → PowerPointでの可視化</a:t>
            </a:r>
            <a:endParaRPr lang="ja-JP" sz="1750"/>
          </a:p>
        </p:txBody>
      </p:sp>
      <p:sp>
        <p:nvSpPr>
          <p:cNvPr id="21" name="row"/>
          <p:cNvSpPr/>
          <p:nvPr/>
        </p:nvSpPr>
        <p:spPr>
          <a:xfrm>
            <a:off x="502920" y="2441448"/>
            <a:ext cx="6903720" cy="46634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4DAE0"/>
            </a:solidFill>
          </a:ln>
        </p:spPr>
      </p:sp>
      <p:sp>
        <p:nvSpPr>
          <p:cNvPr id="22" name="rowt"/>
          <p:cNvSpPr txBox="1"/>
          <p:nvPr/>
        </p:nvSpPr>
        <p:spPr>
          <a:xfrm>
            <a:off x="612648" y="2468879"/>
            <a:ext cx="6675120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320" b="0">
                <a:solidFill>
                  <a:srgbClr val="222222"/>
                </a:solidFill>
              </a:rPr>
              <a:t>H23 一次 機械 問7(2)｜速応性：立上り・整定</a:t>
            </a:r>
            <a:endParaRPr lang="ja-JP" sz="1320"/>
          </a:p>
        </p:txBody>
      </p:sp>
      <p:sp>
        <p:nvSpPr>
          <p:cNvPr id="23" name="row"/>
          <p:cNvSpPr/>
          <p:nvPr/>
        </p:nvSpPr>
        <p:spPr>
          <a:xfrm>
            <a:off x="502920" y="3008376"/>
            <a:ext cx="6903720" cy="46634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4DAE0"/>
            </a:solidFill>
          </a:ln>
        </p:spPr>
      </p:sp>
      <p:sp>
        <p:nvSpPr>
          <p:cNvPr id="24" name="rowt"/>
          <p:cNvSpPr txBox="1"/>
          <p:nvPr/>
        </p:nvSpPr>
        <p:spPr>
          <a:xfrm>
            <a:off x="612648" y="3035808"/>
            <a:ext cx="6675120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320" b="0">
                <a:solidFill>
                  <a:srgbClr val="222222"/>
                </a:solidFill>
              </a:rPr>
              <a:t>R07 二次 問4(2)(4)(5)｜定常偏差・インパルス・指定時刻</a:t>
            </a:r>
            <a:endParaRPr lang="ja-JP" sz="1320"/>
          </a:p>
        </p:txBody>
      </p:sp>
      <p:sp>
        <p:nvSpPr>
          <p:cNvPr id="25" name="row"/>
          <p:cNvSpPr/>
          <p:nvPr/>
        </p:nvSpPr>
        <p:spPr>
          <a:xfrm>
            <a:off x="502920" y="3575304"/>
            <a:ext cx="6903720" cy="46634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4DAE0"/>
            </a:solidFill>
          </a:ln>
        </p:spPr>
      </p:sp>
      <p:sp>
        <p:nvSpPr>
          <p:cNvPr id="26" name="rowt"/>
          <p:cNvSpPr txBox="1"/>
          <p:nvPr/>
        </p:nvSpPr>
        <p:spPr>
          <a:xfrm>
            <a:off x="612648" y="3602736"/>
            <a:ext cx="6675120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320" b="0">
                <a:solidFill>
                  <a:srgbClr val="222222"/>
                </a:solidFill>
              </a:rPr>
              <a:t>R06 二次 問4(2)(3)(4)｜定常値・インパルス・指数入力</a:t>
            </a:r>
            <a:endParaRPr lang="ja-JP" sz="1320"/>
          </a:p>
        </p:txBody>
      </p:sp>
      <p:sp>
        <p:nvSpPr>
          <p:cNvPr id="27" name="row"/>
          <p:cNvSpPr/>
          <p:nvPr/>
        </p:nvSpPr>
        <p:spPr>
          <a:xfrm>
            <a:off x="502920" y="4142231"/>
            <a:ext cx="6903720" cy="46634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4DAE0"/>
            </a:solidFill>
          </a:ln>
        </p:spPr>
      </p:sp>
      <p:sp>
        <p:nvSpPr>
          <p:cNvPr id="28" name="rowt"/>
          <p:cNvSpPr txBox="1"/>
          <p:nvPr/>
        </p:nvSpPr>
        <p:spPr>
          <a:xfrm>
            <a:off x="612648" y="4169663"/>
            <a:ext cx="6675120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320" b="0">
                <a:solidFill>
                  <a:srgbClr val="222222"/>
                </a:solidFill>
              </a:rPr>
              <a:t>R03 二次 問4(3)(4)｜二次系の振動条件・インパルス応答</a:t>
            </a:r>
            <a:endParaRPr lang="ja-JP" sz="1320"/>
          </a:p>
        </p:txBody>
      </p:sp>
      <p:sp>
        <p:nvSpPr>
          <p:cNvPr id="29" name="row"/>
          <p:cNvSpPr/>
          <p:nvPr/>
        </p:nvSpPr>
        <p:spPr>
          <a:xfrm>
            <a:off x="502920" y="4709160"/>
            <a:ext cx="6903720" cy="46634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4DAE0"/>
            </a:solidFill>
          </a:ln>
        </p:spPr>
      </p:sp>
      <p:sp>
        <p:nvSpPr>
          <p:cNvPr id="30" name="rowt"/>
          <p:cNvSpPr txBox="1"/>
          <p:nvPr/>
        </p:nvSpPr>
        <p:spPr>
          <a:xfrm>
            <a:off x="612648" y="4736592"/>
            <a:ext cx="6675120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320" b="0">
                <a:solidFill>
                  <a:srgbClr val="222222"/>
                </a:solidFill>
              </a:rPr>
              <a:t>H29 二次 問4(5)｜標準形・ωₙ・ζ の係数比較</a:t>
            </a:r>
            <a:endParaRPr lang="ja-JP" sz="1320"/>
          </a:p>
        </p:txBody>
      </p:sp>
      <p:sp>
        <p:nvSpPr>
          <p:cNvPr id="31" name="Gate"/>
          <p:cNvSpPr/>
          <p:nvPr/>
        </p:nvSpPr>
        <p:spPr>
          <a:xfrm>
            <a:off x="7726679" y="2194560"/>
            <a:ext cx="3749039" cy="2011680"/>
          </a:xfrm>
          <a:prstGeom prst="roundRect">
            <a:avLst/>
          </a:prstGeom>
          <a:solidFill>
            <a:srgbClr val="F2F8EE"/>
          </a:solidFill>
          <a:ln w="12700">
            <a:solidFill>
              <a:srgbClr val="8DB58B"/>
            </a:solidFill>
          </a:ln>
        </p:spPr>
      </p:sp>
      <p:sp>
        <p:nvSpPr>
          <p:cNvPr id="32" name="GateText"/>
          <p:cNvSpPr txBox="1"/>
          <p:nvPr/>
        </p:nvSpPr>
        <p:spPr>
          <a:xfrm>
            <a:off x="7900416" y="2322576"/>
            <a:ext cx="3401568" cy="1719072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ctr"/>
            <a:r>
              <a:rPr lang="ja-JP" sz="1500" b="1">
                <a:solidFill>
                  <a:srgbClr val="285B2A"/>
                </a:solidFill>
              </a:rPr>
              <a:t>品質ゲート</a:t>
            </a:r>
            <a:endParaRPr lang="ja-JP" sz="1500"/>
          </a:p>
          <a:p>
            <a:pPr algn="ctr"/>
            <a:r>
              <a:rPr lang="ja-JP" sz="1500" b="1">
                <a:solidFill>
                  <a:srgbClr val="285B2A"/>
                </a:solidFill>
              </a:rPr>
              <a:t>一次1問＋二次4問</a:t>
            </a:r>
            <a:endParaRPr lang="ja-JP" sz="1500"/>
          </a:p>
          <a:p>
            <a:pPr algn="ctr"/>
            <a:r>
              <a:rPr lang="ja-JP" sz="1500" b="1">
                <a:solidFill>
                  <a:srgbClr val="285B2A"/>
                </a:solidFill>
              </a:rPr>
              <a:t>5問・12答案要素：12/12</a:t>
            </a:r>
            <a:endParaRPr lang="ja-JP" sz="1500"/>
          </a:p>
          <a:p>
            <a:pPr algn="ctr"/>
            <a:r>
              <a:rPr lang="ja-JP" sz="1500" b="1">
                <a:solidFill>
                  <a:srgbClr val="285B2A"/>
                </a:solidFill>
              </a:rPr>
              <a:t>数値例は独立再計算済み</a:t>
            </a:r>
            <a:endParaRPr lang="ja-JP" sz="1500"/>
          </a:p>
          <a:p>
            <a:pPr algn="ctr"/>
            <a:r>
              <a:rPr lang="ja-JP" sz="1500" b="1">
                <a:solidFill>
                  <a:srgbClr val="285B2A"/>
                </a:solidFill>
              </a:rPr>
              <a:t>未確認実車値：0件</a:t>
            </a:r>
            <a:endParaRPr lang="ja-JP" sz="1500"/>
          </a:p>
        </p:txBody>
      </p:sp>
      <p:sp>
        <p:nvSpPr>
          <p:cNvPr id="33" name="Boundary"/>
          <p:cNvSpPr/>
          <p:nvPr/>
        </p:nvSpPr>
        <p:spPr>
          <a:xfrm>
            <a:off x="7726679" y="4453128"/>
            <a:ext cx="3749039" cy="1097280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D7A0A0"/>
            </a:solidFill>
          </a:ln>
        </p:spPr>
      </p:sp>
      <p:sp>
        <p:nvSpPr>
          <p:cNvPr id="34" name="BoundaryText"/>
          <p:cNvSpPr txBox="1"/>
          <p:nvPr/>
        </p:nvSpPr>
        <p:spPr>
          <a:xfrm>
            <a:off x="7882127" y="4553712"/>
            <a:ext cx="3438144" cy="877824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320" b="0">
                <a:solidFill>
                  <a:srgbClr val="7A2828"/>
                </a:solidFill>
              </a:rPr>
              <a:t>境界：Topic 19 PID／Topic 20 安定判別・周波数応答／Topic 21 再粘着は先取りしない。</a:t>
            </a:r>
            <a:endParaRPr lang="ja-JP" sz="1320"/>
          </a:p>
        </p:txBody>
      </p:sp>
      <p:sp>
        <p:nvSpPr>
          <p:cNvPr id="35" name="footer"/>
          <p:cNvSpPr txBox="1"/>
          <p:nvPr/>
        </p:nvSpPr>
        <p:spPr>
          <a:xfrm>
            <a:off x="502920" y="60533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0" rIns="80000" tIns="45000" bIns="45000"/>
          <a:lstStyle/>
          <a:p>
            <a:pPr algn="l"/>
            <a:r>
              <a:rPr lang="ja-JP" sz="1350" b="0">
                <a:solidFill>
                  <a:srgbClr val="555555"/>
                </a:solidFill>
              </a:rPr>
              <a:t>固定過去問の正答記号・完成済み個別解答は保存しない。次工程は独立再解答前ゲート。</a:t>
            </a:r>
            <a:endParaRPr lang="ja-JP" sz="13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Yu Gothic"/>
        <a:cs typeface="Arial"/>
      </a:majorFont>
      <a:minorFont>
        <a:latin typeface="Aptos"/>
        <a:ea typeface="Yu Gothic"/>
        <a:cs typeface="Arial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Topic 18 transient response</dc:title>
  <dc:creator>OpenAI</dc:creator>
  <dcterms:created xsi:type="dcterms:W3CDTF">2026-09-18T12:00:00Z</dcterms:created>
</cp:coreProperties>
</file>