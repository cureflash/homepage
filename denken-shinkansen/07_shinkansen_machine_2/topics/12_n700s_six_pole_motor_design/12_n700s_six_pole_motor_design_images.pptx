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IdLst>
    <p:sldId id="256" r:id="rId2"/>
    <p:sldId id="257" r:id="rId3"/>
    <p:sldId id="258" r:id="rId4"/>
    <p:sldId id="259" r:id="rId5"/>
  </p:sldIdLst>
  <p:sldSz cx="12192000" cy="6858000"/>
  <p:notesSz cx="6858000" cy="12192000"/>
</p:presentation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極数 → 同期速度 → すべり → 出力・トルク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一次・二次で再利用する計算鎖を一枚で固定する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36192"/>
            <a:ext cx="1865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極数・周波数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892808"/>
            <a:ext cx="186537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Pₚ, f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60320" y="1947672"/>
            <a:ext cx="201168" cy="0"/>
          </a:xfrm>
          <a:prstGeom prst="line">
            <a:avLst/>
          </a:prstGeom>
          <a:noFill/>
          <a:ln w="2794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536192"/>
            <a:ext cx="1865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同期速度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07792" y="1892808"/>
            <a:ext cx="186537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Nₛ = 120f / Pₚ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46320" y="1947672"/>
            <a:ext cx="201168" cy="0"/>
          </a:xfrm>
          <a:prstGeom prst="line">
            <a:avLst/>
          </a:prstGeom>
          <a:noFill/>
          <a:ln w="2794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536192"/>
            <a:ext cx="1865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実回転速度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93792" y="1892808"/>
            <a:ext cx="186537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 = (1−s)Nₛ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0" y="1947672"/>
            <a:ext cx="201168" cy="0"/>
          </a:xfrm>
          <a:prstGeom prst="line">
            <a:avLst/>
          </a:prstGeom>
          <a:noFill/>
          <a:ln w="2794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9792" y="1536192"/>
            <a:ext cx="1865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角速度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9792" y="1892808"/>
            <a:ext cx="186537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 = 2πN / 60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418320" y="1947672"/>
            <a:ext cx="201168" cy="0"/>
          </a:xfrm>
          <a:prstGeom prst="line">
            <a:avLst/>
          </a:prstGeom>
          <a:noFill/>
          <a:ln w="2794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141732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5792" y="1536192"/>
            <a:ext cx="18653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⑤ 出力・トルク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65792" y="1892808"/>
            <a:ext cx="186537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Pₘ = Tω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292608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3136392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136392"/>
            <a:ext cx="24688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6極・60 Hz・すべり3%（教材例）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611880"/>
            <a:ext cx="46177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Nₛ = 120×60/6 = 1200 min⁻¹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46177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 = 0.97×1200 = 1164 min⁻¹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4526280"/>
            <a:ext cx="46177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f₂ = sf = 0.03×60 = 1.8 Hz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974336"/>
            <a:ext cx="46177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電動機運転では通常 0 &lt; s &lt; 1 → N &lt; Nₛ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92608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FFDF7"/>
          </a:solidFill>
          <a:ln w="13970">
            <a:solidFill>
              <a:srgbClr val="E7D3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313639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C66A00"/>
          </a:solidFill>
          <a:ln w="12700">
            <a:solidFill>
              <a:srgbClr val="C66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136392"/>
            <a:ext cx="13258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頻出ミス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10528" y="3611880"/>
            <a:ext cx="47548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極数と極対数を取り違えない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10528" y="4005072"/>
            <a:ext cx="47548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3% → 0.03 に直す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10528" y="4398264"/>
            <a:ext cx="47548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Pₘ=Tω では同期速度でなく実回転速度 N を使う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10528" y="4791456"/>
            <a:ext cx="47548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• kW → W を変換してから N·m を求める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" y="5696712"/>
            <a:ext cx="108813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固定過去問接続: R07一次問2 / R07二次問2 / R02二次問1 / R01二次問1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同じ機械回転速度なら、6極は4極の1.5倍の周波数が必要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比較条件は「同じ N・同じ s」。未確認の歯車比・車輪径は使わない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261872"/>
            <a:ext cx="109728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5156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 = 1800 min⁻¹,  s = 2%  →  Nₛ = N/(1−s) ≒ 1836.73 min⁻¹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81635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1635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4極機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0120" y="3337560"/>
            <a:ext cx="1051560" cy="1051560"/>
          </a:xfrm>
          <a:prstGeom prst="ellipse">
            <a:avLst/>
          </a:prstGeom>
          <a:solidFill>
            <a:srgbClr val="EDF7EE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584448"/>
            <a:ext cx="10515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4P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2148840" y="3858768"/>
            <a:ext cx="822960" cy="0"/>
          </a:xfrm>
          <a:prstGeom prst="line">
            <a:avLst/>
          </a:prstGeom>
          <a:noFill/>
          <a:ln w="3048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71800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f₄ = 4×1836.73/120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≒ 61.22 Hz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260604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281635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816352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6極機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3337560"/>
            <a:ext cx="1051560" cy="1051560"/>
          </a:xfrm>
          <a:prstGeom prst="ellipse">
            <a:avLst/>
          </a:prstGeom>
          <a:solidFill>
            <a:srgbClr val="EAF2FB"/>
          </a:solidFill>
          <a:ln w="254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584448"/>
            <a:ext cx="105156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6P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7863840" y="3858768"/>
            <a:ext cx="822960" cy="0"/>
          </a:xfrm>
          <a:prstGeom prst="line">
            <a:avLst/>
          </a:prstGeom>
          <a:noFill/>
          <a:ln w="3048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686800" y="3337560"/>
            <a:ext cx="233172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f₆ = 6×1836.73/120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≒ 91.84 Hz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11880" y="5230368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3970">
            <a:solidFill>
              <a:srgbClr val="1E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5394960"/>
            <a:ext cx="45720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f₆ / f₄ = 6 / 4 = 1.5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6172200"/>
            <a:ext cx="10424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極数だけで実回転速度は決まらない。インバータ給電では f を変えられる。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設計側の確認: インバータ定格と出力密度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問題文で与えられた条件だけで判定し、N700S未確認値は実値化しない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72768"/>
            <a:ext cx="2423160" cy="329184"/>
          </a:xfrm>
          <a:prstGeom prst="roundRect">
            <a:avLst>
              <a:gd name="adj" fmla="val 50000"/>
            </a:avLst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24231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インバータ定格・短時間過負荷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8288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教材上の条件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87168"/>
            <a:ext cx="210312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定格 250 kW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103120" cy="4023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短時間 125%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2743200"/>
            <a:ext cx="868680" cy="0"/>
          </a:xfrm>
          <a:prstGeom prst="line">
            <a:avLst/>
          </a:prstGeom>
          <a:noFill/>
          <a:ln w="27940">
            <a:solidFill>
              <a:srgbClr val="1E5AA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224028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 w="13970">
            <a:solidFill>
              <a:srgbClr val="1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414016"/>
            <a:ext cx="17373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250×1.25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312.5 kW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連続要求 240 kW  → 250 kW以内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187952"/>
            <a:ext cx="47548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短時間要求 300 kW → 312.5 kW以内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864608"/>
            <a:ext cx="47548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※許容時間・電流・温度など、問題文にない条件は補完しない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3258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15727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572768"/>
            <a:ext cx="123444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出力密度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質量当たり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83880" y="20116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DF7EE"/>
          </a:solidFill>
          <a:ln w="13970">
            <a:solidFill>
              <a:srgbClr val="A9D5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2176272"/>
            <a:ext cx="2423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 / 質量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3154680"/>
            <a:ext cx="1554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体積当たり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2944368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DF7EE"/>
          </a:solidFill>
          <a:ln w="13970">
            <a:solidFill>
              <a:srgbClr val="A9D5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3108960"/>
            <a:ext cx="2423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 / 体積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9400" y="4069080"/>
            <a:ext cx="438912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同じ出力なら、小型・軽量ほど出力密度は高い。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4645152"/>
            <a:ext cx="438912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4231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ただし「6極化だけが小型軽量化の原因」とは断定しない。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6053328"/>
            <a:ext cx="1097280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固定過去問接続: H25一次問3 (1),(2)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固定5過去問・16答案要素へ接続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PowerPointも教材範囲を広げず、一次＋二次の品質ゲートを維持する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27080" cy="475488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公式過去問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417320"/>
            <a:ext cx="1280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ゲート対象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PowerPointで可視化する要求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83664"/>
            <a:ext cx="2880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R07 一次 機械 問2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883664"/>
            <a:ext cx="12801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(2),(5)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883664"/>
            <a:ext cx="5897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滑り符号 / 同期速度近傍 T∝s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23744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96896"/>
            <a:ext cx="2880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H25 一次 機械 問3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596896"/>
            <a:ext cx="12801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(1),(2)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596896"/>
            <a:ext cx="5897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P=Tω / インバータ過負荷耐量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36976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10128"/>
            <a:ext cx="2880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R07 二次 機械・制御 問2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310128"/>
            <a:ext cx="12801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(1),(3)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3310128"/>
            <a:ext cx="5897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6極・同期速度・滑り / トルク・出力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50208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23360"/>
            <a:ext cx="2880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R02 二次 機械・制御 問1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4023360"/>
            <a:ext cx="12801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(1)〜(4)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4023360"/>
            <a:ext cx="5897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同期速度 / 実回転 / 滑り速度 / f₂=sf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C9D4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36592"/>
            <a:ext cx="28803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3A5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R01 二次 機械・制御 問1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4736592"/>
            <a:ext cx="12801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A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(1)〜(4)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4736592"/>
            <a:ext cx="58978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同期速度 / すべり / f₂ / T=P/ω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5504688"/>
            <a:ext cx="10652760" cy="713232"/>
          </a:xfrm>
          <a:prstGeom prst="roundRect">
            <a:avLst>
              <a:gd name="adj" fmla="val 10256"/>
            </a:avLst>
          </a:prstGeom>
          <a:solidFill>
            <a:srgbClr val="FFFDF7"/>
          </a:solidFill>
          <a:ln w="13970">
            <a:solidFill>
              <a:srgbClr val="E7D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650992"/>
            <a:ext cx="10287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6A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境界維持: 等価回路・最大トルク・V/f/ベクトル制御・半導体損失・同期機フェーザは追加しない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6007608"/>
            <a:ext cx="103327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N700Sは「6極」を系列SPECの固定前提として式へ接続。未確認の主電動機定格・電圧・電流・歯車比・車輪径は使わない。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