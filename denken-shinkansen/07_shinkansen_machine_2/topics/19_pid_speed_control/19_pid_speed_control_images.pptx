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E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7432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1C2430"/>
                </a:solidFill>
                <a:latin typeface="Noto Sans CJK JP"/>
              </a:defRPr>
            </a:pPr>
            <a:r>
              <a:t>P・I・Dは「偏差のどこを見るか」が違う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0">
                <a:solidFill>
                  <a:srgbClr val="5A6473"/>
                </a:solidFill>
                <a:latin typeface="Noto Sans CJK JP"/>
              </a:defRPr>
            </a:pPr>
            <a:r>
              <a:t>定数項・1/s項・s項を見分けると補償器を判別できる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528816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5A6473"/>
                </a:solidFill>
                <a:latin typeface="Noto Sans CJK JP"/>
              </a:defRPr>
            </a:pPr>
            <a:r>
              <a:t>電験二種 機械・制御 / Topic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5A6473"/>
                </a:solidFill>
                <a:latin typeface="Noto Sans CJK JP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280160"/>
            <a:ext cx="3401568" cy="1993392"/>
          </a:xfrm>
          <a:prstGeom prst="round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444752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1E5A96"/>
                </a:solidFill>
                <a:latin typeface="Noto Sans CJK JP"/>
              </a:defRPr>
            </a:pPr>
            <a:r>
              <a:t>P：現在の偏差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865376"/>
            <a:ext cx="3054096" cy="438912"/>
          </a:xfrm>
          <a:prstGeom prst="roundRect">
            <a:avLst/>
          </a:prstGeom>
          <a:solidFill>
            <a:srgbClr val="E9F0F8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938528"/>
            <a:ext cx="294436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C2430"/>
                </a:solidFill>
                <a:latin typeface="Noto Sans CJK JP"/>
              </a:defRPr>
            </a:pPr>
            <a:r>
              <a:t>uP=Kp 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404872"/>
            <a:ext cx="3054096" cy="438912"/>
          </a:xfrm>
          <a:prstGeom prst="roundRect">
            <a:avLst/>
          </a:prstGeom>
          <a:solidFill>
            <a:srgbClr val="E9F0F8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478024"/>
            <a:ext cx="294436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C2430"/>
                </a:solidFill>
                <a:latin typeface="Noto Sans CJK JP"/>
              </a:defRPr>
            </a:pPr>
            <a:r>
              <a:t>C_P=Kp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962656"/>
            <a:ext cx="30175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5A6473"/>
                </a:solidFill>
                <a:latin typeface="Noto Sans CJK JP"/>
              </a:defRPr>
            </a:pPr>
            <a:r>
              <a:t>比例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9976" y="1280160"/>
            <a:ext cx="3401568" cy="1993392"/>
          </a:xfrm>
          <a:prstGeom prst="round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1444752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147D69"/>
                </a:solidFill>
                <a:latin typeface="Noto Sans CJK JP"/>
              </a:defRPr>
            </a:pPr>
            <a:r>
              <a:t>I：偏差の累積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44568" y="1865376"/>
            <a:ext cx="3054096" cy="438912"/>
          </a:xfrm>
          <a:prstGeom prst="roundRect">
            <a:avLst/>
          </a:prstGeom>
          <a:solidFill>
            <a:srgbClr val="E9F0F8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9431" y="1938528"/>
            <a:ext cx="294436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C2430"/>
                </a:solidFill>
                <a:latin typeface="Noto Sans CJK JP"/>
              </a:defRPr>
            </a:pPr>
            <a:r>
              <a:t>uI=Ki ∫e dt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44568" y="2404872"/>
            <a:ext cx="3054096" cy="438912"/>
          </a:xfrm>
          <a:prstGeom prst="roundRect">
            <a:avLst/>
          </a:prstGeom>
          <a:solidFill>
            <a:srgbClr val="E9F0F8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9431" y="2478024"/>
            <a:ext cx="294436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C2430"/>
                </a:solidFill>
                <a:latin typeface="Noto Sans CJK JP"/>
              </a:defRPr>
            </a:pPr>
            <a:r>
              <a:t>C_I=Ki/s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2856" y="2962656"/>
            <a:ext cx="30175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5A6473"/>
                </a:solidFill>
                <a:latin typeface="Noto Sans CJK JP"/>
              </a:defRPr>
            </a:pPr>
            <a:r>
              <a:t>定常偏差へ効く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93023" y="1280160"/>
            <a:ext cx="3401568" cy="1993392"/>
          </a:xfrm>
          <a:prstGeom prst="round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9327" y="1444752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AA5F14"/>
                </a:solidFill>
                <a:latin typeface="Noto Sans CJK JP"/>
              </a:defRPr>
            </a:pPr>
            <a:r>
              <a:t>D：偏差の変化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57615" y="1865376"/>
            <a:ext cx="3054096" cy="438912"/>
          </a:xfrm>
          <a:prstGeom prst="roundRect">
            <a:avLst/>
          </a:prstGeom>
          <a:solidFill>
            <a:srgbClr val="E9F0F8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1938528"/>
            <a:ext cx="294436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C2430"/>
                </a:solidFill>
                <a:latin typeface="Noto Sans CJK JP"/>
              </a:defRPr>
            </a:pPr>
            <a:r>
              <a:t>uD=Kd de/dt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57615" y="2404872"/>
            <a:ext cx="3054096" cy="438912"/>
          </a:xfrm>
          <a:prstGeom prst="roundRect">
            <a:avLst/>
          </a:prstGeom>
          <a:solidFill>
            <a:srgbClr val="E9F0F8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2478024"/>
            <a:ext cx="294436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C2430"/>
                </a:solidFill>
                <a:latin typeface="Noto Sans CJK JP"/>
              </a:defRPr>
            </a:pPr>
            <a:r>
              <a:t>C_D=Kd 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75903" y="2962656"/>
            <a:ext cx="30175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5A6473"/>
                </a:solidFill>
                <a:latin typeface="Noto Sans CJK JP"/>
              </a:defRPr>
            </a:pPr>
            <a:r>
              <a:t>過渡へ効く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3547872"/>
            <a:ext cx="11027664" cy="2414016"/>
          </a:xfrm>
          <a:prstGeom prst="round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373075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1C2430"/>
                </a:solidFill>
                <a:latin typeface="Noto Sans CJK JP"/>
              </a:defRPr>
            </a:pPr>
            <a:r>
              <a:t>補償器の判別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4133087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1E5A96"/>
                </a:solidFill>
                <a:latin typeface="Noto Sans CJK JP"/>
              </a:defRPr>
            </a:pPr>
            <a:r>
              <a:t>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72768" y="4133087"/>
            <a:ext cx="2971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1C2430"/>
                </a:solidFill>
                <a:latin typeface="Noto Sans CJK JP"/>
              </a:defRPr>
            </a:pPr>
            <a:r>
              <a:t>Kp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45152" y="4133087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A6473"/>
                </a:solidFill>
                <a:latin typeface="Noto Sans CJK JP"/>
              </a:defRPr>
            </a:pPr>
            <a:r>
              <a:t>比例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" y="4535424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1E5A96"/>
                </a:solidFill>
                <a:latin typeface="Noto Sans CJK JP"/>
              </a:defRPr>
            </a:pPr>
            <a:r>
              <a:t>PI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72768" y="4535424"/>
            <a:ext cx="2971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1C2430"/>
                </a:solidFill>
                <a:latin typeface="Noto Sans CJK JP"/>
              </a:defRPr>
            </a:pPr>
            <a:r>
              <a:t>Kp+Ki/s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45152" y="4535424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A6473"/>
                </a:solidFill>
                <a:latin typeface="Noto Sans CJK JP"/>
              </a:defRPr>
            </a:pPr>
            <a:r>
              <a:t>比例＋積分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" y="4937759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1E5A96"/>
                </a:solidFill>
                <a:latin typeface="Noto Sans CJK JP"/>
              </a:defRPr>
            </a:pPr>
            <a:r>
              <a:t>PD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72768" y="4937759"/>
            <a:ext cx="2971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1C2430"/>
                </a:solidFill>
                <a:latin typeface="Noto Sans CJK JP"/>
              </a:defRPr>
            </a:pPr>
            <a:r>
              <a:t>Kp+Kd 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45152" y="4937759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A6473"/>
                </a:solidFill>
                <a:latin typeface="Noto Sans CJK JP"/>
              </a:defRPr>
            </a:pPr>
            <a:r>
              <a:t>比例＋微分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" y="5340096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1E5A96"/>
                </a:solidFill>
                <a:latin typeface="Noto Sans CJK JP"/>
              </a:defRPr>
            </a:pPr>
            <a:r>
              <a:t>PID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72768" y="5340096"/>
            <a:ext cx="2971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1C2430"/>
                </a:solidFill>
                <a:latin typeface="Noto Sans CJK JP"/>
              </a:defRPr>
            </a:pPr>
            <a:r>
              <a:t>Kp+Ki/s+Kd 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45152" y="5340096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A6473"/>
                </a:solidFill>
                <a:latin typeface="Noto Sans CJK JP"/>
              </a:defRPr>
            </a:pPr>
            <a:r>
              <a:t>比例＋積分＋微分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86600" y="373075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C2430"/>
                </a:solidFill>
                <a:latin typeface="Noto Sans CJK JP"/>
              </a:defRPr>
            </a:pPr>
            <a:r>
              <a:t>時間定数表示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059168" y="4096512"/>
            <a:ext cx="4023360" cy="475488"/>
          </a:xfrm>
          <a:prstGeom prst="roundRect">
            <a:avLst/>
          </a:prstGeom>
          <a:solidFill>
            <a:srgbClr val="E8F4F1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14031" y="4169664"/>
            <a:ext cx="391363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C2430"/>
                </a:solidFill>
                <a:latin typeface="Noto Sans CJK JP"/>
              </a:defRPr>
            </a:pPr>
            <a:r>
              <a:t>C(s)=Kp(1+1/(Ti s)+Td s)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69480" y="4736592"/>
            <a:ext cx="36118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C2430"/>
                </a:solidFill>
                <a:latin typeface="Noto Sans CJK JP"/>
              </a:defRPr>
            </a:pPr>
            <a:r>
              <a:t>Ki=Kp/Ti   Kd=Kp·Td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69480" y="5047488"/>
            <a:ext cx="36118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C2430"/>
                </a:solidFill>
                <a:latin typeface="Noto Sans CJK JP"/>
              </a:defRPr>
            </a:pPr>
            <a:r>
              <a:t>Ti=Kp/Ki   Td=Kd/Kp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95744" y="5449824"/>
            <a:ext cx="3977639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5A6473"/>
                </a:solidFill>
                <a:latin typeface="Noto Sans CJK JP"/>
              </a:defRPr>
            </a:pPr>
            <a:r>
              <a:t>Kp：比例ゲイン / Ti：積分時間 / Td：微分時間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E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7432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1C2430"/>
                </a:solidFill>
                <a:latin typeface="Noto Sans CJK JP"/>
              </a:defRPr>
            </a:pPr>
            <a:r>
              <a:t>定常偏差は E(s) を作って最終値の定理で判定する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0">
                <a:solidFill>
                  <a:srgbClr val="5A6473"/>
                </a:solidFill>
                <a:latin typeface="Noto Sans CJK JP"/>
              </a:defRPr>
            </a:pPr>
            <a:r>
              <a:t>出力Y(s)ではなく偏差E(s)の最終値を求める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528816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5A6473"/>
                </a:solidFill>
                <a:latin typeface="Noto Sans CJK JP"/>
              </a:defRPr>
            </a:pPr>
            <a:r>
              <a:t>電験二種 機械・制御 / Topic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5A6473"/>
                </a:solidFill>
                <a:latin typeface="Noto Sans CJK JP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243584"/>
            <a:ext cx="5193792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1C2430"/>
                </a:solidFill>
                <a:latin typeface="Noto Sans CJK JP"/>
              </a:defRPr>
            </a:pPr>
            <a:r>
              <a:t>単位負帰還の基本式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1865376"/>
            <a:ext cx="4590288" cy="530352"/>
          </a:xfrm>
          <a:prstGeom prst="roundRect">
            <a:avLst/>
          </a:prstGeom>
          <a:solidFill>
            <a:srgbClr val="E9F0F8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938528"/>
            <a:ext cx="4480559" cy="42062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C2430"/>
                </a:solidFill>
                <a:latin typeface="Noto Sans CJK JP"/>
              </a:defRPr>
            </a:pPr>
            <a:r>
              <a:t>E(s)=R(s)/{1+C(s)G(s)}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560320"/>
            <a:ext cx="4590288" cy="530352"/>
          </a:xfrm>
          <a:prstGeom prst="roundRect">
            <a:avLst/>
          </a:prstGeom>
          <a:solidFill>
            <a:srgbClr val="E8F4F1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2633472"/>
            <a:ext cx="4480559" cy="42062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C2430"/>
                </a:solidFill>
                <a:latin typeface="Noto Sans CJK JP"/>
              </a:defRPr>
            </a:pPr>
            <a:r>
              <a:t>e(∞)=lim[s→0] sE(s)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401568"/>
            <a:ext cx="42976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C2430"/>
                </a:solidFill>
                <a:latin typeface="Noto Sans CJK JP"/>
              </a:defRPr>
            </a:pPr>
            <a:r>
              <a:t>単位ステップ：R(s)=1/s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49039"/>
            <a:ext cx="42976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C2430"/>
                </a:solidFill>
                <a:latin typeface="Noto Sans CJK JP"/>
              </a:defRPr>
            </a:pPr>
            <a:r>
              <a:t>単位ランプ：R(s)=1/s²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315968"/>
            <a:ext cx="4389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A6473"/>
                </a:solidFill>
                <a:latin typeface="Noto Sans CJK JP"/>
              </a:defRPr>
            </a:pPr>
            <a:r>
              <a:t>最終値の定理は応答が収束する条件で使う。</a:t>
            </a:r>
            <a:br/>
            <a:r>
              <a:t>一般の安定判別はTopic 20へ送る。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16752" y="1243584"/>
            <a:ext cx="55778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1072" y="14630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C2430"/>
                </a:solidFill>
                <a:latin typeface="Noto Sans CJK JP"/>
              </a:defRPr>
            </a:pPr>
            <a:r>
              <a:t>教材用プラント  G(s)=1/(2s+1)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1975104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E5A96"/>
                </a:solidFill>
                <a:latin typeface="Noto Sans CJK JP"/>
              </a:defRPr>
            </a:pPr>
            <a:r>
              <a:t>P制御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05472" y="1883664"/>
            <a:ext cx="1554480" cy="420624"/>
          </a:xfrm>
          <a:prstGeom prst="roundRect">
            <a:avLst/>
          </a:prstGeom>
          <a:solidFill>
            <a:srgbClr val="E9F0F8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60336" y="1956816"/>
            <a:ext cx="14447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C2430"/>
                </a:solidFill>
                <a:latin typeface="Noto Sans CJK JP"/>
              </a:defRPr>
            </a:pPr>
            <a:r>
              <a:t>C(s)=Kp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2450592"/>
            <a:ext cx="45720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C2430"/>
                </a:solidFill>
                <a:latin typeface="Noto Sans CJK JP"/>
              </a:defRPr>
            </a:pPr>
            <a:r>
              <a:t>ステップ：e(∞)=1/(1+Kp)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2761488"/>
            <a:ext cx="45720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C2430"/>
                </a:solidFill>
                <a:latin typeface="Noto Sans CJK JP"/>
              </a:defRPr>
            </a:pPr>
            <a:r>
              <a:t>閉ループ時定数：Tcl=2/(1+Kp)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340156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47D69"/>
                </a:solidFill>
                <a:latin typeface="Noto Sans CJK JP"/>
              </a:defRPr>
            </a:pPr>
            <a:r>
              <a:t>PI制御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05472" y="3300984"/>
            <a:ext cx="2377440" cy="420624"/>
          </a:xfrm>
          <a:prstGeom prst="roundRect">
            <a:avLst/>
          </a:prstGeom>
          <a:solidFill>
            <a:srgbClr val="E8F4F1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0336" y="3374136"/>
            <a:ext cx="226771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C2430"/>
                </a:solidFill>
                <a:latin typeface="Noto Sans CJK JP"/>
              </a:defRPr>
            </a:pPr>
            <a:r>
              <a:t>C(s)=Kp+Ki/s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45936" y="3858768"/>
            <a:ext cx="475488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C2430"/>
                </a:solidFill>
                <a:latin typeface="Noto Sans CJK JP"/>
              </a:defRPr>
            </a:pPr>
            <a:r>
              <a:t>ステップ：e(∞)=0（収束する教材モデル）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45936" y="4187952"/>
            <a:ext cx="45720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C2430"/>
                </a:solidFill>
                <a:latin typeface="Noto Sans CJK JP"/>
              </a:defRPr>
            </a:pPr>
            <a:r>
              <a:t>ランプ：e(∞)=1/Ki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45936" y="4718304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5A6473"/>
                </a:solidFill>
                <a:latin typeface="Noto Sans CJK JP"/>
              </a:defRPr>
            </a:pPr>
            <a:r>
              <a:t>積分項があれば全入力で偏差0、とは限らない。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989320"/>
            <a:ext cx="10698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5A6473"/>
                </a:solidFill>
                <a:latin typeface="Noto Sans CJK JP"/>
              </a:defRPr>
            </a:pPr>
            <a:r>
              <a:t>接続：R07二次（PI判別・E(s)・ステップ/ランプ偏差） / R02二次（P制御・定常偏差）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E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7432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1C2430"/>
                </a:solidFill>
                <a:latin typeface="Noto Sans CJK JP"/>
              </a:defRPr>
            </a:pPr>
            <a:r>
              <a:t>Kp・Ki・Kdは「1つずつ」変えて速度応答を比較する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0">
                <a:solidFill>
                  <a:srgbClr val="5A6473"/>
                </a:solidFill>
                <a:latin typeface="Noto Sans CJK JP"/>
              </a:defRPr>
            </a:pPr>
            <a:r>
              <a:t>教材用仮定モデル：G(s)=1/(2s+1)、単位負帰還・単位ステップ。実車PID値ではない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528816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5A6473"/>
                </a:solidFill>
                <a:latin typeface="Noto Sans CJK JP"/>
              </a:defRPr>
            </a:pPr>
            <a:r>
              <a:t>電験二種 機械・制御 / Topic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5A6473"/>
                </a:solidFill>
                <a:latin typeface="Noto Sans CJK JP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389888"/>
            <a:ext cx="3438144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3" y="1572768"/>
            <a:ext cx="3108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C2430"/>
                </a:solidFill>
                <a:latin typeface="Noto Sans CJK JP"/>
              </a:defRPr>
            </a:pPr>
            <a:r>
              <a:t>Kpだけを変更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96112" y="3767328"/>
            <a:ext cx="2633472" cy="0"/>
          </a:xfrm>
          <a:prstGeom prst="line">
            <a:avLst/>
          </a:prstGeom>
          <a:ln w="10160">
            <a:solidFill>
              <a:srgbClr val="1C24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96112" y="2011680"/>
            <a:ext cx="0" cy="1755648"/>
          </a:xfrm>
          <a:prstGeom prst="line">
            <a:avLst/>
          </a:prstGeom>
          <a:ln w="10160">
            <a:solidFill>
              <a:srgbClr val="1C24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96112" y="2670048"/>
            <a:ext cx="2633472" cy="0"/>
          </a:xfrm>
          <a:prstGeom prst="line">
            <a:avLst/>
          </a:prstGeom>
          <a:ln w="7620">
            <a:solidFill>
              <a:srgbClr val="5A647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896112" y="3470049"/>
            <a:ext cx="48767" cy="77823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944879" y="3385651"/>
            <a:ext cx="48769" cy="84398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993648" y="3298316"/>
            <a:ext cx="48767" cy="87335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042415" y="3211041"/>
            <a:ext cx="48769" cy="87275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091184" y="3126222"/>
            <a:ext cx="48768" cy="84819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139952" y="3045713"/>
            <a:ext cx="48768" cy="80509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188720" y="2970876"/>
            <a:ext cx="48768" cy="74837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237488" y="2902647"/>
            <a:ext cx="48768" cy="68229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286256" y="2841593"/>
            <a:ext cx="48768" cy="61054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335024" y="2787969"/>
            <a:ext cx="48767" cy="53624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383791" y="2741775"/>
            <a:ext cx="48769" cy="46194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432560" y="2702806"/>
            <a:ext cx="48768" cy="38969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481328" y="2670698"/>
            <a:ext cx="48768" cy="32108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530096" y="2644970"/>
            <a:ext cx="48768" cy="25728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578864" y="2625061"/>
            <a:ext cx="48768" cy="19909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627632" y="2610360"/>
            <a:ext cx="48768" cy="14701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676400" y="2600237"/>
            <a:ext cx="48768" cy="10123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725168" y="2594058"/>
            <a:ext cx="48768" cy="6179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773936" y="2591207"/>
            <a:ext cx="48767" cy="2851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1822703" y="2591101"/>
            <a:ext cx="48769" cy="106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871472" y="2591101"/>
            <a:ext cx="48768" cy="2095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920240" y="2593196"/>
            <a:ext cx="48768" cy="3798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969008" y="2596994"/>
            <a:ext cx="48768" cy="5059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017776" y="2602053"/>
            <a:ext cx="48767" cy="5927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066543" y="2607980"/>
            <a:ext cx="48769" cy="6459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115312" y="2614439"/>
            <a:ext cx="48768" cy="6708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164080" y="2621147"/>
            <a:ext cx="48768" cy="6720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212848" y="2627867"/>
            <a:ext cx="48768" cy="6546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261616" y="2634413"/>
            <a:ext cx="48767" cy="6225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310383" y="2640638"/>
            <a:ext cx="48769" cy="5797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359152" y="2646435"/>
            <a:ext cx="48767" cy="5293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407919" y="2651728"/>
            <a:ext cx="48769" cy="4745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456688" y="2656473"/>
            <a:ext cx="48768" cy="4173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505456" y="2660646"/>
            <a:ext cx="48767" cy="3602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554223" y="2664248"/>
            <a:ext cx="48769" cy="3044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602992" y="2667292"/>
            <a:ext cx="48767" cy="2513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2651759" y="2669805"/>
            <a:ext cx="48769" cy="2020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2700528" y="2671825"/>
            <a:ext cx="48767" cy="1567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2749295" y="2673392"/>
            <a:ext cx="48769" cy="1164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2798064" y="2674556"/>
            <a:ext cx="48768" cy="806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2846832" y="2675362"/>
            <a:ext cx="48768" cy="500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2895600" y="2675862"/>
            <a:ext cx="48768" cy="239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2944368" y="2676101"/>
            <a:ext cx="48768" cy="25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2993136" y="2675978"/>
            <a:ext cx="48768" cy="148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041904" y="2675695"/>
            <a:ext cx="48768" cy="283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090672" y="2675314"/>
            <a:ext cx="48768" cy="381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139440" y="2674862"/>
            <a:ext cx="48768" cy="452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188208" y="2674368"/>
            <a:ext cx="48768" cy="494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236976" y="2673853"/>
            <a:ext cx="48768" cy="515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285744" y="2673336"/>
            <a:ext cx="48768" cy="517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334512" y="2672831"/>
            <a:ext cx="48768" cy="505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383280" y="2672349"/>
            <a:ext cx="48768" cy="482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432048" y="2671900"/>
            <a:ext cx="48768" cy="449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480816" y="2671490"/>
            <a:ext cx="48768" cy="410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804672" y="391363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70" b="1">
                <a:solidFill>
                  <a:srgbClr val="1E5A96"/>
                </a:solidFill>
                <a:latin typeface="Noto Sans CJK JP"/>
              </a:defRPr>
            </a:pPr>
            <a:r>
              <a:t>Kp=1</a:t>
            </a:r>
          </a:p>
        </p:txBody>
      </p:sp>
      <p:cxnSp>
        <p:nvCxnSpPr>
          <p:cNvPr id="68" name="Connector 67"/>
          <p:cNvCxnSpPr/>
          <p:nvPr/>
        </p:nvCxnSpPr>
        <p:spPr>
          <a:xfrm flipV="1">
            <a:off x="896112" y="3391333"/>
            <a:ext cx="48767" cy="156539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944879" y="3260285"/>
            <a:ext cx="48769" cy="131048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993648" y="3150933"/>
            <a:ext cx="48767" cy="109352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042415" y="3059989"/>
            <a:ext cx="48769" cy="90944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1091184" y="2984617"/>
            <a:ext cx="48768" cy="75372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1139952" y="2922375"/>
            <a:ext cx="48768" cy="62242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1188720" y="2871170"/>
            <a:ext cx="48768" cy="51205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1237488" y="2829215"/>
            <a:ext cx="48768" cy="41955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286256" y="2794986"/>
            <a:ext cx="48768" cy="34229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335024" y="2767189"/>
            <a:ext cx="48767" cy="27797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383791" y="2744729"/>
            <a:ext cx="48769" cy="22460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432560" y="2726680"/>
            <a:ext cx="48768" cy="18049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481328" y="2712265"/>
            <a:ext cx="48768" cy="14415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530096" y="2700831"/>
            <a:ext cx="48768" cy="11434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1578864" y="2691832"/>
            <a:ext cx="48768" cy="8999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1627632" y="2684814"/>
            <a:ext cx="48768" cy="7018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1676400" y="2679398"/>
            <a:ext cx="48768" cy="5416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1725168" y="2675273"/>
            <a:ext cx="48768" cy="4125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1773936" y="2672181"/>
            <a:ext cx="48767" cy="3092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1822703" y="2669909"/>
            <a:ext cx="48769" cy="2272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1871472" y="2668285"/>
            <a:ext cx="48768" cy="1624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1920240" y="2667167"/>
            <a:ext cx="48768" cy="1118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1969008" y="2666442"/>
            <a:ext cx="48768" cy="725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2017776" y="2666016"/>
            <a:ext cx="48767" cy="426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2066543" y="2665817"/>
            <a:ext cx="48769" cy="199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2115312" y="2665785"/>
            <a:ext cx="48768" cy="32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2164080" y="2665785"/>
            <a:ext cx="48768" cy="89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2212848" y="2665874"/>
            <a:ext cx="48768" cy="172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2261616" y="2666046"/>
            <a:ext cx="48767" cy="229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2310383" y="2666275"/>
            <a:ext cx="48769" cy="263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2359152" y="2666538"/>
            <a:ext cx="48767" cy="280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2407919" y="2666818"/>
            <a:ext cx="48769" cy="285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2456688" y="2667103"/>
            <a:ext cx="48768" cy="281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2505456" y="2667384"/>
            <a:ext cx="48767" cy="272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2554223" y="2667656"/>
            <a:ext cx="48769" cy="257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2602992" y="2667913"/>
            <a:ext cx="48767" cy="240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2651759" y="2668153"/>
            <a:ext cx="48769" cy="221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2700528" y="2668374"/>
            <a:ext cx="48767" cy="203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2749295" y="2668577"/>
            <a:ext cx="48769" cy="184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2798064" y="2668761"/>
            <a:ext cx="48768" cy="165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2846832" y="2668926"/>
            <a:ext cx="48768" cy="148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2895600" y="2669074"/>
            <a:ext cx="48768" cy="131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2944368" y="2669205"/>
            <a:ext cx="48768" cy="116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2993136" y="2669321"/>
            <a:ext cx="48768" cy="103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3041904" y="2669424"/>
            <a:ext cx="48768" cy="89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3090672" y="2669513"/>
            <a:ext cx="48768" cy="78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3139440" y="2669591"/>
            <a:ext cx="48768" cy="68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3188208" y="2669659"/>
            <a:ext cx="48768" cy="59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3236976" y="2669718"/>
            <a:ext cx="48768" cy="51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3285744" y="2669769"/>
            <a:ext cx="48768" cy="44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3334512" y="2669813"/>
            <a:ext cx="48768" cy="37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3383280" y="2669850"/>
            <a:ext cx="48768" cy="32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3432048" y="2669882"/>
            <a:ext cx="48768" cy="27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3480816" y="2669909"/>
            <a:ext cx="48768" cy="24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1764792" y="391363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70" b="1">
                <a:solidFill>
                  <a:srgbClr val="AA5F14"/>
                </a:solidFill>
                <a:latin typeface="Noto Sans CJK JP"/>
              </a:defRPr>
            </a:pPr>
            <a:r>
              <a:t>Kp=2</a:t>
            </a:r>
          </a:p>
        </p:txBody>
      </p:sp>
      <p:cxnSp>
        <p:nvCxnSpPr>
          <p:cNvPr id="123" name="Connector 122"/>
          <p:cNvCxnSpPr/>
          <p:nvPr/>
        </p:nvCxnSpPr>
        <p:spPr>
          <a:xfrm flipV="1">
            <a:off x="896112" y="3257355"/>
            <a:ext cx="48767" cy="290517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944879" y="3076799"/>
            <a:ext cx="48769" cy="180556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993648" y="2963596"/>
            <a:ext cx="48767" cy="113203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1042415" y="2891712"/>
            <a:ext cx="48769" cy="71884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1091184" y="2845233"/>
            <a:ext cx="48768" cy="46479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1139952" y="2814428"/>
            <a:ext cx="48768" cy="30805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1188720" y="2793343"/>
            <a:ext cx="48768" cy="21085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1237488" y="2778333"/>
            <a:ext cx="48768" cy="15010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1286256" y="2767163"/>
            <a:ext cx="48768" cy="11170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1335024" y="2758461"/>
            <a:ext cx="48767" cy="8702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1383791" y="2751379"/>
            <a:ext cx="48769" cy="7082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1432560" y="2745395"/>
            <a:ext cx="48768" cy="5984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1481328" y="2740182"/>
            <a:ext cx="48768" cy="5213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1530096" y="2735535"/>
            <a:ext cx="48768" cy="4647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1578864" y="2731321"/>
            <a:ext cx="48768" cy="4214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1627632" y="2727457"/>
            <a:ext cx="48768" cy="3864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1676400" y="2723883"/>
            <a:ext cx="48768" cy="3574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1725168" y="2720561"/>
            <a:ext cx="48768" cy="3322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1773936" y="2717462"/>
            <a:ext cx="48767" cy="3099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1822703" y="2714564"/>
            <a:ext cx="48769" cy="2898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1871472" y="2711850"/>
            <a:ext cx="48768" cy="2714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1920240" y="2709305"/>
            <a:ext cx="48768" cy="2545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1969008" y="2706918"/>
            <a:ext cx="48768" cy="2387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2017776" y="2704678"/>
            <a:ext cx="48767" cy="2240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2066543" y="2702574"/>
            <a:ext cx="48769" cy="2104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2115312" y="2700599"/>
            <a:ext cx="48768" cy="1975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2164080" y="2698744"/>
            <a:ext cx="48768" cy="1855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2212848" y="2697002"/>
            <a:ext cx="48768" cy="1742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2261616" y="2695366"/>
            <a:ext cx="48767" cy="1636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2310383" y="2693829"/>
            <a:ext cx="48769" cy="1537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2359152" y="2692386"/>
            <a:ext cx="48767" cy="1443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2407919" y="2691030"/>
            <a:ext cx="48769" cy="1356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2456688" y="2689756"/>
            <a:ext cx="48768" cy="1274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2505456" y="2688560"/>
            <a:ext cx="48767" cy="1196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2554223" y="2687437"/>
            <a:ext cx="48769" cy="1123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2602992" y="2686381"/>
            <a:ext cx="48767" cy="1056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2651759" y="2685390"/>
            <a:ext cx="48769" cy="991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2700528" y="2684459"/>
            <a:ext cx="48767" cy="931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2749295" y="2683584"/>
            <a:ext cx="48769" cy="875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2798064" y="2682762"/>
            <a:ext cx="48768" cy="822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2846832" y="2681991"/>
            <a:ext cx="48768" cy="771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2895600" y="2681266"/>
            <a:ext cx="48768" cy="725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2944368" y="2680585"/>
            <a:ext cx="48768" cy="681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2993136" y="2679945"/>
            <a:ext cx="48768" cy="640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3041904" y="2679345"/>
            <a:ext cx="48768" cy="600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3090672" y="2678780"/>
            <a:ext cx="48768" cy="565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3139440" y="2678250"/>
            <a:ext cx="48768" cy="530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3188208" y="2677753"/>
            <a:ext cx="48768" cy="497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3236976" y="2677285"/>
            <a:ext cx="48768" cy="468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3285744" y="2676846"/>
            <a:ext cx="48768" cy="439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3334512" y="2676433"/>
            <a:ext cx="48768" cy="413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3383280" y="2676046"/>
            <a:ext cx="48768" cy="387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3432048" y="2675682"/>
            <a:ext cx="48768" cy="364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3480816" y="2675340"/>
            <a:ext cx="48768" cy="342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TextBox 176"/>
          <p:cNvSpPr txBox="1"/>
          <p:nvPr/>
        </p:nvSpPr>
        <p:spPr>
          <a:xfrm>
            <a:off x="2724912" y="391363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70" b="1">
                <a:solidFill>
                  <a:srgbClr val="147D69"/>
                </a:solidFill>
                <a:latin typeface="Noto Sans CJK JP"/>
              </a:defRPr>
            </a:pPr>
            <a:r>
              <a:t>Kp=4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822960" y="3794760"/>
            <a:ext cx="1828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 b="0">
                <a:solidFill>
                  <a:srgbClr val="5A6473"/>
                </a:solidFill>
                <a:latin typeface="Noto Sans CJK JP"/>
              </a:defRPr>
            </a:pPr>
            <a:r>
              <a:t>0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3346703" y="3794760"/>
            <a:ext cx="347472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 b="0">
                <a:solidFill>
                  <a:srgbClr val="5A6473"/>
                </a:solidFill>
                <a:latin typeface="Noto Sans CJK JP"/>
              </a:defRPr>
            </a:pPr>
            <a:r>
              <a:t>15 s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530352" y="2596896"/>
            <a:ext cx="3200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 b="0">
                <a:solidFill>
                  <a:srgbClr val="5A6473"/>
                </a:solidFill>
                <a:latin typeface="Noto Sans CJK JP"/>
              </a:defRPr>
            </a:pPr>
            <a:r>
              <a:t>1.0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4160520" y="1389888"/>
            <a:ext cx="3438144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4325112" y="1572768"/>
            <a:ext cx="3108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C2430"/>
                </a:solidFill>
                <a:latin typeface="Noto Sans CJK JP"/>
              </a:defRPr>
            </a:pPr>
            <a:r>
              <a:t>Kiだけを変更</a:t>
            </a:r>
          </a:p>
        </p:txBody>
      </p:sp>
      <p:cxnSp>
        <p:nvCxnSpPr>
          <p:cNvPr id="183" name="Connector 182"/>
          <p:cNvCxnSpPr/>
          <p:nvPr/>
        </p:nvCxnSpPr>
        <p:spPr>
          <a:xfrm>
            <a:off x="4617720" y="3767328"/>
            <a:ext cx="2633472" cy="0"/>
          </a:xfrm>
          <a:prstGeom prst="line">
            <a:avLst/>
          </a:prstGeom>
          <a:ln w="10160">
            <a:solidFill>
              <a:srgbClr val="1C24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4617720" y="2011680"/>
            <a:ext cx="0" cy="1755648"/>
          </a:xfrm>
          <a:prstGeom prst="line">
            <a:avLst/>
          </a:prstGeom>
          <a:ln w="10160">
            <a:solidFill>
              <a:srgbClr val="1C24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4617720" y="2670048"/>
            <a:ext cx="2633472" cy="0"/>
          </a:xfrm>
          <a:prstGeom prst="line">
            <a:avLst/>
          </a:prstGeom>
          <a:ln w="7620">
            <a:solidFill>
              <a:srgbClr val="5A647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4617720" y="3397018"/>
            <a:ext cx="48768" cy="150854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4666488" y="3279398"/>
            <a:ext cx="48768" cy="117620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4715256" y="3187134"/>
            <a:ext cx="48768" cy="92264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4764024" y="3114246"/>
            <a:ext cx="48767" cy="72888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4812791" y="3056197"/>
            <a:ext cx="48769" cy="58049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4861560" y="3009543"/>
            <a:ext cx="48768" cy="46654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4910328" y="2971664"/>
            <a:ext cx="48768" cy="37879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4959096" y="2940569"/>
            <a:ext cx="48768" cy="31095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5007864" y="2914743"/>
            <a:ext cx="48767" cy="25826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5056631" y="2893030"/>
            <a:ext cx="48769" cy="21713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5105400" y="2874550"/>
            <a:ext cx="48768" cy="18480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5154168" y="2858628"/>
            <a:ext cx="48768" cy="15922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5202936" y="2844748"/>
            <a:ext cx="48768" cy="13880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5251704" y="2832513"/>
            <a:ext cx="48768" cy="12235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5300472" y="2821616"/>
            <a:ext cx="48768" cy="10897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5349240" y="2811822"/>
            <a:ext cx="48768" cy="9794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5398008" y="2802946"/>
            <a:ext cx="48767" cy="8876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5446775" y="2794844"/>
            <a:ext cx="48769" cy="8102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5495544" y="2787403"/>
            <a:ext cx="48767" cy="7441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5544311" y="2780534"/>
            <a:ext cx="48769" cy="6869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5593080" y="2774163"/>
            <a:ext cx="48768" cy="6371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5641848" y="2768234"/>
            <a:ext cx="48767" cy="5929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 flipV="1">
            <a:off x="5690615" y="2762698"/>
            <a:ext cx="48769" cy="5536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 flipV="1">
            <a:off x="5739384" y="2757518"/>
            <a:ext cx="48768" cy="5180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 flipV="1">
            <a:off x="5788152" y="2752659"/>
            <a:ext cx="48768" cy="4859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 flipV="1">
            <a:off x="5836920" y="2748095"/>
            <a:ext cx="48768" cy="4564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 flipV="1">
            <a:off x="5885688" y="2743802"/>
            <a:ext cx="48768" cy="4293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 flipV="1">
            <a:off x="5934456" y="2739759"/>
            <a:ext cx="48768" cy="4043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 flipV="1">
            <a:off x="5983224" y="2735948"/>
            <a:ext cx="48768" cy="3811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 flipV="1">
            <a:off x="6031992" y="2732354"/>
            <a:ext cx="48768" cy="3594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 flipV="1">
            <a:off x="6080760" y="2728962"/>
            <a:ext cx="48768" cy="3392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 flipV="1">
            <a:off x="6129528" y="2725760"/>
            <a:ext cx="48768" cy="3202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 flipV="1">
            <a:off x="6178296" y="2722735"/>
            <a:ext cx="48768" cy="3025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 flipV="1">
            <a:off x="6227064" y="2719877"/>
            <a:ext cx="48768" cy="2858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6275832" y="2717176"/>
            <a:ext cx="48768" cy="2701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6324600" y="2714623"/>
            <a:ext cx="48768" cy="2553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6373368" y="2712209"/>
            <a:ext cx="48768" cy="2414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 flipV="1">
            <a:off x="6422136" y="2709927"/>
            <a:ext cx="48768" cy="2282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 flipV="1">
            <a:off x="6470904" y="2707769"/>
            <a:ext cx="48768" cy="2158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 flipV="1">
            <a:off x="6519672" y="2705729"/>
            <a:ext cx="48768" cy="2040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 flipV="1">
            <a:off x="6568440" y="2703799"/>
            <a:ext cx="48768" cy="1930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 flipV="1">
            <a:off x="6617208" y="2701974"/>
            <a:ext cx="48768" cy="1825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 flipV="1">
            <a:off x="6665976" y="2700248"/>
            <a:ext cx="48768" cy="1726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 flipV="1">
            <a:off x="6714744" y="2698615"/>
            <a:ext cx="48768" cy="1633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 flipV="1">
            <a:off x="6763512" y="2697071"/>
            <a:ext cx="48767" cy="1544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 flipV="1">
            <a:off x="6812279" y="2695610"/>
            <a:ext cx="48769" cy="1461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 flipV="1">
            <a:off x="6861048" y="2694228"/>
            <a:ext cx="48768" cy="1382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 flipV="1">
            <a:off x="6909816" y="2692921"/>
            <a:ext cx="48767" cy="1307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 flipV="1">
            <a:off x="6958583" y="2691685"/>
            <a:ext cx="48769" cy="1236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 flipV="1">
            <a:off x="7007352" y="2690516"/>
            <a:ext cx="48768" cy="1169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 flipV="1">
            <a:off x="7056120" y="2689409"/>
            <a:ext cx="48768" cy="1107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 flipV="1">
            <a:off x="7104888" y="2688363"/>
            <a:ext cx="48768" cy="1046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 flipV="1">
            <a:off x="7153656" y="2687373"/>
            <a:ext cx="48768" cy="990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 flipV="1">
            <a:off x="7202424" y="2686437"/>
            <a:ext cx="48768" cy="936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0" name="TextBox 239"/>
          <p:cNvSpPr txBox="1"/>
          <p:nvPr/>
        </p:nvSpPr>
        <p:spPr>
          <a:xfrm>
            <a:off x="4526280" y="391363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70" b="1">
                <a:solidFill>
                  <a:srgbClr val="1E5A96"/>
                </a:solidFill>
                <a:latin typeface="Noto Sans CJK JP"/>
              </a:defRPr>
            </a:pPr>
            <a:r>
              <a:t>Ki=.5</a:t>
            </a:r>
          </a:p>
        </p:txBody>
      </p:sp>
      <p:cxnSp>
        <p:nvCxnSpPr>
          <p:cNvPr id="241" name="Connector 240"/>
          <p:cNvCxnSpPr/>
          <p:nvPr/>
        </p:nvCxnSpPr>
        <p:spPr>
          <a:xfrm flipV="1">
            <a:off x="4617720" y="3391333"/>
            <a:ext cx="48768" cy="156539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 flipV="1">
            <a:off x="4666488" y="3260285"/>
            <a:ext cx="48768" cy="131048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 flipV="1">
            <a:off x="4715256" y="3150933"/>
            <a:ext cx="48768" cy="109352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 flipV="1">
            <a:off x="4764024" y="3059989"/>
            <a:ext cx="48767" cy="90944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 flipV="1">
            <a:off x="4812791" y="2984617"/>
            <a:ext cx="48769" cy="75372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 flipV="1">
            <a:off x="4861560" y="2922375"/>
            <a:ext cx="48768" cy="62242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 flipV="1">
            <a:off x="4910328" y="2871170"/>
            <a:ext cx="48768" cy="51205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 flipV="1">
            <a:off x="4959096" y="2829215"/>
            <a:ext cx="48768" cy="41955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 flipV="1">
            <a:off x="5007864" y="2794986"/>
            <a:ext cx="48767" cy="34229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 flipV="1">
            <a:off x="5056631" y="2767189"/>
            <a:ext cx="48769" cy="27797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 flipV="1">
            <a:off x="5105400" y="2744729"/>
            <a:ext cx="48768" cy="22460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 flipV="1">
            <a:off x="5154168" y="2726680"/>
            <a:ext cx="48768" cy="18049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 flipV="1">
            <a:off x="5202936" y="2712265"/>
            <a:ext cx="48768" cy="14415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 flipV="1">
            <a:off x="5251704" y="2700831"/>
            <a:ext cx="48768" cy="11434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 flipV="1">
            <a:off x="5300472" y="2691832"/>
            <a:ext cx="48768" cy="8999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 flipV="1">
            <a:off x="5349240" y="2684814"/>
            <a:ext cx="48768" cy="7018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 flipV="1">
            <a:off x="5398008" y="2679398"/>
            <a:ext cx="48767" cy="5416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 flipV="1">
            <a:off x="5446775" y="2675273"/>
            <a:ext cx="48769" cy="4125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 flipV="1">
            <a:off x="5495544" y="2672181"/>
            <a:ext cx="48767" cy="3092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 flipV="1">
            <a:off x="5544311" y="2669909"/>
            <a:ext cx="48769" cy="2272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 flipV="1">
            <a:off x="5593080" y="2668285"/>
            <a:ext cx="48768" cy="1624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 flipV="1">
            <a:off x="5641848" y="2667167"/>
            <a:ext cx="48767" cy="1118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 flipV="1">
            <a:off x="5690615" y="2666442"/>
            <a:ext cx="48769" cy="725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 flipV="1">
            <a:off x="5739384" y="2666016"/>
            <a:ext cx="48768" cy="426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 flipV="1">
            <a:off x="5788152" y="2665817"/>
            <a:ext cx="48768" cy="199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 flipV="1">
            <a:off x="5836920" y="2665785"/>
            <a:ext cx="48768" cy="32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>
            <a:off x="5885688" y="2665785"/>
            <a:ext cx="48768" cy="89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>
            <a:off x="5934456" y="2665874"/>
            <a:ext cx="48768" cy="172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>
            <a:off x="5983224" y="2666046"/>
            <a:ext cx="48768" cy="229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>
            <a:off x="6031992" y="2666275"/>
            <a:ext cx="48768" cy="263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>
            <a:off x="6080760" y="2666538"/>
            <a:ext cx="48768" cy="280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>
            <a:off x="6129528" y="2666818"/>
            <a:ext cx="48768" cy="285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>
            <a:off x="6178296" y="2667103"/>
            <a:ext cx="48768" cy="281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>
            <a:off x="6227064" y="2667384"/>
            <a:ext cx="48768" cy="272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>
            <a:off x="6275832" y="2667656"/>
            <a:ext cx="48768" cy="257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>
            <a:off x="6324600" y="2667913"/>
            <a:ext cx="48768" cy="240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>
            <a:off x="6373368" y="2668153"/>
            <a:ext cx="48768" cy="221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>
            <a:off x="6422136" y="2668374"/>
            <a:ext cx="48768" cy="203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>
            <a:off x="6470904" y="2668577"/>
            <a:ext cx="48768" cy="184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>
            <a:off x="6519672" y="2668761"/>
            <a:ext cx="48768" cy="165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>
            <a:off x="6568440" y="2668926"/>
            <a:ext cx="48768" cy="148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>
            <a:off x="6617208" y="2669074"/>
            <a:ext cx="48768" cy="131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>
            <a:off x="6665976" y="2669205"/>
            <a:ext cx="48768" cy="116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>
            <a:off x="6714744" y="2669321"/>
            <a:ext cx="48768" cy="103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>
            <a:off x="6763512" y="2669424"/>
            <a:ext cx="48767" cy="89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>
            <a:off x="6812279" y="2669513"/>
            <a:ext cx="48769" cy="78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>
            <a:off x="6861048" y="2669591"/>
            <a:ext cx="48768" cy="68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>
            <a:off x="6909816" y="2669659"/>
            <a:ext cx="48767" cy="59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>
            <a:off x="6958583" y="2669718"/>
            <a:ext cx="48769" cy="51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>
            <a:off x="7007352" y="2669769"/>
            <a:ext cx="48768" cy="44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>
            <a:off x="7056120" y="2669813"/>
            <a:ext cx="48768" cy="37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>
            <a:off x="7104888" y="2669850"/>
            <a:ext cx="48768" cy="32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>
            <a:off x="7153656" y="2669882"/>
            <a:ext cx="48768" cy="27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>
            <a:off x="7202424" y="2669909"/>
            <a:ext cx="48768" cy="24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5" name="TextBox 294"/>
          <p:cNvSpPr txBox="1"/>
          <p:nvPr/>
        </p:nvSpPr>
        <p:spPr>
          <a:xfrm>
            <a:off x="5486400" y="391363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70" b="1">
                <a:solidFill>
                  <a:srgbClr val="AA5F14"/>
                </a:solidFill>
                <a:latin typeface="Noto Sans CJK JP"/>
              </a:defRPr>
            </a:pPr>
            <a:r>
              <a:t>Ki=1</a:t>
            </a:r>
          </a:p>
        </p:txBody>
      </p:sp>
      <p:cxnSp>
        <p:nvCxnSpPr>
          <p:cNvPr id="296" name="Connector 295"/>
          <p:cNvCxnSpPr/>
          <p:nvPr/>
        </p:nvCxnSpPr>
        <p:spPr>
          <a:xfrm flipV="1">
            <a:off x="4617720" y="3380007"/>
            <a:ext cx="48768" cy="167865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 flipV="1">
            <a:off x="4666488" y="3222650"/>
            <a:ext cx="48768" cy="157357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 flipV="1">
            <a:off x="4715256" y="3081038"/>
            <a:ext cx="48768" cy="141612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 flipV="1">
            <a:off x="4764024" y="2958105"/>
            <a:ext cx="48767" cy="122933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 flipV="1">
            <a:off x="4812791" y="2854976"/>
            <a:ext cx="48769" cy="103129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 flipV="1">
            <a:off x="4861560" y="2771422"/>
            <a:ext cx="48768" cy="83554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 flipV="1">
            <a:off x="4910328" y="2706260"/>
            <a:ext cx="48768" cy="65162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 flipV="1">
            <a:off x="4959096" y="2657677"/>
            <a:ext cx="48768" cy="48583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 flipV="1">
            <a:off x="5007864" y="2623512"/>
            <a:ext cx="48767" cy="34165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 flipV="1">
            <a:off x="5056631" y="2601463"/>
            <a:ext cx="48769" cy="22049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 flipV="1">
            <a:off x="5105400" y="2589245"/>
            <a:ext cx="48768" cy="12218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 flipV="1">
            <a:off x="5154168" y="2584711"/>
            <a:ext cx="48768" cy="4534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>
            <a:off x="5202936" y="2584711"/>
            <a:ext cx="48768" cy="1207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>
            <a:off x="5251704" y="2585918"/>
            <a:ext cx="48768" cy="5259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>
            <a:off x="5300472" y="2591177"/>
            <a:ext cx="48768" cy="7888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>
            <a:off x="5349240" y="2599065"/>
            <a:ext cx="48768" cy="9358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>
            <a:off x="5398008" y="2608423"/>
            <a:ext cx="48767" cy="9924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>
            <a:off x="5446775" y="2618347"/>
            <a:ext cx="48769" cy="9811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>
            <a:off x="5495544" y="2628158"/>
            <a:ext cx="48767" cy="9218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>
            <a:off x="5544311" y="2637376"/>
            <a:ext cx="48769" cy="8311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>
            <a:off x="5593080" y="2645687"/>
            <a:ext cx="48768" cy="7227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>
            <a:off x="5641848" y="2652914"/>
            <a:ext cx="48767" cy="6073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Connector 317"/>
          <p:cNvCxnSpPr/>
          <p:nvPr/>
        </p:nvCxnSpPr>
        <p:spPr>
          <a:xfrm>
            <a:off x="5690615" y="2658987"/>
            <a:ext cx="48769" cy="4930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 318"/>
          <p:cNvCxnSpPr/>
          <p:nvPr/>
        </p:nvCxnSpPr>
        <p:spPr>
          <a:xfrm>
            <a:off x="5739384" y="2663917"/>
            <a:ext cx="48768" cy="3852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>
            <a:off x="5788152" y="2667769"/>
            <a:ext cx="48768" cy="2879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nector 320"/>
          <p:cNvCxnSpPr/>
          <p:nvPr/>
        </p:nvCxnSpPr>
        <p:spPr>
          <a:xfrm>
            <a:off x="5836920" y="2670648"/>
            <a:ext cx="48768" cy="2032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 321"/>
          <p:cNvCxnSpPr/>
          <p:nvPr/>
        </p:nvCxnSpPr>
        <p:spPr>
          <a:xfrm>
            <a:off x="5885688" y="2672680"/>
            <a:ext cx="48768" cy="1318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>
            <a:off x="5934456" y="2673998"/>
            <a:ext cx="48768" cy="739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>
            <a:off x="5983224" y="2674737"/>
            <a:ext cx="48768" cy="284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 flipV="1">
            <a:off x="6031992" y="2674964"/>
            <a:ext cx="48768" cy="57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 flipV="1">
            <a:off x="6080760" y="2674667"/>
            <a:ext cx="48768" cy="297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 flipV="1">
            <a:off x="6129528" y="2674213"/>
            <a:ext cx="48768" cy="454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 327"/>
          <p:cNvCxnSpPr/>
          <p:nvPr/>
        </p:nvCxnSpPr>
        <p:spPr>
          <a:xfrm flipV="1">
            <a:off x="6178296" y="2673670"/>
            <a:ext cx="48768" cy="543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28"/>
          <p:cNvCxnSpPr/>
          <p:nvPr/>
        </p:nvCxnSpPr>
        <p:spPr>
          <a:xfrm flipV="1">
            <a:off x="6227064" y="2673092"/>
            <a:ext cx="48768" cy="578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29"/>
          <p:cNvCxnSpPr/>
          <p:nvPr/>
        </p:nvCxnSpPr>
        <p:spPr>
          <a:xfrm flipV="1">
            <a:off x="6275832" y="2672519"/>
            <a:ext cx="48768" cy="573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 flipV="1">
            <a:off x="6324600" y="2671979"/>
            <a:ext cx="48768" cy="540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 flipV="1">
            <a:off x="6373368" y="2671491"/>
            <a:ext cx="48768" cy="488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 332"/>
          <p:cNvCxnSpPr/>
          <p:nvPr/>
        </p:nvCxnSpPr>
        <p:spPr>
          <a:xfrm flipV="1">
            <a:off x="6422136" y="2671066"/>
            <a:ext cx="48768" cy="425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 flipV="1">
            <a:off x="6470904" y="2670709"/>
            <a:ext cx="48768" cy="357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 flipV="1">
            <a:off x="6519672" y="2670418"/>
            <a:ext cx="48768" cy="291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Connector 335"/>
          <p:cNvCxnSpPr/>
          <p:nvPr/>
        </p:nvCxnSpPr>
        <p:spPr>
          <a:xfrm flipV="1">
            <a:off x="6568440" y="2670190"/>
            <a:ext cx="48768" cy="228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onnector 336"/>
          <p:cNvCxnSpPr/>
          <p:nvPr/>
        </p:nvCxnSpPr>
        <p:spPr>
          <a:xfrm flipV="1">
            <a:off x="6617208" y="2670020"/>
            <a:ext cx="48768" cy="170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 flipV="1">
            <a:off x="6665976" y="2669899"/>
            <a:ext cx="48768" cy="121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 338"/>
          <p:cNvCxnSpPr/>
          <p:nvPr/>
        </p:nvCxnSpPr>
        <p:spPr>
          <a:xfrm flipV="1">
            <a:off x="6714744" y="2669820"/>
            <a:ext cx="48768" cy="79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Connector 339"/>
          <p:cNvCxnSpPr/>
          <p:nvPr/>
        </p:nvCxnSpPr>
        <p:spPr>
          <a:xfrm flipV="1">
            <a:off x="6763512" y="2669775"/>
            <a:ext cx="48767" cy="45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Connector 340"/>
          <p:cNvCxnSpPr/>
          <p:nvPr/>
        </p:nvCxnSpPr>
        <p:spPr>
          <a:xfrm flipV="1">
            <a:off x="6812279" y="2669758"/>
            <a:ext cx="48769" cy="17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Connector 341"/>
          <p:cNvCxnSpPr/>
          <p:nvPr/>
        </p:nvCxnSpPr>
        <p:spPr>
          <a:xfrm>
            <a:off x="6861048" y="2669758"/>
            <a:ext cx="48768" cy="2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Connector 342"/>
          <p:cNvCxnSpPr/>
          <p:nvPr/>
        </p:nvCxnSpPr>
        <p:spPr>
          <a:xfrm>
            <a:off x="6909816" y="2669760"/>
            <a:ext cx="48767" cy="17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Connector 343"/>
          <p:cNvCxnSpPr/>
          <p:nvPr/>
        </p:nvCxnSpPr>
        <p:spPr>
          <a:xfrm>
            <a:off x="6958583" y="2669777"/>
            <a:ext cx="48769" cy="26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Connector 344"/>
          <p:cNvCxnSpPr/>
          <p:nvPr/>
        </p:nvCxnSpPr>
        <p:spPr>
          <a:xfrm>
            <a:off x="7007352" y="2669803"/>
            <a:ext cx="48768" cy="32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Connector 345"/>
          <p:cNvCxnSpPr/>
          <p:nvPr/>
        </p:nvCxnSpPr>
        <p:spPr>
          <a:xfrm>
            <a:off x="7056120" y="2669835"/>
            <a:ext cx="48768" cy="33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Connector 346"/>
          <p:cNvCxnSpPr/>
          <p:nvPr/>
        </p:nvCxnSpPr>
        <p:spPr>
          <a:xfrm>
            <a:off x="7104888" y="2669868"/>
            <a:ext cx="48768" cy="34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Connector 347"/>
          <p:cNvCxnSpPr/>
          <p:nvPr/>
        </p:nvCxnSpPr>
        <p:spPr>
          <a:xfrm>
            <a:off x="7153656" y="2669902"/>
            <a:ext cx="48768" cy="31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Connector 348"/>
          <p:cNvCxnSpPr/>
          <p:nvPr/>
        </p:nvCxnSpPr>
        <p:spPr>
          <a:xfrm>
            <a:off x="7202424" y="2669933"/>
            <a:ext cx="48768" cy="29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0" name="TextBox 349"/>
          <p:cNvSpPr txBox="1"/>
          <p:nvPr/>
        </p:nvSpPr>
        <p:spPr>
          <a:xfrm>
            <a:off x="6446520" y="391363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70" b="1">
                <a:solidFill>
                  <a:srgbClr val="147D69"/>
                </a:solidFill>
                <a:latin typeface="Noto Sans CJK JP"/>
              </a:defRPr>
            </a:pPr>
            <a:r>
              <a:t>Ki=2</a:t>
            </a:r>
          </a:p>
        </p:txBody>
      </p:sp>
      <p:sp>
        <p:nvSpPr>
          <p:cNvPr id="351" name="TextBox 350"/>
          <p:cNvSpPr txBox="1"/>
          <p:nvPr/>
        </p:nvSpPr>
        <p:spPr>
          <a:xfrm>
            <a:off x="4544568" y="3794760"/>
            <a:ext cx="1828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 b="0">
                <a:solidFill>
                  <a:srgbClr val="5A6473"/>
                </a:solidFill>
                <a:latin typeface="Noto Sans CJK JP"/>
              </a:defRPr>
            </a:pPr>
            <a:r>
              <a:t>0</a:t>
            </a:r>
          </a:p>
        </p:txBody>
      </p:sp>
      <p:sp>
        <p:nvSpPr>
          <p:cNvPr id="352" name="TextBox 351"/>
          <p:cNvSpPr txBox="1"/>
          <p:nvPr/>
        </p:nvSpPr>
        <p:spPr>
          <a:xfrm>
            <a:off x="7068312" y="3794760"/>
            <a:ext cx="347472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 b="0">
                <a:solidFill>
                  <a:srgbClr val="5A6473"/>
                </a:solidFill>
                <a:latin typeface="Noto Sans CJK JP"/>
              </a:defRPr>
            </a:pPr>
            <a:r>
              <a:t>15 s</a:t>
            </a:r>
          </a:p>
        </p:txBody>
      </p:sp>
      <p:sp>
        <p:nvSpPr>
          <p:cNvPr id="353" name="TextBox 352"/>
          <p:cNvSpPr txBox="1"/>
          <p:nvPr/>
        </p:nvSpPr>
        <p:spPr>
          <a:xfrm>
            <a:off x="4251959" y="2596896"/>
            <a:ext cx="3200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 b="0">
                <a:solidFill>
                  <a:srgbClr val="5A6473"/>
                </a:solidFill>
                <a:latin typeface="Noto Sans CJK JP"/>
              </a:defRPr>
            </a:pPr>
            <a:r>
              <a:t>1.0</a:t>
            </a:r>
          </a:p>
        </p:txBody>
      </p:sp>
      <p:sp>
        <p:nvSpPr>
          <p:cNvPr id="354" name="Rounded Rectangle 353"/>
          <p:cNvSpPr/>
          <p:nvPr/>
        </p:nvSpPr>
        <p:spPr>
          <a:xfrm>
            <a:off x="7882127" y="1389888"/>
            <a:ext cx="3438144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TextBox 354"/>
          <p:cNvSpPr txBox="1"/>
          <p:nvPr/>
        </p:nvSpPr>
        <p:spPr>
          <a:xfrm>
            <a:off x="8046719" y="1572768"/>
            <a:ext cx="3108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C2430"/>
                </a:solidFill>
                <a:latin typeface="Noto Sans CJK JP"/>
              </a:defRPr>
            </a:pPr>
            <a:r>
              <a:t>Kdだけを変更</a:t>
            </a:r>
          </a:p>
        </p:txBody>
      </p:sp>
      <p:cxnSp>
        <p:nvCxnSpPr>
          <p:cNvPr id="356" name="Connector 355"/>
          <p:cNvCxnSpPr/>
          <p:nvPr/>
        </p:nvCxnSpPr>
        <p:spPr>
          <a:xfrm>
            <a:off x="8339327" y="3767328"/>
            <a:ext cx="2633473" cy="0"/>
          </a:xfrm>
          <a:prstGeom prst="line">
            <a:avLst/>
          </a:prstGeom>
          <a:ln w="10160">
            <a:solidFill>
              <a:srgbClr val="1C24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Connector 356"/>
          <p:cNvCxnSpPr/>
          <p:nvPr/>
        </p:nvCxnSpPr>
        <p:spPr>
          <a:xfrm>
            <a:off x="8339327" y="2011680"/>
            <a:ext cx="0" cy="1755648"/>
          </a:xfrm>
          <a:prstGeom prst="line">
            <a:avLst/>
          </a:prstGeom>
          <a:ln w="10160">
            <a:solidFill>
              <a:srgbClr val="1C24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Connector 357"/>
          <p:cNvCxnSpPr/>
          <p:nvPr/>
        </p:nvCxnSpPr>
        <p:spPr>
          <a:xfrm>
            <a:off x="8339327" y="2670048"/>
            <a:ext cx="2633473" cy="0"/>
          </a:xfrm>
          <a:prstGeom prst="line">
            <a:avLst/>
          </a:prstGeom>
          <a:ln w="7620">
            <a:solidFill>
              <a:srgbClr val="5A647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Connector 358"/>
          <p:cNvCxnSpPr/>
          <p:nvPr/>
        </p:nvCxnSpPr>
        <p:spPr>
          <a:xfrm flipV="1">
            <a:off x="8339327" y="3501199"/>
            <a:ext cx="48768" cy="266129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" name="Connector 359"/>
          <p:cNvCxnSpPr/>
          <p:nvPr/>
        </p:nvCxnSpPr>
        <p:spPr>
          <a:xfrm flipV="1">
            <a:off x="8388095" y="3299616"/>
            <a:ext cx="48769" cy="201583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Connector 360"/>
          <p:cNvCxnSpPr/>
          <p:nvPr/>
        </p:nvCxnSpPr>
        <p:spPr>
          <a:xfrm flipV="1">
            <a:off x="8436864" y="3146923"/>
            <a:ext cx="48768" cy="152693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" name="Connector 361"/>
          <p:cNvCxnSpPr/>
          <p:nvPr/>
        </p:nvCxnSpPr>
        <p:spPr>
          <a:xfrm flipV="1">
            <a:off x="8485632" y="3031264"/>
            <a:ext cx="48767" cy="115659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Connector 362"/>
          <p:cNvCxnSpPr/>
          <p:nvPr/>
        </p:nvCxnSpPr>
        <p:spPr>
          <a:xfrm flipV="1">
            <a:off x="8534399" y="2943657"/>
            <a:ext cx="48769" cy="87607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Connector 363"/>
          <p:cNvCxnSpPr/>
          <p:nvPr/>
        </p:nvCxnSpPr>
        <p:spPr>
          <a:xfrm flipV="1">
            <a:off x="8583168" y="2877297"/>
            <a:ext cx="48768" cy="66360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" name="Connector 364"/>
          <p:cNvCxnSpPr/>
          <p:nvPr/>
        </p:nvCxnSpPr>
        <p:spPr>
          <a:xfrm flipV="1">
            <a:off x="8631936" y="2827032"/>
            <a:ext cx="48767" cy="50265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" name="Connector 365"/>
          <p:cNvCxnSpPr/>
          <p:nvPr/>
        </p:nvCxnSpPr>
        <p:spPr>
          <a:xfrm flipV="1">
            <a:off x="8680703" y="2788958"/>
            <a:ext cx="48768" cy="38074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" name="Connector 366"/>
          <p:cNvCxnSpPr/>
          <p:nvPr/>
        </p:nvCxnSpPr>
        <p:spPr>
          <a:xfrm flipV="1">
            <a:off x="8729471" y="2760118"/>
            <a:ext cx="48769" cy="28840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" name="Connector 367"/>
          <p:cNvCxnSpPr/>
          <p:nvPr/>
        </p:nvCxnSpPr>
        <p:spPr>
          <a:xfrm flipV="1">
            <a:off x="8778240" y="2738273"/>
            <a:ext cx="48768" cy="21845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9" name="Connector 368"/>
          <p:cNvCxnSpPr/>
          <p:nvPr/>
        </p:nvCxnSpPr>
        <p:spPr>
          <a:xfrm flipV="1">
            <a:off x="8827008" y="2721726"/>
            <a:ext cx="48767" cy="16547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" name="Connector 369"/>
          <p:cNvCxnSpPr/>
          <p:nvPr/>
        </p:nvCxnSpPr>
        <p:spPr>
          <a:xfrm flipV="1">
            <a:off x="8875775" y="2709192"/>
            <a:ext cx="48769" cy="12534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1" name="Connector 370"/>
          <p:cNvCxnSpPr/>
          <p:nvPr/>
        </p:nvCxnSpPr>
        <p:spPr>
          <a:xfrm flipV="1">
            <a:off x="8924544" y="2699698"/>
            <a:ext cx="48768" cy="9494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Connector 371"/>
          <p:cNvCxnSpPr/>
          <p:nvPr/>
        </p:nvCxnSpPr>
        <p:spPr>
          <a:xfrm flipV="1">
            <a:off x="8973312" y="2692507"/>
            <a:ext cx="48767" cy="7191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Connector 372"/>
          <p:cNvCxnSpPr/>
          <p:nvPr/>
        </p:nvCxnSpPr>
        <p:spPr>
          <a:xfrm flipV="1">
            <a:off x="9022079" y="2687060"/>
            <a:ext cx="48769" cy="5447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Connector 373"/>
          <p:cNvCxnSpPr/>
          <p:nvPr/>
        </p:nvCxnSpPr>
        <p:spPr>
          <a:xfrm flipV="1">
            <a:off x="9070848" y="2682934"/>
            <a:ext cx="48768" cy="4126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5" name="Connector 374"/>
          <p:cNvCxnSpPr/>
          <p:nvPr/>
        </p:nvCxnSpPr>
        <p:spPr>
          <a:xfrm flipV="1">
            <a:off x="9119616" y="2679808"/>
            <a:ext cx="48767" cy="3126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Connector 375"/>
          <p:cNvCxnSpPr/>
          <p:nvPr/>
        </p:nvCxnSpPr>
        <p:spPr>
          <a:xfrm flipV="1">
            <a:off x="9168383" y="2677441"/>
            <a:ext cx="48768" cy="2367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7" name="Connector 376"/>
          <p:cNvCxnSpPr/>
          <p:nvPr/>
        </p:nvCxnSpPr>
        <p:spPr>
          <a:xfrm flipV="1">
            <a:off x="9217151" y="2675648"/>
            <a:ext cx="48769" cy="1793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Connector 377"/>
          <p:cNvCxnSpPr/>
          <p:nvPr/>
        </p:nvCxnSpPr>
        <p:spPr>
          <a:xfrm flipV="1">
            <a:off x="9265920" y="2674289"/>
            <a:ext cx="48768" cy="1359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9" name="Connector 378"/>
          <p:cNvCxnSpPr/>
          <p:nvPr/>
        </p:nvCxnSpPr>
        <p:spPr>
          <a:xfrm flipV="1">
            <a:off x="9314688" y="2673261"/>
            <a:ext cx="48767" cy="1028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Connector 379"/>
          <p:cNvCxnSpPr/>
          <p:nvPr/>
        </p:nvCxnSpPr>
        <p:spPr>
          <a:xfrm flipV="1">
            <a:off x="9363455" y="2672481"/>
            <a:ext cx="48769" cy="780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1" name="Connector 380"/>
          <p:cNvCxnSpPr/>
          <p:nvPr/>
        </p:nvCxnSpPr>
        <p:spPr>
          <a:xfrm flipV="1">
            <a:off x="9412224" y="2671891"/>
            <a:ext cx="48768" cy="590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2" name="Connector 381"/>
          <p:cNvCxnSpPr/>
          <p:nvPr/>
        </p:nvCxnSpPr>
        <p:spPr>
          <a:xfrm flipV="1">
            <a:off x="9460992" y="2671444"/>
            <a:ext cx="48767" cy="447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3" name="Connector 382"/>
          <p:cNvCxnSpPr/>
          <p:nvPr/>
        </p:nvCxnSpPr>
        <p:spPr>
          <a:xfrm flipV="1">
            <a:off x="9509759" y="2671105"/>
            <a:ext cx="48769" cy="339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4" name="Connector 383"/>
          <p:cNvCxnSpPr/>
          <p:nvPr/>
        </p:nvCxnSpPr>
        <p:spPr>
          <a:xfrm flipV="1">
            <a:off x="9558528" y="2670849"/>
            <a:ext cx="48768" cy="256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5" name="Connector 384"/>
          <p:cNvCxnSpPr/>
          <p:nvPr/>
        </p:nvCxnSpPr>
        <p:spPr>
          <a:xfrm flipV="1">
            <a:off x="9607296" y="2670654"/>
            <a:ext cx="48767" cy="195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6" name="Connector 385"/>
          <p:cNvCxnSpPr/>
          <p:nvPr/>
        </p:nvCxnSpPr>
        <p:spPr>
          <a:xfrm flipV="1">
            <a:off x="9656063" y="2670507"/>
            <a:ext cx="48769" cy="147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7" name="Connector 386"/>
          <p:cNvCxnSpPr/>
          <p:nvPr/>
        </p:nvCxnSpPr>
        <p:spPr>
          <a:xfrm flipV="1">
            <a:off x="9704832" y="2670396"/>
            <a:ext cx="48768" cy="111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8" name="Connector 387"/>
          <p:cNvCxnSpPr/>
          <p:nvPr/>
        </p:nvCxnSpPr>
        <p:spPr>
          <a:xfrm flipV="1">
            <a:off x="9753600" y="2670311"/>
            <a:ext cx="48767" cy="85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9" name="Connector 388"/>
          <p:cNvCxnSpPr/>
          <p:nvPr/>
        </p:nvCxnSpPr>
        <p:spPr>
          <a:xfrm flipV="1">
            <a:off x="9802367" y="2670247"/>
            <a:ext cx="48768" cy="64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0" name="Connector 389"/>
          <p:cNvCxnSpPr/>
          <p:nvPr/>
        </p:nvCxnSpPr>
        <p:spPr>
          <a:xfrm flipV="1">
            <a:off x="9851135" y="2670199"/>
            <a:ext cx="48769" cy="48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1" name="Connector 390"/>
          <p:cNvCxnSpPr/>
          <p:nvPr/>
        </p:nvCxnSpPr>
        <p:spPr>
          <a:xfrm flipV="1">
            <a:off x="9899904" y="2670162"/>
            <a:ext cx="48768" cy="37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2" name="Connector 391"/>
          <p:cNvCxnSpPr/>
          <p:nvPr/>
        </p:nvCxnSpPr>
        <p:spPr>
          <a:xfrm flipV="1">
            <a:off x="9948672" y="2670134"/>
            <a:ext cx="48767" cy="28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3" name="Connector 392"/>
          <p:cNvCxnSpPr/>
          <p:nvPr/>
        </p:nvCxnSpPr>
        <p:spPr>
          <a:xfrm flipV="1">
            <a:off x="9997439" y="2670113"/>
            <a:ext cx="48769" cy="21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4" name="Connector 393"/>
          <p:cNvCxnSpPr/>
          <p:nvPr/>
        </p:nvCxnSpPr>
        <p:spPr>
          <a:xfrm flipV="1">
            <a:off x="10046208" y="2670097"/>
            <a:ext cx="48768" cy="16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5" name="Connector 394"/>
          <p:cNvCxnSpPr/>
          <p:nvPr/>
        </p:nvCxnSpPr>
        <p:spPr>
          <a:xfrm flipV="1">
            <a:off x="10094976" y="2670085"/>
            <a:ext cx="48767" cy="12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6" name="Connector 395"/>
          <p:cNvCxnSpPr/>
          <p:nvPr/>
        </p:nvCxnSpPr>
        <p:spPr>
          <a:xfrm flipV="1">
            <a:off x="10143743" y="2670076"/>
            <a:ext cx="48768" cy="9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7" name="Connector 396"/>
          <p:cNvCxnSpPr/>
          <p:nvPr/>
        </p:nvCxnSpPr>
        <p:spPr>
          <a:xfrm flipV="1">
            <a:off x="10192511" y="2670069"/>
            <a:ext cx="48769" cy="7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8" name="Connector 397"/>
          <p:cNvCxnSpPr/>
          <p:nvPr/>
        </p:nvCxnSpPr>
        <p:spPr>
          <a:xfrm flipV="1">
            <a:off x="10241280" y="2670064"/>
            <a:ext cx="48767" cy="5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9" name="Connector 398"/>
          <p:cNvCxnSpPr/>
          <p:nvPr/>
        </p:nvCxnSpPr>
        <p:spPr>
          <a:xfrm flipV="1">
            <a:off x="10290047" y="2670060"/>
            <a:ext cx="48768" cy="4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" name="Connector 399"/>
          <p:cNvCxnSpPr/>
          <p:nvPr/>
        </p:nvCxnSpPr>
        <p:spPr>
          <a:xfrm flipV="1">
            <a:off x="10338815" y="2670057"/>
            <a:ext cx="48769" cy="3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1" name="Connector 400"/>
          <p:cNvCxnSpPr/>
          <p:nvPr/>
        </p:nvCxnSpPr>
        <p:spPr>
          <a:xfrm flipV="1">
            <a:off x="10387584" y="2670055"/>
            <a:ext cx="48767" cy="2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" name="Connector 401"/>
          <p:cNvCxnSpPr/>
          <p:nvPr/>
        </p:nvCxnSpPr>
        <p:spPr>
          <a:xfrm flipV="1">
            <a:off x="10436351" y="2670053"/>
            <a:ext cx="48768" cy="2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" name="Connector 402"/>
          <p:cNvCxnSpPr/>
          <p:nvPr/>
        </p:nvCxnSpPr>
        <p:spPr>
          <a:xfrm flipV="1">
            <a:off x="10485119" y="2670052"/>
            <a:ext cx="48769" cy="1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" name="Connector 403"/>
          <p:cNvCxnSpPr/>
          <p:nvPr/>
        </p:nvCxnSpPr>
        <p:spPr>
          <a:xfrm flipV="1">
            <a:off x="10533888" y="2670051"/>
            <a:ext cx="48768" cy="1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5" name="Connector 404"/>
          <p:cNvCxnSpPr/>
          <p:nvPr/>
        </p:nvCxnSpPr>
        <p:spPr>
          <a:xfrm flipV="1">
            <a:off x="10582656" y="2670050"/>
            <a:ext cx="48767" cy="1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" name="Connector 405"/>
          <p:cNvCxnSpPr/>
          <p:nvPr/>
        </p:nvCxnSpPr>
        <p:spPr>
          <a:xfrm flipV="1">
            <a:off x="10631423" y="2670049"/>
            <a:ext cx="48769" cy="1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7" name="Connector 406"/>
          <p:cNvCxnSpPr/>
          <p:nvPr/>
        </p:nvCxnSpPr>
        <p:spPr>
          <a:xfrm>
            <a:off x="10680192" y="2670049"/>
            <a:ext cx="48768" cy="0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8" name="Connector 407"/>
          <p:cNvCxnSpPr/>
          <p:nvPr/>
        </p:nvCxnSpPr>
        <p:spPr>
          <a:xfrm>
            <a:off x="10728960" y="2670049"/>
            <a:ext cx="48767" cy="0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9" name="Connector 408"/>
          <p:cNvCxnSpPr/>
          <p:nvPr/>
        </p:nvCxnSpPr>
        <p:spPr>
          <a:xfrm flipV="1">
            <a:off x="10777727" y="2670048"/>
            <a:ext cx="48769" cy="1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" name="Connector 409"/>
          <p:cNvCxnSpPr/>
          <p:nvPr/>
        </p:nvCxnSpPr>
        <p:spPr>
          <a:xfrm>
            <a:off x="10826496" y="2670048"/>
            <a:ext cx="48768" cy="0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1" name="Connector 410"/>
          <p:cNvCxnSpPr/>
          <p:nvPr/>
        </p:nvCxnSpPr>
        <p:spPr>
          <a:xfrm>
            <a:off x="10875264" y="2670048"/>
            <a:ext cx="48767" cy="0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" name="Connector 411"/>
          <p:cNvCxnSpPr/>
          <p:nvPr/>
        </p:nvCxnSpPr>
        <p:spPr>
          <a:xfrm>
            <a:off x="10924031" y="2670048"/>
            <a:ext cx="48769" cy="0"/>
          </a:xfrm>
          <a:prstGeom prst="line">
            <a:avLst/>
          </a:prstGeom>
          <a:ln w="15240">
            <a:solidFill>
              <a:srgbClr val="1E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3" name="TextBox 412"/>
          <p:cNvSpPr txBox="1"/>
          <p:nvPr/>
        </p:nvSpPr>
        <p:spPr>
          <a:xfrm>
            <a:off x="8247888" y="391363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70" b="1">
                <a:solidFill>
                  <a:srgbClr val="1E5A96"/>
                </a:solidFill>
                <a:latin typeface="Noto Sans CJK JP"/>
              </a:defRPr>
            </a:pPr>
            <a:r>
              <a:t>Kd=0</a:t>
            </a:r>
          </a:p>
        </p:txBody>
      </p:sp>
      <p:cxnSp>
        <p:nvCxnSpPr>
          <p:cNvPr id="414" name="Connector 413"/>
          <p:cNvCxnSpPr/>
          <p:nvPr/>
        </p:nvCxnSpPr>
        <p:spPr>
          <a:xfrm flipV="1">
            <a:off x="8339327" y="3391333"/>
            <a:ext cx="48768" cy="156539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5" name="Connector 414"/>
          <p:cNvCxnSpPr/>
          <p:nvPr/>
        </p:nvCxnSpPr>
        <p:spPr>
          <a:xfrm flipV="1">
            <a:off x="8388095" y="3260285"/>
            <a:ext cx="48769" cy="131048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6" name="Connector 415"/>
          <p:cNvCxnSpPr/>
          <p:nvPr/>
        </p:nvCxnSpPr>
        <p:spPr>
          <a:xfrm flipV="1">
            <a:off x="8436864" y="3150933"/>
            <a:ext cx="48768" cy="109352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7" name="Connector 416"/>
          <p:cNvCxnSpPr/>
          <p:nvPr/>
        </p:nvCxnSpPr>
        <p:spPr>
          <a:xfrm flipV="1">
            <a:off x="8485632" y="3059989"/>
            <a:ext cx="48767" cy="90944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8" name="Connector 417"/>
          <p:cNvCxnSpPr/>
          <p:nvPr/>
        </p:nvCxnSpPr>
        <p:spPr>
          <a:xfrm flipV="1">
            <a:off x="8534399" y="2984617"/>
            <a:ext cx="48769" cy="75372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9" name="Connector 418"/>
          <p:cNvCxnSpPr/>
          <p:nvPr/>
        </p:nvCxnSpPr>
        <p:spPr>
          <a:xfrm flipV="1">
            <a:off x="8583168" y="2922375"/>
            <a:ext cx="48768" cy="62242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0" name="Connector 419"/>
          <p:cNvCxnSpPr/>
          <p:nvPr/>
        </p:nvCxnSpPr>
        <p:spPr>
          <a:xfrm flipV="1">
            <a:off x="8631936" y="2871170"/>
            <a:ext cx="48767" cy="51205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1" name="Connector 420"/>
          <p:cNvCxnSpPr/>
          <p:nvPr/>
        </p:nvCxnSpPr>
        <p:spPr>
          <a:xfrm flipV="1">
            <a:off x="8680703" y="2829215"/>
            <a:ext cx="48768" cy="41955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2" name="Connector 421"/>
          <p:cNvCxnSpPr/>
          <p:nvPr/>
        </p:nvCxnSpPr>
        <p:spPr>
          <a:xfrm flipV="1">
            <a:off x="8729471" y="2794986"/>
            <a:ext cx="48769" cy="34229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3" name="Connector 422"/>
          <p:cNvCxnSpPr/>
          <p:nvPr/>
        </p:nvCxnSpPr>
        <p:spPr>
          <a:xfrm flipV="1">
            <a:off x="8778240" y="2767189"/>
            <a:ext cx="48768" cy="27797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4" name="Connector 423"/>
          <p:cNvCxnSpPr/>
          <p:nvPr/>
        </p:nvCxnSpPr>
        <p:spPr>
          <a:xfrm flipV="1">
            <a:off x="8827008" y="2744729"/>
            <a:ext cx="48767" cy="22460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5" name="Connector 424"/>
          <p:cNvCxnSpPr/>
          <p:nvPr/>
        </p:nvCxnSpPr>
        <p:spPr>
          <a:xfrm flipV="1">
            <a:off x="8875775" y="2726680"/>
            <a:ext cx="48769" cy="18049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6" name="Connector 425"/>
          <p:cNvCxnSpPr/>
          <p:nvPr/>
        </p:nvCxnSpPr>
        <p:spPr>
          <a:xfrm flipV="1">
            <a:off x="8924544" y="2712265"/>
            <a:ext cx="48768" cy="14415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7" name="Connector 426"/>
          <p:cNvCxnSpPr/>
          <p:nvPr/>
        </p:nvCxnSpPr>
        <p:spPr>
          <a:xfrm flipV="1">
            <a:off x="8973312" y="2700831"/>
            <a:ext cx="48767" cy="11434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8" name="Connector 427"/>
          <p:cNvCxnSpPr/>
          <p:nvPr/>
        </p:nvCxnSpPr>
        <p:spPr>
          <a:xfrm flipV="1">
            <a:off x="9022079" y="2691832"/>
            <a:ext cx="48769" cy="8999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9" name="Connector 428"/>
          <p:cNvCxnSpPr/>
          <p:nvPr/>
        </p:nvCxnSpPr>
        <p:spPr>
          <a:xfrm flipV="1">
            <a:off x="9070848" y="2684814"/>
            <a:ext cx="48768" cy="7018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0" name="Connector 429"/>
          <p:cNvCxnSpPr/>
          <p:nvPr/>
        </p:nvCxnSpPr>
        <p:spPr>
          <a:xfrm flipV="1">
            <a:off x="9119616" y="2679398"/>
            <a:ext cx="48767" cy="5416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1" name="Connector 430"/>
          <p:cNvCxnSpPr/>
          <p:nvPr/>
        </p:nvCxnSpPr>
        <p:spPr>
          <a:xfrm flipV="1">
            <a:off x="9168383" y="2675273"/>
            <a:ext cx="48768" cy="4125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2" name="Connector 431"/>
          <p:cNvCxnSpPr/>
          <p:nvPr/>
        </p:nvCxnSpPr>
        <p:spPr>
          <a:xfrm flipV="1">
            <a:off x="9217151" y="2672181"/>
            <a:ext cx="48769" cy="3092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3" name="Connector 432"/>
          <p:cNvCxnSpPr/>
          <p:nvPr/>
        </p:nvCxnSpPr>
        <p:spPr>
          <a:xfrm flipV="1">
            <a:off x="9265920" y="2669909"/>
            <a:ext cx="48768" cy="2272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" name="Connector 433"/>
          <p:cNvCxnSpPr/>
          <p:nvPr/>
        </p:nvCxnSpPr>
        <p:spPr>
          <a:xfrm flipV="1">
            <a:off x="9314688" y="2668285"/>
            <a:ext cx="48767" cy="1624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5" name="Connector 434"/>
          <p:cNvCxnSpPr/>
          <p:nvPr/>
        </p:nvCxnSpPr>
        <p:spPr>
          <a:xfrm flipV="1">
            <a:off x="9363455" y="2667167"/>
            <a:ext cx="48769" cy="1118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 flipV="1">
            <a:off x="9412224" y="2666442"/>
            <a:ext cx="48768" cy="725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" name="Connector 436"/>
          <p:cNvCxnSpPr/>
          <p:nvPr/>
        </p:nvCxnSpPr>
        <p:spPr>
          <a:xfrm flipV="1">
            <a:off x="9460992" y="2666016"/>
            <a:ext cx="48767" cy="426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" name="Connector 437"/>
          <p:cNvCxnSpPr/>
          <p:nvPr/>
        </p:nvCxnSpPr>
        <p:spPr>
          <a:xfrm flipV="1">
            <a:off x="9509759" y="2665817"/>
            <a:ext cx="48769" cy="199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 flipV="1">
            <a:off x="9558528" y="2665785"/>
            <a:ext cx="48768" cy="32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" name="Connector 439"/>
          <p:cNvCxnSpPr/>
          <p:nvPr/>
        </p:nvCxnSpPr>
        <p:spPr>
          <a:xfrm>
            <a:off x="9607296" y="2665785"/>
            <a:ext cx="48767" cy="89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" name="Connector 440"/>
          <p:cNvCxnSpPr/>
          <p:nvPr/>
        </p:nvCxnSpPr>
        <p:spPr>
          <a:xfrm>
            <a:off x="9656063" y="2665874"/>
            <a:ext cx="48769" cy="172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>
            <a:off x="9704832" y="2666046"/>
            <a:ext cx="48768" cy="229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Connector 442"/>
          <p:cNvCxnSpPr/>
          <p:nvPr/>
        </p:nvCxnSpPr>
        <p:spPr>
          <a:xfrm>
            <a:off x="9753600" y="2666275"/>
            <a:ext cx="48767" cy="263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" name="Connector 443"/>
          <p:cNvCxnSpPr/>
          <p:nvPr/>
        </p:nvCxnSpPr>
        <p:spPr>
          <a:xfrm>
            <a:off x="9802367" y="2666538"/>
            <a:ext cx="48768" cy="280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Connector 444"/>
          <p:cNvCxnSpPr/>
          <p:nvPr/>
        </p:nvCxnSpPr>
        <p:spPr>
          <a:xfrm>
            <a:off x="9851135" y="2666818"/>
            <a:ext cx="48769" cy="285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Connector 445"/>
          <p:cNvCxnSpPr/>
          <p:nvPr/>
        </p:nvCxnSpPr>
        <p:spPr>
          <a:xfrm>
            <a:off x="9899904" y="2667103"/>
            <a:ext cx="48768" cy="281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7" name="Connector 446"/>
          <p:cNvCxnSpPr/>
          <p:nvPr/>
        </p:nvCxnSpPr>
        <p:spPr>
          <a:xfrm>
            <a:off x="9948672" y="2667384"/>
            <a:ext cx="48767" cy="272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Connector 447"/>
          <p:cNvCxnSpPr/>
          <p:nvPr/>
        </p:nvCxnSpPr>
        <p:spPr>
          <a:xfrm>
            <a:off x="9997439" y="2667656"/>
            <a:ext cx="48769" cy="257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Connector 448"/>
          <p:cNvCxnSpPr/>
          <p:nvPr/>
        </p:nvCxnSpPr>
        <p:spPr>
          <a:xfrm>
            <a:off x="10046208" y="2667913"/>
            <a:ext cx="48768" cy="240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 449"/>
          <p:cNvCxnSpPr/>
          <p:nvPr/>
        </p:nvCxnSpPr>
        <p:spPr>
          <a:xfrm>
            <a:off x="10094976" y="2668153"/>
            <a:ext cx="48767" cy="221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Connector 450"/>
          <p:cNvCxnSpPr/>
          <p:nvPr/>
        </p:nvCxnSpPr>
        <p:spPr>
          <a:xfrm>
            <a:off x="10143743" y="2668374"/>
            <a:ext cx="48768" cy="203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" name="Connector 451"/>
          <p:cNvCxnSpPr/>
          <p:nvPr/>
        </p:nvCxnSpPr>
        <p:spPr>
          <a:xfrm>
            <a:off x="10192511" y="2668577"/>
            <a:ext cx="48769" cy="184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3" name="Connector 452"/>
          <p:cNvCxnSpPr/>
          <p:nvPr/>
        </p:nvCxnSpPr>
        <p:spPr>
          <a:xfrm>
            <a:off x="10241280" y="2668761"/>
            <a:ext cx="48767" cy="165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" name="Connector 453"/>
          <p:cNvCxnSpPr/>
          <p:nvPr/>
        </p:nvCxnSpPr>
        <p:spPr>
          <a:xfrm>
            <a:off x="10290047" y="2668926"/>
            <a:ext cx="48768" cy="148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" name="Connector 454"/>
          <p:cNvCxnSpPr/>
          <p:nvPr/>
        </p:nvCxnSpPr>
        <p:spPr>
          <a:xfrm>
            <a:off x="10338815" y="2669074"/>
            <a:ext cx="48769" cy="131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" name="Connector 455"/>
          <p:cNvCxnSpPr/>
          <p:nvPr/>
        </p:nvCxnSpPr>
        <p:spPr>
          <a:xfrm>
            <a:off x="10387584" y="2669205"/>
            <a:ext cx="48767" cy="116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 456"/>
          <p:cNvCxnSpPr/>
          <p:nvPr/>
        </p:nvCxnSpPr>
        <p:spPr>
          <a:xfrm>
            <a:off x="10436351" y="2669321"/>
            <a:ext cx="48768" cy="103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8" name="Connector 457"/>
          <p:cNvCxnSpPr/>
          <p:nvPr/>
        </p:nvCxnSpPr>
        <p:spPr>
          <a:xfrm>
            <a:off x="10485119" y="2669424"/>
            <a:ext cx="48769" cy="89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" name="Connector 458"/>
          <p:cNvCxnSpPr/>
          <p:nvPr/>
        </p:nvCxnSpPr>
        <p:spPr>
          <a:xfrm>
            <a:off x="10533888" y="2669513"/>
            <a:ext cx="48768" cy="78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" name="Connector 459"/>
          <p:cNvCxnSpPr/>
          <p:nvPr/>
        </p:nvCxnSpPr>
        <p:spPr>
          <a:xfrm>
            <a:off x="10582656" y="2669591"/>
            <a:ext cx="48767" cy="68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" name="Connector 460"/>
          <p:cNvCxnSpPr/>
          <p:nvPr/>
        </p:nvCxnSpPr>
        <p:spPr>
          <a:xfrm>
            <a:off x="10631423" y="2669659"/>
            <a:ext cx="48769" cy="59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 461"/>
          <p:cNvCxnSpPr/>
          <p:nvPr/>
        </p:nvCxnSpPr>
        <p:spPr>
          <a:xfrm>
            <a:off x="10680192" y="2669718"/>
            <a:ext cx="48768" cy="51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" name="Connector 462"/>
          <p:cNvCxnSpPr/>
          <p:nvPr/>
        </p:nvCxnSpPr>
        <p:spPr>
          <a:xfrm>
            <a:off x="10728960" y="2669769"/>
            <a:ext cx="48767" cy="44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Connector 463"/>
          <p:cNvCxnSpPr/>
          <p:nvPr/>
        </p:nvCxnSpPr>
        <p:spPr>
          <a:xfrm>
            <a:off x="10777727" y="2669813"/>
            <a:ext cx="48769" cy="37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" name="Connector 464"/>
          <p:cNvCxnSpPr/>
          <p:nvPr/>
        </p:nvCxnSpPr>
        <p:spPr>
          <a:xfrm>
            <a:off x="10826496" y="2669850"/>
            <a:ext cx="48768" cy="32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" name="Connector 465"/>
          <p:cNvCxnSpPr/>
          <p:nvPr/>
        </p:nvCxnSpPr>
        <p:spPr>
          <a:xfrm>
            <a:off x="10875264" y="2669882"/>
            <a:ext cx="48767" cy="27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" name="Connector 466"/>
          <p:cNvCxnSpPr/>
          <p:nvPr/>
        </p:nvCxnSpPr>
        <p:spPr>
          <a:xfrm>
            <a:off x="10924031" y="2669909"/>
            <a:ext cx="48769" cy="24"/>
          </a:xfrm>
          <a:prstGeom prst="line">
            <a:avLst/>
          </a:prstGeom>
          <a:ln w="15240">
            <a:solidFill>
              <a:srgbClr val="AA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8" name="TextBox 467"/>
          <p:cNvSpPr txBox="1"/>
          <p:nvPr/>
        </p:nvSpPr>
        <p:spPr>
          <a:xfrm>
            <a:off x="9208008" y="391363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70" b="1">
                <a:solidFill>
                  <a:srgbClr val="AA5F14"/>
                </a:solidFill>
                <a:latin typeface="Noto Sans CJK JP"/>
              </a:defRPr>
            </a:pPr>
            <a:r>
              <a:t>Kd=.5</a:t>
            </a:r>
          </a:p>
        </p:txBody>
      </p:sp>
      <p:cxnSp>
        <p:nvCxnSpPr>
          <p:cNvPr id="469" name="Connector 468"/>
          <p:cNvCxnSpPr/>
          <p:nvPr/>
        </p:nvCxnSpPr>
        <p:spPr>
          <a:xfrm flipV="1">
            <a:off x="8339327" y="3304662"/>
            <a:ext cx="48768" cy="96906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" name="Connector 469"/>
          <p:cNvCxnSpPr/>
          <p:nvPr/>
        </p:nvCxnSpPr>
        <p:spPr>
          <a:xfrm flipV="1">
            <a:off x="8388095" y="3217038"/>
            <a:ext cx="48769" cy="87624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Connector 470"/>
          <p:cNvCxnSpPr/>
          <p:nvPr/>
        </p:nvCxnSpPr>
        <p:spPr>
          <a:xfrm flipV="1">
            <a:off x="8436864" y="3138408"/>
            <a:ext cx="48768" cy="78630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Connector 471"/>
          <p:cNvCxnSpPr/>
          <p:nvPr/>
        </p:nvCxnSpPr>
        <p:spPr>
          <a:xfrm flipV="1">
            <a:off x="8485632" y="3068354"/>
            <a:ext cx="48767" cy="70054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" name="Connector 472"/>
          <p:cNvCxnSpPr/>
          <p:nvPr/>
        </p:nvCxnSpPr>
        <p:spPr>
          <a:xfrm flipV="1">
            <a:off x="8534399" y="3006364"/>
            <a:ext cx="48769" cy="61990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4" name="Connector 473"/>
          <p:cNvCxnSpPr/>
          <p:nvPr/>
        </p:nvCxnSpPr>
        <p:spPr>
          <a:xfrm flipV="1">
            <a:off x="8583168" y="2951873"/>
            <a:ext cx="48768" cy="54491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5" name="Connector 474"/>
          <p:cNvCxnSpPr/>
          <p:nvPr/>
        </p:nvCxnSpPr>
        <p:spPr>
          <a:xfrm flipV="1">
            <a:off x="8631936" y="2904282"/>
            <a:ext cx="48767" cy="47591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Connector 475"/>
          <p:cNvCxnSpPr/>
          <p:nvPr/>
        </p:nvCxnSpPr>
        <p:spPr>
          <a:xfrm flipV="1">
            <a:off x="8680703" y="2862985"/>
            <a:ext cx="48768" cy="41297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7" name="Connector 476"/>
          <p:cNvCxnSpPr/>
          <p:nvPr/>
        </p:nvCxnSpPr>
        <p:spPr>
          <a:xfrm flipV="1">
            <a:off x="8729471" y="2827380"/>
            <a:ext cx="48769" cy="35605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8" name="Connector 477"/>
          <p:cNvCxnSpPr/>
          <p:nvPr/>
        </p:nvCxnSpPr>
        <p:spPr>
          <a:xfrm flipV="1">
            <a:off x="8778240" y="2796885"/>
            <a:ext cx="48768" cy="30495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9" name="Connector 478"/>
          <p:cNvCxnSpPr/>
          <p:nvPr/>
        </p:nvCxnSpPr>
        <p:spPr>
          <a:xfrm flipV="1">
            <a:off x="8827008" y="2770944"/>
            <a:ext cx="48767" cy="25941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" name="Connector 479"/>
          <p:cNvCxnSpPr/>
          <p:nvPr/>
        </p:nvCxnSpPr>
        <p:spPr>
          <a:xfrm flipV="1">
            <a:off x="8875775" y="2749034"/>
            <a:ext cx="48769" cy="21910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1" name="Connector 480"/>
          <p:cNvCxnSpPr/>
          <p:nvPr/>
        </p:nvCxnSpPr>
        <p:spPr>
          <a:xfrm flipV="1">
            <a:off x="8924544" y="2730667"/>
            <a:ext cx="48768" cy="18367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2" name="Connector 481"/>
          <p:cNvCxnSpPr/>
          <p:nvPr/>
        </p:nvCxnSpPr>
        <p:spPr>
          <a:xfrm flipV="1">
            <a:off x="8973312" y="2715397"/>
            <a:ext cx="48767" cy="15270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3" name="Connector 482"/>
          <p:cNvCxnSpPr/>
          <p:nvPr/>
        </p:nvCxnSpPr>
        <p:spPr>
          <a:xfrm flipV="1">
            <a:off x="9022079" y="2702814"/>
            <a:ext cx="48769" cy="12583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Connector 483"/>
          <p:cNvCxnSpPr/>
          <p:nvPr/>
        </p:nvCxnSpPr>
        <p:spPr>
          <a:xfrm flipV="1">
            <a:off x="9070848" y="2692548"/>
            <a:ext cx="48768" cy="10266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5" name="Connector 484"/>
          <p:cNvCxnSpPr/>
          <p:nvPr/>
        </p:nvCxnSpPr>
        <p:spPr>
          <a:xfrm flipV="1">
            <a:off x="9119616" y="2684268"/>
            <a:ext cx="48767" cy="8280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6" name="Connector 485"/>
          <p:cNvCxnSpPr/>
          <p:nvPr/>
        </p:nvCxnSpPr>
        <p:spPr>
          <a:xfrm flipV="1">
            <a:off x="9168383" y="2677678"/>
            <a:ext cx="48768" cy="6590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7" name="Connector 486"/>
          <p:cNvCxnSpPr/>
          <p:nvPr/>
        </p:nvCxnSpPr>
        <p:spPr>
          <a:xfrm flipV="1">
            <a:off x="9217151" y="2672515"/>
            <a:ext cx="48769" cy="5163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" name="Connector 487"/>
          <p:cNvCxnSpPr/>
          <p:nvPr/>
        </p:nvCxnSpPr>
        <p:spPr>
          <a:xfrm flipV="1">
            <a:off x="9265920" y="2668549"/>
            <a:ext cx="48768" cy="3966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" name="Connector 488"/>
          <p:cNvCxnSpPr/>
          <p:nvPr/>
        </p:nvCxnSpPr>
        <p:spPr>
          <a:xfrm flipV="1">
            <a:off x="9314688" y="2665578"/>
            <a:ext cx="48767" cy="2971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0" name="Connector 489"/>
          <p:cNvCxnSpPr/>
          <p:nvPr/>
        </p:nvCxnSpPr>
        <p:spPr>
          <a:xfrm flipV="1">
            <a:off x="9363455" y="2663428"/>
            <a:ext cx="48769" cy="2150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1" name="Connector 490"/>
          <p:cNvCxnSpPr/>
          <p:nvPr/>
        </p:nvCxnSpPr>
        <p:spPr>
          <a:xfrm flipV="1">
            <a:off x="9412224" y="2661948"/>
            <a:ext cx="48768" cy="1480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2" name="Connector 491"/>
          <p:cNvCxnSpPr/>
          <p:nvPr/>
        </p:nvCxnSpPr>
        <p:spPr>
          <a:xfrm flipV="1">
            <a:off x="9460992" y="2661008"/>
            <a:ext cx="48767" cy="940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3" name="Connector 492"/>
          <p:cNvCxnSpPr/>
          <p:nvPr/>
        </p:nvCxnSpPr>
        <p:spPr>
          <a:xfrm flipV="1">
            <a:off x="9509759" y="2660499"/>
            <a:ext cx="48769" cy="509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4" name="Connector 493"/>
          <p:cNvCxnSpPr/>
          <p:nvPr/>
        </p:nvCxnSpPr>
        <p:spPr>
          <a:xfrm flipV="1">
            <a:off x="9558528" y="2660327"/>
            <a:ext cx="48768" cy="172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5" name="Connector 494"/>
          <p:cNvCxnSpPr/>
          <p:nvPr/>
        </p:nvCxnSpPr>
        <p:spPr>
          <a:xfrm>
            <a:off x="9607296" y="2660327"/>
            <a:ext cx="48767" cy="88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6" name="Connector 495"/>
          <p:cNvCxnSpPr/>
          <p:nvPr/>
        </p:nvCxnSpPr>
        <p:spPr>
          <a:xfrm>
            <a:off x="9656063" y="2660415"/>
            <a:ext cx="48769" cy="282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7" name="Connector 496"/>
          <p:cNvCxnSpPr/>
          <p:nvPr/>
        </p:nvCxnSpPr>
        <p:spPr>
          <a:xfrm>
            <a:off x="9704832" y="2660697"/>
            <a:ext cx="48768" cy="424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" name="Connector 497"/>
          <p:cNvCxnSpPr/>
          <p:nvPr/>
        </p:nvCxnSpPr>
        <p:spPr>
          <a:xfrm>
            <a:off x="9753600" y="2661121"/>
            <a:ext cx="48767" cy="520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9" name="Connector 498"/>
          <p:cNvCxnSpPr/>
          <p:nvPr/>
        </p:nvCxnSpPr>
        <p:spPr>
          <a:xfrm>
            <a:off x="9802367" y="2661641"/>
            <a:ext cx="48768" cy="583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0" name="Connector 499"/>
          <p:cNvCxnSpPr/>
          <p:nvPr/>
        </p:nvCxnSpPr>
        <p:spPr>
          <a:xfrm>
            <a:off x="9851135" y="2662224"/>
            <a:ext cx="48769" cy="617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1" name="Connector 500"/>
          <p:cNvCxnSpPr/>
          <p:nvPr/>
        </p:nvCxnSpPr>
        <p:spPr>
          <a:xfrm>
            <a:off x="9899904" y="2662841"/>
            <a:ext cx="48768" cy="629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2" name="Connector 501"/>
          <p:cNvCxnSpPr/>
          <p:nvPr/>
        </p:nvCxnSpPr>
        <p:spPr>
          <a:xfrm>
            <a:off x="9948672" y="2663470"/>
            <a:ext cx="48767" cy="623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3" name="Connector 502"/>
          <p:cNvCxnSpPr/>
          <p:nvPr/>
        </p:nvCxnSpPr>
        <p:spPr>
          <a:xfrm>
            <a:off x="9997439" y="2664093"/>
            <a:ext cx="48769" cy="606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4" name="Connector 503"/>
          <p:cNvCxnSpPr/>
          <p:nvPr/>
        </p:nvCxnSpPr>
        <p:spPr>
          <a:xfrm>
            <a:off x="10046208" y="2664699"/>
            <a:ext cx="48768" cy="579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5" name="Connector 504"/>
          <p:cNvCxnSpPr/>
          <p:nvPr/>
        </p:nvCxnSpPr>
        <p:spPr>
          <a:xfrm>
            <a:off x="10094976" y="2665278"/>
            <a:ext cx="48767" cy="545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6" name="Connector 505"/>
          <p:cNvCxnSpPr/>
          <p:nvPr/>
        </p:nvCxnSpPr>
        <p:spPr>
          <a:xfrm>
            <a:off x="10143743" y="2665823"/>
            <a:ext cx="48768" cy="508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7" name="Connector 506"/>
          <p:cNvCxnSpPr/>
          <p:nvPr/>
        </p:nvCxnSpPr>
        <p:spPr>
          <a:xfrm>
            <a:off x="10192511" y="2666331"/>
            <a:ext cx="48769" cy="467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8" name="Connector 507"/>
          <p:cNvCxnSpPr/>
          <p:nvPr/>
        </p:nvCxnSpPr>
        <p:spPr>
          <a:xfrm>
            <a:off x="10241280" y="2666798"/>
            <a:ext cx="48767" cy="428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9" name="Connector 508"/>
          <p:cNvCxnSpPr/>
          <p:nvPr/>
        </p:nvCxnSpPr>
        <p:spPr>
          <a:xfrm>
            <a:off x="10290047" y="2667226"/>
            <a:ext cx="48768" cy="386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0" name="Connector 509"/>
          <p:cNvCxnSpPr/>
          <p:nvPr/>
        </p:nvCxnSpPr>
        <p:spPr>
          <a:xfrm>
            <a:off x="10338815" y="2667612"/>
            <a:ext cx="48769" cy="348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1" name="Connector 510"/>
          <p:cNvCxnSpPr/>
          <p:nvPr/>
        </p:nvCxnSpPr>
        <p:spPr>
          <a:xfrm>
            <a:off x="10387584" y="2667960"/>
            <a:ext cx="48767" cy="310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2" name="Connector 511"/>
          <p:cNvCxnSpPr/>
          <p:nvPr/>
        </p:nvCxnSpPr>
        <p:spPr>
          <a:xfrm>
            <a:off x="10436351" y="2668270"/>
            <a:ext cx="48768" cy="275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3" name="Connector 512"/>
          <p:cNvCxnSpPr/>
          <p:nvPr/>
        </p:nvCxnSpPr>
        <p:spPr>
          <a:xfrm>
            <a:off x="10485119" y="2668545"/>
            <a:ext cx="48769" cy="241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4" name="Connector 513"/>
          <p:cNvCxnSpPr/>
          <p:nvPr/>
        </p:nvCxnSpPr>
        <p:spPr>
          <a:xfrm>
            <a:off x="10533888" y="2668786"/>
            <a:ext cx="48768" cy="212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5" name="Connector 514"/>
          <p:cNvCxnSpPr/>
          <p:nvPr/>
        </p:nvCxnSpPr>
        <p:spPr>
          <a:xfrm>
            <a:off x="10582656" y="2668998"/>
            <a:ext cx="48767" cy="183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6" name="Connector 515"/>
          <p:cNvCxnSpPr/>
          <p:nvPr/>
        </p:nvCxnSpPr>
        <p:spPr>
          <a:xfrm>
            <a:off x="10631423" y="2669181"/>
            <a:ext cx="48769" cy="159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7" name="Connector 516"/>
          <p:cNvCxnSpPr/>
          <p:nvPr/>
        </p:nvCxnSpPr>
        <p:spPr>
          <a:xfrm>
            <a:off x="10680192" y="2669340"/>
            <a:ext cx="48768" cy="136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8" name="Connector 517"/>
          <p:cNvCxnSpPr/>
          <p:nvPr/>
        </p:nvCxnSpPr>
        <p:spPr>
          <a:xfrm>
            <a:off x="10728960" y="2669476"/>
            <a:ext cx="48767" cy="116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9" name="Connector 518"/>
          <p:cNvCxnSpPr/>
          <p:nvPr/>
        </p:nvCxnSpPr>
        <p:spPr>
          <a:xfrm>
            <a:off x="10777727" y="2669592"/>
            <a:ext cx="48769" cy="97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0" name="Connector 519"/>
          <p:cNvCxnSpPr/>
          <p:nvPr/>
        </p:nvCxnSpPr>
        <p:spPr>
          <a:xfrm>
            <a:off x="10826496" y="2669689"/>
            <a:ext cx="48768" cy="83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1" name="Connector 520"/>
          <p:cNvCxnSpPr/>
          <p:nvPr/>
        </p:nvCxnSpPr>
        <p:spPr>
          <a:xfrm>
            <a:off x="10875264" y="2669772"/>
            <a:ext cx="48767" cy="68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2" name="Connector 521"/>
          <p:cNvCxnSpPr/>
          <p:nvPr/>
        </p:nvCxnSpPr>
        <p:spPr>
          <a:xfrm>
            <a:off x="10924031" y="2669840"/>
            <a:ext cx="48769" cy="57"/>
          </a:xfrm>
          <a:prstGeom prst="line">
            <a:avLst/>
          </a:prstGeom>
          <a:ln w="15240">
            <a:solidFill>
              <a:srgbClr val="147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3" name="TextBox 522"/>
          <p:cNvSpPr txBox="1"/>
          <p:nvPr/>
        </p:nvSpPr>
        <p:spPr>
          <a:xfrm>
            <a:off x="10168128" y="391363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70" b="1">
                <a:solidFill>
                  <a:srgbClr val="147D69"/>
                </a:solidFill>
                <a:latin typeface="Noto Sans CJK JP"/>
              </a:defRPr>
            </a:pPr>
            <a:r>
              <a:t>Kd=1</a:t>
            </a:r>
          </a:p>
        </p:txBody>
      </p:sp>
      <p:sp>
        <p:nvSpPr>
          <p:cNvPr id="524" name="TextBox 523"/>
          <p:cNvSpPr txBox="1"/>
          <p:nvPr/>
        </p:nvSpPr>
        <p:spPr>
          <a:xfrm>
            <a:off x="8266175" y="3794760"/>
            <a:ext cx="1828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 b="0">
                <a:solidFill>
                  <a:srgbClr val="5A6473"/>
                </a:solidFill>
                <a:latin typeface="Noto Sans CJK JP"/>
              </a:defRPr>
            </a:pPr>
            <a:r>
              <a:t>0</a:t>
            </a:r>
          </a:p>
        </p:txBody>
      </p:sp>
      <p:sp>
        <p:nvSpPr>
          <p:cNvPr id="525" name="TextBox 524"/>
          <p:cNvSpPr txBox="1"/>
          <p:nvPr/>
        </p:nvSpPr>
        <p:spPr>
          <a:xfrm>
            <a:off x="10789920" y="3794760"/>
            <a:ext cx="347472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 b="0">
                <a:solidFill>
                  <a:srgbClr val="5A6473"/>
                </a:solidFill>
                <a:latin typeface="Noto Sans CJK JP"/>
              </a:defRPr>
            </a:pPr>
            <a:r>
              <a:t>15 s</a:t>
            </a:r>
          </a:p>
        </p:txBody>
      </p:sp>
      <p:sp>
        <p:nvSpPr>
          <p:cNvPr id="526" name="TextBox 525"/>
          <p:cNvSpPr txBox="1"/>
          <p:nvPr/>
        </p:nvSpPr>
        <p:spPr>
          <a:xfrm>
            <a:off x="7973567" y="2596896"/>
            <a:ext cx="3200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 b="0">
                <a:solidFill>
                  <a:srgbClr val="5A6473"/>
                </a:solidFill>
                <a:latin typeface="Noto Sans CJK JP"/>
              </a:defRPr>
            </a:pPr>
            <a:r>
              <a:t>1.0</a:t>
            </a:r>
          </a:p>
        </p:txBody>
      </p:sp>
      <p:sp>
        <p:nvSpPr>
          <p:cNvPr id="527" name="Rounded Rectangle 526"/>
          <p:cNvSpPr/>
          <p:nvPr/>
        </p:nvSpPr>
        <p:spPr>
          <a:xfrm>
            <a:off x="594360" y="4507992"/>
            <a:ext cx="109728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TextBox 527"/>
          <p:cNvSpPr txBox="1"/>
          <p:nvPr/>
        </p:nvSpPr>
        <p:spPr>
          <a:xfrm>
            <a:off x="850392" y="4690872"/>
            <a:ext cx="1325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1C2430"/>
                </a:solidFill>
                <a:latin typeface="Noto Sans CJK JP"/>
              </a:defRPr>
            </a:pPr>
            <a:r>
              <a:t>閉ループ分母</a:t>
            </a:r>
          </a:p>
        </p:txBody>
      </p:sp>
      <p:sp>
        <p:nvSpPr>
          <p:cNvPr id="529" name="Rounded Rectangle 528"/>
          <p:cNvSpPr/>
          <p:nvPr/>
        </p:nvSpPr>
        <p:spPr>
          <a:xfrm>
            <a:off x="2048256" y="4599432"/>
            <a:ext cx="3246120" cy="420624"/>
          </a:xfrm>
          <a:prstGeom prst="roundRect">
            <a:avLst/>
          </a:prstGeom>
          <a:solidFill>
            <a:srgbClr val="E9F0F8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TextBox 529"/>
          <p:cNvSpPr txBox="1"/>
          <p:nvPr/>
        </p:nvSpPr>
        <p:spPr>
          <a:xfrm>
            <a:off x="2103120" y="4672584"/>
            <a:ext cx="3136391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C2430"/>
                </a:solidFill>
                <a:latin typeface="Noto Sans CJK JP"/>
              </a:defRPr>
            </a:pPr>
            <a:r>
              <a:t>(T+Kd)s²+(1+Kp)s+Ki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5559552" y="4681728"/>
            <a:ext cx="539496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1">
                <a:solidFill>
                  <a:srgbClr val="1C2430"/>
                </a:solidFill>
                <a:latin typeface="Noto Sans CJK JP"/>
              </a:defRPr>
            </a:pPr>
            <a:r>
              <a:t>ωn=√{Ki/(T+Kd)}    ζ=(1+Kp)/{2√[Ki(T+Kd)]}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841248" y="5266944"/>
            <a:ext cx="1033272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1C2430"/>
                </a:solidFill>
                <a:latin typeface="Noto Sans CJK JP"/>
              </a:defRPr>
            </a:pPr>
            <a:r>
              <a:t>読む指標：最終値 / 定常偏差 / 10–90%立上り / 最大オーバーシュート / 2%整定時間</a:t>
            </a:r>
          </a:p>
        </p:txBody>
      </p:sp>
      <p:sp>
        <p:nvSpPr>
          <p:cNvPr id="533" name="TextBox 532"/>
          <p:cNvSpPr txBox="1"/>
          <p:nvPr/>
        </p:nvSpPr>
        <p:spPr>
          <a:xfrm>
            <a:off x="841248" y="5596128"/>
            <a:ext cx="10332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5A6473"/>
                </a:solidFill>
                <a:latin typeface="Noto Sans CJK JP"/>
              </a:defRPr>
            </a:pPr>
            <a:r>
              <a:t>係数変更の方向を暗記で一般化せず、同一条件の実際の応答を比較する。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E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7432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1C2430"/>
                </a:solidFill>
                <a:latin typeface="Noto Sans CJK JP"/>
              </a:defRPr>
            </a:pPr>
            <a:r>
              <a:t>本試験では「式を読む → E(s) → 最終値 → 応答」の順で処理する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0">
                <a:solidFill>
                  <a:srgbClr val="5A6473"/>
                </a:solidFill>
                <a:latin typeface="Noto Sans CJK JP"/>
              </a:defRPr>
            </a:pPr>
            <a:r>
              <a:t>固定一次1問＋二次4問、計5問・12答案要素をこの章だけで接続する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528816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5A6473"/>
                </a:solidFill>
                <a:latin typeface="Noto Sans CJK JP"/>
              </a:defRPr>
            </a:pPr>
            <a:r>
              <a:t>電験二種 機械・制御 / Topic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5A6473"/>
                </a:solidFill>
                <a:latin typeface="Noto Sans CJK JP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98448"/>
            <a:ext cx="4663440" cy="4645152"/>
          </a:xfrm>
          <a:prstGeom prst="round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499616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1C2430"/>
                </a:solidFill>
                <a:latin typeface="Noto Sans CJK JP"/>
              </a:defRPr>
            </a:pPr>
            <a:r>
              <a:t>解法フロー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20240"/>
            <a:ext cx="402336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0">
                <a:solidFill>
                  <a:srgbClr val="1C2430"/>
                </a:solidFill>
                <a:latin typeface="Noto Sans CJK JP"/>
              </a:defRPr>
            </a:pPr>
            <a:r>
              <a:t>① 定数項・1/s項・s項へ分ける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68296"/>
            <a:ext cx="402336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0">
                <a:solidFill>
                  <a:srgbClr val="1C2430"/>
                </a:solidFill>
                <a:latin typeface="Noto Sans CJK JP"/>
              </a:defRPr>
            </a:pPr>
            <a:r>
              <a:t>② P / PI / PD / PIDを判別する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402336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0">
                <a:solidFill>
                  <a:srgbClr val="1C2430"/>
                </a:solidFill>
                <a:latin typeface="Noto Sans CJK JP"/>
              </a:defRPr>
            </a:pPr>
            <a:r>
              <a:t>③ Kp, Ki, Kd ↔ Ti, Tdを変換する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264408"/>
            <a:ext cx="402336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0">
                <a:solidFill>
                  <a:srgbClr val="1C2430"/>
                </a:solidFill>
                <a:latin typeface="Noto Sans CJK JP"/>
              </a:defRPr>
            </a:pPr>
            <a:r>
              <a:t>④ E(s)=R(s)/{1+C(s)G(s)}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712464"/>
            <a:ext cx="402336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0">
                <a:solidFill>
                  <a:srgbClr val="1C2430"/>
                </a:solidFill>
                <a:latin typeface="Noto Sans CJK JP"/>
              </a:defRPr>
            </a:pPr>
            <a:r>
              <a:t>⑤ ステップ1/s・ランプ1/s²を区別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160520"/>
            <a:ext cx="402336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0">
                <a:solidFill>
                  <a:srgbClr val="1C2430"/>
                </a:solidFill>
                <a:latin typeface="Noto Sans CJK JP"/>
              </a:defRPr>
            </a:pPr>
            <a:r>
              <a:t>⑥ 定常偏差は lim[s→0] sE(s)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608576"/>
            <a:ext cx="402336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0">
                <a:solidFill>
                  <a:srgbClr val="1C2430"/>
                </a:solidFill>
                <a:latin typeface="Noto Sans CJK JP"/>
              </a:defRPr>
            </a:pPr>
            <a:r>
              <a:t>⑦ 時間応答なら閉ループ分母を整理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056631"/>
            <a:ext cx="402336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0">
                <a:solidFill>
                  <a:srgbClr val="1C2430"/>
                </a:solidFill>
                <a:latin typeface="Noto Sans CJK JP"/>
              </a:defRPr>
            </a:pPr>
            <a:r>
              <a:t>⑧ 二次形ならTopic 18のωn・ζへ接続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559552"/>
            <a:ext cx="3931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19" b="1">
                <a:solidFill>
                  <a:srgbClr val="AA5F14"/>
                </a:solidFill>
                <a:latin typeface="Noto Sans CJK JP"/>
              </a:defRPr>
            </a:pPr>
            <a:r>
              <a:t>安定判別・ボード線図はTopic 20。再粘着はTopic 21。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40680" y="1298448"/>
            <a:ext cx="6172200" cy="4645152"/>
          </a:xfrm>
          <a:prstGeom prst="round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05856" y="1508760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C2430"/>
                </a:solidFill>
                <a:latin typeface="Noto Sans CJK JP"/>
              </a:defRPr>
            </a:pPr>
            <a:r>
              <a:t>固定過去問ゲート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0" y="1993392"/>
            <a:ext cx="23317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19" b="0">
                <a:solidFill>
                  <a:srgbClr val="1C2430"/>
                </a:solidFill>
                <a:latin typeface="Noto Sans CJK JP"/>
              </a:defRPr>
            </a:pPr>
            <a:r>
              <a:t>H25 一次 機械 問6(2)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199339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E5A96"/>
                </a:solidFill>
                <a:latin typeface="Noto Sans CJK JP"/>
              </a:defRPr>
            </a:pPr>
            <a: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68512" y="1993392"/>
            <a:ext cx="2606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19" b="0">
                <a:solidFill>
                  <a:srgbClr val="1C2430"/>
                </a:solidFill>
                <a:latin typeface="Noto Sans CJK JP"/>
              </a:defRPr>
            </a:pPr>
            <a:r>
              <a:t>PID標準形・積分時間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587752"/>
            <a:ext cx="23317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19" b="0">
                <a:solidFill>
                  <a:srgbClr val="1C2430"/>
                </a:solidFill>
                <a:latin typeface="Noto Sans CJK JP"/>
              </a:defRPr>
            </a:pPr>
            <a:r>
              <a:t>R07 二次 機械・制御 問4(1)–(3)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258775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E5A96"/>
                </a:solidFill>
                <a:latin typeface="Noto Sans CJK JP"/>
              </a:defRPr>
            </a:pPr>
            <a: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68512" y="2587752"/>
            <a:ext cx="2606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19" b="0">
                <a:solidFill>
                  <a:srgbClr val="1C2430"/>
                </a:solidFill>
                <a:latin typeface="Noto Sans CJK JP"/>
              </a:defRPr>
            </a:pPr>
            <a:r>
              <a:t>PI判別・E(s)・定常偏差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5000" y="3182112"/>
            <a:ext cx="23317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19" b="0">
                <a:solidFill>
                  <a:srgbClr val="1C2430"/>
                </a:solidFill>
                <a:latin typeface="Noto Sans CJK JP"/>
              </a:defRPr>
            </a:pPr>
            <a:r>
              <a:t>H30 二次 機械・制御 問4(1)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318211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E5A96"/>
                </a:solidFill>
                <a:latin typeface="Noto Sans CJK JP"/>
              </a:defRPr>
            </a:pPr>
            <a: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68512" y="3182112"/>
            <a:ext cx="2606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19" b="0">
                <a:solidFill>
                  <a:srgbClr val="1C2430"/>
                </a:solidFill>
                <a:latin typeface="Noto Sans CJK JP"/>
              </a:defRPr>
            </a:pPr>
            <a:r>
              <a:t>比例ゲイン・積分時間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15000" y="3776472"/>
            <a:ext cx="23317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19" b="0">
                <a:solidFill>
                  <a:srgbClr val="1C2430"/>
                </a:solidFill>
                <a:latin typeface="Noto Sans CJK JP"/>
              </a:defRPr>
            </a:pPr>
            <a:r>
              <a:t>H23 二次 機械・制御 問4(4)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377647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E5A96"/>
                </a:solidFill>
                <a:latin typeface="Noto Sans CJK JP"/>
              </a:defRPr>
            </a:pPr>
            <a: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68512" y="3776472"/>
            <a:ext cx="2606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19" b="0">
                <a:solidFill>
                  <a:srgbClr val="1C2430"/>
                </a:solidFill>
                <a:latin typeface="Noto Sans CJK JP"/>
              </a:defRPr>
            </a:pPr>
            <a:r>
              <a:t>PID名称・Kp/Ti/Td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15000" y="4370832"/>
            <a:ext cx="23317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19" b="0">
                <a:solidFill>
                  <a:srgbClr val="1C2430"/>
                </a:solidFill>
                <a:latin typeface="Noto Sans CJK JP"/>
              </a:defRPr>
            </a:pPr>
            <a:r>
              <a:t>R02 二次 機械・制御 問4(1),(2)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437083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E5A96"/>
                </a:solidFill>
                <a:latin typeface="Noto Sans CJK JP"/>
              </a:defRPr>
            </a:pPr>
            <a: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68512" y="4370832"/>
            <a:ext cx="2606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19" b="0">
                <a:solidFill>
                  <a:srgbClr val="1C2430"/>
                </a:solidFill>
                <a:latin typeface="Noto Sans CJK JP"/>
              </a:defRPr>
            </a:pPr>
            <a:r>
              <a:t>P制御・定常偏差・二次形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42432" y="5138928"/>
            <a:ext cx="5394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47D69"/>
                </a:solidFill>
                <a:latin typeface="Noto Sans CJK JP"/>
              </a:defRPr>
            </a:pPr>
            <a:r>
              <a:t>合計5問・12答案要素 → 12 / 12 COVERED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60720" y="5513832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5A6473"/>
                </a:solidFill>
                <a:latin typeface="Noto Sans CJK JP"/>
              </a:defRPr>
            </a:pPr>
            <a:r>
              <a:t>固定過去問の個別正答・最終数値は保存しない。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