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400" b="1"/>
              <a:t>半導体損失は「ON中」と「切換中」に分ける</a:t>
            </a:r>
            <a:endParaRPr lang="ja-JP" sz="2400"/>
          </a:p>
        </p:txBody>
      </p:sp>
      <p:sp>
        <p:nvSpPr>
          <p:cNvPr id="3" name="Text 3"/>
          <p:cNvSpPr txBox="1"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導通損失: P_cond ≈ V_on I_av,device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700000" y="26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スイッチング損失: W_sw = ∫v(t)i(t)dt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700000" y="37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平均: P_sw = f_sw(W_on + W_off)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700000" y="47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OFF漏れ電流はスイッチング損失と区別する。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400" b="1"/>
              <a:t>H22二次型：導通素子は電流の符号で決まる</a:t>
            </a:r>
            <a:endParaRPr lang="ja-JP" sz="2400"/>
          </a:p>
        </p:txBody>
      </p:sp>
      <p:sp>
        <p:nvSpPr>
          <p:cNvPr id="3" name="Text 3"/>
          <p:cNvSpPr txBox="1"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i(θ)=√2 I sin(θ−φ)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700000" y="26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IGBT平均: I_Q=(√2 I/2π)(1+cosφ)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700000" y="37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逆並列ダイオード平均: I_D=(√2 I/2π)(1−cosφ)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700000" y="47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固定問題の代表条件: I_Q=42.0 A / I_D=22.5 A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400" b="1"/>
              <a:t>素子1個→装置損失→発熱・効率</a:t>
            </a:r>
            <a:endParaRPr lang="ja-JP" sz="2400"/>
          </a:p>
        </p:txBody>
      </p:sp>
      <p:sp>
        <p:nvSpPr>
          <p:cNvPr id="3" name="Text 3"/>
          <p:cNvSpPr txBox="1"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仮定例: P_cond=80 W, P_sw=150 W → P_device=230 W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700000" y="26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6素子同条件: P_loss,total=1.38 kW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700000" y="37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入力200 kWなら η=99.31%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700000" y="47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Rθ=0.12 K/Wなら ΔT=27.6 K（教材上の仮定値）</a:t>
            </a:r>
            <a:endParaRPr lang="ja-JP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4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400" b="1"/>
              <a:t>GTO→IGBT→SiC：同一条件と確認済み事実で比較</a:t>
            </a:r>
            <a:endParaRPr lang="ja-JP" sz="2400"/>
          </a:p>
        </p:txBody>
      </p:sp>
      <p:sp>
        <p:nvSpPr>
          <p:cNvPr id="3" name="Text 3"/>
          <p:cNvSpPr txBox="1"/>
          <p:nvPr/>
        </p:nvSpPr>
        <p:spPr>
          <a:xfrm>
            <a:off x="700000" y="16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GTO / IGBT / SiC はパワー変換素子の世代・方式差として扱う。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700000" y="26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N700S: SiC素子を用いた主変換装置の採用を公式資料で確認。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700000" y="370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N700Sの7%削減は車両全体の効果。SiC単独効果へ誤帰属しない。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700000" y="4750000"/>
            <a:ext cx="108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700" b="0"/>
              <a:t>• 固定5過去問・15答案要素を4枚へ接続。固定範囲外追加0件。</a:t>
            </a:r>
            <a:endParaRPr lang="ja-JP" sz="1700"/>
          </a:p>
        </p:txBody>
      </p:sp>
    </p:spTree>
  </p:cSld>
  <p:clrMapOvr>
    <a:masterClrMapping/>
  </p:clrMapOvr>
</p:sld>
</file>