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77724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18872"/>
            <a:ext cx="1037844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400" b="1">
                <a:solidFill>
                  <a:srgbClr val="10253F"/>
                </a:solidFill>
                <a:latin typeface="Noto Sans CJK JP"/>
              </a:rPr>
              <a:t>主回路を「電力の一本道」として読む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548640"/>
            <a:ext cx="1037844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5B6778"/>
                </a:solidFill>
                <a:latin typeface="Noto Sans CJK JP"/>
              </a:rPr>
              <a:t>Topic 22｜変圧器・PWM・DCリンク・VVVF・誘導機・回生を一つの符号規約で接続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914400" cy="603504"/>
          </a:xfrm>
          <a:prstGeom prst="roundRect">
            <a:avLst/>
          </a:prstGeom>
          <a:solidFill>
            <a:srgbClr val="1B91B7"/>
          </a:solidFill>
          <a:ln w="12700">
            <a:solidFill>
              <a:srgbClr val="1B91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架線
25 kV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17320" y="1353312"/>
            <a:ext cx="2286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91640" y="1051560"/>
            <a:ext cx="914400" cy="603504"/>
          </a:xfrm>
          <a:prstGeom prst="roundRect">
            <a:avLst/>
          </a:prstGeom>
          <a:solidFill>
            <a:srgbClr val="1B91B7"/>
          </a:solidFill>
          <a:ln w="12700">
            <a:solidFill>
              <a:srgbClr val="1B91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主変圧器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1353312"/>
            <a:ext cx="2286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051560"/>
            <a:ext cx="914400" cy="603504"/>
          </a:xfrm>
          <a:prstGeom prst="roundRect">
            <a:avLst/>
          </a:prstGeom>
          <a:solidFill>
            <a:srgbClr val="E58B34"/>
          </a:solidFill>
          <a:ln w="12700">
            <a:solidFill>
              <a:srgbClr val="E5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PWM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94760" y="1353312"/>
            <a:ext cx="13716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1051560"/>
            <a:ext cx="914400" cy="603504"/>
          </a:xfrm>
          <a:prstGeom prst="roundRect">
            <a:avLst/>
          </a:prstGeom>
          <a:solidFill>
            <a:srgbClr val="E58B34"/>
          </a:solidFill>
          <a:ln w="12700">
            <a:solidFill>
              <a:srgbClr val="E5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DC
リンク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92040" y="1353312"/>
            <a:ext cx="13716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74920" y="1051560"/>
            <a:ext cx="914400" cy="603504"/>
          </a:xfrm>
          <a:prstGeom prst="roundRect">
            <a:avLst/>
          </a:prstGeom>
          <a:solidFill>
            <a:srgbClr val="E58B34"/>
          </a:solidFill>
          <a:ln w="12700">
            <a:solidFill>
              <a:srgbClr val="E5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VVVF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1353312"/>
            <a:ext cx="13716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1051560"/>
            <a:ext cx="914400" cy="603504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誘導
電動機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600" y="1353312"/>
            <a:ext cx="2286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60920" y="1051560"/>
            <a:ext cx="914400" cy="603504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歯車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1353312"/>
            <a:ext cx="4572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66760" y="1051560"/>
            <a:ext cx="914400" cy="603504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車輪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81160" y="1353312"/>
            <a:ext cx="4572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72600" y="1051560"/>
            <a:ext cx="914400" cy="603504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列車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287000" y="1353312"/>
            <a:ext cx="45719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378440" y="1051560"/>
            <a:ext cx="914400" cy="603504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速度
FB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1965960"/>
            <a:ext cx="347472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2167128"/>
            <a:ext cx="2971800" cy="31089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1B91B7"/>
                </a:solidFill>
                <a:latin typeface="Noto Sans CJK JP"/>
              </a:rPr>
              <a:t>主変圧器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2670048"/>
            <a:ext cx="2971800" cy="1417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Noto Sans CJK JP"/>
              </a:rPr>
              <a:t>P_loss = P₀ + x²P_cu,N
η = P_out / (P_out + P_loss)
最大効率：P₀ = x²P_cu,N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261104"/>
            <a:ext cx="2971800" cy="5486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0">
                <a:solidFill>
                  <a:srgbClr val="5B6778"/>
                </a:solidFill>
                <a:latin typeface="Noto Sans CJK JP"/>
              </a:rPr>
              <a:t>kVAとkWを力率なしで同一視しない。
回生でも損失は正の散逸量。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196596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2167128"/>
            <a:ext cx="3044952" cy="31089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E58B34"/>
                </a:solidFill>
                <a:latin typeface="Noto Sans CJK JP"/>
              </a:rPr>
              <a:t>PWM / DCリンク / VVVF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651760"/>
            <a:ext cx="2999232" cy="14813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Noto Sans CJK JP"/>
              </a:rPr>
              <a:t>PWMコンバータ：交流 ↔ DCリンク
VVVF：DCリンク ↔ 三相可変交流
信号波 ≠ キャリア ≠ 基本波周波数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4279392"/>
            <a:ext cx="292608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0">
                <a:solidFill>
                  <a:srgbClr val="5B6778"/>
                </a:solidFill>
                <a:latin typeface="Noto Sans CJK JP"/>
              </a:rPr>
              <a:t>未指定の変換器損失は追加せず、
基準モデルでは理想変換器とする。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96596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167128"/>
            <a:ext cx="3017520" cy="31089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10253F"/>
                </a:solidFill>
                <a:latin typeface="Noto Sans CJK JP"/>
              </a:rPr>
              <a:t>力行／回生の符号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2743200"/>
            <a:ext cx="2697480" cy="530352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力行：P &gt; 0 / T &gt; 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493008"/>
            <a:ext cx="2697480" cy="530352"/>
          </a:xfrm>
          <a:prstGeom prst="roundRect">
            <a:avLst/>
          </a:prstGeom>
          <a:solidFill>
            <a:srgbClr val="C95757"/>
          </a:solidFill>
          <a:ln w="12700">
            <a:solidFill>
              <a:srgbClr val="C9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回生：P &lt; 0 / T &lt;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7616" y="4261104"/>
            <a:ext cx="3063240" cy="62179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Noto Sans CJK JP"/>
              </a:rPr>
              <a:t>P_cat = P_sec + P_loss,tr
消費=max(P_cat,0)／回生=max(−P_cat,0)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559552"/>
            <a:ext cx="10881360" cy="438912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C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0253F"/>
                </a:solidFill>
                <a:latin typeface="Noto Sans CJK JP"/>
              </a:rPr>
              <a:t>R08一次 問3 (1)〜(3) ｜ R07一次 問4 (4),(5) ｜ R06一次 問2 (1),(2)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6510528"/>
            <a:ext cx="1124712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5B6778"/>
                </a:solidFill>
                <a:latin typeface="Noto Sans CJK JP"/>
              </a:rPr>
              <a:t>出典・条件: 22_integrated_route_simulation.md / SPEC.md ｜ 未確認実車値は真値化しない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77724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18872"/>
            <a:ext cx="1037844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400" b="1">
                <a:solidFill>
                  <a:srgbClr val="10253F"/>
                </a:solidFill>
                <a:latin typeface="Noto Sans CJK JP"/>
              </a:rPr>
              <a:t>誘導機から列車加速度まで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548640"/>
            <a:ext cx="1037844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5B6778"/>
                </a:solidFill>
                <a:latin typeface="Noto Sans CJK JP"/>
              </a:rPr>
              <a:t>同期速度 → 滑り → 電力・トルク → 歯車・車輪 → 運動方程式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490472" cy="566928"/>
          </a:xfrm>
          <a:prstGeom prst="roundRect">
            <a:avLst/>
          </a:prstGeom>
          <a:solidFill>
            <a:srgbClr val="1B91B7"/>
          </a:solidFill>
          <a:ln w="12700">
            <a:solidFill>
              <a:srgbClr val="1B91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nₛ=120f/p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097280"/>
            <a:ext cx="1490472" cy="566928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s=(nₛ−n)/nₛ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097280"/>
            <a:ext cx="1490472" cy="566928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P₂=3|I₂′|²r₂′/s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1097280"/>
            <a:ext cx="1490472" cy="566928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T=P₂/ωₛ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59" y="1097280"/>
            <a:ext cx="1490472" cy="566928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v=πDn/(60i)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097280"/>
            <a:ext cx="1490472" cy="566928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F=2iT/D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1097280"/>
            <a:ext cx="1490472" cy="566928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a=(F−F_R)/M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3429000" cy="3127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286000"/>
            <a:ext cx="292608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6A5ACD"/>
                </a:solidFill>
                <a:latin typeface="Noto Sans CJK JP"/>
              </a:rPr>
              <a:t>滑りの意味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34640"/>
            <a:ext cx="2926080" cy="135331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Noto Sans CJK JP"/>
              </a:rPr>
              <a:t>0 &lt; s &lt; 1：電動機運転
s = 0：同期速度
s &lt; 0：発電機運転 → 回生側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07408"/>
            <a:ext cx="2926080" cy="49377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0">
                <a:solidFill>
                  <a:srgbClr val="5B6778"/>
                </a:solidFill>
                <a:latin typeface="Noto Sans CJK JP"/>
              </a:rPr>
              <a:t>負の滑りを消さず、
電力方向の符号として保持する。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24528" y="2057400"/>
            <a:ext cx="3474720" cy="3127248"/>
          </a:xfrm>
          <a:prstGeom prst="roundRect">
            <a:avLst/>
          </a:prstGeom>
          <a:solidFill>
            <a:srgbClr val="F2FAF6"/>
          </a:solidFill>
          <a:ln w="12700">
            <a:solidFill>
              <a:srgbClr val="C9E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276856"/>
            <a:ext cx="292608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3C9D67"/>
                </a:solidFill>
                <a:latin typeface="Noto Sans CJK JP"/>
              </a:rPr>
              <a:t>t=120 s（力行）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2834640"/>
            <a:ext cx="2788920" cy="17007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Noto Sans CJK JP"/>
              </a:rPr>
              <a:t>f=112.204561 Hz
v=34.266767 m/s
s=+0.152235
T=+16.874 kN·m
a=+0.277014 m/s²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2057400"/>
            <a:ext cx="3685032" cy="3127248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E9C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76856"/>
            <a:ext cx="306324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800" b="1">
                <a:solidFill>
                  <a:srgbClr val="C95757"/>
                </a:solidFill>
                <a:latin typeface="Noto Sans CJK JP"/>
              </a:rPr>
              <a:t>t=210 s（回生）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834640"/>
            <a:ext cx="2926080" cy="17007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400" b="1">
                <a:solidFill>
                  <a:srgbClr val="1E293B"/>
                </a:solidFill>
                <a:latin typeface="Noto Sans CJK JP"/>
              </a:rPr>
              <a:t>f=83.594231 Hz
v=33.307446 m/s
s=−0.106058
T=−13.138 kN·m
a=−0.304617 m/s²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81360" cy="438912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8D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0253F"/>
                </a:solidFill>
                <a:latin typeface="Noto Sans CJK JP"/>
              </a:rPr>
              <a:t>R07一次 問2 (1) ｜ R06一次 問2 (1),(2) ｜ R07二次 機械・制御 問2 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6510528"/>
            <a:ext cx="1124712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5B6778"/>
                </a:solidFill>
                <a:latin typeface="Noto Sans CJK JP"/>
              </a:rPr>
              <a:t>出典・条件: 22_integrated_route_simulation.md / calculation QA ｜ 未確認実車値は真値化しない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77724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18872"/>
            <a:ext cx="1037844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400" b="1">
                <a:solidFill>
                  <a:srgbClr val="10253F"/>
                </a:solidFill>
                <a:latin typeface="Noto Sans CJK JP"/>
              </a:rPr>
              <a:t>速度フィードバックと3301点シミュレーション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548640"/>
            <a:ext cx="1037844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5B6778"/>
                </a:solidFill>
                <a:latin typeface="Noto Sans CJK JP"/>
              </a:rPr>
              <a:t>PI/PID → 周波数指令 → 誘導機 → 列車速度を時系列で戻す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1280160" cy="603504"/>
          </a:xfrm>
          <a:prstGeom prst="roundRect">
            <a:avLst/>
          </a:prstGeom>
          <a:solidFill>
            <a:srgbClr val="1B91B7"/>
          </a:solidFill>
          <a:ln w="12700">
            <a:solidFill>
              <a:srgbClr val="1B91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r
速度指令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57400" y="1051560"/>
            <a:ext cx="1280160" cy="603504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Σ
e=r−y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051560"/>
            <a:ext cx="1280160" cy="603504"/>
          </a:xfrm>
          <a:prstGeom prst="roundRect">
            <a:avLst/>
          </a:prstGeom>
          <a:solidFill>
            <a:srgbClr val="E58B34"/>
          </a:solidFill>
          <a:ln w="12700">
            <a:solidFill>
              <a:srgbClr val="E58B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C(s)
PI/PID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1051560"/>
            <a:ext cx="1280160" cy="603504"/>
          </a:xfrm>
          <a:prstGeom prst="roundRect">
            <a:avLst/>
          </a:prstGeom>
          <a:solidFill>
            <a:srgbClr val="6A5ACD"/>
          </a:solidFill>
          <a:ln w="127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G(s)
主回路＋列車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1280160" cy="603504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JP"/>
              </a:rPr>
              <a:t>y
列車速度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1353312"/>
            <a:ext cx="2286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337560" y="1353312"/>
            <a:ext cx="2286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92040" y="1353312"/>
            <a:ext cx="457200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75120" y="1353312"/>
            <a:ext cx="777239" cy="0"/>
          </a:xfrm>
          <a:prstGeom prst="line">
            <a:avLst/>
          </a:prstGeom>
          <a:ln w="25400">
            <a:solidFill>
              <a:srgbClr val="1025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1353312"/>
            <a:ext cx="822960" cy="0"/>
          </a:xfrm>
          <a:prstGeom prst="line">
            <a:avLst/>
          </a:prstGeom>
          <a:ln w="25400">
            <a:solidFill>
              <a:srgbClr val="3C9D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46920" y="1115568"/>
            <a:ext cx="1874519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1">
                <a:solidFill>
                  <a:srgbClr val="3C9D67"/>
                </a:solidFill>
                <a:latin typeface="Noto Sans CJK JP"/>
              </a:rPr>
              <a:t>単位負帰還
E/R=1/(1+CG)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11680"/>
            <a:ext cx="36576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212848"/>
            <a:ext cx="315468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E58B34"/>
                </a:solidFill>
                <a:latin typeface="Noto Sans CJK JP"/>
              </a:rPr>
              <a:t>二次記述の式と手順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697480"/>
            <a:ext cx="3072384" cy="107899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Noto Sans CJK JP"/>
              </a:rPr>
              <a:t>C(s)=Kp+Ki/s(+Kd·s)
Y/R=CG/(1+CG)
逆ラプラス → y(t) → t=t₀ へ代入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011680"/>
            <a:ext cx="3474720" cy="2057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E9D7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212848"/>
            <a:ext cx="301752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E58B34"/>
                </a:solidFill>
                <a:latin typeface="Noto Sans CJK JP"/>
              </a:rPr>
              <a:t>教材用速度指令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670048"/>
            <a:ext cx="2880360" cy="11430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Noto Sans CJK JP"/>
              </a:rPr>
              <a:t>0–120 s：0→40 m/s
120–180 s：40 m/s
180–300 s：40→0 m/s
300–330 s：0 m/s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011680"/>
            <a:ext cx="3593592" cy="2057400"/>
          </a:xfrm>
          <a:prstGeom prst="roundRect">
            <a:avLst/>
          </a:prstGeom>
          <a:solidFill>
            <a:srgbClr val="EFF7FB"/>
          </a:solidFill>
          <a:ln w="12700">
            <a:solidFill>
              <a:srgbClr val="C9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212848"/>
            <a:ext cx="310896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700" b="1">
                <a:solidFill>
                  <a:srgbClr val="1B91B7"/>
                </a:solidFill>
                <a:latin typeface="Noto Sans CJK JP"/>
              </a:rPr>
              <a:t>計算QA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70048"/>
            <a:ext cx="3108960" cy="11430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Noto Sans CJK JP"/>
              </a:rPr>
              <a:t>3301 rows／Δt=0.1 s
力行 1828点／回生 1149点
消費・回生 同時正値 0
速度負値 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370832"/>
            <a:ext cx="345643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9704"/>
            <a:ext cx="123444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10253F"/>
                </a:solidFill>
                <a:latin typeface="Noto Sans CJK JP"/>
              </a:rPr>
              <a:t>39.367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182880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5B6778"/>
                </a:solidFill>
                <a:latin typeface="Noto Sans CJK JP"/>
              </a:rPr>
              <a:t>max speed [m/s]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370832"/>
            <a:ext cx="345643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489704"/>
            <a:ext cx="123444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10253F"/>
                </a:solidFill>
                <a:latin typeface="Noto Sans CJK JP"/>
              </a:rPr>
              <a:t>4383.698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507992"/>
            <a:ext cx="182880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5B6778"/>
                </a:solidFill>
                <a:latin typeface="Noto Sans CJK JP"/>
              </a:rPr>
              <a:t>max consumption [kW]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370832"/>
            <a:ext cx="345643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489704"/>
            <a:ext cx="1234440" cy="329184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800" b="1">
                <a:solidFill>
                  <a:srgbClr val="10253F"/>
                </a:solidFill>
                <a:latin typeface="Noto Sans CJK JP"/>
              </a:rPr>
              <a:t>2209.887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507992"/>
            <a:ext cx="1828800" cy="29260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5B6778"/>
                </a:solidFill>
                <a:latin typeface="Noto Sans CJK JP"/>
              </a:rPr>
              <a:t>max regeneration [kW]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413248"/>
            <a:ext cx="10881360" cy="438912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8D0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10253F"/>
                </a:solidFill>
                <a:latin typeface="Noto Sans CJK JP"/>
              </a:rPr>
              <a:t>R07二次 問4 (1)〜(5)：PI・偏差・閉ループ・定常偏差・インパルス／時刻応答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10528"/>
            <a:ext cx="1124712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5B6778"/>
                </a:solidFill>
                <a:latin typeface="Noto Sans CJK JP"/>
              </a:rPr>
              <a:t>出典・条件: 22_integrated_route_simulation_calculation_qa.md / results.csv / six SVGs ｜ 未確認実車値は真値化しない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64592"/>
            <a:ext cx="77724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89888" y="118872"/>
            <a:ext cx="1037844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400" b="1">
                <a:solidFill>
                  <a:srgbClr val="10253F"/>
                </a:solidFill>
                <a:latin typeface="Noto Sans CJK JP"/>
              </a:rPr>
              <a:t>固定EXAM_ALIGNMENT 16/16 と出典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548640"/>
            <a:ext cx="1037844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0">
                <a:solidFill>
                  <a:srgbClr val="5B6778"/>
                </a:solidFill>
                <a:latin typeface="Noto Sans CJK JP"/>
              </a:rPr>
              <a:t>一次4問＋二次2問を維持し、仕様外の実車値・制御方式を追加しない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416052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固定過去問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114300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要素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051560"/>
            <a:ext cx="5852160" cy="384048"/>
          </a:xfrm>
          <a:prstGeom prst="roundRect">
            <a:avLst/>
          </a:prstGeom>
          <a:solidFill>
            <a:srgbClr val="10253F"/>
          </a:solidFill>
          <a:ln w="12700">
            <a:solidFill>
              <a:srgbClr val="10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対応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35608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R08一次 機械 問3 (1)〜(3)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3560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435608"/>
            <a:ext cx="5852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1：変圧器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56232"/>
            <a:ext cx="416052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R07一次 機械 問2 (1)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856232"/>
            <a:ext cx="114300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1856232"/>
            <a:ext cx="585216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2：誘導機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76856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R07一次 機械 問4 (4),(5)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27685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6440" y="2276856"/>
            <a:ext cx="5852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1：PWM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97480"/>
            <a:ext cx="416052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R06一次 機械 問2 (1),(2)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697480"/>
            <a:ext cx="114300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2697480"/>
            <a:ext cx="585216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1–2：回生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118104"/>
            <a:ext cx="4160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R07二次 機械・制御 問2 (1)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118104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118104"/>
            <a:ext cx="58521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2：同期速度・トルク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38728"/>
            <a:ext cx="416052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R07二次 機械・制御 問4 (1)〜(5)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3538728"/>
            <a:ext cx="114300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3538728"/>
            <a:ext cx="5852160" cy="420624"/>
          </a:xfrm>
          <a:prstGeom prst="rect">
            <a:avLst/>
          </a:prstGeom>
          <a:solidFill>
            <a:srgbClr val="F1F4F8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l"/>
            <a:r>
              <a:rPr sz="1000" b="0">
                <a:solidFill>
                  <a:srgbClr val="1E293B"/>
                </a:solidFill>
                <a:latin typeface="Noto Sans CJK JP"/>
              </a:rPr>
              <a:t>Slide 3：PI・応答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160520"/>
            <a:ext cx="3154680" cy="530352"/>
          </a:xfrm>
          <a:prstGeom prst="roundRect">
            <a:avLst/>
          </a:prstGeom>
          <a:solidFill>
            <a:srgbClr val="3C9D67"/>
          </a:solidFill>
          <a:ln w="12700">
            <a:solidFill>
              <a:srgbClr val="3C9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CJK JP"/>
              </a:rPr>
              <a:t>16 / 16 COVERED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4041648"/>
            <a:ext cx="37033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206240"/>
            <a:ext cx="32461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600" b="1">
                <a:solidFill>
                  <a:srgbClr val="10253F"/>
                </a:solidFill>
                <a:latin typeface="Noto Sans CJK JP"/>
              </a:rPr>
              <a:t>外部参照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4599432"/>
            <a:ext cx="32004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0">
                <a:solidFill>
                  <a:srgbClr val="1E293B"/>
                </a:solidFill>
                <a:latin typeface="Noto Sans CJK JP"/>
              </a:rPr>
              <a:t>電気技術者試験センター 二種 過去問・解答
e-sysnet（誘導機／制御／PID）
電験王2（R07一次・二次）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4041648"/>
            <a:ext cx="3749039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400" b="0">
                <a:solidFill>
                  <a:srgbClr val="1E293B"/>
                </a:solidFill>
                <a:latin typeface="Noto Sans CJK JP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206240"/>
            <a:ext cx="329184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600" b="1">
                <a:solidFill>
                  <a:srgbClr val="10253F"/>
                </a:solidFill>
                <a:latin typeface="Noto Sans CJK JP"/>
              </a:rPr>
              <a:t>GitHub正本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599432"/>
            <a:ext cx="3255264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00" b="0">
                <a:solidFill>
                  <a:srgbClr val="1E293B"/>
                </a:solidFill>
                <a:latin typeface="Noto Sans CJK JP"/>
              </a:rPr>
              <a:t>22_integrated_route_simulation.md
calculation_qa.md / results.csv / six SVGs
MASTER_SPEC / EXAM_ALIGNMENT_SPEC / series SPEC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81360" cy="438912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E9C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  <a:r>
              <a:rPr sz="1000" b="1">
                <a:solidFill>
                  <a:srgbClr val="C95757"/>
                </a:solidFill>
                <a:latin typeface="Noto Sans CJK JP"/>
              </a:rPr>
              <a:t>外部画像転載なし。固定過去問の個別正答・完成解答は保存せず、独立再解答は全成果物完成後に実施。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6510528"/>
            <a:ext cx="1124712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5B6778"/>
                </a:solidFill>
                <a:latin typeface="Noto Sans CJK JP"/>
              </a:rPr>
              <a:t>出典・条件: MASTER_SPEC.md / EXAM_ALIGNMENT_SPEC.md / series SPEC.md / Topic 22 source ｜ 未確認実車値は真値化しない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