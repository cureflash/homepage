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11480" y="201168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lIns="120000" rIns="120000" tIns="90000" bIns="60000" wrap="square"/>
          <a:lstStyle/>
          <a:p>
            <a:r>
              <a:rPr lang="ja-JP" sz="2600" b="1">
                <a:latin typeface="Arial"/>
                <a:ea typeface="Noto Sans CJK JP"/>
              </a:rPr>
              <a:t>三相2レベル電圧形インバータ</a:t>
            </a:r>
          </a:p>
        </p:txBody>
      </p:sp>
      <p:sp>
        <p:nvSpPr>
          <p:cNvPr id="3" name="Box 3"/>
          <p:cNvSpPr/>
          <p:nvPr/>
        </p:nvSpPr>
        <p:spPr>
          <a:xfrm>
            <a:off x="502920" y="1051560"/>
            <a:ext cx="5394960" cy="448056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6スイッチ構成</a:t>
            </a:r>
          </a:p>
          <a:p>
            <a:r>
              <a:rPr lang="ja-JP" sz="1600" b="0">
                <a:latin typeface="Arial"/>
                <a:ea typeface="Noto Sans CJK JP"/>
              </a:rPr>
              <a:t>U相：S1 / S2　V相：S3 / S4　W相：S5 / S6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相端電圧：v_uO, v_vO, v_wO = ±E_d/2</a:t>
            </a:r>
          </a:p>
          <a:p>
            <a:r>
              <a:rPr lang="ja-JP" sz="1600" b="0">
                <a:latin typeface="Arial"/>
                <a:ea typeface="Noto Sans CJK JP"/>
              </a:rPr>
              <a:t>三相の基準信号：120°位相差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試験手順</a:t>
            </a:r>
          </a:p>
          <a:p>
            <a:r>
              <a:rPr lang="ja-JP" sz="1600" b="0">
                <a:latin typeface="Arial"/>
                <a:ea typeface="Noto Sans CJK JP"/>
              </a:rPr>
              <a:t>① 上下どちらが導通か読む</a:t>
            </a:r>
          </a:p>
          <a:p>
            <a:r>
              <a:rPr lang="ja-JP" sz="1600" b="0">
                <a:latin typeface="Arial"/>
                <a:ea typeface="Noto Sans CJK JP"/>
              </a:rPr>
              <a:t>② 相端を ±E_d/2 に置く</a:t>
            </a:r>
          </a:p>
          <a:p>
            <a:r>
              <a:rPr lang="ja-JP" sz="1600" b="0">
                <a:latin typeface="Arial"/>
                <a:ea typeface="Noto Sans CJK JP"/>
              </a:rPr>
              <a:t>③ 線間電圧を差で求める</a:t>
            </a:r>
          </a:p>
        </p:txBody>
      </p:sp>
      <p:sp>
        <p:nvSpPr>
          <p:cNvPr id="4" name="Box 4"/>
          <p:cNvSpPr/>
          <p:nvPr/>
        </p:nvSpPr>
        <p:spPr>
          <a:xfrm>
            <a:off x="6217920" y="1051560"/>
            <a:ext cx="5440680" cy="448056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700" b="0">
                <a:latin typeface="Arial"/>
                <a:ea typeface="Noto Sans CJK JP"/>
              </a:rPr>
              <a:t>線間電圧</a:t>
            </a:r>
          </a:p>
          <a:p>
            <a:r>
              <a:rPr lang="ja-JP" sz="1700" b="0">
                <a:latin typeface="Arial"/>
                <a:ea typeface="Noto Sans CJK JP"/>
              </a:rPr>
              <a:t>v_uv = v_uO − v_vO</a:t>
            </a:r>
          </a:p>
          <a:p>
            <a:r>
              <a:rPr lang="ja-JP" sz="1700" b="0">
                <a:latin typeface="Arial"/>
                <a:ea typeface="Noto Sans CJK JP"/>
              </a:rPr>
              <a:t>→ +E_d, 0, −E_d の3値</a:t>
            </a:r>
          </a:p>
          <a:p>
            <a:r>
              <a:rPr lang="ja-JP" sz="1700" b="0">
                <a:latin typeface="Arial"/>
                <a:ea typeface="Noto Sans CJK JP"/>
              </a:rPr>
              <a:t/>
            </a:r>
          </a:p>
          <a:p>
            <a:r>
              <a:rPr lang="ja-JP" sz="1700" b="0">
                <a:latin typeface="Arial"/>
                <a:ea typeface="Noto Sans CJK JP"/>
              </a:rPr>
              <a:t>固定過去問：H28二次(1)(2)</a:t>
            </a:r>
          </a:p>
          <a:p>
            <a:r>
              <a:rPr lang="ja-JP" sz="1700" b="0">
                <a:latin typeface="Arial"/>
                <a:ea typeface="Noto Sans CJK JP"/>
              </a:rPr>
              <a:t/>
            </a:r>
          </a:p>
          <a:p>
            <a:r>
              <a:rPr lang="ja-JP" sz="1700" b="0">
                <a:latin typeface="Arial"/>
                <a:ea typeface="Noto Sans CJK JP"/>
              </a:rPr>
              <a:t>境界</a:t>
            </a:r>
          </a:p>
          <a:p>
            <a:r>
              <a:rPr lang="ja-JP" sz="1700" b="0">
                <a:latin typeface="Arial"/>
                <a:ea typeface="Noto Sans CJK JP"/>
              </a:rPr>
              <a:t>V/f制御・ベクトル制御・素子選定はTopic 09以降。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11480" y="201168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lIns="120000" rIns="120000" tIns="90000" bIns="60000" wrap="square"/>
          <a:lstStyle/>
          <a:p>
            <a:r>
              <a:rPr lang="ja-JP" sz="2500" b="1">
                <a:latin typeface="Arial"/>
                <a:ea typeface="Noto Sans CJK JP"/>
              </a:rPr>
              <a:t>正弦波PWM：信号波・キャリア・変調率</a:t>
            </a:r>
          </a:p>
        </p:txBody>
      </p:sp>
      <p:sp>
        <p:nvSpPr>
          <p:cNvPr id="3" name="Box 3"/>
          <p:cNvSpPr/>
          <p:nvPr/>
        </p:nvSpPr>
        <p:spPr>
          <a:xfrm>
            <a:off x="502920" y="1051560"/>
            <a:ext cx="3520440" cy="196596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信号波</a:t>
            </a:r>
          </a:p>
          <a:p>
            <a:r>
              <a:rPr lang="ja-JP" sz="1600" b="0">
                <a:latin typeface="Arial"/>
                <a:ea typeface="Noto Sans CJK JP"/>
              </a:rPr>
              <a:t>f_s = 出力基本波周波数</a:t>
            </a:r>
          </a:p>
          <a:p>
            <a:r>
              <a:rPr lang="ja-JP" sz="1600" b="0">
                <a:latin typeface="Arial"/>
                <a:ea typeface="Noto Sans CJK JP"/>
              </a:rPr>
              <a:t>正弦波で「作りたい交流」を指定</a:t>
            </a:r>
          </a:p>
        </p:txBody>
      </p:sp>
      <p:sp>
        <p:nvSpPr>
          <p:cNvPr id="4" name="Box 4"/>
          <p:cNvSpPr/>
          <p:nvPr/>
        </p:nvSpPr>
        <p:spPr>
          <a:xfrm>
            <a:off x="4343400" y="1051560"/>
            <a:ext cx="3520440" cy="196596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キャリア</a:t>
            </a:r>
          </a:p>
          <a:p>
            <a:r>
              <a:rPr lang="ja-JP" sz="1600" b="0">
                <a:latin typeface="Arial"/>
                <a:ea typeface="Noto Sans CJK JP"/>
              </a:rPr>
              <a:t>f_c = PWMスイッチング周波数</a:t>
            </a:r>
          </a:p>
          <a:p>
            <a:r>
              <a:rPr lang="ja-JP" sz="1600" b="0">
                <a:latin typeface="Arial"/>
                <a:ea typeface="Noto Sans CJK JP"/>
              </a:rPr>
              <a:t>三角波と信号波を比較</a:t>
            </a:r>
          </a:p>
        </p:txBody>
      </p:sp>
      <p:sp>
        <p:nvSpPr>
          <p:cNvPr id="5" name="Box 5"/>
          <p:cNvSpPr/>
          <p:nvPr/>
        </p:nvSpPr>
        <p:spPr>
          <a:xfrm>
            <a:off x="8183879" y="1051560"/>
            <a:ext cx="3474720" cy="196596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変調率</a:t>
            </a:r>
          </a:p>
          <a:p>
            <a:r>
              <a:rPr lang="ja-JP" sz="1600" b="0">
                <a:latin typeface="Arial"/>
                <a:ea typeface="Noto Sans CJK JP"/>
              </a:rPr>
              <a:t>k = V_s / V_c</a:t>
            </a:r>
          </a:p>
          <a:p>
            <a:r>
              <a:rPr lang="ja-JP" sz="1600" b="0">
                <a:latin typeface="Arial"/>
                <a:ea typeface="Noto Sans CJK JP"/>
              </a:rPr>
              <a:t>線形範囲で基本波電圧を調整</a:t>
            </a:r>
          </a:p>
        </p:txBody>
      </p:sp>
      <p:sp>
        <p:nvSpPr>
          <p:cNvPr id="6" name="Box 6"/>
          <p:cNvSpPr/>
          <p:nvPr/>
        </p:nvSpPr>
        <p:spPr>
          <a:xfrm>
            <a:off x="502920" y="3429000"/>
            <a:ext cx="11155680" cy="214884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基本波電圧</a:t>
            </a:r>
          </a:p>
          <a:p>
            <a:r>
              <a:rPr lang="ja-JP" sz="1600" b="0">
                <a:latin typeface="Arial"/>
                <a:ea typeface="Noto Sans CJK JP"/>
              </a:rPr>
              <a:t>V_phase,peak = kE_d/2</a:t>
            </a:r>
          </a:p>
          <a:p>
            <a:r>
              <a:rPr lang="ja-JP" sz="1600" b="0">
                <a:latin typeface="Arial"/>
                <a:ea typeface="Noto Sans CJK JP"/>
              </a:rPr>
              <a:t>V_phase,rms = kE_d/(2√2)</a:t>
            </a:r>
          </a:p>
          <a:p>
            <a:r>
              <a:rPr lang="ja-JP" sz="1600" b="0">
                <a:latin typeface="Arial"/>
                <a:ea typeface="Noto Sans CJK JP"/>
              </a:rPr>
              <a:t>V_LL1 = √3 k E_d/(2√2)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接続：R07一次(4)(5)、H19一次(1)(2)、H22一次(1)〜(3)、R04二次(4)(5)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11480" y="201168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lIns="120000" rIns="120000" tIns="90000" bIns="60000" wrap="square"/>
          <a:lstStyle/>
          <a:p>
            <a:r>
              <a:rPr lang="ja-JP" sz="2500" b="1">
                <a:latin typeface="Arial"/>
                <a:ea typeface="Noto Sans CJK JP"/>
              </a:rPr>
              <a:t>180°通電：相電圧から線間電圧へ</a:t>
            </a:r>
          </a:p>
        </p:txBody>
      </p:sp>
      <p:sp>
        <p:nvSpPr>
          <p:cNvPr id="3" name="Box 3"/>
          <p:cNvSpPr/>
          <p:nvPr/>
        </p:nvSpPr>
        <p:spPr>
          <a:xfrm>
            <a:off x="502920" y="1051560"/>
            <a:ext cx="11155680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700" b="0">
                <a:latin typeface="Arial"/>
                <a:ea typeface="Noto Sans CJK JP"/>
              </a:rPr>
              <a:t>波形：相端 ±E_d/2　→　線間 +E_d / 0 / −E_d</a:t>
            </a:r>
          </a:p>
          <a:p>
            <a:r>
              <a:rPr lang="ja-JP" sz="1700" b="0">
                <a:latin typeface="Arial"/>
                <a:ea typeface="Noto Sans CJK JP"/>
              </a:rPr>
              <a:t>v_uv： +E_d ｜ 0 ｜ −E_d ｜ 0 ｜ +E_d ｜ 0 ｜ −E_d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2788920"/>
            <a:ext cx="5303520" cy="224028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700" b="0">
                <a:latin typeface="Arial"/>
                <a:ea typeface="Noto Sans CJK JP"/>
              </a:rPr>
              <a:t>一周期360°</a:t>
            </a:r>
          </a:p>
          <a:p>
            <a:r>
              <a:rPr lang="ja-JP" sz="1700" b="0">
                <a:latin typeface="Arial"/>
                <a:ea typeface="Noto Sans CJK JP"/>
              </a:rPr>
              <a:t>|v_LL| = E_d：合計240°</a:t>
            </a:r>
          </a:p>
          <a:p>
            <a:r>
              <a:rPr lang="ja-JP" sz="1700" b="0">
                <a:latin typeface="Arial"/>
                <a:ea typeface="Noto Sans CJK JP"/>
              </a:rPr>
              <a:t>0：合計120°</a:t>
            </a:r>
          </a:p>
          <a:p>
            <a:r>
              <a:rPr lang="ja-JP" sz="1700" b="0">
                <a:latin typeface="Arial"/>
                <a:ea typeface="Noto Sans CJK JP"/>
              </a:rPr>
              <a:t/>
            </a:r>
          </a:p>
          <a:p>
            <a:r>
              <a:rPr lang="ja-JP" sz="1700" b="0">
                <a:latin typeface="Arial"/>
                <a:ea typeface="Noto Sans CJK JP"/>
              </a:rPr>
              <a:t>E_0 = √[(240/360)E_d²] = E_d√(2/3)</a:t>
            </a:r>
          </a:p>
        </p:txBody>
      </p:sp>
      <p:sp>
        <p:nvSpPr>
          <p:cNvPr id="5" name="Box 5"/>
          <p:cNvSpPr/>
          <p:nvPr/>
        </p:nvSpPr>
        <p:spPr>
          <a:xfrm>
            <a:off x="6172200" y="2788920"/>
            <a:ext cx="5486400" cy="224028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頻出ミス</a:t>
            </a:r>
          </a:p>
          <a:p>
            <a:r>
              <a:rPr lang="ja-JP" sz="1600" b="0">
                <a:latin typeface="Arial"/>
                <a:ea typeface="Noto Sans CJK JP"/>
              </a:rPr>
              <a:t>・E_d/2 は相端値。線間値にそのまま使わない</a:t>
            </a:r>
          </a:p>
          <a:p>
            <a:r>
              <a:rPr lang="ja-JP" sz="1600" b="0">
                <a:latin typeface="Arial"/>
                <a:ea typeface="Noto Sans CJK JP"/>
              </a:rPr>
              <a:t>・0区間を落とさない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H28二次(1)〜(4)へ接続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11480" y="201168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lIns="120000" rIns="120000" tIns="90000" bIns="60000" wrap="square"/>
          <a:lstStyle/>
          <a:p>
            <a:r>
              <a:rPr lang="ja-JP" sz="2500" b="1">
                <a:latin typeface="Arial"/>
                <a:ea typeface="Noto Sans CJK JP"/>
              </a:rPr>
              <a:t>高調波相殺と固定EXAM_ALIGNMENT</a:t>
            </a:r>
          </a:p>
        </p:txBody>
      </p:sp>
      <p:sp>
        <p:nvSpPr>
          <p:cNvPr id="3" name="Box 3"/>
          <p:cNvSpPr/>
          <p:nvPr/>
        </p:nvSpPr>
        <p:spPr>
          <a:xfrm>
            <a:off x="502920" y="1051560"/>
            <a:ext cx="5394960" cy="224028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3の整数倍次数高調波</a:t>
            </a:r>
          </a:p>
          <a:p>
            <a:r>
              <a:rPr lang="ja-JP" sz="1600" b="0">
                <a:latin typeface="Arial"/>
                <a:ea typeface="Noto Sans CJK JP"/>
              </a:rPr>
              <a:t>三相平衡系では3次・6次・9次…が各相で同相。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v_uv,n = v_u,n − v_v,n = 0</a:t>
            </a:r>
          </a:p>
          <a:p>
            <a:r>
              <a:rPr lang="ja-JP" sz="1600" b="0">
                <a:latin typeface="Arial"/>
                <a:ea typeface="Noto Sans CJK JP"/>
              </a:rPr>
              <a:t>→ 線間電圧では差し引きで相殺。</a:t>
            </a:r>
          </a:p>
        </p:txBody>
      </p:sp>
      <p:sp>
        <p:nvSpPr>
          <p:cNvPr id="4" name="Box 4"/>
          <p:cNvSpPr/>
          <p:nvPr/>
        </p:nvSpPr>
        <p:spPr>
          <a:xfrm>
            <a:off x="6217920" y="1051560"/>
            <a:ext cx="5440680" cy="224028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500" b="0">
                <a:latin typeface="Arial"/>
                <a:ea typeface="Noto Sans CJK JP"/>
              </a:rPr>
              <a:t>固定範囲</a:t>
            </a:r>
          </a:p>
          <a:p>
            <a:r>
              <a:rPr lang="ja-JP" sz="1500" b="0">
                <a:latin typeface="Arial"/>
                <a:ea typeface="Noto Sans CJK JP"/>
              </a:rPr>
              <a:t>三相インバータ／6スイッチ／PWM／キャリア／基本波／線間電圧／出力周波数／高調波／スイッチング周波数</a:t>
            </a:r>
          </a:p>
          <a:p>
            <a:r>
              <a:rPr lang="ja-JP" sz="1500" b="0">
                <a:latin typeface="Arial"/>
                <a:ea typeface="Noto Sans CJK JP"/>
              </a:rPr>
              <a:t/>
            </a:r>
          </a:p>
          <a:p>
            <a:r>
              <a:rPr lang="ja-JP" sz="1500" b="0">
                <a:latin typeface="Arial"/>
                <a:ea typeface="Noto Sans CJK JP"/>
              </a:rPr>
              <a:t>V/f・ベクトル制御等は追加しない。</a:t>
            </a:r>
          </a:p>
        </p:txBody>
      </p:sp>
      <p:sp>
        <p:nvSpPr>
          <p:cNvPr id="5" name="Box 5"/>
          <p:cNvSpPr/>
          <p:nvPr/>
        </p:nvSpPr>
        <p:spPr>
          <a:xfrm>
            <a:off x="502920" y="3703320"/>
            <a:ext cx="11155680" cy="2148840"/>
          </a:xfrm>
          <a:prstGeom prst="rect">
            <a:avLst/>
          </a:prstGeom>
          <a:solidFill>
            <a:srgbClr val="F7F8FA"/>
          </a:solidFill>
          <a:ln w="6350">
            <a:solidFill>
              <a:srgbClr val="888888"/>
            </a:solidFill>
          </a:ln>
        </p:spPr>
        <p:txBody>
          <a:bodyPr lIns="120000" rIns="120000" tIns="90000" bIns="60000" wrap="square"/>
          <a:lstStyle/>
          <a:p>
            <a:r>
              <a:rPr lang="ja-JP" sz="1600" b="0">
                <a:latin typeface="Arial"/>
                <a:ea typeface="Noto Sans CJK JP"/>
              </a:rPr>
              <a:t>固定5問・13小問</a:t>
            </a:r>
          </a:p>
          <a:p>
            <a:r>
              <a:rPr lang="ja-JP" sz="1600" b="0">
                <a:latin typeface="Arial"/>
                <a:ea typeface="Noto Sans CJK JP"/>
              </a:rPr>
              <a:t>R07一次 問4(4)(5)　H22一次 問3(1)〜(3)　H19一次 問4(1)(2)</a:t>
            </a:r>
          </a:p>
          <a:p>
            <a:r>
              <a:rPr lang="ja-JP" sz="1600" b="0">
                <a:latin typeface="Arial"/>
                <a:ea typeface="Noto Sans CJK JP"/>
              </a:rPr>
              <a:t>R04二次 問3(4)(5)　H28二次 問3(1)〜(4)</a:t>
            </a:r>
          </a:p>
          <a:p>
            <a:r>
              <a:rPr lang="ja-JP" sz="1600" b="0">
                <a:latin typeface="Arial"/>
                <a:ea typeface="Noto Sans CJK JP"/>
              </a:rPr>
              <a:t/>
            </a:r>
          </a:p>
          <a:p>
            <a:r>
              <a:rPr lang="ja-JP" sz="1600" b="0">
                <a:latin typeface="Arial"/>
                <a:ea typeface="Noto Sans CJK JP"/>
              </a:rPr>
              <a:t>制作前独立検証 13 / 13 PASS　｜　未確認300系実車値の追加 0件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800080"/>
      </a:folHlink>
    </a:clrScheme>
    <a:fontScheme name="F">
      <a:majorFont>
        <a:latin typeface="Arial"/>
        <a:ea typeface="Noto Sans CJK JP"/>
      </a:majorFont>
      <a:minorFont>
        <a:latin typeface="Arial"/>
        <a:ea typeface="Noto Sans CJK JP"/>
      </a:minorFont>
    </a:fontScheme>
    <a:fmtScheme name="Fmt">
      <a:fillStyleLst>
        <a:solidFill>
          <a:srgbClr val="FFFFFF"/>
        </a:solidFill>
      </a:fillStyleLst>
      <a:lnStyleLst>
        <a:ln/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