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1695" cy="6858000" type="screen16x9"/>
  <p:notesSz cx="6858000" cy="9144000"/>
  <p:defaultTextStyle>
    <a:defPPr>
      <a:defRPr lang="ja-JP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82880"/>
            <a:ext cx="11475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70000" rIns="70000" tIns="40000" bIns="40000" anchor="ctr"/>
          <a:lstStyle/>
          <a:p>
            <a:pPr algn="l"/>
            <a:r>
              <a:rPr lang="ja-JP" sz="2200" b="1">
                <a:solidFill>
                  <a:srgbClr val="102A43"/>
                </a:solidFill>
                <a:latin typeface="Aptos"/>
                <a:ea typeface="Yu Gothic"/>
              </a:rPr>
              <a:t>Topic 04　200系のサイリスタ制御を計算する｜解法マップ</a:t>
            </a:r>
            <a:endParaRPr lang="ja-JP"/>
          </a:p>
        </p:txBody>
      </p:sp>
      <p:sp>
        <p:nvSpPr>
          <p:cNvPr id="3" name="Gate"/>
          <p:cNvSpPr/>
          <p:nvPr/>
        </p:nvSpPr>
        <p:spPr>
          <a:xfrm>
            <a:off x="365760" y="749808"/>
            <a:ext cx="11475720" cy="4572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6EA8FE"/>
            </a:solidFill>
          </a:ln>
        </p:spPr>
        <p:txBody>
          <a:bodyPr wrap="square" lIns="70000" rIns="70000" tIns="40000" bIns="40000" anchor="ctr"/>
          <a:lstStyle/>
          <a:p>
            <a:pPr algn="ctr"/>
            <a:r>
              <a:rPr lang="ja-JP" sz="1400" b="1">
                <a:solidFill>
                  <a:srgbClr val="172B4D"/>
                </a:solidFill>
                <a:latin typeface="Aptos"/>
                <a:ea typeface="Yu Gothic"/>
              </a:rPr>
              <a:t>固定EXAM_ALIGNMENT：一次2問＋二次3問／12小問　　※未確認の200系実車値・仕様外論点は追加しない</a:t>
            </a:r>
            <a:endParaRPr lang="ja-JP"/>
          </a:p>
        </p:txBody>
      </p:sp>
      <p:sp>
        <p:nvSpPr>
          <p:cNvPr id="4" name="A"/>
          <p:cNvSpPr/>
          <p:nvPr/>
        </p:nvSpPr>
        <p:spPr>
          <a:xfrm>
            <a:off x="365760" y="1353312"/>
            <a:ext cx="5532120" cy="19659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90A4AE"/>
            </a:solidFill>
          </a:ln>
        </p:spPr>
        <p:txBody>
          <a:bodyPr wrap="square" lIns="70000" rIns="70000" tIns="40000" bIns="40000" anchor="ctr"/>
          <a:lstStyle/>
          <a:p>
            <a:pPr algn="l"/>
            <a:r>
              <a:rPr lang="ja-JP" sz="1300" b="0">
                <a:solidFill>
                  <a:srgbClr val="172B4D"/>
                </a:solidFill>
                <a:latin typeface="Aptos"/>
                <a:ea typeface="Yu Gothic"/>
              </a:rPr>
              <a:t>A｜位相制御 → 平均直流電圧</a:t>
            </a:r>
            <a:endParaRPr lang="ja-JP"/>
          </a:p>
          <a:p>
            <a:pPr algn="l"/>
            <a:r>
              <a:rPr lang="ja-JP" sz="1300" b="0">
                <a:solidFill>
                  <a:srgbClr val="172B4D"/>
                </a:solidFill>
                <a:latin typeface="Aptos"/>
                <a:ea typeface="Yu Gothic"/>
              </a:rPr>
              <a:t>理想条件：三相正弦波・Id連続・転流重なり無視</a:t>
            </a:r>
            <a:endParaRPr lang="ja-JP"/>
          </a:p>
          <a:p>
            <a:pPr algn="l"/>
            <a:r>
              <a:rPr lang="ja-JP" sz="1300" b="0">
                <a:solidFill>
                  <a:srgbClr val="172B4D"/>
                </a:solidFill>
                <a:latin typeface="Aptos"/>
                <a:ea typeface="Yu Gothic"/>
              </a:rPr>
              <a:t>Vd = 6/(2π)∫[α−π/6→α+π/6]√2V cosθ dθ</a:t>
            </a:r>
            <a:endParaRPr lang="ja-JP"/>
          </a:p>
          <a:p>
            <a:pPr algn="l"/>
            <a:r>
              <a:rPr lang="ja-JP" sz="1300" b="0">
                <a:solidFill>
                  <a:srgbClr val="172B4D"/>
                </a:solidFill>
                <a:latin typeface="Aptos"/>
                <a:ea typeface="Yu Gothic"/>
              </a:rPr>
              <a:t>   = (3√2/π)V cosα ≒ 1.35V cosα</a:t>
            </a:r>
            <a:endParaRPr lang="ja-JP"/>
          </a:p>
          <a:p>
            <a:pPr algn="l"/>
            <a:r>
              <a:rPr lang="ja-JP" sz="1300" b="0">
                <a:solidFill>
                  <a:srgbClr val="172B4D"/>
                </a:solidFill>
                <a:latin typeface="Aptos"/>
                <a:ea typeface="Yu Gothic"/>
              </a:rPr>
              <a:t>α=0：最大・ダイオード相当　0≤α≤π/2：Vd≥0</a:t>
            </a:r>
            <a:endParaRPr lang="ja-JP"/>
          </a:p>
          <a:p>
            <a:pPr algn="l"/>
            <a:r>
              <a:rPr lang="ja-JP" sz="1300" b="0">
                <a:solidFill>
                  <a:srgbClr val="172B4D"/>
                </a:solidFill>
                <a:latin typeface="Aptos"/>
                <a:ea typeface="Yu Gothic"/>
              </a:rPr>
              <a:t>電流：Id／IT(av)／IT(rms)／交流線電流を区別</a:t>
            </a:r>
            <a:endParaRPr lang="ja-JP"/>
          </a:p>
          <a:p>
            <a:pPr algn="l"/>
            <a:r>
              <a:rPr lang="ja-JP" sz="1300" b="0">
                <a:solidFill>
                  <a:srgbClr val="172B4D"/>
                </a:solidFill>
                <a:latin typeface="Aptos"/>
                <a:ea typeface="Yu Gothic"/>
              </a:rPr>
              <a:t>理想三相：IT(av)=Id/3, IT(rms)=Id/√3　R01抵抗負荷：IT(av)=V/(√2πR)(1+cosα)</a:t>
            </a:r>
            <a:endParaRPr lang="ja-JP"/>
          </a:p>
        </p:txBody>
      </p:sp>
      <p:sp>
        <p:nvSpPr>
          <p:cNvPr id="5" name="B"/>
          <p:cNvSpPr/>
          <p:nvPr/>
        </p:nvSpPr>
        <p:spPr>
          <a:xfrm>
            <a:off x="6126480" y="1353312"/>
            <a:ext cx="5715000" cy="1965960"/>
          </a:xfrm>
          <a:prstGeom prst="roundRect">
            <a:avLst/>
          </a:prstGeom>
          <a:solidFill>
            <a:srgbClr val="F5FBF7"/>
          </a:solidFill>
          <a:ln w="12700">
            <a:solidFill>
              <a:srgbClr val="75B798"/>
            </a:solidFill>
          </a:ln>
        </p:spPr>
        <p:txBody>
          <a:bodyPr wrap="square" lIns="70000" rIns="70000" tIns="40000" bIns="40000" anchor="ctr"/>
          <a:lstStyle/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B｜有効・無効電力／力率／高調波</a:t>
            </a:r>
            <a:endParaRPr lang="ja-JP"/>
          </a:p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H30条件：P=VdId=(3√2/π)VId cosα</a:t>
            </a:r>
            <a:endParaRPr lang="ja-JP"/>
          </a:p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I1=(√6/π)Id　S1=√3VI1　Q1=S1 sinα</a:t>
            </a:r>
            <a:endParaRPr lang="ja-JP"/>
          </a:p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基本波力率=P/S1=cosα ≠ 高調波込みの総合力率</a:t>
            </a:r>
            <a:endParaRPr lang="ja-JP"/>
          </a:p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高調波：半導体変換器が発生源／過熱・振動・誤動作等</a:t>
            </a:r>
            <a:endParaRPr lang="ja-JP"/>
          </a:p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※次数詳細・補償設計は扱わない</a:t>
            </a:r>
            <a:endParaRPr lang="ja-JP"/>
          </a:p>
        </p:txBody>
      </p:sp>
      <p:sp>
        <p:nvSpPr>
          <p:cNvPr id="6" name="C"/>
          <p:cNvSpPr/>
          <p:nvPr/>
        </p:nvSpPr>
        <p:spPr>
          <a:xfrm>
            <a:off x="365760" y="3547872"/>
            <a:ext cx="5532120" cy="1874519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ECC94B"/>
            </a:solidFill>
          </a:ln>
        </p:spPr>
        <p:txBody>
          <a:bodyPr wrap="square" lIns="70000" rIns="70000" tIns="40000" bIns="40000" anchor="ctr"/>
          <a:lstStyle/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C｜直流主電動機への接続（教材比較モデル）</a:t>
            </a:r>
            <a:endParaRPr lang="ja-JP"/>
          </a:p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Vd(α)=Vd0 cosα</a:t>
            </a:r>
            <a:endParaRPr lang="ja-JP"/>
          </a:p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Ia(α)={Vd0 cosα−E}/Ra　T(α)=kΦIa(α)</a:t>
            </a:r>
            <a:endParaRPr lang="ja-JP"/>
          </a:p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E・Ra・kΦ一定、Ia≥0：α↑ → Vd↓ → Ia↓ → T↓</a:t>
            </a:r>
            <a:endParaRPr lang="ja-JP"/>
          </a:p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3グラフ：α−Vd／α−Ia／α−T</a:t>
            </a:r>
            <a:endParaRPr lang="ja-JP"/>
          </a:p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※未確認の200系回路定数は代入しない</a:t>
            </a:r>
            <a:endParaRPr lang="ja-JP"/>
          </a:p>
        </p:txBody>
      </p:sp>
      <p:sp>
        <p:nvSpPr>
          <p:cNvPr id="7" name="D"/>
          <p:cNvSpPr/>
          <p:nvPr/>
        </p:nvSpPr>
        <p:spPr>
          <a:xfrm>
            <a:off x="6126480" y="3547872"/>
            <a:ext cx="5715000" cy="1874519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6AD55"/>
            </a:solidFill>
          </a:ln>
        </p:spPr>
        <p:txBody>
          <a:bodyPr wrap="square" lIns="70000" rIns="70000" tIns="40000" bIns="40000" anchor="ctr"/>
          <a:lstStyle/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D｜一次・二次を通す解法手順</a:t>
            </a:r>
            <a:endParaRPr lang="ja-JP"/>
          </a:p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①回路・負荷・電圧種別 → ②60°区間積分でVd</a:t>
            </a:r>
            <a:endParaRPr lang="ja-JP"/>
          </a:p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③電流の対象を確認 → ④P=VdId</a:t>
            </a:r>
            <a:endParaRPr lang="ja-JP"/>
          </a:p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⑤必要ならI1,S1,Q1 → ⑥Ia=(Vd−E)/Ra → T=kΦIa</a:t>
            </a:r>
            <a:endParaRPr lang="ja-JP"/>
          </a:p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⑦基本波力率と総合力率を検算</a:t>
            </a:r>
            <a:endParaRPr lang="ja-JP"/>
          </a:p>
          <a:p>
            <a:pPr algn="l"/>
            <a:r>
              <a:rPr lang="ja-JP" sz="1400" b="0">
                <a:solidFill>
                  <a:srgbClr val="172B4D"/>
                </a:solidFill>
                <a:latin typeface="Aptos"/>
                <a:ea typeface="Yu Gothic"/>
              </a:rPr>
              <a:t>次工程：完成教材だけで固定5問・12小問を独立再解答</a:t>
            </a:r>
            <a:endParaRPr lang="ja-JP"/>
          </a:p>
        </p:txBody>
      </p:sp>
      <p:sp>
        <p:nvSpPr>
          <p:cNvPr id="8" name="Exclude"/>
          <p:cNvSpPr/>
          <p:nvPr/>
        </p:nvSpPr>
        <p:spPr>
          <a:xfrm>
            <a:off x="365760" y="5650992"/>
            <a:ext cx="11475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txBody>
          <a:bodyPr wrap="square" lIns="70000" rIns="70000" tIns="40000" bIns="40000" anchor="ctr"/>
          <a:lstStyle/>
          <a:p>
            <a:pPr algn="ctr"/>
            <a:r>
              <a:rPr lang="ja-JP" sz="1300" b="0">
                <a:solidFill>
                  <a:srgbClr val="172B4D"/>
                </a:solidFill>
                <a:latin typeface="Aptos"/>
                <a:ea typeface="Yu Gothic"/>
              </a:rPr>
              <a:t>追加しない：チョッパ／PWM／インバータ／回生・逆変換／能動フィルタ補償設計／サイクロコンバータ固有制御</a:t>
            </a:r>
            <a:endParaRPr 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act">
  <a:themeElements>
    <a:clrScheme name="Compact">
      <a:dk1>
        <a:srgbClr val="000000"/>
      </a:dk1>
      <a:lt1>
        <a:srgbClr val="FFFFFF"/>
      </a:lt1>
      <a:dk2>
        <a:srgbClr val="172B4D"/>
      </a:dk2>
      <a:lt2>
        <a:srgbClr val="F7FAFC"/>
      </a:lt2>
      <a:accent1>
        <a:srgbClr val="6EA8FE"/>
      </a:accent1>
      <a:accent2>
        <a:srgbClr val="75B798"/>
      </a:accent2>
      <a:accent3>
        <a:srgbClr val="F6AD55"/>
      </a:accent3>
      <a:accent4>
        <a:srgbClr val="90A4AE"/>
      </a:accent4>
      <a:accent5>
        <a:srgbClr val="ECC94B"/>
      </a:accent5>
      <a:accent6>
        <a:srgbClr val="805AD5"/>
      </a:accent6>
      <a:hlink>
        <a:srgbClr val="0000FF"/>
      </a:hlink>
      <a:folHlink>
        <a:srgbClr val="800080"/>
      </a:folHlink>
    </a:clrScheme>
    <a:fontScheme name="Compact">
      <a:majorFont>
        <a:latin typeface="Aptos Display"/>
        <a:ea typeface="Yu Gothic"/>
        <a:cs typeface="Arial"/>
      </a:majorFont>
      <a:minorFont>
        <a:latin typeface="Aptos"/>
        <a:ea typeface="Yu Gothic"/>
        <a:cs typeface="Arial"/>
      </a:minorFont>
    </a:fontScheme>
    <a:fmtScheme name="Compact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