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180000"/>
            <a:ext cx="11460480" cy="62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ja-JP" sz="2400" b="1">
                <a:latin typeface="Arial"/>
                <a:ea typeface="Noto Sans CJK JP"/>
              </a:rPr>
              <a:t>変圧器等価回路｜換算・試験・百分率</a:t>
            </a:r>
            <a:endParaRPr lang="ja-JP" sz="2400"/>
          </a:p>
        </p:txBody>
      </p:sp>
      <p:sp>
        <p:nvSpPr>
          <p:cNvPr id="3" name="Left"/>
          <p:cNvSpPr txBox="1"/>
          <p:nvPr/>
        </p:nvSpPr>
        <p:spPr>
          <a:xfrm>
            <a:off x="365760" y="920000"/>
            <a:ext cx="5623560" cy="5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txBody>
          <a:bodyPr wrap="square" lIns="90000" rIns="90000" tIns="90000" bIns="90000" anchor="t"/>
          <a:lstStyle/>
          <a:p>
            <a:r>
              <a:rPr lang="ja-JP" sz="1250">
                <a:latin typeface="Arial"/>
                <a:ea typeface="Noto Sans CJK JP"/>
              </a:rPr>
              <a:t>一次→二次換算: a=N1/N2≈V1/V2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I1/I2≈1/a,  Z2′=a²Z2,  Y2′=Y2/a²</a:t>
            </a:r>
            <a:endParaRPr lang="ja-JP" sz="1250"/>
          </a:p>
          <a:p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一次換算簡易等価回路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励磁枝: g0−jb0　直列枝: R+jX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R=r1+a²r2, X=x1+a²x2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→ 量は必ず同一側へそろえる。</a:t>
            </a:r>
            <a:endParaRPr lang="ja-JP" sz="1250"/>
          </a:p>
        </p:txBody>
      </p:sp>
      <p:sp>
        <p:nvSpPr>
          <p:cNvPr id="4" name="Right"/>
          <p:cNvSpPr txBox="1"/>
          <p:nvPr/>
        </p:nvSpPr>
        <p:spPr>
          <a:xfrm>
            <a:off x="6198240" y="920000"/>
            <a:ext cx="5623560" cy="5300000"/>
          </a:xfrm>
          <a:prstGeom prst="roundRect">
            <a:avLst/>
          </a:prstGeom>
          <a:solidFill>
            <a:srgbClr val="FBFBFB"/>
          </a:solidFill>
          <a:ln w="12700">
            <a:solidFill>
              <a:srgbClr val="D9E2F3"/>
            </a:solidFill>
          </a:ln>
        </p:spPr>
        <p:txBody>
          <a:bodyPr wrap="square" lIns="90000" rIns="90000" tIns="90000" bIns="90000" anchor="t"/>
          <a:lstStyle/>
          <a:p>
            <a:r>
              <a:rPr lang="ja-JP" sz="1250">
                <a:latin typeface="Arial"/>
                <a:ea typeface="Noto Sans CJK JP"/>
              </a:rPr>
              <a:t>無負荷: Y0=I0/V0, g0=P0/V0²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b0=√(Y0²−g0²)　[銅損・直列降下を無視]</a:t>
            </a:r>
            <a:endParaRPr lang="ja-JP" sz="1250"/>
          </a:p>
          <a:p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短絡: Z=Vsc/Isc, R=Psc/Isc²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X=√(Z²−R²)　[低電圧→鉄損を無視]</a:t>
            </a:r>
            <a:endParaRPr lang="ja-JP" sz="1250"/>
          </a:p>
          <a:p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ZB=VN²/SN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%r=100R/ZB, %x=100X/ZB, %Z=√(%r²+%x²)</a:t>
            </a:r>
            <a:endParaRPr lang="ja-JP" sz="1250"/>
          </a:p>
        </p:txBody>
      </p:sp>
      <p:sp>
        <p:nvSpPr>
          <p:cNvPr id="5" name="Footer"/>
          <p:cNvSpPr txBox="1"/>
          <p:nvPr/>
        </p:nvSpPr>
        <p:spPr>
          <a:xfrm>
            <a:off x="365760" y="6500000"/>
            <a:ext cx="11460480" cy="23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ja-JP" sz="800">
                <a:latin typeface="Arial"/>
                <a:ea typeface="Noto Sans CJK JP"/>
              </a:rPr>
              <a:t>R7一次問3 / R6・H28・H27二次問2に直結</a:t>
            </a:r>
            <a:endParaRPr lang="ja-JP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180000"/>
            <a:ext cx="11460480" cy="62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ja-JP" sz="2400" b="1">
                <a:latin typeface="Arial"/>
                <a:ea typeface="Noto Sans CJK JP"/>
              </a:rPr>
              <a:t>フェーザ・効率・並列運転</a:t>
            </a:r>
            <a:endParaRPr lang="ja-JP" sz="2400"/>
          </a:p>
        </p:txBody>
      </p:sp>
      <p:sp>
        <p:nvSpPr>
          <p:cNvPr id="3" name="Left"/>
          <p:cNvSpPr txBox="1"/>
          <p:nvPr/>
        </p:nvSpPr>
        <p:spPr>
          <a:xfrm>
            <a:off x="365760" y="920000"/>
            <a:ext cx="5623560" cy="5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txBody>
          <a:bodyPr wrap="square" lIns="90000" rIns="90000" tIns="90000" bIns="90000" anchor="t"/>
          <a:lstStyle/>
          <a:p>
            <a:r>
              <a:rPr lang="ja-JP" sz="1250">
                <a:latin typeface="Arial"/>
                <a:ea typeface="Noto Sans CJK JP"/>
              </a:rPr>
              <a:t>負荷率k・力率cosφ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遅れ: ε≈k(p cosφ+q sinφ)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進み: ε≈k(p cosφ−q sinφ)</a:t>
            </a:r>
            <a:endParaRPr lang="ja-JP" sz="1250"/>
          </a:p>
          <a:p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必要時は二次項を加える: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A=k(p cosφ+q sinφ)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B=k(q cosφ−p sinφ)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ε≈A+B²/200 [%]</a:t>
            </a:r>
            <a:endParaRPr lang="ja-JP" sz="1250"/>
          </a:p>
          <a:p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厳密指定を近似式へ勝手に置換しない。</a:t>
            </a:r>
            <a:endParaRPr lang="ja-JP" sz="1250"/>
          </a:p>
        </p:txBody>
      </p:sp>
      <p:sp>
        <p:nvSpPr>
          <p:cNvPr id="4" name="Right"/>
          <p:cNvSpPr txBox="1"/>
          <p:nvPr/>
        </p:nvSpPr>
        <p:spPr>
          <a:xfrm>
            <a:off x="6198240" y="920000"/>
            <a:ext cx="5623560" cy="5300000"/>
          </a:xfrm>
          <a:prstGeom prst="roundRect">
            <a:avLst/>
          </a:prstGeom>
          <a:solidFill>
            <a:srgbClr val="FBFBFB"/>
          </a:solidFill>
          <a:ln w="12700">
            <a:solidFill>
              <a:srgbClr val="D9E2F3"/>
            </a:solidFill>
          </a:ln>
        </p:spPr>
        <p:txBody>
          <a:bodyPr wrap="square" lIns="90000" rIns="90000" tIns="90000" bIns="90000" anchor="t"/>
          <a:lstStyle/>
          <a:p>
            <a:r>
              <a:rPr lang="ja-JP" sz="1250">
                <a:latin typeface="Arial"/>
                <a:ea typeface="Noto Sans CJK JP"/>
              </a:rPr>
              <a:t>Pi≈一定, Pcu=k²Pcu,N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Pout=kSN cosφ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η=Pout/(Pout+Pi+k²Pcu,N)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最大効率: Pi=k²Pcu,N</a:t>
            </a:r>
            <a:endParaRPr lang="ja-JP" sz="1250"/>
          </a:p>
          <a:p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並列: 二次無負荷電圧の大きさ・位相を一致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IA/IB=ZB/ZA（同一側換算）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容量比例分担: 自己容量基準%Zを概ね一致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X/R差にも注意。</a:t>
            </a:r>
            <a:endParaRPr lang="ja-JP" sz="1250"/>
          </a:p>
          <a:p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ミス: a/a², k/k², 遅れ/進み, kVA/kW</a:t>
            </a:r>
            <a:endParaRPr lang="ja-JP" sz="1250"/>
          </a:p>
        </p:txBody>
      </p:sp>
      <p:sp>
        <p:nvSpPr>
          <p:cNvPr id="5" name="Footer"/>
          <p:cNvSpPr txBox="1"/>
          <p:nvPr/>
        </p:nvSpPr>
        <p:spPr>
          <a:xfrm>
            <a:off x="365760" y="6500000"/>
            <a:ext cx="11460480" cy="23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ja-JP" sz="800">
                <a:latin typeface="Arial"/>
                <a:ea typeface="Noto Sans CJK JP"/>
              </a:rPr>
              <a:t>R6・R3・R2・H28・H27二次。途中式・単位・近似条件を答案に残す。</a:t>
            </a:r>
            <a:endParaRPr lang="ja-JP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180000"/>
            <a:ext cx="11460480" cy="62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ja-JP" sz="2400" b="1">
                <a:latin typeface="Arial"/>
                <a:ea typeface="Noto Sans CJK JP"/>
              </a:rPr>
              <a:t>0系主変圧器｜公開値だけを実車値とする</a:t>
            </a:r>
            <a:endParaRPr lang="ja-JP" sz="2400"/>
          </a:p>
        </p:txBody>
      </p:sp>
      <p:sp>
        <p:nvSpPr>
          <p:cNvPr id="3" name="Left"/>
          <p:cNvSpPr txBox="1"/>
          <p:nvPr/>
        </p:nvSpPr>
        <p:spPr>
          <a:xfrm>
            <a:off x="365760" y="920000"/>
            <a:ext cx="5623560" cy="5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txBody>
          <a:bodyPr wrap="square" lIns="90000" rIns="90000" tIns="90000" bIns="90000" anchor="t"/>
          <a:lstStyle/>
          <a:p>
            <a:r>
              <a:rPr lang="ja-JP" sz="1250">
                <a:latin typeface="Arial"/>
                <a:ea typeface="Noto Sans CJK JP"/>
              </a:rPr>
              <a:t>日本車輌製造資料で確認済み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・交流 60 Hz / 25 kV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・主変圧器 1650 kVA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・低圧タップ切換 / 25段</a:t>
            </a:r>
            <a:endParaRPr lang="ja-JP" sz="1250"/>
          </a:p>
          <a:p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公開値からの単純計算: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1650 kVA ÷ 25 kV = 66 A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※定格相当。実測架線電流ではない。</a:t>
            </a:r>
            <a:endParaRPr lang="ja-JP" sz="1250"/>
          </a:p>
          <a:p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未確認: 0系固有 R,X,g0,b0,%Z,鉄損,銅損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→ 例題値を実車値化しない。</a:t>
            </a:r>
            <a:endParaRPr lang="ja-JP" sz="1250"/>
          </a:p>
        </p:txBody>
      </p:sp>
      <p:sp>
        <p:nvSpPr>
          <p:cNvPr id="4" name="Right"/>
          <p:cNvSpPr txBox="1"/>
          <p:nvPr/>
        </p:nvSpPr>
        <p:spPr>
          <a:xfrm>
            <a:off x="6198240" y="920000"/>
            <a:ext cx="5623560" cy="5300000"/>
          </a:xfrm>
          <a:prstGeom prst="roundRect">
            <a:avLst/>
          </a:prstGeom>
          <a:solidFill>
            <a:srgbClr val="FBFBFB"/>
          </a:solidFill>
          <a:ln w="12700">
            <a:solidFill>
              <a:srgbClr val="D9E2F3"/>
            </a:solidFill>
          </a:ln>
        </p:spPr>
        <p:txBody>
          <a:bodyPr wrap="square" lIns="90000" rIns="90000" tIns="90000" bIns="90000" anchor="t"/>
          <a:lstStyle/>
          <a:p>
            <a:r>
              <a:rPr lang="ja-JP" sz="1250">
                <a:latin typeface="Arial"/>
                <a:ea typeface="Noto Sans CJK JP"/>
              </a:rPr>
              <a:t>二次答案の順序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①換算側を宣言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②定格値→電流・基準量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③無負荷→g0,b0,Pi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④短絡→Z,R,X,Pcu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⑤ZB→%r,%x,%Z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⑥力率・k→電圧変動率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⑦Pout・損失→効率/最大効率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⑧並列なら共通基準Z→分担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⑨単位・成立条件・近似条件</a:t>
            </a:r>
            <a:endParaRPr lang="ja-JP" sz="1250"/>
          </a:p>
          <a:p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出典: 日本車輌製造「0系新幹線 主要諸元」ほか</a:t>
            </a:r>
            <a:endParaRPr lang="ja-JP" sz="1250"/>
          </a:p>
        </p:txBody>
      </p:sp>
      <p:sp>
        <p:nvSpPr>
          <p:cNvPr id="5" name="Footer"/>
          <p:cNvSpPr txBox="1"/>
          <p:nvPr/>
        </p:nvSpPr>
        <p:spPr>
          <a:xfrm>
            <a:off x="365760" y="6500000"/>
            <a:ext cx="11460480" cy="23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ja-JP" sz="800">
                <a:latin typeface="Arial"/>
                <a:ea typeface="Noto Sans CJK JP"/>
              </a:rPr>
              <a:t>未公開内部仕様は推測しない。新幹線は電験二種の等価回路を理解する題材。</a:t>
            </a:r>
            <a:endParaRPr lang="ja-JP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180000"/>
            <a:ext cx="11460480" cy="62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ja-JP" sz="2400" b="1">
                <a:latin typeface="Arial"/>
                <a:ea typeface="Noto Sans CJK JP"/>
              </a:rPr>
              <a:t>EXAM_ALIGNMENT｜一次1＋二次記述5</a:t>
            </a:r>
            <a:endParaRPr lang="ja-JP" sz="2400"/>
          </a:p>
        </p:txBody>
      </p:sp>
      <p:sp>
        <p:nvSpPr>
          <p:cNvPr id="3" name="Left"/>
          <p:cNvSpPr txBox="1"/>
          <p:nvPr/>
        </p:nvSpPr>
        <p:spPr>
          <a:xfrm>
            <a:off x="365760" y="920000"/>
            <a:ext cx="5623560" cy="5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txBody>
          <a:bodyPr wrap="square" lIns="90000" rIns="90000" tIns="90000" bIns="90000" anchor="t"/>
          <a:lstStyle/>
          <a:p>
            <a:r>
              <a:rPr lang="ja-JP" sz="1250">
                <a:latin typeface="Arial"/>
                <a:ea typeface="Noto Sans CJK JP"/>
              </a:rPr>
              <a:t>公式過去問（電気技術者試験センター）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R7 一次 機械 問3：短絡試験・一次換算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R6 二次 問2：試験→等価回路→%→電圧変動率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R3 二次 問2：%値→Ω→フェーザ・無効電力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R2 二次 問2：損失→最大効率・部分負荷効率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H28 二次 問2：等価回路→変動率・効率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H27 二次 問2：巻数比・%Z・フェーザ近似</a:t>
            </a:r>
            <a:endParaRPr lang="ja-JP" sz="1250"/>
          </a:p>
          <a:p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制作前独立導出: 6/6 公式標準解答と一致。</a:t>
            </a:r>
            <a:endParaRPr lang="ja-JP" sz="1250"/>
          </a:p>
        </p:txBody>
      </p:sp>
      <p:sp>
        <p:nvSpPr>
          <p:cNvPr id="4" name="Right"/>
          <p:cNvSpPr txBox="1"/>
          <p:nvPr/>
        </p:nvSpPr>
        <p:spPr>
          <a:xfrm>
            <a:off x="6198240" y="920000"/>
            <a:ext cx="5623560" cy="5300000"/>
          </a:xfrm>
          <a:prstGeom prst="roundRect">
            <a:avLst/>
          </a:prstGeom>
          <a:solidFill>
            <a:srgbClr val="FBFBFB"/>
          </a:solidFill>
          <a:ln w="12700">
            <a:solidFill>
              <a:srgbClr val="D9E2F3"/>
            </a:solidFill>
          </a:ln>
        </p:spPr>
        <p:txBody>
          <a:bodyPr wrap="square" lIns="90000" rIns="90000" tIns="90000" bIns="90000" anchor="t"/>
          <a:lstStyle/>
          <a:p>
            <a:r>
              <a:rPr lang="ja-JP" sz="1250">
                <a:latin typeface="Arial"/>
                <a:ea typeface="Noto Sans CJK JP"/>
              </a:rPr>
              <a:t>参考・正本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・電気技術者試験センター「第二種 試験問題と解答」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・e-sysnet「変圧器の等価回路」「損失と効率」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・電気の神髄「電験二種二次 機械・制御」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・日本車輌製造 0系資料</a:t>
            </a:r>
            <a:endParaRPr lang="ja-JP" sz="1250"/>
          </a:p>
          <a:p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内部正本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MASTER_SPEC.md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EXAM_ALIGNMENT_SPEC.md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07_shinkansen_machine_2/SPEC.md</a:t>
            </a:r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Topic source Markdown</a:t>
            </a:r>
            <a:endParaRPr lang="ja-JP" sz="1250"/>
          </a:p>
          <a:p>
            <a:endParaRPr lang="ja-JP" sz="1250"/>
          </a:p>
          <a:p>
            <a:r>
              <a:rPr lang="ja-JP" sz="1250">
                <a:latin typeface="Arial"/>
                <a:ea typeface="Noto Sans CJK JP"/>
              </a:rPr>
              <a:t>次ゲート: 完成教材だけで6問を独立再解答。</a:t>
            </a:r>
            <a:endParaRPr lang="ja-JP" sz="1250"/>
          </a:p>
        </p:txBody>
      </p:sp>
      <p:sp>
        <p:nvSpPr>
          <p:cNvPr id="5" name="Footer"/>
          <p:cNvSpPr txBox="1"/>
          <p:nvPr/>
        </p:nvSpPr>
        <p:spPr>
          <a:xfrm>
            <a:off x="365760" y="6500000"/>
            <a:ext cx="11460480" cy="23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ja-JP" sz="800">
                <a:latin typeface="Arial"/>
                <a:ea typeface="Noto Sans CJK JP"/>
              </a:rPr>
              <a:t>外部図版なし。公式問題・解答の権威は試験センター。</a:t>
            </a:r>
            <a:endParaRPr lang="ja-JP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Noto Sans CJK JP"/>
        <a:cs typeface="Arial"/>
      </a:majorFont>
      <a:minorFont>
        <a:latin typeface="Arial"/>
        <a:ea typeface="Noto Sans CJK JP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