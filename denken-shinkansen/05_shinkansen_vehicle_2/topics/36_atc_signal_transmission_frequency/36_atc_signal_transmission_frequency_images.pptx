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全体像。SPEC固定8項目を明示。二次試験型0問の適用判定と、実車固有値を推測しない境界を固定。固定5問・25答案要素の入口。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R8一次「理論」問5。位相差π、I0=V/R、Q=ω0L/R、VL=QV、Q&gt;1の5答案要素を収録。数値例は教材用一般回路。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H25問8の搬送波・復調・AM・QAM・ASK、R3問8の2進表現・量子化誤差・積分形の時間量・MSB・サンプルホールドへ接続。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S/N、dB、同一インピーダンス電圧比。教材用しきい値モデルでノイズによる0→1反転を可視化。実車しきい値ではない境界を明示。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H26問8のリピータ・物理層・データリンク層・MAC・ネットワーク層/IPの5要素。H22問8のプラッタ・シーク・ストライピング・ミラーリング・RAID5はPowerPoint上では冗長化側の要点を扱い、全5答案要素はslide 6マッピングでも固定。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固定5問25答案要素のPowerPointマッピング。SPEC 8/8。二次0問。Topic 21の過去問固有丸め差注記を維持し、一般式は変更しない。clean blind candidateはanswer-bearing資料を見ていないfresh workerが作成する。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600" b="1">
                <a:solidFill>
                  <a:srgbClr val="1C304C"/>
                </a:solidFill>
                <a:latin typeface="Noto Sans CJK JP"/>
              </a:rPr>
              <a:t>ATC② 信号伝送と周波数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13232"/>
            <a:ext cx="11155680" cy="0"/>
          </a:xfrm>
          <a:prstGeom prst="line">
            <a:avLst/>
          </a:prstGeom>
          <a:ln w="27940">
            <a:solidFill>
              <a:srgbClr val="326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5A626C"/>
                </a:solidFill>
                <a:latin typeface="Noto Sans CJK JP"/>
              </a:rPr>
              <a:t>一次試験「機械・理論」へ接続。二次「機械・制御」は公式科目範囲外のため0問固定。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417320" cy="6858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26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3268A8"/>
                </a:solidFill>
                <a:latin typeface="Noto Sans CJK JP"/>
              </a:rPr>
              <a:t>原信号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1760220"/>
            <a:ext cx="77724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88920" y="1417320"/>
            <a:ext cx="1417320" cy="6858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97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B9702D"/>
                </a:solidFill>
                <a:latin typeface="Noto Sans CJK JP"/>
              </a:rPr>
              <a:t>変調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06240" y="1760220"/>
            <a:ext cx="77724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983480" y="1417320"/>
            <a:ext cx="1417320" cy="6858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C8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2C827E"/>
                </a:solidFill>
                <a:latin typeface="Noto Sans CJK JP"/>
              </a:rPr>
              <a:t>伝送路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1760220"/>
            <a:ext cx="77724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178040" y="1417320"/>
            <a:ext cx="1417320" cy="6858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97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B9702D"/>
                </a:solidFill>
                <a:latin typeface="Noto Sans CJK JP"/>
              </a:rPr>
              <a:t>復調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95360" y="1760220"/>
            <a:ext cx="77724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372600" y="1417320"/>
            <a:ext cx="1417320" cy="6858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D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3D7D4B"/>
                </a:solidFill>
                <a:latin typeface="Noto Sans CJK JP"/>
              </a:rPr>
              <a:t>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1C304C"/>
                </a:solidFill>
                <a:latin typeface="Noto Sans CJK JP"/>
              </a:rPr>
              <a:t>試験で問うのは「情報をどう表現し、伝え、ノイズの中で正しく判定するか」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154680"/>
            <a:ext cx="2377440" cy="566928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C304C"/>
                </a:solidFill>
                <a:latin typeface="Noto Sans CJK JP"/>
              </a:rPr>
              <a:t>周波数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7" y="3154680"/>
            <a:ext cx="2377440" cy="566928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0">
                <a:solidFill>
                  <a:srgbClr val="1C304C"/>
                </a:solidFill>
                <a:latin typeface="Noto Sans CJK JP"/>
              </a:rPr>
              <a:t>信号伝送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3154680"/>
            <a:ext cx="2377440" cy="566928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C304C"/>
                </a:solidFill>
                <a:latin typeface="Noto Sans CJK JP"/>
              </a:rPr>
              <a:t>変調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16567" y="3154680"/>
            <a:ext cx="2377440" cy="566928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0">
                <a:solidFill>
                  <a:srgbClr val="1C304C"/>
                </a:solidFill>
                <a:latin typeface="Noto Sans CJK JP"/>
              </a:rPr>
              <a:t>フィルタ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59352"/>
            <a:ext cx="2377440" cy="566928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0">
                <a:solidFill>
                  <a:srgbClr val="1C304C"/>
                </a:solidFill>
                <a:latin typeface="Noto Sans CJK JP"/>
              </a:rPr>
              <a:t>ノイズ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38727" y="3959352"/>
            <a:ext cx="2377440" cy="566928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C304C"/>
                </a:solidFill>
                <a:latin typeface="Noto Sans CJK JP"/>
              </a:rPr>
              <a:t>S/N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3959352"/>
            <a:ext cx="2377440" cy="566928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0">
                <a:solidFill>
                  <a:srgbClr val="1C304C"/>
                </a:solidFill>
                <a:latin typeface="Noto Sans CJK JP"/>
              </a:rPr>
              <a:t>デジタル判定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16567" y="3959352"/>
            <a:ext cx="2377440" cy="566928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0">
                <a:solidFill>
                  <a:srgbClr val="1C304C"/>
                </a:solidFill>
                <a:latin typeface="Noto Sans CJK JP"/>
              </a:rPr>
              <a:t>冗長化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" y="4983480"/>
            <a:ext cx="10716768" cy="804672"/>
          </a:xfrm>
          <a:prstGeom prst="roundRect">
            <a:avLst/>
          </a:prstGeom>
          <a:solidFill>
            <a:srgbClr val="FDF7EE"/>
          </a:solidFill>
          <a:ln w="16510">
            <a:solidFill>
              <a:srgbClr val="B97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A04343"/>
                </a:solidFill>
                <a:latin typeface="Noto Sans CJK JP"/>
              </a:rPr>
              <a:t>境界：ATC実設備の使用周波数・変調方式・受信しきい値・S/N要求値・冗長構成は一次資料で確認できる場合だけ真値化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5925312"/>
            <a:ext cx="106527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0">
                <a:solidFill>
                  <a:srgbClr val="5A626C"/>
                </a:solidFill>
                <a:latin typeface="Noto Sans CJK JP"/>
              </a:rPr>
              <a:t>固定過去問：R8理論問5 / R3・H26・H25・H22 機械問8 → 5問・25答案要素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6519672"/>
            <a:ext cx="329184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Topic 36 / ATC② 信号伝送と周波数  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600" b="1">
                <a:solidFill>
                  <a:srgbClr val="1C304C"/>
                </a:solidFill>
                <a:latin typeface="Noto Sans CJK JP"/>
              </a:rPr>
              <a:t>周波数選択性：RLC共振とQ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13232"/>
            <a:ext cx="11155680" cy="0"/>
          </a:xfrm>
          <a:prstGeom prst="line">
            <a:avLst/>
          </a:prstGeom>
          <a:ln w="27940">
            <a:solidFill>
              <a:srgbClr val="326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5A626C"/>
                </a:solidFill>
                <a:latin typeface="Noto Sans CJK JP"/>
              </a:rPr>
              <a:t>R8一次「理論」問5の5答案要素を、フィルタ理解の基礎として扱う。ATC実機定数とは断定しない。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70432"/>
            <a:ext cx="3017520" cy="1874519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326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1C304C"/>
                </a:solidFill>
                <a:latin typeface="Noto Sans CJK JP"/>
              </a:rPr>
              <a:t>基本関係
ω = 2πf
XL = ωL
XC = 1/(ωC)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170432"/>
            <a:ext cx="3657600" cy="1874519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2C8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1C304C"/>
                </a:solidFill>
                <a:latin typeface="Noto Sans CJK JP"/>
              </a:rPr>
              <a:t>直列RLC共振
ω0 = 1/√(LC)
f0 = 1/(2π√(LC))
共振時 Z=R, I0=V/R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170432"/>
            <a:ext cx="3931920" cy="1874519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B97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1C304C"/>
                </a:solidFill>
                <a:latin typeface="Noto Sans CJK JP"/>
              </a:rPr>
              <a:t>Qと電圧拡大
Q = ω0L/R = (1/R)√(L/C)
VL = VC = QV
VL&gt;V ⇔ Q&gt;1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5074920"/>
            <a:ext cx="4800600" cy="0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0120" y="3429000"/>
            <a:ext cx="0" cy="2103120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51560" y="5230368"/>
            <a:ext cx="457200" cy="118872"/>
          </a:xfrm>
          <a:prstGeom prst="line">
            <a:avLst/>
          </a:prstGeom>
          <a:ln w="31750">
            <a:solidFill>
              <a:srgbClr val="326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508760" y="5047488"/>
            <a:ext cx="457200" cy="182880"/>
          </a:xfrm>
          <a:prstGeom prst="line">
            <a:avLst/>
          </a:prstGeom>
          <a:ln w="31750">
            <a:solidFill>
              <a:srgbClr val="326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965960" y="4736592"/>
            <a:ext cx="457200" cy="310896"/>
          </a:xfrm>
          <a:prstGeom prst="line">
            <a:avLst/>
          </a:prstGeom>
          <a:ln w="31750">
            <a:solidFill>
              <a:srgbClr val="326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423160" y="4160520"/>
            <a:ext cx="411480" cy="576072"/>
          </a:xfrm>
          <a:prstGeom prst="line">
            <a:avLst/>
          </a:prstGeom>
          <a:ln w="31750">
            <a:solidFill>
              <a:srgbClr val="326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834640" y="3675887"/>
            <a:ext cx="365760" cy="484633"/>
          </a:xfrm>
          <a:prstGeom prst="line">
            <a:avLst/>
          </a:prstGeom>
          <a:ln w="31750">
            <a:solidFill>
              <a:srgbClr val="326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00400" y="3675887"/>
            <a:ext cx="365760" cy="484633"/>
          </a:xfrm>
          <a:prstGeom prst="line">
            <a:avLst/>
          </a:prstGeom>
          <a:ln w="31750">
            <a:solidFill>
              <a:srgbClr val="326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66160" y="4160520"/>
            <a:ext cx="411479" cy="576072"/>
          </a:xfrm>
          <a:prstGeom prst="line">
            <a:avLst/>
          </a:prstGeom>
          <a:ln w="31750">
            <a:solidFill>
              <a:srgbClr val="326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77639" y="4736592"/>
            <a:ext cx="457201" cy="310896"/>
          </a:xfrm>
          <a:prstGeom prst="line">
            <a:avLst/>
          </a:prstGeom>
          <a:ln w="31750">
            <a:solidFill>
              <a:srgbClr val="326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34840" y="5047488"/>
            <a:ext cx="640080" cy="219456"/>
          </a:xfrm>
          <a:prstGeom prst="line">
            <a:avLst/>
          </a:prstGeom>
          <a:ln w="31750">
            <a:solidFill>
              <a:srgbClr val="326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200400" y="3675887"/>
            <a:ext cx="0" cy="1399033"/>
          </a:xfrm>
          <a:prstGeom prst="line">
            <a:avLst/>
          </a:prstGeom>
          <a:ln w="16510">
            <a:solidFill>
              <a:srgbClr val="A043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5488" y="3337560"/>
            <a:ext cx="4572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A626C"/>
                </a:solidFill>
                <a:latin typeface="Noto Sans CJK JP"/>
              </a:rPr>
              <a:t>|I|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5138928"/>
            <a:ext cx="4572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A04343"/>
                </a:solidFill>
                <a:latin typeface="Noto Sans CJK JP"/>
              </a:rPr>
              <a:t>f0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9552" y="495604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A626C"/>
                </a:solidFill>
                <a:latin typeface="Noto Sans CJK JP"/>
              </a:rPr>
              <a:t>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3493008"/>
            <a:ext cx="5486400" cy="187451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26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700" b="0">
                <a:solidFill>
                  <a:srgbClr val="191C20"/>
                </a:solidFill>
                <a:latin typeface="Noto Sans CJK JP"/>
              </a:rPr>
              <a:t>基礎例題
R=20 Ω, L=0.20 H, C=50 μF
→ ω0=316.2 rad/s
→ f0=50.3 Hz
→ Q=3.16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5532120"/>
            <a:ext cx="5257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C304C"/>
                </a:solidFill>
                <a:latin typeface="Noto Sans CJK JP"/>
              </a:rPr>
              <a:t>位相：共振時のVLとVCは等大・逆相 → 位相差 π rad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6519672"/>
            <a:ext cx="329184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Topic 36 / ATC② 信号伝送と周波数  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600" b="1">
                <a:solidFill>
                  <a:srgbClr val="1C304C"/>
                </a:solidFill>
                <a:latin typeface="Noto Sans CJK JP"/>
              </a:rPr>
              <a:t>変調・標本化・A-D変換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13232"/>
            <a:ext cx="11155680" cy="0"/>
          </a:xfrm>
          <a:prstGeom prst="line">
            <a:avLst/>
          </a:prstGeom>
          <a:ln w="27940">
            <a:solidFill>
              <a:srgbClr val="326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5A626C"/>
                </a:solidFill>
                <a:latin typeface="Noto Sans CJK JP"/>
              </a:rPr>
              <a:t>H25一次「機械」問8 + R3一次「機械」問8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52120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C304C"/>
                </a:solidFill>
                <a:latin typeface="Noto Sans CJK JP"/>
              </a:rPr>
              <a:t>アナログ / ディジタル変調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1572768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97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304C"/>
                </a:solidFill>
                <a:latin typeface="Noto Sans CJK JP"/>
              </a:rPr>
              <a:t>AM
振幅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41448" y="1481328"/>
            <a:ext cx="1572768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304C"/>
                </a:solidFill>
                <a:latin typeface="Noto Sans CJK JP"/>
              </a:rPr>
              <a:t>FM
周波数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4528" y="1481328"/>
            <a:ext cx="1572768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97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304C"/>
                </a:solidFill>
                <a:latin typeface="Noto Sans CJK JP"/>
              </a:rPr>
              <a:t>PM / PSK
位相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22576"/>
            <a:ext cx="1572768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97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304C"/>
                </a:solidFill>
                <a:latin typeface="Noto Sans CJK JP"/>
              </a:rPr>
              <a:t>ASK
振幅切替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2322576"/>
            <a:ext cx="1572768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304C"/>
                </a:solidFill>
                <a:latin typeface="Noto Sans CJK JP"/>
              </a:rPr>
              <a:t>FSK
周波数切替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2322576"/>
            <a:ext cx="1572768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97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304C"/>
                </a:solidFill>
                <a:latin typeface="Noto Sans CJK JP"/>
              </a:rPr>
              <a:t>QAM
振幅＋位相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72968"/>
            <a:ext cx="49834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B9702D"/>
                </a:solidFill>
                <a:latin typeface="Noto Sans CJK JP"/>
              </a:rPr>
              <a:t>送信側：原信号 → 搬送波を変調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47872"/>
            <a:ext cx="49834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C827E"/>
                </a:solidFill>
                <a:latin typeface="Noto Sans CJK JP"/>
              </a:rPr>
              <a:t>受信側：復調 → 元の情報を取り出す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987552"/>
            <a:ext cx="5074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C304C"/>
                </a:solidFill>
                <a:latin typeface="Noto Sans CJK JP"/>
              </a:rPr>
              <a:t>標本化 → 量子化 → 符号化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27632"/>
            <a:ext cx="1325880" cy="6858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C8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304C"/>
                </a:solidFill>
                <a:latin typeface="Noto Sans CJK JP"/>
              </a:rPr>
              <a:t>帯域制限
フィルタ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627632"/>
            <a:ext cx="1417320" cy="6858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26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304C"/>
                </a:solidFill>
                <a:latin typeface="Noto Sans CJK JP"/>
              </a:rPr>
              <a:t>Sample / 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627632"/>
            <a:ext cx="1463040" cy="6858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97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304C"/>
                </a:solidFill>
                <a:latin typeface="Noto Sans CJK JP"/>
              </a:rPr>
              <a:t>量子化
2^N levels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35240" y="1970531"/>
            <a:ext cx="246887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99448" y="1970531"/>
            <a:ext cx="256032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92240" y="2761488"/>
            <a:ext cx="2468880" cy="777240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326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1C304C"/>
                </a:solidFill>
                <a:latin typeface="Noto Sans CJK JP"/>
              </a:rPr>
              <a:t>標本化条件
fs &gt; 2 fmax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71432" y="2761488"/>
            <a:ext cx="2148840" cy="777240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B97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C304C"/>
                </a:solidFill>
                <a:latin typeface="Noto Sans CJK JP"/>
              </a:rPr>
              <a:t>8 bit → 2^8 = 256 levels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977639"/>
            <a:ext cx="4983480" cy="12344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26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800" b="1">
                <a:solidFill>
                  <a:srgbClr val="191C20"/>
                </a:solidFill>
                <a:latin typeface="Noto Sans CJK JP"/>
              </a:rPr>
              <a:t>本試験標準例題
fmax = 3 kHz
→ fs &gt; 6 kHz
8 bit → 256 levels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5468112"/>
            <a:ext cx="4983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A04343"/>
                </a:solidFill>
                <a:latin typeface="Noto Sans CJK JP"/>
              </a:rPr>
              <a:t>量子化誤差 ≠ 外来ノイズ / 逐次比較形はMSB側から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6519672"/>
            <a:ext cx="329184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Topic 36 / ATC② 信号伝送と周波数  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600" b="1">
                <a:solidFill>
                  <a:srgbClr val="1C304C"/>
                </a:solidFill>
                <a:latin typeface="Noto Sans CJK JP"/>
              </a:rPr>
              <a:t>ノイズ・S/N・デジタル判定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13232"/>
            <a:ext cx="11155680" cy="0"/>
          </a:xfrm>
          <a:prstGeom prst="line">
            <a:avLst/>
          </a:prstGeom>
          <a:ln w="27940">
            <a:solidFill>
              <a:srgbClr val="326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5A626C"/>
                </a:solidFill>
                <a:latin typeface="Noto Sans CJK JP"/>
              </a:rPr>
              <a:t>S/Nは一般定義。実車の要求値やしきい値は置かない。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34440"/>
            <a:ext cx="4846320" cy="1536192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326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900" b="1">
                <a:solidFill>
                  <a:srgbClr val="1C304C"/>
                </a:solidFill>
                <a:latin typeface="Noto Sans CJK JP"/>
              </a:rPr>
              <a:t>S/N = PS / PN
電力比[dB] = 10 log10(PS/PN)
同一Zの電圧比[dB] = 20 log10(VS/VN)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090672"/>
            <a:ext cx="4846320" cy="1783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C8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900" b="1">
                <a:solidFill>
                  <a:srgbClr val="191C20"/>
                </a:solidFill>
                <a:latin typeface="Noto Sans CJK JP"/>
              </a:rPr>
              <a:t>複合例題
VS = 1.0 V
VN=0.10 V → 20 dB
VN=0.20 V → 14.0 dB
S/Nは約6 dB低下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230368"/>
            <a:ext cx="466344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A04343"/>
                </a:solidFill>
                <a:latin typeface="Noto Sans CJK JP"/>
              </a:rPr>
              <a:t>ノイズが増えるほど判定余裕が減る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051560"/>
            <a:ext cx="52120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1C304C"/>
                </a:solidFill>
                <a:latin typeface="Noto Sans CJK JP"/>
              </a:rPr>
              <a:t>教材用しきい値モデル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55080" y="4983480"/>
            <a:ext cx="4800600" cy="0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537960" y="1572768"/>
            <a:ext cx="0" cy="3867912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37960" y="3063240"/>
            <a:ext cx="4434840" cy="0"/>
          </a:xfrm>
          <a:prstGeom prst="line">
            <a:avLst/>
          </a:prstGeom>
          <a:ln w="21590">
            <a:solidFill>
              <a:srgbClr val="A043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765792" y="2761488"/>
            <a:ext cx="117043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A04343"/>
                </a:solidFill>
                <a:latin typeface="Noto Sans CJK JP"/>
              </a:rPr>
              <a:t>Vth=2.5 V</a:t>
            </a:r>
          </a:p>
        </p:txBody>
      </p:sp>
      <p:sp>
        <p:nvSpPr>
          <p:cNvPr id="13" name="Oval 12"/>
          <p:cNvSpPr/>
          <p:nvPr/>
        </p:nvSpPr>
        <p:spPr>
          <a:xfrm>
            <a:off x="7635240" y="3429000"/>
            <a:ext cx="164592" cy="164592"/>
          </a:xfrm>
          <a:prstGeom prst="ellipse">
            <a:avLst/>
          </a:prstGeom>
          <a:solidFill>
            <a:srgbClr val="3268A8"/>
          </a:solidFill>
          <a:ln>
            <a:solidFill>
              <a:srgbClr val="326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3657600"/>
            <a:ext cx="11430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3268A8"/>
                </a:solidFill>
                <a:latin typeface="Noto Sans CJK JP"/>
              </a:rPr>
              <a:t>2.3 V → 0</a:t>
            </a:r>
          </a:p>
        </p:txBody>
      </p:sp>
      <p:sp>
        <p:nvSpPr>
          <p:cNvPr id="15" name="Oval 14"/>
          <p:cNvSpPr/>
          <p:nvPr/>
        </p:nvSpPr>
        <p:spPr>
          <a:xfrm>
            <a:off x="9281160" y="2852928"/>
            <a:ext cx="164592" cy="164592"/>
          </a:xfrm>
          <a:prstGeom prst="ellipse">
            <a:avLst/>
          </a:prstGeom>
          <a:solidFill>
            <a:srgbClr val="B9702D"/>
          </a:solidFill>
          <a:ln>
            <a:solidFill>
              <a:srgbClr val="B97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3081528"/>
            <a:ext cx="11430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B9702D"/>
                </a:solidFill>
                <a:latin typeface="Noto Sans CJK JP"/>
              </a:rPr>
              <a:t>+0.3 V</a:t>
            </a:r>
          </a:p>
        </p:txBody>
      </p:sp>
      <p:sp>
        <p:nvSpPr>
          <p:cNvPr id="17" name="Oval 16"/>
          <p:cNvSpPr/>
          <p:nvPr/>
        </p:nvSpPr>
        <p:spPr>
          <a:xfrm>
            <a:off x="10378440" y="2606040"/>
            <a:ext cx="164592" cy="164592"/>
          </a:xfrm>
          <a:prstGeom prst="ellipse">
            <a:avLst/>
          </a:prstGeom>
          <a:solidFill>
            <a:srgbClr val="3D7D4B"/>
          </a:solidFill>
          <a:ln>
            <a:solidFill>
              <a:srgbClr val="3D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0" y="2834640"/>
            <a:ext cx="11430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3D7D4B"/>
                </a:solidFill>
                <a:latin typeface="Noto Sans CJK JP"/>
              </a:rPr>
              <a:t>2.6 V → 1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7808975" y="2670048"/>
            <a:ext cx="2560321" cy="822960"/>
          </a:xfrm>
          <a:prstGeom prst="line">
            <a:avLst/>
          </a:prstGeom>
          <a:ln w="25400">
            <a:solidFill>
              <a:srgbClr val="B970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5541264"/>
            <a:ext cx="4983480" cy="530352"/>
          </a:xfrm>
          <a:prstGeom prst="roundRect">
            <a:avLst/>
          </a:prstGeom>
          <a:solidFill>
            <a:srgbClr val="FDF7EE"/>
          </a:solidFill>
          <a:ln w="16510">
            <a:solidFill>
              <a:srgbClr val="B97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A04343"/>
                </a:solidFill>
                <a:latin typeface="Noto Sans CJK JP"/>
              </a:rPr>
              <a:t>重要：これは判定原理を学ぶ仮定値。ATC実設備の受信しきい値ではない。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6519672"/>
            <a:ext cx="329184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Topic 36 / ATC② 信号伝送と周波数  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600" b="1">
                <a:solidFill>
                  <a:srgbClr val="1C304C"/>
                </a:solidFill>
                <a:latin typeface="Noto Sans CJK JP"/>
              </a:rPr>
              <a:t>信号中継・OSI層 / 冗長化の一般原理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13232"/>
            <a:ext cx="11155680" cy="0"/>
          </a:xfrm>
          <a:prstGeom prst="line">
            <a:avLst/>
          </a:prstGeom>
          <a:ln w="27940">
            <a:solidFill>
              <a:srgbClr val="326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5A626C"/>
                </a:solidFill>
                <a:latin typeface="Noto Sans CJK JP"/>
              </a:rPr>
              <a:t>H26一次「機械」問8 + H22一次「機械」問8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53035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C304C"/>
                </a:solidFill>
                <a:latin typeface="Noto Sans CJK JP"/>
              </a:rPr>
              <a:t>LAN・中継機器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536192"/>
            <a:ext cx="489204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97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600" b="1">
                <a:solidFill>
                  <a:srgbClr val="1C304C"/>
                </a:solidFill>
                <a:latin typeface="Noto Sans CJK JP"/>
              </a:rPr>
              <a:t>L3 ネットワーク層
IPアドレス / 経路選択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60320"/>
            <a:ext cx="489204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C8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600" b="1">
                <a:solidFill>
                  <a:srgbClr val="1C304C"/>
                </a:solidFill>
                <a:latin typeface="Noto Sans CJK JP"/>
              </a:rPr>
              <a:t>L2 データリンク層
MACアドレス / フレーム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584448"/>
            <a:ext cx="489204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26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600" b="1">
                <a:solidFill>
                  <a:srgbClr val="1C304C"/>
                </a:solidFill>
                <a:latin typeface="Noto Sans CJK JP"/>
              </a:rPr>
              <a:t>L1 物理層
リピータ / 信号中継・波形補正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64608"/>
            <a:ext cx="470916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A04343"/>
                </a:solidFill>
                <a:latin typeface="Noto Sans CJK JP"/>
              </a:rPr>
              <a:t>リピータはIP/MACを見てルーティングしない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1005840"/>
            <a:ext cx="521208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C304C"/>
                </a:solidFill>
                <a:latin typeface="Noto Sans CJK JP"/>
              </a:rPr>
              <a:t>冗長化・耐障害性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572768"/>
            <a:ext cx="1554480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26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C304C"/>
                </a:solidFill>
                <a:latin typeface="Noto Sans CJK JP"/>
              </a:rPr>
              <a:t>Striping
データを分散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572768"/>
            <a:ext cx="1627632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C8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C304C"/>
                </a:solidFill>
                <a:latin typeface="Noto Sans CJK JP"/>
              </a:rPr>
              <a:t>Mirroring
同一内容を複製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572768"/>
            <a:ext cx="1572768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97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C304C"/>
                </a:solidFill>
                <a:latin typeface="Noto Sans CJK JP"/>
              </a:rPr>
              <a:t>Parity
復元情報を保持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2962656"/>
            <a:ext cx="4572000" cy="960120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326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1C304C"/>
                </a:solidFill>
                <a:latin typeface="Noto Sans CJK JP"/>
              </a:rPr>
              <a:t>RAID5 = 分散ストライピング + 分散パリティ
（一般原理として学ぶ）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4434840"/>
            <a:ext cx="4892040" cy="1078992"/>
          </a:xfrm>
          <a:prstGeom prst="roundRect">
            <a:avLst/>
          </a:prstGeom>
          <a:solidFill>
            <a:srgbClr val="FDF7EE"/>
          </a:solidFill>
          <a:ln w="16510">
            <a:solidFill>
              <a:srgbClr val="B97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A04343"/>
                </a:solidFill>
                <a:latin typeface="Noto Sans CJK JP"/>
              </a:rPr>
              <a:t>境界：H22問8はATC装置のRAID実装を示す問題ではない。
冗長化・耐障害性の一般原理を固定するために使う。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6519672"/>
            <a:ext cx="329184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Topic 36 / ATC② 信号伝送と周波数  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600" b="1">
                <a:solidFill>
                  <a:srgbClr val="1C304C"/>
                </a:solidFill>
                <a:latin typeface="Noto Sans CJK JP"/>
              </a:rPr>
              <a:t>本試験への接続と品質ゲート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13232"/>
            <a:ext cx="11155680" cy="0"/>
          </a:xfrm>
          <a:prstGeom prst="line">
            <a:avLst/>
          </a:prstGeom>
          <a:ln w="27940">
            <a:solidFill>
              <a:srgbClr val="326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5A626C"/>
                </a:solidFill>
                <a:latin typeface="Noto Sans CJK JP"/>
              </a:rPr>
              <a:t>PowerPointは固定EXAM_ALIGNMENTを変更せず、教材内容を視覚化する。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34440"/>
            <a:ext cx="2971800" cy="502920"/>
          </a:xfrm>
          <a:prstGeom prst="roundRect">
            <a:avLst/>
          </a:prstGeom>
          <a:solidFill>
            <a:srgbClr val="1C304C"/>
          </a:solidFill>
          <a:ln w="16510">
            <a:solidFill>
              <a:srgbClr val="1C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JP"/>
              </a:rPr>
              <a:t>固定過去問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234440"/>
            <a:ext cx="3493008" cy="502920"/>
          </a:xfrm>
          <a:prstGeom prst="roundRect">
            <a:avLst/>
          </a:prstGeom>
          <a:solidFill>
            <a:srgbClr val="1C304C"/>
          </a:solidFill>
          <a:ln w="16510">
            <a:solidFill>
              <a:srgbClr val="1C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JP"/>
              </a:rPr>
              <a:t>要求論点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234440"/>
            <a:ext cx="1965960" cy="502920"/>
          </a:xfrm>
          <a:prstGeom prst="roundRect">
            <a:avLst/>
          </a:prstGeom>
          <a:solidFill>
            <a:srgbClr val="1C304C"/>
          </a:solidFill>
          <a:ln w="16510">
            <a:solidFill>
              <a:srgbClr val="1C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JP"/>
              </a:rPr>
              <a:t>PowerPoint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1234440"/>
            <a:ext cx="1508760" cy="502920"/>
          </a:xfrm>
          <a:prstGeom prst="roundRect">
            <a:avLst/>
          </a:prstGeom>
          <a:solidFill>
            <a:srgbClr val="1C304C"/>
          </a:solidFill>
          <a:ln w="16510">
            <a:solidFill>
              <a:srgbClr val="1C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JP"/>
              </a:rPr>
              <a:t>接続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971800" cy="530352"/>
          </a:xfrm>
          <a:prstGeom prst="rect">
            <a:avLst/>
          </a:prstGeom>
          <a:solidFill>
            <a:srgbClr val="FFFFFF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91C20"/>
                </a:solidFill>
                <a:latin typeface="Noto Sans CJK JP"/>
              </a:rPr>
              <a:t>R8 一次 理論 問5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783080"/>
            <a:ext cx="3493008" cy="530352"/>
          </a:xfrm>
          <a:prstGeom prst="rect">
            <a:avLst/>
          </a:prstGeom>
          <a:solidFill>
            <a:srgbClr val="FFFFFF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91C20"/>
                </a:solidFill>
                <a:latin typeface="Noto Sans CJK JP"/>
              </a:rPr>
              <a:t>RLC共振・位相・Q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783080"/>
            <a:ext cx="1965960" cy="530352"/>
          </a:xfrm>
          <a:prstGeom prst="rect">
            <a:avLst/>
          </a:prstGeom>
          <a:solidFill>
            <a:srgbClr val="FFFFFF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91C20"/>
                </a:solidFill>
                <a:latin typeface="Noto Sans CJK JP"/>
              </a:rPr>
              <a:t>slide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55480" y="1783080"/>
            <a:ext cx="1508760" cy="530352"/>
          </a:xfrm>
          <a:prstGeom prst="rect">
            <a:avLst/>
          </a:prstGeom>
          <a:solidFill>
            <a:srgbClr val="FFFFFF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D7D4B"/>
                </a:solidFill>
                <a:latin typeface="Noto Sans CJK JP"/>
              </a:rPr>
              <a:t>5/5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04872"/>
            <a:ext cx="2971800" cy="530352"/>
          </a:xfrm>
          <a:prstGeom prst="rect">
            <a:avLst/>
          </a:prstGeom>
          <a:solidFill>
            <a:srgbClr val="F4F7FA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91C20"/>
                </a:solidFill>
                <a:latin typeface="Noto Sans CJK JP"/>
              </a:rPr>
              <a:t>R3 一次 機械 問8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2404872"/>
            <a:ext cx="3493008" cy="530352"/>
          </a:xfrm>
          <a:prstGeom prst="rect">
            <a:avLst/>
          </a:prstGeom>
          <a:solidFill>
            <a:srgbClr val="F4F7FA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91C20"/>
                </a:solidFill>
                <a:latin typeface="Noto Sans CJK JP"/>
              </a:rPr>
              <a:t>A-D変換・標本化・量子化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2404872"/>
            <a:ext cx="1965960" cy="530352"/>
          </a:xfrm>
          <a:prstGeom prst="rect">
            <a:avLst/>
          </a:prstGeom>
          <a:solidFill>
            <a:srgbClr val="F4F7FA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91C20"/>
                </a:solidFill>
                <a:latin typeface="Noto Sans CJK JP"/>
              </a:rPr>
              <a:t>slide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2404872"/>
            <a:ext cx="1508760" cy="530352"/>
          </a:xfrm>
          <a:prstGeom prst="rect">
            <a:avLst/>
          </a:prstGeom>
          <a:solidFill>
            <a:srgbClr val="F4F7FA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D7D4B"/>
                </a:solidFill>
                <a:latin typeface="Noto Sans CJK JP"/>
              </a:rPr>
              <a:t>5/5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26664"/>
            <a:ext cx="2971800" cy="530352"/>
          </a:xfrm>
          <a:prstGeom prst="rect">
            <a:avLst/>
          </a:prstGeom>
          <a:solidFill>
            <a:srgbClr val="FFFFFF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91C20"/>
                </a:solidFill>
                <a:latin typeface="Noto Sans CJK JP"/>
              </a:rPr>
              <a:t>H26 一次 機械 問8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60" y="3026664"/>
            <a:ext cx="3493008" cy="530352"/>
          </a:xfrm>
          <a:prstGeom prst="rect">
            <a:avLst/>
          </a:prstGeom>
          <a:solidFill>
            <a:srgbClr val="FFFFFF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91C20"/>
                </a:solidFill>
                <a:latin typeface="Noto Sans CJK JP"/>
              </a:rPr>
              <a:t>リピータ・OSI・MAC/IP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026664"/>
            <a:ext cx="1965960" cy="530352"/>
          </a:xfrm>
          <a:prstGeom prst="rect">
            <a:avLst/>
          </a:prstGeom>
          <a:solidFill>
            <a:srgbClr val="FFFFFF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91C20"/>
                </a:solidFill>
                <a:latin typeface="Noto Sans CJK JP"/>
              </a:rPr>
              <a:t>slide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3026664"/>
            <a:ext cx="1508760" cy="530352"/>
          </a:xfrm>
          <a:prstGeom prst="rect">
            <a:avLst/>
          </a:prstGeom>
          <a:solidFill>
            <a:srgbClr val="FFFFFF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D7D4B"/>
                </a:solidFill>
                <a:latin typeface="Noto Sans CJK JP"/>
              </a:rPr>
              <a:t>5/5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648456"/>
            <a:ext cx="2971800" cy="530352"/>
          </a:xfrm>
          <a:prstGeom prst="rect">
            <a:avLst/>
          </a:prstGeom>
          <a:solidFill>
            <a:srgbClr val="F4F7FA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91C20"/>
                </a:solidFill>
                <a:latin typeface="Noto Sans CJK JP"/>
              </a:rPr>
              <a:t>H25 一次 機械 問8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3648456"/>
            <a:ext cx="3493008" cy="530352"/>
          </a:xfrm>
          <a:prstGeom prst="rect">
            <a:avLst/>
          </a:prstGeom>
          <a:solidFill>
            <a:srgbClr val="F4F7FA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91C20"/>
                </a:solidFill>
                <a:latin typeface="Noto Sans CJK JP"/>
              </a:rPr>
              <a:t>搬送波・変調/復調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3648456"/>
            <a:ext cx="1965960" cy="530352"/>
          </a:xfrm>
          <a:prstGeom prst="rect">
            <a:avLst/>
          </a:prstGeom>
          <a:solidFill>
            <a:srgbClr val="F4F7FA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91C20"/>
                </a:solidFill>
                <a:latin typeface="Noto Sans CJK JP"/>
              </a:rPr>
              <a:t>slides 1・3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3648456"/>
            <a:ext cx="1508760" cy="530352"/>
          </a:xfrm>
          <a:prstGeom prst="rect">
            <a:avLst/>
          </a:prstGeom>
          <a:solidFill>
            <a:srgbClr val="F4F7FA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D7D4B"/>
                </a:solidFill>
                <a:latin typeface="Noto Sans CJK JP"/>
              </a:rPr>
              <a:t>5/5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270248"/>
            <a:ext cx="2971800" cy="530352"/>
          </a:xfrm>
          <a:prstGeom prst="rect">
            <a:avLst/>
          </a:prstGeom>
          <a:solidFill>
            <a:srgbClr val="FFFFFF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91C20"/>
                </a:solidFill>
                <a:latin typeface="Noto Sans CJK JP"/>
              </a:rPr>
              <a:t>H22 一次 機械 問8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4270248"/>
            <a:ext cx="3493008" cy="530352"/>
          </a:xfrm>
          <a:prstGeom prst="rect">
            <a:avLst/>
          </a:prstGeom>
          <a:solidFill>
            <a:srgbClr val="FFFFFF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91C20"/>
                </a:solidFill>
                <a:latin typeface="Noto Sans CJK JP"/>
              </a:rPr>
              <a:t>RAID・冗長化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4270248"/>
            <a:ext cx="1965960" cy="530352"/>
          </a:xfrm>
          <a:prstGeom prst="rect">
            <a:avLst/>
          </a:prstGeom>
          <a:solidFill>
            <a:srgbClr val="FFFFFF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91C20"/>
                </a:solidFill>
                <a:latin typeface="Noto Sans CJK JP"/>
              </a:rPr>
              <a:t>slides 5・6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55480" y="4270248"/>
            <a:ext cx="1508760" cy="530352"/>
          </a:xfrm>
          <a:prstGeom prst="rect">
            <a:avLst/>
          </a:prstGeom>
          <a:solidFill>
            <a:srgbClr val="FFFFFF"/>
          </a:solidFill>
          <a:ln w="1651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D7D4B"/>
                </a:solidFill>
                <a:latin typeface="Noto Sans CJK JP"/>
              </a:rPr>
              <a:t>5/5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074920"/>
            <a:ext cx="10698480" cy="566928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3D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3D7D4B"/>
                </a:solidFill>
                <a:latin typeface="Noto Sans CJK JP"/>
              </a:rPr>
              <a:t>一次：25/25 connected   /   二次：0問（公式科目範囲外、件数合わせ0件）   /   SPEC固定8項目：8/8 PASS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742432"/>
            <a:ext cx="10698480" cy="621792"/>
          </a:xfrm>
          <a:prstGeom prst="roundRect">
            <a:avLst/>
          </a:prstGeom>
          <a:solidFill>
            <a:srgbClr val="FDF7EE"/>
          </a:solidFill>
          <a:ln w="16510">
            <a:solidFill>
              <a:srgbClr val="B97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A04343"/>
                </a:solidFill>
                <a:latin typeface="Noto Sans CJK JP"/>
              </a:rPr>
              <a:t>Topic 21 固有注記：H26二次 問1(4) 48.1 N·m / 48.0 N·m は、公式がπ=3.14相当の数値処理を用いた丸め差。一般式 P=Tω, ω=2πN/60 は変更しない。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6519672"/>
            <a:ext cx="329184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Topic 36 / ATC② 信号伝送と周波数  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