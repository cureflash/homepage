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0000" y="180000"/>
            <a:ext cx="11400000" cy="62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l"/>
            <a:r>
              <a:rPr lang="ja-JP" sz="2800" b="1">
                <a:solidFill>
                  <a:srgbClr val="FFFFFF"/>
                </a:solidFill>
                <a:latin typeface="Noto Sans CJK JP"/>
                <a:ea typeface="Noto Sans CJK JP"/>
              </a:rPr>
              <a:t>0系② 整流回路：単相整流・平均値・平滑</a:t>
            </a:r>
            <a:endParaRPr lang="ja-JP" sz="2800"/>
          </a:p>
        </p:txBody>
      </p:sp>
      <p:sp>
        <p:nvSpPr>
          <p:cNvPr id="3" name="Text 3"/>
          <p:cNvSpPr txBox="1"/>
          <p:nvPr/>
        </p:nvSpPr>
        <p:spPr>
          <a:xfrm>
            <a:off x="420000" y="820000"/>
            <a:ext cx="112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l"/>
            <a:r>
              <a:rPr lang="ja-JP" sz="1200" b="0">
                <a:solidFill>
                  <a:srgbClr val="666666"/>
                </a:solidFill>
                <a:latin typeface="Noto Sans CJK JP"/>
                <a:ea typeface="Noto Sans CJK JP"/>
              </a:rPr>
              <a:t>電験二種：導通→波形→積分→周期定常条件</a:t>
            </a:r>
            <a:endParaRPr lang="ja-JP" sz="1200"/>
          </a:p>
        </p:txBody>
      </p:sp>
      <p:sp>
        <p:nvSpPr>
          <p:cNvPr id="4" name="Text 4"/>
          <p:cNvSpPr txBox="1"/>
          <p:nvPr/>
        </p:nvSpPr>
        <p:spPr>
          <a:xfrm>
            <a:off x="450000" y="1300000"/>
            <a:ext cx="3500000" cy="1250000"/>
          </a:xfrm>
          <a:prstGeom prst="rect">
            <a:avLst/>
          </a:prstGeom>
          <a:solidFill>
            <a:srgbClr val="D9EAF7"/>
          </a:solidFill>
          <a:ln w="12700">
            <a:solidFill>
              <a:srgbClr val="2F75B5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半波整流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Vdc = Vm/π ≈ 0.450Vs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Vrms = Vm/2 ≈ 0.707Vs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負半周期は0</a:t>
            </a:r>
            <a:endParaRPr lang="ja-JP" sz="1700"/>
          </a:p>
        </p:txBody>
      </p:sp>
      <p:sp>
        <p:nvSpPr>
          <p:cNvPr id="5" name="Text 5"/>
          <p:cNvSpPr txBox="1"/>
          <p:nvPr/>
        </p:nvSpPr>
        <p:spPr>
          <a:xfrm>
            <a:off x="4220000" y="1300000"/>
            <a:ext cx="3500000" cy="1250000"/>
          </a:xfrm>
          <a:prstGeom prst="rect">
            <a:avLst/>
          </a:prstGeom>
          <a:solidFill>
            <a:srgbClr val="D9EAF7"/>
          </a:solidFill>
          <a:ln w="12700">
            <a:solidFill>
              <a:srgbClr val="2F75B5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全波ブリッジ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vd(θ)=|Vm sinθ|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Vdc = 2Vm/π ≈ 0.900Vs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Vrms = Vs</a:t>
            </a:r>
            <a:endParaRPr lang="ja-JP" sz="1700"/>
          </a:p>
        </p:txBody>
      </p:sp>
      <p:sp>
        <p:nvSpPr>
          <p:cNvPr id="6" name="Text 6"/>
          <p:cNvSpPr txBox="1"/>
          <p:nvPr/>
        </p:nvSpPr>
        <p:spPr>
          <a:xfrm>
            <a:off x="8000000" y="1300000"/>
            <a:ext cx="3500000" cy="1250000"/>
          </a:xfrm>
          <a:prstGeom prst="rect">
            <a:avLst/>
          </a:prstGeom>
          <a:solidFill>
            <a:srgbClr val="D9EAF7"/>
          </a:solidFill>
          <a:ln w="12700">
            <a:solidFill>
              <a:srgbClr val="2F75B5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平均値と実効値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Xav=(1/T)∫xdt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Xrms=√[(1/T)∫x²dt]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P=Vrms²/R</a:t>
            </a:r>
            <a:endParaRPr lang="ja-JP" sz="1700"/>
          </a:p>
        </p:txBody>
      </p:sp>
      <p:sp>
        <p:nvSpPr>
          <p:cNvPr id="7" name="Text 7"/>
          <p:cNvSpPr txBox="1"/>
          <p:nvPr/>
        </p:nvSpPr>
        <p:spPr>
          <a:xfrm>
            <a:off x="700000" y="3100000"/>
            <a:ext cx="500000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L平滑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vL=Ldi/dt、周期定常で〈vL〉=0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→ 電流リプルを小さくする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大L：Vdc≈0.900Vs</a:t>
            </a:r>
            <a:endParaRPr lang="ja-JP" sz="1700"/>
          </a:p>
        </p:txBody>
      </p:sp>
      <p:sp>
        <p:nvSpPr>
          <p:cNvPr id="8" name="Text 8"/>
          <p:cNvSpPr txBox="1"/>
          <p:nvPr/>
        </p:nvSpPr>
        <p:spPr>
          <a:xfrm>
            <a:off x="6500000" y="3100000"/>
            <a:ext cx="500000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C平滑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iC=Cdv/dt、周期定常で〈iC〉=0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→ 電圧リプルを小さくする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大C：Vdc≈√2 Vs</a:t>
            </a:r>
            <a:endParaRPr lang="ja-JP" sz="1700"/>
          </a:p>
        </p:txBody>
      </p:sp>
      <p:sp>
        <p:nvSpPr>
          <p:cNvPr id="9" name="Text 9"/>
          <p:cNvSpPr txBox="1"/>
          <p:nvPr/>
        </p:nvSpPr>
        <p:spPr>
          <a:xfrm>
            <a:off x="800000" y="5000000"/>
            <a:ext cx="10400000" cy="90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600" b="1">
                <a:solidFill>
                  <a:srgbClr val="C00000"/>
                </a:solidFill>
                <a:latin typeface="Noto Sans CJK JP"/>
                <a:ea typeface="Noto Sans CJK JP"/>
              </a:rPr>
              <a:t>リプル：Vr,rms=√(Vrms²−Vdc²)、r=Vr,rms/Vdc。</a:t>
            </a:r>
            <a:endParaRPr lang="ja-JP" sz="1600"/>
          </a:p>
          <a:p>
            <a:pPr algn="ctr"/>
            <a:r>
              <a:rPr lang="ja-JP" sz="1600" b="1">
                <a:solidFill>
                  <a:srgbClr val="C00000"/>
                </a:solidFill>
                <a:latin typeface="Noto Sans CJK JP"/>
                <a:ea typeface="Noto Sans CJK JP"/>
              </a:rPr>
              <a:t>無平滑全波でVdc²/Rを電力に使わない。</a:t>
            </a:r>
            <a:endParaRPr lang="ja-JP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0000" y="180000"/>
            <a:ext cx="11400000" cy="62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l"/>
            <a:r>
              <a:rPr lang="ja-JP" sz="2800" b="1">
                <a:solidFill>
                  <a:srgbClr val="FFFFFF"/>
                </a:solidFill>
                <a:latin typeface="Noto Sans CJK JP"/>
                <a:ea typeface="Noto Sans CJK JP"/>
              </a:rPr>
              <a:t>三相6パルスブリッジとサイリスタ制御角 α</a:t>
            </a:r>
            <a:endParaRPr lang="ja-JP" sz="2800"/>
          </a:p>
        </p:txBody>
      </p:sp>
      <p:sp>
        <p:nvSpPr>
          <p:cNvPr id="3" name="Text 3"/>
          <p:cNvSpPr txBox="1"/>
          <p:nvPr/>
        </p:nvSpPr>
        <p:spPr>
          <a:xfrm>
            <a:off x="500000" y="1300000"/>
            <a:ext cx="3400000" cy="1400000"/>
          </a:xfrm>
          <a:prstGeom prst="rect">
            <a:avLst/>
          </a:prstGeom>
          <a:solidFill>
            <a:srgbClr val="D9EAF7"/>
          </a:solidFill>
          <a:ln w="12700">
            <a:solidFill>
              <a:srgbClr val="2F75B5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6パルスブリッジ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60°ごとに転流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各素子120°導通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IT,av=Id/3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IT,rms=Id/√3</a:t>
            </a:r>
            <a:endParaRPr lang="ja-JP" sz="1700"/>
          </a:p>
        </p:txBody>
      </p:sp>
      <p:sp>
        <p:nvSpPr>
          <p:cNvPr id="4" name="Text 4"/>
          <p:cNvSpPr txBox="1"/>
          <p:nvPr/>
        </p:nvSpPr>
        <p:spPr>
          <a:xfrm>
            <a:off x="4300000" y="1300000"/>
            <a:ext cx="34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ダイオード基準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Vd0=(3√2/π)VLL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≈1.35VLL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VLLは線間実効値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理想阻止電圧=√2VLL</a:t>
            </a:r>
            <a:endParaRPr lang="ja-JP" sz="1700"/>
          </a:p>
        </p:txBody>
      </p:sp>
      <p:sp>
        <p:nvSpPr>
          <p:cNvPr id="5" name="Text 5"/>
          <p:cNvSpPr txBox="1"/>
          <p:nvPr/>
        </p:nvSpPr>
        <p:spPr>
          <a:xfrm>
            <a:off x="8100000" y="1300000"/>
            <a:ext cx="34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全制御ブリッジ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Vdc≈1.35VLL cosα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Pdc=Vdc Id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Vdcの符号で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電力方向を判定</a:t>
            </a:r>
            <a:endParaRPr lang="ja-JP" sz="1700"/>
          </a:p>
        </p:txBody>
      </p:sp>
      <p:sp>
        <p:nvSpPr>
          <p:cNvPr id="6" name="Shape 6"/>
          <p:cNvSpPr/>
          <p:nvPr/>
        </p:nvSpPr>
        <p:spPr>
          <a:xfrm>
            <a:off x="750000" y="3600000"/>
            <a:ext cx="850000" cy="14500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650000" y="5200000"/>
            <a:ext cx="10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300" b="0">
                <a:solidFill>
                  <a:srgbClr val="666666"/>
                </a:solidFill>
                <a:latin typeface="Noto Sans CJK JP"/>
                <a:ea typeface="Noto Sans CJK JP"/>
              </a:rPr>
              <a:t>0°</a:t>
            </a:r>
            <a:endParaRPr lang="ja-JP" sz="1300"/>
          </a:p>
        </p:txBody>
      </p:sp>
      <p:sp>
        <p:nvSpPr>
          <p:cNvPr id="8" name="Shape 8"/>
          <p:cNvSpPr/>
          <p:nvPr/>
        </p:nvSpPr>
        <p:spPr>
          <a:xfrm>
            <a:off x="2850000" y="3794300"/>
            <a:ext cx="850000" cy="12557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2750000" y="5200000"/>
            <a:ext cx="10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300" b="0">
                <a:solidFill>
                  <a:srgbClr val="666666"/>
                </a:solidFill>
                <a:latin typeface="Noto Sans CJK JP"/>
                <a:ea typeface="Noto Sans CJK JP"/>
              </a:rPr>
              <a:t>30°</a:t>
            </a:r>
            <a:endParaRPr lang="ja-JP" sz="1300"/>
          </a:p>
        </p:txBody>
      </p:sp>
      <p:sp>
        <p:nvSpPr>
          <p:cNvPr id="10" name="Shape 10"/>
          <p:cNvSpPr/>
          <p:nvPr/>
        </p:nvSpPr>
        <p:spPr>
          <a:xfrm>
            <a:off x="4950000" y="4325000"/>
            <a:ext cx="850000" cy="7250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4850000" y="5200000"/>
            <a:ext cx="10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300" b="0">
                <a:solidFill>
                  <a:srgbClr val="666666"/>
                </a:solidFill>
                <a:latin typeface="Noto Sans CJK JP"/>
                <a:ea typeface="Noto Sans CJK JP"/>
              </a:rPr>
              <a:t>60°</a:t>
            </a:r>
            <a:endParaRPr lang="ja-JP" sz="1300"/>
          </a:p>
        </p:txBody>
      </p:sp>
      <p:sp>
        <p:nvSpPr>
          <p:cNvPr id="12" name="Shape 12"/>
          <p:cNvSpPr/>
          <p:nvPr/>
        </p:nvSpPr>
        <p:spPr>
          <a:xfrm>
            <a:off x="7050000" y="5050000"/>
            <a:ext cx="850000" cy="200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950000" y="5200000"/>
            <a:ext cx="10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300" b="0">
                <a:solidFill>
                  <a:srgbClr val="666666"/>
                </a:solidFill>
                <a:latin typeface="Noto Sans CJK JP"/>
                <a:ea typeface="Noto Sans CJK JP"/>
              </a:rPr>
              <a:t>90°</a:t>
            </a:r>
            <a:endParaRPr lang="ja-JP" sz="1300"/>
          </a:p>
        </p:txBody>
      </p:sp>
      <p:sp>
        <p:nvSpPr>
          <p:cNvPr id="14" name="Shape 14"/>
          <p:cNvSpPr/>
          <p:nvPr/>
        </p:nvSpPr>
        <p:spPr>
          <a:xfrm>
            <a:off x="9150000" y="5050000"/>
            <a:ext cx="850000" cy="725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9050000" y="5200000"/>
            <a:ext cx="10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300" b="0">
                <a:solidFill>
                  <a:srgbClr val="666666"/>
                </a:solidFill>
                <a:latin typeface="Noto Sans CJK JP"/>
                <a:ea typeface="Noto Sans CJK JP"/>
              </a:rPr>
              <a:t>120°</a:t>
            </a:r>
            <a:endParaRPr lang="ja-JP" sz="1300"/>
          </a:p>
        </p:txBody>
      </p:sp>
      <p:cxnSp>
        <p:nvCxnSpPr>
          <p:cNvPr id="16" name="Line 16"/>
          <p:cNvCxnSpPr/>
          <p:nvPr/>
        </p:nvCxnSpPr>
        <p:spPr>
          <a:xfrm>
            <a:off x="600000" y="5050000"/>
            <a:ext cx="10600000" cy="1"/>
          </a:xfrm>
          <a:prstGeom prst="line">
            <a:avLst/>
          </a:prstGeom>
          <a:ln w="15000">
            <a:solidFill>
              <a:srgbClr val="666666"/>
            </a:solidFill>
          </a:ln>
        </p:spPr>
      </p:cxnSp>
      <p:sp>
        <p:nvSpPr>
          <p:cNvPr id="17" name="Text 17"/>
          <p:cNvSpPr txBox="1"/>
          <p:nvPr/>
        </p:nvSpPr>
        <p:spPr>
          <a:xfrm>
            <a:off x="850000" y="5700000"/>
            <a:ext cx="10300000" cy="60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500" b="1">
                <a:solidFill>
                  <a:srgbClr val="C00000"/>
                </a:solidFill>
                <a:latin typeface="Noto Sans CJK JP"/>
                <a:ea typeface="Noto Sans CJK JP"/>
              </a:rPr>
              <a:t>H30/H21二次：平均直流電圧は積分区間・制御角・極性を明記して導出する。</a:t>
            </a:r>
            <a:endParaRPr lang="ja-JP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0000" y="180000"/>
            <a:ext cx="11400000" cy="62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l"/>
            <a:r>
              <a:rPr lang="ja-JP" sz="2800" b="1">
                <a:solidFill>
                  <a:srgbClr val="FFFFFF"/>
                </a:solidFill>
                <a:latin typeface="Noto Sans CJK JP"/>
                <a:ea typeface="Noto Sans CJK JP"/>
              </a:rPr>
              <a:t>交流側電流：基本波・高調波・力率／直流偏磁</a:t>
            </a:r>
            <a:endParaRPr lang="ja-JP" sz="2800"/>
          </a:p>
        </p:txBody>
      </p:sp>
      <p:sp>
        <p:nvSpPr>
          <p:cNvPr id="3" name="Text 3"/>
          <p:cNvSpPr txBox="1"/>
          <p:nvPr/>
        </p:nvSpPr>
        <p:spPr>
          <a:xfrm>
            <a:off x="500000" y="1300000"/>
            <a:ext cx="3550000" cy="1500000"/>
          </a:xfrm>
          <a:prstGeom prst="rect">
            <a:avLst/>
          </a:prstGeom>
          <a:solidFill>
            <a:srgbClr val="D9EAF7"/>
          </a:solidFill>
          <a:ln w="12700">
            <a:solidFill>
              <a:srgbClr val="2F75B5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Id一定の線電流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+Id 120° / 0 60°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−Id 120° / 0 60°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I=√(2/3)Id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I1=(√6/π)Id</a:t>
            </a:r>
            <a:endParaRPr lang="ja-JP" sz="1700"/>
          </a:p>
        </p:txBody>
      </p:sp>
      <p:sp>
        <p:nvSpPr>
          <p:cNvPr id="4" name="Text 4"/>
          <p:cNvSpPr txBox="1"/>
          <p:nvPr/>
        </p:nvSpPr>
        <p:spPr>
          <a:xfrm>
            <a:off x="4220000" y="1300000"/>
            <a:ext cx="3550000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高調波と電力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I1/I=3/π≈0.955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特性高調波：6k±1次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P=√3VLLI1cosα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Q1=√3VLLI1sinα</a:t>
            </a:r>
            <a:endParaRPr lang="ja-JP" sz="1700"/>
          </a:p>
        </p:txBody>
      </p:sp>
      <p:sp>
        <p:nvSpPr>
          <p:cNvPr id="5" name="Text 5"/>
          <p:cNvSpPr txBox="1"/>
          <p:nvPr/>
        </p:nvSpPr>
        <p:spPr>
          <a:xfrm>
            <a:off x="7950000" y="1300000"/>
            <a:ext cx="3550000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総合力率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λ=P/(√3VLLI)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=(3/π)cosα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α=0でも約0.955</a:t>
            </a:r>
            <a:endParaRPr lang="ja-JP" sz="1700"/>
          </a:p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変位力率と区別</a:t>
            </a:r>
            <a:endParaRPr lang="ja-JP" sz="1700"/>
          </a:p>
        </p:txBody>
      </p:sp>
      <p:sp>
        <p:nvSpPr>
          <p:cNvPr id="6" name="Text 6"/>
          <p:cNvSpPr txBox="1"/>
          <p:nvPr/>
        </p:nvSpPr>
        <p:spPr>
          <a:xfrm>
            <a:off x="650000" y="3550000"/>
            <a:ext cx="5000000" cy="1600000"/>
          </a:xfrm>
          <a:prstGeom prst="rect">
            <a:avLst/>
          </a:prstGeom>
          <a:solidFill>
            <a:srgbClr val="D9EAF7"/>
          </a:solidFill>
          <a:ln w="12700">
            <a:solidFill>
              <a:srgbClr val="2F75B5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H27一次：非対称電流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① 導通区間を決める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② 二次巻線電流を描く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③ 1周期平均を確認</a:t>
            </a:r>
            <a:endParaRPr lang="ja-JP" sz="1700"/>
          </a:p>
          <a:p>
            <a:pPr algn="ctr"/>
            <a:r>
              <a:rPr lang="ja-JP" sz="1700" b="1">
                <a:solidFill>
                  <a:srgbClr val="17365D"/>
                </a:solidFill>
                <a:latin typeface="Noto Sans CJK JP"/>
                <a:ea typeface="Noto Sans CJK JP"/>
              </a:rPr>
              <a:t>④ 直流分→直流偏磁を検討</a:t>
            </a:r>
            <a:endParaRPr lang="ja-JP" sz="1700"/>
          </a:p>
        </p:txBody>
      </p:sp>
      <p:sp>
        <p:nvSpPr>
          <p:cNvPr id="7" name="Text 7"/>
          <p:cNvSpPr txBox="1"/>
          <p:nvPr/>
        </p:nvSpPr>
        <p:spPr>
          <a:xfrm>
            <a:off x="6550000" y="3550000"/>
            <a:ext cx="5000000" cy="1600000"/>
          </a:xfrm>
          <a:prstGeom prst="rect">
            <a:avLst/>
          </a:prstGeom>
          <a:solidFill>
            <a:srgbClr val="FFF2CC"/>
          </a:solidFill>
          <a:ln w="12700">
            <a:solidFill>
              <a:srgbClr val="ED7D3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700" b="1">
                <a:solidFill>
                  <a:srgbClr val="C00000"/>
                </a:solidFill>
                <a:latin typeface="Noto Sans CJK JP"/>
                <a:ea typeface="Noto Sans CJK JP"/>
              </a:rPr>
              <a:t>頻出取り違え</a:t>
            </a:r>
            <a:endParaRPr lang="ja-JP" sz="1700"/>
          </a:p>
          <a:p>
            <a:pPr algn="ctr"/>
            <a:r>
              <a:rPr lang="ja-JP" sz="1700" b="1">
                <a:solidFill>
                  <a:srgbClr val="C00000"/>
                </a:solidFill>
                <a:latin typeface="Noto Sans CJK JP"/>
                <a:ea typeface="Noto Sans CJK JP"/>
              </a:rPr>
              <a:t>・基本波力率 ≠ 総合力率</a:t>
            </a:r>
            <a:endParaRPr lang="ja-JP" sz="1700"/>
          </a:p>
          <a:p>
            <a:pPr algn="ctr"/>
            <a:r>
              <a:rPr lang="ja-JP" sz="1700" b="1">
                <a:solidFill>
                  <a:srgbClr val="C00000"/>
                </a:solidFill>
                <a:latin typeface="Noto Sans CJK JP"/>
                <a:ea typeface="Noto Sans CJK JP"/>
              </a:rPr>
              <a:t>・平均値 ≠ 実効値</a:t>
            </a:r>
            <a:endParaRPr lang="ja-JP" sz="1700"/>
          </a:p>
          <a:p>
            <a:pPr algn="ctr"/>
            <a:r>
              <a:rPr lang="ja-JP" sz="1700" b="1">
                <a:solidFill>
                  <a:srgbClr val="C00000"/>
                </a:solidFill>
                <a:latin typeface="Noto Sans CJK JP"/>
                <a:ea typeface="Noto Sans CJK JP"/>
              </a:rPr>
              <a:t>・相電圧 ≠ 線間電圧</a:t>
            </a:r>
            <a:endParaRPr lang="ja-JP" sz="1700"/>
          </a:p>
          <a:p>
            <a:pPr algn="ctr"/>
            <a:r>
              <a:rPr lang="ja-JP" sz="1700" b="1">
                <a:solidFill>
                  <a:srgbClr val="C00000"/>
                </a:solidFill>
                <a:latin typeface="Noto Sans CJK JP"/>
                <a:ea typeface="Noto Sans CJK JP"/>
              </a:rPr>
              <a:t>・直流分の有無を波形から判定</a:t>
            </a:r>
            <a:endParaRPr lang="ja-JP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80000" y="180000"/>
            <a:ext cx="11400000" cy="62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l"/>
            <a:r>
              <a:rPr lang="ja-JP" sz="2800" b="1">
                <a:solidFill>
                  <a:srgbClr val="FFFFFF"/>
                </a:solidFill>
                <a:latin typeface="Noto Sans CJK JP"/>
                <a:ea typeface="Noto Sans CJK JP"/>
              </a:rPr>
              <a:t>二次試験の答案手順と過去問対応品質ゲート</a:t>
            </a:r>
            <a:endParaRPr lang="ja-JP" sz="2800"/>
          </a:p>
        </p:txBody>
      </p:sp>
      <p:sp>
        <p:nvSpPr>
          <p:cNvPr id="3" name="Text 3"/>
          <p:cNvSpPr txBox="1"/>
          <p:nvPr/>
        </p:nvSpPr>
        <p:spPr>
          <a:xfrm>
            <a:off x="600000" y="1250000"/>
            <a:ext cx="710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l"/>
            <a:r>
              <a:rPr lang="ja-JP" sz="1500" b="1">
                <a:solidFill>
                  <a:srgbClr val="222222"/>
                </a:solidFill>
                <a:latin typeface="Noto Sans CJK JP"/>
                <a:ea typeface="Noto Sans CJK JP"/>
              </a:rPr>
              <a:t>1 既知量：実効/波高、線間/相、極性を整理</a:t>
            </a:r>
            <a:endParaRPr lang="ja-JP" sz="1500"/>
          </a:p>
        </p:txBody>
      </p:sp>
      <p:sp>
        <p:nvSpPr>
          <p:cNvPr id="4" name="Text 4"/>
          <p:cNvSpPr txBox="1"/>
          <p:nvPr/>
        </p:nvSpPr>
        <p:spPr>
          <a:xfrm>
            <a:off x="600000" y="1900000"/>
            <a:ext cx="710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l"/>
            <a:r>
              <a:rPr lang="ja-JP" sz="1500" b="1">
                <a:solidFill>
                  <a:srgbClr val="222222"/>
                </a:solidFill>
                <a:latin typeface="Noto Sans CJK JP"/>
                <a:ea typeface="Noto Sans CJK JP"/>
              </a:rPr>
              <a:t>2 ON素子と導通区間を決め、波形を描く</a:t>
            </a:r>
            <a:endParaRPr lang="ja-JP" sz="1500"/>
          </a:p>
        </p:txBody>
      </p:sp>
      <p:sp>
        <p:nvSpPr>
          <p:cNvPr id="5" name="Text 5"/>
          <p:cNvSpPr txBox="1"/>
          <p:nvPr/>
        </p:nvSpPr>
        <p:spPr>
          <a:xfrm>
            <a:off x="600000" y="2550000"/>
            <a:ext cx="710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l"/>
            <a:r>
              <a:rPr lang="ja-JP" sz="1500" b="1">
                <a:solidFill>
                  <a:srgbClr val="222222"/>
                </a:solidFill>
                <a:latin typeface="Noto Sans CJK JP"/>
                <a:ea typeface="Noto Sans CJK JP"/>
              </a:rPr>
              <a:t>3 平均値・実効値を積分し、L/C周期条件を適用</a:t>
            </a:r>
            <a:endParaRPr lang="ja-JP" sz="1500"/>
          </a:p>
        </p:txBody>
      </p:sp>
      <p:sp>
        <p:nvSpPr>
          <p:cNvPr id="6" name="Text 6"/>
          <p:cNvSpPr txBox="1"/>
          <p:nvPr/>
        </p:nvSpPr>
        <p:spPr>
          <a:xfrm>
            <a:off x="600000" y="3200000"/>
            <a:ext cx="710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l"/>
            <a:r>
              <a:rPr lang="ja-JP" sz="1500" b="1">
                <a:solidFill>
                  <a:srgbClr val="222222"/>
                </a:solidFill>
                <a:latin typeface="Noto Sans CJK JP"/>
                <a:ea typeface="Noto Sans CJK JP"/>
              </a:rPr>
              <a:t>4 Vdc・IdからP、基本波からP・Q、全実効値からλ</a:t>
            </a:r>
            <a:endParaRPr lang="ja-JP" sz="1500"/>
          </a:p>
        </p:txBody>
      </p:sp>
      <p:sp>
        <p:nvSpPr>
          <p:cNvPr id="7" name="Text 7"/>
          <p:cNvSpPr txBox="1"/>
          <p:nvPr/>
        </p:nvSpPr>
        <p:spPr>
          <a:xfrm>
            <a:off x="600000" y="3850000"/>
            <a:ext cx="710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l"/>
            <a:r>
              <a:rPr lang="ja-JP" sz="1500" b="1">
                <a:solidFill>
                  <a:srgbClr val="222222"/>
                </a:solidFill>
                <a:latin typeface="Noto Sans CJK JP"/>
                <a:ea typeface="Noto Sans CJK JP"/>
              </a:rPr>
              <a:t>5 仮定（理想素子・重なり無視等）と単位を明記</a:t>
            </a:r>
            <a:endParaRPr lang="ja-JP" sz="1500"/>
          </a:p>
        </p:txBody>
      </p:sp>
      <p:sp>
        <p:nvSpPr>
          <p:cNvPr id="8" name="Text 8"/>
          <p:cNvSpPr txBox="1"/>
          <p:nvPr/>
        </p:nvSpPr>
        <p:spPr>
          <a:xfrm>
            <a:off x="600000" y="4500000"/>
            <a:ext cx="7100000" cy="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l"/>
            <a:r>
              <a:rPr lang="ja-JP" sz="1500" b="1">
                <a:solidFill>
                  <a:srgbClr val="222222"/>
                </a:solidFill>
                <a:latin typeface="Noto Sans CJK JP"/>
                <a:ea typeface="Noto Sans CJK JP"/>
              </a:rPr>
              <a:t>6 符号・電力方向・直流分を検算する</a:t>
            </a:r>
            <a:endParaRPr lang="ja-JP" sz="1500"/>
          </a:p>
        </p:txBody>
      </p:sp>
      <p:sp>
        <p:nvSpPr>
          <p:cNvPr id="9" name="Text 9"/>
          <p:cNvSpPr txBox="1"/>
          <p:nvPr/>
        </p:nvSpPr>
        <p:spPr>
          <a:xfrm>
            <a:off x="8300000" y="1350000"/>
            <a:ext cx="3200000" cy="1900000"/>
          </a:xfrm>
          <a:prstGeom prst="rect">
            <a:avLst/>
          </a:prstGeom>
          <a:solidFill>
            <a:srgbClr val="D9EAF7"/>
          </a:solidFill>
          <a:ln w="12700">
            <a:solidFill>
              <a:srgbClr val="2F75B5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600" b="1">
                <a:solidFill>
                  <a:srgbClr val="17365D"/>
                </a:solidFill>
                <a:latin typeface="Noto Sans CJK JP"/>
                <a:ea typeface="Noto Sans CJK JP"/>
              </a:rPr>
              <a:t>選定公式過去問</a:t>
            </a:r>
            <a:endParaRPr lang="ja-JP" sz="1600"/>
          </a:p>
          <a:p>
            <a:pPr algn="ctr"/>
            <a:r>
              <a:rPr lang="ja-JP" sz="1600" b="1">
                <a:solidFill>
                  <a:srgbClr val="17365D"/>
                </a:solidFill>
                <a:latin typeface="Noto Sans CJK JP"/>
                <a:ea typeface="Noto Sans CJK JP"/>
              </a:rPr>
              <a:t>R7二次 問3</a:t>
            </a:r>
            <a:endParaRPr lang="ja-JP" sz="1600"/>
          </a:p>
          <a:p>
            <a:pPr algn="ctr"/>
            <a:r>
              <a:rPr lang="ja-JP" sz="1600" b="1">
                <a:solidFill>
                  <a:srgbClr val="17365D"/>
                </a:solidFill>
                <a:latin typeface="Noto Sans CJK JP"/>
                <a:ea typeface="Noto Sans CJK JP"/>
              </a:rPr>
              <a:t>H30二次 問3</a:t>
            </a:r>
            <a:endParaRPr lang="ja-JP" sz="1600"/>
          </a:p>
          <a:p>
            <a:pPr algn="ctr"/>
            <a:r>
              <a:rPr lang="ja-JP" sz="1600" b="1">
                <a:solidFill>
                  <a:srgbClr val="17365D"/>
                </a:solidFill>
                <a:latin typeface="Noto Sans CJK JP"/>
                <a:ea typeface="Noto Sans CJK JP"/>
              </a:rPr>
              <a:t>H29二次 問3</a:t>
            </a:r>
            <a:endParaRPr lang="ja-JP" sz="1600"/>
          </a:p>
          <a:p>
            <a:pPr algn="ctr"/>
            <a:r>
              <a:rPr lang="ja-JP" sz="1600" b="1">
                <a:solidFill>
                  <a:srgbClr val="17365D"/>
                </a:solidFill>
                <a:latin typeface="Noto Sans CJK JP"/>
                <a:ea typeface="Noto Sans CJK JP"/>
              </a:rPr>
              <a:t>H27一次 問2</a:t>
            </a:r>
            <a:endParaRPr lang="ja-JP" sz="1600"/>
          </a:p>
          <a:p>
            <a:pPr algn="ctr"/>
            <a:r>
              <a:rPr lang="ja-JP" sz="1600" b="1">
                <a:solidFill>
                  <a:srgbClr val="17365D"/>
                </a:solidFill>
                <a:latin typeface="Noto Sans CJK JP"/>
                <a:ea typeface="Noto Sans CJK JP"/>
              </a:rPr>
              <a:t>H21二次 問3</a:t>
            </a:r>
            <a:endParaRPr lang="ja-JP" sz="1600"/>
          </a:p>
        </p:txBody>
      </p:sp>
      <p:sp>
        <p:nvSpPr>
          <p:cNvPr id="10" name="Text 10"/>
          <p:cNvSpPr txBox="1"/>
          <p:nvPr/>
        </p:nvSpPr>
        <p:spPr>
          <a:xfrm>
            <a:off x="8300000" y="3750000"/>
            <a:ext cx="3200000" cy="1750000"/>
          </a:xfrm>
          <a:prstGeom prst="rect">
            <a:avLst/>
          </a:prstGeom>
          <a:solidFill>
            <a:srgbClr val="FFF2CC"/>
          </a:solidFill>
          <a:ln w="12700">
            <a:solidFill>
              <a:srgbClr val="ED7D3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600" b="1">
                <a:solidFill>
                  <a:srgbClr val="222222"/>
                </a:solidFill>
                <a:latin typeface="Noto Sans CJK JP"/>
                <a:ea typeface="Noto Sans CJK JP"/>
              </a:rPr>
              <a:t>次工程</a:t>
            </a:r>
            <a:endParaRPr lang="ja-JP" sz="1600"/>
          </a:p>
          <a:p>
            <a:pPr algn="ctr"/>
            <a:r>
              <a:rPr lang="ja-JP" sz="1600" b="1">
                <a:solidFill>
                  <a:srgbClr val="222222"/>
                </a:solidFill>
                <a:latin typeface="Noto Sans CJK JP"/>
                <a:ea typeface="Noto Sans CJK JP"/>
              </a:rPr>
              <a:t>完成教材だけで5問を</a:t>
            </a:r>
            <a:endParaRPr lang="ja-JP" sz="1600"/>
          </a:p>
          <a:p>
            <a:pPr algn="ctr"/>
            <a:r>
              <a:rPr lang="ja-JP" sz="1600" b="1">
                <a:solidFill>
                  <a:srgbClr val="222222"/>
                </a:solidFill>
                <a:latin typeface="Noto Sans CJK JP"/>
                <a:ea typeface="Noto Sans CJK JP"/>
              </a:rPr>
              <a:t>独立再解答</a:t>
            </a:r>
            <a:endParaRPr lang="ja-JP" sz="1600"/>
          </a:p>
          <a:p>
            <a:pPr algn="ctr"/>
            <a:r>
              <a:rPr lang="ja-JP" sz="1600" b="1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600"/>
          </a:p>
          <a:p>
            <a:pPr algn="ctr"/>
            <a:r>
              <a:rPr lang="ja-JP" sz="1600" b="1">
                <a:solidFill>
                  <a:srgbClr val="222222"/>
                </a:solidFill>
                <a:latin typeface="Noto Sans CJK JP"/>
                <a:ea typeface="Noto Sans CJK JP"/>
              </a:rPr>
              <a:t>保存済み正答を先に見ない</a:t>
            </a:r>
            <a:endParaRPr lang="ja-JP" sz="1600"/>
          </a:p>
        </p:txBody>
      </p:sp>
      <p:sp>
        <p:nvSpPr>
          <p:cNvPr id="11" name="Text 11"/>
          <p:cNvSpPr txBox="1"/>
          <p:nvPr/>
        </p:nvSpPr>
        <p:spPr>
          <a:xfrm>
            <a:off x="800000" y="5650000"/>
            <a:ext cx="106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ja-JP" sz="1400" b="0">
                <a:solidFill>
                  <a:srgbClr val="666666"/>
                </a:solidFill>
                <a:latin typeface="Noto Sans CJK JP"/>
                <a:ea typeface="Noto Sans CJK JP"/>
              </a:rPr>
              <a:t>全図自作。未確認の0系実車値、インバータ・チョッパ等のTopic 02外論点は追加しない。</a:t>
            </a:r>
            <a:endParaRPr lang="ja-JP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17365D"/>
      </a:dk2>
      <a:lt2>
        <a:srgbClr val="F2F2F2"/>
      </a:lt2>
      <a:accent1>
        <a:srgbClr val="2F75B5"/>
      </a:accent1>
      <a:accent2>
        <a:srgbClr val="ED7D31"/>
      </a:accent2>
      <a:accent3>
        <a:srgbClr val="70AD47"/>
      </a:accent3>
      <a:accent4>
        <a:srgbClr val="5B9BD5"/>
      </a:accent4>
      <a:accent5>
        <a:srgbClr val="A5A5A5"/>
      </a:accent5>
      <a:accent6>
        <a:srgbClr val="FFC000"/>
      </a:accent6>
      <a:hlink>
        <a:srgbClr val="0563C1"/>
      </a:hlink>
      <a:folHlink>
        <a:srgbClr val="954F72"/>
      </a:folHlink>
    </a:clrScheme>
    <a:fontScheme name="Minimal">
      <a:majorFont>
        <a:latin typeface="Aptos Display"/>
        <a:ea typeface="Noto Sans CJK JP"/>
        <a:cs typeface="Arial"/>
      </a:majorFont>
      <a:minorFont>
        <a:latin typeface="Aptos"/>
        <a:ea typeface="Noto Sans CJK JP"/>
        <a:cs typeface="Arial"/>
      </a:minorFont>
    </a:fontScheme>
    <a:fmtScheme name="Minimal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