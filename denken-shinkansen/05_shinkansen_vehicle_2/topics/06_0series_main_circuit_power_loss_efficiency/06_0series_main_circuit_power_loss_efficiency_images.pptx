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2600" b="1">
                <a:solidFill>
                  <a:srgbClr val="17324D"/>
                </a:solidFill>
                <a:latin typeface="Noto Sans CJK JP"/>
                <a:ea typeface="Noto Sans CJK JP"/>
              </a:rPr>
              <a:t>0系⑥ 主回路全体の電力・損失・効率</a:t>
            </a:r>
          </a:p>
        </p:txBody>
      </p:sp>
      <p:sp>
        <p:nvSpPr>
          <p:cNvPr id="3" name="Text 3"/>
          <p:cNvSpPr/>
          <p:nvPr/>
        </p:nvSpPr>
        <p:spPr>
          <a:xfrm>
            <a:off x="502920" y="749808"/>
            <a:ext cx="11155680" cy="310896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1050" b="0">
                <a:solidFill>
                  <a:srgbClr val="65758B"/>
                </a:solidFill>
                <a:latin typeface="Noto Sans CJK JP"/>
                <a:ea typeface="Noto Sans CJK JP"/>
              </a:rPr>
              <a:t>固定EXAM_ALIGNMENT：一次3問＋二次2問｜数値は教材用仮定値</a:t>
            </a:r>
          </a:p>
        </p:txBody>
      </p:sp>
      <p:sp>
        <p:nvSpPr>
          <p:cNvPr id="4" name="Text 4"/>
          <p:cNvSpPr/>
          <p:nvPr/>
        </p:nvSpPr>
        <p:spPr>
          <a:xfrm>
            <a:off x="411480" y="1508760"/>
            <a:ext cx="1783080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95A3B3"/>
            </a:solidFill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400" b="1">
                <a:solidFill>
                  <a:srgbClr val="182230"/>
                </a:solidFill>
                <a:latin typeface="Noto Sans CJK JP"/>
                <a:ea typeface="Noto Sans CJK JP"/>
              </a:rPr>
              <a:t>架線入力</a:t>
            </a:r>
          </a:p>
          <a:p>
            <a:pPr algn="ctr"/>
            <a:r>
              <a:rPr lang="ja-JP" sz="1400" b="1">
                <a:solidFill>
                  <a:srgbClr val="182230"/>
                </a:solidFill>
                <a:latin typeface="Noto Sans CJK JP"/>
                <a:ea typeface="Noto Sans CJK JP"/>
              </a:rPr>
              <a:t>P_line</a:t>
            </a:r>
          </a:p>
        </p:txBody>
      </p:sp>
      <p:sp>
        <p:nvSpPr>
          <p:cNvPr id="5" name="Text 5"/>
          <p:cNvSpPr/>
          <p:nvPr/>
        </p:nvSpPr>
        <p:spPr>
          <a:xfrm>
            <a:off x="2212848" y="171907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800" b="1">
                <a:solidFill>
                  <a:srgbClr val="2764B0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6" name="Text 6"/>
          <p:cNvSpPr/>
          <p:nvPr/>
        </p:nvSpPr>
        <p:spPr>
          <a:xfrm>
            <a:off x="2743200" y="1508760"/>
            <a:ext cx="1783080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95A3B3"/>
            </a:solidFill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400" b="1">
                <a:solidFill>
                  <a:srgbClr val="182230"/>
                </a:solidFill>
                <a:latin typeface="Noto Sans CJK JP"/>
                <a:ea typeface="Noto Sans CJK JP"/>
              </a:rPr>
              <a:t>主変圧器</a:t>
            </a:r>
          </a:p>
          <a:p>
            <a:pPr algn="ctr"/>
            <a:r>
              <a:rPr lang="ja-JP" sz="1400" b="1">
                <a:solidFill>
                  <a:srgbClr val="182230"/>
                </a:solidFill>
                <a:latin typeface="Noto Sans CJK JP"/>
                <a:ea typeface="Noto Sans CJK JP"/>
              </a:rPr>
              <a:t>−P_Tloss</a:t>
            </a:r>
          </a:p>
        </p:txBody>
      </p:sp>
      <p:sp>
        <p:nvSpPr>
          <p:cNvPr id="7" name="Text 7"/>
          <p:cNvSpPr/>
          <p:nvPr/>
        </p:nvSpPr>
        <p:spPr>
          <a:xfrm>
            <a:off x="4544568" y="171907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800" b="1">
                <a:solidFill>
                  <a:srgbClr val="2764B0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8" name="Text 8"/>
          <p:cNvSpPr/>
          <p:nvPr/>
        </p:nvSpPr>
        <p:spPr>
          <a:xfrm>
            <a:off x="5074920" y="1508760"/>
            <a:ext cx="1783080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95A3B3"/>
            </a:solidFill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400" b="1">
                <a:solidFill>
                  <a:srgbClr val="182230"/>
                </a:solidFill>
                <a:latin typeface="Noto Sans CJK JP"/>
                <a:ea typeface="Noto Sans CJK JP"/>
              </a:rPr>
              <a:t>整流器</a:t>
            </a:r>
          </a:p>
          <a:p>
            <a:pPr algn="ctr"/>
            <a:r>
              <a:rPr lang="ja-JP" sz="1400" b="1">
                <a:solidFill>
                  <a:srgbClr val="182230"/>
                </a:solidFill>
                <a:latin typeface="Noto Sans CJK JP"/>
                <a:ea typeface="Noto Sans CJK JP"/>
              </a:rPr>
              <a:t>−P_Rloss</a:t>
            </a:r>
          </a:p>
        </p:txBody>
      </p:sp>
      <p:sp>
        <p:nvSpPr>
          <p:cNvPr id="9" name="Text 9"/>
          <p:cNvSpPr/>
          <p:nvPr/>
        </p:nvSpPr>
        <p:spPr>
          <a:xfrm>
            <a:off x="6876288" y="171907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800" b="1">
                <a:solidFill>
                  <a:srgbClr val="2764B0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10" name="Text 10"/>
          <p:cNvSpPr/>
          <p:nvPr/>
        </p:nvSpPr>
        <p:spPr>
          <a:xfrm>
            <a:off x="7406640" y="1508760"/>
            <a:ext cx="1783080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95A3B3"/>
            </a:solidFill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400" b="1">
                <a:solidFill>
                  <a:srgbClr val="182230"/>
                </a:solidFill>
                <a:latin typeface="Noto Sans CJK JP"/>
                <a:ea typeface="Noto Sans CJK JP"/>
              </a:rPr>
              <a:t>主電動機</a:t>
            </a:r>
          </a:p>
          <a:p>
            <a:pPr algn="ctr"/>
            <a:r>
              <a:rPr lang="ja-JP" sz="1400" b="1">
                <a:solidFill>
                  <a:srgbClr val="182230"/>
                </a:solidFill>
                <a:latin typeface="Noto Sans CJK JP"/>
                <a:ea typeface="Noto Sans CJK JP"/>
              </a:rPr>
              <a:t>−P_Mloss</a:t>
            </a:r>
          </a:p>
        </p:txBody>
      </p:sp>
      <p:sp>
        <p:nvSpPr>
          <p:cNvPr id="11" name="Text 11"/>
          <p:cNvSpPr/>
          <p:nvPr/>
        </p:nvSpPr>
        <p:spPr>
          <a:xfrm>
            <a:off x="9208008" y="171907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800" b="1">
                <a:solidFill>
                  <a:srgbClr val="2764B0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12" name="Text 12"/>
          <p:cNvSpPr/>
          <p:nvPr/>
        </p:nvSpPr>
        <p:spPr>
          <a:xfrm>
            <a:off x="9738359" y="1508760"/>
            <a:ext cx="1783080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95A3B3"/>
            </a:solidFill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400" b="1">
                <a:solidFill>
                  <a:srgbClr val="182230"/>
                </a:solidFill>
                <a:latin typeface="Noto Sans CJK JP"/>
                <a:ea typeface="Noto Sans CJK JP"/>
              </a:rPr>
              <a:t>軸出力</a:t>
            </a:r>
          </a:p>
          <a:p>
            <a:pPr algn="ctr"/>
            <a:r>
              <a:rPr lang="ja-JP" sz="1400" b="1">
                <a:solidFill>
                  <a:srgbClr val="182230"/>
                </a:solidFill>
                <a:latin typeface="Noto Sans CJK JP"/>
                <a:ea typeface="Noto Sans CJK JP"/>
              </a:rPr>
              <a:t>P_shaft</a:t>
            </a:r>
          </a:p>
        </p:txBody>
      </p:sp>
      <p:sp>
        <p:nvSpPr>
          <p:cNvPr id="13" name="Text 13"/>
          <p:cNvSpPr/>
          <p:nvPr/>
        </p:nvSpPr>
        <p:spPr>
          <a:xfrm>
            <a:off x="685800" y="315468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2200" b="1">
                <a:solidFill>
                  <a:srgbClr val="17324D"/>
                </a:solidFill>
                <a:latin typeface="Noto Sans CJK JP"/>
                <a:ea typeface="Noto Sans CJK JP"/>
              </a:rPr>
              <a:t>P_shaft = P_line − P_Tloss − P_Rloss − P_Mloss</a:t>
            </a:r>
          </a:p>
        </p:txBody>
      </p:sp>
      <p:sp>
        <p:nvSpPr>
          <p:cNvPr id="14" name="Text 14"/>
          <p:cNvSpPr/>
          <p:nvPr/>
        </p:nvSpPr>
        <p:spPr>
          <a:xfrm>
            <a:off x="685800" y="373075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2000" b="1">
                <a:solidFill>
                  <a:srgbClr val="17324D"/>
                </a:solidFill>
                <a:latin typeface="Noto Sans CJK JP"/>
                <a:ea typeface="Noto Sans CJK JP"/>
              </a:rPr>
              <a:t>η_total = P_shaft / P_line</a:t>
            </a:r>
          </a:p>
        </p:txBody>
      </p:sp>
      <p:sp>
        <p:nvSpPr>
          <p:cNvPr id="15" name="Text 15"/>
          <p:cNvSpPr/>
          <p:nvPr/>
        </p:nvSpPr>
        <p:spPr>
          <a:xfrm>
            <a:off x="1051560" y="4572000"/>
            <a:ext cx="10058400" cy="914400"/>
          </a:xfrm>
          <a:prstGeom prst="rect">
            <a:avLst/>
          </a:prstGeom>
          <a:solidFill>
            <a:srgbClr val="EEF3F8"/>
          </a:solidFill>
          <a:ln w="12700">
            <a:solidFill>
              <a:srgbClr val="CAD4E2"/>
            </a:solidFill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350" b="1">
                <a:solidFill>
                  <a:srgbClr val="182230"/>
                </a:solidFill>
                <a:latin typeface="Noto Sans CJK JP"/>
                <a:ea typeface="Noto Sans CJK JP"/>
              </a:rPr>
              <a:t>試験の要点</a:t>
            </a:r>
          </a:p>
          <a:p>
            <a:pPr algn="ctr"/>
            <a:r>
              <a:rPr lang="ja-JP" sz="1350" b="1">
                <a:solidFill>
                  <a:srgbClr val="182230"/>
                </a:solidFill>
                <a:latin typeface="Noto Sans CJK JP"/>
                <a:ea typeface="Noto Sans CJK JP"/>
              </a:rPr>
              <a:t>固定損と負荷依存損を分け、入力→損失→出力を一度ずつ追う。二重計上しない。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2600" b="1">
                <a:solidFill>
                  <a:srgbClr val="17324D"/>
                </a:solidFill>
                <a:latin typeface="Noto Sans CJK JP"/>
                <a:ea typeface="Noto Sans CJK JP"/>
              </a:rPr>
              <a:t>機器別損失内訳</a:t>
            </a:r>
          </a:p>
        </p:txBody>
      </p:sp>
      <p:sp>
        <p:nvSpPr>
          <p:cNvPr id="3" name="Text 3"/>
          <p:cNvSpPr/>
          <p:nvPr/>
        </p:nvSpPr>
        <p:spPr>
          <a:xfrm>
            <a:off x="502920" y="749808"/>
            <a:ext cx="11155680" cy="310896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1050" b="0">
                <a:solidFill>
                  <a:srgbClr val="65758B"/>
                </a:solidFill>
                <a:latin typeface="Noto Sans CJK JP"/>
                <a:ea typeface="Noto Sans CJK JP"/>
              </a:rPr>
              <a:t>例題1：P_line = 1200 kW（教材用仮定値）</a:t>
            </a:r>
          </a:p>
        </p:txBody>
      </p:sp>
      <p:sp>
        <p:nvSpPr>
          <p:cNvPr id="4" name="Text 4"/>
          <p:cNvSpPr/>
          <p:nvPr/>
        </p:nvSpPr>
        <p:spPr>
          <a:xfrm>
            <a:off x="640080" y="14173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1300" b="1">
                <a:solidFill>
                  <a:srgbClr val="182230"/>
                </a:solidFill>
                <a:latin typeface="Noto Sans CJK JP"/>
                <a:ea typeface="Noto Sans CJK JP"/>
              </a:rPr>
              <a:t>主変圧器</a:t>
            </a:r>
          </a:p>
        </p:txBody>
      </p:sp>
      <p:sp>
        <p:nvSpPr>
          <p:cNvPr id="5" name="Shape 5"/>
          <p:cNvSpPr/>
          <p:nvPr/>
        </p:nvSpPr>
        <p:spPr>
          <a:xfrm>
            <a:off x="2606040" y="1463040"/>
            <a:ext cx="3657600" cy="228600"/>
          </a:xfrm>
          <a:prstGeom prst="rect">
            <a:avLst/>
          </a:prstGeom>
          <a:solidFill>
            <a:srgbClr val="2764B0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10012680" y="1417320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r"/>
            <a:r>
              <a:rPr lang="ja-JP" sz="1250" b="1">
                <a:solidFill>
                  <a:srgbClr val="182230"/>
                </a:solidFill>
                <a:latin typeface="Noto Sans CJK JP"/>
                <a:ea typeface="Noto Sans CJK JP"/>
              </a:rPr>
              <a:t>36 kW</a:t>
            </a:r>
          </a:p>
        </p:txBody>
      </p:sp>
      <p:sp>
        <p:nvSpPr>
          <p:cNvPr id="7" name="Text 7"/>
          <p:cNvSpPr/>
          <p:nvPr/>
        </p:nvSpPr>
        <p:spPr>
          <a:xfrm>
            <a:off x="640080" y="21945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1300" b="1">
                <a:solidFill>
                  <a:srgbClr val="182230"/>
                </a:solidFill>
                <a:latin typeface="Noto Sans CJK JP"/>
                <a:ea typeface="Noto Sans CJK JP"/>
              </a:rPr>
              <a:t>整流器</a:t>
            </a:r>
          </a:p>
        </p:txBody>
      </p:sp>
      <p:sp>
        <p:nvSpPr>
          <p:cNvPr id="8" name="Shape 8"/>
          <p:cNvSpPr/>
          <p:nvPr/>
        </p:nvSpPr>
        <p:spPr>
          <a:xfrm>
            <a:off x="2606040" y="2240279"/>
            <a:ext cx="2438400" cy="228600"/>
          </a:xfrm>
          <a:prstGeom prst="rect">
            <a:avLst/>
          </a:prstGeom>
          <a:solidFill>
            <a:srgbClr val="2764B0"/>
          </a:solidFill>
          <a:ln>
            <a:noFill/>
          </a:ln>
        </p:spPr>
      </p:sp>
      <p:sp>
        <p:nvSpPr>
          <p:cNvPr id="9" name="Text 9"/>
          <p:cNvSpPr/>
          <p:nvPr/>
        </p:nvSpPr>
        <p:spPr>
          <a:xfrm>
            <a:off x="10012680" y="2194560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r"/>
            <a:r>
              <a:rPr lang="ja-JP" sz="1250" b="1">
                <a:solidFill>
                  <a:srgbClr val="182230"/>
                </a:solidFill>
                <a:latin typeface="Noto Sans CJK JP"/>
                <a:ea typeface="Noto Sans CJK JP"/>
              </a:rPr>
              <a:t>24 kW</a:t>
            </a:r>
          </a:p>
        </p:txBody>
      </p:sp>
      <p:sp>
        <p:nvSpPr>
          <p:cNvPr id="10" name="Text 10"/>
          <p:cNvSpPr/>
          <p:nvPr/>
        </p:nvSpPr>
        <p:spPr>
          <a:xfrm>
            <a:off x="640080" y="29718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1300" b="1">
                <a:solidFill>
                  <a:srgbClr val="182230"/>
                </a:solidFill>
                <a:latin typeface="Noto Sans CJK JP"/>
                <a:ea typeface="Noto Sans CJK JP"/>
              </a:rPr>
              <a:t>主電動機</a:t>
            </a:r>
          </a:p>
        </p:txBody>
      </p:sp>
      <p:sp>
        <p:nvSpPr>
          <p:cNvPr id="11" name="Shape 11"/>
          <p:cNvSpPr/>
          <p:nvPr/>
        </p:nvSpPr>
        <p:spPr>
          <a:xfrm>
            <a:off x="2606040" y="3017520"/>
            <a:ext cx="7315200" cy="228600"/>
          </a:xfrm>
          <a:prstGeom prst="rect">
            <a:avLst/>
          </a:prstGeom>
          <a:solidFill>
            <a:srgbClr val="2764B0"/>
          </a:solidFill>
          <a:ln>
            <a:noFill/>
          </a:ln>
        </p:spPr>
      </p:sp>
      <p:sp>
        <p:nvSpPr>
          <p:cNvPr id="12" name="Text 12"/>
          <p:cNvSpPr/>
          <p:nvPr/>
        </p:nvSpPr>
        <p:spPr>
          <a:xfrm>
            <a:off x="10012680" y="2971800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r"/>
            <a:r>
              <a:rPr lang="ja-JP" sz="1250" b="1">
                <a:solidFill>
                  <a:srgbClr val="182230"/>
                </a:solidFill>
                <a:latin typeface="Noto Sans CJK JP"/>
                <a:ea typeface="Noto Sans CJK JP"/>
              </a:rPr>
              <a:t>72 kW</a:t>
            </a:r>
          </a:p>
        </p:txBody>
      </p:sp>
      <p:sp>
        <p:nvSpPr>
          <p:cNvPr id="13" name="Text 13"/>
          <p:cNvSpPr/>
          <p:nvPr/>
        </p:nvSpPr>
        <p:spPr>
          <a:xfrm>
            <a:off x="640080" y="3749039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1300" b="1">
                <a:solidFill>
                  <a:srgbClr val="182230"/>
                </a:solidFill>
                <a:latin typeface="Noto Sans CJK JP"/>
                <a:ea typeface="Noto Sans CJK JP"/>
              </a:rPr>
              <a:t>機械損</a:t>
            </a:r>
          </a:p>
        </p:txBody>
      </p:sp>
      <p:sp>
        <p:nvSpPr>
          <p:cNvPr id="14" name="Shape 14"/>
          <p:cNvSpPr/>
          <p:nvPr/>
        </p:nvSpPr>
        <p:spPr>
          <a:xfrm>
            <a:off x="2606040" y="3794759"/>
            <a:ext cx="1219200" cy="228600"/>
          </a:xfrm>
          <a:prstGeom prst="rect">
            <a:avLst/>
          </a:prstGeom>
          <a:solidFill>
            <a:srgbClr val="2764B0"/>
          </a:solidFill>
          <a:ln>
            <a:noFill/>
          </a:ln>
        </p:spPr>
      </p:sp>
      <p:sp>
        <p:nvSpPr>
          <p:cNvPr id="15" name="Text 15"/>
          <p:cNvSpPr/>
          <p:nvPr/>
        </p:nvSpPr>
        <p:spPr>
          <a:xfrm>
            <a:off x="10012680" y="3749039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r"/>
            <a:r>
              <a:rPr lang="ja-JP" sz="1250" b="1">
                <a:solidFill>
                  <a:srgbClr val="182230"/>
                </a:solidFill>
                <a:latin typeface="Noto Sans CJK JP"/>
                <a:ea typeface="Noto Sans CJK JP"/>
              </a:rPr>
              <a:t>12 kW</a:t>
            </a:r>
          </a:p>
        </p:txBody>
      </p:sp>
      <p:sp>
        <p:nvSpPr>
          <p:cNvPr id="16" name="Text 16"/>
          <p:cNvSpPr/>
          <p:nvPr/>
        </p:nvSpPr>
        <p:spPr>
          <a:xfrm>
            <a:off x="685800" y="466344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900" b="1">
                <a:solidFill>
                  <a:srgbClr val="17324D"/>
                </a:solidFill>
                <a:latin typeface="Noto Sans CJK JP"/>
                <a:ea typeface="Noto Sans CJK JP"/>
              </a:rPr>
              <a:t>ΣP_loss = 144 kW</a:t>
            </a:r>
          </a:p>
        </p:txBody>
      </p:sp>
      <p:sp>
        <p:nvSpPr>
          <p:cNvPr id="17" name="Text 17"/>
          <p:cNvSpPr/>
          <p:nvPr/>
        </p:nvSpPr>
        <p:spPr>
          <a:xfrm>
            <a:off x="4343400" y="466344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900" b="1">
                <a:solidFill>
                  <a:srgbClr val="17324D"/>
                </a:solidFill>
                <a:latin typeface="Noto Sans CJK JP"/>
                <a:ea typeface="Noto Sans CJK JP"/>
              </a:rPr>
              <a:t>P_shaft = 1056 kW</a:t>
            </a:r>
          </a:p>
        </p:txBody>
      </p:sp>
      <p:sp>
        <p:nvSpPr>
          <p:cNvPr id="18" name="Text 18"/>
          <p:cNvSpPr/>
          <p:nvPr/>
        </p:nvSpPr>
        <p:spPr>
          <a:xfrm>
            <a:off x="8001000" y="466344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900" b="1">
                <a:solidFill>
                  <a:srgbClr val="17324D"/>
                </a:solidFill>
                <a:latin typeface="Noto Sans CJK JP"/>
                <a:ea typeface="Noto Sans CJK JP"/>
              </a:rPr>
              <a:t>η_total = 88.0 %</a:t>
            </a:r>
          </a:p>
        </p:txBody>
      </p:sp>
      <p:sp>
        <p:nvSpPr>
          <p:cNvPr id="19" name="Text 19"/>
          <p:cNvSpPr/>
          <p:nvPr/>
        </p:nvSpPr>
        <p:spPr>
          <a:xfrm>
            <a:off x="822960" y="54406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150" b="0">
                <a:solidFill>
                  <a:srgbClr val="65758B"/>
                </a:solidFill>
                <a:latin typeface="Noto Sans CJK JP"/>
                <a:ea typeface="Noto Sans CJK JP"/>
              </a:rPr>
              <a:t>主電動機72 kW = 銅損54 + 鉄損18。未確認0系実車値ではない。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2600" b="1">
                <a:solidFill>
                  <a:srgbClr val="17324D"/>
                </a:solidFill>
                <a:latin typeface="Noto Sans CJK JP"/>
                <a:ea typeface="Noto Sans CJK JP"/>
              </a:rPr>
              <a:t>負荷率―総合効率</a:t>
            </a:r>
          </a:p>
        </p:txBody>
      </p:sp>
      <p:sp>
        <p:nvSpPr>
          <p:cNvPr id="3" name="Text 3"/>
          <p:cNvSpPr/>
          <p:nvPr/>
        </p:nvSpPr>
        <p:spPr>
          <a:xfrm>
            <a:off x="502920" y="749808"/>
            <a:ext cx="11155680" cy="310896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1050" b="0">
                <a:solidFill>
                  <a:srgbClr val="65758B"/>
                </a:solidFill>
                <a:latin typeface="Noto Sans CJK JP"/>
                <a:ea typeface="Noto Sans CJK JP"/>
              </a:rPr>
              <a:t>P_shaft=800x, P_loss=30+20x+75x²（教材用モデル）</a:t>
            </a:r>
          </a:p>
        </p:txBody>
      </p:sp>
      <p:sp>
        <p:nvSpPr>
          <p:cNvPr id="4" name="Shape 4"/>
          <p:cNvSpPr/>
          <p:nvPr/>
        </p:nvSpPr>
        <p:spPr>
          <a:xfrm>
            <a:off x="1234440" y="3548521"/>
            <a:ext cx="777240" cy="1023478"/>
          </a:xfrm>
          <a:prstGeom prst="rect">
            <a:avLst/>
          </a:prstGeom>
          <a:solidFill>
            <a:srgbClr val="2764B0"/>
          </a:solidFill>
          <a:ln>
            <a:noFill/>
          </a:ln>
        </p:spPr>
      </p:sp>
      <p:sp>
        <p:nvSpPr>
          <p:cNvPr id="5" name="Text 5"/>
          <p:cNvSpPr/>
          <p:nvPr/>
        </p:nvSpPr>
        <p:spPr>
          <a:xfrm>
            <a:off x="1069848" y="46634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000" b="1">
                <a:solidFill>
                  <a:srgbClr val="182230"/>
                </a:solidFill>
                <a:latin typeface="Noto Sans CJK JP"/>
                <a:ea typeface="Noto Sans CJK JP"/>
              </a:rPr>
              <a:t>0.2</a:t>
            </a:r>
          </a:p>
        </p:txBody>
      </p:sp>
      <p:sp>
        <p:nvSpPr>
          <p:cNvPr id="6" name="Text 6"/>
          <p:cNvSpPr/>
          <p:nvPr/>
        </p:nvSpPr>
        <p:spPr>
          <a:xfrm>
            <a:off x="1033272" y="3228481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000" b="1">
                <a:solidFill>
                  <a:srgbClr val="17324D"/>
                </a:solidFill>
                <a:latin typeface="Noto Sans CJK JP"/>
                <a:ea typeface="Noto Sans CJK JP"/>
              </a:rPr>
              <a:t>81.2%</a:t>
            </a:r>
          </a:p>
        </p:txBody>
      </p:sp>
      <p:sp>
        <p:nvSpPr>
          <p:cNvPr id="7" name="Shape 7"/>
          <p:cNvSpPr/>
          <p:nvPr/>
        </p:nvSpPr>
        <p:spPr>
          <a:xfrm>
            <a:off x="3154680" y="2681416"/>
            <a:ext cx="777240" cy="1890583"/>
          </a:xfrm>
          <a:prstGeom prst="rect">
            <a:avLst/>
          </a:prstGeom>
          <a:solidFill>
            <a:srgbClr val="2764B0"/>
          </a:solidFill>
          <a:ln>
            <a:noFill/>
          </a:ln>
        </p:spPr>
      </p:sp>
      <p:sp>
        <p:nvSpPr>
          <p:cNvPr id="8" name="Text 8"/>
          <p:cNvSpPr/>
          <p:nvPr/>
        </p:nvSpPr>
        <p:spPr>
          <a:xfrm>
            <a:off x="2990088" y="46634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000" b="1">
                <a:solidFill>
                  <a:srgbClr val="182230"/>
                </a:solidFill>
                <a:latin typeface="Noto Sans CJK JP"/>
                <a:ea typeface="Noto Sans CJK JP"/>
              </a:rPr>
              <a:t>0.4</a:t>
            </a:r>
          </a:p>
        </p:txBody>
      </p:sp>
      <p:sp>
        <p:nvSpPr>
          <p:cNvPr id="9" name="Text 9"/>
          <p:cNvSpPr/>
          <p:nvPr/>
        </p:nvSpPr>
        <p:spPr>
          <a:xfrm>
            <a:off x="2953512" y="2361376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000" b="1">
                <a:solidFill>
                  <a:srgbClr val="17324D"/>
                </a:solidFill>
                <a:latin typeface="Noto Sans CJK JP"/>
                <a:ea typeface="Noto Sans CJK JP"/>
              </a:rPr>
              <a:t>86.5%</a:t>
            </a:r>
          </a:p>
        </p:txBody>
      </p:sp>
      <p:sp>
        <p:nvSpPr>
          <p:cNvPr id="10" name="Shape 10"/>
          <p:cNvSpPr/>
          <p:nvPr/>
        </p:nvSpPr>
        <p:spPr>
          <a:xfrm>
            <a:off x="5074920" y="2523771"/>
            <a:ext cx="777240" cy="2048228"/>
          </a:xfrm>
          <a:prstGeom prst="rect">
            <a:avLst/>
          </a:prstGeom>
          <a:solidFill>
            <a:srgbClr val="2764B0"/>
          </a:solidFill>
          <a:ln>
            <a:noFill/>
          </a:ln>
        </p:spPr>
      </p:sp>
      <p:sp>
        <p:nvSpPr>
          <p:cNvPr id="11" name="Text 11"/>
          <p:cNvSpPr/>
          <p:nvPr/>
        </p:nvSpPr>
        <p:spPr>
          <a:xfrm>
            <a:off x="4910328" y="46634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000" b="1">
                <a:solidFill>
                  <a:srgbClr val="182230"/>
                </a:solidFill>
                <a:latin typeface="Noto Sans CJK JP"/>
                <a:ea typeface="Noto Sans CJK JP"/>
              </a:rPr>
              <a:t>0.632</a:t>
            </a:r>
          </a:p>
        </p:txBody>
      </p:sp>
      <p:sp>
        <p:nvSpPr>
          <p:cNvPr id="12" name="Text 12"/>
          <p:cNvSpPr/>
          <p:nvPr/>
        </p:nvSpPr>
        <p:spPr>
          <a:xfrm>
            <a:off x="4873752" y="2203731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000" b="1">
                <a:solidFill>
                  <a:srgbClr val="17324D"/>
                </a:solidFill>
                <a:latin typeface="Noto Sans CJK JP"/>
                <a:ea typeface="Noto Sans CJK JP"/>
              </a:rPr>
              <a:t>87.4%</a:t>
            </a:r>
          </a:p>
        </p:txBody>
      </p:sp>
      <p:sp>
        <p:nvSpPr>
          <p:cNvPr id="13" name="Shape 13"/>
          <p:cNvSpPr/>
          <p:nvPr/>
        </p:nvSpPr>
        <p:spPr>
          <a:xfrm>
            <a:off x="6995160" y="2565053"/>
            <a:ext cx="777240" cy="2006946"/>
          </a:xfrm>
          <a:prstGeom prst="rect">
            <a:avLst/>
          </a:prstGeom>
          <a:solidFill>
            <a:srgbClr val="2764B0"/>
          </a:solidFill>
          <a:ln>
            <a:noFill/>
          </a:ln>
        </p:spPr>
      </p:sp>
      <p:sp>
        <p:nvSpPr>
          <p:cNvPr id="14" name="Text 14"/>
          <p:cNvSpPr/>
          <p:nvPr/>
        </p:nvSpPr>
        <p:spPr>
          <a:xfrm>
            <a:off x="6830568" y="46634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000" b="1">
                <a:solidFill>
                  <a:srgbClr val="182230"/>
                </a:solidFill>
                <a:latin typeface="Noto Sans CJK JP"/>
                <a:ea typeface="Noto Sans CJK JP"/>
              </a:rPr>
              <a:t>0.8</a:t>
            </a:r>
          </a:p>
        </p:txBody>
      </p:sp>
      <p:sp>
        <p:nvSpPr>
          <p:cNvPr id="15" name="Text 15"/>
          <p:cNvSpPr/>
          <p:nvPr/>
        </p:nvSpPr>
        <p:spPr>
          <a:xfrm>
            <a:off x="6793992" y="2245013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000" b="1">
                <a:solidFill>
                  <a:srgbClr val="17324D"/>
                </a:solidFill>
                <a:latin typeface="Noto Sans CJK JP"/>
                <a:ea typeface="Noto Sans CJK JP"/>
              </a:rPr>
              <a:t>87.2%</a:t>
            </a:r>
          </a:p>
        </p:txBody>
      </p:sp>
      <p:sp>
        <p:nvSpPr>
          <p:cNvPr id="16" name="Shape 16"/>
          <p:cNvSpPr/>
          <p:nvPr/>
        </p:nvSpPr>
        <p:spPr>
          <a:xfrm>
            <a:off x="8915400" y="2681416"/>
            <a:ext cx="777240" cy="1890583"/>
          </a:xfrm>
          <a:prstGeom prst="rect">
            <a:avLst/>
          </a:prstGeom>
          <a:solidFill>
            <a:srgbClr val="2764B0"/>
          </a:solidFill>
          <a:ln>
            <a:noFill/>
          </a:ln>
        </p:spPr>
      </p:sp>
      <p:sp>
        <p:nvSpPr>
          <p:cNvPr id="17" name="Text 17"/>
          <p:cNvSpPr/>
          <p:nvPr/>
        </p:nvSpPr>
        <p:spPr>
          <a:xfrm>
            <a:off x="8750808" y="46634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000" b="1">
                <a:solidFill>
                  <a:srgbClr val="182230"/>
                </a:solidFill>
                <a:latin typeface="Noto Sans CJK JP"/>
                <a:ea typeface="Noto Sans CJK JP"/>
              </a:rPr>
              <a:t>1</a:t>
            </a:r>
          </a:p>
        </p:txBody>
      </p:sp>
      <p:sp>
        <p:nvSpPr>
          <p:cNvPr id="18" name="Text 18"/>
          <p:cNvSpPr/>
          <p:nvPr/>
        </p:nvSpPr>
        <p:spPr>
          <a:xfrm>
            <a:off x="8714232" y="2361376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000" b="1">
                <a:solidFill>
                  <a:srgbClr val="17324D"/>
                </a:solidFill>
                <a:latin typeface="Noto Sans CJK JP"/>
                <a:ea typeface="Noto Sans CJK JP"/>
              </a:rPr>
              <a:t>86.5%</a:t>
            </a:r>
          </a:p>
        </p:txBody>
      </p:sp>
      <p:sp>
        <p:nvSpPr>
          <p:cNvPr id="19" name="Text 19"/>
          <p:cNvSpPr/>
          <p:nvPr/>
        </p:nvSpPr>
        <p:spPr>
          <a:xfrm>
            <a:off x="731520" y="525780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100" b="1">
                <a:solidFill>
                  <a:srgbClr val="182230"/>
                </a:solidFill>
                <a:latin typeface="Noto Sans CJK JP"/>
                <a:ea typeface="Noto Sans CJK JP"/>
              </a:rPr>
              <a:t>負荷率 x</a:t>
            </a:r>
          </a:p>
        </p:txBody>
      </p:sp>
      <p:sp>
        <p:nvSpPr>
          <p:cNvPr id="20" name="Text 20"/>
          <p:cNvSpPr/>
          <p:nvPr/>
        </p:nvSpPr>
        <p:spPr>
          <a:xfrm>
            <a:off x="9052560" y="1508760"/>
            <a:ext cx="2194560" cy="1143000"/>
          </a:xfrm>
          <a:prstGeom prst="rect">
            <a:avLst/>
          </a:prstGeom>
          <a:solidFill>
            <a:srgbClr val="EEF3F8"/>
          </a:solidFill>
          <a:ln w="12700">
            <a:solidFill>
              <a:srgbClr val="CAD4E2"/>
            </a:solidFill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150" b="1">
                <a:solidFill>
                  <a:srgbClr val="182230"/>
                </a:solidFill>
                <a:latin typeface="Noto Sans CJK JP"/>
                <a:ea typeface="Noto Sans CJK JP"/>
              </a:rPr>
              <a:t>最大効率点</a:t>
            </a:r>
          </a:p>
          <a:p>
            <a:pPr algn="ctr"/>
            <a:r>
              <a:rPr lang="ja-JP" sz="1150" b="1">
                <a:solidFill>
                  <a:srgbClr val="182230"/>
                </a:solidFill>
                <a:latin typeface="Noto Sans CJK JP"/>
                <a:ea typeface="Noto Sans CJK JP"/>
              </a:rPr>
              <a:t>x = √(30/75) ≈ 0.632</a:t>
            </a:r>
          </a:p>
          <a:p>
            <a:pPr algn="ctr"/>
            <a:r>
              <a:rPr lang="ja-JP" sz="1150" b="1">
                <a:solidFill>
                  <a:srgbClr val="182230"/>
                </a:solidFill>
                <a:latin typeface="Noto Sans CJK JP"/>
                <a:ea typeface="Noto Sans CJK JP"/>
              </a:rPr>
              <a:t>η_max ≈ 87.4 %</a:t>
            </a:r>
          </a:p>
        </p:txBody>
      </p:sp>
      <p:sp>
        <p:nvSpPr>
          <p:cNvPr id="21" name="Text 21"/>
          <p:cNvSpPr/>
          <p:nvPr/>
        </p:nvSpPr>
        <p:spPr>
          <a:xfrm>
            <a:off x="685800" y="5715000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050" b="0">
                <a:solidFill>
                  <a:srgbClr val="65758B"/>
                </a:solidFill>
                <a:latin typeface="Noto Sans CJK JP"/>
                <a:ea typeface="Noto Sans CJK JP"/>
              </a:rPr>
              <a:t>低負荷：固定損の比率が大きい／高負荷：x²損失が増える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2600" b="1">
                <a:solidFill>
                  <a:srgbClr val="17324D"/>
                </a:solidFill>
                <a:latin typeface="Noto Sans CJK JP"/>
                <a:ea typeface="Noto Sans CJK JP"/>
              </a:rPr>
              <a:t>車輪側出力の境界と損失感度</a:t>
            </a:r>
          </a:p>
        </p:txBody>
      </p:sp>
      <p:sp>
        <p:nvSpPr>
          <p:cNvPr id="3" name="Text 3"/>
          <p:cNvSpPr/>
          <p:nvPr/>
        </p:nvSpPr>
        <p:spPr>
          <a:xfrm>
            <a:off x="502920" y="749808"/>
            <a:ext cx="11155680" cy="310896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1050" b="0">
                <a:solidFill>
                  <a:srgbClr val="65758B"/>
                </a:solidFill>
                <a:latin typeface="Noto Sans CJK JP"/>
                <a:ea typeface="Noto Sans CJK JP"/>
              </a:rPr>
              <a:t>未確認の駆動系損失は実車値として置かない</a:t>
            </a:r>
          </a:p>
        </p:txBody>
      </p:sp>
      <p:sp>
        <p:nvSpPr>
          <p:cNvPr id="4" name="Text 4"/>
          <p:cNvSpPr/>
          <p:nvPr/>
        </p:nvSpPr>
        <p:spPr>
          <a:xfrm>
            <a:off x="594360" y="1325880"/>
            <a:ext cx="5212080" cy="438912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850" b="1">
                <a:solidFill>
                  <a:srgbClr val="17324D"/>
                </a:solidFill>
                <a:latin typeface="Noto Sans CJK JP"/>
                <a:ea typeface="Noto Sans CJK JP"/>
              </a:rPr>
              <a:t>P_wheel = P_shaft − P_drive_loss</a:t>
            </a:r>
          </a:p>
        </p:txBody>
      </p:sp>
      <p:sp>
        <p:nvSpPr>
          <p:cNvPr id="5" name="Text 5"/>
          <p:cNvSpPr/>
          <p:nvPr/>
        </p:nvSpPr>
        <p:spPr>
          <a:xfrm>
            <a:off x="685800" y="1965960"/>
            <a:ext cx="502920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95A3B3"/>
            </a:solidFill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200" b="1">
                <a:solidFill>
                  <a:srgbClr val="182230"/>
                </a:solidFill>
                <a:latin typeface="Noto Sans CJK JP"/>
                <a:ea typeface="Noto Sans CJK JP"/>
              </a:rPr>
              <a:t>理想伝達の基準線</a:t>
            </a:r>
          </a:p>
          <a:p>
            <a:pPr algn="ctr"/>
            <a:r>
              <a:rPr lang="ja-JP" sz="1200" b="1">
                <a:solidFill>
                  <a:srgbClr val="182230"/>
                </a:solidFill>
                <a:latin typeface="Noto Sans CJK JP"/>
                <a:ea typeface="Noto Sans CJK JP"/>
              </a:rPr>
              <a:t>P_drive_loss = 0 と明記</a:t>
            </a:r>
          </a:p>
          <a:p>
            <a:pPr algn="ctr"/>
            <a:r>
              <a:rPr lang="ja-JP" sz="1200" b="1">
                <a:solidFill>
                  <a:srgbClr val="182230"/>
                </a:solidFill>
                <a:latin typeface="Noto Sans CJK JP"/>
                <a:ea typeface="Noto Sans CJK JP"/>
              </a:rPr>
              <a:t>実車の車輪側出力とはみなさない</a:t>
            </a:r>
          </a:p>
        </p:txBody>
      </p:sp>
      <p:sp>
        <p:nvSpPr>
          <p:cNvPr id="6" name="Text 6"/>
          <p:cNvSpPr/>
          <p:nvPr/>
        </p:nvSpPr>
        <p:spPr>
          <a:xfrm>
            <a:off x="731520" y="35661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1050" b="1">
                <a:solidFill>
                  <a:srgbClr val="182230"/>
                </a:solidFill>
                <a:latin typeface="Noto Sans CJK JP"/>
                <a:ea typeface="Noto Sans CJK JP"/>
              </a:rPr>
              <a:t>入力</a:t>
            </a:r>
          </a:p>
        </p:txBody>
      </p:sp>
      <p:sp>
        <p:nvSpPr>
          <p:cNvPr id="7" name="Shape 7"/>
          <p:cNvSpPr/>
          <p:nvPr/>
        </p:nvSpPr>
        <p:spPr>
          <a:xfrm>
            <a:off x="2103120" y="3602736"/>
            <a:ext cx="3657600" cy="201168"/>
          </a:xfrm>
          <a:prstGeom prst="rect">
            <a:avLst/>
          </a:prstGeom>
          <a:solidFill>
            <a:srgbClr val="2764B0"/>
          </a:solidFill>
          <a:ln>
            <a:noFill/>
          </a:ln>
        </p:spPr>
      </p:sp>
      <p:sp>
        <p:nvSpPr>
          <p:cNvPr id="8" name="Text 8"/>
          <p:cNvSpPr/>
          <p:nvPr/>
        </p:nvSpPr>
        <p:spPr>
          <a:xfrm>
            <a:off x="731520" y="4133087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1050" b="1">
                <a:solidFill>
                  <a:srgbClr val="182230"/>
                </a:solidFill>
                <a:latin typeface="Noto Sans CJK JP"/>
                <a:ea typeface="Noto Sans CJK JP"/>
              </a:rPr>
              <a:t>軸</a:t>
            </a:r>
          </a:p>
        </p:txBody>
      </p:sp>
      <p:sp>
        <p:nvSpPr>
          <p:cNvPr id="9" name="Shape 9"/>
          <p:cNvSpPr/>
          <p:nvPr/>
        </p:nvSpPr>
        <p:spPr>
          <a:xfrm>
            <a:off x="2103120" y="4169663"/>
            <a:ext cx="3218688" cy="201168"/>
          </a:xfrm>
          <a:prstGeom prst="rect">
            <a:avLst/>
          </a:prstGeom>
          <a:solidFill>
            <a:srgbClr val="2764B0"/>
          </a:solidFill>
          <a:ln>
            <a:noFill/>
          </a:ln>
        </p:spPr>
      </p:sp>
      <p:sp>
        <p:nvSpPr>
          <p:cNvPr id="10" name="Text 10"/>
          <p:cNvSpPr/>
          <p:nvPr/>
        </p:nvSpPr>
        <p:spPr>
          <a:xfrm>
            <a:off x="731520" y="470001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1050" b="1">
                <a:solidFill>
                  <a:srgbClr val="182230"/>
                </a:solidFill>
                <a:latin typeface="Noto Sans CJK JP"/>
                <a:ea typeface="Noto Sans CJK JP"/>
              </a:rPr>
              <a:t>車輪(理想)</a:t>
            </a:r>
          </a:p>
        </p:txBody>
      </p:sp>
      <p:sp>
        <p:nvSpPr>
          <p:cNvPr id="11" name="Shape 11"/>
          <p:cNvSpPr/>
          <p:nvPr/>
        </p:nvSpPr>
        <p:spPr>
          <a:xfrm>
            <a:off x="2103120" y="4736592"/>
            <a:ext cx="3218688" cy="201168"/>
          </a:xfrm>
          <a:prstGeom prst="rect">
            <a:avLst/>
          </a:prstGeom>
          <a:solidFill>
            <a:srgbClr val="2764B0"/>
          </a:solidFill>
          <a:ln>
            <a:noFill/>
          </a:ln>
        </p:spPr>
      </p:sp>
      <p:sp>
        <p:nvSpPr>
          <p:cNvPr id="12" name="Text 12"/>
          <p:cNvSpPr/>
          <p:nvPr/>
        </p:nvSpPr>
        <p:spPr>
          <a:xfrm>
            <a:off x="6263640" y="1325880"/>
            <a:ext cx="4800600" cy="438912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800" b="1">
                <a:solidFill>
                  <a:srgbClr val="17324D"/>
                </a:solidFill>
                <a:latin typeface="Noto Sans CJK JP"/>
                <a:ea typeface="Noto Sans CJK JP"/>
              </a:rPr>
              <a:t>条件変更時の損失比較</a:t>
            </a:r>
          </a:p>
        </p:txBody>
      </p:sp>
      <p:sp>
        <p:nvSpPr>
          <p:cNvPr id="13" name="Text 13"/>
          <p:cNvSpPr/>
          <p:nvPr/>
        </p:nvSpPr>
        <p:spPr>
          <a:xfrm>
            <a:off x="6355080" y="1965960"/>
            <a:ext cx="461772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95A3B3"/>
            </a:solidFill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200" b="1">
                <a:solidFill>
                  <a:srgbClr val="182230"/>
                </a:solidFill>
                <a:latin typeface="Noto Sans CJK JP"/>
                <a:ea typeface="Noto Sans CJK JP"/>
              </a:rPr>
              <a:t>x = 0.80 で1項だけ変更</a:t>
            </a:r>
          </a:p>
          <a:p>
            <a:pPr algn="ctr"/>
            <a:r>
              <a:rPr lang="ja-JP" sz="1200" b="1">
                <a:solidFill>
                  <a:srgbClr val="182230"/>
                </a:solidFill>
                <a:latin typeface="Noto Sans CJK JP"/>
                <a:ea typeface="Noto Sans CJK JP"/>
              </a:rPr>
              <a:t>二乗損係数 75 → 60 kW（−20%）</a:t>
            </a:r>
          </a:p>
        </p:txBody>
      </p:sp>
      <p:sp>
        <p:nvSpPr>
          <p:cNvPr id="14" name="Text 14"/>
          <p:cNvSpPr/>
          <p:nvPr/>
        </p:nvSpPr>
        <p:spPr>
          <a:xfrm>
            <a:off x="6492240" y="333756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1100" b="1">
                <a:solidFill>
                  <a:srgbClr val="182230"/>
                </a:solidFill>
                <a:latin typeface="Noto Sans CJK JP"/>
                <a:ea typeface="Noto Sans CJK JP"/>
              </a:rPr>
              <a:t>基準</a:t>
            </a:r>
          </a:p>
        </p:txBody>
      </p:sp>
      <p:sp>
        <p:nvSpPr>
          <p:cNvPr id="15" name="Shape 15"/>
          <p:cNvSpPr/>
          <p:nvPr/>
        </p:nvSpPr>
        <p:spPr>
          <a:xfrm>
            <a:off x="7955279" y="3383280"/>
            <a:ext cx="2743200" cy="237744"/>
          </a:xfrm>
          <a:prstGeom prst="rect">
            <a:avLst/>
          </a:prstGeom>
          <a:solidFill>
            <a:srgbClr val="65758B"/>
          </a:solidFill>
          <a:ln>
            <a:noFill/>
          </a:ln>
        </p:spPr>
      </p:sp>
      <p:sp>
        <p:nvSpPr>
          <p:cNvPr id="16" name="Text 16"/>
          <p:cNvSpPr/>
          <p:nvPr/>
        </p:nvSpPr>
        <p:spPr>
          <a:xfrm>
            <a:off x="9784080" y="331012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r"/>
            <a:r>
              <a:rPr lang="ja-JP" sz="1100" b="1">
                <a:solidFill>
                  <a:srgbClr val="182230"/>
                </a:solidFill>
                <a:latin typeface="Noto Sans CJK JP"/>
                <a:ea typeface="Noto Sans CJK JP"/>
              </a:rPr>
              <a:t>94.0 kW</a:t>
            </a:r>
          </a:p>
        </p:txBody>
      </p:sp>
      <p:sp>
        <p:nvSpPr>
          <p:cNvPr id="17" name="Text 17"/>
          <p:cNvSpPr/>
          <p:nvPr/>
        </p:nvSpPr>
        <p:spPr>
          <a:xfrm>
            <a:off x="6492240" y="406908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l"/>
            <a:r>
              <a:rPr lang="ja-JP" sz="1100" b="1">
                <a:solidFill>
                  <a:srgbClr val="182230"/>
                </a:solidFill>
                <a:latin typeface="Noto Sans CJK JP"/>
                <a:ea typeface="Noto Sans CJK JP"/>
              </a:rPr>
              <a:t>変更後</a:t>
            </a:r>
          </a:p>
        </p:txBody>
      </p:sp>
      <p:sp>
        <p:nvSpPr>
          <p:cNvPr id="18" name="Shape 18"/>
          <p:cNvSpPr/>
          <p:nvPr/>
        </p:nvSpPr>
        <p:spPr>
          <a:xfrm>
            <a:off x="7955279" y="4114800"/>
            <a:ext cx="2459736" cy="237744"/>
          </a:xfrm>
          <a:prstGeom prst="rect">
            <a:avLst/>
          </a:prstGeom>
          <a:solidFill>
            <a:srgbClr val="2764B0"/>
          </a:solidFill>
          <a:ln>
            <a:noFill/>
          </a:ln>
        </p:spPr>
      </p:sp>
      <p:sp>
        <p:nvSpPr>
          <p:cNvPr id="19" name="Text 19"/>
          <p:cNvSpPr/>
          <p:nvPr/>
        </p:nvSpPr>
        <p:spPr>
          <a:xfrm>
            <a:off x="9784080" y="404164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r"/>
            <a:r>
              <a:rPr lang="ja-JP" sz="1100" b="1">
                <a:solidFill>
                  <a:srgbClr val="182230"/>
                </a:solidFill>
                <a:latin typeface="Noto Sans CJK JP"/>
                <a:ea typeface="Noto Sans CJK JP"/>
              </a:rPr>
              <a:t>84.4 kW</a:t>
            </a:r>
          </a:p>
        </p:txBody>
      </p:sp>
      <p:sp>
        <p:nvSpPr>
          <p:cNvPr id="20" name="Text 20"/>
          <p:cNvSpPr/>
          <p:nvPr/>
        </p:nvSpPr>
        <p:spPr>
          <a:xfrm>
            <a:off x="6537960" y="480060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700" b="1">
                <a:solidFill>
                  <a:srgbClr val="17324D"/>
                </a:solidFill>
                <a:latin typeface="Noto Sans CJK JP"/>
                <a:ea typeface="Noto Sans CJK JP"/>
              </a:rPr>
              <a:t>差 9.6 kW</a:t>
            </a:r>
          </a:p>
        </p:txBody>
      </p:sp>
      <p:sp>
        <p:nvSpPr>
          <p:cNvPr id="21" name="Text 21"/>
          <p:cNvSpPr/>
          <p:nvPr/>
        </p:nvSpPr>
        <p:spPr>
          <a:xfrm>
            <a:off x="6355080" y="544068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40000" rIns="90000" bIns="40000" anchor="ctr"/>
          <a:lstStyle/>
          <a:p>
            <a:pPr algn="ctr"/>
            <a:r>
              <a:rPr lang="ja-JP" sz="1050" b="0">
                <a:solidFill>
                  <a:srgbClr val="65758B"/>
                </a:solidFill>
                <a:latin typeface="Noto Sans CJK JP"/>
                <a:ea typeface="Noto Sans CJK JP"/>
              </a:rPr>
              <a:t>「0系の改良効果」ではなく、計算条件変更による感度比較。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