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1695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4F81BD" accent2="C0504D" accent3="9BBB59" accent4="8064A2" accent5="4BACC6" accent6="F7964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0000" y="220000"/>
            <a:ext cx="11200000" cy="650000"/>
          </a:xfrm>
          <a:prstGeom prst="roundRect">
            <a:avLst/>
          </a:prstGeom>
          <a:noFill/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2600" b="1">
                <a:solidFill>
                  <a:srgbClr val="183B5B"/>
                </a:solidFill>
                <a:latin typeface="Noto Sans CJK JP"/>
                <a:ea typeface="Noto Sans CJK JP"/>
              </a:rPr>
              <a:t>0系① 主変圧器の等価回路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600000" y="1100000"/>
            <a:ext cx="5300000" cy="1900000"/>
          </a:xfrm>
          <a:prstGeom prst="roundRect">
            <a:avLst/>
          </a:prstGeom>
          <a:solidFill>
            <a:srgbClr val="DDECF6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0系の確認済み値</a:t>
            </a:r>
            <a:endParaRPr lang="ja-JP" sz="1700"/>
          </a:p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交流25 kV・60 Hz / 主変圧器1650 kVA</a:t>
            </a:r>
            <a:endParaRPr lang="ja-JP" sz="1700"/>
          </a:p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低圧タップ切換・25段</a:t>
            </a:r>
            <a:endParaRPr lang="ja-JP" sz="1700"/>
          </a:p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1650/25=66 Aは公開値からの計算値</a:t>
            </a:r>
            <a:endParaRPr lang="ja-JP" sz="1700"/>
          </a:p>
        </p:txBody>
      </p:sp>
      <p:sp>
        <p:nvSpPr>
          <p:cNvPr id="4" name="Box 4"/>
          <p:cNvSpPr/>
          <p:nvPr/>
        </p:nvSpPr>
        <p:spPr>
          <a:xfrm>
            <a:off x="6200000" y="1100000"/>
            <a:ext cx="5300000" cy="1900000"/>
          </a:xfrm>
          <a:prstGeom prst="roundRect">
            <a:avLst/>
          </a:prstGeom>
          <a:solidFill>
            <a:srgbClr val="FBEAD9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過去問対応</a:t>
            </a:r>
            <a:endParaRPr lang="ja-JP" sz="1700"/>
          </a:p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R7一次 機械 問3</a:t>
            </a:r>
            <a:endParaRPr lang="ja-JP" sz="1700"/>
          </a:p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R6/R3/R2/H28/H27 二次 機械・制御 問2</a:t>
            </a:r>
            <a:endParaRPr lang="ja-JP" sz="1700"/>
          </a:p>
          <a:p>
            <a:r>
              <a:rPr lang="ja-JP" sz="1700" b="0">
                <a:solidFill>
                  <a:srgbClr val="20303C"/>
                </a:solidFill>
                <a:latin typeface="Noto Sans CJK JP"/>
                <a:ea typeface="Noto Sans CJK JP"/>
              </a:rPr>
              <a:t>一次1問＋二次記述5問</a:t>
            </a:r>
            <a:endParaRPr lang="ja-JP" sz="1700"/>
          </a:p>
        </p:txBody>
      </p:sp>
      <p:sp>
        <p:nvSpPr>
          <p:cNvPr id="5" name="Box 5"/>
          <p:cNvSpPr/>
          <p:nvPr/>
        </p:nvSpPr>
        <p:spPr>
          <a:xfrm>
            <a:off x="600000" y="3300000"/>
            <a:ext cx="10900000" cy="1800000"/>
          </a:xfrm>
          <a:prstGeom prst="roundRect">
            <a:avLst/>
          </a:prstGeom>
          <a:solidFill>
            <a:srgbClr val="F6F0CF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900" b="1">
                <a:solidFill>
                  <a:srgbClr val="183B5B"/>
                </a:solidFill>
                <a:latin typeface="Noto Sans CJK JP"/>
                <a:ea typeface="Noto Sans CJK JP"/>
              </a:rPr>
              <a:t>到達目標</a:t>
            </a:r>
            <a:endParaRPr lang="ja-JP" sz="1900"/>
          </a:p>
          <a:p>
            <a:r>
              <a:rPr lang="ja-JP" sz="1900" b="1">
                <a:solidFill>
                  <a:srgbClr val="183B5B"/>
                </a:solidFill>
                <a:latin typeface="Noto Sans CJK JP"/>
                <a:ea typeface="Noto Sans CJK JP"/>
              </a:rPr>
              <a:t>試験値 → 等価回路定数 → %値 → 電圧変動率 → 損失・効率</a:t>
            </a:r>
            <a:endParaRPr lang="ja-JP" sz="1900"/>
          </a:p>
          <a:p>
            <a:r>
              <a:rPr lang="ja-JP" sz="1900" b="1">
                <a:solidFill>
                  <a:srgbClr val="183B5B"/>
                </a:solidFill>
                <a:latin typeface="Noto Sans CJK JP"/>
                <a:ea typeface="Noto Sans CJK JP"/>
              </a:rPr>
              <a:t>換算側・成立条件・近似条件・単位を明示して解く</a:t>
            </a:r>
            <a:endParaRPr lang="ja-JP"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0000" y="220000"/>
            <a:ext cx="11200000" cy="650000"/>
          </a:xfrm>
          <a:prstGeom prst="roundRect">
            <a:avLst/>
          </a:prstGeom>
          <a:noFill/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2600" b="1">
                <a:solidFill>
                  <a:srgbClr val="183B5B"/>
                </a:solidFill>
                <a:latin typeface="Noto Sans CJK JP"/>
                <a:ea typeface="Noto Sans CJK JP"/>
              </a:rPr>
              <a:t>等価回路・換算・試験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600000" y="1050000"/>
            <a:ext cx="3500000" cy="3900000"/>
          </a:xfrm>
          <a:prstGeom prst="roundRect">
            <a:avLst/>
          </a:prstGeom>
          <a:solidFill>
            <a:srgbClr val="DDECF6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750" b="0">
                <a:solidFill>
                  <a:srgbClr val="20303C"/>
                </a:solidFill>
                <a:latin typeface="Noto Sans CJK JP"/>
                <a:ea typeface="Noto Sans CJK JP"/>
              </a:rPr>
              <a:t>巻数比と換算</a:t>
            </a:r>
            <a:endParaRPr lang="ja-JP" sz="1750"/>
          </a:p>
          <a:p>
            <a:r>
              <a:rPr lang="ja-JP" sz="1750" b="0">
                <a:solidFill>
                  <a:srgbClr val="20303C"/>
                </a:solidFill>
                <a:latin typeface="Noto Sans CJK JP"/>
                <a:ea typeface="Noto Sans CJK JP"/>
              </a:rPr>
              <a:t>a=N1/N2≈V1/V2</a:t>
            </a:r>
            <a:endParaRPr lang="ja-JP" sz="1750"/>
          </a:p>
          <a:p>
            <a:r>
              <a:rPr lang="ja-JP" sz="1750" b="0">
                <a:solidFill>
                  <a:srgbClr val="20303C"/>
                </a:solidFill>
                <a:latin typeface="Noto Sans CJK JP"/>
                <a:ea typeface="Noto Sans CJK JP"/>
              </a:rPr>
              <a:t>I1/I2≈1/a</a:t>
            </a:r>
            <a:endParaRPr lang="ja-JP" sz="1750"/>
          </a:p>
          <a:p>
            <a:r>
              <a:rPr lang="ja-JP" sz="1750" b="0">
                <a:solidFill>
                  <a:srgbClr val="20303C"/>
                </a:solidFill>
                <a:latin typeface="Noto Sans CJK JP"/>
                <a:ea typeface="Noto Sans CJK JP"/>
              </a:rPr>
              <a:t>Z2′=a²Z2 / Y2′=Y2/a²</a:t>
            </a:r>
            <a:endParaRPr lang="ja-JP" sz="1750"/>
          </a:p>
          <a:p>
            <a:r>
              <a:rPr lang="ja-JP" sz="1750" b="0">
                <a:solidFill>
                  <a:srgbClr val="20303C"/>
                </a:solidFill>
                <a:latin typeface="Noto Sans CJK JP"/>
                <a:ea typeface="Noto Sans CJK JP"/>
              </a:rPr>
              <a:t>R=r1+a²r2</a:t>
            </a:r>
            <a:endParaRPr lang="ja-JP" sz="1750"/>
          </a:p>
          <a:p>
            <a:r>
              <a:rPr lang="ja-JP" sz="1750" b="0">
                <a:solidFill>
                  <a:srgbClr val="20303C"/>
                </a:solidFill>
                <a:latin typeface="Noto Sans CJK JP"/>
                <a:ea typeface="Noto Sans CJK JP"/>
              </a:rPr>
              <a:t>X=x1+a²x2</a:t>
            </a:r>
            <a:endParaRPr lang="ja-JP" sz="1750"/>
          </a:p>
        </p:txBody>
      </p:sp>
      <p:sp>
        <p:nvSpPr>
          <p:cNvPr id="4" name="Box 4"/>
          <p:cNvSpPr/>
          <p:nvPr/>
        </p:nvSpPr>
        <p:spPr>
          <a:xfrm>
            <a:off x="4300000" y="1050000"/>
            <a:ext cx="3500000" cy="3900000"/>
          </a:xfrm>
          <a:prstGeom prst="roundRect">
            <a:avLst/>
          </a:prstGeom>
          <a:solidFill>
            <a:srgbClr val="E5F1E9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無負荷試験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Y0=I0/V0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g0=P0/V0²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b0=√(Y0²−g0²)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P0≈鉄損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条件：無負荷電流が小さく直列部の銅損・電圧降下を無視</a:t>
            </a:r>
            <a:endParaRPr lang="ja-JP" sz="1600"/>
          </a:p>
        </p:txBody>
      </p:sp>
      <p:sp>
        <p:nvSpPr>
          <p:cNvPr id="5" name="Box 5"/>
          <p:cNvSpPr/>
          <p:nvPr/>
        </p:nvSpPr>
        <p:spPr>
          <a:xfrm>
            <a:off x="8000000" y="1050000"/>
            <a:ext cx="3500000" cy="3900000"/>
          </a:xfrm>
          <a:prstGeom prst="roundRect">
            <a:avLst/>
          </a:prstGeom>
          <a:solidFill>
            <a:srgbClr val="FBEAD9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短絡試験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Z=Vsc/Isc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R=Psc/Isc²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X=√(Z²−R²)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条件：低電圧で励磁電流・鉄損を無視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Psc=定格銅損は定格電流時のみ</a:t>
            </a:r>
            <a:endParaRPr lang="ja-JP" sz="1600"/>
          </a:p>
        </p:txBody>
      </p:sp>
      <p:sp>
        <p:nvSpPr>
          <p:cNvPr id="6" name="Box 6"/>
          <p:cNvSpPr/>
          <p:nvPr/>
        </p:nvSpPr>
        <p:spPr>
          <a:xfrm>
            <a:off x="1200000" y="5200000"/>
            <a:ext cx="9900000" cy="700000"/>
          </a:xfrm>
          <a:prstGeom prst="roundRect">
            <a:avLst/>
          </a:prstGeom>
          <a:solidFill>
            <a:srgbClr val="F7E3E3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800" b="1">
                <a:solidFill>
                  <a:srgbClr val="B84A4A"/>
                </a:solidFill>
                <a:latin typeface="Noto Sans CJK JP"/>
                <a:ea typeface="Noto Sans CJK JP"/>
              </a:rPr>
              <a:t>先に「どちら側へ換算するか」を宣言。同じ側の V・I・R・X を使う。</a:t>
            </a:r>
            <a:endParaRPr lang="ja-JP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0000" y="220000"/>
            <a:ext cx="11200000" cy="650000"/>
          </a:xfrm>
          <a:prstGeom prst="roundRect">
            <a:avLst/>
          </a:prstGeom>
          <a:noFill/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2600" b="1">
                <a:solidFill>
                  <a:srgbClr val="183B5B"/>
                </a:solidFill>
                <a:latin typeface="Noto Sans CJK JP"/>
                <a:ea typeface="Noto Sans CJK JP"/>
              </a:rPr>
              <a:t>%値・電圧変動率・効率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600000" y="1050000"/>
            <a:ext cx="3500000" cy="3900000"/>
          </a:xfrm>
          <a:prstGeom prst="roundRect">
            <a:avLst/>
          </a:prstGeom>
          <a:solidFill>
            <a:srgbClr val="DDECF6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650" b="0">
                <a:solidFill>
                  <a:srgbClr val="20303C"/>
                </a:solidFill>
                <a:latin typeface="Noto Sans CJK JP"/>
                <a:ea typeface="Noto Sans CJK JP"/>
              </a:rPr>
              <a:t>百分率量</a:t>
            </a:r>
            <a:endParaRPr lang="ja-JP" sz="1650"/>
          </a:p>
          <a:p>
            <a:r>
              <a:rPr lang="ja-JP" sz="1650" b="0">
                <a:solidFill>
                  <a:srgbClr val="20303C"/>
                </a:solidFill>
                <a:latin typeface="Noto Sans CJK JP"/>
                <a:ea typeface="Noto Sans CJK JP"/>
              </a:rPr>
              <a:t>ZB=VN²/SN=VN/IN</a:t>
            </a:r>
            <a:endParaRPr lang="ja-JP" sz="1650"/>
          </a:p>
          <a:p>
            <a:r>
              <a:rPr lang="ja-JP" sz="1650" b="0">
                <a:solidFill>
                  <a:srgbClr val="20303C"/>
                </a:solidFill>
                <a:latin typeface="Noto Sans CJK JP"/>
                <a:ea typeface="Noto Sans CJK JP"/>
              </a:rPr>
              <a:t>%r=100R/ZB</a:t>
            </a:r>
            <a:endParaRPr lang="ja-JP" sz="1650"/>
          </a:p>
          <a:p>
            <a:r>
              <a:rPr lang="ja-JP" sz="1650" b="0">
                <a:solidFill>
                  <a:srgbClr val="20303C"/>
                </a:solidFill>
                <a:latin typeface="Noto Sans CJK JP"/>
                <a:ea typeface="Noto Sans CJK JP"/>
              </a:rPr>
              <a:t>%x=100X/ZB</a:t>
            </a:r>
            <a:endParaRPr lang="ja-JP" sz="1650"/>
          </a:p>
          <a:p>
            <a:r>
              <a:rPr lang="ja-JP" sz="1650" b="0">
                <a:solidFill>
                  <a:srgbClr val="20303C"/>
                </a:solidFill>
                <a:latin typeface="Noto Sans CJK JP"/>
                <a:ea typeface="Noto Sans CJK JP"/>
              </a:rPr>
              <a:t>%Z=√((%r)²+(%x)²)</a:t>
            </a:r>
            <a:endParaRPr lang="ja-JP" sz="1650"/>
          </a:p>
          <a:p>
            <a:r>
              <a:rPr lang="ja-JP" sz="1650" b="0">
                <a:solidFill>
                  <a:srgbClr val="20303C"/>
                </a:solidFill>
                <a:latin typeface="Noto Sans CJK JP"/>
                <a:ea typeface="Noto Sans CJK JP"/>
              </a:rPr>
              <a:t>基準変更では物理R,Xは不変</a:t>
            </a:r>
            <a:endParaRPr lang="ja-JP" sz="1650"/>
          </a:p>
        </p:txBody>
      </p:sp>
      <p:sp>
        <p:nvSpPr>
          <p:cNvPr id="4" name="Box 4"/>
          <p:cNvSpPr/>
          <p:nvPr/>
        </p:nvSpPr>
        <p:spPr>
          <a:xfrm>
            <a:off x="4300000" y="1050000"/>
            <a:ext cx="3500000" cy="3900000"/>
          </a:xfrm>
          <a:prstGeom prst="roundRect">
            <a:avLst/>
          </a:prstGeom>
          <a:solidFill>
            <a:srgbClr val="FBEAD9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電圧変動率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遅れ：ε≈k(p cosφ+q sinφ)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進み：ε≈k(p cosφ−q sinφ)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進みではε&lt;0もあり得る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厳密指定なら一次近似へ勝手に置換しない</a:t>
            </a:r>
            <a:endParaRPr lang="ja-JP" sz="1550"/>
          </a:p>
        </p:txBody>
      </p:sp>
      <p:sp>
        <p:nvSpPr>
          <p:cNvPr id="5" name="Box 5"/>
          <p:cNvSpPr/>
          <p:nvPr/>
        </p:nvSpPr>
        <p:spPr>
          <a:xfrm>
            <a:off x="8000000" y="1050000"/>
            <a:ext cx="3500000" cy="3900000"/>
          </a:xfrm>
          <a:prstGeom prst="roundRect">
            <a:avLst/>
          </a:prstGeom>
          <a:solidFill>
            <a:srgbClr val="E5F1E9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損失・効率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Pcu=k²Pcu,N / Pi≈一定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Pout=k SN cosφ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η=Pout/(Pout+Pi+Pcu)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kmax=√(Pi/Pcu,N)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最大効率：Pi=k²Pcu,N</a:t>
            </a:r>
            <a:endParaRPr lang="ja-JP" sz="1550"/>
          </a:p>
        </p:txBody>
      </p:sp>
      <p:sp>
        <p:nvSpPr>
          <p:cNvPr id="6" name="Box 6"/>
          <p:cNvSpPr/>
          <p:nvPr/>
        </p:nvSpPr>
        <p:spPr>
          <a:xfrm>
            <a:off x="1000000" y="5200000"/>
            <a:ext cx="10300000" cy="700000"/>
          </a:xfrm>
          <a:prstGeom prst="roundRect">
            <a:avLst/>
          </a:prstGeom>
          <a:solidFill>
            <a:srgbClr val="F7E3E3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650" b="1">
                <a:solidFill>
                  <a:srgbClr val="B84A4A"/>
                </a:solidFill>
                <a:latin typeface="Noto Sans CJK JP"/>
                <a:ea typeface="Noto Sans CJK JP"/>
              </a:rPr>
              <a:t>典型ミス：aとa² / %値の基準 / 遅れ・進み符号 / 電圧降下kと銅損k² / kVAとkW</a:t>
            </a:r>
            <a:endParaRPr lang="ja-JP" sz="16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0000" y="220000"/>
            <a:ext cx="11200000" cy="650000"/>
          </a:xfrm>
          <a:prstGeom prst="roundRect">
            <a:avLst/>
          </a:prstGeom>
          <a:noFill/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2600" b="1">
                <a:solidFill>
                  <a:srgbClr val="183B5B"/>
                </a:solidFill>
                <a:latin typeface="Noto Sans CJK JP"/>
                <a:ea typeface="Noto Sans CJK JP"/>
              </a:rPr>
              <a:t>本試験の解法手順と最終ゲート</a:t>
            </a:r>
            <a:endParaRPr lang="ja-JP" sz="2600"/>
          </a:p>
        </p:txBody>
      </p:sp>
      <p:sp>
        <p:nvSpPr>
          <p:cNvPr id="3" name="Box 3"/>
          <p:cNvSpPr/>
          <p:nvPr/>
        </p:nvSpPr>
        <p:spPr>
          <a:xfrm>
            <a:off x="600000" y="1050000"/>
            <a:ext cx="5300000" cy="4200000"/>
          </a:xfrm>
          <a:prstGeom prst="roundRect">
            <a:avLst/>
          </a:prstGeom>
          <a:solidFill>
            <a:srgbClr val="DDECF6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解法手順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1 定格値・巻数比 → 換算側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2 無負荷試験 → g0,b0,鉄損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3 短絡試験 → Z,R,X,銅損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4 ZB → %r,%x,%Z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5 遅れ/進み → 電圧変動率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6 負荷率：降下k、銅損k²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7 効率</a:t>
            </a:r>
            <a:endParaRPr lang="ja-JP" sz="1600"/>
          </a:p>
          <a:p>
            <a:r>
              <a:rPr lang="ja-JP" sz="1600" b="0">
                <a:solidFill>
                  <a:srgbClr val="20303C"/>
                </a:solidFill>
                <a:latin typeface="Noto Sans CJK JP"/>
                <a:ea typeface="Noto Sans CJK JP"/>
              </a:rPr>
              <a:t>8 単位・符号・桁を検算</a:t>
            </a:r>
            <a:endParaRPr lang="ja-JP" sz="1600"/>
          </a:p>
        </p:txBody>
      </p:sp>
      <p:sp>
        <p:nvSpPr>
          <p:cNvPr id="4" name="Box 4"/>
          <p:cNvSpPr/>
          <p:nvPr/>
        </p:nvSpPr>
        <p:spPr>
          <a:xfrm>
            <a:off x="6200000" y="1050000"/>
            <a:ext cx="5300000" cy="4200000"/>
          </a:xfrm>
          <a:prstGeom prst="roundRect">
            <a:avLst/>
          </a:prstGeom>
          <a:solidFill>
            <a:srgbClr val="E5F1E9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0系への接続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実車値として使うのは確認済みの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25 kV・60 Hz・1650 kVA・低圧タップ切換・25段のみ。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/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0系固有のR,X,g0,b0,%Z、鉄損・銅損は未確認のため実値化しない。</a:t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/>
            </a:r>
            <a:endParaRPr lang="ja-JP" sz="1550"/>
          </a:p>
          <a:p>
            <a:r>
              <a:rPr lang="ja-JP" sz="1550" b="0">
                <a:solidFill>
                  <a:srgbClr val="20303C"/>
                </a:solidFill>
                <a:latin typeface="Noto Sans CJK JP"/>
                <a:ea typeface="Noto Sans CJK JP"/>
              </a:rPr>
              <a:t>次工程：選定6問を保存済み正答を見ず、完成教材だけで独立再解答。</a:t>
            </a:r>
            <a:endParaRPr lang="ja-JP" sz="1550"/>
          </a:p>
        </p:txBody>
      </p:sp>
      <p:sp>
        <p:nvSpPr>
          <p:cNvPr id="5" name="Box 5"/>
          <p:cNvSpPr/>
          <p:nvPr/>
        </p:nvSpPr>
        <p:spPr>
          <a:xfrm>
            <a:off x="1100000" y="5500000"/>
            <a:ext cx="10100000" cy="650000"/>
          </a:xfrm>
          <a:prstGeom prst="roundRect">
            <a:avLst/>
          </a:prstGeom>
          <a:solidFill>
            <a:srgbClr val="F6F0CF"/>
          </a:solidFill>
          <a:ln>
            <a:solidFill>
              <a:srgbClr val="D6E0E7"/>
            </a:solidFill>
          </a:ln>
        </p:spPr>
        <p:txBody>
          <a:bodyPr wrap="square" lIns="100000" tIns="70000" rIns="100000" bIns="70000" anchor="mid"/>
          <a:lstStyle/>
          <a:p>
            <a:r>
              <a:rPr lang="ja-JP" sz="1750" b="1">
                <a:solidFill>
                  <a:srgbClr val="B84A4A"/>
                </a:solidFill>
                <a:latin typeface="Noto Sans CJK JP"/>
                <a:ea typeface="Noto Sans CJK JP"/>
              </a:rPr>
              <a:t>PowerPoint完了 ≠ Topic完了。独立再解答＋公式解答照合＋最終QAが残る。</a:t>
            </a:r>
            <a:endParaRPr lang="ja-JP" sz="1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inimal">
      <a:majorFont>
        <a:latin typeface="Arial"/>
        <a:ea typeface="Noto Sans CJK JP"/>
        <a:cs typeface="Arial"/>
      </a:majorFont>
      <a:minorFont>
        <a:latin typeface="Arial"/>
        <a:ea typeface="Noto Sans CJK JP"/>
        <a:cs typeface="Arial"/>
      </a:minorFont>
    </a:fontScheme>
    <a:fmtScheme name="Minimal">
      <a:fillStyleLst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