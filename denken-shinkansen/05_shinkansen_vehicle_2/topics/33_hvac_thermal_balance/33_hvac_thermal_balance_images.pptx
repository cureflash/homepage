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3754"/>
                </a:solidFill>
                <a:latin typeface="Noto Sans CJK JP"/>
              </a:rPr>
              <a:t>Topic 33 空調・電熱の熱収支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2004"/>
          </a:xfrm>
          <a:prstGeom prst="rect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7680"/>
                </a:solidFill>
                <a:latin typeface="Noto Sans CJK JP"/>
              </a:rPr>
              <a:t>一次「機械」の電熱・熱移動・ヒートポンプを、熱収支で一つにまとめる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24612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5F40"/>
                </a:solidFill>
                <a:latin typeface="Noto Sans CJK JP"/>
              </a:rPr>
              <a:t>電気 → 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37943"/>
            <a:ext cx="291693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81C"/>
                </a:solidFill>
                <a:latin typeface="Noto Sans CJK JP"/>
              </a:rPr>
              <a:t>Q = Pt
P = I²R
Q = I²Rt
電力[W] × 時間[s] = 熱量[J]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325880"/>
            <a:ext cx="324612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435607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47CA8"/>
                </a:solidFill>
                <a:latin typeface="Noto Sans CJK JP"/>
              </a:rPr>
              <a:t>熱の移動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837943"/>
            <a:ext cx="291693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4181C"/>
                </a:solidFill>
                <a:latin typeface="Noto Sans CJK JP"/>
              </a:rPr>
              <a:t>伝導: kAΔT/L
対流: hAΔT
放射: εσS₁F₁₂(T₁⁴−T₂⁴)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24612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435607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F805B"/>
                </a:solidFill>
                <a:latin typeface="Noto Sans CJK JP"/>
              </a:rPr>
              <a:t>空調・ヒートポンプ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837943"/>
            <a:ext cx="291693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81C"/>
                </a:solidFill>
                <a:latin typeface="Noto Sans CJK JP"/>
              </a:rPr>
              <a:t>QH = QL + W
COPC = QL/W
COPH = QH/W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6576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3754"/>
                </a:solidFill>
                <a:latin typeface="Noto Sans CJK JP"/>
              </a:rPr>
              <a:t>試験で見る順序: 既知量 → 単位統一 → 熱収支 → 公式選択 → 数値代入 → 物理的検算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34840"/>
            <a:ext cx="4892040" cy="118872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544568"/>
            <a:ext cx="4562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4546A"/>
                </a:solidFill>
                <a:latin typeface="Noto Sans CJK JP"/>
              </a:rPr>
              <a:t>固定EXAM_ALIGNMENT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946904"/>
            <a:ext cx="4562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181C"/>
                </a:solidFill>
                <a:latin typeface="Noto Sans CJK JP"/>
              </a:rPr>
              <a:t>R8問6 / R3問7 / R1問7(ヒートポンプ行) / H30問4 / H27問4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434840"/>
            <a:ext cx="4892040" cy="118872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4544568"/>
            <a:ext cx="4562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4546A"/>
                </a:solidFill>
                <a:latin typeface="Noto Sans CJK JP"/>
              </a:rPr>
              <a:t>二次の扱い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946904"/>
            <a:ext cx="45628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181C"/>
                </a:solidFill>
                <a:latin typeface="Noto Sans CJK JP"/>
              </a:rPr>
              <a:t>公式「機械・制御」の範囲に電熱を含まないため、件数合わせの二次問題は追加しない。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E7680"/>
                </a:solidFill>
                <a:latin typeface="Noto Sans CJK JP"/>
              </a:rPr>
              <a:t>電験×新幹線 / Topic 33 空調・電熱の熱収支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E7680"/>
                </a:solidFill>
                <a:latin typeface="Noto Sans CJK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3754"/>
                </a:solidFill>
                <a:latin typeface="Noto Sans CJK JP"/>
              </a:rPr>
              <a:t>1. 電熱・顕熱・伝導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2004"/>
          </a:xfrm>
          <a:prstGeom prst="rect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7680"/>
                </a:solidFill>
                <a:latin typeface="Noto Sans CJK JP"/>
              </a:rPr>
              <a:t>R8 / R3 の計算を式の意味から選ぶ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85F40"/>
                </a:solidFill>
                <a:latin typeface="Noto Sans CJK JP"/>
              </a:rPr>
              <a:t>ジュール熱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46504"/>
            <a:ext cx="305409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81C"/>
                </a:solidFill>
                <a:latin typeface="Noto Sans CJK JP"/>
              </a:rPr>
              <a:t>P = I²R
Q = I²Rt
R[Ω], I[A], t[s]
1 hなら3600 sに直す。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23444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4416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47CA8"/>
                </a:solidFill>
                <a:latin typeface="Noto Sans CJK JP"/>
              </a:rPr>
              <a:t>物体の温度上昇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46504"/>
            <a:ext cx="305409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4181C"/>
                </a:solidFill>
                <a:latin typeface="Noto Sans CJK JP"/>
              </a:rPr>
              <a:t>Q = mcΔT
質量m[kg]、比熱c[J/(kg·K)]。
効率ηがあれば Quse = ηPt。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23444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34416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F805B"/>
                </a:solidFill>
                <a:latin typeface="Noto Sans CJK JP"/>
              </a:rPr>
              <a:t>一次元定常熱伝導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746504"/>
            <a:ext cx="305409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4181C"/>
                </a:solidFill>
                <a:latin typeface="Noto Sans CJK JP"/>
              </a:rPr>
              <a:t>Q̇cond = kAΔT/L
k[W/(m·K)]、A[m²]、L[m]。
厚いほど熱流率は小さい。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754"/>
                </a:solidFill>
                <a:latin typeface="Noto Sans CJK JP"/>
              </a:rPr>
              <a:t>熱平衡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47CA8"/>
                </a:solidFill>
                <a:latin typeface="Noto Sans CJK JP"/>
              </a:rPr>
              <a:t>定常なら ΣQ̇in = ΣQ̇out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3429000"/>
            <a:ext cx="530352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2472" y="3538728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4546A"/>
                </a:solidFill>
                <a:latin typeface="Noto Sans CJK JP"/>
              </a:rPr>
              <a:t>頻出ミス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3941064"/>
            <a:ext cx="49743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81C"/>
                </a:solidFill>
                <a:latin typeface="Noto Sans CJK JP"/>
              </a:rPr>
              <a:t>W=J/sなのに min・hをそのまま代入 / ηを分母に置く / 熱量[J]と熱流率[W]を混同 / ΔTと絶対温度を混同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E7680"/>
                </a:solidFill>
                <a:latin typeface="Noto Sans CJK JP"/>
              </a:rPr>
              <a:t>電験×新幹線 / Topic 33 空調・電熱の熱収支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E7680"/>
                </a:solidFill>
                <a:latin typeface="Noto Sans CJK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3754"/>
                </a:solidFill>
                <a:latin typeface="Noto Sans CJK JP"/>
              </a:rPr>
              <a:t>2. 対流・放射と電熱制御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2004"/>
          </a:xfrm>
          <a:prstGeom prst="rect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7680"/>
                </a:solidFill>
                <a:latin typeface="Noto Sans CJK JP"/>
              </a:rPr>
              <a:t>H30の伝導・対流・赤外放射・位相制御・高調波を接続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747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47CA8"/>
                </a:solidFill>
                <a:latin typeface="Noto Sans CJK JP"/>
              </a:rPr>
              <a:t>対流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314553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81C"/>
                </a:solidFill>
                <a:latin typeface="Noto Sans CJK JP"/>
              </a:rPr>
              <a:t>Q̇conv = hA(Tf−Ts)
流体が必要。真空中では対流しない。
熱流束は簡略化すれば温度差に比例。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34440"/>
            <a:ext cx="34747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344168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85F40"/>
                </a:solidFill>
                <a:latin typeface="Noto Sans CJK JP"/>
              </a:rPr>
              <a:t>放射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746504"/>
            <a:ext cx="314553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81C"/>
                </a:solidFill>
                <a:latin typeface="Noto Sans CJK JP"/>
              </a:rPr>
              <a:t>Q̇rad = εσS₁F₁₂(T₁⁴−T₂⁴)
Tは絶対温度[K]。
σはStefan–Boltzmann定数。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234440"/>
            <a:ext cx="34747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344168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F805B"/>
                </a:solidFill>
                <a:latin typeface="Noto Sans CJK JP"/>
              </a:rPr>
              <a:t>伝導との区別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746504"/>
            <a:ext cx="314553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81C"/>
                </a:solidFill>
                <a:latin typeface="Noto Sans CJK JP"/>
              </a:rPr>
              <a:t>伝導: 物質内部の温度勾配
対流: 流体運動＋熱伝達
放射: 電磁波。真空でも生じる。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703320"/>
            <a:ext cx="48006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6151" y="3813048"/>
            <a:ext cx="4471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5F40"/>
                </a:solidFill>
                <a:latin typeface="Noto Sans CJK JP"/>
              </a:rPr>
              <a:t>位相制御で電熱を調整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1" y="4215383"/>
            <a:ext cx="447141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181C"/>
                </a:solidFill>
                <a:latin typeface="Noto Sans CJK JP"/>
              </a:rPr>
              <a:t>交流電熱負荷の電力を位相制御で変える場合、波形は正弦波から崩れ、高調波を含む。平均的な発熱だけでなく電源側波形にも注意。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03320"/>
            <a:ext cx="48006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813048"/>
            <a:ext cx="4471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47CA8"/>
                </a:solidFill>
                <a:latin typeface="Noto Sans CJK JP"/>
              </a:rPr>
              <a:t>問題文の言い換えに対応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215383"/>
            <a:ext cx="447141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181C"/>
                </a:solidFill>
                <a:latin typeface="Noto Sans CJK JP"/>
              </a:rPr>
              <a:t>「赤外線」「電磁波」→放射 / 「流体と表面」→対流 / 「厚さ・熱伝導率」→伝導、と物理モデルへ戻す。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E7680"/>
                </a:solidFill>
                <a:latin typeface="Noto Sans CJK JP"/>
              </a:rPr>
              <a:t>電験×新幹線 / Topic 33 空調・電熱の熱収支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E7680"/>
                </a:solidFill>
                <a:latin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3754"/>
                </a:solidFill>
                <a:latin typeface="Noto Sans CJK JP"/>
              </a:rPr>
              <a:t>3. ヒートポンプとCOP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2004"/>
          </a:xfrm>
          <a:prstGeom prst="rect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7680"/>
                </a:solidFill>
                <a:latin typeface="Noto Sans CJK JP"/>
              </a:rPr>
              <a:t>H27 / R1：圧縮機・凝縮器・膨張弁・逆サイクルを熱収支で読む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1460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84248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47CA8"/>
                </a:solidFill>
                <a:latin typeface="Noto Sans CJK JP"/>
              </a:rPr>
              <a:t>低温側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86584"/>
            <a:ext cx="218541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81C"/>
                </a:solidFill>
                <a:latin typeface="Noto Sans CJK JP"/>
              </a:rPr>
              <a:t>吸収熱 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8032" y="1508760"/>
            <a:ext cx="2542032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92624" y="1618488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85F40"/>
                </a:solidFill>
                <a:latin typeface="Noto Sans CJK JP"/>
              </a:rPr>
              <a:t>圧縮機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2020824"/>
            <a:ext cx="2212848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81C"/>
                </a:solidFill>
                <a:latin typeface="Noto Sans CJK JP"/>
              </a:rPr>
              <a:t>入力仕事 W
電動機で駆動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874519"/>
            <a:ext cx="251460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984248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F805B"/>
                </a:solidFill>
                <a:latin typeface="Noto Sans CJK JP"/>
              </a:rPr>
              <a:t>高温側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386584"/>
            <a:ext cx="218541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181C"/>
                </a:solidFill>
                <a:latin typeface="Noto Sans CJK JP"/>
              </a:rPr>
              <a:t>放出熱 QH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21284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754"/>
                </a:solidFill>
                <a:latin typeface="Noto Sans CJK JP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21284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754"/>
                </a:solidFill>
                <a:latin typeface="Noto Sans CJK JP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822191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754"/>
                </a:solidFill>
                <a:latin typeface="Noto Sans CJK JP"/>
              </a:rPr>
              <a:t>QH = QL + 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434840"/>
            <a:ext cx="4709160" cy="109728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544568"/>
            <a:ext cx="43799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47CA8"/>
                </a:solidFill>
                <a:latin typeface="Noto Sans CJK JP"/>
              </a:rPr>
              <a:t>冷房COP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946904"/>
            <a:ext cx="437997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181C"/>
                </a:solidFill>
                <a:latin typeface="Noto Sans CJK JP"/>
              </a:rPr>
              <a:t>COPC = QL / 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434840"/>
            <a:ext cx="4709160" cy="109728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4544568"/>
            <a:ext cx="43799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F805B"/>
                </a:solidFill>
                <a:latin typeface="Noto Sans CJK JP"/>
              </a:rPr>
              <a:t>暖房COP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4946904"/>
            <a:ext cx="437997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4181C"/>
                </a:solidFill>
                <a:latin typeface="Noto Sans CJK JP"/>
              </a:rPr>
              <a:t>COPH = QH / W = COPC + 1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80644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E7680"/>
                </a:solidFill>
                <a:latin typeface="Noto Sans CJK JP"/>
              </a:rPr>
              <a:t>COP&gt;1は「効率100%超」ではない。外部から熱を移送するため。HFCはH27過去問固有知識として扱い、現行実車の冷媒仕様へ一般化しない。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E7680"/>
                </a:solidFill>
                <a:latin typeface="Noto Sans CJK JP"/>
              </a:rPr>
              <a:t>電験×新幹線 / Topic 33 空調・電熱の熱収支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E7680"/>
                </a:solidFill>
                <a:latin typeface="Noto Sans CJK JP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3754"/>
                </a:solidFill>
                <a:latin typeface="Noto Sans CJK JP"/>
              </a:rPr>
              <a:t>4. 空調負荷を熱収支で分解する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2004"/>
          </a:xfrm>
          <a:prstGeom prst="rect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7680"/>
                </a:solidFill>
                <a:latin typeface="Noto Sans CJK JP"/>
              </a:rPr>
              <a:t>実車値を推測せず、一般設計式として新幹線の車室へ接続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3401568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98448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47CA8"/>
                </a:solidFill>
                <a:latin typeface="Noto Sans CJK JP"/>
              </a:rPr>
              <a:t>外皮・貫流負荷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00784"/>
            <a:ext cx="307238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81C"/>
                </a:solidFill>
                <a:latin typeface="Noto Sans CJK JP"/>
              </a:rPr>
              <a:t>Q̇trans = UAΔT
U: 熱貫流率, A: 面積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01568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298448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F805B"/>
                </a:solidFill>
                <a:latin typeface="Noto Sans CJK JP"/>
              </a:rPr>
              <a:t>換気顕熱負荷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00784"/>
            <a:ext cx="307238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81C"/>
                </a:solidFill>
                <a:latin typeface="Noto Sans CJK JP"/>
              </a:rPr>
              <a:t>Q̇vent = ṁcpΔT
ṁ: 質量流量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401568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298448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85F40"/>
                </a:solidFill>
                <a:latin typeface="Noto Sans CJK JP"/>
              </a:rPr>
              <a:t>車内負荷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700784"/>
            <a:ext cx="3072384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81C"/>
                </a:solidFill>
                <a:latin typeface="Noto Sans CJK JP"/>
              </a:rPr>
              <a:t>乗客・照明・機器などの発熱を Q̇internal として加える。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27248"/>
            <a:ext cx="9875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3754"/>
                </a:solidFill>
                <a:latin typeface="Noto Sans CJK JP"/>
              </a:rPr>
              <a:t>Q̇load = Q̇outside + Q̇vent + Q̇internal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94760"/>
            <a:ext cx="8778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47CA8"/>
                </a:solidFill>
                <a:latin typeface="Noto Sans CJK JP"/>
              </a:rPr>
              <a:t>Pelec = Q̇target / COP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526280"/>
            <a:ext cx="4754880" cy="109728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636008"/>
            <a:ext cx="44256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Noto Sans CJK JP"/>
              </a:rPr>
              <a:t>車両への接続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5038344"/>
            <a:ext cx="442569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4181C"/>
                </a:solidFill>
                <a:latin typeface="Noto Sans CJK JP"/>
              </a:rPr>
              <a:t>車室を一つの制御体積として、外から入る熱・換気・内部発熱を合計し、必要な冷房能力と電力へ落とす。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526280"/>
            <a:ext cx="4754880" cy="109728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636008"/>
            <a:ext cx="44256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Noto Sans CJK JP"/>
              </a:rPr>
              <a:t>品質境界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5038344"/>
            <a:ext cx="4425696" cy="47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4181C"/>
                </a:solidFill>
                <a:latin typeface="Noto Sans CJK JP"/>
              </a:rPr>
              <a:t>空調能力、COP、換気量、U値、乗客発熱などの未確認実車値は真値化しない。教材例は仮定値と明示する。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E7680"/>
                </a:solidFill>
                <a:latin typeface="Noto Sans CJK JP"/>
              </a:rPr>
              <a:t>電験×新幹線 / Topic 33 空調・電熱の熱収支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E7680"/>
                </a:solidFill>
                <a:latin typeface="Noto Sans CJK JP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3754"/>
                </a:solidFill>
                <a:latin typeface="Noto Sans CJK JP"/>
              </a:rPr>
              <a:t>5. 本試験での解法フローと品質境界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2004"/>
          </a:xfrm>
          <a:prstGeom prst="rect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80160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0">
                <a:solidFill>
                  <a:srgbClr val="14181C"/>
                </a:solidFill>
                <a:latin typeface="Noto Sans CJK JP"/>
              </a:rPr>
              <a:t>既知量を抽出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79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93391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0">
                <a:solidFill>
                  <a:srgbClr val="14181C"/>
                </a:solidFill>
                <a:latin typeface="Noto Sans CJK JP"/>
              </a:rPr>
              <a:t>J / W / kW・秒へ単位統一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660904"/>
            <a:ext cx="502920" cy="502920"/>
          </a:xfrm>
          <a:prstGeom prst="ellipse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06624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0">
                <a:solidFill>
                  <a:srgbClr val="14181C"/>
                </a:solidFill>
                <a:latin typeface="Noto Sans CJK JP"/>
              </a:rPr>
              <a:t>伝導・対流・放射・ヒートポンプを判定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374136"/>
            <a:ext cx="502920" cy="502920"/>
          </a:xfrm>
          <a:prstGeom prst="ellipse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1985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0">
                <a:solidFill>
                  <a:srgbClr val="14181C"/>
                </a:solidFill>
                <a:latin typeface="Noto Sans CJK JP"/>
              </a:rPr>
              <a:t>熱収支を立てる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87368"/>
            <a:ext cx="502920" cy="502920"/>
          </a:xfrm>
          <a:prstGeom prst="ellipse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33088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0">
                <a:solidFill>
                  <a:srgbClr val="14181C"/>
                </a:solidFill>
                <a:latin typeface="Noto Sans CJK JP"/>
              </a:rPr>
              <a:t>公式を選び、求める量へ変形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24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846320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0">
                <a:solidFill>
                  <a:srgbClr val="14181C"/>
                </a:solidFill>
                <a:latin typeface="Noto Sans CJK JP"/>
              </a:rPr>
              <a:t>数値代入 → 桁・単位・物理的妥当性を検算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234440"/>
            <a:ext cx="4800600" cy="205740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1344168"/>
            <a:ext cx="4471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4"/>
                </a:solidFill>
                <a:latin typeface="Noto Sans CJK JP"/>
              </a:rPr>
              <a:t>固定過去問への接続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1746504"/>
            <a:ext cx="4471416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14181C"/>
                </a:solidFill>
                <a:latin typeface="Noto Sans CJK JP"/>
              </a:rPr>
              <a:t>R8問6: 電熱・熱伝導・水加熱・放射
R3問7: 熱平衡・伝導・対流・放射
R1問7: 圧縮機駆動・凝縮器側加熱
H30問4: 位相制御・高調波・伝導・放射・対流
H27問4: 冷凍サイクル・COP・HFC過去問固有知識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657600"/>
            <a:ext cx="48006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767328"/>
            <a:ext cx="4471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F805B"/>
                </a:solidFill>
                <a:latin typeface="Noto Sans CJK JP"/>
              </a:rPr>
              <a:t>SPEC 7項目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169664"/>
            <a:ext cx="4471416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81C"/>
                </a:solidFill>
                <a:latin typeface="Noto Sans CJK JP"/>
              </a:rPr>
              <a:t>熱量 / 熱収支 / COP / 消費電力 / 外気負荷 / 車内負荷 / 効率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413248"/>
            <a:ext cx="4526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E7680"/>
                </a:solidFill>
                <a:latin typeface="Noto Sans CJK JP"/>
              </a:rPr>
              <a:t>固定EXAM_ALIGNMENT変更 0件
未確認実車値の真値化 0件
Topic 21一般式変更 0件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E7680"/>
                </a:solidFill>
                <a:latin typeface="Noto Sans CJK JP"/>
              </a:rPr>
              <a:t>電験×新幹線 / Topic 33 空調・電熱の熱収支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E7680"/>
                </a:solidFill>
                <a:latin typeface="Noto Sans CJK JP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