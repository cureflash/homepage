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350000" y="180000"/>
            <a:ext cx="11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500" b="1">
                <a:solidFill>
                  <a:srgbClr val="1F4E79"/>
                </a:solidFill>
              </a:rPr>
              <a:t>Topic 07 直流主回路の高出力化</a:t>
            </a:r>
            <a:endParaRPr lang="ja-JP" sz="2500"/>
          </a:p>
        </p:txBody>
      </p:sp>
      <p:sp>
        <p:nvSpPr>
          <p:cNvPr id="3" name="Shape 3"/>
          <p:cNvSpPr txBox="1"/>
          <p:nvPr/>
        </p:nvSpPr>
        <p:spPr>
          <a:xfrm>
            <a:off x="380000" y="69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050" b="0">
                <a:solidFill>
                  <a:srgbClr val="606060"/>
                </a:solidFill>
              </a:rPr>
              <a:t>固定EXAM_ALIGNMENT：一次4問＋二次1問・15対象項目</a:t>
            </a:r>
            <a:endParaRPr lang="ja-JP" sz="1050"/>
          </a:p>
        </p:txBody>
      </p:sp>
      <p:sp>
        <p:nvSpPr>
          <p:cNvPr id="10" name="Shape 10"/>
          <p:cNvSpPr txBox="1"/>
          <p:nvPr/>
        </p:nvSpPr>
        <p:spPr>
          <a:xfrm>
            <a:off x="500000" y="1350000"/>
            <a:ext cx="1600000" cy="6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ja-JP" sz="1400" b="1">
                <a:solidFill>
                  <a:srgbClr val="FFFFFF"/>
                </a:solidFill>
              </a:rPr>
              <a:t>交流入力</a:t>
            </a:r>
            <a:endParaRPr lang="ja-JP" sz="1400"/>
          </a:p>
        </p:txBody>
      </p:sp>
      <p:sp>
        <p:nvSpPr>
          <p:cNvPr id="11" name="Shape 11"/>
          <p:cNvSpPr txBox="1"/>
          <p:nvPr/>
        </p:nvSpPr>
        <p:spPr>
          <a:xfrm>
            <a:off x="2600000" y="1350000"/>
            <a:ext cx="1600000" cy="6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ja-JP" sz="1400" b="1">
                <a:solidFill>
                  <a:srgbClr val="FFFFFF"/>
                </a:solidFill>
              </a:rPr>
              <a:t>主変圧器</a:t>
            </a:r>
            <a:endParaRPr lang="ja-JP" sz="1400"/>
          </a:p>
        </p:txBody>
      </p:sp>
      <p:sp>
        <p:nvSpPr>
          <p:cNvPr id="12" name="Shape 12"/>
          <p:cNvSpPr txBox="1"/>
          <p:nvPr/>
        </p:nvSpPr>
        <p:spPr>
          <a:xfrm>
            <a:off x="4700000" y="1350000"/>
            <a:ext cx="1600000" cy="6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ja-JP" sz="1400" b="1">
                <a:solidFill>
                  <a:srgbClr val="FFFFFF"/>
                </a:solidFill>
              </a:rPr>
              <a:t>整流部</a:t>
            </a:r>
            <a:endParaRPr lang="ja-JP" sz="1400"/>
          </a:p>
        </p:txBody>
      </p:sp>
      <p:sp>
        <p:nvSpPr>
          <p:cNvPr id="13" name="Shape 13"/>
          <p:cNvSpPr txBox="1"/>
          <p:nvPr/>
        </p:nvSpPr>
        <p:spPr>
          <a:xfrm>
            <a:off x="6800000" y="1350000"/>
            <a:ext cx="2100000" cy="6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ja-JP" sz="1400" b="1">
                <a:solidFill>
                  <a:srgbClr val="FFFFFF"/>
                </a:solidFill>
              </a:rPr>
              <a:t>直流主電動機</a:t>
            </a:r>
            <a:endParaRPr lang="ja-JP" sz="1400"/>
          </a:p>
        </p:txBody>
      </p:sp>
      <p:sp>
        <p:nvSpPr>
          <p:cNvPr id="14" name="Shape 14"/>
          <p:cNvSpPr txBox="1"/>
          <p:nvPr/>
        </p:nvSpPr>
        <p:spPr>
          <a:xfrm>
            <a:off x="9500000" y="1350000"/>
            <a:ext cx="1600000" cy="6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ja-JP" sz="1400" b="1">
                <a:solidFill>
                  <a:srgbClr val="FFFFFF"/>
                </a:solidFill>
              </a:rPr>
              <a:t>軸出力</a:t>
            </a:r>
            <a:endParaRPr lang="ja-JP" sz="1400"/>
          </a:p>
        </p:txBody>
      </p:sp>
      <p:sp>
        <p:nvSpPr>
          <p:cNvPr id="15" name="Shape 15"/>
          <p:cNvSpPr txBox="1"/>
          <p:nvPr/>
        </p:nvSpPr>
        <p:spPr>
          <a:xfrm>
            <a:off x="2200000" y="144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800" b="1">
                <a:solidFill>
                  <a:srgbClr val="404040"/>
                </a:solidFill>
              </a:rPr>
              <a:t>→</a:t>
            </a:r>
            <a:endParaRPr lang="ja-JP" sz="1800"/>
          </a:p>
        </p:txBody>
      </p:sp>
      <p:sp>
        <p:nvSpPr>
          <p:cNvPr id="16" name="Shape 16"/>
          <p:cNvSpPr txBox="1"/>
          <p:nvPr/>
        </p:nvSpPr>
        <p:spPr>
          <a:xfrm>
            <a:off x="4300000" y="144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800" b="1">
                <a:solidFill>
                  <a:srgbClr val="404040"/>
                </a:solidFill>
              </a:rPr>
              <a:t>→</a:t>
            </a:r>
            <a:endParaRPr lang="ja-JP" sz="1800"/>
          </a:p>
        </p:txBody>
      </p:sp>
      <p:sp>
        <p:nvSpPr>
          <p:cNvPr id="17" name="Shape 17"/>
          <p:cNvSpPr txBox="1"/>
          <p:nvPr/>
        </p:nvSpPr>
        <p:spPr>
          <a:xfrm>
            <a:off x="6400000" y="144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800" b="1">
                <a:solidFill>
                  <a:srgbClr val="404040"/>
                </a:solidFill>
              </a:rPr>
              <a:t>→</a:t>
            </a:r>
            <a:endParaRPr lang="ja-JP" sz="1800"/>
          </a:p>
        </p:txBody>
      </p:sp>
      <p:sp>
        <p:nvSpPr>
          <p:cNvPr id="18" name="Shape 18"/>
          <p:cNvSpPr txBox="1"/>
          <p:nvPr/>
        </p:nvSpPr>
        <p:spPr>
          <a:xfrm>
            <a:off x="9100000" y="144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800" b="1">
                <a:solidFill>
                  <a:srgbClr val="404040"/>
                </a:solidFill>
              </a:rPr>
              <a:t>→</a:t>
            </a:r>
            <a:endParaRPr lang="ja-JP" sz="1800"/>
          </a:p>
        </p:txBody>
      </p:sp>
      <p:sp>
        <p:nvSpPr>
          <p:cNvPr id="19" name="Shape 19"/>
          <p:cNvSpPr txBox="1"/>
          <p:nvPr/>
        </p:nvSpPr>
        <p:spPr>
          <a:xfrm>
            <a:off x="550000" y="2400000"/>
            <a:ext cx="540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750" b="1">
                <a:solidFill>
                  <a:srgbClr val="202020"/>
                </a:solidFill>
              </a:rPr>
              <a:t>電力収支</a:t>
            </a:r>
            <a:endParaRPr lang="ja-JP" sz="1750"/>
          </a:p>
          <a:p>
            <a:pPr algn="l"/>
            <a:r>
              <a:rPr lang="ja-JP" sz="1750" b="1">
                <a:solidFill>
                  <a:srgbClr val="202020"/>
                </a:solidFill>
              </a:rPr>
              <a:t>P_in = VI</a:t>
            </a:r>
            <a:endParaRPr lang="ja-JP" sz="1750"/>
          </a:p>
          <a:p>
            <a:pPr algn="l"/>
            <a:r>
              <a:rPr lang="ja-JP" sz="1750" b="1">
                <a:solidFill>
                  <a:srgbClr val="202020"/>
                </a:solidFill>
              </a:rPr>
              <a:t>P_loss = P_in − P_out</a:t>
            </a:r>
            <a:endParaRPr lang="ja-JP" sz="1750"/>
          </a:p>
          <a:p>
            <a:pPr algn="l"/>
            <a:r>
              <a:rPr lang="ja-JP" sz="1750" b="1">
                <a:solidFill>
                  <a:srgbClr val="202020"/>
                </a:solidFill>
              </a:rPr>
              <a:t>η = P_out / P_in</a:t>
            </a:r>
            <a:endParaRPr lang="ja-JP" sz="1750"/>
          </a:p>
          <a:p>
            <a:pPr algn="l"/>
            <a:r>
              <a:rPr lang="ja-JP" sz="1750" b="1">
                <a:solidFill>
                  <a:srgbClr val="202020"/>
                </a:solidFill>
              </a:rPr>
              <a:t>E = V − I_a R_a − V_b</a:t>
            </a:r>
            <a:endParaRPr lang="ja-JP" sz="1750"/>
          </a:p>
        </p:txBody>
      </p:sp>
      <p:sp>
        <p:nvSpPr>
          <p:cNvPr id="20" name="Shape 20"/>
          <p:cNvSpPr txBox="1"/>
          <p:nvPr/>
        </p:nvSpPr>
        <p:spPr>
          <a:xfrm>
            <a:off x="6250000" y="2400000"/>
            <a:ext cx="5400000" cy="22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450" b="0">
                <a:solidFill>
                  <a:srgbClr val="202020"/>
                </a:solidFill>
              </a:rPr>
              <a:t>試験でつなぐ関係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直巻機：未飽和域 T ∝ I_a² → 大きな始動トルク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負荷率：出力 ∝ m、負荷損 ∝ m²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高速化：P = Fv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高出力化は電圧・電流・損失・冷却を同時に見る</a:t>
            </a:r>
            <a:endParaRPr lang="ja-JP" sz="1450"/>
          </a:p>
        </p:txBody>
      </p:sp>
      <p:sp>
        <p:nvSpPr>
          <p:cNvPr id="21" name="Shape 21"/>
          <p:cNvSpPr txBox="1"/>
          <p:nvPr/>
        </p:nvSpPr>
        <p:spPr>
          <a:xfrm>
            <a:off x="550000" y="5100000"/>
            <a:ext cx="11000000" cy="7000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anchor="ctr"/>
          <a:lstStyle/>
          <a:p>
            <a:pPr algn="l"/>
            <a:r>
              <a:rPr lang="ja-JP" sz="1350" b="1">
                <a:solidFill>
                  <a:srgbClr val="9C0006"/>
                </a:solidFill>
              </a:rPr>
              <a:t>範囲外：位相制御・誘導機・VVVF・回生・IGBT/SiC・詳細熱設計</a:t>
            </a:r>
            <a:endParaRPr lang="ja-JP" sz="1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350000" y="180000"/>
            <a:ext cx="11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500" b="1">
                <a:solidFill>
                  <a:srgbClr val="1F4E79"/>
                </a:solidFill>
              </a:rPr>
              <a:t>世代別主電動機出力比較</a:t>
            </a:r>
            <a:endParaRPr lang="ja-JP" sz="2500"/>
          </a:p>
        </p:txBody>
      </p:sp>
      <p:sp>
        <p:nvSpPr>
          <p:cNvPr id="3" name="Shape 3"/>
          <p:cNvSpPr txBox="1"/>
          <p:nvPr/>
        </p:nvSpPr>
        <p:spPr>
          <a:xfrm>
            <a:off x="380000" y="69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050" b="0">
                <a:solidFill>
                  <a:srgbClr val="606060"/>
                </a:solidFill>
              </a:rPr>
              <a:t>確認済み実車値のみ。編成出力・主回路総損失は推定しない。</a:t>
            </a:r>
            <a:endParaRPr lang="ja-JP" sz="1050"/>
          </a:p>
        </p:txBody>
      </p:sp>
      <p:cxnSp>
        <p:nvCxnSpPr>
          <p:cNvPr id="10" name="Line 10"/>
          <p:cNvCxnSpPr/>
          <p:nvPr/>
        </p:nvCxnSpPr>
        <p:spPr>
          <a:xfrm>
            <a:off x="2600000" y="5350000"/>
            <a:ext cx="5900000" cy="1"/>
          </a:xfrm>
          <a:prstGeom prst="line">
            <a:avLst/>
          </a:prstGeom>
          <a:ln w="16000">
            <a:solidFill>
              <a:srgbClr val="404040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600000" y="1450000"/>
            <a:ext cx="1" cy="3900000"/>
          </a:xfrm>
          <a:prstGeom prst="line">
            <a:avLst/>
          </a:prstGeom>
          <a:ln w="16000">
            <a:solidFill>
              <a:srgbClr val="404040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500000" y="170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350" b="1">
                <a:solidFill>
                  <a:srgbClr val="202020"/>
                </a:solidFill>
              </a:rPr>
              <a:t>0系 MT200B</a:t>
            </a:r>
            <a:endParaRPr lang="ja-JP" sz="1350"/>
          </a:p>
        </p:txBody>
      </p:sp>
      <p:sp>
        <p:nvSpPr>
          <p:cNvPr id="13" name="Rect 13"/>
          <p:cNvSpPr/>
          <p:nvPr/>
        </p:nvSpPr>
        <p:spPr>
          <a:xfrm>
            <a:off x="2600000" y="1700000"/>
            <a:ext cx="3848000" cy="52000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6548000" y="1700000"/>
            <a:ext cx="8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250" b="1">
                <a:solidFill>
                  <a:srgbClr val="202020"/>
                </a:solidFill>
              </a:rPr>
              <a:t>185 kW</a:t>
            </a:r>
            <a:endParaRPr lang="ja-JP" sz="1250"/>
          </a:p>
        </p:txBody>
      </p:sp>
      <p:sp>
        <p:nvSpPr>
          <p:cNvPr id="15" name="Shape 15"/>
          <p:cNvSpPr txBox="1"/>
          <p:nvPr/>
        </p:nvSpPr>
        <p:spPr>
          <a:xfrm>
            <a:off x="8700000" y="1700000"/>
            <a:ext cx="31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050" b="0">
                <a:solidFill>
                  <a:srgbClr val="202020"/>
                </a:solidFill>
              </a:rPr>
              <a:t>415 V / 490 A / 2,200 rpm / 自己通風</a:t>
            </a:r>
            <a:endParaRPr lang="ja-JP" sz="1050"/>
          </a:p>
        </p:txBody>
      </p:sp>
      <p:sp>
        <p:nvSpPr>
          <p:cNvPr id="16" name="Shape 16"/>
          <p:cNvSpPr txBox="1"/>
          <p:nvPr/>
        </p:nvSpPr>
        <p:spPr>
          <a:xfrm>
            <a:off x="500000" y="285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350" b="1">
                <a:solidFill>
                  <a:srgbClr val="202020"/>
                </a:solidFill>
              </a:rPr>
              <a:t>100系 MT202</a:t>
            </a:r>
            <a:endParaRPr lang="ja-JP" sz="1350"/>
          </a:p>
        </p:txBody>
      </p:sp>
      <p:sp>
        <p:nvSpPr>
          <p:cNvPr id="17" name="Rect 17"/>
          <p:cNvSpPr/>
          <p:nvPr/>
        </p:nvSpPr>
        <p:spPr>
          <a:xfrm>
            <a:off x="2600000" y="2850000"/>
            <a:ext cx="4784000" cy="520000"/>
          </a:xfrm>
          <a:prstGeom prst="rect">
            <a:avLst/>
          </a:prstGeom>
          <a:solidFill>
            <a:srgbClr val="70AD47"/>
          </a:solidFill>
          <a:ln>
            <a:solidFill>
              <a:srgbClr val="5B9BD5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7484000" y="2850000"/>
            <a:ext cx="8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250" b="1">
                <a:solidFill>
                  <a:srgbClr val="202020"/>
                </a:solidFill>
              </a:rPr>
              <a:t>230 kW</a:t>
            </a:r>
            <a:endParaRPr lang="ja-JP" sz="1250"/>
          </a:p>
        </p:txBody>
      </p:sp>
      <p:sp>
        <p:nvSpPr>
          <p:cNvPr id="19" name="Shape 19"/>
          <p:cNvSpPr txBox="1"/>
          <p:nvPr/>
        </p:nvSpPr>
        <p:spPr>
          <a:xfrm>
            <a:off x="8700000" y="2850000"/>
            <a:ext cx="31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050" b="0">
                <a:solidFill>
                  <a:srgbClr val="202020"/>
                </a:solidFill>
              </a:rPr>
              <a:t>625 V / 405 A / 2,900 rpm / 他力通風</a:t>
            </a:r>
            <a:endParaRPr lang="ja-JP" sz="1050"/>
          </a:p>
        </p:txBody>
      </p:sp>
      <p:sp>
        <p:nvSpPr>
          <p:cNvPr id="20" name="Shape 20"/>
          <p:cNvSpPr txBox="1"/>
          <p:nvPr/>
        </p:nvSpPr>
        <p:spPr>
          <a:xfrm>
            <a:off x="500000" y="400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350" b="1">
                <a:solidFill>
                  <a:srgbClr val="202020"/>
                </a:solidFill>
              </a:rPr>
              <a:t>200系 MT201</a:t>
            </a:r>
            <a:endParaRPr lang="ja-JP" sz="1350"/>
          </a:p>
        </p:txBody>
      </p:sp>
      <p:sp>
        <p:nvSpPr>
          <p:cNvPr id="21" name="Rect 21"/>
          <p:cNvSpPr/>
          <p:nvPr/>
        </p:nvSpPr>
        <p:spPr>
          <a:xfrm>
            <a:off x="2600000" y="4000000"/>
            <a:ext cx="4784000" cy="520000"/>
          </a:xfrm>
          <a:prstGeom prst="rect">
            <a:avLst/>
          </a:prstGeom>
          <a:solidFill>
            <a:srgbClr val="70AD47"/>
          </a:solidFill>
          <a:ln>
            <a:solidFill>
              <a:srgbClr val="5B9BD5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7484000" y="4000000"/>
            <a:ext cx="8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250" b="1">
                <a:solidFill>
                  <a:srgbClr val="202020"/>
                </a:solidFill>
              </a:rPr>
              <a:t>230 kW</a:t>
            </a:r>
            <a:endParaRPr lang="ja-JP" sz="1250"/>
          </a:p>
        </p:txBody>
      </p:sp>
      <p:sp>
        <p:nvSpPr>
          <p:cNvPr id="23" name="Shape 23"/>
          <p:cNvSpPr txBox="1"/>
          <p:nvPr/>
        </p:nvSpPr>
        <p:spPr>
          <a:xfrm>
            <a:off x="8700000" y="4000000"/>
            <a:ext cx="31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050" b="0">
                <a:solidFill>
                  <a:srgbClr val="202020"/>
                </a:solidFill>
              </a:rPr>
              <a:t>475 V / 530 A / 2,150 rpm / 強制風冷14 m³/min</a:t>
            </a:r>
            <a:endParaRPr lang="ja-JP" sz="1050"/>
          </a:p>
        </p:txBody>
      </p:sp>
      <p:sp>
        <p:nvSpPr>
          <p:cNvPr id="24" name="Shape 24"/>
          <p:cNvSpPr txBox="1"/>
          <p:nvPr/>
        </p:nvSpPr>
        <p:spPr>
          <a:xfrm>
            <a:off x="600000" y="5700000"/>
            <a:ext cx="10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450" b="1">
                <a:solidFill>
                  <a:srgbClr val="1F4E79"/>
                </a:solidFill>
              </a:rPr>
              <a:t>185 → 230 kW：1台当たり連続定格出力 約24.3%増。高出力化＝電流増加だけではない。</a:t>
            </a:r>
            <a:endParaRPr lang="ja-JP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350000" y="180000"/>
            <a:ext cx="11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500" b="1">
                <a:solidFill>
                  <a:srgbClr val="1F4E79"/>
                </a:solidFill>
              </a:rPr>
              <a:t>出力―損失</a:t>
            </a:r>
            <a:endParaRPr lang="ja-JP" sz="2500"/>
          </a:p>
        </p:txBody>
      </p:sp>
      <p:sp>
        <p:nvSpPr>
          <p:cNvPr id="3" name="Shape 3"/>
          <p:cNvSpPr txBox="1"/>
          <p:nvPr/>
        </p:nvSpPr>
        <p:spPr>
          <a:xfrm>
            <a:off x="380000" y="69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050" b="0">
                <a:solidFill>
                  <a:srgbClr val="606060"/>
                </a:solidFill>
              </a:rPr>
              <a:t>教材用仮定モデル（実車損失値ではない）：P_out=230m [kW], P_loss=8+12m² [kW]</a:t>
            </a:r>
            <a:endParaRPr lang="ja-JP" sz="1050"/>
          </a:p>
        </p:txBody>
      </p:sp>
      <p:cxnSp>
        <p:nvCxnSpPr>
          <p:cNvPr id="10" name="Line 10"/>
          <p:cNvCxnSpPr/>
          <p:nvPr/>
        </p:nvCxnSpPr>
        <p:spPr>
          <a:xfrm>
            <a:off x="900000" y="5400000"/>
            <a:ext cx="6200000" cy="1"/>
          </a:xfrm>
          <a:prstGeom prst="line">
            <a:avLst/>
          </a:prstGeom>
          <a:ln w="16000">
            <a:solidFill>
              <a:srgbClr val="404040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900000" y="1900000"/>
            <a:ext cx="1" cy="3500000"/>
          </a:xfrm>
          <a:prstGeom prst="line">
            <a:avLst/>
          </a:prstGeom>
          <a:ln w="16000">
            <a:solidFill>
              <a:srgbClr val="404040"/>
            </a:solidFill>
          </a:ln>
        </p:spPr>
      </p:cxnSp>
      <p:cxnSp>
        <p:nvCxnSpPr>
          <p:cNvPr id="12" name="Line 12"/>
          <p:cNvCxnSpPr/>
          <p:nvPr/>
        </p:nvCxnSpPr>
        <p:spPr>
          <a:xfrm flipV="1">
            <a:off x="2140000" y="3664000"/>
            <a:ext cx="1240000" cy="252000"/>
          </a:xfrm>
          <a:prstGeom prst="line">
            <a:avLst/>
          </a:prstGeom>
          <a:ln w="30000">
            <a:solidFill>
              <a:srgbClr val="ED7D31"/>
            </a:solidFill>
          </a:ln>
        </p:spPr>
      </p:cxnSp>
      <p:cxnSp>
        <p:nvCxnSpPr>
          <p:cNvPr id="13" name="Line 13"/>
          <p:cNvCxnSpPr/>
          <p:nvPr/>
        </p:nvCxnSpPr>
        <p:spPr>
          <a:xfrm flipV="1">
            <a:off x="3380000" y="3244000"/>
            <a:ext cx="1240000" cy="420000"/>
          </a:xfrm>
          <a:prstGeom prst="line">
            <a:avLst/>
          </a:prstGeom>
          <a:ln w="30000">
            <a:solidFill>
              <a:srgbClr val="ED7D31"/>
            </a:solidFill>
          </a:ln>
        </p:spPr>
      </p:cxnSp>
      <p:cxnSp>
        <p:nvCxnSpPr>
          <p:cNvPr id="14" name="Line 14"/>
          <p:cNvCxnSpPr/>
          <p:nvPr/>
        </p:nvCxnSpPr>
        <p:spPr>
          <a:xfrm flipV="1">
            <a:off x="4620000" y="2655999"/>
            <a:ext cx="1240000" cy="588001"/>
          </a:xfrm>
          <a:prstGeom prst="line">
            <a:avLst/>
          </a:prstGeom>
          <a:ln w="30000">
            <a:solidFill>
              <a:srgbClr val="ED7D31"/>
            </a:solidFill>
          </a:ln>
        </p:spPr>
      </p:cxnSp>
      <p:cxnSp>
        <p:nvCxnSpPr>
          <p:cNvPr id="15" name="Line 15"/>
          <p:cNvCxnSpPr/>
          <p:nvPr/>
        </p:nvCxnSpPr>
        <p:spPr>
          <a:xfrm flipV="1">
            <a:off x="5860000" y="1900000"/>
            <a:ext cx="1240000" cy="755999"/>
          </a:xfrm>
          <a:prstGeom prst="line">
            <a:avLst/>
          </a:prstGeom>
          <a:ln w="30000">
            <a:solidFill>
              <a:srgbClr val="ED7D31"/>
            </a:solidFill>
          </a:ln>
        </p:spPr>
      </p:cxnSp>
      <p:sp>
        <p:nvSpPr>
          <p:cNvPr id="16" name="Rect 16"/>
          <p:cNvSpPr/>
          <p:nvPr/>
        </p:nvSpPr>
        <p:spPr>
          <a:xfrm>
            <a:off x="2070000" y="3846000"/>
            <a:ext cx="140000" cy="140000"/>
          </a:xfrm>
          <a:prstGeom prst="rect">
            <a:avLst/>
          </a:prstGeom>
          <a:solidFill>
            <a:srgbClr val="ED7D31"/>
          </a:solidFill>
          <a:ln>
            <a:solidFill>
              <a:srgbClr val="5B9BD5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890000" y="3486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900" b="1">
                <a:solidFill>
                  <a:srgbClr val="202020"/>
                </a:solidFill>
              </a:rPr>
              <a:t>8.5</a:t>
            </a:r>
            <a:endParaRPr lang="ja-JP" sz="900"/>
          </a:p>
        </p:txBody>
      </p:sp>
      <p:sp>
        <p:nvSpPr>
          <p:cNvPr id="18" name="Rect 18"/>
          <p:cNvSpPr/>
          <p:nvPr/>
        </p:nvSpPr>
        <p:spPr>
          <a:xfrm>
            <a:off x="3310000" y="3594000"/>
            <a:ext cx="140000" cy="140000"/>
          </a:xfrm>
          <a:prstGeom prst="rect">
            <a:avLst/>
          </a:prstGeom>
          <a:solidFill>
            <a:srgbClr val="ED7D31"/>
          </a:solidFill>
          <a:ln>
            <a:solidFill>
              <a:srgbClr val="5B9BD5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3130000" y="3234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900" b="1">
                <a:solidFill>
                  <a:srgbClr val="202020"/>
                </a:solidFill>
              </a:rPr>
              <a:t>9.9</a:t>
            </a:r>
            <a:endParaRPr lang="ja-JP" sz="900"/>
          </a:p>
        </p:txBody>
      </p:sp>
      <p:sp>
        <p:nvSpPr>
          <p:cNvPr id="20" name="Rect 20"/>
          <p:cNvSpPr/>
          <p:nvPr/>
        </p:nvSpPr>
        <p:spPr>
          <a:xfrm>
            <a:off x="4550000" y="3174000"/>
            <a:ext cx="140000" cy="140000"/>
          </a:xfrm>
          <a:prstGeom prst="rect">
            <a:avLst/>
          </a:prstGeom>
          <a:solidFill>
            <a:srgbClr val="ED7D31"/>
          </a:solidFill>
          <a:ln>
            <a:solidFill>
              <a:srgbClr val="5B9BD5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4370000" y="2814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900" b="1">
                <a:solidFill>
                  <a:srgbClr val="202020"/>
                </a:solidFill>
              </a:rPr>
              <a:t>12.3</a:t>
            </a:r>
            <a:endParaRPr lang="ja-JP" sz="900"/>
          </a:p>
        </p:txBody>
      </p:sp>
      <p:sp>
        <p:nvSpPr>
          <p:cNvPr id="22" name="Rect 22"/>
          <p:cNvSpPr/>
          <p:nvPr/>
        </p:nvSpPr>
        <p:spPr>
          <a:xfrm>
            <a:off x="5790000" y="2585999"/>
            <a:ext cx="140000" cy="140000"/>
          </a:xfrm>
          <a:prstGeom prst="rect">
            <a:avLst/>
          </a:prstGeom>
          <a:solidFill>
            <a:srgbClr val="ED7D31"/>
          </a:solidFill>
          <a:ln>
            <a:solidFill>
              <a:srgbClr val="5B9BD5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5610000" y="2225999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900" b="1">
                <a:solidFill>
                  <a:srgbClr val="202020"/>
                </a:solidFill>
              </a:rPr>
              <a:t>15.7</a:t>
            </a:r>
            <a:endParaRPr lang="ja-JP" sz="900"/>
          </a:p>
        </p:txBody>
      </p:sp>
      <p:sp>
        <p:nvSpPr>
          <p:cNvPr id="24" name="Rect 24"/>
          <p:cNvSpPr/>
          <p:nvPr/>
        </p:nvSpPr>
        <p:spPr>
          <a:xfrm>
            <a:off x="7030000" y="1830000"/>
            <a:ext cx="140000" cy="140000"/>
          </a:xfrm>
          <a:prstGeom prst="rect">
            <a:avLst/>
          </a:prstGeom>
          <a:solidFill>
            <a:srgbClr val="ED7D31"/>
          </a:solidFill>
          <a:ln>
            <a:solidFill>
              <a:srgbClr val="5B9BD5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6850000" y="147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900" b="1">
                <a:solidFill>
                  <a:srgbClr val="202020"/>
                </a:solidFill>
              </a:rPr>
              <a:t>20.0</a:t>
            </a:r>
            <a:endParaRPr lang="ja-JP" sz="900"/>
          </a:p>
        </p:txBody>
      </p:sp>
      <p:sp>
        <p:nvSpPr>
          <p:cNvPr id="26" name="Shape 26"/>
          <p:cNvSpPr txBox="1"/>
          <p:nvPr/>
        </p:nvSpPr>
        <p:spPr>
          <a:xfrm>
            <a:off x="2600000" y="5500000"/>
            <a:ext cx="30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100" b="1">
                <a:solidFill>
                  <a:srgbClr val="404040"/>
                </a:solidFill>
              </a:rPr>
              <a:t>出力 P_out [kW]</a:t>
            </a:r>
            <a:endParaRPr lang="ja-JP" sz="1100"/>
          </a:p>
        </p:txBody>
      </p:sp>
      <p:sp>
        <p:nvSpPr>
          <p:cNvPr id="27" name="Shape 27"/>
          <p:cNvSpPr txBox="1"/>
          <p:nvPr/>
        </p:nvSpPr>
        <p:spPr>
          <a:xfrm>
            <a:off x="7500000" y="1500000"/>
            <a:ext cx="4400000" cy="32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450" b="0">
                <a:solidFill>
                  <a:srgbClr val="202020"/>
                </a:solidFill>
              </a:rPr>
              <a:t>H21一次の要点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・出力：m S_n cosφ（一次比例）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・負荷損：m² P_c（二乗比例）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/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I²R感度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電流10%増 → 銅損1.21倍（21%増）</a:t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/>
            </a:r>
            <a:endParaRPr lang="ja-JP" sz="1450"/>
          </a:p>
          <a:p>
            <a:pPr algn="l"/>
            <a:r>
              <a:rPr lang="ja-JP" sz="1450" b="0">
                <a:solidFill>
                  <a:srgbClr val="202020"/>
                </a:solidFill>
              </a:rPr>
              <a:t>固定損・負荷損・規約効率へ接続</a:t>
            </a:r>
            <a:endParaRPr lang="ja-JP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350000" y="180000"/>
            <a:ext cx="11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500" b="1">
                <a:solidFill>
                  <a:srgbClr val="1F4E79"/>
                </a:solidFill>
              </a:rPr>
              <a:t>出力―発熱・冷却／H24二次</a:t>
            </a:r>
            <a:endParaRPr lang="ja-JP" sz="2500"/>
          </a:p>
        </p:txBody>
      </p:sp>
      <p:sp>
        <p:nvSpPr>
          <p:cNvPr id="3" name="Shape 3"/>
          <p:cNvSpPr txBox="1"/>
          <p:nvPr/>
        </p:nvSpPr>
        <p:spPr>
          <a:xfrm>
            <a:off x="380000" y="69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050" b="0">
                <a:solidFill>
                  <a:srgbClr val="606060"/>
                </a:solidFill>
              </a:rPr>
              <a:t>P_heat ≈ P_loss。詳細熱モデルには進まない。</a:t>
            </a:r>
            <a:endParaRPr lang="ja-JP" sz="1050"/>
          </a:p>
        </p:txBody>
      </p:sp>
      <p:cxnSp>
        <p:nvCxnSpPr>
          <p:cNvPr id="10" name="Line 10"/>
          <p:cNvCxnSpPr/>
          <p:nvPr/>
        </p:nvCxnSpPr>
        <p:spPr>
          <a:xfrm>
            <a:off x="700000" y="4300000"/>
            <a:ext cx="5100000" cy="1"/>
          </a:xfrm>
          <a:prstGeom prst="line">
            <a:avLst/>
          </a:prstGeom>
          <a:ln w="16000">
            <a:solidFill>
              <a:srgbClr val="404040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00000" y="1800000"/>
            <a:ext cx="1" cy="2500000"/>
          </a:xfrm>
          <a:prstGeom prst="line">
            <a:avLst/>
          </a:prstGeom>
          <a:ln w="16000">
            <a:solidFill>
              <a:srgbClr val="404040"/>
            </a:solidFill>
          </a:ln>
        </p:spPr>
      </p:cxnSp>
      <p:cxnSp>
        <p:nvCxnSpPr>
          <p:cNvPr id="12" name="Line 12"/>
          <p:cNvCxnSpPr/>
          <p:nvPr/>
        </p:nvCxnSpPr>
        <p:spPr>
          <a:xfrm flipV="1">
            <a:off x="1720000" y="3060000"/>
            <a:ext cx="1020000" cy="180000"/>
          </a:xfrm>
          <a:prstGeom prst="line">
            <a:avLst/>
          </a:prstGeom>
          <a:ln w="30000">
            <a:solidFill>
              <a:srgbClr val="C00000"/>
            </a:solidFill>
          </a:ln>
        </p:spPr>
      </p:cxnSp>
      <p:cxnSp>
        <p:nvCxnSpPr>
          <p:cNvPr id="13" name="Line 13"/>
          <p:cNvCxnSpPr/>
          <p:nvPr/>
        </p:nvCxnSpPr>
        <p:spPr>
          <a:xfrm flipV="1">
            <a:off x="2740000" y="2760000"/>
            <a:ext cx="1020000" cy="300000"/>
          </a:xfrm>
          <a:prstGeom prst="line">
            <a:avLst/>
          </a:prstGeom>
          <a:ln w="30000">
            <a:solidFill>
              <a:srgbClr val="C00000"/>
            </a:solidFill>
          </a:ln>
        </p:spPr>
      </p:cxnSp>
      <p:cxnSp>
        <p:nvCxnSpPr>
          <p:cNvPr id="14" name="Line 14"/>
          <p:cNvCxnSpPr/>
          <p:nvPr/>
        </p:nvCxnSpPr>
        <p:spPr>
          <a:xfrm flipV="1">
            <a:off x="3760000" y="2339999"/>
            <a:ext cx="1020000" cy="420001"/>
          </a:xfrm>
          <a:prstGeom prst="line">
            <a:avLst/>
          </a:prstGeom>
          <a:ln w="30000">
            <a:solidFill>
              <a:srgbClr val="C00000"/>
            </a:solidFill>
          </a:ln>
        </p:spPr>
      </p:cxnSp>
      <p:cxnSp>
        <p:nvCxnSpPr>
          <p:cNvPr id="15" name="Line 15"/>
          <p:cNvCxnSpPr/>
          <p:nvPr/>
        </p:nvCxnSpPr>
        <p:spPr>
          <a:xfrm flipV="1">
            <a:off x="4780000" y="1800000"/>
            <a:ext cx="1020000" cy="539999"/>
          </a:xfrm>
          <a:prstGeom prst="line">
            <a:avLst/>
          </a:prstGeom>
          <a:ln w="30000">
            <a:solidFill>
              <a:srgbClr val="C00000"/>
            </a:solidFill>
          </a:ln>
        </p:spPr>
      </p:cxnSp>
      <p:sp>
        <p:nvSpPr>
          <p:cNvPr id="16" name="Rect 16"/>
          <p:cNvSpPr/>
          <p:nvPr/>
        </p:nvSpPr>
        <p:spPr>
          <a:xfrm>
            <a:off x="1660000" y="3180000"/>
            <a:ext cx="120000" cy="120000"/>
          </a:xfrm>
          <a:prstGeom prst="rect">
            <a:avLst/>
          </a:prstGeom>
          <a:solidFill>
            <a:srgbClr val="C00000"/>
          </a:solidFill>
          <a:ln>
            <a:solidFill>
              <a:srgbClr val="5B9BD5"/>
            </a:solidFill>
          </a:ln>
        </p:spPr>
      </p:sp>
      <p:sp>
        <p:nvSpPr>
          <p:cNvPr id="17" name="Rect 17"/>
          <p:cNvSpPr/>
          <p:nvPr/>
        </p:nvSpPr>
        <p:spPr>
          <a:xfrm>
            <a:off x="2680000" y="3000000"/>
            <a:ext cx="120000" cy="120000"/>
          </a:xfrm>
          <a:prstGeom prst="rect">
            <a:avLst/>
          </a:prstGeom>
          <a:solidFill>
            <a:srgbClr val="C00000"/>
          </a:solidFill>
          <a:ln>
            <a:solidFill>
              <a:srgbClr val="5B9BD5"/>
            </a:solidFill>
          </a:ln>
        </p:spPr>
      </p:sp>
      <p:sp>
        <p:nvSpPr>
          <p:cNvPr id="18" name="Rect 18"/>
          <p:cNvSpPr/>
          <p:nvPr/>
        </p:nvSpPr>
        <p:spPr>
          <a:xfrm>
            <a:off x="3700000" y="2700000"/>
            <a:ext cx="120000" cy="120000"/>
          </a:xfrm>
          <a:prstGeom prst="rect">
            <a:avLst/>
          </a:prstGeom>
          <a:solidFill>
            <a:srgbClr val="C00000"/>
          </a:solidFill>
          <a:ln>
            <a:solidFill>
              <a:srgbClr val="5B9BD5"/>
            </a:solidFill>
          </a:ln>
        </p:spPr>
      </p:sp>
      <p:sp>
        <p:nvSpPr>
          <p:cNvPr id="19" name="Rect 19"/>
          <p:cNvSpPr/>
          <p:nvPr/>
        </p:nvSpPr>
        <p:spPr>
          <a:xfrm>
            <a:off x="4720000" y="2279999"/>
            <a:ext cx="120000" cy="120000"/>
          </a:xfrm>
          <a:prstGeom prst="rect">
            <a:avLst/>
          </a:prstGeom>
          <a:solidFill>
            <a:srgbClr val="C00000"/>
          </a:solidFill>
          <a:ln>
            <a:solidFill>
              <a:srgbClr val="5B9BD5"/>
            </a:solidFill>
          </a:ln>
        </p:spPr>
      </p:sp>
      <p:sp>
        <p:nvSpPr>
          <p:cNvPr id="20" name="Rect 20"/>
          <p:cNvSpPr/>
          <p:nvPr/>
        </p:nvSpPr>
        <p:spPr>
          <a:xfrm>
            <a:off x="5740000" y="1740000"/>
            <a:ext cx="120000" cy="120000"/>
          </a:xfrm>
          <a:prstGeom prst="rect">
            <a:avLst/>
          </a:prstGeom>
          <a:solidFill>
            <a:srgbClr val="C00000"/>
          </a:solidFill>
          <a:ln>
            <a:solidFill>
              <a:srgbClr val="5B9BD5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700000" y="4600000"/>
            <a:ext cx="520000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250" b="1">
                <a:solidFill>
                  <a:srgbClr val="202020"/>
                </a:solidFill>
              </a:rPr>
              <a:t>確認済み冷却方式</a:t>
            </a:r>
            <a:endParaRPr lang="ja-JP" sz="1250"/>
          </a:p>
          <a:p>
            <a:pPr algn="l"/>
            <a:r>
              <a:rPr lang="ja-JP" sz="1250" b="1">
                <a:solidFill>
                  <a:srgbClr val="202020"/>
                </a:solidFill>
              </a:rPr>
              <a:t>0系：自己通風　100系：他力通風　200系：強制風冷14 m³/min</a:t>
            </a:r>
            <a:endParaRPr lang="ja-JP" sz="1250"/>
          </a:p>
          <a:p>
            <a:pPr algn="l"/>
            <a:r>
              <a:rPr lang="ja-JP" sz="1250" b="1">
                <a:solidFill>
                  <a:srgbClr val="202020"/>
                </a:solidFill>
              </a:rPr>
              <a:t>教材用仮定モデル：P_heat≈P_loss</a:t>
            </a:r>
            <a:endParaRPr lang="ja-JP" sz="1250"/>
          </a:p>
        </p:txBody>
      </p:sp>
      <p:sp>
        <p:nvSpPr>
          <p:cNvPr id="22" name="Shape 22"/>
          <p:cNvSpPr txBox="1"/>
          <p:nvPr/>
        </p:nvSpPr>
        <p:spPr>
          <a:xfrm>
            <a:off x="6500000" y="1350000"/>
            <a:ext cx="5300000" cy="3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1370" b="0">
                <a:solidFill>
                  <a:srgbClr val="202020"/>
                </a:solidFill>
              </a:rPr>
              <a:t>H24二次 問1(1)(2)</a:t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>V=200 V, P_out=3.75 kW, I_a=20 A, V_b=2.5 V</a:t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>（鉄損・界磁損・機械損は無視）</a:t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/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>P_in=4,000 W / P_b=50 W</a:t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>P_Cu=200 W</a:t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>R_a=P_Cu/I_a²=0.500 Ω</a:t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>E=V−I_aR_a−V_b=187.5 V ≒188 V</a:t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/>
            </a:r>
            <a:endParaRPr lang="ja-JP" sz="1370"/>
          </a:p>
          <a:p>
            <a:pPr algn="l"/>
            <a:r>
              <a:rPr lang="ja-JP" sz="1370" b="0">
                <a:solidFill>
                  <a:srgbClr val="202020"/>
                </a:solidFill>
              </a:rPr>
              <a:t>高速化：P=Fv。未確認の実車けん引力特性は補完しない。</a:t>
            </a:r>
            <a:endParaRPr lang="ja-JP" sz="1370"/>
          </a:p>
        </p:txBody>
      </p:sp>
    </p:spTree>
  </p:cSld>
  <p:clrMapOvr>
    <a:masterClrMapping/>
  </p:clrMapOvr>
</p:sld>
</file>