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32104"/>
            <a:ext cx="11155680" cy="3657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教材用仮定値はE7・W7系の実車仕様ではない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26  E7・W7系：勾配条件を含む総合走行解析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電験二種「機械」：走行抵抗・必要けん引力・出力・回生・誘導機を一つの解法へ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D881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勾配・速度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13432" y="2221992"/>
            <a:ext cx="429768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8288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2D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走行抵抗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2221992"/>
            <a:ext cx="429768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8288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359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必要けん引力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19672" y="2221992"/>
            <a:ext cx="429768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18288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37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必要出力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22792" y="2221992"/>
            <a:ext cx="429768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8288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B446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力行 / 回生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3154680"/>
            <a:ext cx="5166360" cy="2240280"/>
          </a:xfrm>
          <a:prstGeom prst="roundRect">
            <a:avLst>
              <a:gd name="adj" fmla="val 2041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154680"/>
            <a:ext cx="73152" cy="224028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2644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試験で解けるようにすること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3639312"/>
            <a:ext cx="4892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・R_g≈mgi と R_run(v) を合成する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・F_req と P=Fv を同時に判定する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・下りでは制動・回生条件へ符号をつなぐ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・誘導機の滑り・トルク・損失へ接続する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3154680"/>
            <a:ext cx="5166360" cy="2240280"/>
          </a:xfrm>
          <a:prstGeom prst="roundRect">
            <a:avLst>
              <a:gd name="adj" fmla="val 2041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154680"/>
            <a:ext cx="73152" cy="224028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2644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実車接続の境界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2512" y="3639312"/>
            <a:ext cx="4892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確認済み：北陸新幹線の30‰急勾配と、E7系のブレーキ性能向上。</a:t>
            </a:r>
            <a:endParaRPr lang="en-US" sz="1330" dirty="0"/>
          </a:p>
          <a:p>
            <a:pPr algn="l" indent="0" marL="0">
              <a:buNone/>
            </a:pP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質量・走行抵抗式・効率・利用可能出力/けん引力は教材用条件。未公表値を実車値として扱わない。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走行側と電動機側を同じ電力式でつなぐ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まず符号と単位を固定し、力 → 電力 → 電動機の順に解く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80160"/>
            <a:ext cx="73152" cy="452628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3832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勾配抵抗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R_g = mg sinθ ≈ mgi</a:t>
            </a:r>
            <a:endParaRPr lang="en-US" sz="1440" dirty="0"/>
          </a:p>
          <a:p>
            <a:pPr algn="l" indent="0" marL="0">
              <a:buNone/>
            </a:pP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必要けん引力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R_run(v) + R_g</a:t>
            </a:r>
            <a:endParaRPr lang="en-US" sz="1440" dirty="0"/>
          </a:p>
          <a:p>
            <a:pPr algn="l" indent="0" marL="0">
              <a:buNone/>
            </a:pP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車輪側必要出力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P_w = F_req v</a:t>
            </a:r>
            <a:endParaRPr lang="en-US" sz="1440" dirty="0"/>
          </a:p>
          <a:p>
            <a:pPr algn="l" indent="0" marL="0">
              <a:buNone/>
            </a:pP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定速条件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≤ F_av かつ P_req ≤ P_av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4352544" y="1280160"/>
            <a:ext cx="3493008" cy="4526280"/>
          </a:xfrm>
          <a:prstGeom prst="roundRect">
            <a:avLst>
              <a:gd name="adj" fmla="val 1309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280160"/>
            <a:ext cx="73152" cy="452628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3898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回転機側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7136" y="1764792"/>
            <a:ext cx="3218688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回転出力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= Tω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 = 2πN / 60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同期速度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N_s = 120f / p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滑り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 = (N_s − N) / N_s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二次銅損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P_cu2 = s/(1−s) · P_m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973568" y="1280160"/>
            <a:ext cx="3639312" cy="4526280"/>
          </a:xfrm>
          <a:prstGeom prst="roundRect">
            <a:avLst>
              <a:gd name="adj" fmla="val 125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1280160"/>
            <a:ext cx="73152" cy="452628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3898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解法アルゴリズム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1764792"/>
            <a:ext cx="3364992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km/h → m/s、‰ → 小数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 勾配の符号を決める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 R_run + R_g を計算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 F_reqの符号で力行/制動判定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 P=Fv と効率を適用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 F_av と P_av を両方確認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 回生は架線側受電条件も確認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" y="6007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21：48.0 / 48.1 N·m は過去問固有の丸め差。P=Tω、ω=2πN/60 は変更しない。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可視化① 勾配が必要けん引力を直線的に動かす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教材用条件：m=4.00×10⁵ kg、v=80 m/s、R_run=30+0.008v² [kN]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252728" y="5276088"/>
            <a:ext cx="6675120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581912"/>
            <a:ext cx="0" cy="3694176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5276088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51846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-50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52728" y="4537253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445813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52728" y="3798418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70697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52728" y="3059582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6814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52728" y="2320747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229307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52728" y="1581912"/>
            <a:ext cx="6675120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4904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984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-30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8236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-20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9488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-10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0740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1992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63244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4496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252728" y="5075125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65248" y="4495878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7768" y="3916631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3337384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02808" y="2758138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5328" y="2178891"/>
            <a:ext cx="1112520" cy="-5792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0724" y="5043121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3244" y="446387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5764" y="3884627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8284" y="3305380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70804" y="272613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3324" y="2146887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95844" y="1567640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5541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勾配 [‰]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1563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必要けん引力 [kN]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430768" y="1572768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30768" y="1572768"/>
            <a:ext cx="73152" cy="187452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16824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+30‰ 上り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95360" y="2057400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R_g = +117.6 kN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198.8 kN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力行側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430768" y="370332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30768" y="3703320"/>
            <a:ext cx="73152" cy="1874520"/>
          </a:xfrm>
          <a:prstGeom prst="rect">
            <a:avLst/>
          </a:prstGeom>
          <a:solidFill>
            <a:srgbClr val="3599BC"/>
          </a:solidFill>
          <a:ln w="12700">
            <a:solidFill>
              <a:srgbClr val="3599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38130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−30‰ 下り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95360" y="418795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R_g = −117.6 kN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−36.4 kN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制動側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13232" y="5925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&lt; 0 なら B_req = −F_req の制動力が必要。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可視化② 高速域では出力制限が先に効くことがある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教材用条件：+20‰、R_run(v)=30+0.008v² [kN]、F_av=150 kN、P_av=10.5 MW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252728" y="5276088"/>
            <a:ext cx="6793992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581912"/>
            <a:ext cx="0" cy="3694176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5276088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51846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52728" y="4537253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445813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52728" y="3798418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70697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52728" y="3059582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6814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52728" y="2320747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229307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52728" y="1581912"/>
            <a:ext cx="6793992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4904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9848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19097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68346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17595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466844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16093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65342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014591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77376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39216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863840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52728" y="5276088"/>
            <a:ext cx="849249" cy="-28814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1977" y="4987942"/>
            <a:ext cx="849249" cy="-30081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1226" y="4687131"/>
            <a:ext cx="849249" cy="-32614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00475" y="4360988"/>
            <a:ext cx="849249" cy="-36414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9724" y="3996848"/>
            <a:ext cx="849249" cy="-41480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98973" y="3582044"/>
            <a:ext cx="849249" cy="-478132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8222" y="3103913"/>
            <a:ext cx="849249" cy="-55412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97471" y="2549786"/>
            <a:ext cx="62785" cy="-4433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0256" y="2505455"/>
            <a:ext cx="361840" cy="-26518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2096" y="2240267"/>
            <a:ext cx="424625" cy="-33326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20724" y="524408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69973" y="4955938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19222" y="4655127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68471" y="432898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96484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66969" y="3550040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16218" y="3071909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65467" y="2517782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8252" y="2473451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90092" y="2208263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14716" y="1874995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52728" y="2505456"/>
            <a:ext cx="6793992" cy="0"/>
          </a:xfrm>
          <a:prstGeom prst="line">
            <a:avLst/>
          </a:prstGeom>
          <a:noFill/>
          <a:ln w="19050">
            <a:solidFill>
              <a:srgbClr val="B44646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598164" y="5541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 [km/h]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" y="1563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車輪側出力 [MW]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03920" y="1572768"/>
            <a:ext cx="2999232" cy="1828800"/>
          </a:xfrm>
          <a:prstGeom prst="roundRect">
            <a:avLst>
              <a:gd name="adj" fmla="val 250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3920" y="1572768"/>
            <a:ext cx="73152" cy="1828800"/>
          </a:xfrm>
          <a:prstGeom prst="rect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68512" y="168249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出力側の境界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68512" y="2057400"/>
            <a:ext cx="27249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P_req = 10.5 MW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70.74 m/s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254.7 km/h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503920" y="3703320"/>
            <a:ext cx="2999232" cy="1828800"/>
          </a:xfrm>
          <a:prstGeom prst="roundRect">
            <a:avLst>
              <a:gd name="adj" fmla="val 250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3703320"/>
            <a:ext cx="73152" cy="182880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68512" y="38130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けん引力側の境界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68512" y="4187952"/>
            <a:ext cx="27249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150 kN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259.6 km/h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254.7 km/hで F_req≈148.43 kN</a:t>
            </a:r>
            <a:endParaRPr lang="en-US" sz="1240" dirty="0"/>
          </a:p>
        </p:txBody>
      </p:sp>
      <p:sp>
        <p:nvSpPr>
          <p:cNvPr id="61" name="Text 59"/>
          <p:cNvSpPr/>
          <p:nvPr/>
        </p:nvSpPr>
        <p:spPr>
          <a:xfrm>
            <a:off x="713232" y="59344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この教材モデルでは出力制限が先。254.7 km/hはE7・W7系の実性能値ではない。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可視化③ +30‰ と −30‰ では電力フローが反転する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 v=80 m/s・同じ走行抵抗モデルで勾配だけを反転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074920" cy="4526280"/>
          </a:xfrm>
          <a:prstGeom prst="roundRect">
            <a:avLst>
              <a:gd name="adj" fmla="val 101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452628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+30‰：力行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37944"/>
            <a:ext cx="4800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R_run = 81.2 kN</a:t>
            </a:r>
            <a:endParaRPr lang="en-US" sz="1530" dirty="0"/>
          </a:p>
          <a:p>
            <a:pPr algn="l" indent="0" marL="0">
              <a:buNone/>
            </a:pP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R_g = +117.6 kN</a:t>
            </a:r>
            <a:endParaRPr lang="en-US" sz="1530" dirty="0"/>
          </a:p>
          <a:p>
            <a:pPr algn="l" indent="0" marL="0">
              <a:buNone/>
            </a:pP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198.8 kN</a:t>
            </a:r>
            <a:endParaRPr lang="en-US" sz="1530" dirty="0"/>
          </a:p>
          <a:p>
            <a:pPr algn="l" indent="0" marL="0">
              <a:buNone/>
            </a:pP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P_w = Fv = 15.904 MW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3520440" y="5230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81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電気 → 機械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53312"/>
            <a:ext cx="5394960" cy="4526280"/>
          </a:xfrm>
          <a:prstGeom prst="roundRect">
            <a:avLst>
              <a:gd name="adj" fmla="val 101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353312"/>
            <a:ext cx="73152" cy="4526280"/>
          </a:xfrm>
          <a:prstGeom prst="rect">
            <a:avLst/>
          </a:prstGeom>
          <a:solidFill>
            <a:srgbClr val="3599BC"/>
          </a:solidFill>
          <a:ln w="12700">
            <a:solidFill>
              <a:srgbClr val="359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−30‰：制動・回生候補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91072" y="1837944"/>
            <a:ext cx="512064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R_run = 81.2 kN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R_g = −117.6 kN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F_req = −36.4 kN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B_req = 36.4 kN   P_brake = 2.912 MW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η_reg=0.85 なら P_return ≤ 2.48 MW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601200" y="5230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99B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機械 → 電気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6007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回生には ①車両側が回生可能 ②架線側が受電可能 の両方が必要。受電先がなければ回生失効が起こり得る。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過去問対応と品質ゲート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固定EXAM_ALIGNMENTを変えず、一次10＋二次6＝16答案要素へ接続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7543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81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 二次「機械・制御」問2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1481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滑り / トルク / 二次銅損 / 固定損 / 負荷変化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42632" y="1481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6要素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2194560"/>
            <a:ext cx="7543800" cy="713232"/>
          </a:xfrm>
          <a:prstGeom prst="roundRect">
            <a:avLst>
              <a:gd name="adj" fmla="val 512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H26 一次「機械」問5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始動トルク / 定加速域 / 定出力域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42632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3要素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999232"/>
            <a:ext cx="7543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090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H25 一次「機械」問3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090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P=Tω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42632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1要素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7543800" cy="713232"/>
          </a:xfrm>
          <a:prstGeom prst="roundRect">
            <a:avLst>
              <a:gd name="adj" fmla="val 512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895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 一次「機械」問2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38953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制動エネルギー / 回生 / 鉄道への接続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42632" y="3895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3要素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4608576"/>
            <a:ext cx="7543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7000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H27 一次「機械」問3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7000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逆変換 / 回生電力消費 / 回生失効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42632" y="47000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3要素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1389888"/>
            <a:ext cx="3063240" cy="205740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389888"/>
            <a:ext cx="73152" cy="205740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14996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ゲート結果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22792" y="1874520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固定5問：5/5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一次：10/10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二次：6/6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合計：16/16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458200" y="3657600"/>
            <a:ext cx="3063240" cy="205740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3657600"/>
            <a:ext cx="73152" cy="205740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37673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22792" y="4142232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必須7項目：7/7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指定可視化：3/3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実車値境界違反：0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exact blocker：0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658368" y="57972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次工程：完成後clean blind独立再解答。PowerPoint完成だけではTopic 26をcompletedにしない。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658368" y="6172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21の48.0 / 48.1 N·m注記を維持し、一般式は変更しない。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26 E7・W7系 勾配条件を含む総合走行解析</dc:title>
  <dc:subject>Topic 26 E7・W7系 勾配条件を含む総合走行解析</dc:subject>
  <dc:creator>OpenAI</dc:creator>
  <cp:lastModifiedBy>OpenAI</cp:lastModifiedBy>
  <cp:revision>1</cp:revision>
  <dcterms:created xsi:type="dcterms:W3CDTF">2026-09-19T22:15:02Z</dcterms:created>
  <dcterms:modified xsi:type="dcterms:W3CDTF">2026-09-19T22:15:02Z</dcterms:modified>
</cp:coreProperties>
</file>