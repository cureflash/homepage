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32104"/>
            <a:ext cx="11155680" cy="36576"/>
          </a:xfrm>
          <a:prstGeom prst="rect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492240"/>
            <a:ext cx="10241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数値例・グラフは教材用仮定値。L0系の未確認実車 B・I・R/L/M・寸法・浮上力・案内力・速度しきい値を真値化しない。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29  L0系③：超電導磁気浮上の電磁力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電験二種：磁束変化 → 誘導起電力 → 誘導電流 → 磁気エネルギー → 浮上・案内</a:t>
            </a:r>
            <a:endParaRPr lang="en-US" sz="103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554480" cy="713232"/>
          </a:xfrm>
          <a:prstGeom prst="roundRect">
            <a:avLst/>
          </a:prstGeom>
          <a:solidFill>
            <a:srgbClr val="F3F6F9"/>
          </a:solidFill>
          <a:ln w="17780">
            <a:solidFill>
              <a:srgbClr val="2D6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367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磁束変化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67128" y="1773936"/>
            <a:ext cx="438912" cy="0"/>
          </a:xfrm>
          <a:prstGeom prst="line">
            <a:avLst/>
          </a:prstGeom>
          <a:noFill/>
          <a:ln w="17780">
            <a:solidFill>
              <a:srgbClr val="69717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51760" y="1417320"/>
            <a:ext cx="1554480" cy="713232"/>
          </a:xfrm>
          <a:prstGeom prst="roundRect">
            <a:avLst/>
          </a:prstGeom>
          <a:solidFill>
            <a:srgbClr val="F3F6F9"/>
          </a:solidFill>
          <a:ln w="17780">
            <a:solidFill>
              <a:srgbClr val="D881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6367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 = −dΨ/dt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24528" y="1773936"/>
            <a:ext cx="438912" cy="0"/>
          </a:xfrm>
          <a:prstGeom prst="line">
            <a:avLst/>
          </a:prstGeom>
          <a:noFill/>
          <a:ln w="17780">
            <a:solidFill>
              <a:srgbClr val="69717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09160" y="1417320"/>
            <a:ext cx="1554480" cy="713232"/>
          </a:xfrm>
          <a:prstGeom prst="roundRect">
            <a:avLst/>
          </a:prstGeom>
          <a:solidFill>
            <a:srgbClr val="F3F6F9"/>
          </a:solidFill>
          <a:ln w="17780">
            <a:solidFill>
              <a:srgbClr val="2A8C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367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誘導電流 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81928" y="1773936"/>
            <a:ext cx="438912" cy="0"/>
          </a:xfrm>
          <a:prstGeom prst="line">
            <a:avLst/>
          </a:prstGeom>
          <a:noFill/>
          <a:ln w="17780">
            <a:solidFill>
              <a:srgbClr val="69717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766560" y="1417320"/>
            <a:ext cx="1554480" cy="713232"/>
          </a:xfrm>
          <a:prstGeom prst="roundRect">
            <a:avLst/>
          </a:prstGeom>
          <a:solidFill>
            <a:srgbClr val="F3F6F9"/>
          </a:solidFill>
          <a:ln w="17780">
            <a:solidFill>
              <a:srgbClr val="775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6367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磁気エネルギー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39328" y="1773936"/>
            <a:ext cx="438912" cy="0"/>
          </a:xfrm>
          <a:prstGeom prst="line">
            <a:avLst/>
          </a:prstGeom>
          <a:noFill/>
          <a:ln w="17780">
            <a:solidFill>
              <a:srgbClr val="69717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823960" y="1417320"/>
            <a:ext cx="1554480" cy="713232"/>
          </a:xfrm>
          <a:prstGeom prst="roundRect">
            <a:avLst/>
          </a:prstGeom>
          <a:solidFill>
            <a:srgbClr val="F3F6F9"/>
          </a:solidFill>
          <a:ln w="17780">
            <a:solidFill>
              <a:srgbClr val="3784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16367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電磁力 F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2523744"/>
            <a:ext cx="5285232" cy="2615184"/>
          </a:xfrm>
          <a:prstGeom prst="roundRect">
            <a:avLst>
              <a:gd name="adj" fmla="val 1748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2523744"/>
            <a:ext cx="73152" cy="2615184"/>
          </a:xfrm>
          <a:prstGeom prst="rect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615184"/>
            <a:ext cx="5010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L0系への事実接続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2980944"/>
            <a:ext cx="501091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鉄道総研・JR東海の一次資料で確認するのは、車上の超電導磁石が浮上・案内コイルを高速通過すると誘導電流が生じ、反発・吸引で浮上し、左右偏位に対して中央へ戻す案内力が働く原理まで。</a:t>
            </a:r>
            <a:endParaRPr lang="en-US" sz="1180" dirty="0"/>
          </a:p>
          <a:p>
            <a:pPr algn="l" indent="0" marL="0">
              <a:buNone/>
            </a:pP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実磁界・コイル電流・R/L/M・寸法・浮上力・案内力・速度しきい値は本Topicで真値化しない。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199632" y="2523744"/>
            <a:ext cx="5102352" cy="2615184"/>
          </a:xfrm>
          <a:prstGeom prst="roundRect">
            <a:avLst>
              <a:gd name="adj" fmla="val 1748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9632" y="2523744"/>
            <a:ext cx="73152" cy="2615184"/>
          </a:xfrm>
          <a:prstGeom prst="rect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4224" y="261518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試験ゲート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64224" y="2980944"/>
            <a:ext cx="482803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固定過去問：5問 / 24答案要素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R8・R7・R4・R2 一次「理論」：20要素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H23 二次「機械・制御」：4要素</a:t>
            </a:r>
            <a:endParaRPr lang="en-US" sz="1220" dirty="0"/>
          </a:p>
          <a:p>
            <a:pPr algn="l" indent="0" marL="0">
              <a:buNone/>
            </a:pP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SPEC必須8項目・指定3可視化を全件接続。Topic 30「誘導集電・非接触電力伝送」は先取りしない。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713232" y="5715000"/>
            <a:ext cx="1074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21 H26二次 問1(4)の 48.1 / 48.0 N·m は過去問固有丸め差。一般式 P=Tω、ω=2πN/60 は変更しない。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ファラデーの法則・相互誘導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位置変化を時間変化へ変換すると、速度が誘導起電力へ入る</a:t>
            </a:r>
            <a:endParaRPr lang="en-US" sz="1030" dirty="0"/>
          </a:p>
        </p:txBody>
      </p:sp>
      <p:sp>
        <p:nvSpPr>
          <p:cNvPr id="4" name="Shape 2"/>
          <p:cNvSpPr/>
          <p:nvPr/>
        </p:nvSpPr>
        <p:spPr>
          <a:xfrm>
            <a:off x="566928" y="1225296"/>
            <a:ext cx="3730752" cy="1956816"/>
          </a:xfrm>
          <a:prstGeom prst="roundRect">
            <a:avLst>
              <a:gd name="adj" fmla="val 2336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25296"/>
            <a:ext cx="73152" cy="1956816"/>
          </a:xfrm>
          <a:prstGeom prst="rect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1673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基本式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345643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Ψ=NΦ</a:t>
            </a:r>
            <a:endParaRPr lang="en-US" sz="1410" dirty="0"/>
          </a:p>
          <a:p>
            <a:pPr algn="l" indent="0" marL="0">
              <a:buNone/>
            </a:pPr>
            <a:r>
              <a:rPr lang="en-US" sz="141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e=−dΨ/dt</a:t>
            </a:r>
            <a:endParaRPr lang="en-US" sz="1410" dirty="0"/>
          </a:p>
          <a:p>
            <a:pPr algn="l" indent="0" marL="0">
              <a:buNone/>
            </a:pPr>
            <a:r>
              <a:rPr lang="en-US" sz="141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Ψ=Ψ(x), v=dx/dt</a:t>
            </a:r>
            <a:endParaRPr lang="en-US" sz="1410" dirty="0"/>
          </a:p>
          <a:p>
            <a:pPr algn="l" indent="0" marL="0">
              <a:buNone/>
            </a:pPr>
            <a:r>
              <a:rPr lang="en-US" sz="141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e=−v·dΨ/dx</a:t>
            </a:r>
            <a:endParaRPr lang="en-US" sz="1410" dirty="0"/>
          </a:p>
          <a:p>
            <a:pPr algn="l" indent="0" marL="0">
              <a:buNone/>
            </a:pPr>
            <a:endParaRPr lang="en-US" sz="1410" dirty="0"/>
          </a:p>
          <a:p>
            <a:pPr algn="l" indent="0" marL="0">
              <a:buNone/>
            </a:pPr>
            <a:r>
              <a:rPr lang="en-US" sz="141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相互誘導：Ψ₁=L₁i₁+Mi₂</a:t>
            </a:r>
            <a:endParaRPr lang="en-US" sz="1410" dirty="0"/>
          </a:p>
          <a:p>
            <a:pPr algn="l" indent="0" marL="0">
              <a:buNone/>
            </a:pPr>
            <a:r>
              <a:rPr lang="en-US" sz="141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e₁=−d(Mi₂)/dt</a:t>
            </a:r>
            <a:endParaRPr lang="en-US" sz="1410" dirty="0"/>
          </a:p>
        </p:txBody>
      </p:sp>
      <p:sp>
        <p:nvSpPr>
          <p:cNvPr id="8" name="Shape 6"/>
          <p:cNvSpPr/>
          <p:nvPr/>
        </p:nvSpPr>
        <p:spPr>
          <a:xfrm>
            <a:off x="566928" y="3401568"/>
            <a:ext cx="3730752" cy="2176272"/>
          </a:xfrm>
          <a:prstGeom prst="roundRect">
            <a:avLst>
              <a:gd name="adj" fmla="val 2101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401568"/>
            <a:ext cx="73152" cy="2176272"/>
          </a:xfrm>
          <a:prstGeom prst="rect">
            <a:avLst/>
          </a:prstGeom>
          <a:solidFill>
            <a:srgbClr val="D88134"/>
          </a:solidFill>
          <a:ln w="12700">
            <a:solidFill>
              <a:srgbClr val="D881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49300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試験での処理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858768"/>
            <a:ext cx="345643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何が磁束を変えるか特定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 Φ / Ψ を選ぶ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 時間微分または e=−v dΨ/dx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 レンツの法則で向きを確認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 電流が必要なら回路インピーダンスへ</a:t>
            </a:r>
            <a:endParaRPr lang="en-US" sz="1210" dirty="0"/>
          </a:p>
        </p:txBody>
      </p:sp>
      <p:sp>
        <p:nvSpPr>
          <p:cNvPr id="12" name="Shape 10"/>
          <p:cNvSpPr/>
          <p:nvPr/>
        </p:nvSpPr>
        <p:spPr>
          <a:xfrm>
            <a:off x="4535424" y="1225296"/>
            <a:ext cx="7059168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389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指定可視化①  磁束変化―誘導起電力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75504" y="4690872"/>
            <a:ext cx="5961888" cy="0"/>
          </a:xfrm>
          <a:prstGeom prst="line">
            <a:avLst/>
          </a:prstGeom>
          <a:noFill/>
          <a:ln w="13970">
            <a:solidFill>
              <a:srgbClr val="69717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75504" y="4690872"/>
            <a:ext cx="0" cy="-2761488"/>
          </a:xfrm>
          <a:prstGeom prst="line">
            <a:avLst/>
          </a:prstGeom>
          <a:noFill/>
          <a:ln w="13970">
            <a:solidFill>
              <a:srgbClr val="69717C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902952" y="480974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 [ms]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157216" y="17007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normalized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75504" y="1929384"/>
            <a:ext cx="0" cy="2761488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5010912" y="472744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665976" y="1929384"/>
            <a:ext cx="0" cy="2761488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6501384" y="472744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8156448" y="1929384"/>
            <a:ext cx="0" cy="2761488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7991856" y="472744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9646920" y="1929384"/>
            <a:ext cx="0" cy="2761488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482328" y="472744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1137392" y="1929384"/>
            <a:ext cx="0" cy="2761488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10972800" y="4727448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175504" y="4690872"/>
            <a:ext cx="5961888" cy="0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4700016" y="4617720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-1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175504" y="3310128"/>
            <a:ext cx="5961888" cy="0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4700016" y="323697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175504" y="1929384"/>
            <a:ext cx="5961888" cy="0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4700016" y="185623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175504" y="1929384"/>
            <a:ext cx="49682" cy="1892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5175504" y="3310128"/>
            <a:ext cx="49682" cy="-72263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5225186" y="1931276"/>
            <a:ext cx="49682" cy="5672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5225186" y="3237865"/>
            <a:ext cx="49682" cy="-72064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5274869" y="1936948"/>
            <a:ext cx="49682" cy="943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5274869" y="3165801"/>
            <a:ext cx="49682" cy="-71669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5324551" y="1946383"/>
            <a:ext cx="49682" cy="13173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5324551" y="3094132"/>
            <a:ext cx="49682" cy="-71077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5374234" y="1959557"/>
            <a:ext cx="49682" cy="1687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5374234" y="3023055"/>
            <a:ext cx="49682" cy="-70290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5423916" y="1976432"/>
            <a:ext cx="49682" cy="20531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5423916" y="2952765"/>
            <a:ext cx="49682" cy="-69311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5473598" y="1996962"/>
            <a:ext cx="49682" cy="24130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5473598" y="2883455"/>
            <a:ext cx="49682" cy="-68141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5523281" y="2021092"/>
            <a:ext cx="49682" cy="27663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5523281" y="2815314"/>
            <a:ext cx="49682" cy="-6678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5572963" y="2048756"/>
            <a:ext cx="49682" cy="31120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5572963" y="2748529"/>
            <a:ext cx="49682" cy="-6524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5622646" y="2079876"/>
            <a:ext cx="49682" cy="34493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5622646" y="2683283"/>
            <a:ext cx="49682" cy="-63527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5672328" y="2114369"/>
            <a:ext cx="49682" cy="37770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5672328" y="2619756"/>
            <a:ext cx="49682" cy="-6163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5722010" y="2152139"/>
            <a:ext cx="49682" cy="40944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5722010" y="2558121"/>
            <a:ext cx="49682" cy="-59574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5771693" y="2193083"/>
            <a:ext cx="49682" cy="44006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5771693" y="2498547"/>
            <a:ext cx="49682" cy="-57349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5821375" y="2237088"/>
            <a:ext cx="49682" cy="46947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5821375" y="2441198"/>
            <a:ext cx="49682" cy="-54968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5871058" y="2284035"/>
            <a:ext cx="49682" cy="49759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5871058" y="2386230"/>
            <a:ext cx="49682" cy="-5243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5920740" y="2333795"/>
            <a:ext cx="49682" cy="5243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5920740" y="2333795"/>
            <a:ext cx="49682" cy="-49759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5970422" y="2386230"/>
            <a:ext cx="49682" cy="54968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5970422" y="2284035"/>
            <a:ext cx="49682" cy="-46947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6020105" y="2441198"/>
            <a:ext cx="49682" cy="57349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6020105" y="2237088"/>
            <a:ext cx="49682" cy="-44006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6069787" y="2498547"/>
            <a:ext cx="49682" cy="59574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6069787" y="2193083"/>
            <a:ext cx="49682" cy="-40944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6119470" y="2558121"/>
            <a:ext cx="49682" cy="6163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6119470" y="2152139"/>
            <a:ext cx="49682" cy="-37770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6169152" y="2619756"/>
            <a:ext cx="49682" cy="63527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6169152" y="2114369"/>
            <a:ext cx="49682" cy="-34493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6218834" y="2683283"/>
            <a:ext cx="49682" cy="6524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6218834" y="2079876"/>
            <a:ext cx="49682" cy="-31120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6268517" y="2748529"/>
            <a:ext cx="49682" cy="6678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79" name="Shape 77"/>
          <p:cNvSpPr/>
          <p:nvPr/>
        </p:nvSpPr>
        <p:spPr>
          <a:xfrm>
            <a:off x="6268517" y="2048756"/>
            <a:ext cx="49682" cy="-27663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80" name="Shape 78"/>
          <p:cNvSpPr/>
          <p:nvPr/>
        </p:nvSpPr>
        <p:spPr>
          <a:xfrm>
            <a:off x="6318199" y="2815314"/>
            <a:ext cx="49682" cy="68141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6318199" y="2021092"/>
            <a:ext cx="49682" cy="-24130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6367882" y="2883455"/>
            <a:ext cx="49682" cy="69311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6367882" y="1996962"/>
            <a:ext cx="49682" cy="-20531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84" name="Shape 82"/>
          <p:cNvSpPr/>
          <p:nvPr/>
        </p:nvSpPr>
        <p:spPr>
          <a:xfrm>
            <a:off x="6417564" y="2952765"/>
            <a:ext cx="49682" cy="70290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6417564" y="1976432"/>
            <a:ext cx="49682" cy="-1687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6467246" y="3023055"/>
            <a:ext cx="49682" cy="71077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6467246" y="1959557"/>
            <a:ext cx="49682" cy="-13173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6516929" y="3094132"/>
            <a:ext cx="49682" cy="71669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6516929" y="1946383"/>
            <a:ext cx="49682" cy="-943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90" name="Shape 88"/>
          <p:cNvSpPr/>
          <p:nvPr/>
        </p:nvSpPr>
        <p:spPr>
          <a:xfrm>
            <a:off x="6566611" y="3165801"/>
            <a:ext cx="49682" cy="72064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6566611" y="1936948"/>
            <a:ext cx="49682" cy="-5672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92" name="Shape 90"/>
          <p:cNvSpPr/>
          <p:nvPr/>
        </p:nvSpPr>
        <p:spPr>
          <a:xfrm>
            <a:off x="6616294" y="3237865"/>
            <a:ext cx="49682" cy="72263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93" name="Shape 91"/>
          <p:cNvSpPr/>
          <p:nvPr/>
        </p:nvSpPr>
        <p:spPr>
          <a:xfrm>
            <a:off x="6616294" y="1931276"/>
            <a:ext cx="49682" cy="-1892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94" name="Shape 92"/>
          <p:cNvSpPr/>
          <p:nvPr/>
        </p:nvSpPr>
        <p:spPr>
          <a:xfrm>
            <a:off x="6665976" y="3310128"/>
            <a:ext cx="49682" cy="72263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95" name="Shape 93"/>
          <p:cNvSpPr/>
          <p:nvPr/>
        </p:nvSpPr>
        <p:spPr>
          <a:xfrm>
            <a:off x="6665976" y="1929384"/>
            <a:ext cx="49682" cy="1892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96" name="Shape 94"/>
          <p:cNvSpPr/>
          <p:nvPr/>
        </p:nvSpPr>
        <p:spPr>
          <a:xfrm>
            <a:off x="6715658" y="3382391"/>
            <a:ext cx="49682" cy="72064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97" name="Shape 95"/>
          <p:cNvSpPr/>
          <p:nvPr/>
        </p:nvSpPr>
        <p:spPr>
          <a:xfrm>
            <a:off x="6715658" y="1931276"/>
            <a:ext cx="49682" cy="5672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98" name="Shape 96"/>
          <p:cNvSpPr/>
          <p:nvPr/>
        </p:nvSpPr>
        <p:spPr>
          <a:xfrm>
            <a:off x="6765341" y="3454455"/>
            <a:ext cx="49682" cy="71669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99" name="Shape 97"/>
          <p:cNvSpPr/>
          <p:nvPr/>
        </p:nvSpPr>
        <p:spPr>
          <a:xfrm>
            <a:off x="6765341" y="1936948"/>
            <a:ext cx="49682" cy="943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00" name="Shape 98"/>
          <p:cNvSpPr/>
          <p:nvPr/>
        </p:nvSpPr>
        <p:spPr>
          <a:xfrm>
            <a:off x="6815023" y="3526124"/>
            <a:ext cx="49682" cy="71077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01" name="Shape 99"/>
          <p:cNvSpPr/>
          <p:nvPr/>
        </p:nvSpPr>
        <p:spPr>
          <a:xfrm>
            <a:off x="6815023" y="1946383"/>
            <a:ext cx="49682" cy="13173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6864706" y="3597201"/>
            <a:ext cx="49682" cy="70290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03" name="Shape 101"/>
          <p:cNvSpPr/>
          <p:nvPr/>
        </p:nvSpPr>
        <p:spPr>
          <a:xfrm>
            <a:off x="6864706" y="1959557"/>
            <a:ext cx="49682" cy="1687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04" name="Shape 102"/>
          <p:cNvSpPr/>
          <p:nvPr/>
        </p:nvSpPr>
        <p:spPr>
          <a:xfrm>
            <a:off x="6914388" y="3667491"/>
            <a:ext cx="49682" cy="69311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05" name="Shape 103"/>
          <p:cNvSpPr/>
          <p:nvPr/>
        </p:nvSpPr>
        <p:spPr>
          <a:xfrm>
            <a:off x="6914388" y="1976432"/>
            <a:ext cx="49682" cy="20531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06" name="Shape 104"/>
          <p:cNvSpPr/>
          <p:nvPr/>
        </p:nvSpPr>
        <p:spPr>
          <a:xfrm>
            <a:off x="6964070" y="3736801"/>
            <a:ext cx="49682" cy="68141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07" name="Shape 105"/>
          <p:cNvSpPr/>
          <p:nvPr/>
        </p:nvSpPr>
        <p:spPr>
          <a:xfrm>
            <a:off x="6964070" y="1996962"/>
            <a:ext cx="49682" cy="24130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08" name="Shape 106"/>
          <p:cNvSpPr/>
          <p:nvPr/>
        </p:nvSpPr>
        <p:spPr>
          <a:xfrm>
            <a:off x="7013753" y="3804942"/>
            <a:ext cx="49682" cy="6678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09" name="Shape 107"/>
          <p:cNvSpPr/>
          <p:nvPr/>
        </p:nvSpPr>
        <p:spPr>
          <a:xfrm>
            <a:off x="7013753" y="2021092"/>
            <a:ext cx="49682" cy="27663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10" name="Shape 108"/>
          <p:cNvSpPr/>
          <p:nvPr/>
        </p:nvSpPr>
        <p:spPr>
          <a:xfrm>
            <a:off x="7063435" y="3871727"/>
            <a:ext cx="49682" cy="6524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11" name="Shape 109"/>
          <p:cNvSpPr/>
          <p:nvPr/>
        </p:nvSpPr>
        <p:spPr>
          <a:xfrm>
            <a:off x="7063435" y="2048756"/>
            <a:ext cx="49682" cy="31120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12" name="Shape 110"/>
          <p:cNvSpPr/>
          <p:nvPr/>
        </p:nvSpPr>
        <p:spPr>
          <a:xfrm>
            <a:off x="7113118" y="3936973"/>
            <a:ext cx="49682" cy="63527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13" name="Shape 111"/>
          <p:cNvSpPr/>
          <p:nvPr/>
        </p:nvSpPr>
        <p:spPr>
          <a:xfrm>
            <a:off x="7113118" y="2079876"/>
            <a:ext cx="49682" cy="34493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14" name="Shape 112"/>
          <p:cNvSpPr/>
          <p:nvPr/>
        </p:nvSpPr>
        <p:spPr>
          <a:xfrm>
            <a:off x="7162800" y="4000500"/>
            <a:ext cx="49682" cy="6163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15" name="Shape 113"/>
          <p:cNvSpPr/>
          <p:nvPr/>
        </p:nvSpPr>
        <p:spPr>
          <a:xfrm>
            <a:off x="7162800" y="2114369"/>
            <a:ext cx="49682" cy="37770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16" name="Shape 114"/>
          <p:cNvSpPr/>
          <p:nvPr/>
        </p:nvSpPr>
        <p:spPr>
          <a:xfrm>
            <a:off x="7212482" y="4062135"/>
            <a:ext cx="49682" cy="59574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17" name="Shape 115"/>
          <p:cNvSpPr/>
          <p:nvPr/>
        </p:nvSpPr>
        <p:spPr>
          <a:xfrm>
            <a:off x="7212482" y="2152139"/>
            <a:ext cx="49682" cy="40944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18" name="Shape 116"/>
          <p:cNvSpPr/>
          <p:nvPr/>
        </p:nvSpPr>
        <p:spPr>
          <a:xfrm>
            <a:off x="7262165" y="4121709"/>
            <a:ext cx="49682" cy="57349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19" name="Shape 117"/>
          <p:cNvSpPr/>
          <p:nvPr/>
        </p:nvSpPr>
        <p:spPr>
          <a:xfrm>
            <a:off x="7262165" y="2193083"/>
            <a:ext cx="49682" cy="44006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20" name="Shape 118"/>
          <p:cNvSpPr/>
          <p:nvPr/>
        </p:nvSpPr>
        <p:spPr>
          <a:xfrm>
            <a:off x="7311847" y="4179058"/>
            <a:ext cx="49682" cy="54968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21" name="Shape 119"/>
          <p:cNvSpPr/>
          <p:nvPr/>
        </p:nvSpPr>
        <p:spPr>
          <a:xfrm>
            <a:off x="7311847" y="2237088"/>
            <a:ext cx="49682" cy="46947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22" name="Shape 120"/>
          <p:cNvSpPr/>
          <p:nvPr/>
        </p:nvSpPr>
        <p:spPr>
          <a:xfrm>
            <a:off x="7361530" y="4234026"/>
            <a:ext cx="49682" cy="5243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23" name="Shape 121"/>
          <p:cNvSpPr/>
          <p:nvPr/>
        </p:nvSpPr>
        <p:spPr>
          <a:xfrm>
            <a:off x="7361530" y="2284035"/>
            <a:ext cx="49682" cy="49759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24" name="Shape 122"/>
          <p:cNvSpPr/>
          <p:nvPr/>
        </p:nvSpPr>
        <p:spPr>
          <a:xfrm>
            <a:off x="7411212" y="4286461"/>
            <a:ext cx="49682" cy="49759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25" name="Shape 123"/>
          <p:cNvSpPr/>
          <p:nvPr/>
        </p:nvSpPr>
        <p:spPr>
          <a:xfrm>
            <a:off x="7411212" y="2333795"/>
            <a:ext cx="49682" cy="5243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26" name="Shape 124"/>
          <p:cNvSpPr/>
          <p:nvPr/>
        </p:nvSpPr>
        <p:spPr>
          <a:xfrm>
            <a:off x="7460894" y="4336221"/>
            <a:ext cx="49682" cy="46947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27" name="Shape 125"/>
          <p:cNvSpPr/>
          <p:nvPr/>
        </p:nvSpPr>
        <p:spPr>
          <a:xfrm>
            <a:off x="7460894" y="2386230"/>
            <a:ext cx="49682" cy="54968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28" name="Shape 126"/>
          <p:cNvSpPr/>
          <p:nvPr/>
        </p:nvSpPr>
        <p:spPr>
          <a:xfrm>
            <a:off x="7510577" y="4383168"/>
            <a:ext cx="49682" cy="44006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29" name="Shape 127"/>
          <p:cNvSpPr/>
          <p:nvPr/>
        </p:nvSpPr>
        <p:spPr>
          <a:xfrm>
            <a:off x="7510577" y="2441198"/>
            <a:ext cx="49682" cy="57349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30" name="Shape 128"/>
          <p:cNvSpPr/>
          <p:nvPr/>
        </p:nvSpPr>
        <p:spPr>
          <a:xfrm>
            <a:off x="7560259" y="4427173"/>
            <a:ext cx="49682" cy="40944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31" name="Shape 129"/>
          <p:cNvSpPr/>
          <p:nvPr/>
        </p:nvSpPr>
        <p:spPr>
          <a:xfrm>
            <a:off x="7560259" y="2498547"/>
            <a:ext cx="49682" cy="59574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32" name="Shape 130"/>
          <p:cNvSpPr/>
          <p:nvPr/>
        </p:nvSpPr>
        <p:spPr>
          <a:xfrm>
            <a:off x="7609942" y="4468117"/>
            <a:ext cx="49682" cy="37770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33" name="Shape 131"/>
          <p:cNvSpPr/>
          <p:nvPr/>
        </p:nvSpPr>
        <p:spPr>
          <a:xfrm>
            <a:off x="7609942" y="2558121"/>
            <a:ext cx="49682" cy="6163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34" name="Shape 132"/>
          <p:cNvSpPr/>
          <p:nvPr/>
        </p:nvSpPr>
        <p:spPr>
          <a:xfrm>
            <a:off x="7659624" y="4505887"/>
            <a:ext cx="49682" cy="34493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35" name="Shape 133"/>
          <p:cNvSpPr/>
          <p:nvPr/>
        </p:nvSpPr>
        <p:spPr>
          <a:xfrm>
            <a:off x="7659624" y="2619756"/>
            <a:ext cx="49682" cy="63527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36" name="Shape 134"/>
          <p:cNvSpPr/>
          <p:nvPr/>
        </p:nvSpPr>
        <p:spPr>
          <a:xfrm>
            <a:off x="7709306" y="4540380"/>
            <a:ext cx="49682" cy="31120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37" name="Shape 135"/>
          <p:cNvSpPr/>
          <p:nvPr/>
        </p:nvSpPr>
        <p:spPr>
          <a:xfrm>
            <a:off x="7709306" y="2683283"/>
            <a:ext cx="49682" cy="6524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38" name="Shape 136"/>
          <p:cNvSpPr/>
          <p:nvPr/>
        </p:nvSpPr>
        <p:spPr>
          <a:xfrm>
            <a:off x="7758989" y="4571500"/>
            <a:ext cx="49682" cy="27663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39" name="Shape 137"/>
          <p:cNvSpPr/>
          <p:nvPr/>
        </p:nvSpPr>
        <p:spPr>
          <a:xfrm>
            <a:off x="7758989" y="2748529"/>
            <a:ext cx="49682" cy="6678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40" name="Shape 138"/>
          <p:cNvSpPr/>
          <p:nvPr/>
        </p:nvSpPr>
        <p:spPr>
          <a:xfrm>
            <a:off x="7808671" y="4599164"/>
            <a:ext cx="49682" cy="24130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41" name="Shape 139"/>
          <p:cNvSpPr/>
          <p:nvPr/>
        </p:nvSpPr>
        <p:spPr>
          <a:xfrm>
            <a:off x="7808671" y="2815314"/>
            <a:ext cx="49682" cy="68141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42" name="Shape 140"/>
          <p:cNvSpPr/>
          <p:nvPr/>
        </p:nvSpPr>
        <p:spPr>
          <a:xfrm>
            <a:off x="7858354" y="4623294"/>
            <a:ext cx="49682" cy="20531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43" name="Shape 141"/>
          <p:cNvSpPr/>
          <p:nvPr/>
        </p:nvSpPr>
        <p:spPr>
          <a:xfrm>
            <a:off x="7858354" y="2883455"/>
            <a:ext cx="49682" cy="69311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44" name="Shape 142"/>
          <p:cNvSpPr/>
          <p:nvPr/>
        </p:nvSpPr>
        <p:spPr>
          <a:xfrm>
            <a:off x="7908036" y="4643824"/>
            <a:ext cx="49682" cy="1687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45" name="Shape 143"/>
          <p:cNvSpPr/>
          <p:nvPr/>
        </p:nvSpPr>
        <p:spPr>
          <a:xfrm>
            <a:off x="7908036" y="2952765"/>
            <a:ext cx="49682" cy="70290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46" name="Shape 144"/>
          <p:cNvSpPr/>
          <p:nvPr/>
        </p:nvSpPr>
        <p:spPr>
          <a:xfrm>
            <a:off x="7957718" y="4660699"/>
            <a:ext cx="49682" cy="13173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47" name="Shape 145"/>
          <p:cNvSpPr/>
          <p:nvPr/>
        </p:nvSpPr>
        <p:spPr>
          <a:xfrm>
            <a:off x="7957718" y="3023055"/>
            <a:ext cx="49682" cy="71077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48" name="Shape 146"/>
          <p:cNvSpPr/>
          <p:nvPr/>
        </p:nvSpPr>
        <p:spPr>
          <a:xfrm>
            <a:off x="8007401" y="4673873"/>
            <a:ext cx="49682" cy="943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49" name="Shape 147"/>
          <p:cNvSpPr/>
          <p:nvPr/>
        </p:nvSpPr>
        <p:spPr>
          <a:xfrm>
            <a:off x="8007401" y="3094132"/>
            <a:ext cx="49682" cy="71669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50" name="Shape 148"/>
          <p:cNvSpPr/>
          <p:nvPr/>
        </p:nvSpPr>
        <p:spPr>
          <a:xfrm>
            <a:off x="8057083" y="4683308"/>
            <a:ext cx="49682" cy="5672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51" name="Shape 149"/>
          <p:cNvSpPr/>
          <p:nvPr/>
        </p:nvSpPr>
        <p:spPr>
          <a:xfrm>
            <a:off x="8057083" y="3165801"/>
            <a:ext cx="49682" cy="72064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52" name="Shape 150"/>
          <p:cNvSpPr/>
          <p:nvPr/>
        </p:nvSpPr>
        <p:spPr>
          <a:xfrm>
            <a:off x="8106766" y="4688980"/>
            <a:ext cx="49682" cy="1892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53" name="Shape 151"/>
          <p:cNvSpPr/>
          <p:nvPr/>
        </p:nvSpPr>
        <p:spPr>
          <a:xfrm>
            <a:off x="8106766" y="3237865"/>
            <a:ext cx="49682" cy="72263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54" name="Shape 152"/>
          <p:cNvSpPr/>
          <p:nvPr/>
        </p:nvSpPr>
        <p:spPr>
          <a:xfrm>
            <a:off x="8156448" y="4690872"/>
            <a:ext cx="49682" cy="-1892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55" name="Shape 153"/>
          <p:cNvSpPr/>
          <p:nvPr/>
        </p:nvSpPr>
        <p:spPr>
          <a:xfrm>
            <a:off x="8156448" y="3310128"/>
            <a:ext cx="49682" cy="72263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56" name="Shape 154"/>
          <p:cNvSpPr/>
          <p:nvPr/>
        </p:nvSpPr>
        <p:spPr>
          <a:xfrm>
            <a:off x="8206130" y="4688980"/>
            <a:ext cx="49682" cy="-5672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57" name="Shape 155"/>
          <p:cNvSpPr/>
          <p:nvPr/>
        </p:nvSpPr>
        <p:spPr>
          <a:xfrm>
            <a:off x="8206130" y="3382391"/>
            <a:ext cx="49682" cy="72064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58" name="Shape 156"/>
          <p:cNvSpPr/>
          <p:nvPr/>
        </p:nvSpPr>
        <p:spPr>
          <a:xfrm>
            <a:off x="8255813" y="4683308"/>
            <a:ext cx="49682" cy="-943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59" name="Shape 157"/>
          <p:cNvSpPr/>
          <p:nvPr/>
        </p:nvSpPr>
        <p:spPr>
          <a:xfrm>
            <a:off x="8255813" y="3454455"/>
            <a:ext cx="49682" cy="71669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60" name="Shape 158"/>
          <p:cNvSpPr/>
          <p:nvPr/>
        </p:nvSpPr>
        <p:spPr>
          <a:xfrm>
            <a:off x="8305495" y="4673873"/>
            <a:ext cx="49682" cy="-13173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61" name="Shape 159"/>
          <p:cNvSpPr/>
          <p:nvPr/>
        </p:nvSpPr>
        <p:spPr>
          <a:xfrm>
            <a:off x="8305495" y="3526124"/>
            <a:ext cx="49682" cy="71077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62" name="Shape 160"/>
          <p:cNvSpPr/>
          <p:nvPr/>
        </p:nvSpPr>
        <p:spPr>
          <a:xfrm>
            <a:off x="8355178" y="4660699"/>
            <a:ext cx="49682" cy="-1687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63" name="Shape 161"/>
          <p:cNvSpPr/>
          <p:nvPr/>
        </p:nvSpPr>
        <p:spPr>
          <a:xfrm>
            <a:off x="8355178" y="3597201"/>
            <a:ext cx="49682" cy="70290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64" name="Shape 162"/>
          <p:cNvSpPr/>
          <p:nvPr/>
        </p:nvSpPr>
        <p:spPr>
          <a:xfrm>
            <a:off x="8404860" y="4643824"/>
            <a:ext cx="49682" cy="-20531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65" name="Shape 163"/>
          <p:cNvSpPr/>
          <p:nvPr/>
        </p:nvSpPr>
        <p:spPr>
          <a:xfrm>
            <a:off x="8404860" y="3667491"/>
            <a:ext cx="49682" cy="69311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66" name="Shape 164"/>
          <p:cNvSpPr/>
          <p:nvPr/>
        </p:nvSpPr>
        <p:spPr>
          <a:xfrm>
            <a:off x="8454542" y="4623294"/>
            <a:ext cx="49682" cy="-24130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67" name="Shape 165"/>
          <p:cNvSpPr/>
          <p:nvPr/>
        </p:nvSpPr>
        <p:spPr>
          <a:xfrm>
            <a:off x="8454542" y="3736801"/>
            <a:ext cx="49682" cy="68141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68" name="Shape 166"/>
          <p:cNvSpPr/>
          <p:nvPr/>
        </p:nvSpPr>
        <p:spPr>
          <a:xfrm>
            <a:off x="8504225" y="4599164"/>
            <a:ext cx="49682" cy="-27663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69" name="Shape 167"/>
          <p:cNvSpPr/>
          <p:nvPr/>
        </p:nvSpPr>
        <p:spPr>
          <a:xfrm>
            <a:off x="8504225" y="3804942"/>
            <a:ext cx="49682" cy="6678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70" name="Shape 168"/>
          <p:cNvSpPr/>
          <p:nvPr/>
        </p:nvSpPr>
        <p:spPr>
          <a:xfrm>
            <a:off x="8553907" y="4571500"/>
            <a:ext cx="49682" cy="-31120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71" name="Shape 169"/>
          <p:cNvSpPr/>
          <p:nvPr/>
        </p:nvSpPr>
        <p:spPr>
          <a:xfrm>
            <a:off x="8553907" y="3871727"/>
            <a:ext cx="49682" cy="6524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72" name="Shape 170"/>
          <p:cNvSpPr/>
          <p:nvPr/>
        </p:nvSpPr>
        <p:spPr>
          <a:xfrm>
            <a:off x="8603590" y="4540380"/>
            <a:ext cx="49682" cy="-34493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73" name="Shape 171"/>
          <p:cNvSpPr/>
          <p:nvPr/>
        </p:nvSpPr>
        <p:spPr>
          <a:xfrm>
            <a:off x="8603590" y="3936973"/>
            <a:ext cx="49682" cy="63527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74" name="Shape 172"/>
          <p:cNvSpPr/>
          <p:nvPr/>
        </p:nvSpPr>
        <p:spPr>
          <a:xfrm>
            <a:off x="8653272" y="4505887"/>
            <a:ext cx="49682" cy="-37770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75" name="Shape 173"/>
          <p:cNvSpPr/>
          <p:nvPr/>
        </p:nvSpPr>
        <p:spPr>
          <a:xfrm>
            <a:off x="8653272" y="4000500"/>
            <a:ext cx="49682" cy="6163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76" name="Shape 174"/>
          <p:cNvSpPr/>
          <p:nvPr/>
        </p:nvSpPr>
        <p:spPr>
          <a:xfrm>
            <a:off x="8702954" y="4468117"/>
            <a:ext cx="49682" cy="-40944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77" name="Shape 175"/>
          <p:cNvSpPr/>
          <p:nvPr/>
        </p:nvSpPr>
        <p:spPr>
          <a:xfrm>
            <a:off x="8702954" y="4062135"/>
            <a:ext cx="49682" cy="59574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78" name="Shape 176"/>
          <p:cNvSpPr/>
          <p:nvPr/>
        </p:nvSpPr>
        <p:spPr>
          <a:xfrm>
            <a:off x="8752637" y="4427173"/>
            <a:ext cx="49682" cy="-44006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79" name="Shape 177"/>
          <p:cNvSpPr/>
          <p:nvPr/>
        </p:nvSpPr>
        <p:spPr>
          <a:xfrm>
            <a:off x="8752637" y="4121709"/>
            <a:ext cx="49682" cy="57349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80" name="Shape 178"/>
          <p:cNvSpPr/>
          <p:nvPr/>
        </p:nvSpPr>
        <p:spPr>
          <a:xfrm>
            <a:off x="8802319" y="4383168"/>
            <a:ext cx="49682" cy="-46947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81" name="Shape 179"/>
          <p:cNvSpPr/>
          <p:nvPr/>
        </p:nvSpPr>
        <p:spPr>
          <a:xfrm>
            <a:off x="8802319" y="4179058"/>
            <a:ext cx="49682" cy="54968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82" name="Shape 180"/>
          <p:cNvSpPr/>
          <p:nvPr/>
        </p:nvSpPr>
        <p:spPr>
          <a:xfrm>
            <a:off x="8852002" y="4336221"/>
            <a:ext cx="49682" cy="-49759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83" name="Shape 181"/>
          <p:cNvSpPr/>
          <p:nvPr/>
        </p:nvSpPr>
        <p:spPr>
          <a:xfrm>
            <a:off x="8852002" y="4234026"/>
            <a:ext cx="49682" cy="5243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84" name="Shape 182"/>
          <p:cNvSpPr/>
          <p:nvPr/>
        </p:nvSpPr>
        <p:spPr>
          <a:xfrm>
            <a:off x="8901684" y="4286461"/>
            <a:ext cx="49682" cy="-5243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85" name="Shape 183"/>
          <p:cNvSpPr/>
          <p:nvPr/>
        </p:nvSpPr>
        <p:spPr>
          <a:xfrm>
            <a:off x="8901684" y="4286461"/>
            <a:ext cx="49682" cy="49759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86" name="Shape 184"/>
          <p:cNvSpPr/>
          <p:nvPr/>
        </p:nvSpPr>
        <p:spPr>
          <a:xfrm>
            <a:off x="8951366" y="4234026"/>
            <a:ext cx="49682" cy="-54968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87" name="Shape 185"/>
          <p:cNvSpPr/>
          <p:nvPr/>
        </p:nvSpPr>
        <p:spPr>
          <a:xfrm>
            <a:off x="8951366" y="4336221"/>
            <a:ext cx="49682" cy="46947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88" name="Shape 186"/>
          <p:cNvSpPr/>
          <p:nvPr/>
        </p:nvSpPr>
        <p:spPr>
          <a:xfrm>
            <a:off x="9001049" y="4179058"/>
            <a:ext cx="49682" cy="-57349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89" name="Shape 187"/>
          <p:cNvSpPr/>
          <p:nvPr/>
        </p:nvSpPr>
        <p:spPr>
          <a:xfrm>
            <a:off x="9001049" y="4383168"/>
            <a:ext cx="49682" cy="44006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90" name="Shape 188"/>
          <p:cNvSpPr/>
          <p:nvPr/>
        </p:nvSpPr>
        <p:spPr>
          <a:xfrm>
            <a:off x="9050731" y="4121709"/>
            <a:ext cx="49682" cy="-59574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91" name="Shape 189"/>
          <p:cNvSpPr/>
          <p:nvPr/>
        </p:nvSpPr>
        <p:spPr>
          <a:xfrm>
            <a:off x="9050731" y="4427173"/>
            <a:ext cx="49682" cy="40944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92" name="Shape 190"/>
          <p:cNvSpPr/>
          <p:nvPr/>
        </p:nvSpPr>
        <p:spPr>
          <a:xfrm>
            <a:off x="9100414" y="4062135"/>
            <a:ext cx="49682" cy="-6163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93" name="Shape 191"/>
          <p:cNvSpPr/>
          <p:nvPr/>
        </p:nvSpPr>
        <p:spPr>
          <a:xfrm>
            <a:off x="9100414" y="4468117"/>
            <a:ext cx="49682" cy="37770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94" name="Shape 192"/>
          <p:cNvSpPr/>
          <p:nvPr/>
        </p:nvSpPr>
        <p:spPr>
          <a:xfrm>
            <a:off x="9150096" y="4000500"/>
            <a:ext cx="49682" cy="-63527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95" name="Shape 193"/>
          <p:cNvSpPr/>
          <p:nvPr/>
        </p:nvSpPr>
        <p:spPr>
          <a:xfrm>
            <a:off x="9150096" y="4505887"/>
            <a:ext cx="49682" cy="34493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96" name="Shape 194"/>
          <p:cNvSpPr/>
          <p:nvPr/>
        </p:nvSpPr>
        <p:spPr>
          <a:xfrm>
            <a:off x="9199778" y="3936973"/>
            <a:ext cx="49682" cy="-6524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97" name="Shape 195"/>
          <p:cNvSpPr/>
          <p:nvPr/>
        </p:nvSpPr>
        <p:spPr>
          <a:xfrm>
            <a:off x="9199778" y="4540380"/>
            <a:ext cx="49682" cy="31120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198" name="Shape 196"/>
          <p:cNvSpPr/>
          <p:nvPr/>
        </p:nvSpPr>
        <p:spPr>
          <a:xfrm>
            <a:off x="9249461" y="3871727"/>
            <a:ext cx="49682" cy="-6678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199" name="Shape 197"/>
          <p:cNvSpPr/>
          <p:nvPr/>
        </p:nvSpPr>
        <p:spPr>
          <a:xfrm>
            <a:off x="9249461" y="4571500"/>
            <a:ext cx="49682" cy="27663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00" name="Shape 198"/>
          <p:cNvSpPr/>
          <p:nvPr/>
        </p:nvSpPr>
        <p:spPr>
          <a:xfrm>
            <a:off x="9299143" y="3804942"/>
            <a:ext cx="49682" cy="-68141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01" name="Shape 199"/>
          <p:cNvSpPr/>
          <p:nvPr/>
        </p:nvSpPr>
        <p:spPr>
          <a:xfrm>
            <a:off x="9299143" y="4599164"/>
            <a:ext cx="49682" cy="24130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02" name="Shape 200"/>
          <p:cNvSpPr/>
          <p:nvPr/>
        </p:nvSpPr>
        <p:spPr>
          <a:xfrm>
            <a:off x="9348826" y="3736801"/>
            <a:ext cx="49682" cy="-69311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03" name="Shape 201"/>
          <p:cNvSpPr/>
          <p:nvPr/>
        </p:nvSpPr>
        <p:spPr>
          <a:xfrm>
            <a:off x="9348826" y="4623294"/>
            <a:ext cx="49682" cy="20531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04" name="Shape 202"/>
          <p:cNvSpPr/>
          <p:nvPr/>
        </p:nvSpPr>
        <p:spPr>
          <a:xfrm>
            <a:off x="9398508" y="3667491"/>
            <a:ext cx="49682" cy="-70290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05" name="Shape 203"/>
          <p:cNvSpPr/>
          <p:nvPr/>
        </p:nvSpPr>
        <p:spPr>
          <a:xfrm>
            <a:off x="9398508" y="4643824"/>
            <a:ext cx="49682" cy="1687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06" name="Shape 204"/>
          <p:cNvSpPr/>
          <p:nvPr/>
        </p:nvSpPr>
        <p:spPr>
          <a:xfrm>
            <a:off x="9448190" y="3597201"/>
            <a:ext cx="49682" cy="-71077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07" name="Shape 205"/>
          <p:cNvSpPr/>
          <p:nvPr/>
        </p:nvSpPr>
        <p:spPr>
          <a:xfrm>
            <a:off x="9448190" y="4660699"/>
            <a:ext cx="49682" cy="13173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08" name="Shape 206"/>
          <p:cNvSpPr/>
          <p:nvPr/>
        </p:nvSpPr>
        <p:spPr>
          <a:xfrm>
            <a:off x="9497873" y="3526124"/>
            <a:ext cx="49682" cy="-71669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09" name="Shape 207"/>
          <p:cNvSpPr/>
          <p:nvPr/>
        </p:nvSpPr>
        <p:spPr>
          <a:xfrm>
            <a:off x="9497873" y="4673873"/>
            <a:ext cx="49682" cy="943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10" name="Shape 208"/>
          <p:cNvSpPr/>
          <p:nvPr/>
        </p:nvSpPr>
        <p:spPr>
          <a:xfrm>
            <a:off x="9547555" y="3454455"/>
            <a:ext cx="49682" cy="-72064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11" name="Shape 209"/>
          <p:cNvSpPr/>
          <p:nvPr/>
        </p:nvSpPr>
        <p:spPr>
          <a:xfrm>
            <a:off x="9547555" y="4683308"/>
            <a:ext cx="49682" cy="5672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12" name="Shape 210"/>
          <p:cNvSpPr/>
          <p:nvPr/>
        </p:nvSpPr>
        <p:spPr>
          <a:xfrm>
            <a:off x="9597238" y="3382391"/>
            <a:ext cx="49682" cy="-72263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13" name="Shape 211"/>
          <p:cNvSpPr/>
          <p:nvPr/>
        </p:nvSpPr>
        <p:spPr>
          <a:xfrm>
            <a:off x="9597238" y="4688980"/>
            <a:ext cx="49682" cy="1892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14" name="Shape 212"/>
          <p:cNvSpPr/>
          <p:nvPr/>
        </p:nvSpPr>
        <p:spPr>
          <a:xfrm>
            <a:off x="9646920" y="3310128"/>
            <a:ext cx="49682" cy="-72263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15" name="Shape 213"/>
          <p:cNvSpPr/>
          <p:nvPr/>
        </p:nvSpPr>
        <p:spPr>
          <a:xfrm>
            <a:off x="9646920" y="4690872"/>
            <a:ext cx="49682" cy="-1892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16" name="Shape 214"/>
          <p:cNvSpPr/>
          <p:nvPr/>
        </p:nvSpPr>
        <p:spPr>
          <a:xfrm>
            <a:off x="9696602" y="3237865"/>
            <a:ext cx="49682" cy="-72064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17" name="Shape 215"/>
          <p:cNvSpPr/>
          <p:nvPr/>
        </p:nvSpPr>
        <p:spPr>
          <a:xfrm>
            <a:off x="9696602" y="4688980"/>
            <a:ext cx="49682" cy="-5672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18" name="Shape 216"/>
          <p:cNvSpPr/>
          <p:nvPr/>
        </p:nvSpPr>
        <p:spPr>
          <a:xfrm>
            <a:off x="9746285" y="3165801"/>
            <a:ext cx="49682" cy="-71669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19" name="Shape 217"/>
          <p:cNvSpPr/>
          <p:nvPr/>
        </p:nvSpPr>
        <p:spPr>
          <a:xfrm>
            <a:off x="9746285" y="4683308"/>
            <a:ext cx="49682" cy="-943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20" name="Shape 218"/>
          <p:cNvSpPr/>
          <p:nvPr/>
        </p:nvSpPr>
        <p:spPr>
          <a:xfrm>
            <a:off x="9795967" y="3094132"/>
            <a:ext cx="49682" cy="-71077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21" name="Shape 219"/>
          <p:cNvSpPr/>
          <p:nvPr/>
        </p:nvSpPr>
        <p:spPr>
          <a:xfrm>
            <a:off x="9795967" y="4673873"/>
            <a:ext cx="49682" cy="-13173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22" name="Shape 220"/>
          <p:cNvSpPr/>
          <p:nvPr/>
        </p:nvSpPr>
        <p:spPr>
          <a:xfrm>
            <a:off x="9845650" y="3023055"/>
            <a:ext cx="49682" cy="-70290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23" name="Shape 221"/>
          <p:cNvSpPr/>
          <p:nvPr/>
        </p:nvSpPr>
        <p:spPr>
          <a:xfrm>
            <a:off x="9845650" y="4660699"/>
            <a:ext cx="49682" cy="-1687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24" name="Shape 222"/>
          <p:cNvSpPr/>
          <p:nvPr/>
        </p:nvSpPr>
        <p:spPr>
          <a:xfrm>
            <a:off x="9895332" y="2952765"/>
            <a:ext cx="49682" cy="-69311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25" name="Shape 223"/>
          <p:cNvSpPr/>
          <p:nvPr/>
        </p:nvSpPr>
        <p:spPr>
          <a:xfrm>
            <a:off x="9895332" y="4643824"/>
            <a:ext cx="49682" cy="-20531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26" name="Shape 224"/>
          <p:cNvSpPr/>
          <p:nvPr/>
        </p:nvSpPr>
        <p:spPr>
          <a:xfrm>
            <a:off x="9945014" y="2883455"/>
            <a:ext cx="49682" cy="-68141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27" name="Shape 225"/>
          <p:cNvSpPr/>
          <p:nvPr/>
        </p:nvSpPr>
        <p:spPr>
          <a:xfrm>
            <a:off x="9945014" y="4623294"/>
            <a:ext cx="49682" cy="-24130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28" name="Shape 226"/>
          <p:cNvSpPr/>
          <p:nvPr/>
        </p:nvSpPr>
        <p:spPr>
          <a:xfrm>
            <a:off x="9994697" y="2815314"/>
            <a:ext cx="49682" cy="-6678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29" name="Shape 227"/>
          <p:cNvSpPr/>
          <p:nvPr/>
        </p:nvSpPr>
        <p:spPr>
          <a:xfrm>
            <a:off x="9994697" y="4599164"/>
            <a:ext cx="49682" cy="-27663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30" name="Shape 228"/>
          <p:cNvSpPr/>
          <p:nvPr/>
        </p:nvSpPr>
        <p:spPr>
          <a:xfrm>
            <a:off x="10044379" y="2748529"/>
            <a:ext cx="49682" cy="-6524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31" name="Shape 229"/>
          <p:cNvSpPr/>
          <p:nvPr/>
        </p:nvSpPr>
        <p:spPr>
          <a:xfrm>
            <a:off x="10044379" y="4571500"/>
            <a:ext cx="49682" cy="-31120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32" name="Shape 230"/>
          <p:cNvSpPr/>
          <p:nvPr/>
        </p:nvSpPr>
        <p:spPr>
          <a:xfrm>
            <a:off x="10094062" y="2683283"/>
            <a:ext cx="49682" cy="-63527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33" name="Shape 231"/>
          <p:cNvSpPr/>
          <p:nvPr/>
        </p:nvSpPr>
        <p:spPr>
          <a:xfrm>
            <a:off x="10094062" y="4540380"/>
            <a:ext cx="49682" cy="-34493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34" name="Shape 232"/>
          <p:cNvSpPr/>
          <p:nvPr/>
        </p:nvSpPr>
        <p:spPr>
          <a:xfrm>
            <a:off x="10143744" y="2619756"/>
            <a:ext cx="49682" cy="-6163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35" name="Shape 233"/>
          <p:cNvSpPr/>
          <p:nvPr/>
        </p:nvSpPr>
        <p:spPr>
          <a:xfrm>
            <a:off x="10143744" y="4505887"/>
            <a:ext cx="49682" cy="-37770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36" name="Shape 234"/>
          <p:cNvSpPr/>
          <p:nvPr/>
        </p:nvSpPr>
        <p:spPr>
          <a:xfrm>
            <a:off x="10193426" y="2558121"/>
            <a:ext cx="49682" cy="-59574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37" name="Shape 235"/>
          <p:cNvSpPr/>
          <p:nvPr/>
        </p:nvSpPr>
        <p:spPr>
          <a:xfrm>
            <a:off x="10193426" y="4468117"/>
            <a:ext cx="49682" cy="-40944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38" name="Shape 236"/>
          <p:cNvSpPr/>
          <p:nvPr/>
        </p:nvSpPr>
        <p:spPr>
          <a:xfrm>
            <a:off x="10243109" y="2498547"/>
            <a:ext cx="49682" cy="-57349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39" name="Shape 237"/>
          <p:cNvSpPr/>
          <p:nvPr/>
        </p:nvSpPr>
        <p:spPr>
          <a:xfrm>
            <a:off x="10243109" y="4427173"/>
            <a:ext cx="49682" cy="-44006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40" name="Shape 238"/>
          <p:cNvSpPr/>
          <p:nvPr/>
        </p:nvSpPr>
        <p:spPr>
          <a:xfrm>
            <a:off x="10292791" y="2441198"/>
            <a:ext cx="49682" cy="-54968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41" name="Shape 239"/>
          <p:cNvSpPr/>
          <p:nvPr/>
        </p:nvSpPr>
        <p:spPr>
          <a:xfrm>
            <a:off x="10292791" y="4383168"/>
            <a:ext cx="49682" cy="-46947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42" name="Shape 240"/>
          <p:cNvSpPr/>
          <p:nvPr/>
        </p:nvSpPr>
        <p:spPr>
          <a:xfrm>
            <a:off x="10342474" y="2386230"/>
            <a:ext cx="49682" cy="-5243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43" name="Shape 241"/>
          <p:cNvSpPr/>
          <p:nvPr/>
        </p:nvSpPr>
        <p:spPr>
          <a:xfrm>
            <a:off x="10342474" y="4336221"/>
            <a:ext cx="49682" cy="-49759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44" name="Shape 242"/>
          <p:cNvSpPr/>
          <p:nvPr/>
        </p:nvSpPr>
        <p:spPr>
          <a:xfrm>
            <a:off x="10392156" y="2333795"/>
            <a:ext cx="49682" cy="-49759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45" name="Shape 243"/>
          <p:cNvSpPr/>
          <p:nvPr/>
        </p:nvSpPr>
        <p:spPr>
          <a:xfrm>
            <a:off x="10392156" y="4286461"/>
            <a:ext cx="49682" cy="-5243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46" name="Shape 244"/>
          <p:cNvSpPr/>
          <p:nvPr/>
        </p:nvSpPr>
        <p:spPr>
          <a:xfrm>
            <a:off x="10441838" y="2284035"/>
            <a:ext cx="49682" cy="-46947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47" name="Shape 245"/>
          <p:cNvSpPr/>
          <p:nvPr/>
        </p:nvSpPr>
        <p:spPr>
          <a:xfrm>
            <a:off x="10441838" y="4234026"/>
            <a:ext cx="49682" cy="-54968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48" name="Shape 246"/>
          <p:cNvSpPr/>
          <p:nvPr/>
        </p:nvSpPr>
        <p:spPr>
          <a:xfrm>
            <a:off x="10491521" y="2237088"/>
            <a:ext cx="49682" cy="-44006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49" name="Shape 247"/>
          <p:cNvSpPr/>
          <p:nvPr/>
        </p:nvSpPr>
        <p:spPr>
          <a:xfrm>
            <a:off x="10491521" y="4179058"/>
            <a:ext cx="49682" cy="-57349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50" name="Shape 248"/>
          <p:cNvSpPr/>
          <p:nvPr/>
        </p:nvSpPr>
        <p:spPr>
          <a:xfrm>
            <a:off x="10541203" y="2193083"/>
            <a:ext cx="49682" cy="-40944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51" name="Shape 249"/>
          <p:cNvSpPr/>
          <p:nvPr/>
        </p:nvSpPr>
        <p:spPr>
          <a:xfrm>
            <a:off x="10541203" y="4121709"/>
            <a:ext cx="49682" cy="-59574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52" name="Shape 250"/>
          <p:cNvSpPr/>
          <p:nvPr/>
        </p:nvSpPr>
        <p:spPr>
          <a:xfrm>
            <a:off x="10590886" y="2152139"/>
            <a:ext cx="49682" cy="-37770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53" name="Shape 251"/>
          <p:cNvSpPr/>
          <p:nvPr/>
        </p:nvSpPr>
        <p:spPr>
          <a:xfrm>
            <a:off x="10590886" y="4062135"/>
            <a:ext cx="49682" cy="-6163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54" name="Shape 252"/>
          <p:cNvSpPr/>
          <p:nvPr/>
        </p:nvSpPr>
        <p:spPr>
          <a:xfrm>
            <a:off x="10640568" y="2114369"/>
            <a:ext cx="49682" cy="-34493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55" name="Shape 253"/>
          <p:cNvSpPr/>
          <p:nvPr/>
        </p:nvSpPr>
        <p:spPr>
          <a:xfrm>
            <a:off x="10640568" y="4000500"/>
            <a:ext cx="49682" cy="-63527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56" name="Shape 254"/>
          <p:cNvSpPr/>
          <p:nvPr/>
        </p:nvSpPr>
        <p:spPr>
          <a:xfrm>
            <a:off x="10690250" y="2079876"/>
            <a:ext cx="49682" cy="-31120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57" name="Shape 255"/>
          <p:cNvSpPr/>
          <p:nvPr/>
        </p:nvSpPr>
        <p:spPr>
          <a:xfrm>
            <a:off x="10690250" y="3936973"/>
            <a:ext cx="49682" cy="-6524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58" name="Shape 256"/>
          <p:cNvSpPr/>
          <p:nvPr/>
        </p:nvSpPr>
        <p:spPr>
          <a:xfrm>
            <a:off x="10739933" y="2048756"/>
            <a:ext cx="49682" cy="-27663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59" name="Shape 257"/>
          <p:cNvSpPr/>
          <p:nvPr/>
        </p:nvSpPr>
        <p:spPr>
          <a:xfrm>
            <a:off x="10739933" y="3871727"/>
            <a:ext cx="49682" cy="-66785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60" name="Shape 258"/>
          <p:cNvSpPr/>
          <p:nvPr/>
        </p:nvSpPr>
        <p:spPr>
          <a:xfrm>
            <a:off x="10789615" y="2021092"/>
            <a:ext cx="49682" cy="-24130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61" name="Shape 259"/>
          <p:cNvSpPr/>
          <p:nvPr/>
        </p:nvSpPr>
        <p:spPr>
          <a:xfrm>
            <a:off x="10789615" y="3804942"/>
            <a:ext cx="49682" cy="-68141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62" name="Shape 260"/>
          <p:cNvSpPr/>
          <p:nvPr/>
        </p:nvSpPr>
        <p:spPr>
          <a:xfrm>
            <a:off x="10839298" y="1996962"/>
            <a:ext cx="49682" cy="-20531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63" name="Shape 261"/>
          <p:cNvSpPr/>
          <p:nvPr/>
        </p:nvSpPr>
        <p:spPr>
          <a:xfrm>
            <a:off x="10839298" y="3736801"/>
            <a:ext cx="49682" cy="-69311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64" name="Shape 262"/>
          <p:cNvSpPr/>
          <p:nvPr/>
        </p:nvSpPr>
        <p:spPr>
          <a:xfrm>
            <a:off x="10888980" y="1976432"/>
            <a:ext cx="49682" cy="-1687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65" name="Shape 263"/>
          <p:cNvSpPr/>
          <p:nvPr/>
        </p:nvSpPr>
        <p:spPr>
          <a:xfrm>
            <a:off x="10888980" y="3667491"/>
            <a:ext cx="49682" cy="-70290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66" name="Shape 264"/>
          <p:cNvSpPr/>
          <p:nvPr/>
        </p:nvSpPr>
        <p:spPr>
          <a:xfrm>
            <a:off x="10938662" y="1959557"/>
            <a:ext cx="49682" cy="-13173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67" name="Shape 265"/>
          <p:cNvSpPr/>
          <p:nvPr/>
        </p:nvSpPr>
        <p:spPr>
          <a:xfrm>
            <a:off x="10938662" y="3597201"/>
            <a:ext cx="49682" cy="-71077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68" name="Shape 266"/>
          <p:cNvSpPr/>
          <p:nvPr/>
        </p:nvSpPr>
        <p:spPr>
          <a:xfrm>
            <a:off x="10988345" y="1946383"/>
            <a:ext cx="49682" cy="-9435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69" name="Shape 267"/>
          <p:cNvSpPr/>
          <p:nvPr/>
        </p:nvSpPr>
        <p:spPr>
          <a:xfrm>
            <a:off x="10988345" y="3526124"/>
            <a:ext cx="49682" cy="-71669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70" name="Shape 268"/>
          <p:cNvSpPr/>
          <p:nvPr/>
        </p:nvSpPr>
        <p:spPr>
          <a:xfrm>
            <a:off x="11038027" y="1936948"/>
            <a:ext cx="49682" cy="-5672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71" name="Shape 269"/>
          <p:cNvSpPr/>
          <p:nvPr/>
        </p:nvSpPr>
        <p:spPr>
          <a:xfrm>
            <a:off x="11038027" y="3454455"/>
            <a:ext cx="49682" cy="-72064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72" name="Shape 270"/>
          <p:cNvSpPr/>
          <p:nvPr/>
        </p:nvSpPr>
        <p:spPr>
          <a:xfrm>
            <a:off x="11087710" y="1931276"/>
            <a:ext cx="49682" cy="-1892"/>
          </a:xfrm>
          <a:prstGeom prst="line">
            <a:avLst/>
          </a:prstGeom>
          <a:noFill/>
          <a:ln w="22860">
            <a:solidFill>
              <a:srgbClr val="2D69AA"/>
            </a:solidFill>
            <a:prstDash val="solid"/>
            <a:tailEnd type="none"/>
          </a:ln>
        </p:spPr>
      </p:sp>
      <p:sp>
        <p:nvSpPr>
          <p:cNvPr id="273" name="Shape 271"/>
          <p:cNvSpPr/>
          <p:nvPr/>
        </p:nvSpPr>
        <p:spPr>
          <a:xfrm>
            <a:off x="11087710" y="3382391"/>
            <a:ext cx="49682" cy="-72263"/>
          </a:xfrm>
          <a:prstGeom prst="line">
            <a:avLst/>
          </a:prstGeom>
          <a:noFill/>
          <a:ln w="22860">
            <a:solidFill>
              <a:srgbClr val="D88134"/>
            </a:solidFill>
            <a:prstDash val="solid"/>
            <a:tailEnd type="none"/>
          </a:ln>
        </p:spPr>
      </p:sp>
      <p:sp>
        <p:nvSpPr>
          <p:cNvPr id="274" name="Text 272"/>
          <p:cNvSpPr/>
          <p:nvPr/>
        </p:nvSpPr>
        <p:spPr>
          <a:xfrm>
            <a:off x="9674352" y="192938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D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Ψ / Ψ̂</a:t>
            </a:r>
            <a:endParaRPr lang="en-US" sz="870" dirty="0"/>
          </a:p>
        </p:txBody>
      </p:sp>
      <p:sp>
        <p:nvSpPr>
          <p:cNvPr id="275" name="Shape 273"/>
          <p:cNvSpPr/>
          <p:nvPr/>
        </p:nvSpPr>
        <p:spPr>
          <a:xfrm>
            <a:off x="9436608" y="2011680"/>
            <a:ext cx="201168" cy="0"/>
          </a:xfrm>
          <a:prstGeom prst="line">
            <a:avLst/>
          </a:prstGeom>
          <a:noFill/>
          <a:ln w="25400">
            <a:solidFill>
              <a:srgbClr val="2D69AA"/>
            </a:solidFill>
            <a:prstDash val="solid"/>
            <a:tailEnd type="none"/>
          </a:ln>
        </p:spPr>
      </p:sp>
      <p:sp>
        <p:nvSpPr>
          <p:cNvPr id="276" name="Text 274"/>
          <p:cNvSpPr/>
          <p:nvPr/>
        </p:nvSpPr>
        <p:spPr>
          <a:xfrm>
            <a:off x="10515600" y="192938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D8813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 / Ê</a:t>
            </a:r>
            <a:endParaRPr lang="en-US" sz="870" dirty="0"/>
          </a:p>
        </p:txBody>
      </p:sp>
      <p:sp>
        <p:nvSpPr>
          <p:cNvPr id="277" name="Shape 275"/>
          <p:cNvSpPr/>
          <p:nvPr/>
        </p:nvSpPr>
        <p:spPr>
          <a:xfrm>
            <a:off x="10277856" y="2011680"/>
            <a:ext cx="201168" cy="0"/>
          </a:xfrm>
          <a:prstGeom prst="line">
            <a:avLst/>
          </a:prstGeom>
          <a:noFill/>
          <a:ln w="25400">
            <a:solidFill>
              <a:srgbClr val="D88134"/>
            </a:solidFill>
            <a:prstDash val="solid"/>
            <a:tailEnd type="none"/>
          </a:ln>
        </p:spPr>
      </p:sp>
      <p:sp>
        <p:nvSpPr>
          <p:cNvPr id="278" name="Text 276"/>
          <p:cNvSpPr/>
          <p:nvPr/>
        </p:nvSpPr>
        <p:spPr>
          <a:xfrm>
            <a:off x="4791456" y="510235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Ψ(t)=0.12 cos(2π50t) Wb・turn → Ê=0.12×2π50=37.7 V、Erms=26.7 V</a:t>
            </a:r>
            <a:endParaRPr lang="en-US" sz="10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誘導電流：RだけでなくLを見る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速度で起電力が増えても、ωLが増えるためIは単純比例とは限らない</a:t>
            </a:r>
            <a:endParaRPr lang="en-US" sz="1030" dirty="0"/>
          </a:p>
        </p:txBody>
      </p:sp>
      <p:sp>
        <p:nvSpPr>
          <p:cNvPr id="4" name="Shape 2"/>
          <p:cNvSpPr/>
          <p:nvPr/>
        </p:nvSpPr>
        <p:spPr>
          <a:xfrm>
            <a:off x="566928" y="1225296"/>
            <a:ext cx="3913632" cy="2066544"/>
          </a:xfrm>
          <a:prstGeom prst="roundRect">
            <a:avLst>
              <a:gd name="adj" fmla="val 2212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25296"/>
            <a:ext cx="73152" cy="2066544"/>
          </a:xfrm>
          <a:prstGeom prst="rect">
            <a:avLst/>
          </a:prstGeom>
          <a:solidFill>
            <a:srgbClr val="2A8C82"/>
          </a:solidFill>
          <a:ln w="12700">
            <a:solidFill>
              <a:srgbClr val="2A8C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16736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R-L 1コイル教材モデル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363931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Z=R+jωL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|I|=|E|/√(R²+(ωL)²)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ω=kv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Erms=kΨ̂v/√2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Irms(v)= [kΨ̂v/√2] / √[R²+(kLv)²]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529584"/>
            <a:ext cx="3913632" cy="1984248"/>
          </a:xfrm>
          <a:prstGeom prst="roundRect">
            <a:avLst>
              <a:gd name="adj" fmla="val 2304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529584"/>
            <a:ext cx="73152" cy="1984248"/>
          </a:xfrm>
          <a:prstGeom prst="rect">
            <a:avLst/>
          </a:prstGeom>
          <a:solidFill>
            <a:srgbClr val="D88134"/>
          </a:solidFill>
          <a:ln w="12700">
            <a:solidFill>
              <a:srgbClr val="D881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621024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成立条件と読み方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986784"/>
            <a:ext cx="363931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教材用仮定値：Ψ̂=0.08 Wb・turn, k=4 rad/m, R=0.60 Ω, L=20 mH。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低速：R支配で I∝v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高速：kLv が支配し I は飽和傾向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L0系実機コイル網の等価回路ではない。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18304" y="1225296"/>
            <a:ext cx="6858000" cy="4288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指定可視化②  速度―誘導電流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376672" y="4654296"/>
            <a:ext cx="5724144" cy="0"/>
          </a:xfrm>
          <a:prstGeom prst="line">
            <a:avLst/>
          </a:prstGeom>
          <a:noFill/>
          <a:ln w="13970">
            <a:solidFill>
              <a:srgbClr val="69717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76672" y="4654296"/>
            <a:ext cx="0" cy="-2706624"/>
          </a:xfrm>
          <a:prstGeom prst="line">
            <a:avLst/>
          </a:prstGeom>
          <a:noFill/>
          <a:ln w="13970">
            <a:solidFill>
              <a:srgbClr val="69717C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866376" y="477316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 [m/s]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58384" y="1719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Iᵣₘₛ [A]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76672" y="1947672"/>
            <a:ext cx="0" cy="2706624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5193792" y="469087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521501" y="1947672"/>
            <a:ext cx="0" cy="2706624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6338621" y="469087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666330" y="1947672"/>
            <a:ext cx="0" cy="2706624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7483450" y="469087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8811158" y="1947672"/>
            <a:ext cx="0" cy="2706624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8628278" y="469087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60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9955987" y="1947672"/>
            <a:ext cx="0" cy="2706624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9773107" y="469087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80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1100816" y="1947672"/>
            <a:ext cx="0" cy="2706624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0917936" y="469087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376672" y="4654296"/>
            <a:ext cx="5724144" cy="0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4892040" y="458114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376672" y="3752088"/>
            <a:ext cx="5724144" cy="0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4892040" y="367893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376672" y="2849880"/>
            <a:ext cx="5724144" cy="0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4892040" y="277672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376672" y="1947672"/>
            <a:ext cx="5724144" cy="0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4892040" y="1874520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376672" y="4654296"/>
            <a:ext cx="114483" cy="-657511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5491155" y="3996785"/>
            <a:ext cx="114483" cy="-543350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5605638" y="3453435"/>
            <a:ext cx="114483" cy="-393254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5720121" y="3060181"/>
            <a:ext cx="114483" cy="-267539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5834604" y="2792641"/>
            <a:ext cx="114483" cy="-179809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5949086" y="2612832"/>
            <a:ext cx="114483" cy="-122483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6063569" y="2490349"/>
            <a:ext cx="114483" cy="-85440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6178052" y="2404909"/>
            <a:ext cx="114483" cy="-61190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6292535" y="2343719"/>
            <a:ext cx="114483" cy="-44958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6407018" y="2298761"/>
            <a:ext cx="114483" cy="-33817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6521501" y="2264944"/>
            <a:ext cx="114483" cy="-25980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6635984" y="2238963"/>
            <a:ext cx="114483" cy="-20338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6750467" y="2218626"/>
            <a:ext cx="114483" cy="-16188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6864949" y="2202438"/>
            <a:ext cx="114483" cy="-13077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6979432" y="2189361"/>
            <a:ext cx="114483" cy="-10704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7093915" y="2178658"/>
            <a:ext cx="114483" cy="-8865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7208398" y="2169793"/>
            <a:ext cx="114483" cy="-7419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7322881" y="2162374"/>
            <a:ext cx="114483" cy="-6269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7437364" y="2156105"/>
            <a:ext cx="114483" cy="-5343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7551847" y="2150762"/>
            <a:ext cx="114483" cy="-4589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7666330" y="2146174"/>
            <a:ext cx="114483" cy="-3969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7780812" y="2142205"/>
            <a:ext cx="114483" cy="-3456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7895295" y="2138749"/>
            <a:ext cx="114483" cy="-3026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8009778" y="2135723"/>
            <a:ext cx="114483" cy="-2665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8124261" y="2133058"/>
            <a:ext cx="114483" cy="-2359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8238744" y="2130699"/>
            <a:ext cx="114483" cy="-2097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8353227" y="2128602"/>
            <a:ext cx="114483" cy="-1873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8467710" y="2126729"/>
            <a:ext cx="114483" cy="-1680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8582193" y="2125049"/>
            <a:ext cx="114483" cy="-1512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8696676" y="2123537"/>
            <a:ext cx="114483" cy="-1365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8811158" y="2122172"/>
            <a:ext cx="114483" cy="-1237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8925641" y="2120935"/>
            <a:ext cx="114483" cy="-1125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9040124" y="2119810"/>
            <a:ext cx="114483" cy="-1025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9154607" y="2118785"/>
            <a:ext cx="114483" cy="-937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9269090" y="2117847"/>
            <a:ext cx="114483" cy="-859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9383573" y="2116988"/>
            <a:ext cx="114483" cy="-789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9498056" y="2116199"/>
            <a:ext cx="114483" cy="-727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9612539" y="2115473"/>
            <a:ext cx="114483" cy="-671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9727021" y="2114802"/>
            <a:ext cx="114483" cy="-620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9841504" y="2114182"/>
            <a:ext cx="114483" cy="-575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9955987" y="2113607"/>
            <a:ext cx="114483" cy="-533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79" name="Shape 77"/>
          <p:cNvSpPr/>
          <p:nvPr/>
        </p:nvSpPr>
        <p:spPr>
          <a:xfrm>
            <a:off x="10070470" y="2113074"/>
            <a:ext cx="114483" cy="-496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80" name="Shape 78"/>
          <p:cNvSpPr/>
          <p:nvPr/>
        </p:nvSpPr>
        <p:spPr>
          <a:xfrm>
            <a:off x="10184953" y="2112578"/>
            <a:ext cx="114483" cy="-462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10299436" y="2112115"/>
            <a:ext cx="114483" cy="-431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10413919" y="2111684"/>
            <a:ext cx="114483" cy="-403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10528402" y="2111281"/>
            <a:ext cx="114483" cy="-377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84" name="Shape 82"/>
          <p:cNvSpPr/>
          <p:nvPr/>
        </p:nvSpPr>
        <p:spPr>
          <a:xfrm>
            <a:off x="10642884" y="2110904"/>
            <a:ext cx="114483" cy="-354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10757367" y="2110550"/>
            <a:ext cx="114483" cy="-332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10871850" y="2110219"/>
            <a:ext cx="114483" cy="-312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10986333" y="2109907"/>
            <a:ext cx="114483" cy="-293"/>
          </a:xfrm>
          <a:prstGeom prst="line">
            <a:avLst/>
          </a:prstGeom>
          <a:noFill/>
          <a:ln w="25400">
            <a:solidFill>
              <a:srgbClr val="2A8C82"/>
            </a:solidFill>
            <a:prstDash val="solid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5912510" y="2578730"/>
            <a:ext cx="73152" cy="73152"/>
          </a:xfrm>
          <a:prstGeom prst="ellipse">
            <a:avLst/>
          </a:prstGeom>
          <a:solidFill>
            <a:srgbClr val="B44646"/>
          </a:solidFill>
          <a:ln w="12700">
            <a:solidFill>
              <a:srgbClr val="B4464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003950" y="245985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10: 2.26 A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7057339" y="2145670"/>
            <a:ext cx="73152" cy="73152"/>
          </a:xfrm>
          <a:prstGeom prst="ellipse">
            <a:avLst/>
          </a:prstGeom>
          <a:solidFill>
            <a:srgbClr val="B44646"/>
          </a:solidFill>
          <a:ln w="12700">
            <a:solidFill>
              <a:srgbClr val="B4464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148779" y="202679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30: 2.74 A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8774582" y="2082516"/>
            <a:ext cx="73152" cy="73152"/>
          </a:xfrm>
          <a:prstGeom prst="ellipse">
            <a:avLst/>
          </a:prstGeom>
          <a:solidFill>
            <a:srgbClr val="B44646"/>
          </a:solidFill>
          <a:ln w="12700">
            <a:solidFill>
              <a:srgbClr val="B4464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866022" y="196364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60: 2.81 A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4956048" y="511149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A8C8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代表値：10 m/s → 2.26 A、30 → 2.74 A、60 → 2.81 A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 磁気エネルギーから電磁力へ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 1/2Li² でも「何を一定にして微分するか」を間違えない</a:t>
            </a:r>
            <a:endParaRPr lang="en-US" sz="1030" dirty="0"/>
          </a:p>
        </p:txBody>
      </p:sp>
      <p:sp>
        <p:nvSpPr>
          <p:cNvPr id="4" name="Shape 2"/>
          <p:cNvSpPr/>
          <p:nvPr/>
        </p:nvSpPr>
        <p:spPr>
          <a:xfrm>
            <a:off x="566928" y="1225296"/>
            <a:ext cx="3419856" cy="2011680"/>
          </a:xfrm>
          <a:prstGeom prst="roundRect">
            <a:avLst>
              <a:gd name="adj" fmla="val 2273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25296"/>
            <a:ext cx="73152" cy="2011680"/>
          </a:xfrm>
          <a:prstGeom prst="rect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16736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電流一定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31455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W′m(i,x)=∫₀ⁱ Ψ(i′,x)di′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線形：W′m=1/2 L(x)i²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F=(∂W′m/∂x)ᵢ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F=1/2 i² dL/dx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456432"/>
            <a:ext cx="3419856" cy="2011680"/>
          </a:xfrm>
          <a:prstGeom prst="roundRect">
            <a:avLst>
              <a:gd name="adj" fmla="val 2273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456432"/>
            <a:ext cx="73152" cy="2011680"/>
          </a:xfrm>
          <a:prstGeom prst="rect">
            <a:avLst/>
          </a:prstGeom>
          <a:solidFill>
            <a:srgbClr val="7758A6"/>
          </a:solidFill>
          <a:ln w="12700">
            <a:solidFill>
              <a:srgbClr val="775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47872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鎖交磁束一定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913632"/>
            <a:ext cx="31455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Wm(Ψ,x) を用いる</a:t>
            </a:r>
            <a:endParaRPr lang="en-US" sz="1270" dirty="0"/>
          </a:p>
          <a:p>
            <a:pPr algn="l" indent="0" marL="0">
              <a:buNone/>
            </a:pP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F=−(∂Wm/∂x)Ψ</a:t>
            </a:r>
            <a:endParaRPr lang="en-US" sz="1270" dirty="0"/>
          </a:p>
          <a:p>
            <a:pPr algn="l" indent="0" marL="0">
              <a:buNone/>
            </a:pP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R2一次型の理想短絡などでは、電流一定公式をそのまま使わない。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4224528" y="1225296"/>
            <a:ext cx="3127248" cy="4242816"/>
          </a:xfrm>
          <a:prstGeom prst="roundRect">
            <a:avLst>
              <a:gd name="adj" fmla="val 1462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1225296"/>
            <a:ext cx="73152" cy="4242816"/>
          </a:xfrm>
          <a:prstGeom prst="rect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316736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相互インダクタンス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9120" y="1682496"/>
            <a:ext cx="285292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W′m=1/2L₁i₁² + 1/2L₂i₂² + M(x)i₁i₂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自己Lの位置依存を無視できれば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F=i₁i₂ dM/dx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回転なら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T=i₁i₂ dM/dθ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M=M₀cosθ → T=−M₀i₁i₂sinθ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R7一次型：M → エネルギー → 微分 → 力 / トルク。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0" y="1225296"/>
            <a:ext cx="3986784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1389888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浮上力と案内力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50879" y="2235159"/>
            <a:ext cx="1264067" cy="802112"/>
          </a:xfrm>
          <a:prstGeom prst="roundRect">
            <a:avLst/>
          </a:prstGeom>
          <a:solidFill>
            <a:srgbClr val="E8EEF6"/>
          </a:solidFill>
          <a:ln w="15240">
            <a:solidFill>
              <a:srgbClr val="152A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21105" y="2376708"/>
            <a:ext cx="1123615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車体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超電導磁石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78394" y="2235159"/>
            <a:ext cx="561807" cy="566196"/>
          </a:xfrm>
          <a:prstGeom prst="ellipse">
            <a:avLst/>
          </a:prstGeom>
          <a:solidFill>
            <a:srgbClr val="FFFFFF">
              <a:alpha val="0"/>
            </a:srgbClr>
          </a:solidFill>
          <a:ln w="27940">
            <a:solidFill>
              <a:srgbClr val="2D69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78394" y="2801356"/>
            <a:ext cx="561807" cy="566196"/>
          </a:xfrm>
          <a:prstGeom prst="ellipse">
            <a:avLst/>
          </a:prstGeom>
          <a:solidFill>
            <a:srgbClr val="FFFFFF">
              <a:alpha val="0"/>
            </a:srgbClr>
          </a:solidFill>
          <a:ln w="27940">
            <a:solidFill>
              <a:srgbClr val="2D69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59297" y="2754173"/>
            <a:ext cx="0" cy="94366"/>
          </a:xfrm>
          <a:prstGeom prst="line">
            <a:avLst/>
          </a:prstGeom>
          <a:noFill/>
          <a:ln w="27940">
            <a:solidFill>
              <a:srgbClr val="2D69AA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0425623" y="2235159"/>
            <a:ext cx="561807" cy="566196"/>
          </a:xfrm>
          <a:prstGeom prst="ellipse">
            <a:avLst/>
          </a:prstGeom>
          <a:solidFill>
            <a:srgbClr val="FFFFFF">
              <a:alpha val="0"/>
            </a:srgbClr>
          </a:solidFill>
          <a:ln w="27940">
            <a:solidFill>
              <a:srgbClr val="3599B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25623" y="2801356"/>
            <a:ext cx="561807" cy="566196"/>
          </a:xfrm>
          <a:prstGeom prst="ellipse">
            <a:avLst/>
          </a:prstGeom>
          <a:solidFill>
            <a:srgbClr val="FFFFFF">
              <a:alpha val="0"/>
            </a:srgbClr>
          </a:solidFill>
          <a:ln w="27940">
            <a:solidFill>
              <a:srgbClr val="3599B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06527" y="2754173"/>
            <a:ext cx="0" cy="94366"/>
          </a:xfrm>
          <a:prstGeom prst="line">
            <a:avLst/>
          </a:prstGeom>
          <a:noFill/>
          <a:ln w="27940">
            <a:solidFill>
              <a:srgbClr val="3599BC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8459297" y="2612624"/>
            <a:ext cx="456468" cy="0"/>
          </a:xfrm>
          <a:prstGeom prst="line">
            <a:avLst/>
          </a:prstGeom>
          <a:noFill/>
          <a:ln w="25400">
            <a:solidFill>
              <a:srgbClr val="B4464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706527" y="2612624"/>
            <a:ext cx="-456468" cy="0"/>
          </a:xfrm>
          <a:prstGeom prst="line">
            <a:avLst/>
          </a:prstGeom>
          <a:noFill/>
          <a:ln w="25400">
            <a:solidFill>
              <a:srgbClr val="B44646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9091331" y="1881287"/>
            <a:ext cx="9831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案内力 Fy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582912" y="3060863"/>
            <a:ext cx="0" cy="589788"/>
          </a:xfrm>
          <a:prstGeom prst="line">
            <a:avLst/>
          </a:prstGeom>
          <a:noFill/>
          <a:ln w="30480">
            <a:solidFill>
              <a:srgbClr val="37845F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9196669" y="3674242"/>
            <a:ext cx="7724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84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浮上力 Fz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932603" y="3438327"/>
            <a:ext cx="33006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浮上・案内コイル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845552" y="4187952"/>
            <a:ext cx="3493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Fy：左右偏位に対する復元成分</a:t>
            </a:r>
            <a:endParaRPr lang="en-US" sz="1030" dirty="0"/>
          </a:p>
          <a:p>
            <a:pPr algn="l" indent="0" marL="0">
              <a:buNone/>
            </a:pPr>
            <a:r>
              <a:rPr lang="en-US" sz="103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Fz：車重を支える鉛直成分</a:t>
            </a:r>
            <a:endParaRPr lang="en-US" sz="1030" dirty="0"/>
          </a:p>
          <a:p>
            <a:pPr algn="l" indent="0" marL="0">
              <a:buNone/>
            </a:pPr>
            <a:endParaRPr lang="en-US" sz="1030" dirty="0"/>
          </a:p>
          <a:p>
            <a:pPr algn="l" indent="0" marL="0">
              <a:buNone/>
            </a:pPr>
            <a:r>
              <a:rPr lang="en-US" sz="103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電流が磁界から受ける基本式：F=BIl sinα</a:t>
            </a:r>
            <a:endParaRPr lang="en-US" sz="1030" dirty="0"/>
          </a:p>
          <a:p>
            <a:pPr algn="l" indent="0" marL="0">
              <a:buNone/>
            </a:pPr>
            <a:r>
              <a:rPr lang="en-US" sz="103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実車の力は空間分布を積分するため、この単純式だけで実車値を算定しない。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4. 指定可視化：速度―電磁力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因果は v → dΨ/dt → e → i → F。実車へ F∝v / v² と一般化しない</a:t>
            </a:r>
            <a:endParaRPr lang="en-US" sz="1030" dirty="0"/>
          </a:p>
        </p:txBody>
      </p:sp>
      <p:sp>
        <p:nvSpPr>
          <p:cNvPr id="4" name="Shape 2"/>
          <p:cNvSpPr/>
          <p:nvPr/>
        </p:nvSpPr>
        <p:spPr>
          <a:xfrm>
            <a:off x="566928" y="1225296"/>
            <a:ext cx="6702552" cy="4361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指定可視化③  速度―電磁力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43584" y="4690872"/>
            <a:ext cx="5522976" cy="0"/>
          </a:xfrm>
          <a:prstGeom prst="line">
            <a:avLst/>
          </a:prstGeom>
          <a:noFill/>
          <a:ln w="13970">
            <a:solidFill>
              <a:srgbClr val="69717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243584" y="4690872"/>
            <a:ext cx="0" cy="-2743200"/>
          </a:xfrm>
          <a:prstGeom prst="line">
            <a:avLst/>
          </a:prstGeom>
          <a:noFill/>
          <a:ln w="13970">
            <a:solidFill>
              <a:srgbClr val="69717C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532120" y="480974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 [m/s]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25296" y="1719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Fmodel [N]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243584" y="1947672"/>
            <a:ext cx="0" cy="2743200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060704" y="472744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348179" y="1947672"/>
            <a:ext cx="0" cy="2743200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165299" y="472744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452774" y="1947672"/>
            <a:ext cx="0" cy="2743200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3269894" y="472744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40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57370" y="1947672"/>
            <a:ext cx="0" cy="2743200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4374490" y="472744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60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661965" y="1947672"/>
            <a:ext cx="0" cy="2743200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5479085" y="472744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80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766560" y="1947672"/>
            <a:ext cx="0" cy="2743200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6583680" y="472744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243584" y="4690872"/>
            <a:ext cx="5522976" cy="0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713232" y="461772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243584" y="3776472"/>
            <a:ext cx="5522976" cy="0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13232" y="370332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40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243584" y="2862072"/>
            <a:ext cx="5522976" cy="0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713232" y="278892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80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243584" y="1947672"/>
            <a:ext cx="5522976" cy="0"/>
          </a:xfrm>
          <a:prstGeom prst="line">
            <a:avLst/>
          </a:prstGeom>
          <a:noFill/>
          <a:ln w="5715">
            <a:solidFill>
              <a:srgbClr val="DBE2EA"/>
            </a:solidFill>
            <a:prstDash val="solid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713232" y="187452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243584" y="4690872"/>
            <a:ext cx="110460" cy="-666396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354044" y="4024476"/>
            <a:ext cx="110460" cy="-550692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464503" y="3473783"/>
            <a:ext cx="110460" cy="-398569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1574963" y="3075215"/>
            <a:ext cx="110460" cy="-271155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685422" y="2804060"/>
            <a:ext cx="110460" cy="-182239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795882" y="2621821"/>
            <a:ext cx="110460" cy="-124139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906341" y="2497682"/>
            <a:ext cx="110460" cy="-86594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2016801" y="2411088"/>
            <a:ext cx="110460" cy="-62017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2127260" y="2349071"/>
            <a:ext cx="110460" cy="-45566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2237720" y="2303505"/>
            <a:ext cx="110460" cy="-34274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2348179" y="2269231"/>
            <a:ext cx="110460" cy="-26331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2458639" y="2242900"/>
            <a:ext cx="110460" cy="-20612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2569098" y="2222287"/>
            <a:ext cx="110460" cy="-16407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2679558" y="2205881"/>
            <a:ext cx="110460" cy="-13253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2790017" y="2192627"/>
            <a:ext cx="110460" cy="-10848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2900477" y="2181779"/>
            <a:ext cx="110460" cy="-8984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3010936" y="2172795"/>
            <a:ext cx="110460" cy="-7520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3121396" y="2165275"/>
            <a:ext cx="110460" cy="-6354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3231855" y="2158921"/>
            <a:ext cx="110460" cy="-5415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3342315" y="2153507"/>
            <a:ext cx="110460" cy="-4651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3452774" y="2148856"/>
            <a:ext cx="110460" cy="-4023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3563234" y="2144833"/>
            <a:ext cx="110460" cy="-3502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3673693" y="2141331"/>
            <a:ext cx="110460" cy="-3067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3784153" y="2138264"/>
            <a:ext cx="110460" cy="-2701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3894612" y="2135563"/>
            <a:ext cx="110460" cy="-2391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4005072" y="2133172"/>
            <a:ext cx="110460" cy="-2126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4115532" y="2131047"/>
            <a:ext cx="110460" cy="-1898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4225991" y="2129148"/>
            <a:ext cx="110460" cy="-1702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4336451" y="2127446"/>
            <a:ext cx="110460" cy="-1532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4446910" y="2125914"/>
            <a:ext cx="110460" cy="-1384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4557370" y="2124530"/>
            <a:ext cx="110460" cy="-1254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4667829" y="2123276"/>
            <a:ext cx="110460" cy="-1140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4778289" y="2122136"/>
            <a:ext cx="110460" cy="-1039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4888748" y="2121097"/>
            <a:ext cx="110460" cy="-950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4999208" y="2120147"/>
            <a:ext cx="110460" cy="-871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5109667" y="2119277"/>
            <a:ext cx="110460" cy="-800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5220127" y="2118477"/>
            <a:ext cx="110460" cy="-737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5330586" y="2117740"/>
            <a:ext cx="110460" cy="-680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5441046" y="2117060"/>
            <a:ext cx="110460" cy="-629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5551505" y="2116432"/>
            <a:ext cx="110460" cy="-582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5661965" y="2115849"/>
            <a:ext cx="110460" cy="-541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5772424" y="2115309"/>
            <a:ext cx="110460" cy="-503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5882884" y="2114806"/>
            <a:ext cx="110460" cy="-468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5993343" y="2114338"/>
            <a:ext cx="110460" cy="-437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6103803" y="2113900"/>
            <a:ext cx="110460" cy="-408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6214262" y="2113492"/>
            <a:ext cx="110460" cy="-382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6324722" y="2113110"/>
            <a:ext cx="110460" cy="-358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6435181" y="2112751"/>
            <a:ext cx="110460" cy="-336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6545641" y="2112415"/>
            <a:ext cx="110460" cy="-316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79" name="Shape 77"/>
          <p:cNvSpPr/>
          <p:nvPr/>
        </p:nvSpPr>
        <p:spPr>
          <a:xfrm>
            <a:off x="6656100" y="2112099"/>
            <a:ext cx="110460" cy="-297"/>
          </a:xfrm>
          <a:prstGeom prst="line">
            <a:avLst/>
          </a:prstGeom>
          <a:noFill/>
          <a:ln w="25400">
            <a:solidFill>
              <a:srgbClr val="7758A6"/>
            </a:solidFill>
            <a:prstDash val="solid"/>
            <a:tailEnd type="none"/>
          </a:ln>
        </p:spPr>
      </p:sp>
      <p:sp>
        <p:nvSpPr>
          <p:cNvPr id="80" name="Shape 78"/>
          <p:cNvSpPr/>
          <p:nvPr/>
        </p:nvSpPr>
        <p:spPr>
          <a:xfrm>
            <a:off x="1759306" y="2585466"/>
            <a:ext cx="73152" cy="73152"/>
          </a:xfrm>
          <a:prstGeom prst="ellipse">
            <a:avLst/>
          </a:prstGeom>
          <a:solidFill>
            <a:srgbClr val="B44646"/>
          </a:solidFill>
          <a:ln w="12700">
            <a:solidFill>
              <a:srgbClr val="B4464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841602" y="246659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10: 90.5 N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2863901" y="2139696"/>
            <a:ext cx="73152" cy="73152"/>
          </a:xfrm>
          <a:prstGeom prst="ellipse">
            <a:avLst/>
          </a:prstGeom>
          <a:solidFill>
            <a:srgbClr val="B44646"/>
          </a:solidFill>
          <a:ln w="12700">
            <a:solidFill>
              <a:srgbClr val="B4464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946197" y="202082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30: 110.0 N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520794" y="2093976"/>
            <a:ext cx="73152" cy="73152"/>
          </a:xfrm>
          <a:prstGeom prst="ellipse">
            <a:avLst/>
          </a:prstGeom>
          <a:solidFill>
            <a:srgbClr val="B44646"/>
          </a:solidFill>
          <a:ln w="12700">
            <a:solidFill>
              <a:srgbClr val="B4464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603090" y="197510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446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60: 112.0 N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960120" y="5120640"/>
            <a:ext cx="5907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7758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Fmodel(v)=KF Irms(v),  KF=40 N/A（教材用仮定値）</a:t>
            </a:r>
            <a:endParaRPr lang="en-US" sz="1020" dirty="0"/>
          </a:p>
        </p:txBody>
      </p:sp>
      <p:sp>
        <p:nvSpPr>
          <p:cNvPr id="87" name="Shape 85"/>
          <p:cNvSpPr/>
          <p:nvPr/>
        </p:nvSpPr>
        <p:spPr>
          <a:xfrm>
            <a:off x="7516368" y="1225296"/>
            <a:ext cx="4059936" cy="1956816"/>
          </a:xfrm>
          <a:prstGeom prst="roundRect">
            <a:avLst>
              <a:gd name="adj" fmla="val 2336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516368" y="1225296"/>
            <a:ext cx="73152" cy="1956816"/>
          </a:xfrm>
          <a:prstGeom prst="rect">
            <a:avLst/>
          </a:prstGeom>
          <a:solidFill>
            <a:srgbClr val="7758A6"/>
          </a:solidFill>
          <a:ln w="12700">
            <a:solidFill>
              <a:srgbClr val="7758A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680960" y="1316736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複合例題</a:t>
            </a:r>
            <a:endParaRPr lang="en-US" sz="1500" dirty="0"/>
          </a:p>
        </p:txBody>
      </p:sp>
      <p:sp>
        <p:nvSpPr>
          <p:cNvPr id="90" name="Text 88"/>
          <p:cNvSpPr/>
          <p:nvPr/>
        </p:nvSpPr>
        <p:spPr>
          <a:xfrm>
            <a:off x="7680960" y="1682496"/>
            <a:ext cx="378561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v=30 m/s → ω=kv=120 rad/s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Erms=6.79 V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ωL=2.40 Ω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Irms=2.74 A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Fmodel=40×2.74≈110 N</a:t>
            </a:r>
            <a:endParaRPr lang="en-US" sz="1210" dirty="0"/>
          </a:p>
          <a:p>
            <a:pPr algn="l" indent="0" marL="0">
              <a:buNone/>
            </a:pP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110 N は実車浮上力ではない。</a:t>
            </a:r>
            <a:endParaRPr lang="en-US" sz="1210" dirty="0"/>
          </a:p>
        </p:txBody>
      </p:sp>
      <p:sp>
        <p:nvSpPr>
          <p:cNvPr id="91" name="Shape 89"/>
          <p:cNvSpPr/>
          <p:nvPr/>
        </p:nvSpPr>
        <p:spPr>
          <a:xfrm>
            <a:off x="7516368" y="3410712"/>
            <a:ext cx="4059936" cy="2176272"/>
          </a:xfrm>
          <a:prstGeom prst="roundRect">
            <a:avLst>
              <a:gd name="adj" fmla="val 2101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16368" y="3410712"/>
            <a:ext cx="73152" cy="2176272"/>
          </a:xfrm>
          <a:prstGeom prst="rect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680960" y="3502152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解法アルゴリズム</a:t>
            </a:r>
            <a:endParaRPr lang="en-US" sz="1500" dirty="0"/>
          </a:p>
        </p:txBody>
      </p:sp>
      <p:sp>
        <p:nvSpPr>
          <p:cNvPr id="94" name="Text 92"/>
          <p:cNvSpPr/>
          <p:nvPr/>
        </p:nvSpPr>
        <p:spPr>
          <a:xfrm>
            <a:off x="7680960" y="3867912"/>
            <a:ext cx="378561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相対速度 / すべり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 誘導周波数 / 磁束変化率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 誘導起電力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 インピーダンス → 誘導電流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 BIl / エネルギー法 / 指定式 → 力・トルク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 レンツの法則と単位で検算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561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5. 過去問への接続と最終チェック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9717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固定5問・24答案要素を、教材内の一般解法へ接続する</a:t>
            </a:r>
            <a:endParaRPr lang="en-US" sz="1030" dirty="0"/>
          </a:p>
        </p:txBody>
      </p:sp>
      <p:sp>
        <p:nvSpPr>
          <p:cNvPr id="4" name="Shape 2"/>
          <p:cNvSpPr/>
          <p:nvPr/>
        </p:nvSpPr>
        <p:spPr>
          <a:xfrm>
            <a:off x="566928" y="1225296"/>
            <a:ext cx="3675888" cy="4443984"/>
          </a:xfrm>
          <a:prstGeom prst="roundRect">
            <a:avLst>
              <a:gd name="adj" fmla="val 1244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25296"/>
            <a:ext cx="73152" cy="4443984"/>
          </a:xfrm>
          <a:prstGeom prst="rect">
            <a:avLst/>
          </a:prstGeom>
          <a:solidFill>
            <a:srgbClr val="2D69AA"/>
          </a:solidFill>
          <a:ln w="12700">
            <a:solidFill>
              <a:srgbClr val="2D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16736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固定EXAM_ALIGNMENT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3401568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R8 一次「理論」問2：5要素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ファラデー・磁気回路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R7 一次「理論」問2：5要素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相互誘導・磁気エネルギー・トルク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R4 一次「理論」問2：5要素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H/B/Φ・磁気回路・積分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R2 一次「理論」問2：5要素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鎖交磁束一定・エネルギー法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H23 二次「機械・制御」問1：4要素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相対速度→誘導電流→電磁トルク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合計：24 / 24 connected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43984" y="1225296"/>
            <a:ext cx="3319272" cy="4443984"/>
          </a:xfrm>
          <a:prstGeom prst="roundRect">
            <a:avLst>
              <a:gd name="adj" fmla="val 1377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43984" y="1225296"/>
            <a:ext cx="73152" cy="4443984"/>
          </a:xfrm>
          <a:prstGeom prst="rect">
            <a:avLst/>
          </a:prstGeom>
          <a:solidFill>
            <a:srgbClr val="37845F"/>
          </a:solidFill>
          <a:ln w="12700">
            <a:solidFill>
              <a:srgbClr val="3784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316736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SPEC必須8項目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08576" y="1682496"/>
            <a:ext cx="304495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ファラデーの法則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相互誘導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誘導電流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磁気エネルギー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電磁力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超電導磁石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浮上力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案内力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指定3可視化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①磁束変化―誘導起電力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②速度―誘導電流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③速度―電磁力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82712" y="1225296"/>
            <a:ext cx="3593592" cy="4443984"/>
          </a:xfrm>
          <a:prstGeom prst="roundRect">
            <a:avLst>
              <a:gd name="adj" fmla="val 1272"/>
            </a:avLst>
          </a:prstGeom>
          <a:solidFill>
            <a:srgbClr val="F3F6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82712" y="1225296"/>
            <a:ext cx="73152" cy="4443984"/>
          </a:xfrm>
          <a:prstGeom prst="rect">
            <a:avLst/>
          </a:prstGeom>
          <a:solidFill>
            <a:srgbClr val="B44646"/>
          </a:solidFill>
          <a:ln w="12700">
            <a:solidFill>
              <a:srgbClr val="B446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47304" y="1316736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頻出ミス・境界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47304" y="1682496"/>
            <a:ext cx="331927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Φ と Ψ=NΦ を混同しない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e=−dΨ/dt の負号を向き確認に使う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位置微分で v を掛け忘れない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常に I=E/R としない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Wm / W′m の保持量を確認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浮上力 Fz と案内力 Fy を混同しない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教材モデルをL0系実車特性へ一般化しない</a:t>
            </a:r>
            <a:endParaRPr lang="en-US" sz="1070" dirty="0"/>
          </a:p>
          <a:p>
            <a:pPr algn="l" indent="0" marL="0">
              <a:buNone/>
            </a:pP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H23橋渡し最小限：s=(Ns−N)/Ns, f2=sf1, 逆相制動 sp=2−s</a:t>
            </a:r>
            <a:endParaRPr lang="en-US" sz="1070" dirty="0"/>
          </a:p>
          <a:p>
            <a:pPr algn="l" indent="0" marL="0">
              <a:buNone/>
            </a:pPr>
            <a:r>
              <a:rPr lang="en-US" sz="1070" dirty="0">
                <a:solidFill>
                  <a:srgbClr val="2D364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30は先取りしない。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749808" y="5907024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A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PowerPoint完成後もテーマは未完了。次は clean blind 独立再解答 → 公式照合 → 最終QA。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256032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717C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cureflash/homepage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29 L0系③ 超電導磁気浮上の電磁力</dc:title>
  <dc:subject>Topic 29 L0系③ 超電導磁気浮上の電磁力</dc:subject>
  <dc:creator>OpenAI</dc:creator>
  <cp:lastModifiedBy>OpenAI</cp:lastModifiedBy>
  <cp:revision>1</cp:revision>
  <dcterms:created xsi:type="dcterms:W3CDTF">2026-09-20T05:02:49Z</dcterms:created>
  <dcterms:modified xsi:type="dcterms:W3CDTF">2026-09-20T05:02:49Z</dcterms:modified>
</cp:coreProperties>
</file>