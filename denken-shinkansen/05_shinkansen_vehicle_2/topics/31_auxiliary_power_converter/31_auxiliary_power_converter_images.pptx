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73736"/>
            <a:ext cx="5029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0091AA"/>
                </a:solidFill>
                <a:latin typeface="Noto Sans CJK JP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"/>
            <a:ext cx="1088136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162743"/>
                </a:solidFill>
                <a:latin typeface="Noto Sans CJK JP"/>
              </a:rPr>
              <a:t>補助電源変換器 — 電験二種で解くための全体像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731520"/>
            <a:ext cx="11521440" cy="0"/>
          </a:xfrm>
          <a:prstGeom prst="line">
            <a:avLst/>
          </a:prstGeom>
          <a:ln w="17780">
            <a:solidFill>
              <a:srgbClr val="1627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621792"/>
            <a:ext cx="10698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596474"/>
                </a:solidFill>
                <a:latin typeface="Noto Sans CJK JP"/>
              </a:rPr>
              <a:t>Topic 31 / SPEC固定8項目のみ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1828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1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261872"/>
            <a:ext cx="1682496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315CA6"/>
                </a:solidFill>
                <a:latin typeface="Noto Sans CJK JP"/>
              </a:rPr>
              <a:t>入力電源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50008" y="1517904"/>
            <a:ext cx="91440" cy="0"/>
          </a:xfrm>
          <a:prstGeom prst="line">
            <a:avLst/>
          </a:prstGeom>
          <a:ln w="26670">
            <a:solidFill>
              <a:srgbClr val="00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514600" y="1143000"/>
            <a:ext cx="1828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87752" y="1261872"/>
            <a:ext cx="1682496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0091AA"/>
                </a:solidFill>
                <a:latin typeface="Noto Sans CJK JP"/>
              </a:rPr>
              <a:t>コンバータ / 整流段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61688" y="1517904"/>
            <a:ext cx="457200" cy="0"/>
          </a:xfrm>
          <a:prstGeom prst="line">
            <a:avLst/>
          </a:prstGeom>
          <a:ln w="26670">
            <a:solidFill>
              <a:srgbClr val="00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892040" y="1143000"/>
            <a:ext cx="1828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65192" y="1261872"/>
            <a:ext cx="1682496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CF7E37"/>
                </a:solidFill>
                <a:latin typeface="Noto Sans CJK JP"/>
              </a:rPr>
              <a:t>直流中間回路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739127" y="1517904"/>
            <a:ext cx="457201" cy="0"/>
          </a:xfrm>
          <a:prstGeom prst="line">
            <a:avLst/>
          </a:prstGeom>
          <a:ln w="26670">
            <a:solidFill>
              <a:srgbClr val="00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269480" y="1143000"/>
            <a:ext cx="1828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1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42631" y="1261872"/>
            <a:ext cx="1682496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315CA6"/>
                </a:solidFill>
                <a:latin typeface="Noto Sans CJK JP"/>
              </a:rPr>
              <a:t>インバータ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16568" y="1517904"/>
            <a:ext cx="274320" cy="0"/>
          </a:xfrm>
          <a:prstGeom prst="line">
            <a:avLst/>
          </a:prstGeom>
          <a:ln w="26670">
            <a:solidFill>
              <a:srgbClr val="00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464040" y="1143000"/>
            <a:ext cx="1828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8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37192" y="1261872"/>
            <a:ext cx="1682496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378269"/>
                </a:solidFill>
                <a:latin typeface="Noto Sans CJK JP"/>
              </a:rPr>
              <a:t>三相補機負荷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048256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AE4545"/>
                </a:solidFill>
                <a:latin typeface="Noto Sans CJK JP"/>
              </a:rPr>
              <a:t>特定新幹線の回路・定格ではなく、試験論点を整理する一般モデル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670048"/>
            <a:ext cx="2423160" cy="320040"/>
          </a:xfrm>
          <a:prstGeom prst="roundRect">
            <a:avLst/>
          </a:prstGeom>
          <a:solidFill>
            <a:srgbClr val="00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683764"/>
            <a:ext cx="23317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インバータ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83279" y="2670048"/>
            <a:ext cx="2423160" cy="320040"/>
          </a:xfrm>
          <a:prstGeom prst="roundRect">
            <a:avLst/>
          </a:prstGeom>
          <a:solidFill>
            <a:srgbClr val="00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8999" y="2683764"/>
            <a:ext cx="23317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コンバータ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2670048"/>
            <a:ext cx="2423160" cy="320040"/>
          </a:xfrm>
          <a:prstGeom prst="roundRect">
            <a:avLst/>
          </a:prstGeom>
          <a:solidFill>
            <a:srgbClr val="00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2683764"/>
            <a:ext cx="23317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三相負荷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19" y="2670048"/>
            <a:ext cx="2423160" cy="320040"/>
          </a:xfrm>
          <a:prstGeom prst="roundRect">
            <a:avLst/>
          </a:prstGeom>
          <a:solidFill>
            <a:srgbClr val="00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2683764"/>
            <a:ext cx="23317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力率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3200400"/>
            <a:ext cx="2423160" cy="320040"/>
          </a:xfrm>
          <a:prstGeom prst="roundRect">
            <a:avLst/>
          </a:prstGeom>
          <a:solidFill>
            <a:srgbClr val="315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214116"/>
            <a:ext cx="23317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高調波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3279" y="3200400"/>
            <a:ext cx="2423160" cy="320040"/>
          </a:xfrm>
          <a:prstGeom prst="roundRect">
            <a:avLst/>
          </a:prstGeom>
          <a:solidFill>
            <a:srgbClr val="315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28999" y="3214116"/>
            <a:ext cx="23317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変換損失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3200400"/>
            <a:ext cx="2423160" cy="320040"/>
          </a:xfrm>
          <a:prstGeom prst="roundRect">
            <a:avLst/>
          </a:prstGeom>
          <a:solidFill>
            <a:srgbClr val="315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3214116"/>
            <a:ext cx="23317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効率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3200400"/>
            <a:ext cx="2423160" cy="320040"/>
          </a:xfrm>
          <a:prstGeom prst="roundRect">
            <a:avLst/>
          </a:prstGeom>
          <a:solidFill>
            <a:srgbClr val="315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6840" y="3214116"/>
            <a:ext cx="23317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負荷変動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3977639"/>
            <a:ext cx="34290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4360" y="3977639"/>
            <a:ext cx="73152" cy="2103120"/>
          </a:xfrm>
          <a:prstGeom prst="rect">
            <a:avLst/>
          </a:prstGeom>
          <a:solidFill>
            <a:srgbClr val="315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8" y="4105655"/>
            <a:ext cx="3108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62743"/>
                </a:solidFill>
                <a:latin typeface="Noto Sans CJK JP"/>
              </a:rPr>
              <a:t>固定過去問ゲート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8" y="4480559"/>
            <a:ext cx="3108960" cy="1508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96474"/>
                </a:solidFill>
                <a:latin typeface="Noto Sans CJK JP"/>
              </a:rPr>
              <a:t>R7一次問4  5/5</a:t>
            </a:r>
            <a:br/>
            <a:r>
              <a:t>R5二次問3  7/7</a:t>
            </a:r>
            <a:br/>
            <a:r>
              <a:t>R4一次問4  5/5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43400" y="3977639"/>
            <a:ext cx="34290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3977639"/>
            <a:ext cx="73152" cy="2103120"/>
          </a:xfrm>
          <a:prstGeom prst="rect">
            <a:avLst/>
          </a:prstGeom>
          <a:solidFill>
            <a:srgbClr val="00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44568" y="4105655"/>
            <a:ext cx="3108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62743"/>
                </a:solidFill>
                <a:latin typeface="Noto Sans CJK JP"/>
              </a:rPr>
              <a:t>一次・二次を両方通す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44568" y="4480559"/>
            <a:ext cx="3108960" cy="1508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96474"/>
                </a:solidFill>
                <a:latin typeface="Noto Sans CJK JP"/>
              </a:rPr>
              <a:t>R2二次問2  5/5</a:t>
            </a:r>
            <a:br/>
            <a:r>
              <a:t>H22一次問3  5/5</a:t>
            </a:r>
            <a:br/>
            <a:r>
              <a:t>合計 27 / 27答案要素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92440" y="3977639"/>
            <a:ext cx="34290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92440" y="3977639"/>
            <a:ext cx="73152" cy="2103120"/>
          </a:xfrm>
          <a:prstGeom prst="rect">
            <a:avLst/>
          </a:prstGeom>
          <a:solidFill>
            <a:srgbClr val="CF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93608" y="4105655"/>
            <a:ext cx="3108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62743"/>
                </a:solidFill>
                <a:latin typeface="Noto Sans CJK JP"/>
              </a:rPr>
              <a:t>範囲境界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93608" y="4480559"/>
            <a:ext cx="3108960" cy="1508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96474"/>
                </a:solidFill>
                <a:latin typeface="Noto Sans CJK JP"/>
              </a:rPr>
              <a:t>PV/MPPT固有事項を追加しない</a:t>
            </a:r>
            <a:br/>
            <a:r>
              <a:t>能動フィルタを実車搭載としない</a:t>
            </a:r>
            <a:br/>
            <a:r>
              <a:t>未確認実車値を真値化しない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73736"/>
            <a:ext cx="5029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0091AA"/>
                </a:solidFill>
                <a:latin typeface="Noto Sans CJK JP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"/>
            <a:ext cx="1088136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162743"/>
                </a:solidFill>
                <a:latin typeface="Noto Sans CJK JP"/>
              </a:rPr>
              <a:t>電圧形インバータと誘導性負荷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731520"/>
            <a:ext cx="11521440" cy="0"/>
          </a:xfrm>
          <a:prstGeom prst="line">
            <a:avLst/>
          </a:prstGeom>
          <a:ln w="17780">
            <a:solidFill>
              <a:srgbClr val="1627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621792"/>
            <a:ext cx="10698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596474"/>
                </a:solidFill>
                <a:latin typeface="Noto Sans CJK JP"/>
              </a:rPr>
              <a:t>R7 一次「機械」問4 — 5 /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3383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51560"/>
            <a:ext cx="73152" cy="1097280"/>
          </a:xfrm>
          <a:prstGeom prst="rect">
            <a:avLst/>
          </a:prstGeom>
          <a:solidFill>
            <a:srgbClr val="315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179576"/>
            <a:ext cx="30632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62743"/>
                </a:solidFill>
                <a:latin typeface="Noto Sans CJK JP"/>
              </a:rPr>
              <a:t>① 電流は瞬時に0にならない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554480"/>
            <a:ext cx="3063240" cy="5029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96474"/>
                </a:solidFill>
                <a:latin typeface="Noto Sans CJK JP"/>
              </a:rPr>
              <a:t>誘導性負荷では、主スイッチOFF後も電流が流れ続ける経路が必要。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31720"/>
            <a:ext cx="3383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331720"/>
            <a:ext cx="73152" cy="1234440"/>
          </a:xfrm>
          <a:prstGeom prst="rect">
            <a:avLst/>
          </a:prstGeom>
          <a:solidFill>
            <a:srgbClr val="00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459736"/>
            <a:ext cx="30632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62743"/>
                </a:solidFill>
                <a:latin typeface="Noto Sans CJK JP"/>
              </a:rPr>
              <a:t>② 逆並列ダイオード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834639"/>
            <a:ext cx="30632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96474"/>
                </a:solidFill>
                <a:latin typeface="Noto Sans CJK JP"/>
              </a:rPr>
              <a:t>電流の還流経路を与える。MOSFET等の自己消弧形素子と組み合わせる。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49039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749039"/>
            <a:ext cx="73152" cy="1325880"/>
          </a:xfrm>
          <a:prstGeom prst="rect">
            <a:avLst/>
          </a:prstGeom>
          <a:solidFill>
            <a:srgbClr val="CF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877055"/>
            <a:ext cx="30632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62743"/>
                </a:solidFill>
                <a:latin typeface="Noto Sans CJK JP"/>
              </a:rPr>
              <a:t>③ PWM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251959"/>
            <a:ext cx="3063240" cy="7315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96474"/>
                </a:solidFill>
                <a:latin typeface="Noto Sans CJK JP"/>
              </a:rPr>
              <a:t>信号波と搬送波を比較してパルス列を生成。搬送波周波数はスイッチング頻度に関係。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143000"/>
            <a:ext cx="72237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1298448"/>
            <a:ext cx="2194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2743"/>
                </a:solidFill>
                <a:latin typeface="Noto Sans CJK JP"/>
              </a:rPr>
              <a:t>最小回路イメージ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1965960"/>
            <a:ext cx="1143000" cy="512064"/>
          </a:xfrm>
          <a:prstGeom prst="roundRect">
            <a:avLst/>
          </a:prstGeom>
          <a:solidFill>
            <a:srgbClr val="E6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2011680"/>
            <a:ext cx="11430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62743"/>
                </a:solidFill>
                <a:latin typeface="Noto Sans CJK JP"/>
              </a:rPr>
              <a:t>SW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3785615"/>
            <a:ext cx="1143000" cy="512064"/>
          </a:xfrm>
          <a:prstGeom prst="roundRect">
            <a:avLst/>
          </a:prstGeom>
          <a:solidFill>
            <a:srgbClr val="E6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80" y="3831336"/>
            <a:ext cx="11430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62743"/>
                </a:solidFill>
                <a:latin typeface="Noto Sans CJK JP"/>
              </a:rPr>
              <a:t>SW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550408" y="2478024"/>
            <a:ext cx="0" cy="1307591"/>
          </a:xfrm>
          <a:prstGeom prst="line">
            <a:avLst/>
          </a:prstGeom>
          <a:ln w="25400">
            <a:solidFill>
              <a:srgbClr val="1627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766560" y="1965960"/>
            <a:ext cx="1143000" cy="512064"/>
          </a:xfrm>
          <a:prstGeom prst="roundRect">
            <a:avLst/>
          </a:prstGeom>
          <a:solidFill>
            <a:srgbClr val="E6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2011680"/>
            <a:ext cx="11430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62743"/>
                </a:solidFill>
                <a:latin typeface="Noto Sans CJK JP"/>
              </a:rPr>
              <a:t>SW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66560" y="3785615"/>
            <a:ext cx="1143000" cy="512064"/>
          </a:xfrm>
          <a:prstGeom prst="roundRect">
            <a:avLst/>
          </a:prstGeom>
          <a:solidFill>
            <a:srgbClr val="E6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3831336"/>
            <a:ext cx="11430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62743"/>
                </a:solidFill>
                <a:latin typeface="Noto Sans CJK JP"/>
              </a:rPr>
              <a:t>SW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333488" y="2478024"/>
            <a:ext cx="0" cy="1307591"/>
          </a:xfrm>
          <a:prstGeom prst="line">
            <a:avLst/>
          </a:prstGeom>
          <a:ln w="25400">
            <a:solidFill>
              <a:srgbClr val="1627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572000" y="1764792"/>
            <a:ext cx="3611879" cy="0"/>
          </a:xfrm>
          <a:prstGeom prst="line">
            <a:avLst/>
          </a:prstGeom>
          <a:ln w="25400">
            <a:solidFill>
              <a:srgbClr val="1627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72000" y="4544568"/>
            <a:ext cx="3611879" cy="0"/>
          </a:xfrm>
          <a:prstGeom prst="line">
            <a:avLst/>
          </a:prstGeom>
          <a:ln w="25400">
            <a:solidFill>
              <a:srgbClr val="1627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407408" y="1517904"/>
            <a:ext cx="640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AE4545"/>
                </a:solidFill>
                <a:latin typeface="Noto Sans CJK JP"/>
              </a:rPr>
              <a:t>+Vdc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4535424"/>
            <a:ext cx="365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596474"/>
                </a:solidFill>
                <a:latin typeface="Noto Sans CJK JP"/>
              </a:rPr>
              <a:t>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49640" y="2414016"/>
            <a:ext cx="2148840" cy="13898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78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40" y="2596896"/>
            <a:ext cx="214884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378269"/>
                </a:solidFill>
                <a:latin typeface="Noto Sans CJK JP"/>
              </a:rPr>
              <a:t>誘導性負荷</a:t>
            </a:r>
            <a:br/>
            <a:r>
              <a:t>L を含む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33488" y="3127248"/>
            <a:ext cx="1152144" cy="0"/>
          </a:xfrm>
          <a:prstGeom prst="line">
            <a:avLst/>
          </a:prstGeom>
          <a:ln w="26670">
            <a:solidFill>
              <a:srgbClr val="3782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504688" y="2852928"/>
            <a:ext cx="822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0091AA"/>
                </a:solidFill>
                <a:latin typeface="Noto Sans CJK JP"/>
              </a:rPr>
              <a:t>↕ diode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87768" y="2852928"/>
            <a:ext cx="822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0091AA"/>
                </a:solidFill>
                <a:latin typeface="Noto Sans CJK JP"/>
              </a:rPr>
              <a:t>↕ diode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10744200" y="2651760"/>
            <a:ext cx="0" cy="868680"/>
          </a:xfrm>
          <a:prstGeom prst="line">
            <a:avLst/>
          </a:prstGeom>
          <a:ln w="26670">
            <a:solidFill>
              <a:srgbClr val="CF7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732520" y="4160520"/>
            <a:ext cx="2468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CF7E37"/>
                </a:solidFill>
                <a:latin typeface="Noto Sans CJK JP"/>
              </a:rPr>
              <a:t>OFF後も電流継続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26280" y="5056632"/>
            <a:ext cx="237744" cy="310896"/>
          </a:xfrm>
          <a:prstGeom prst="rect">
            <a:avLst/>
          </a:prstGeom>
          <a:solidFill>
            <a:srgbClr val="00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257800" y="5056632"/>
            <a:ext cx="237744" cy="310896"/>
          </a:xfrm>
          <a:prstGeom prst="rect">
            <a:avLst/>
          </a:prstGeom>
          <a:solidFill>
            <a:srgbClr val="00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23560" y="5056632"/>
            <a:ext cx="237744" cy="310896"/>
          </a:xfrm>
          <a:prstGeom prst="rect">
            <a:avLst/>
          </a:prstGeom>
          <a:solidFill>
            <a:srgbClr val="00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5080" y="5056632"/>
            <a:ext cx="237744" cy="310896"/>
          </a:xfrm>
          <a:prstGeom prst="rect">
            <a:avLst/>
          </a:prstGeom>
          <a:solidFill>
            <a:srgbClr val="00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720840" y="5056632"/>
            <a:ext cx="237744" cy="310896"/>
          </a:xfrm>
          <a:prstGeom prst="rect">
            <a:avLst/>
          </a:prstGeom>
          <a:solidFill>
            <a:srgbClr val="00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452360" y="5056632"/>
            <a:ext cx="237744" cy="310896"/>
          </a:xfrm>
          <a:prstGeom prst="rect">
            <a:avLst/>
          </a:prstGeom>
          <a:solidFill>
            <a:srgbClr val="00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818120" y="5056632"/>
            <a:ext cx="237744" cy="310896"/>
          </a:xfrm>
          <a:prstGeom prst="rect">
            <a:avLst/>
          </a:prstGeom>
          <a:solidFill>
            <a:srgbClr val="00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549640" y="5056632"/>
            <a:ext cx="237744" cy="310896"/>
          </a:xfrm>
          <a:prstGeom prst="rect">
            <a:avLst/>
          </a:prstGeom>
          <a:solidFill>
            <a:srgbClr val="00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915400" y="5056632"/>
            <a:ext cx="237744" cy="310896"/>
          </a:xfrm>
          <a:prstGeom prst="rect">
            <a:avLst/>
          </a:prstGeom>
          <a:solidFill>
            <a:srgbClr val="00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46920" y="5056632"/>
            <a:ext cx="237744" cy="310896"/>
          </a:xfrm>
          <a:prstGeom prst="rect">
            <a:avLst/>
          </a:prstGeom>
          <a:solidFill>
            <a:srgbClr val="00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012680" y="5056632"/>
            <a:ext cx="237744" cy="310896"/>
          </a:xfrm>
          <a:prstGeom prst="rect">
            <a:avLst/>
          </a:prstGeom>
          <a:solidFill>
            <a:srgbClr val="00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744200" y="5056632"/>
            <a:ext cx="237744" cy="310896"/>
          </a:xfrm>
          <a:prstGeom prst="rect">
            <a:avLst/>
          </a:prstGeom>
          <a:solidFill>
            <a:srgbClr val="00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0" y="5468112"/>
            <a:ext cx="64922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62743"/>
                </a:solidFill>
                <a:latin typeface="Noto Sans CJK JP"/>
              </a:rPr>
              <a:t>PWMパルス列 ≠ 正弦波そのもの → 基本波 + 高調波として扱う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94360" y="5797296"/>
            <a:ext cx="1920240" cy="320040"/>
          </a:xfrm>
          <a:prstGeom prst="roundRect">
            <a:avLst/>
          </a:prstGeom>
          <a:solidFill>
            <a:srgbClr val="315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5811012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誘導性負荷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679192" y="5797296"/>
            <a:ext cx="2240280" cy="320040"/>
          </a:xfrm>
          <a:prstGeom prst="roundRect">
            <a:avLst/>
          </a:prstGeom>
          <a:solidFill>
            <a:srgbClr val="00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24912" y="5811012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逆並列ダイオード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74920" y="5797296"/>
            <a:ext cx="1508760" cy="320040"/>
          </a:xfrm>
          <a:prstGeom prst="roundRect">
            <a:avLst/>
          </a:prstGeom>
          <a:solidFill>
            <a:srgbClr val="315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20640" y="5811012"/>
            <a:ext cx="1417319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MOSFET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748272" y="5797296"/>
            <a:ext cx="1325880" cy="320040"/>
          </a:xfrm>
          <a:prstGeom prst="roundRect">
            <a:avLst/>
          </a:prstGeom>
          <a:solidFill>
            <a:srgbClr val="00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93992" y="5811012"/>
            <a:ext cx="1234439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PWM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229600" y="5797296"/>
            <a:ext cx="2834640" cy="320040"/>
          </a:xfrm>
          <a:prstGeom prst="roundRect">
            <a:avLst/>
          </a:prstGeom>
          <a:solidFill>
            <a:srgbClr val="CF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75320" y="5811012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スイッチング周波数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73736"/>
            <a:ext cx="5029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0091AA"/>
                </a:solidFill>
                <a:latin typeface="Noto Sans CJK JP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"/>
            <a:ext cx="1088136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162743"/>
                </a:solidFill>
                <a:latin typeface="Noto Sans CJK JP"/>
              </a:rPr>
              <a:t>三相PWM・三相負荷・力率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731520"/>
            <a:ext cx="11521440" cy="0"/>
          </a:xfrm>
          <a:prstGeom prst="line">
            <a:avLst/>
          </a:prstGeom>
          <a:ln w="17780">
            <a:solidFill>
              <a:srgbClr val="1627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621792"/>
            <a:ext cx="10698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596474"/>
                </a:solidFill>
                <a:latin typeface="Noto Sans CJK JP"/>
              </a:rPr>
              <a:t>H22 一次「機械」問3 — 5 /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53949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43584"/>
            <a:ext cx="4937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62743"/>
                </a:solidFill>
                <a:latin typeface="Noto Sans CJK JP"/>
              </a:rPr>
              <a:t>H22型の線間基本波実効値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49377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500" b="1">
                <a:solidFill>
                  <a:srgbClr val="315CA6"/>
                </a:solidFill>
                <a:latin typeface="Noto Sans CJK JP"/>
              </a:rPr>
              <a:t>V_LL1 = √3 E_d k / (2√2)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49377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0091AA"/>
                </a:solidFill>
                <a:latin typeface="Noto Sans CJK JP"/>
              </a:rPr>
              <a:t>k = 2√2 V_LL1 / (√3 E_d)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61488"/>
            <a:ext cx="4937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AE4545"/>
                </a:solidFill>
                <a:latin typeface="Noto Sans CJK JP"/>
              </a:rPr>
              <a:t>係数はPWM方式・電圧定義で変わる。問題文の定義を優先。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51560"/>
            <a:ext cx="53949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243584"/>
            <a:ext cx="4937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62743"/>
                </a:solidFill>
                <a:latin typeface="Noto Sans CJK JP"/>
              </a:rPr>
              <a:t>平衡三相負荷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64208"/>
            <a:ext cx="4937760" cy="1188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100" b="1">
                <a:solidFill>
                  <a:srgbClr val="378269"/>
                </a:solidFill>
                <a:latin typeface="Noto Sans CJK JP"/>
              </a:rPr>
              <a:t>S = √3 V_LL I</a:t>
            </a:r>
            <a:br/>
            <a:r>
              <a:t>P = √3 V_LL I cosφ</a:t>
            </a:r>
            <a:br/>
            <a:r>
              <a:t>Q = √3 V_LL I sinφ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401568"/>
            <a:ext cx="54864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566160"/>
            <a:ext cx="5029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62743"/>
                </a:solidFill>
                <a:latin typeface="Noto Sans CJK JP"/>
              </a:rPr>
              <a:t>三角搬送波と信号波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868680" y="4535424"/>
            <a:ext cx="146303" cy="201168"/>
          </a:xfrm>
          <a:prstGeom prst="line">
            <a:avLst/>
          </a:prstGeom>
          <a:ln w="12700">
            <a:solidFill>
              <a:srgbClr val="596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014983" y="4334255"/>
            <a:ext cx="146305" cy="201169"/>
          </a:xfrm>
          <a:prstGeom prst="line">
            <a:avLst/>
          </a:prstGeom>
          <a:ln w="12700">
            <a:solidFill>
              <a:srgbClr val="596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161288" y="4133087"/>
            <a:ext cx="146304" cy="201168"/>
          </a:xfrm>
          <a:prstGeom prst="line">
            <a:avLst/>
          </a:prstGeom>
          <a:ln w="12700">
            <a:solidFill>
              <a:srgbClr val="596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07592" y="3931920"/>
            <a:ext cx="146303" cy="201167"/>
          </a:xfrm>
          <a:prstGeom prst="line">
            <a:avLst/>
          </a:prstGeom>
          <a:ln w="12700">
            <a:solidFill>
              <a:srgbClr val="596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453895" y="3931920"/>
            <a:ext cx="146305" cy="201167"/>
          </a:xfrm>
          <a:prstGeom prst="line">
            <a:avLst/>
          </a:prstGeom>
          <a:ln w="12700">
            <a:solidFill>
              <a:srgbClr val="596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600200" y="4133087"/>
            <a:ext cx="146304" cy="201168"/>
          </a:xfrm>
          <a:prstGeom prst="line">
            <a:avLst/>
          </a:prstGeom>
          <a:ln w="12700">
            <a:solidFill>
              <a:srgbClr val="596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46504" y="4334255"/>
            <a:ext cx="146304" cy="201169"/>
          </a:xfrm>
          <a:prstGeom prst="line">
            <a:avLst/>
          </a:prstGeom>
          <a:ln w="12700">
            <a:solidFill>
              <a:srgbClr val="596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92808" y="4535424"/>
            <a:ext cx="146304" cy="201168"/>
          </a:xfrm>
          <a:prstGeom prst="line">
            <a:avLst/>
          </a:prstGeom>
          <a:ln w="12700">
            <a:solidFill>
              <a:srgbClr val="596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039112" y="4535424"/>
            <a:ext cx="146303" cy="201168"/>
          </a:xfrm>
          <a:prstGeom prst="line">
            <a:avLst/>
          </a:prstGeom>
          <a:ln w="12700">
            <a:solidFill>
              <a:srgbClr val="596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185415" y="4334255"/>
            <a:ext cx="146305" cy="201169"/>
          </a:xfrm>
          <a:prstGeom prst="line">
            <a:avLst/>
          </a:prstGeom>
          <a:ln w="12700">
            <a:solidFill>
              <a:srgbClr val="596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331720" y="4133087"/>
            <a:ext cx="146304" cy="201168"/>
          </a:xfrm>
          <a:prstGeom prst="line">
            <a:avLst/>
          </a:prstGeom>
          <a:ln w="12700">
            <a:solidFill>
              <a:srgbClr val="596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478024" y="3931920"/>
            <a:ext cx="146304" cy="201167"/>
          </a:xfrm>
          <a:prstGeom prst="line">
            <a:avLst/>
          </a:prstGeom>
          <a:ln w="12700">
            <a:solidFill>
              <a:srgbClr val="596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624328" y="3931920"/>
            <a:ext cx="146304" cy="201167"/>
          </a:xfrm>
          <a:prstGeom prst="line">
            <a:avLst/>
          </a:prstGeom>
          <a:ln w="12700">
            <a:solidFill>
              <a:srgbClr val="596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770632" y="4133087"/>
            <a:ext cx="146304" cy="201168"/>
          </a:xfrm>
          <a:prstGeom prst="line">
            <a:avLst/>
          </a:prstGeom>
          <a:ln w="12700">
            <a:solidFill>
              <a:srgbClr val="596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16936" y="4334255"/>
            <a:ext cx="146303" cy="201169"/>
          </a:xfrm>
          <a:prstGeom prst="line">
            <a:avLst/>
          </a:prstGeom>
          <a:ln w="12700">
            <a:solidFill>
              <a:srgbClr val="596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3239" y="4535424"/>
            <a:ext cx="146305" cy="201168"/>
          </a:xfrm>
          <a:prstGeom prst="line">
            <a:avLst/>
          </a:prstGeom>
          <a:ln w="12700">
            <a:solidFill>
              <a:srgbClr val="596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209544" y="4535424"/>
            <a:ext cx="146304" cy="201168"/>
          </a:xfrm>
          <a:prstGeom prst="line">
            <a:avLst/>
          </a:prstGeom>
          <a:ln w="12700">
            <a:solidFill>
              <a:srgbClr val="596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355848" y="4334255"/>
            <a:ext cx="146304" cy="201169"/>
          </a:xfrm>
          <a:prstGeom prst="line">
            <a:avLst/>
          </a:prstGeom>
          <a:ln w="12700">
            <a:solidFill>
              <a:srgbClr val="596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502152" y="4133087"/>
            <a:ext cx="146304" cy="201168"/>
          </a:xfrm>
          <a:prstGeom prst="line">
            <a:avLst/>
          </a:prstGeom>
          <a:ln w="12700">
            <a:solidFill>
              <a:srgbClr val="596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648456" y="3931920"/>
            <a:ext cx="146304" cy="201167"/>
          </a:xfrm>
          <a:prstGeom prst="line">
            <a:avLst/>
          </a:prstGeom>
          <a:ln w="12700">
            <a:solidFill>
              <a:srgbClr val="596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794760" y="3931920"/>
            <a:ext cx="146303" cy="201167"/>
          </a:xfrm>
          <a:prstGeom prst="line">
            <a:avLst/>
          </a:prstGeom>
          <a:ln w="12700">
            <a:solidFill>
              <a:srgbClr val="596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941063" y="4133087"/>
            <a:ext cx="146305" cy="201168"/>
          </a:xfrm>
          <a:prstGeom prst="line">
            <a:avLst/>
          </a:prstGeom>
          <a:ln w="12700">
            <a:solidFill>
              <a:srgbClr val="596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087368" y="4334255"/>
            <a:ext cx="146304" cy="201169"/>
          </a:xfrm>
          <a:prstGeom prst="line">
            <a:avLst/>
          </a:prstGeom>
          <a:ln w="12700">
            <a:solidFill>
              <a:srgbClr val="596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233672" y="4535424"/>
            <a:ext cx="146304" cy="201168"/>
          </a:xfrm>
          <a:prstGeom prst="line">
            <a:avLst/>
          </a:prstGeom>
          <a:ln w="12700">
            <a:solidFill>
              <a:srgbClr val="596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379976" y="4535424"/>
            <a:ext cx="146304" cy="201168"/>
          </a:xfrm>
          <a:prstGeom prst="line">
            <a:avLst/>
          </a:prstGeom>
          <a:ln w="12700">
            <a:solidFill>
              <a:srgbClr val="596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526280" y="4334255"/>
            <a:ext cx="146304" cy="201169"/>
          </a:xfrm>
          <a:prstGeom prst="line">
            <a:avLst/>
          </a:prstGeom>
          <a:ln w="12700">
            <a:solidFill>
              <a:srgbClr val="596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672584" y="4133087"/>
            <a:ext cx="146304" cy="201168"/>
          </a:xfrm>
          <a:prstGeom prst="line">
            <a:avLst/>
          </a:prstGeom>
          <a:ln w="12700">
            <a:solidFill>
              <a:srgbClr val="596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818888" y="3931920"/>
            <a:ext cx="146304" cy="201167"/>
          </a:xfrm>
          <a:prstGeom prst="line">
            <a:avLst/>
          </a:prstGeom>
          <a:ln w="12700">
            <a:solidFill>
              <a:srgbClr val="596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965192" y="3931920"/>
            <a:ext cx="146304" cy="201167"/>
          </a:xfrm>
          <a:prstGeom prst="line">
            <a:avLst/>
          </a:prstGeom>
          <a:ln w="12700">
            <a:solidFill>
              <a:srgbClr val="596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111496" y="4133087"/>
            <a:ext cx="146304" cy="201168"/>
          </a:xfrm>
          <a:prstGeom prst="line">
            <a:avLst/>
          </a:prstGeom>
          <a:ln w="12700">
            <a:solidFill>
              <a:srgbClr val="596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257800" y="4334255"/>
            <a:ext cx="146304" cy="201169"/>
          </a:xfrm>
          <a:prstGeom prst="line">
            <a:avLst/>
          </a:prstGeom>
          <a:ln w="12700">
            <a:solidFill>
              <a:srgbClr val="596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404104" y="4535424"/>
            <a:ext cx="146304" cy="201168"/>
          </a:xfrm>
          <a:prstGeom prst="line">
            <a:avLst/>
          </a:prstGeom>
          <a:ln w="12700">
            <a:solidFill>
              <a:srgbClr val="596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868680" y="4643828"/>
            <a:ext cx="146303" cy="92764"/>
          </a:xfrm>
          <a:prstGeom prst="line">
            <a:avLst/>
          </a:prstGeom>
          <a:ln w="25400">
            <a:solidFill>
              <a:srgbClr val="00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014983" y="4554630"/>
            <a:ext cx="146305" cy="89198"/>
          </a:xfrm>
          <a:prstGeom prst="line">
            <a:avLst/>
          </a:prstGeom>
          <a:ln w="25400">
            <a:solidFill>
              <a:srgbClr val="00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161288" y="4472425"/>
            <a:ext cx="146304" cy="82205"/>
          </a:xfrm>
          <a:prstGeom prst="line">
            <a:avLst/>
          </a:prstGeom>
          <a:ln w="25400">
            <a:solidFill>
              <a:srgbClr val="00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307592" y="4400371"/>
            <a:ext cx="146303" cy="72054"/>
          </a:xfrm>
          <a:prstGeom prst="line">
            <a:avLst/>
          </a:prstGeom>
          <a:ln w="25400">
            <a:solidFill>
              <a:srgbClr val="00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453895" y="4341238"/>
            <a:ext cx="146305" cy="59133"/>
          </a:xfrm>
          <a:prstGeom prst="line">
            <a:avLst/>
          </a:prstGeom>
          <a:ln w="25400">
            <a:solidFill>
              <a:srgbClr val="00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600200" y="4297298"/>
            <a:ext cx="146304" cy="43940"/>
          </a:xfrm>
          <a:prstGeom prst="line">
            <a:avLst/>
          </a:prstGeom>
          <a:ln w="25400">
            <a:solidFill>
              <a:srgbClr val="00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746504" y="4270240"/>
            <a:ext cx="146304" cy="27058"/>
          </a:xfrm>
          <a:prstGeom prst="line">
            <a:avLst/>
          </a:prstGeom>
          <a:ln w="25400">
            <a:solidFill>
              <a:srgbClr val="00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892808" y="4261104"/>
            <a:ext cx="146304" cy="9136"/>
          </a:xfrm>
          <a:prstGeom prst="line">
            <a:avLst/>
          </a:prstGeom>
          <a:ln w="25400">
            <a:solidFill>
              <a:srgbClr val="00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039112" y="4261104"/>
            <a:ext cx="146303" cy="9136"/>
          </a:xfrm>
          <a:prstGeom prst="line">
            <a:avLst/>
          </a:prstGeom>
          <a:ln w="25400">
            <a:solidFill>
              <a:srgbClr val="00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185415" y="4270240"/>
            <a:ext cx="146305" cy="27058"/>
          </a:xfrm>
          <a:prstGeom prst="line">
            <a:avLst/>
          </a:prstGeom>
          <a:ln w="25400">
            <a:solidFill>
              <a:srgbClr val="00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331720" y="4297298"/>
            <a:ext cx="146304" cy="43940"/>
          </a:xfrm>
          <a:prstGeom prst="line">
            <a:avLst/>
          </a:prstGeom>
          <a:ln w="25400">
            <a:solidFill>
              <a:srgbClr val="00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478024" y="4341238"/>
            <a:ext cx="146304" cy="59133"/>
          </a:xfrm>
          <a:prstGeom prst="line">
            <a:avLst/>
          </a:prstGeom>
          <a:ln w="25400">
            <a:solidFill>
              <a:srgbClr val="00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624328" y="4400371"/>
            <a:ext cx="146304" cy="72054"/>
          </a:xfrm>
          <a:prstGeom prst="line">
            <a:avLst/>
          </a:prstGeom>
          <a:ln w="25400">
            <a:solidFill>
              <a:srgbClr val="00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770632" y="4472425"/>
            <a:ext cx="146304" cy="82205"/>
          </a:xfrm>
          <a:prstGeom prst="line">
            <a:avLst/>
          </a:prstGeom>
          <a:ln w="25400">
            <a:solidFill>
              <a:srgbClr val="00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916936" y="4554630"/>
            <a:ext cx="146303" cy="89198"/>
          </a:xfrm>
          <a:prstGeom prst="line">
            <a:avLst/>
          </a:prstGeom>
          <a:ln w="25400">
            <a:solidFill>
              <a:srgbClr val="00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063239" y="4643828"/>
            <a:ext cx="146305" cy="92764"/>
          </a:xfrm>
          <a:prstGeom prst="line">
            <a:avLst/>
          </a:prstGeom>
          <a:ln w="25400">
            <a:solidFill>
              <a:srgbClr val="00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209544" y="4736592"/>
            <a:ext cx="146304" cy="92763"/>
          </a:xfrm>
          <a:prstGeom prst="line">
            <a:avLst/>
          </a:prstGeom>
          <a:ln w="25400">
            <a:solidFill>
              <a:srgbClr val="00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3355848" y="4829355"/>
            <a:ext cx="146304" cy="89198"/>
          </a:xfrm>
          <a:prstGeom prst="line">
            <a:avLst/>
          </a:prstGeom>
          <a:ln w="25400">
            <a:solidFill>
              <a:srgbClr val="00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3502152" y="4918553"/>
            <a:ext cx="146304" cy="82205"/>
          </a:xfrm>
          <a:prstGeom prst="line">
            <a:avLst/>
          </a:prstGeom>
          <a:ln w="25400">
            <a:solidFill>
              <a:srgbClr val="00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648456" y="5000758"/>
            <a:ext cx="146304" cy="72054"/>
          </a:xfrm>
          <a:prstGeom prst="line">
            <a:avLst/>
          </a:prstGeom>
          <a:ln w="25400">
            <a:solidFill>
              <a:srgbClr val="00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794760" y="5072812"/>
            <a:ext cx="146303" cy="59133"/>
          </a:xfrm>
          <a:prstGeom prst="line">
            <a:avLst/>
          </a:prstGeom>
          <a:ln w="25400">
            <a:solidFill>
              <a:srgbClr val="00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3941063" y="5131945"/>
            <a:ext cx="146305" cy="43940"/>
          </a:xfrm>
          <a:prstGeom prst="line">
            <a:avLst/>
          </a:prstGeom>
          <a:ln w="25400">
            <a:solidFill>
              <a:srgbClr val="00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087368" y="5175885"/>
            <a:ext cx="146304" cy="27058"/>
          </a:xfrm>
          <a:prstGeom prst="line">
            <a:avLst/>
          </a:prstGeom>
          <a:ln w="25400">
            <a:solidFill>
              <a:srgbClr val="00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4233672" y="5202943"/>
            <a:ext cx="146304" cy="9136"/>
          </a:xfrm>
          <a:prstGeom prst="line">
            <a:avLst/>
          </a:prstGeom>
          <a:ln w="25400">
            <a:solidFill>
              <a:srgbClr val="00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379976" y="5202943"/>
            <a:ext cx="146304" cy="9136"/>
          </a:xfrm>
          <a:prstGeom prst="line">
            <a:avLst/>
          </a:prstGeom>
          <a:ln w="25400">
            <a:solidFill>
              <a:srgbClr val="00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526280" y="5175885"/>
            <a:ext cx="146304" cy="27058"/>
          </a:xfrm>
          <a:prstGeom prst="line">
            <a:avLst/>
          </a:prstGeom>
          <a:ln w="25400">
            <a:solidFill>
              <a:srgbClr val="00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672584" y="5131945"/>
            <a:ext cx="146304" cy="43940"/>
          </a:xfrm>
          <a:prstGeom prst="line">
            <a:avLst/>
          </a:prstGeom>
          <a:ln w="25400">
            <a:solidFill>
              <a:srgbClr val="00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818888" y="5072812"/>
            <a:ext cx="146304" cy="59133"/>
          </a:xfrm>
          <a:prstGeom prst="line">
            <a:avLst/>
          </a:prstGeom>
          <a:ln w="25400">
            <a:solidFill>
              <a:srgbClr val="00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965192" y="5000758"/>
            <a:ext cx="146304" cy="72054"/>
          </a:xfrm>
          <a:prstGeom prst="line">
            <a:avLst/>
          </a:prstGeom>
          <a:ln w="25400">
            <a:solidFill>
              <a:srgbClr val="00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5111496" y="4918553"/>
            <a:ext cx="146304" cy="82205"/>
          </a:xfrm>
          <a:prstGeom prst="line">
            <a:avLst/>
          </a:prstGeom>
          <a:ln w="25400">
            <a:solidFill>
              <a:srgbClr val="00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5257800" y="4829355"/>
            <a:ext cx="146304" cy="89198"/>
          </a:xfrm>
          <a:prstGeom prst="line">
            <a:avLst/>
          </a:prstGeom>
          <a:ln w="25400">
            <a:solidFill>
              <a:srgbClr val="00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5404104" y="4736592"/>
            <a:ext cx="146304" cy="92763"/>
          </a:xfrm>
          <a:prstGeom prst="line">
            <a:avLst/>
          </a:prstGeom>
          <a:ln w="25400">
            <a:solidFill>
              <a:srgbClr val="00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914400" y="5285232"/>
            <a:ext cx="13258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96474"/>
                </a:solidFill>
                <a:latin typeface="Noto Sans CJK JP"/>
              </a:rPr>
              <a:t>三角搬送波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377440" y="5285232"/>
            <a:ext cx="1097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0091AA"/>
                </a:solidFill>
                <a:latin typeface="Noto Sans CJK JP"/>
              </a:rPr>
              <a:t>信号波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263640" y="3401568"/>
            <a:ext cx="53492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92240" y="3566160"/>
            <a:ext cx="4846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62743"/>
                </a:solidFill>
                <a:latin typeface="Noto Sans CJK JP"/>
              </a:rPr>
              <a:t>力率1制御の読み方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7315200" y="4892040"/>
            <a:ext cx="2514600" cy="0"/>
          </a:xfrm>
          <a:prstGeom prst="line">
            <a:avLst/>
          </a:prstGeom>
          <a:ln w="38100">
            <a:solidFill>
              <a:srgbClr val="315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315200" y="4892040"/>
            <a:ext cx="2468880" cy="0"/>
          </a:xfrm>
          <a:prstGeom prst="line">
            <a:avLst/>
          </a:prstGeom>
          <a:ln w="26670">
            <a:solidFill>
              <a:srgbClr val="315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9857232" y="4754880"/>
            <a:ext cx="320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315CA6"/>
                </a:solidFill>
                <a:latin typeface="Noto Sans CJK JP"/>
              </a:rPr>
              <a:t>V</a:t>
            </a:r>
          </a:p>
        </p:txBody>
      </p:sp>
      <p:cxnSp>
        <p:nvCxnSpPr>
          <p:cNvPr id="87" name="Connector 86"/>
          <p:cNvCxnSpPr/>
          <p:nvPr/>
        </p:nvCxnSpPr>
        <p:spPr>
          <a:xfrm flipV="1">
            <a:off x="7315200" y="4242816"/>
            <a:ext cx="2212848" cy="649224"/>
          </a:xfrm>
          <a:prstGeom prst="line">
            <a:avLst/>
          </a:prstGeom>
          <a:ln w="26670">
            <a:solidFill>
              <a:srgbClr val="CF7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9601200" y="4087368"/>
            <a:ext cx="320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CF7E37"/>
                </a:solidFill>
                <a:latin typeface="Noto Sans CJK JP"/>
              </a:rPr>
              <a:t>I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211312" y="4315968"/>
            <a:ext cx="320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2743"/>
                </a:solidFill>
                <a:latin typeface="Noto Sans CJK JP"/>
              </a:rPr>
              <a:t>φ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03720" y="5285232"/>
            <a:ext cx="41148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596474"/>
                </a:solidFill>
                <a:latin typeface="Noto Sans CJK JP"/>
              </a:rPr>
              <a:t>基本波電圧・電流の位相関係から</a:t>
            </a:r>
            <a:br/>
            <a:r>
              <a:t>有効電力と力率を判断する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73736"/>
            <a:ext cx="5029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0091AA"/>
                </a:solidFill>
                <a:latin typeface="Noto Sans CJK JP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"/>
            <a:ext cx="1088136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162743"/>
                </a:solidFill>
                <a:latin typeface="Noto Sans CJK JP"/>
              </a:rPr>
              <a:t>高調波を「基本波 + 残差」に分ける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731520"/>
            <a:ext cx="11521440" cy="0"/>
          </a:xfrm>
          <a:prstGeom prst="line">
            <a:avLst/>
          </a:prstGeom>
          <a:ln w="17780">
            <a:solidFill>
              <a:srgbClr val="1627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621792"/>
            <a:ext cx="10698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596474"/>
                </a:solidFill>
                <a:latin typeface="Noto Sans CJK JP"/>
              </a:rPr>
              <a:t>R5 二次「機械・制御」問3 — 7 /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60704"/>
            <a:ext cx="379476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252728"/>
            <a:ext cx="3291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62743"/>
                </a:solidFill>
                <a:latin typeface="Noto Sans CJK JP"/>
              </a:rPr>
              <a:t>分解と補償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47088"/>
            <a:ext cx="32918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315CA6"/>
                </a:solidFill>
                <a:latin typeface="Noto Sans CJK JP"/>
              </a:rPr>
              <a:t>i_L(t) = i_1(t) + i_H(t)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487168"/>
            <a:ext cx="32918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0091AA"/>
                </a:solidFill>
                <a:latin typeface="Noto Sans CJK JP"/>
              </a:rPr>
              <a:t>i_c(t) = −i_H(t)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32918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378269"/>
                </a:solidFill>
                <a:latin typeface="Noto Sans CJK JP"/>
              </a:rPr>
              <a:t>i_s(t) = i_1(t)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95728" y="3566160"/>
            <a:ext cx="0" cy="621792"/>
          </a:xfrm>
          <a:prstGeom prst="line">
            <a:avLst/>
          </a:prstGeom>
          <a:ln w="26670">
            <a:solidFill>
              <a:srgbClr val="3782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8680" y="4315968"/>
            <a:ext cx="3054096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596474"/>
                </a:solidFill>
                <a:latin typeface="Noto Sans CJK JP"/>
              </a:rPr>
              <a:t>電源側から高調波成分を打ち消す</a:t>
            </a:r>
            <a:br/>
            <a:r>
              <a:t>という試験上の補償原理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148072"/>
            <a:ext cx="3054096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AE4545"/>
                </a:solidFill>
                <a:latin typeface="Noto Sans CJK JP"/>
              </a:rPr>
              <a:t>※ 実車への能動フィルタ搭載を</a:t>
            </a:r>
            <a:br/>
            <a:r>
              <a:t>主張しているわけではない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060704"/>
            <a:ext cx="36576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252728"/>
            <a:ext cx="3154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62743"/>
                </a:solidFill>
                <a:latin typeface="Noto Sans CJK JP"/>
              </a:rPr>
              <a:t>対称方形波の実効値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1837943"/>
            <a:ext cx="315468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315CA6"/>
                </a:solidFill>
                <a:latin typeface="Noto Sans CJK JP"/>
              </a:rPr>
              <a:t>I₁ = (2√2/π) I_L</a:t>
            </a:r>
            <a:br/>
            <a:r>
              <a:t>= 約 0.900 I_L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2926080"/>
            <a:ext cx="315468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0091AA"/>
                </a:solidFill>
                <a:latin typeface="Noto Sans CJK JP"/>
              </a:rPr>
              <a:t>I_H = √(I_L² − I₁²)</a:t>
            </a:r>
            <a:br/>
            <a:r>
              <a:t>= 約 0.435 I_L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4133087"/>
            <a:ext cx="31546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378269"/>
                </a:solidFill>
                <a:latin typeface="Noto Sans CJK JP"/>
              </a:rPr>
              <a:t>I_L² = I₁² + I_H²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4608" y="4956048"/>
            <a:ext cx="2971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596474"/>
                </a:solidFill>
                <a:latin typeface="Noto Sans CJK JP"/>
              </a:rPr>
              <a:t>波形・基本波・高調波合成を</a:t>
            </a:r>
            <a:br/>
            <a:r>
              <a:t>別々の量として追う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1060704"/>
            <a:ext cx="32004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50224" y="1252728"/>
            <a:ext cx="2697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62743"/>
                </a:solidFill>
                <a:latin typeface="Noto Sans CJK JP"/>
              </a:rPr>
              <a:t>総合力率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0224" y="1856231"/>
            <a:ext cx="2697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CF7E37"/>
                </a:solidFill>
                <a:latin typeface="Noto Sans CJK JP"/>
              </a:rPr>
              <a:t>λ = (I₁/I) cosφ₁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50224" y="2478024"/>
            <a:ext cx="2697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CF7E37"/>
                </a:solidFill>
                <a:latin typeface="Noto Sans CJK JP"/>
              </a:rPr>
              <a:t>= cosφ₁ / √(1+THD_I²)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0224" y="3310128"/>
            <a:ext cx="2697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AE4545"/>
                </a:solidFill>
                <a:latin typeface="Noto Sans CJK JP"/>
              </a:rPr>
              <a:t>成立条件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3703320"/>
            <a:ext cx="251460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596474"/>
                </a:solidFill>
                <a:latin typeface="Noto Sans CJK JP"/>
              </a:rPr>
              <a:t>・電圧は正弦波</a:t>
            </a:r>
            <a:br/>
            <a:r>
              <a:t>・電流ひずみだけを考える</a:t>
            </a:r>
            <a:br/>
            <a:r>
              <a:t>・基本波と高調波が直交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50224" y="5074920"/>
            <a:ext cx="26974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AE4545"/>
                </a:solidFill>
                <a:latin typeface="Noto Sans CJK JP"/>
              </a:rPr>
              <a:t>無条件の一般式にしない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73736"/>
            <a:ext cx="5029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0091AA"/>
                </a:solidFill>
                <a:latin typeface="Noto Sans CJK JP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"/>
            <a:ext cx="1088136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162743"/>
                </a:solidFill>
                <a:latin typeface="Noto Sans CJK JP"/>
              </a:rPr>
              <a:t>変換損失と効率 — 何が負荷で変わるか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731520"/>
            <a:ext cx="11521440" cy="0"/>
          </a:xfrm>
          <a:prstGeom prst="line">
            <a:avLst/>
          </a:prstGeom>
          <a:ln w="17780">
            <a:solidFill>
              <a:srgbClr val="1627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621792"/>
            <a:ext cx="10698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596474"/>
                </a:solidFill>
                <a:latin typeface="Noto Sans CJK JP"/>
              </a:rPr>
              <a:t>R4 一次「機械」問4 5/5 + R2 二次「機械・制御」問2 5/5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78992"/>
            <a:ext cx="338328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73152" cy="1993392"/>
          </a:xfrm>
          <a:prstGeom prst="rect">
            <a:avLst/>
          </a:prstGeom>
          <a:solidFill>
            <a:srgbClr val="315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207007"/>
            <a:ext cx="30632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62743"/>
                </a:solidFill>
                <a:latin typeface="Noto Sans CJK JP"/>
              </a:rPr>
              <a:t>導通損失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581912"/>
            <a:ext cx="3063240" cy="1399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96474"/>
                </a:solidFill>
                <a:latin typeface="Noto Sans CJK JP"/>
              </a:rPr>
              <a:t>定電圧降下モデル:</a:t>
            </a:r>
            <a:br/>
            <a:r>
              <a:t>P_cond ≈ V_on I_avg,on</a:t>
            </a:r>
            <a:br/>
            <a:br/>
            <a:r>
              <a:t>MOSFET抵抗モデル:</a:t>
            </a:r>
            <a:br/>
            <a:r>
              <a:t>P_cond ≈ I_rms,on² R_on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24612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246120"/>
            <a:ext cx="73152" cy="2194560"/>
          </a:xfrm>
          <a:prstGeom prst="rect">
            <a:avLst/>
          </a:prstGeom>
          <a:solidFill>
            <a:srgbClr val="00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3374136"/>
            <a:ext cx="30632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62743"/>
                </a:solidFill>
                <a:latin typeface="Noto Sans CJK JP"/>
              </a:rPr>
              <a:t>スイッチング損失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749039"/>
            <a:ext cx="3063240" cy="1600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96474"/>
                </a:solidFill>
                <a:latin typeface="Noto Sans CJK JP"/>
              </a:rPr>
              <a:t>P_sw = f_s(E_on+E_off)</a:t>
            </a:r>
            <a:br/>
            <a:r>
              <a:t>周期が短いほど単位時間当たり損失は増える。</a:t>
            </a:r>
            <a:br/>
            <a:r>
              <a:t>ソフトスイッチングは切替時の重なりを減らす。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1078992"/>
            <a:ext cx="3703320" cy="4361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1280160"/>
            <a:ext cx="3200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62743"/>
                </a:solidFill>
                <a:latin typeface="Noto Sans CJK JP"/>
              </a:rPr>
              <a:t>効率の一般式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1801368"/>
            <a:ext cx="32004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378269"/>
                </a:solidFill>
                <a:latin typeface="Noto Sans CJK JP"/>
              </a:rPr>
              <a:t>η = P_out / (P_out + P_loss)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2542032"/>
            <a:ext cx="3200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2743"/>
                </a:solidFill>
                <a:latin typeface="Noto Sans CJK JP"/>
              </a:rPr>
              <a:t>教材用モデル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2971800"/>
            <a:ext cx="320040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315CA6"/>
                </a:solidFill>
                <a:latin typeface="Noto Sans CJK JP"/>
              </a:rPr>
              <a:t>P_out = x P_N</a:t>
            </a:r>
            <a:br/>
            <a:r>
              <a:t>P_loss = P₀ + x² P_vN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3904487"/>
            <a:ext cx="320040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0091AA"/>
                </a:solidFill>
                <a:latin typeface="Noto Sans CJK JP"/>
              </a:rPr>
              <a:t>η(x) = xP_N /</a:t>
            </a:r>
            <a:br/>
            <a:r>
              <a:t>(xP_N+P₀+x²P_vN)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4773168"/>
            <a:ext cx="32004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AE4545"/>
                </a:solidFill>
                <a:latin typeface="Noto Sans CJK JP"/>
              </a:rPr>
              <a:t>P₀=x²P_vN はこのモデル内の最大効率条件。</a:t>
            </a:r>
            <a:br/>
            <a:r>
              <a:t>変換器一般の普遍則ではない。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078992"/>
            <a:ext cx="3474720" cy="4361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1280160"/>
            <a:ext cx="3017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2743"/>
                </a:solidFill>
                <a:latin typeface="Noto Sans CJK JP"/>
              </a:rPr>
              <a:t>負荷率と効率（模式）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49640" y="4709160"/>
            <a:ext cx="2651760" cy="0"/>
          </a:xfrm>
          <a:prstGeom prst="line">
            <a:avLst/>
          </a:prstGeom>
          <a:ln w="15240">
            <a:solidFill>
              <a:srgbClr val="596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549640" y="1965960"/>
            <a:ext cx="0" cy="2743200"/>
          </a:xfrm>
          <a:prstGeom prst="line">
            <a:avLst/>
          </a:prstGeom>
          <a:ln w="15240">
            <a:solidFill>
              <a:srgbClr val="596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464040" y="4828032"/>
            <a:ext cx="1097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596474"/>
                </a:solidFill>
                <a:latin typeface="Noto Sans CJK JP"/>
              </a:rPr>
              <a:t>負荷率 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1847088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96474"/>
                </a:solidFill>
                <a:latin typeface="Noto Sans CJK JP"/>
              </a:rPr>
              <a:t>η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8682228" y="2701701"/>
            <a:ext cx="125958" cy="277865"/>
          </a:xfrm>
          <a:prstGeom prst="line">
            <a:avLst/>
          </a:prstGeom>
          <a:ln w="29209">
            <a:solidFill>
              <a:srgbClr val="CF7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808186" y="2585129"/>
            <a:ext cx="125959" cy="116572"/>
          </a:xfrm>
          <a:prstGeom prst="line">
            <a:avLst/>
          </a:prstGeom>
          <a:ln w="29209">
            <a:solidFill>
              <a:srgbClr val="CF7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934145" y="2521691"/>
            <a:ext cx="125958" cy="63438"/>
          </a:xfrm>
          <a:prstGeom prst="line">
            <a:avLst/>
          </a:prstGeom>
          <a:ln w="29209">
            <a:solidFill>
              <a:srgbClr val="CF7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9060103" y="2482263"/>
            <a:ext cx="125959" cy="39428"/>
          </a:xfrm>
          <a:prstGeom prst="line">
            <a:avLst/>
          </a:prstGeom>
          <a:ln w="29209">
            <a:solidFill>
              <a:srgbClr val="CF7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186062" y="2455718"/>
            <a:ext cx="125959" cy="26545"/>
          </a:xfrm>
          <a:prstGeom prst="line">
            <a:avLst/>
          </a:prstGeom>
          <a:ln w="29209">
            <a:solidFill>
              <a:srgbClr val="CF7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312021" y="2436882"/>
            <a:ext cx="125958" cy="18836"/>
          </a:xfrm>
          <a:prstGeom prst="line">
            <a:avLst/>
          </a:prstGeom>
          <a:ln w="29209">
            <a:solidFill>
              <a:srgbClr val="CF7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9437979" y="2423025"/>
            <a:ext cx="125959" cy="13857"/>
          </a:xfrm>
          <a:prstGeom prst="line">
            <a:avLst/>
          </a:prstGeom>
          <a:ln w="29209">
            <a:solidFill>
              <a:srgbClr val="CF7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9563938" y="2412568"/>
            <a:ext cx="125958" cy="10457"/>
          </a:xfrm>
          <a:prstGeom prst="line">
            <a:avLst/>
          </a:prstGeom>
          <a:ln w="29209">
            <a:solidFill>
              <a:srgbClr val="CF7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9689896" y="2404537"/>
            <a:ext cx="125959" cy="8031"/>
          </a:xfrm>
          <a:prstGeom prst="line">
            <a:avLst/>
          </a:prstGeom>
          <a:ln w="29209">
            <a:solidFill>
              <a:srgbClr val="CF7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815855" y="2398296"/>
            <a:ext cx="125958" cy="6241"/>
          </a:xfrm>
          <a:prstGeom prst="line">
            <a:avLst/>
          </a:prstGeom>
          <a:ln w="29209">
            <a:solidFill>
              <a:srgbClr val="CF7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9941813" y="2393414"/>
            <a:ext cx="125959" cy="4882"/>
          </a:xfrm>
          <a:prstGeom prst="line">
            <a:avLst/>
          </a:prstGeom>
          <a:ln w="29209">
            <a:solidFill>
              <a:srgbClr val="CF7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0067772" y="2389587"/>
            <a:ext cx="125959" cy="3827"/>
          </a:xfrm>
          <a:prstGeom prst="line">
            <a:avLst/>
          </a:prstGeom>
          <a:ln w="29209">
            <a:solidFill>
              <a:srgbClr val="CF7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0193731" y="2386596"/>
            <a:ext cx="125958" cy="2991"/>
          </a:xfrm>
          <a:prstGeom prst="line">
            <a:avLst/>
          </a:prstGeom>
          <a:ln w="29209">
            <a:solidFill>
              <a:srgbClr val="CF7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0319689" y="2384277"/>
            <a:ext cx="125959" cy="2319"/>
          </a:xfrm>
          <a:prstGeom prst="line">
            <a:avLst/>
          </a:prstGeom>
          <a:ln w="29209">
            <a:solidFill>
              <a:srgbClr val="CF7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0445648" y="2382508"/>
            <a:ext cx="125959" cy="1769"/>
          </a:xfrm>
          <a:prstGeom prst="line">
            <a:avLst/>
          </a:prstGeom>
          <a:ln w="29209">
            <a:solidFill>
              <a:srgbClr val="CF7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0571607" y="2381193"/>
            <a:ext cx="125958" cy="1315"/>
          </a:xfrm>
          <a:prstGeom prst="line">
            <a:avLst/>
          </a:prstGeom>
          <a:ln w="29209">
            <a:solidFill>
              <a:srgbClr val="CF7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0697565" y="2380259"/>
            <a:ext cx="125959" cy="934"/>
          </a:xfrm>
          <a:prstGeom prst="line">
            <a:avLst/>
          </a:prstGeom>
          <a:ln w="29209">
            <a:solidFill>
              <a:srgbClr val="CF7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823524" y="2379645"/>
            <a:ext cx="125958" cy="614"/>
          </a:xfrm>
          <a:prstGeom prst="line">
            <a:avLst/>
          </a:prstGeom>
          <a:ln w="29209">
            <a:solidFill>
              <a:srgbClr val="CF7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949482" y="2379304"/>
            <a:ext cx="125959" cy="341"/>
          </a:xfrm>
          <a:prstGeom prst="line">
            <a:avLst/>
          </a:prstGeom>
          <a:ln w="29209">
            <a:solidFill>
              <a:srgbClr val="CF7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1075441" y="2379198"/>
            <a:ext cx="125959" cy="106"/>
          </a:xfrm>
          <a:prstGeom prst="line">
            <a:avLst/>
          </a:prstGeom>
          <a:ln w="29209">
            <a:solidFill>
              <a:srgbClr val="CF7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458200" y="5138928"/>
            <a:ext cx="2880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CF7E37"/>
                </a:solidFill>
                <a:latin typeface="Noto Sans CJK JP"/>
              </a:rPr>
              <a:t>固定損と負荷依存損を分けて考える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5800" y="5806440"/>
            <a:ext cx="1645920" cy="320040"/>
          </a:xfrm>
          <a:prstGeom prst="roundRect">
            <a:avLst/>
          </a:prstGeom>
          <a:solidFill>
            <a:srgbClr val="315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820155"/>
            <a:ext cx="15544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オン損失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487168" y="5806440"/>
            <a:ext cx="1645920" cy="320040"/>
          </a:xfrm>
          <a:prstGeom prst="roundRect">
            <a:avLst/>
          </a:prstGeom>
          <a:solidFill>
            <a:srgbClr val="00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32888" y="5820155"/>
            <a:ext cx="15544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漏れ電流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297680" y="5806440"/>
            <a:ext cx="2286000" cy="320040"/>
          </a:xfrm>
          <a:prstGeom prst="roundRect">
            <a:avLst/>
          </a:prstGeom>
          <a:solidFill>
            <a:srgbClr val="CF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43400" y="5820155"/>
            <a:ext cx="21945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スイッチング損失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766560" y="5806440"/>
            <a:ext cx="1325880" cy="320040"/>
          </a:xfrm>
          <a:prstGeom prst="roundRect">
            <a:avLst/>
          </a:prstGeom>
          <a:solidFill>
            <a:srgbClr val="37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12280" y="5820155"/>
            <a:ext cx="1234439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効率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75320" y="5806440"/>
            <a:ext cx="1828800" cy="320040"/>
          </a:xfrm>
          <a:prstGeom prst="roundRect">
            <a:avLst/>
          </a:prstGeom>
          <a:solidFill>
            <a:srgbClr val="315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21040" y="5820155"/>
            <a:ext cx="17373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負荷変動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73736"/>
            <a:ext cx="5029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0091AA"/>
                </a:solidFill>
                <a:latin typeface="Noto Sans CJK JP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"/>
            <a:ext cx="1088136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162743"/>
                </a:solidFill>
                <a:latin typeface="Noto Sans CJK JP"/>
              </a:rPr>
              <a:t>負荷ステップを直流中間回路のエネルギーで読む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" y="731520"/>
            <a:ext cx="11521440" cy="0"/>
          </a:xfrm>
          <a:prstGeom prst="line">
            <a:avLst/>
          </a:prstGeom>
          <a:ln w="17780">
            <a:solidFill>
              <a:srgbClr val="1627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621792"/>
            <a:ext cx="10698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596474"/>
                </a:solidFill>
                <a:latin typeface="Noto Sans CJK JP"/>
              </a:rPr>
              <a:t>最終確認 — 固定5問・27答案要素を可視化へ接続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548640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261872"/>
            <a:ext cx="4983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62743"/>
                </a:solidFill>
                <a:latin typeface="Noto Sans CJK JP"/>
              </a:rPr>
              <a:t>直流中間コンデンサ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10512"/>
            <a:ext cx="49834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315CA6"/>
                </a:solidFill>
                <a:latin typeface="Noto Sans CJK JP"/>
              </a:rPr>
              <a:t>W_dc = 1/2 C V_dc²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468880"/>
            <a:ext cx="49834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0091AA"/>
                </a:solidFill>
                <a:latin typeface="Noto Sans CJK JP"/>
              </a:rPr>
              <a:t>dW_dc/dt = P_in − P_out − P_loss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47091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596474"/>
                </a:solidFill>
                <a:latin typeface="Noto Sans CJK JP"/>
              </a:rPr>
              <a:t>負荷急増直後: P_in &lt; P_out + P_loss</a:t>
            </a:r>
            <a:br/>
            <a:r>
              <a:t>→ W_dc低下 → V_dc低下</a:t>
            </a:r>
            <a:br/>
            <a:r>
              <a:t>入力側制御が追従すると回復方向へ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051560"/>
            <a:ext cx="534924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61872"/>
            <a:ext cx="4846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62743"/>
                </a:solidFill>
                <a:latin typeface="Noto Sans CJK JP"/>
              </a:rPr>
              <a:t>Vdc の模式応答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12280" y="3246120"/>
            <a:ext cx="4297680" cy="0"/>
          </a:xfrm>
          <a:prstGeom prst="line">
            <a:avLst/>
          </a:prstGeom>
          <a:ln w="15240">
            <a:solidFill>
              <a:srgbClr val="596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812280" y="1783080"/>
            <a:ext cx="0" cy="1463040"/>
          </a:xfrm>
          <a:prstGeom prst="line">
            <a:avLst/>
          </a:prstGeom>
          <a:ln w="15240">
            <a:solidFill>
              <a:srgbClr val="596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012680" y="3346704"/>
            <a:ext cx="640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596474"/>
                </a:solidFill>
                <a:latin typeface="Noto Sans CJK JP"/>
              </a:rPr>
              <a:t>時間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682496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596474"/>
                </a:solidFill>
                <a:latin typeface="Noto Sans CJK JP"/>
              </a:rPr>
              <a:t>Vdc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0" y="2084831"/>
            <a:ext cx="777240" cy="0"/>
          </a:xfrm>
          <a:prstGeom prst="line">
            <a:avLst/>
          </a:prstGeom>
          <a:ln w="31750">
            <a:solidFill>
              <a:srgbClr val="CF7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635240" y="2084831"/>
            <a:ext cx="182880" cy="704089"/>
          </a:xfrm>
          <a:prstGeom prst="line">
            <a:avLst/>
          </a:prstGeom>
          <a:ln w="31750">
            <a:solidFill>
              <a:srgbClr val="CF7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18120" y="2788920"/>
            <a:ext cx="594360" cy="45720"/>
          </a:xfrm>
          <a:prstGeom prst="line">
            <a:avLst/>
          </a:prstGeom>
          <a:ln w="31750">
            <a:solidFill>
              <a:srgbClr val="CF7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412480" y="2450592"/>
            <a:ext cx="868680" cy="384048"/>
          </a:xfrm>
          <a:prstGeom prst="line">
            <a:avLst/>
          </a:prstGeom>
          <a:ln w="31750">
            <a:solidFill>
              <a:srgbClr val="CF7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9281160" y="2212848"/>
            <a:ext cx="868680" cy="237744"/>
          </a:xfrm>
          <a:prstGeom prst="line">
            <a:avLst/>
          </a:prstGeom>
          <a:ln w="31750">
            <a:solidFill>
              <a:srgbClr val="CF7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149840" y="2112264"/>
            <a:ext cx="822960" cy="100584"/>
          </a:xfrm>
          <a:prstGeom prst="line">
            <a:avLst/>
          </a:prstGeom>
          <a:ln w="31750">
            <a:solidFill>
              <a:srgbClr val="CF7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726679" y="1783080"/>
            <a:ext cx="0" cy="1463040"/>
          </a:xfrm>
          <a:prstGeom prst="line">
            <a:avLst/>
          </a:prstGeom>
          <a:ln w="13970">
            <a:solidFill>
              <a:srgbClr val="AE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452360" y="1572768"/>
            <a:ext cx="73152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AE4545"/>
                </a:solidFill>
                <a:latin typeface="Noto Sans CJK JP"/>
              </a:rPr>
              <a:t>負荷↑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2889504"/>
            <a:ext cx="6400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CF7E37"/>
                </a:solidFill>
                <a:latin typeface="Noto Sans CJK JP"/>
              </a:rPr>
              <a:t>低下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2651760"/>
            <a:ext cx="118872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378269"/>
                </a:solidFill>
                <a:latin typeface="Noto Sans CJK JP"/>
              </a:rPr>
              <a:t>追従・回復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114800"/>
            <a:ext cx="1110996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4279392"/>
            <a:ext cx="21945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2743"/>
                </a:solidFill>
                <a:latin typeface="Noto Sans CJK JP"/>
              </a:rPr>
              <a:t>過去問品質ゲート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4279392"/>
            <a:ext cx="148132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596474"/>
                </a:solidFill>
                <a:latin typeface="Noto Sans CJK JP"/>
              </a:rPr>
              <a:t>R7 一次 問4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4681728"/>
            <a:ext cx="14813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315CA6"/>
                </a:solidFill>
                <a:latin typeface="Noto Sans CJK JP"/>
              </a:rPr>
              <a:t>5 /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4279392"/>
            <a:ext cx="148132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596474"/>
                </a:solidFill>
                <a:latin typeface="Noto Sans CJK JP"/>
              </a:rPr>
              <a:t>R5 二次 問3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712" y="4681728"/>
            <a:ext cx="14813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0091AA"/>
                </a:solidFill>
                <a:latin typeface="Noto Sans CJK JP"/>
              </a:rPr>
              <a:t>7 / 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81344" y="4279392"/>
            <a:ext cx="148132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596474"/>
                </a:solidFill>
                <a:latin typeface="Noto Sans CJK JP"/>
              </a:rPr>
              <a:t>R4 一次 問4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1344" y="4681728"/>
            <a:ext cx="14813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315CA6"/>
                </a:solidFill>
                <a:latin typeface="Noto Sans CJK JP"/>
              </a:rPr>
              <a:t>5 /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08975" y="4279392"/>
            <a:ext cx="148132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596474"/>
                </a:solidFill>
                <a:latin typeface="Noto Sans CJK JP"/>
              </a:rPr>
              <a:t>R2 二次 問2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08975" y="4681728"/>
            <a:ext cx="14813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0091AA"/>
                </a:solidFill>
                <a:latin typeface="Noto Sans CJK JP"/>
              </a:rPr>
              <a:t>5 /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36608" y="4279392"/>
            <a:ext cx="148132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596474"/>
                </a:solidFill>
                <a:latin typeface="Noto Sans CJK JP"/>
              </a:rPr>
              <a:t>H22 一次 問3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36608" y="4681728"/>
            <a:ext cx="14813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315CA6"/>
                </a:solidFill>
                <a:latin typeface="Noto Sans CJK JP"/>
              </a:rPr>
              <a:t>5 /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07792" y="5230368"/>
            <a:ext cx="83941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378269"/>
                </a:solidFill>
                <a:latin typeface="Noto Sans CJK JP"/>
              </a:rPr>
              <a:t>一次 15 / 15     二次 12 / 12     合計 27 / 27 connected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5961888"/>
            <a:ext cx="108813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AE4545"/>
                </a:solidFill>
                <a:latin typeface="Noto Sans CJK JP"/>
              </a:rPr>
              <a:t>頻出ミス: 線間/相・基本波/実効値・力率/効率・損失エネルギー/損失電力を混同しない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