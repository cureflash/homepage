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247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Noto Sans CJK JP"/>
              </a:defRPr>
            </a:pPr>
            <a:r>
              <a:t>22 E5系 再粘着制御：すべりと速度差を分ける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Noto Sans CJK JP"/>
              </a:defRPr>
            </a:pPr>
            <a:r>
              <a:t>第二種の誘導機・速度差・トルク応答へ接続。実車未確認値は使わない。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5440680" cy="1965960"/>
          </a:xfrm>
          <a:prstGeom prst="roundRect">
            <a:avLst/>
          </a:prstGeom>
          <a:solidFill>
            <a:srgbClr val="EBF3FA"/>
          </a:solidFill>
          <a:ln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91440" bIns="54864"/>
          <a:lstStyle/>
          <a:p>
            <a:pPr algn="ctr">
              <a:defRPr sz="1300" b="1">
                <a:solidFill>
                  <a:srgbClr val="142D4B"/>
                </a:solidFill>
                <a:latin typeface="Noto Sans CJK JP"/>
              </a:defRPr>
            </a:pPr>
            <a:r>
              <a:t>誘導電動機側：回転磁界と回転子</a:t>
            </a:r>
          </a:p>
          <a:p>
            <a:pPr>
              <a:spcBef>
                <a:spcPts val="200"/>
              </a:spcBef>
              <a:defRPr sz="1200">
                <a:solidFill>
                  <a:srgbClr val="191919"/>
                </a:solidFill>
                <a:latin typeface="Noto Sans CJK JP"/>
              </a:defRPr>
            </a:pPr>
            <a:r>
              <a:t>同期速度  N_s = 120 f / P</a:t>
            </a:r>
          </a:p>
          <a:p>
            <a:pPr>
              <a:spcBef>
                <a:spcPts val="200"/>
              </a:spcBef>
              <a:defRPr sz="1200">
                <a:solidFill>
                  <a:srgbClr val="191919"/>
                </a:solidFill>
                <a:latin typeface="Noto Sans CJK JP"/>
              </a:defRPr>
            </a:pPr>
            <a:r>
              <a:t>すべり  s = (N_s − N) / N_s</a:t>
            </a:r>
          </a:p>
          <a:p>
            <a:pPr>
              <a:spcBef>
                <a:spcPts val="200"/>
              </a:spcBef>
              <a:defRPr sz="1200">
                <a:solidFill>
                  <a:srgbClr val="191919"/>
                </a:solidFill>
                <a:latin typeface="Noto Sans CJK JP"/>
              </a:defRPr>
            </a:pPr>
            <a:r>
              <a:t>逆算  N = (1 − s) N_s</a:t>
            </a:r>
          </a:p>
          <a:p>
            <a:pPr>
              <a:spcBef>
                <a:spcPts val="200"/>
              </a:spcBef>
              <a:defRPr sz="1200">
                <a:solidFill>
                  <a:srgbClr val="191919"/>
                </a:solidFill>
                <a:latin typeface="Noto Sans CJK JP"/>
              </a:defRPr>
            </a:pPr>
            <a:r>
              <a:t>相対速度  ΔN_slip = s N_s ／ 滑り周波数  f₂ = s f</a:t>
            </a:r>
          </a:p>
          <a:p>
            <a:pPr>
              <a:spcBef>
                <a:spcPts val="200"/>
              </a:spcBef>
              <a:defRPr sz="1200">
                <a:solidFill>
                  <a:srgbClr val="191919"/>
                </a:solidFill>
                <a:latin typeface="Noto Sans CJK JP"/>
              </a:defRPr>
            </a:pPr>
            <a:r>
              <a:t>T∝s は小すべり域等の条件が明示された場合だけ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143000"/>
            <a:ext cx="5577840" cy="1965960"/>
          </a:xfrm>
          <a:prstGeom prst="roundRect">
            <a:avLst/>
          </a:prstGeom>
          <a:solidFill>
            <a:srgbClr val="F6F1E8"/>
          </a:solidFill>
          <a:ln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91440" bIns="54864"/>
          <a:lstStyle/>
          <a:p>
            <a:pPr algn="ctr">
              <a:defRPr sz="1300" b="1">
                <a:solidFill>
                  <a:srgbClr val="B45F19"/>
                </a:solidFill>
                <a:latin typeface="Noto Sans CJK JP"/>
              </a:defRPr>
            </a:pPr>
            <a:r>
              <a:t>車両側：車輪周速度と車体基準速度</a:t>
            </a:r>
          </a:p>
          <a:p>
            <a:pPr>
              <a:spcBef>
                <a:spcPts val="200"/>
              </a:spcBef>
              <a:defRPr sz="1200">
                <a:solidFill>
                  <a:srgbClr val="191919"/>
                </a:solidFill>
                <a:latin typeface="Noto Sans CJK JP"/>
              </a:defRPr>
            </a:pPr>
            <a:r>
              <a:t>車輪周速度  v_w = r ω_w</a:t>
            </a:r>
          </a:p>
          <a:p>
            <a:pPr>
              <a:spcBef>
                <a:spcPts val="200"/>
              </a:spcBef>
              <a:defRPr sz="1200">
                <a:solidFill>
                  <a:srgbClr val="191919"/>
                </a:solidFill>
                <a:latin typeface="Noto Sans CJK JP"/>
              </a:defRPr>
            </a:pPr>
            <a:r>
              <a:t>速度差  e_v = v_w − v_ref</a:t>
            </a:r>
          </a:p>
          <a:p>
            <a:pPr>
              <a:spcBef>
                <a:spcPts val="200"/>
              </a:spcBef>
              <a:defRPr sz="1200">
                <a:solidFill>
                  <a:srgbClr val="191919"/>
                </a:solidFill>
                <a:latin typeface="Noto Sans CJK JP"/>
              </a:defRPr>
            </a:pPr>
            <a:r>
              <a:t>力行で e_v が正方向へ増大 → 空転側</a:t>
            </a:r>
          </a:p>
          <a:p>
            <a:pPr>
              <a:spcBef>
                <a:spcPts val="200"/>
              </a:spcBef>
              <a:defRPr sz="1200">
                <a:solidFill>
                  <a:srgbClr val="191919"/>
                </a:solidFill>
                <a:latin typeface="Noto Sans CJK JP"/>
              </a:defRPr>
            </a:pPr>
            <a:r>
              <a:t>制動で車輪周速度が基準より低下 → 滑走側</a:t>
            </a:r>
          </a:p>
          <a:p>
            <a:pPr>
              <a:spcBef>
                <a:spcPts val="200"/>
              </a:spcBef>
              <a:defRPr sz="1200">
                <a:solidFill>
                  <a:srgbClr val="191919"/>
                </a:solidFill>
                <a:latin typeface="Noto Sans CJK JP"/>
              </a:defRPr>
            </a:pPr>
            <a:r>
              <a:t>e_v を誘導機すべり s と同一視しない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94760"/>
            <a:ext cx="1325880" cy="621792"/>
          </a:xfrm>
          <a:prstGeom prst="roundRect">
            <a:avLst/>
          </a:prstGeom>
          <a:solidFill>
            <a:srgbClr val="EBF3FA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Noto Sans CJK JP"/>
              </a:defRPr>
            </a:pPr>
            <a:r>
              <a:t>f・P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3794760"/>
            <a:ext cx="1325880" cy="621792"/>
          </a:xfrm>
          <a:prstGeom prst="roundRect">
            <a:avLst/>
          </a:prstGeom>
          <a:solidFill>
            <a:srgbClr val="EBF3FA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Noto Sans CJK JP"/>
              </a:defRPr>
            </a:pPr>
            <a:r>
              <a:t>N_s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794760"/>
            <a:ext cx="1325880" cy="621792"/>
          </a:xfrm>
          <a:prstGeom prst="roundRect">
            <a:avLst/>
          </a:prstGeom>
          <a:solidFill>
            <a:srgbClr val="EBF3FA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Noto Sans CJK JP"/>
              </a:defRPr>
            </a:pPr>
            <a:r>
              <a:t>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3794760"/>
            <a:ext cx="1325880" cy="621792"/>
          </a:xfrm>
          <a:prstGeom prst="roundRect">
            <a:avLst/>
          </a:prstGeom>
          <a:solidFill>
            <a:srgbClr val="F6F1E8"/>
          </a:solidFill>
          <a:ln>
            <a:solidFill>
              <a:srgbClr val="B4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Noto Sans CJK JP"/>
              </a:defRPr>
            </a:pPr>
            <a:r>
              <a:t>v_ref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3794760"/>
            <a:ext cx="1325880" cy="621792"/>
          </a:xfrm>
          <a:prstGeom prst="roundRect">
            <a:avLst/>
          </a:prstGeom>
          <a:solidFill>
            <a:srgbClr val="F6F1E8"/>
          </a:solidFill>
          <a:ln>
            <a:solidFill>
              <a:srgbClr val="B4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Noto Sans CJK JP"/>
              </a:defRPr>
            </a:pPr>
            <a:r>
              <a:t>v_w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20" y="3794760"/>
            <a:ext cx="1325880" cy="621792"/>
          </a:xfrm>
          <a:prstGeom prst="roundRect">
            <a:avLst/>
          </a:prstGeom>
          <a:solidFill>
            <a:srgbClr val="F6F1E8"/>
          </a:solidFill>
          <a:ln>
            <a:solidFill>
              <a:srgbClr val="B4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Noto Sans CJK JP"/>
              </a:defRPr>
            </a:pPr>
            <a:r>
              <a:t>e_v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40280" y="3941063"/>
            <a:ext cx="548639" cy="292608"/>
          </a:xfrm>
          <a:prstGeom prst="right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4160520" y="3941063"/>
            <a:ext cx="457200" cy="292608"/>
          </a:xfrm>
          <a:prstGeom prst="right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046720" y="3941063"/>
            <a:ext cx="548639" cy="292608"/>
          </a:xfrm>
          <a:prstGeom prst="right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9966960" y="3941063"/>
            <a:ext cx="548639" cy="292608"/>
          </a:xfrm>
          <a:prstGeom prst="right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754880"/>
            <a:ext cx="10652760" cy="1170432"/>
          </a:xfrm>
          <a:prstGeom prst="roundRect">
            <a:avLst/>
          </a:prstGeom>
          <a:solidFill>
            <a:srgbClr val="F0F7F1"/>
          </a:solidFill>
          <a:ln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91440" bIns="54864"/>
          <a:lstStyle/>
          <a:p>
            <a:pPr algn="ctr">
              <a:defRPr sz="1200" b="1">
                <a:solidFill>
                  <a:srgbClr val="1E7855"/>
                </a:solidFill>
                <a:latin typeface="Noto Sans CJK JP"/>
              </a:defRPr>
            </a:pPr>
            <a:r>
              <a:t>過去問hook（正答そのものは保存しない）</a:t>
            </a:r>
          </a:p>
          <a:p>
            <a:pPr>
              <a:spcBef>
                <a:spcPts val="200"/>
              </a:spcBef>
              <a:defRPr sz="1100">
                <a:solidFill>
                  <a:srgbClr val="191919"/>
                </a:solidFill>
                <a:latin typeface="Noto Sans CJK JP"/>
              </a:defRPr>
            </a:pPr>
            <a:r>
              <a:t>H28一次：車輪回転速度差と誘導機性質 ／ R2一次：ω_m=(1−s)ω_s ／ R7二次：sとN ／ R2二次：相対速度・f₂=sf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92240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  <a:latin typeface="Noto Sans CJK JP"/>
              </a:defRPr>
            </a:pPr>
            <a:r>
              <a:t>SPEC固定項目: 回転原理・すべり定義・式・すべりとトルク定性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247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Noto Sans CJK JP"/>
              </a:defRPr>
            </a:pPr>
            <a:r>
              <a:t>指定可視化 1：粘着限界―速度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Noto Sans CJK JP"/>
              </a:defRPr>
            </a:pPr>
            <a:r>
              <a:t>学習用仮定：W=80 kN、μ(v)=0.24−0.00030v、0≤v≤200 km/h。実車値ではない。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88720" y="1280160"/>
            <a:ext cx="0" cy="379476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5074920"/>
            <a:ext cx="662940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88720" y="5074920"/>
            <a:ext cx="6629400" cy="0"/>
          </a:xfrm>
          <a:prstGeom prst="line">
            <a:avLst/>
          </a:prstGeom>
          <a:ln w="762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4965192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14.0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88720" y="4126229"/>
            <a:ext cx="6629400" cy="0"/>
          </a:xfrm>
          <a:prstGeom prst="line">
            <a:avLst/>
          </a:prstGeom>
          <a:ln w="762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" y="4016501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15.5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88720" y="3177539"/>
            <a:ext cx="6629400" cy="0"/>
          </a:xfrm>
          <a:prstGeom prst="line">
            <a:avLst/>
          </a:prstGeom>
          <a:ln w="762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3067811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17.0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88720" y="2228849"/>
            <a:ext cx="6629400" cy="0"/>
          </a:xfrm>
          <a:prstGeom prst="line">
            <a:avLst/>
          </a:prstGeom>
          <a:ln w="762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648" y="2119121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18.5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720" y="1280159"/>
            <a:ext cx="6629400" cy="0"/>
          </a:xfrm>
          <a:prstGeom prst="line">
            <a:avLst/>
          </a:prstGeom>
          <a:ln w="762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1170431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20.0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720" y="1786128"/>
            <a:ext cx="1657350" cy="758951"/>
          </a:xfrm>
          <a:prstGeom prst="line">
            <a:avLst/>
          </a:prstGeom>
          <a:ln w="22860">
            <a:solidFill>
              <a:srgbClr val="276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46070" y="2545079"/>
            <a:ext cx="1657350" cy="758952"/>
          </a:xfrm>
          <a:prstGeom prst="line">
            <a:avLst/>
          </a:prstGeom>
          <a:ln w="22860">
            <a:solidFill>
              <a:srgbClr val="276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03420" y="3304031"/>
            <a:ext cx="1657350" cy="758953"/>
          </a:xfrm>
          <a:prstGeom prst="line">
            <a:avLst/>
          </a:prstGeom>
          <a:ln w="22860">
            <a:solidFill>
              <a:srgbClr val="276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60770" y="4062984"/>
            <a:ext cx="1657350" cy="758951"/>
          </a:xfrm>
          <a:prstGeom prst="line">
            <a:avLst/>
          </a:prstGeom>
          <a:ln w="22860">
            <a:solidFill>
              <a:srgbClr val="276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138428" y="1735836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95778" y="2494787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53128" y="3253739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10478" y="4012692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67828" y="4771644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1747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482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3217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150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200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2948940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5A5A5A"/>
                </a:solidFill>
                <a:latin typeface="Noto Sans CJK JP"/>
              </a:defRPr>
            </a:pPr>
            <a:r>
              <a:t>F_ad,max [kN]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1325880"/>
            <a:ext cx="3246120" cy="1874519"/>
          </a:xfrm>
          <a:prstGeom prst="roundRect">
            <a:avLst/>
          </a:prstGeom>
          <a:solidFill>
            <a:srgbClr val="EBF3FA"/>
          </a:solidFill>
          <a:ln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91440" bIns="54864"/>
          <a:lstStyle/>
          <a:p>
            <a:pPr algn="ctr">
              <a:defRPr sz="1250" b="1">
                <a:solidFill>
                  <a:srgbClr val="142D4B"/>
                </a:solidFill>
                <a:latin typeface="Noto Sans CJK JP"/>
              </a:defRPr>
            </a:pPr>
            <a:r>
              <a:t>代表点</a:t>
            </a:r>
          </a:p>
          <a:p>
            <a:pPr>
              <a:spcBef>
                <a:spcPts val="200"/>
              </a:spcBef>
              <a:defRPr sz="1150">
                <a:solidFill>
                  <a:srgbClr val="191919"/>
                </a:solidFill>
                <a:latin typeface="Noto Sans CJK JP"/>
              </a:defRPr>
            </a:pPr>
            <a:r>
              <a:t>0→19.2 kN</a:t>
            </a:r>
          </a:p>
          <a:p>
            <a:pPr>
              <a:spcBef>
                <a:spcPts val="200"/>
              </a:spcBef>
              <a:defRPr sz="1150">
                <a:solidFill>
                  <a:srgbClr val="191919"/>
                </a:solidFill>
                <a:latin typeface="Noto Sans CJK JP"/>
              </a:defRPr>
            </a:pPr>
            <a:r>
              <a:t>50→18.0 kN</a:t>
            </a:r>
          </a:p>
          <a:p>
            <a:pPr>
              <a:spcBef>
                <a:spcPts val="200"/>
              </a:spcBef>
              <a:defRPr sz="1150">
                <a:solidFill>
                  <a:srgbClr val="191919"/>
                </a:solidFill>
                <a:latin typeface="Noto Sans CJK JP"/>
              </a:defRPr>
            </a:pPr>
            <a:r>
              <a:t>100→16.8 kN</a:t>
            </a:r>
          </a:p>
          <a:p>
            <a:pPr>
              <a:spcBef>
                <a:spcPts val="200"/>
              </a:spcBef>
              <a:defRPr sz="1150">
                <a:solidFill>
                  <a:srgbClr val="191919"/>
                </a:solidFill>
                <a:latin typeface="Noto Sans CJK JP"/>
              </a:defRPr>
            </a:pPr>
            <a:r>
              <a:t>150→15.6 kN</a:t>
            </a:r>
          </a:p>
          <a:p>
            <a:pPr>
              <a:spcBef>
                <a:spcPts val="200"/>
              </a:spcBef>
              <a:defRPr sz="1150">
                <a:solidFill>
                  <a:srgbClr val="191919"/>
                </a:solidFill>
                <a:latin typeface="Noto Sans CJK JP"/>
              </a:defRPr>
            </a:pPr>
            <a:r>
              <a:t>200→14.4 kN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3520440"/>
            <a:ext cx="3246120" cy="1572768"/>
          </a:xfrm>
          <a:prstGeom prst="roundRect">
            <a:avLst/>
          </a:prstGeom>
          <a:solidFill>
            <a:srgbClr val="F6F1E8"/>
          </a:solidFill>
          <a:ln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91440" bIns="54864"/>
          <a:lstStyle/>
          <a:p>
            <a:pPr algn="ctr">
              <a:defRPr sz="1180" b="1">
                <a:solidFill>
                  <a:srgbClr val="B45F19"/>
                </a:solidFill>
                <a:latin typeface="Noto Sans CJK JP"/>
              </a:defRPr>
            </a:pPr>
            <a:r>
              <a:t>読み方</a:t>
            </a:r>
          </a:p>
          <a:p>
            <a:pPr>
              <a:spcBef>
                <a:spcPts val="200"/>
              </a:spcBef>
              <a:defRPr sz="1080">
                <a:solidFill>
                  <a:srgbClr val="191919"/>
                </a:solidFill>
                <a:latin typeface="Noto Sans CJK JP"/>
              </a:defRPr>
            </a:pPr>
            <a:r>
              <a:t>μ(v)の仮定に従い粘着限界が変化。</a:t>
            </a:r>
          </a:p>
          <a:p>
            <a:pPr>
              <a:spcBef>
                <a:spcPts val="200"/>
              </a:spcBef>
              <a:defRPr sz="1080">
                <a:solidFill>
                  <a:srgbClr val="191919"/>
                </a:solidFill>
                <a:latin typeface="Noto Sans CJK JP"/>
              </a:defRPr>
            </a:pPr>
            <a:r>
              <a:t>指令力・指令トルクを限界値と比較する。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92240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  <a:latin typeface="Noto Sans CJK JP"/>
              </a:defRPr>
            </a:pPr>
            <a:r>
              <a:t>F_ad,max(v)=μ(v)W ／ source再生成条件5点を一致確認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247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Noto Sans CJK JP"/>
              </a:defRPr>
            </a:pPr>
            <a:r>
              <a:t>指定可視化 2：指令トルク―粘着限界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Noto Sans CJK JP"/>
              </a:defRPr>
            </a:pPr>
            <a:r>
              <a:t>学習用仮定：v=100 km/h、r=0.43 m → T_ad,max=7.224 kN·m。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88720" y="1280160"/>
            <a:ext cx="0" cy="379476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5074920"/>
            <a:ext cx="672084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88720" y="5074920"/>
            <a:ext cx="6720840" cy="0"/>
          </a:xfrm>
          <a:prstGeom prst="line">
            <a:avLst/>
          </a:prstGeom>
          <a:ln w="762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4965192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88720" y="4126229"/>
            <a:ext cx="6720840" cy="0"/>
          </a:xfrm>
          <a:prstGeom prst="line">
            <a:avLst/>
          </a:prstGeom>
          <a:ln w="762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" y="4016501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5.8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88720" y="3177539"/>
            <a:ext cx="6720840" cy="0"/>
          </a:xfrm>
          <a:prstGeom prst="line">
            <a:avLst/>
          </a:prstGeom>
          <a:ln w="762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3067811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6.5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88720" y="2228849"/>
            <a:ext cx="6720840" cy="0"/>
          </a:xfrm>
          <a:prstGeom prst="line">
            <a:avLst/>
          </a:prstGeom>
          <a:ln w="762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648" y="2119121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7.2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720" y="1280159"/>
            <a:ext cx="6720840" cy="0"/>
          </a:xfrm>
          <a:prstGeom prst="line">
            <a:avLst/>
          </a:prstGeom>
          <a:ln w="762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1170431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8.0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188720" y="2545079"/>
            <a:ext cx="1120140" cy="632460"/>
          </a:xfrm>
          <a:prstGeom prst="line">
            <a:avLst/>
          </a:prstGeom>
          <a:ln w="22860">
            <a:solidFill>
              <a:srgbClr val="276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308860" y="1533143"/>
            <a:ext cx="1120140" cy="1011936"/>
          </a:xfrm>
          <a:prstGeom prst="line">
            <a:avLst/>
          </a:prstGeom>
          <a:ln w="22860">
            <a:solidFill>
              <a:srgbClr val="276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1533143"/>
            <a:ext cx="1120140" cy="2909317"/>
          </a:xfrm>
          <a:prstGeom prst="line">
            <a:avLst/>
          </a:prstGeom>
          <a:ln w="22860">
            <a:solidFill>
              <a:srgbClr val="276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49140" y="4442460"/>
            <a:ext cx="1120140" cy="0"/>
          </a:xfrm>
          <a:prstGeom prst="line">
            <a:avLst/>
          </a:prstGeom>
          <a:ln w="22860">
            <a:solidFill>
              <a:srgbClr val="276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669280" y="3809999"/>
            <a:ext cx="1120140" cy="632461"/>
          </a:xfrm>
          <a:prstGeom prst="line">
            <a:avLst/>
          </a:prstGeom>
          <a:ln w="22860">
            <a:solidFill>
              <a:srgbClr val="276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789420" y="3177539"/>
            <a:ext cx="1120140" cy="632460"/>
          </a:xfrm>
          <a:prstGeom prst="line">
            <a:avLst/>
          </a:prstGeom>
          <a:ln w="22860">
            <a:solidFill>
              <a:srgbClr val="276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138428" y="3127247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58568" y="2494787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78708" y="1482851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98848" y="4392168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18988" y="4392168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39128" y="3759707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859268" y="3127247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188720" y="2261737"/>
            <a:ext cx="1120140" cy="0"/>
          </a:xfrm>
          <a:prstGeom prst="line">
            <a:avLst/>
          </a:prstGeom>
          <a:ln w="20320">
            <a:solidFill>
              <a:srgbClr val="B45F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08860" y="2261737"/>
            <a:ext cx="1120140" cy="0"/>
          </a:xfrm>
          <a:prstGeom prst="line">
            <a:avLst/>
          </a:prstGeom>
          <a:ln w="20320">
            <a:solidFill>
              <a:srgbClr val="B45F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429000" y="2261737"/>
            <a:ext cx="1120140" cy="0"/>
          </a:xfrm>
          <a:prstGeom prst="line">
            <a:avLst/>
          </a:prstGeom>
          <a:ln w="20320">
            <a:solidFill>
              <a:srgbClr val="B45F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49140" y="2261737"/>
            <a:ext cx="1120140" cy="0"/>
          </a:xfrm>
          <a:prstGeom prst="line">
            <a:avLst/>
          </a:prstGeom>
          <a:ln w="20320">
            <a:solidFill>
              <a:srgbClr val="B45F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669280" y="2261737"/>
            <a:ext cx="1120140" cy="0"/>
          </a:xfrm>
          <a:prstGeom prst="line">
            <a:avLst/>
          </a:prstGeom>
          <a:ln w="20320">
            <a:solidFill>
              <a:srgbClr val="B45F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89420" y="2261737"/>
            <a:ext cx="1120140" cy="0"/>
          </a:xfrm>
          <a:prstGeom prst="line">
            <a:avLst/>
          </a:prstGeom>
          <a:ln w="20320">
            <a:solidFill>
              <a:srgbClr val="B45F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147572" y="2220589"/>
            <a:ext cx="82296" cy="82296"/>
          </a:xfrm>
          <a:prstGeom prst="ellipse">
            <a:avLst/>
          </a:prstGeom>
          <a:solidFill>
            <a:srgbClr val="B45F19"/>
          </a:solidFill>
          <a:ln>
            <a:solidFill>
              <a:srgbClr val="B4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67712" y="2220589"/>
            <a:ext cx="82296" cy="82296"/>
          </a:xfrm>
          <a:prstGeom prst="ellipse">
            <a:avLst/>
          </a:prstGeom>
          <a:solidFill>
            <a:srgbClr val="B45F19"/>
          </a:solidFill>
          <a:ln>
            <a:solidFill>
              <a:srgbClr val="B4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387852" y="2220589"/>
            <a:ext cx="82296" cy="82296"/>
          </a:xfrm>
          <a:prstGeom prst="ellipse">
            <a:avLst/>
          </a:prstGeom>
          <a:solidFill>
            <a:srgbClr val="B45F19"/>
          </a:solidFill>
          <a:ln>
            <a:solidFill>
              <a:srgbClr val="B4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07992" y="2220589"/>
            <a:ext cx="82296" cy="82296"/>
          </a:xfrm>
          <a:prstGeom prst="ellipse">
            <a:avLst/>
          </a:prstGeom>
          <a:solidFill>
            <a:srgbClr val="B45F19"/>
          </a:solidFill>
          <a:ln>
            <a:solidFill>
              <a:srgbClr val="B4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28132" y="2220589"/>
            <a:ext cx="82296" cy="82296"/>
          </a:xfrm>
          <a:prstGeom prst="ellipse">
            <a:avLst/>
          </a:prstGeom>
          <a:solidFill>
            <a:srgbClr val="B45F19"/>
          </a:solidFill>
          <a:ln>
            <a:solidFill>
              <a:srgbClr val="B4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48272" y="2220589"/>
            <a:ext cx="82296" cy="82296"/>
          </a:xfrm>
          <a:prstGeom prst="ellipse">
            <a:avLst/>
          </a:prstGeom>
          <a:solidFill>
            <a:srgbClr val="B45F19"/>
          </a:solidFill>
          <a:ln>
            <a:solidFill>
              <a:srgbClr val="B4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868412" y="2220589"/>
            <a:ext cx="82296" cy="82296"/>
          </a:xfrm>
          <a:prstGeom prst="ellipse">
            <a:avLst/>
          </a:prstGeom>
          <a:solidFill>
            <a:srgbClr val="B45F19"/>
          </a:solidFill>
          <a:ln>
            <a:solidFill>
              <a:srgbClr val="B4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8026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2054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082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2948940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5A5A5A"/>
                </a:solidFill>
                <a:latin typeface="Noto Sans CJK JP"/>
              </a:defRPr>
            </a:pPr>
            <a:r>
              <a:t>T [kN·m]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1298448"/>
            <a:ext cx="1645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2766A0"/>
                </a:solidFill>
                <a:latin typeface="Noto Sans CJK JP"/>
              </a:defRPr>
            </a:pPr>
            <a:r>
              <a:t>青：T_cmd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1554480"/>
            <a:ext cx="19202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B45F19"/>
                </a:solidFill>
                <a:latin typeface="Noto Sans CJK JP"/>
              </a:defRPr>
            </a:pPr>
            <a:r>
              <a:t>橙：T_ad,max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75320" y="1261872"/>
            <a:ext cx="3246120" cy="2148840"/>
          </a:xfrm>
          <a:prstGeom prst="roundRect">
            <a:avLst/>
          </a:prstGeom>
          <a:solidFill>
            <a:srgbClr val="FAEEEE"/>
          </a:solidFill>
          <a:ln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91440" bIns="54864"/>
          <a:lstStyle/>
          <a:p>
            <a:pPr algn="ctr">
              <a:defRPr sz="1180" b="1">
                <a:solidFill>
                  <a:srgbClr val="AA2D2D"/>
                </a:solidFill>
                <a:latin typeface="Noto Sans CJK JP"/>
              </a:defRPr>
            </a:pPr>
            <a:r>
              <a:t>時系列の判定</a:t>
            </a:r>
          </a:p>
          <a:p>
            <a:pPr>
              <a:spcBef>
                <a:spcPts val="200"/>
              </a:spcBef>
              <a:defRPr sz="1080">
                <a:solidFill>
                  <a:srgbClr val="191919"/>
                </a:solidFill>
                <a:latin typeface="Noto Sans CJK JP"/>
              </a:defRPr>
            </a:pPr>
            <a:r>
              <a:t>t=0,1：限界内</a:t>
            </a:r>
          </a:p>
          <a:p>
            <a:pPr>
              <a:spcBef>
                <a:spcPts val="200"/>
              </a:spcBef>
              <a:defRPr sz="1080">
                <a:solidFill>
                  <a:srgbClr val="191919"/>
                </a:solidFill>
                <a:latin typeface="Noto Sans CJK JP"/>
              </a:defRPr>
            </a:pPr>
            <a:r>
              <a:t>t=2：7.8 &gt; 7.224 → 空転側</a:t>
            </a:r>
          </a:p>
          <a:p>
            <a:pPr>
              <a:spcBef>
                <a:spcPts val="200"/>
              </a:spcBef>
              <a:defRPr sz="1080">
                <a:solidFill>
                  <a:srgbClr val="191919"/>
                </a:solidFill>
                <a:latin typeface="Noto Sans CJK JP"/>
              </a:defRPr>
            </a:pPr>
            <a:r>
              <a:t>t=3,4：5.5へ低減・収束待ち</a:t>
            </a:r>
          </a:p>
          <a:p>
            <a:pPr>
              <a:spcBef>
                <a:spcPts val="200"/>
              </a:spcBef>
              <a:defRPr sz="1080">
                <a:solidFill>
                  <a:srgbClr val="191919"/>
                </a:solidFill>
                <a:latin typeface="Noto Sans CJK JP"/>
              </a:defRPr>
            </a:pPr>
            <a:r>
              <a:t>t=5,6：6.0→6.5へ復帰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75320" y="3703320"/>
            <a:ext cx="3246120" cy="1417320"/>
          </a:xfrm>
          <a:prstGeom prst="roundRect">
            <a:avLst/>
          </a:prstGeom>
          <a:solidFill>
            <a:srgbClr val="F0F7F1"/>
          </a:solidFill>
          <a:ln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91440" bIns="54864"/>
          <a:lstStyle/>
          <a:p>
            <a:pPr algn="ctr">
              <a:defRPr sz="1160" b="1">
                <a:solidFill>
                  <a:srgbClr val="1E7855"/>
                </a:solidFill>
                <a:latin typeface="Noto Sans CJK JP"/>
              </a:defRPr>
            </a:pPr>
            <a:r>
              <a:t>判定手順</a:t>
            </a:r>
          </a:p>
          <a:p>
            <a:pPr>
              <a:spcBef>
                <a:spcPts val="200"/>
              </a:spcBef>
              <a:defRPr sz="1060">
                <a:solidFill>
                  <a:srgbClr val="191919"/>
                </a:solidFill>
                <a:latin typeface="Noto Sans CJK JP"/>
              </a:defRPr>
            </a:pPr>
            <a:r>
              <a:t>①限界計算 ②指令比較 ③力行/制動 ④速度差の増減へ接続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492240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  <a:latin typeface="Noto Sans CJK JP"/>
              </a:defRPr>
            </a:pPr>
            <a:r>
              <a:t>固定SPEC外の実車制御値は追加せず、sourceの7時点を一致確認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1247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Noto Sans CJK JP"/>
              </a:defRPr>
            </a:pPr>
            <a:r>
              <a:t>指定可視化 3：簡略再粘着応答とフィードバックの読み方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Noto Sans CJK JP"/>
              </a:defRPr>
            </a:pPr>
            <a:r>
              <a:t>速度差 e_v と指令トルクを同じ時間軸で追い、検出→低減→収束→復帰を確認する。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88720" y="1280160"/>
            <a:ext cx="0" cy="379476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5074920"/>
            <a:ext cx="6720840" cy="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09560" y="1280160"/>
            <a:ext cx="0" cy="379476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88720" y="5074920"/>
            <a:ext cx="6720840" cy="0"/>
          </a:xfrm>
          <a:prstGeom prst="line">
            <a:avLst/>
          </a:prstGeom>
          <a:ln w="762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2648" y="4965192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4965192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5.0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88720" y="4126229"/>
            <a:ext cx="6720840" cy="0"/>
          </a:xfrm>
          <a:prstGeom prst="line">
            <a:avLst/>
          </a:prstGeom>
          <a:ln w="762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4016501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0.3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4016501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5.8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88720" y="3177539"/>
            <a:ext cx="6720840" cy="0"/>
          </a:xfrm>
          <a:prstGeom prst="line">
            <a:avLst/>
          </a:prstGeom>
          <a:ln w="762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3067811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0.6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3067811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6.5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720" y="2228849"/>
            <a:ext cx="6720840" cy="0"/>
          </a:xfrm>
          <a:prstGeom prst="line">
            <a:avLst/>
          </a:prstGeom>
          <a:ln w="762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648" y="2119121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0.9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119121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7.2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88720" y="1280159"/>
            <a:ext cx="6720840" cy="0"/>
          </a:xfrm>
          <a:prstGeom prst="line">
            <a:avLst/>
          </a:prstGeom>
          <a:ln w="762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1170431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1.2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1170431"/>
            <a:ext cx="502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8.0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188720" y="4758690"/>
            <a:ext cx="1120140" cy="316230"/>
          </a:xfrm>
          <a:prstGeom prst="line">
            <a:avLst/>
          </a:prstGeom>
          <a:ln w="22860">
            <a:solidFill>
              <a:srgbClr val="276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308860" y="2545079"/>
            <a:ext cx="1120140" cy="2213611"/>
          </a:xfrm>
          <a:prstGeom prst="line">
            <a:avLst/>
          </a:prstGeom>
          <a:ln w="22860">
            <a:solidFill>
              <a:srgbClr val="276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429000" y="1280159"/>
            <a:ext cx="1120140" cy="1264920"/>
          </a:xfrm>
          <a:prstGeom prst="line">
            <a:avLst/>
          </a:prstGeom>
          <a:ln w="22860">
            <a:solidFill>
              <a:srgbClr val="276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49140" y="1280159"/>
            <a:ext cx="1120140" cy="1581150"/>
          </a:xfrm>
          <a:prstGeom prst="line">
            <a:avLst/>
          </a:prstGeom>
          <a:ln w="22860">
            <a:solidFill>
              <a:srgbClr val="276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69280" y="2861309"/>
            <a:ext cx="1120140" cy="1264920"/>
          </a:xfrm>
          <a:prstGeom prst="line">
            <a:avLst/>
          </a:prstGeom>
          <a:ln w="22860">
            <a:solidFill>
              <a:srgbClr val="276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789420" y="4126229"/>
            <a:ext cx="1120140" cy="632461"/>
          </a:xfrm>
          <a:prstGeom prst="line">
            <a:avLst/>
          </a:prstGeom>
          <a:ln w="22860">
            <a:solidFill>
              <a:srgbClr val="276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88720" y="2545079"/>
            <a:ext cx="1120140" cy="632460"/>
          </a:xfrm>
          <a:prstGeom prst="line">
            <a:avLst/>
          </a:prstGeom>
          <a:ln w="20320">
            <a:solidFill>
              <a:srgbClr val="B45F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308860" y="1533143"/>
            <a:ext cx="1120140" cy="1011936"/>
          </a:xfrm>
          <a:prstGeom prst="line">
            <a:avLst/>
          </a:prstGeom>
          <a:ln w="20320">
            <a:solidFill>
              <a:srgbClr val="B45F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429000" y="1533143"/>
            <a:ext cx="1120140" cy="2909317"/>
          </a:xfrm>
          <a:prstGeom prst="line">
            <a:avLst/>
          </a:prstGeom>
          <a:ln w="20320">
            <a:solidFill>
              <a:srgbClr val="B45F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49140" y="4442460"/>
            <a:ext cx="1120140" cy="0"/>
          </a:xfrm>
          <a:prstGeom prst="line">
            <a:avLst/>
          </a:prstGeom>
          <a:ln w="20320">
            <a:solidFill>
              <a:srgbClr val="B45F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669280" y="3809999"/>
            <a:ext cx="1120140" cy="632461"/>
          </a:xfrm>
          <a:prstGeom prst="line">
            <a:avLst/>
          </a:prstGeom>
          <a:ln w="20320">
            <a:solidFill>
              <a:srgbClr val="B45F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789420" y="3177539"/>
            <a:ext cx="1120140" cy="632460"/>
          </a:xfrm>
          <a:prstGeom prst="line">
            <a:avLst/>
          </a:prstGeom>
          <a:ln w="20320">
            <a:solidFill>
              <a:srgbClr val="B45F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138428" y="5024628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258568" y="4708398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378708" y="2494787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98848" y="1229867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18988" y="2811017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739128" y="4075937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59268" y="4708398"/>
            <a:ext cx="100584" cy="100584"/>
          </a:xfrm>
          <a:prstGeom prst="ellipse">
            <a:avLst/>
          </a:prstGeom>
          <a:solidFill>
            <a:srgbClr val="2766A0"/>
          </a:solidFill>
          <a:ln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47572" y="3136391"/>
            <a:ext cx="82296" cy="82296"/>
          </a:xfrm>
          <a:prstGeom prst="ellipse">
            <a:avLst/>
          </a:prstGeom>
          <a:solidFill>
            <a:srgbClr val="B45F19"/>
          </a:solidFill>
          <a:ln>
            <a:solidFill>
              <a:srgbClr val="B4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67712" y="2503931"/>
            <a:ext cx="82296" cy="82296"/>
          </a:xfrm>
          <a:prstGeom prst="ellipse">
            <a:avLst/>
          </a:prstGeom>
          <a:solidFill>
            <a:srgbClr val="B45F19"/>
          </a:solidFill>
          <a:ln>
            <a:solidFill>
              <a:srgbClr val="B4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387852" y="1491995"/>
            <a:ext cx="82296" cy="82296"/>
          </a:xfrm>
          <a:prstGeom prst="ellipse">
            <a:avLst/>
          </a:prstGeom>
          <a:solidFill>
            <a:srgbClr val="B45F19"/>
          </a:solidFill>
          <a:ln>
            <a:solidFill>
              <a:srgbClr val="B4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07992" y="4401312"/>
            <a:ext cx="82296" cy="82296"/>
          </a:xfrm>
          <a:prstGeom prst="ellipse">
            <a:avLst/>
          </a:prstGeom>
          <a:solidFill>
            <a:srgbClr val="B45F19"/>
          </a:solidFill>
          <a:ln>
            <a:solidFill>
              <a:srgbClr val="B4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628132" y="4401312"/>
            <a:ext cx="82296" cy="82296"/>
          </a:xfrm>
          <a:prstGeom prst="ellipse">
            <a:avLst/>
          </a:prstGeom>
          <a:solidFill>
            <a:srgbClr val="B45F19"/>
          </a:solidFill>
          <a:ln>
            <a:solidFill>
              <a:srgbClr val="B4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748272" y="3768851"/>
            <a:ext cx="82296" cy="82296"/>
          </a:xfrm>
          <a:prstGeom prst="ellipse">
            <a:avLst/>
          </a:prstGeom>
          <a:solidFill>
            <a:srgbClr val="B45F19"/>
          </a:solidFill>
          <a:ln>
            <a:solidFill>
              <a:srgbClr val="B4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868412" y="3136391"/>
            <a:ext cx="82296" cy="82296"/>
          </a:xfrm>
          <a:prstGeom prst="ellipse">
            <a:avLst/>
          </a:prstGeom>
          <a:solidFill>
            <a:srgbClr val="B45F19"/>
          </a:solidFill>
          <a:ln>
            <a:solidFill>
              <a:srgbClr val="B45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8026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2054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4068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6082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5129783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0">
                <a:solidFill>
                  <a:srgbClr val="5A5A5A"/>
                </a:solidFill>
                <a:latin typeface="Noto Sans CJK JP"/>
              </a:defRPr>
            </a:pPr>
            <a: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" y="2948940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2766A0"/>
                </a:solidFill>
                <a:latin typeface="Noto Sans CJK JP"/>
              </a:defRPr>
            </a:pPr>
            <a:r>
              <a:t>e_v [m/s]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80" y="2903220"/>
            <a:ext cx="621792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" b="1">
                <a:solidFill>
                  <a:srgbClr val="B45F19"/>
                </a:solidFill>
                <a:latin typeface="Noto Sans CJK JP"/>
              </a:defRPr>
            </a:pPr>
            <a:r>
              <a:t>T_cmd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0" y="1298448"/>
            <a:ext cx="1463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2766A0"/>
                </a:solidFill>
                <a:latin typeface="Noto Sans CJK JP"/>
              </a:defRPr>
            </a:pPr>
            <a:r>
              <a:t>青：e_v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0" y="1554480"/>
            <a:ext cx="1645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B45F19"/>
                </a:solidFill>
                <a:latin typeface="Noto Sans CJK JP"/>
              </a:defRPr>
            </a:pPr>
            <a:r>
              <a:t>橙：T_cmd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39327" y="1188720"/>
            <a:ext cx="3154680" cy="1993392"/>
          </a:xfrm>
          <a:prstGeom prst="roundRect">
            <a:avLst/>
          </a:prstGeom>
          <a:solidFill>
            <a:srgbClr val="EBF3FA"/>
          </a:solidFill>
          <a:ln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91440" bIns="54864"/>
          <a:lstStyle/>
          <a:p>
            <a:pPr algn="ctr">
              <a:defRPr sz="1170" b="1">
                <a:solidFill>
                  <a:srgbClr val="142D4B"/>
                </a:solidFill>
                <a:latin typeface="Noto Sans CJK JP"/>
              </a:defRPr>
            </a:pPr>
            <a:r>
              <a:t>簡略応答</a:t>
            </a:r>
          </a:p>
          <a:p>
            <a:pPr>
              <a:spcBef>
                <a:spcPts val="200"/>
              </a:spcBef>
              <a:defRPr sz="1070">
                <a:solidFill>
                  <a:srgbClr val="191919"/>
                </a:solidFill>
                <a:latin typeface="Noto Sans CJK JP"/>
              </a:defRPr>
            </a:pPr>
            <a:r>
              <a:t>t=2：空転側 e_v=0.8</a:t>
            </a:r>
          </a:p>
          <a:p>
            <a:pPr>
              <a:spcBef>
                <a:spcPts val="200"/>
              </a:spcBef>
              <a:defRPr sz="1070">
                <a:solidFill>
                  <a:srgbClr val="191919"/>
                </a:solidFill>
                <a:latin typeface="Noto Sans CJK JP"/>
              </a:defRPr>
            </a:pPr>
            <a:r>
              <a:t>t=3：e_v=1.2・トルク低減</a:t>
            </a:r>
          </a:p>
          <a:p>
            <a:pPr>
              <a:spcBef>
                <a:spcPts val="200"/>
              </a:spcBef>
              <a:defRPr sz="1070">
                <a:solidFill>
                  <a:srgbClr val="191919"/>
                </a:solidFill>
                <a:latin typeface="Noto Sans CJK JP"/>
              </a:defRPr>
            </a:pPr>
            <a:r>
              <a:t>t=4：e_v=0.7へ収束</a:t>
            </a:r>
          </a:p>
          <a:p>
            <a:pPr>
              <a:spcBef>
                <a:spcPts val="200"/>
              </a:spcBef>
              <a:defRPr sz="1070">
                <a:solidFill>
                  <a:srgbClr val="191919"/>
                </a:solidFill>
                <a:latin typeface="Noto Sans CJK JP"/>
              </a:defRPr>
            </a:pPr>
            <a:r>
              <a:t>t=5：復帰開始</a:t>
            </a:r>
          </a:p>
          <a:p>
            <a:pPr>
              <a:spcBef>
                <a:spcPts val="200"/>
              </a:spcBef>
              <a:defRPr sz="1070">
                <a:solidFill>
                  <a:srgbClr val="191919"/>
                </a:solidFill>
                <a:latin typeface="Noto Sans CJK JP"/>
              </a:defRPr>
            </a:pPr>
            <a:r>
              <a:t>t=6：e_v=0.1・再粘着側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339327" y="3429000"/>
            <a:ext cx="3154680" cy="1828800"/>
          </a:xfrm>
          <a:prstGeom prst="roundRect">
            <a:avLst/>
          </a:prstGeom>
          <a:solidFill>
            <a:srgbClr val="F6F1E8"/>
          </a:solidFill>
          <a:ln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91440" bIns="54864"/>
          <a:lstStyle/>
          <a:p>
            <a:pPr algn="ctr">
              <a:defRPr sz="1170" b="1">
                <a:solidFill>
                  <a:srgbClr val="B45F19"/>
                </a:solidFill>
                <a:latin typeface="Noto Sans CJK JP"/>
              </a:defRPr>
            </a:pPr>
            <a:r>
              <a:t>ゲイン変更は3点を分離</a:t>
            </a:r>
          </a:p>
          <a:p>
            <a:pPr>
              <a:spcBef>
                <a:spcPts val="200"/>
              </a:spcBef>
              <a:defRPr sz="1070">
                <a:solidFill>
                  <a:srgbClr val="191919"/>
                </a:solidFill>
                <a:latin typeface="Noto Sans CJK JP"/>
              </a:defRPr>
            </a:pPr>
            <a:r>
              <a:t>1. 定常速度偏差</a:t>
            </a:r>
          </a:p>
          <a:p>
            <a:pPr>
              <a:spcBef>
                <a:spcPts val="200"/>
              </a:spcBef>
              <a:defRPr sz="1070">
                <a:solidFill>
                  <a:srgbClr val="191919"/>
                </a:solidFill>
                <a:latin typeface="Noto Sans CJK JP"/>
              </a:defRPr>
            </a:pPr>
            <a:r>
              <a:t>2. 立上り・収束の速さ</a:t>
            </a:r>
          </a:p>
          <a:p>
            <a:pPr>
              <a:spcBef>
                <a:spcPts val="200"/>
              </a:spcBef>
              <a:defRPr sz="1070">
                <a:solidFill>
                  <a:srgbClr val="191919"/>
                </a:solidFill>
                <a:latin typeface="Noto Sans CJK JP"/>
              </a:defRPr>
            </a:pPr>
            <a:r>
              <a:t>3. 減衰・振動性</a:t>
            </a:r>
          </a:p>
          <a:p>
            <a:pPr>
              <a:spcBef>
                <a:spcPts val="200"/>
              </a:spcBef>
              <a:defRPr sz="1070">
                <a:solidFill>
                  <a:srgbClr val="191919"/>
                </a:solidFill>
                <a:latin typeface="Noto Sans CJK JP"/>
              </a:defRPr>
            </a:pPr>
            <a:r>
              <a:t>「ゲイン増加＝全て改善」としない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" y="6492240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  <a:latin typeface="Noto Sans CJK JP"/>
              </a:defRPr>
            </a:pPr>
            <a:r>
              <a:t>H21二次の3答案要素へ接続 ／ 固定5問・11答案要素をSlides 1–5でカバー</a:t>
            </a:r>
          </a:p>
        </p:txBody>
      </p:sp>
    </p:spTree>
  </p:cSld>
  <p:clrMapOvr>
    <a:masterClrMapping/>
  </p:clrMapOvr>
</p:sld>
</file>