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https://www.jrtt.go.jp/construction/technology/signal.html</a:t>
            </a:r>
          </a:p>
          <a:p>
            <a:r>
              <a:t>https://www.rtri.or.jp/rd/division/rd47/rd4710/rd47100201.html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https://www.rtri.or.jp/rd/division/rd45/rd4540/rd45400111.html</a:t>
            </a:r>
          </a:p>
          <a:p>
            <a:r>
              <a:t>https://e-sysnet.com/</a:t>
            </a:r>
          </a:p>
          <a:p>
            <a:r>
              <a:t>https://denken-ou.com/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https://www.rtri.or.jp/rd/division/rd47/rd4710/rd47100201.html</a:t>
            </a:r>
          </a:p>
          <a:p>
            <a:r>
              <a:t>https://e-sysnet.com/</a:t>
            </a:r>
          </a:p>
          <a:p>
            <a:r>
              <a:t>https://denken-ou.com/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https://www.jrtt.go.jp/construction/technology/signal.html</a:t>
            </a:r>
          </a:p>
          <a:p>
            <a:r>
              <a:t>https://www.rtri.or.jp/rd/division/rd47/rd4710/rd47100201.html</a:t>
            </a:r>
          </a:p>
          <a:p>
            <a:r>
              <a:t>https://www.rtri.or.jp/rd/division/rd45/rd4540/rd45400111.html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https://www.rtri.or.jp/rd/division/rd47/rd4710/rd47100115.html</a:t>
            </a:r>
          </a:p>
          <a:p>
            <a:r>
              <a:t>https://e-sysnet.com/</a:t>
            </a:r>
          </a:p>
          <a:p>
            <a:r>
              <a:t>https://denken-ou.com/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https://www.jrtt.go.jp/construction/technology/signal.html</a:t>
            </a:r>
          </a:p>
          <a:p>
            <a:r>
              <a:t>https://www.rtri.or.jp/rd/division/rd47/rd4710/</a:t>
            </a:r>
          </a:p>
          <a:p>
            <a:r>
              <a:t>https://www.rtri.or.jp/rd/division/rd47/rd4710/rd47100115.html</a:t>
            </a:r>
          </a:p>
          <a:p>
            <a:r>
              <a:t>https://denken-ou.com/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軌道回路を「一般交流回路」として解く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Topic 35｜ATC① 軌道回路の回路解析｜固定5問・25答案要素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1874519" cy="822960"/>
          </a:xfrm>
          <a:prstGeom prst="roundRect">
            <a:avLst/>
          </a:prstGeom>
          <a:solidFill>
            <a:srgbClr val="E7F0FA"/>
          </a:solidFill>
          <a:ln w="1905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172821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A62AB"/>
                </a:solidFill>
                <a:latin typeface="Noto Sans CJK JP"/>
              </a:rPr>
              <a:t>信号源
Vth, Zth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417320"/>
            <a:ext cx="1874519" cy="822960"/>
          </a:xfrm>
          <a:prstGeom prst="roundRect">
            <a:avLst/>
          </a:prstGeom>
          <a:solidFill>
            <a:srgbClr val="EAF6EE"/>
          </a:solidFill>
          <a:ln w="1905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38360" y="1536192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43915B"/>
                </a:solidFill>
                <a:latin typeface="Noto Sans CJK JP"/>
              </a:rPr>
              <a:t>受信器
ZR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1755648"/>
            <a:ext cx="7086600" cy="0"/>
          </a:xfrm>
          <a:prstGeom prst="line">
            <a:avLst/>
          </a:prstGeom>
          <a:ln w="50800">
            <a:solidFill>
              <a:srgbClr val="14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2697480"/>
            <a:ext cx="7086600" cy="0"/>
          </a:xfrm>
          <a:prstGeom prst="line">
            <a:avLst/>
          </a:prstGeom>
          <a:ln w="50800">
            <a:solidFill>
              <a:srgbClr val="14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09160" y="1161288"/>
            <a:ext cx="27432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4233A"/>
                </a:solidFill>
                <a:latin typeface="Noto Sans CJK JP"/>
              </a:rPr>
              <a:t>レール等価インピーダンス Zr = Rr + jXr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12680" y="1755648"/>
            <a:ext cx="0" cy="941832"/>
          </a:xfrm>
          <a:prstGeom prst="line">
            <a:avLst/>
          </a:prstGeom>
          <a:ln w="50800">
            <a:solidFill>
              <a:srgbClr val="43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32120" y="2057400"/>
            <a:ext cx="411480" cy="411480"/>
          </a:xfrm>
          <a:prstGeom prst="ellipse">
            <a:avLst/>
          </a:prstGeom>
          <a:solidFill>
            <a:srgbClr val="FAEBE9"/>
          </a:solidFill>
          <a:ln w="2032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057400"/>
            <a:ext cx="411480" cy="411480"/>
          </a:xfrm>
          <a:prstGeom prst="ellipse">
            <a:avLst/>
          </a:prstGeom>
          <a:solidFill>
            <a:srgbClr val="FAEBE9"/>
          </a:solidFill>
          <a:ln w="2032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733288" y="2267712"/>
            <a:ext cx="914400" cy="0"/>
          </a:xfrm>
          <a:prstGeom prst="line">
            <a:avLst/>
          </a:prstGeom>
          <a:ln w="38100">
            <a:solidFill>
              <a:srgbClr val="BE4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66360" y="2816352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BE4840"/>
                </a:solidFill>
                <a:latin typeface="Noto Sans CJK JP"/>
              </a:rPr>
              <a:t>車輪・車軸短絡 Zs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733288" y="1755648"/>
            <a:ext cx="0" cy="512064"/>
          </a:xfrm>
          <a:prstGeom prst="line">
            <a:avLst/>
          </a:prstGeom>
          <a:ln w="27940">
            <a:solidFill>
              <a:srgbClr val="BE4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47688" y="2267712"/>
            <a:ext cx="0" cy="429768"/>
          </a:xfrm>
          <a:prstGeom prst="line">
            <a:avLst/>
          </a:prstGeom>
          <a:ln w="27940">
            <a:solidFill>
              <a:srgbClr val="BE4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" y="3319272"/>
            <a:ext cx="1389888" cy="329184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19272"/>
            <a:ext cx="13898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回路状態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0008" y="3319272"/>
            <a:ext cx="1719072" cy="329184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0008" y="3319272"/>
            <a:ext cx="171907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複素Z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5384" y="3319272"/>
            <a:ext cx="1600200" cy="329184"/>
          </a:xfrm>
          <a:prstGeom prst="roundRect">
            <a:avLst/>
          </a:prstGeom>
          <a:solidFill>
            <a:srgbClr val="7152A1"/>
          </a:solidFill>
          <a:ln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4" y="3319272"/>
            <a:ext cx="16002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解法選択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8" y="3319272"/>
            <a:ext cx="1874519" cy="329184"/>
          </a:xfrm>
          <a:prstGeom prst="roundRect">
            <a:avLst/>
          </a:prstGeom>
          <a:solidFill>
            <a:srgbClr val="43915B"/>
          </a:solidFill>
          <a:ln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3319272"/>
            <a:ext cx="1874519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受信V / 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3319272"/>
            <a:ext cx="1691640" cy="329184"/>
          </a:xfrm>
          <a:prstGeom prst="round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3319272"/>
            <a:ext cx="16916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増減比較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0656" y="3319272"/>
            <a:ext cx="1490472" cy="329184"/>
          </a:xfrm>
          <a:prstGeom prst="roundRect">
            <a:avLst/>
          </a:prstGeom>
          <a:solidFill>
            <a:srgbClr val="BE4840"/>
          </a:solidFill>
          <a:ln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3319272"/>
            <a:ext cx="149047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安全原則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94560" y="3483864"/>
            <a:ext cx="146304" cy="0"/>
          </a:xfrm>
          <a:prstGeom prst="line">
            <a:avLst/>
          </a:prstGeom>
          <a:ln w="1905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69080" y="3483864"/>
            <a:ext cx="137160" cy="0"/>
          </a:xfrm>
          <a:prstGeom prst="line">
            <a:avLst/>
          </a:prstGeom>
          <a:ln w="1905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15584" y="3483864"/>
            <a:ext cx="137160" cy="0"/>
          </a:xfrm>
          <a:prstGeom prst="line">
            <a:avLst/>
          </a:prstGeom>
          <a:ln w="1905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36408" y="3483864"/>
            <a:ext cx="137160" cy="0"/>
          </a:xfrm>
          <a:prstGeom prst="line">
            <a:avLst/>
          </a:prstGeom>
          <a:ln w="1905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74352" y="3483864"/>
            <a:ext cx="137160" cy="0"/>
          </a:xfrm>
          <a:prstGeom prst="line">
            <a:avLst/>
          </a:prstGeom>
          <a:ln w="1905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2" y="3977639"/>
            <a:ext cx="21031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4233A"/>
                </a:solidFill>
                <a:latin typeface="Noto Sans CJK JP"/>
              </a:rPr>
              <a:t>SPEC固定7項目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352544"/>
            <a:ext cx="1170432" cy="329184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352544"/>
            <a:ext cx="11704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軌道回路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84248" y="4352544"/>
            <a:ext cx="1078992" cy="329184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84248" y="4352544"/>
            <a:ext cx="107899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レールZ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63824" y="4352544"/>
            <a:ext cx="1170432" cy="329184"/>
          </a:xfrm>
          <a:prstGeom prst="roundRect">
            <a:avLst/>
          </a:prstGeom>
          <a:solidFill>
            <a:srgbClr val="BE4840"/>
          </a:solidFill>
          <a:ln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4" y="4352544"/>
            <a:ext cx="11704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車軸短絡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40" y="4352544"/>
            <a:ext cx="1298448" cy="329184"/>
          </a:xfrm>
          <a:prstGeom prst="roundRect">
            <a:avLst/>
          </a:prstGeom>
          <a:solidFill>
            <a:srgbClr val="43915B"/>
          </a:solidFill>
          <a:ln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352544"/>
            <a:ext cx="129844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受信レベル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33872" y="4352544"/>
            <a:ext cx="1170432" cy="329184"/>
          </a:xfrm>
          <a:prstGeom prst="roundRect">
            <a:avLst/>
          </a:prstGeom>
          <a:solidFill>
            <a:srgbClr val="7152A1"/>
          </a:solidFill>
          <a:ln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3872" y="4352544"/>
            <a:ext cx="11704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信号電流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04888" y="4352544"/>
            <a:ext cx="1170432" cy="329184"/>
          </a:xfrm>
          <a:prstGeom prst="round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04888" y="4352544"/>
            <a:ext cx="11704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回路条件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75904" y="4352544"/>
            <a:ext cx="1481328" cy="329184"/>
          </a:xfrm>
          <a:prstGeom prst="roundRect">
            <a:avLst/>
          </a:prstGeom>
          <a:solidFill>
            <a:srgbClr val="14233A"/>
          </a:solidFill>
          <a:ln>
            <a:solidFill>
              <a:srgbClr val="14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4352544"/>
            <a:ext cx="14813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JP"/>
              </a:rPr>
              <a:t>フェイルセーフ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5010912"/>
            <a:ext cx="10652760" cy="10515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300" b="1">
                <a:solidFill>
                  <a:srgbClr val="14233A"/>
                </a:solidFill>
                <a:latin typeface="Noto Sans CJK JP"/>
              </a:defRPr>
            </a:pP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固定過去問は軌道回路そのものではなく、網目法・RLC・ブリッジ・漏れ・テブナン等価という一般回路理論を測る。</a:t>
            </a: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搬送周波数・変調・S/NはTopic 36、速度制御はTopic 37。未確認実設備値は使わない。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レールを複素インピーダンスで読む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R7一次「理論」問3・問4｜R+jX を途中で絶対値にしない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115568"/>
            <a:ext cx="2880360" cy="566928"/>
          </a:xfrm>
          <a:prstGeom prst="roundRect">
            <a:avLst/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133856"/>
            <a:ext cx="273405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2A62AB"/>
                </a:solidFill>
                <a:latin typeface="Noto Sans Mono CJK JP"/>
              </a:rPr>
              <a:t>Zr = Rr + jXr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1115568"/>
            <a:ext cx="3154680" cy="566928"/>
          </a:xfrm>
          <a:prstGeom prst="roundRect">
            <a:avLst/>
          </a:prstGeom>
          <a:solidFill>
            <a:srgbClr val="E6F6F9"/>
          </a:solidFill>
          <a:ln>
            <a:solidFill>
              <a:srgbClr val="E6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3904" y="1133856"/>
            <a:ext cx="300837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3807B"/>
                </a:solidFill>
                <a:latin typeface="Noto Sans Mono CJK JP"/>
              </a:rPr>
              <a:t>XL = jωL = j2πfL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95744" y="1115568"/>
            <a:ext cx="4160520" cy="566928"/>
          </a:xfrm>
          <a:prstGeom prst="roundRect">
            <a:avLst/>
          </a:prstGeom>
          <a:solidFill>
            <a:srgbClr val="F0EBF9"/>
          </a:solidFill>
          <a:ln>
            <a:solidFill>
              <a:srgbClr val="F0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8896" y="1133856"/>
            <a:ext cx="4014215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7152A1"/>
                </a:solidFill>
                <a:latin typeface="Noto Sans Mono CJK JP"/>
              </a:rPr>
              <a:t>ZC = 1/(jωC) = −j/(ωC)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5349240"/>
            <a:ext cx="4251960" cy="0"/>
          </a:xfrm>
          <a:prstGeom prst="line">
            <a:avLst/>
          </a:prstGeom>
          <a:ln w="19050">
            <a:solidFill>
              <a:srgbClr val="1423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43000" y="2377439"/>
            <a:ext cx="0" cy="2971801"/>
          </a:xfrm>
          <a:prstGeom prst="line">
            <a:avLst/>
          </a:prstGeom>
          <a:ln w="19050">
            <a:solidFill>
              <a:srgbClr val="1423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0" y="5422392"/>
            <a:ext cx="8229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1">
                <a:solidFill>
                  <a:srgbClr val="14233A"/>
                </a:solidFill>
                <a:latin typeface="Noto Sans CJK JP"/>
              </a:rPr>
              <a:t>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304287"/>
            <a:ext cx="411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4233A"/>
                </a:solidFill>
                <a:latin typeface="Noto Sans CJK JP"/>
              </a:rPr>
              <a:t>jIm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143000" y="3200399"/>
            <a:ext cx="2834639" cy="2148841"/>
          </a:xfrm>
          <a:prstGeom prst="line">
            <a:avLst/>
          </a:prstGeom>
          <a:ln w="38100">
            <a:solidFill>
              <a:srgbClr val="2A62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77639" y="3200399"/>
            <a:ext cx="0" cy="2148841"/>
          </a:xfrm>
          <a:prstGeom prst="line">
            <a:avLst/>
          </a:prstGeom>
          <a:ln w="15240">
            <a:solidFill>
              <a:srgbClr val="DCE2E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43000" y="3200399"/>
            <a:ext cx="2834639" cy="0"/>
          </a:xfrm>
          <a:prstGeom prst="line">
            <a:avLst/>
          </a:prstGeom>
          <a:ln w="15240">
            <a:solidFill>
              <a:srgbClr val="DCE2E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69079" y="3017519"/>
            <a:ext cx="1005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A62AB"/>
                </a:solidFill>
                <a:latin typeface="Noto Sans CJK JP"/>
              </a:rPr>
              <a:t>Z = 3+j4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1" y="5404103"/>
            <a:ext cx="9601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 =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090671"/>
            <a:ext cx="65836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0">
                <a:solidFill>
                  <a:srgbClr val="5C6978"/>
                </a:solidFill>
                <a:latin typeface="Noto Sans CJK JP"/>
              </a:rPr>
              <a:t>X =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1965960"/>
            <a:ext cx="214884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1984248"/>
            <a:ext cx="200253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33A"/>
                </a:solidFill>
                <a:latin typeface="Noto Sans Mono CJK JP"/>
              </a:rPr>
              <a:t>|Z| = √(R²+X²)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1965960"/>
            <a:ext cx="224028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7832" y="1984248"/>
            <a:ext cx="20939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33A"/>
                </a:solidFill>
                <a:latin typeface="Noto Sans Mono CJK JP"/>
              </a:rPr>
              <a:t>∠Z = atan(X/R)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1965960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23807B"/>
                </a:solidFill>
                <a:latin typeface="Noto Sans CJK JP"/>
              </a:defRPr>
            </a:pPr>
            <a:r>
              <a:t>計算規則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直列：Ztotal = ΣZk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並列：1/Zp = Σ(1/Zk)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電流：I = V/Z（フェーザ）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∠I = ∠V − ∠Z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703320"/>
            <a:ext cx="5394960" cy="1463040"/>
          </a:xfrm>
          <a:prstGeom prst="roundRect">
            <a:avLst/>
          </a:prstGeom>
          <a:solidFill>
            <a:srgbClr val="FAEBE9"/>
          </a:solidFill>
          <a:ln w="1270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BE4840"/>
                </a:solidFill>
                <a:latin typeface="Noto Sans CJK JP"/>
              </a:defRPr>
            </a:pPr>
            <a:r>
              <a:t>典型ミス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位相を捨ててから合成しない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4+j5 を 9 Ω と置かない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受信電圧と受信電流を区別する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440680"/>
            <a:ext cx="49377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4233A"/>
                </a:solidFill>
                <a:latin typeface="Noto Sans CJK JP"/>
              </a:rPr>
              <a:t>固定接続：R7一次 問3 / 問4 → 複素Z・位相・平衡条件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テブナン等価で「受信端だけ」を取り出す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R5一次「理論」問4｜列車なし時の最小モデル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298448"/>
            <a:ext cx="1417320" cy="749808"/>
          </a:xfrm>
          <a:prstGeom prst="roundRect">
            <a:avLst/>
          </a:prstGeom>
          <a:solidFill>
            <a:srgbClr val="E7F0FA"/>
          </a:solidFill>
          <a:ln w="1778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99032"/>
            <a:ext cx="134416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2A62AB"/>
                </a:solidFill>
                <a:latin typeface="Noto Sans CJK JP"/>
              </a:rPr>
              <a:t>Vth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371600"/>
            <a:ext cx="14173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71600"/>
            <a:ext cx="14173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7152A1"/>
                </a:solidFill>
                <a:latin typeface="Noto Sans CJK JP"/>
              </a:rPr>
              <a:t>Zth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371600"/>
            <a:ext cx="14173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371600"/>
            <a:ext cx="14173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3807B"/>
                </a:solidFill>
                <a:latin typeface="Noto Sans CJK JP"/>
              </a:rPr>
              <a:t>Zr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1371600"/>
            <a:ext cx="141732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1371600"/>
            <a:ext cx="14173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43915B"/>
                </a:solidFill>
                <a:latin typeface="Noto Sans CJK JP"/>
              </a:rPr>
              <a:t>ZR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0552" y="1673352"/>
            <a:ext cx="356616" cy="0"/>
          </a:xfrm>
          <a:prstGeom prst="line">
            <a:avLst/>
          </a:prstGeom>
          <a:ln w="2286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04487" y="1673352"/>
            <a:ext cx="777241" cy="0"/>
          </a:xfrm>
          <a:prstGeom prst="line">
            <a:avLst/>
          </a:prstGeom>
          <a:ln w="2286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9048" y="1673352"/>
            <a:ext cx="777240" cy="0"/>
          </a:xfrm>
          <a:prstGeom prst="line">
            <a:avLst/>
          </a:prstGeom>
          <a:ln w="2286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93608" y="1673352"/>
            <a:ext cx="1051560" cy="0"/>
          </a:xfrm>
          <a:prstGeom prst="line">
            <a:avLst/>
          </a:prstGeom>
          <a:ln w="2286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81160" y="1444752"/>
            <a:ext cx="17830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43915B"/>
                </a:solidFill>
                <a:latin typeface="Noto Sans CJK JP"/>
              </a:rPr>
              <a:t>受信端 VR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2395728"/>
            <a:ext cx="4892040" cy="594360"/>
          </a:xfrm>
          <a:prstGeom prst="roundRect">
            <a:avLst/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414016"/>
            <a:ext cx="4745736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A62AB"/>
                </a:solidFill>
                <a:latin typeface="Noto Sans Mono CJK JP"/>
              </a:rPr>
              <a:t>I = Vth / (Zth + Zr + ZR)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2395728"/>
            <a:ext cx="4892040" cy="594360"/>
          </a:xfrm>
          <a:prstGeom prst="roundRect">
            <a:avLst/>
          </a:prstGeom>
          <a:solidFill>
            <a:srgbClr val="EAF6EE"/>
          </a:solidFill>
          <a:ln>
            <a:solidFill>
              <a:srgbClr val="E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8464" y="2414016"/>
            <a:ext cx="4745736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43915B"/>
                </a:solidFill>
                <a:latin typeface="Noto Sans Mono CJK JP"/>
              </a:rPr>
              <a:t>VR = Vth·ZR / (Zth + Zr + ZR)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310128"/>
            <a:ext cx="516636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2A62AB"/>
                </a:solidFill>
                <a:latin typeface="Noto Sans CJK JP"/>
              </a:defRPr>
            </a:pPr>
            <a:r>
              <a:t>基礎例題：列車なし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Vth = 12 V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Zth = 2 Ω, Zr = 4 Ω, ZR = 18 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Ztotal = 24 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I = 12/24 = 0.500 A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VR = 0.500×18 = 9.00 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3310128"/>
            <a:ext cx="507492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7152A1"/>
                </a:solidFill>
                <a:latin typeface="Noto Sans CJK JP"/>
              </a:defRPr>
            </a:pPr>
            <a:r>
              <a:t>再利用できる解法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① 負荷を外し、開放端電圧 Vth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② 独立電圧源→短絡、独立電流源→開放で Zth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③ ZR / Zs / 漏れ枝を接続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④ I = Vth/(Zth+ZL)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⑤ 端子電圧・枝路電流を戻す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97880"/>
            <a:ext cx="10469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4233A"/>
                </a:solidFill>
                <a:latin typeface="Noto Sans CJK JP"/>
              </a:rPr>
              <a:t>検算：2I + 4I + 18I = 12 V。未確認の実設備値は導入しない。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車軸短絡で「全電流↑・受信電流↓」が同時に起こる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車軸短絡は受信器と並列の低インピーダンス枝として扱う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097280"/>
            <a:ext cx="3703320" cy="566928"/>
          </a:xfrm>
          <a:prstGeom prst="roundRect">
            <a:avLst/>
          </a:prstGeom>
          <a:solidFill>
            <a:srgbClr val="FAEBE9"/>
          </a:solidFill>
          <a:ln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115568"/>
            <a:ext cx="3557015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BE4840"/>
                </a:solidFill>
                <a:latin typeface="Noto Sans Mono CJK JP"/>
              </a:rPr>
              <a:t>Zp = ZR·Zs / (ZR + Zs)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97280"/>
            <a:ext cx="3703320" cy="566928"/>
          </a:xfrm>
          <a:prstGeom prst="roundRect">
            <a:avLst/>
          </a:prstGeom>
          <a:solidFill>
            <a:srgbClr val="EAF6EE"/>
          </a:solidFill>
          <a:ln>
            <a:solidFill>
              <a:srgbClr val="E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115568"/>
            <a:ext cx="3557015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43915B"/>
                </a:solidFill>
                <a:latin typeface="Noto Sans Mono CJK JP"/>
              </a:rPr>
              <a:t>Vp = Vth·Zp / (Zth + Zr + Zp)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097280"/>
            <a:ext cx="2834640" cy="566928"/>
          </a:xfrm>
          <a:prstGeom prst="roundRect">
            <a:avLst/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115568"/>
            <a:ext cx="268833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2A62AB"/>
                </a:solidFill>
                <a:latin typeface="Noto Sans Mono CJK JP"/>
              </a:rPr>
              <a:t>IR = Vp / ZR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20240"/>
            <a:ext cx="3291840" cy="329184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2A62AB"/>
                </a:solidFill>
                <a:latin typeface="Noto Sans CJK JP"/>
              </a:defRPr>
            </a:pPr>
            <a:r>
              <a:t>列車なし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Vth=10 V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Zth=2 Ω, Zr=4 Ω, ZR=20 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I0 = 0.3846 A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VR0 = 7.692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920240"/>
            <a:ext cx="3730752" cy="3291840"/>
          </a:xfrm>
          <a:prstGeom prst="roundRect">
            <a:avLst/>
          </a:prstGeom>
          <a:solidFill>
            <a:srgbClr val="FAEBE9"/>
          </a:solidFill>
          <a:ln w="1270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400" b="1">
                <a:solidFill>
                  <a:srgbClr val="BE4840"/>
                </a:solidFill>
                <a:latin typeface="Noto Sans CJK JP"/>
              </a:defRPr>
            </a:pPr>
            <a:r>
              <a:t>車軸短絡あり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Zs = 0.5 Ω（仮定値）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Zp = 0.4878 Ω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I = 1.541 A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VR = 0.7519 V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IR = 0.03759 A</a:t>
            </a:r>
          </a:p>
          <a:p>
            <a:pPr>
              <a:spcAft>
                <a:spcPts val="150"/>
              </a:spcAft>
              <a:defRPr sz="1300">
                <a:solidFill>
                  <a:srgbClr val="1F2937"/>
                </a:solidFill>
                <a:latin typeface="Noto Sans CJK JP"/>
              </a:defRPr>
            </a:pPr>
            <a:r>
              <a:t>• Is = 1.504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063240" cy="1051560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029968"/>
            <a:ext cx="2843784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3915B"/>
                </a:solidFill>
                <a:latin typeface="Noto Sans CJK JP"/>
              </a:rPr>
              <a:t>kV = 0.7519 / 7.692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414016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43915B"/>
                </a:solidFill>
                <a:latin typeface="Noto Sans CJK JP"/>
              </a:rPr>
              <a:t>= 0.09775 ≈ 9.78 %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46120"/>
            <a:ext cx="3063240" cy="749808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6499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DD8436"/>
                </a:solidFill>
                <a:latin typeface="Noto Sans CJK JP"/>
              </a:rPr>
              <a:t>全回路電流
0.3846 → 1.541 A 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60520"/>
            <a:ext cx="3063240" cy="749808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7939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2A62AB"/>
                </a:solidFill>
                <a:latin typeface="Noto Sans CJK JP"/>
              </a:rPr>
              <a:t>受信器電流
0.3846 → 0.03759 A 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41264"/>
            <a:ext cx="10378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4233A"/>
                </a:solidFill>
                <a:latin typeface="Noto Sans CJK JP"/>
              </a:rPr>
              <a:t>短絡だから「電流がゼロ」ではない。短絡枝へ分流するため、受信器に現れる電圧・電流が低下する。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3784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BE4840"/>
                </a:solidFill>
                <a:latin typeface="Noto Sans CJK JP"/>
              </a:rPr>
              <a:t>受信しきい値の実値は一次資料未確認のため数値化しない。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枝路が増えたら、網目法・ブリッジ・漏れで整理する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R8一次 問3 / R7一次 問4 / R6一次 問6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143000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A. 網目電流法：共有枝は差電流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1965960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1691640"/>
            <a:ext cx="1965960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788920" y="1691640"/>
            <a:ext cx="0" cy="1325880"/>
          </a:xfrm>
          <a:prstGeom prst="line">
            <a:avLst/>
          </a:prstGeom>
          <a:ln w="38100">
            <a:solidFill>
              <a:srgbClr val="BE48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34440" y="2057400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2A62AB"/>
                </a:solidFill>
                <a:latin typeface="Noto Sans CJK JP"/>
              </a:rPr>
              <a:t>I₁ 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7152A1"/>
                </a:solidFill>
                <a:latin typeface="Noto Sans CJK JP"/>
              </a:rPr>
              <a:t>↺ I₂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154680"/>
            <a:ext cx="65836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BE4840"/>
                </a:solidFill>
                <a:latin typeface="Noto Sans CJK JP"/>
              </a:rPr>
              <a:t>Zc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03320"/>
            <a:ext cx="4251960" cy="512064"/>
          </a:xfrm>
          <a:prstGeom prst="roundRect">
            <a:avLst/>
          </a:prstGeom>
          <a:solidFill>
            <a:srgbClr val="FAEBE9"/>
          </a:solidFill>
          <a:ln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21607"/>
            <a:ext cx="4105656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BE4840"/>
                </a:solidFill>
                <a:latin typeface="Noto Sans Mono CJK JP"/>
              </a:rPr>
              <a:t>共有枝：Zc(I₁ − I₂)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143000"/>
            <a:ext cx="26974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B. ブリッジ平衡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532120" y="1600200"/>
            <a:ext cx="987552" cy="914400"/>
          </a:xfrm>
          <a:prstGeom prst="line">
            <a:avLst/>
          </a:prstGeom>
          <a:ln w="2540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19672" y="1600200"/>
            <a:ext cx="987552" cy="914400"/>
          </a:xfrm>
          <a:prstGeom prst="line">
            <a:avLst/>
          </a:prstGeom>
          <a:ln w="25400">
            <a:solidFill>
              <a:srgbClr val="2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32120" y="2514600"/>
            <a:ext cx="987552" cy="914400"/>
          </a:xfrm>
          <a:prstGeom prst="line">
            <a:avLst/>
          </a:prstGeom>
          <a:ln w="2540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519672" y="2514600"/>
            <a:ext cx="987552" cy="914400"/>
          </a:xfrm>
          <a:prstGeom prst="line">
            <a:avLst/>
          </a:prstGeom>
          <a:ln w="25400">
            <a:solidFill>
              <a:srgbClr val="715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2514600"/>
            <a:ext cx="1975104" cy="0"/>
          </a:xfrm>
          <a:prstGeom prst="line">
            <a:avLst/>
          </a:prstGeom>
          <a:ln w="1524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0" y="1783080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A62AB"/>
                </a:solidFill>
                <a:latin typeface="Noto Sans CJK JP"/>
              </a:rPr>
              <a:t>Z1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783080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3807B"/>
                </a:solidFill>
                <a:latin typeface="Noto Sans CJK JP"/>
              </a:rPr>
              <a:t>Z2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DD8436"/>
                </a:solidFill>
                <a:latin typeface="Noto Sans CJK JP"/>
              </a:rPr>
              <a:t>Z3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852928"/>
            <a:ext cx="822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7152A1"/>
                </a:solidFill>
                <a:latin typeface="Noto Sans CJK JP"/>
              </a:rPr>
              <a:t>Z4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3703320"/>
            <a:ext cx="2999232" cy="512064"/>
          </a:xfrm>
          <a:prstGeom prst="roundRect">
            <a:avLst/>
          </a:prstGeom>
          <a:solidFill>
            <a:srgbClr val="E6F6F9"/>
          </a:solidFill>
          <a:ln>
            <a:solidFill>
              <a:srgbClr val="E6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3721607"/>
            <a:ext cx="2852927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23807B"/>
                </a:solidFill>
                <a:latin typeface="Noto Sans Mono CJK JP"/>
              </a:rPr>
              <a:t>平衡：Z1·Z3 = Z2·Z4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143000"/>
            <a:ext cx="28346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C. 漏れ枝：未知の並列経路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1673352"/>
            <a:ext cx="201168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673352"/>
            <a:ext cx="20116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43915B"/>
                </a:solidFill>
                <a:latin typeface="Noto Sans CJK JP"/>
              </a:rPr>
              <a:t>ZR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1975104"/>
            <a:ext cx="320040" cy="0"/>
          </a:xfrm>
          <a:prstGeom prst="line">
            <a:avLst/>
          </a:prstGeom>
          <a:ln w="2032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2760" y="1975104"/>
            <a:ext cx="320040" cy="0"/>
          </a:xfrm>
          <a:prstGeom prst="line">
            <a:avLst/>
          </a:prstGeom>
          <a:ln w="2032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49640" y="2487168"/>
            <a:ext cx="2194560" cy="0"/>
          </a:xfrm>
          <a:prstGeom prst="line">
            <a:avLst/>
          </a:prstGeom>
          <a:ln w="2540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44000" y="2249424"/>
            <a:ext cx="1024128" cy="475488"/>
          </a:xfrm>
          <a:prstGeom prst="roundRect">
            <a:avLst/>
          </a:prstGeom>
          <a:solidFill>
            <a:srgbClr val="FCF1E5"/>
          </a:solidFill>
          <a:ln w="1651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249424"/>
            <a:ext cx="102412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DD8436"/>
                </a:solidFill>
                <a:latin typeface="Noto Sans CJK JP"/>
              </a:rPr>
              <a:t>Zleak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49640" y="1975104"/>
            <a:ext cx="0" cy="512064"/>
          </a:xfrm>
          <a:prstGeom prst="line">
            <a:avLst/>
          </a:prstGeom>
          <a:ln w="1778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44200" y="1975104"/>
            <a:ext cx="0" cy="512064"/>
          </a:xfrm>
          <a:prstGeom prst="line">
            <a:avLst/>
          </a:prstGeom>
          <a:ln w="1778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75320" y="3154680"/>
            <a:ext cx="2743200" cy="512064"/>
          </a:xfrm>
          <a:prstGeom prst="roundRect">
            <a:avLst/>
          </a:prstGeom>
          <a:solidFill>
            <a:srgbClr val="FCF1E5"/>
          </a:solidFill>
          <a:ln>
            <a:solidFill>
              <a:srgbClr val="FC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2" y="3172968"/>
            <a:ext cx="2596896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DD8436"/>
                </a:solidFill>
                <a:latin typeface="Noto Sans Mono CJK JP"/>
              </a:rPr>
              <a:t>Zp = ZR || Zleak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617720"/>
            <a:ext cx="10378440" cy="114300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300" b="1">
                <a:solidFill>
                  <a:srgbClr val="14233A"/>
                </a:solidFill>
                <a:latin typeface="Noto Sans CJK JP"/>
              </a:defRPr>
            </a:pP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枝が少ない→直並列／ループ明瞭→網目法／接続点明瞭→節点法／受信端だけ→テブナン。</a:t>
            </a: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漏れ・浮遊容量は「本来ない枝路が測定結果を変える」と読む。漏れインピーダンスは仮定値であり、実設備値ではない。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10312"/>
            <a:ext cx="502920" cy="40233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0292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本試験では「状態→Z→解法→受信量→検算」で処理する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9224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固定5問・25答案要素を6枚へ接続／Topic 36・37は先取りしない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50976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170432"/>
            <a:ext cx="1581912" cy="585216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1 状態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1463040"/>
            <a:ext cx="164592" cy="0"/>
          </a:xfrm>
          <a:prstGeom prst="line">
            <a:avLst/>
          </a:prstGeom>
          <a:ln w="2032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170432"/>
            <a:ext cx="1581912" cy="585216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2 複素Z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05072" y="1463040"/>
            <a:ext cx="164591" cy="0"/>
          </a:xfrm>
          <a:prstGeom prst="line">
            <a:avLst/>
          </a:prstGeom>
          <a:ln w="2032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87952" y="1170432"/>
            <a:ext cx="1581912" cy="585216"/>
          </a:xfrm>
          <a:prstGeom prst="roundRect">
            <a:avLst/>
          </a:prstGeom>
          <a:solidFill>
            <a:srgbClr val="7152A1"/>
          </a:solidFill>
          <a:ln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3 解法選択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9864" y="1463040"/>
            <a:ext cx="164592" cy="0"/>
          </a:xfrm>
          <a:prstGeom prst="line">
            <a:avLst/>
          </a:prstGeom>
          <a:ln w="2032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52744" y="1170432"/>
            <a:ext cx="1581912" cy="585216"/>
          </a:xfrm>
          <a:prstGeom prst="roundRect">
            <a:avLst/>
          </a:prstGeom>
          <a:solidFill>
            <a:srgbClr val="43915B"/>
          </a:solidFill>
          <a:ln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4 V・I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34656" y="1463040"/>
            <a:ext cx="164592" cy="0"/>
          </a:xfrm>
          <a:prstGeom prst="line">
            <a:avLst/>
          </a:prstGeom>
          <a:ln w="2032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17536" y="1170432"/>
            <a:ext cx="1581912" cy="585216"/>
          </a:xfrm>
          <a:prstGeom prst="round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7536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5 比較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99448" y="1463040"/>
            <a:ext cx="164592" cy="0"/>
          </a:xfrm>
          <a:prstGeom prst="line">
            <a:avLst/>
          </a:prstGeom>
          <a:ln w="20320">
            <a:solidFill>
              <a:srgbClr val="5C69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82328" y="1170432"/>
            <a:ext cx="1581912" cy="585216"/>
          </a:xfrm>
          <a:prstGeom prst="roundRect">
            <a:avLst/>
          </a:prstGeom>
          <a:solidFill>
            <a:srgbClr val="BE4840"/>
          </a:solidFill>
          <a:ln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1170432"/>
            <a:ext cx="1581912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6 検算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2011680"/>
            <a:ext cx="525780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固定過去問 → このPowerPointの接続先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2423160"/>
            <a:ext cx="513892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468879"/>
            <a:ext cx="1810512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33A"/>
                </a:solidFill>
                <a:latin typeface="Noto Sans CJK JP"/>
              </a:rPr>
              <a:t>R8一次 理論 問3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2468879"/>
            <a:ext cx="196596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網目法・共有枝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2468879"/>
            <a:ext cx="960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Noto Sans CJK JP"/>
              </a:rPr>
              <a:t>slide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008376"/>
            <a:ext cx="513892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054096"/>
            <a:ext cx="1810512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33A"/>
                </a:solidFill>
                <a:latin typeface="Noto Sans CJK JP"/>
              </a:rPr>
              <a:t>R7一次 理論 問3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3054096"/>
            <a:ext cx="196596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RLC・位相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3054096"/>
            <a:ext cx="960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Noto Sans CJK JP"/>
              </a:rPr>
              <a:t>slide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593592"/>
            <a:ext cx="513892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639312"/>
            <a:ext cx="1810512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33A"/>
                </a:solidFill>
                <a:latin typeface="Noto Sans CJK JP"/>
              </a:rPr>
              <a:t>R7一次 理論 問4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3639312"/>
            <a:ext cx="196596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ブリッジ平衡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3639312"/>
            <a:ext cx="960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Noto Sans CJK JP"/>
              </a:rPr>
              <a:t>slides 2 /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178808"/>
            <a:ext cx="513892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224528"/>
            <a:ext cx="1810512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33A"/>
                </a:solidFill>
                <a:latin typeface="Noto Sans CJK JP"/>
              </a:rPr>
              <a:t>R6一次 理論 問6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224528"/>
            <a:ext cx="196596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浮遊容量・漏れ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4224528"/>
            <a:ext cx="960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Noto Sans CJK JP"/>
              </a:rPr>
              <a:t>slide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764024"/>
            <a:ext cx="5138928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4809744"/>
            <a:ext cx="1810512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233A"/>
                </a:solidFill>
                <a:latin typeface="Noto Sans CJK JP"/>
              </a:rPr>
              <a:t>R5一次 理論 問4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4809744"/>
            <a:ext cx="196596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テブナン等価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6592" y="4809744"/>
            <a:ext cx="96012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Noto Sans CJK JP"/>
              </a:rPr>
              <a:t>slide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2011680"/>
            <a:ext cx="5047488" cy="2697480"/>
          </a:xfrm>
          <a:prstGeom prst="roundRect">
            <a:avLst/>
          </a:prstGeom>
          <a:solidFill>
            <a:srgbClr val="FAEBE9"/>
          </a:solidFill>
          <a:ln w="1270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0584" tIns="82296" bIns="64008"/>
          <a:lstStyle/>
          <a:p>
            <a:pPr algn="ctr">
              <a:spcAft>
                <a:spcPts val="400"/>
              </a:spcAft>
              <a:defRPr sz="1300" b="1">
                <a:solidFill>
                  <a:srgbClr val="BE4840"/>
                </a:solidFill>
                <a:latin typeface="Noto Sans CJK JP"/>
              </a:defRPr>
            </a:pPr>
            <a:r>
              <a:t>フェイルセーフの境界</a:t>
            </a: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回路解析：故障・短絡・断線・漏れで V / I がどう変わるか。</a:t>
            </a: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フェイルセーフ：故障時も危険側へ進まないよう設計する原則。</a:t>
            </a:r>
          </a:p>
          <a:p>
            <a:pPr>
              <a:spcAft>
                <a:spcPts val="15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「受信電圧が下がれば必ず安全」「全故障で列車あり判定」は未確認実装への一般化なので書かない。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937760"/>
            <a:ext cx="477316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43915B"/>
                </a:solidFill>
                <a:latin typeface="Noto Sans CJK JP"/>
              </a:rPr>
              <a:t>SPEC固定7項目：7 / 7収録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358384"/>
            <a:ext cx="477316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2A62AB"/>
                </a:solidFill>
                <a:latin typeface="Noto Sans CJK JP"/>
              </a:rPr>
              <a:t>固定5問・25答案要素：25 / 25 connected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961888"/>
            <a:ext cx="104698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Noto Sans CJK JP"/>
              </a:rPr>
              <a:t>Topic 21：P=Tω、ω=2πN/60 は変更なし。H26二次の48.1/48.0 N·m差はπ=3.14相当の過去問固有丸め差。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