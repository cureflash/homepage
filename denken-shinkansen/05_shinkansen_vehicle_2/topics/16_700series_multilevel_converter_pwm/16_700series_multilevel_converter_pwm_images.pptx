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342900" y="137160"/>
            <a:ext cx="8991600" cy="44196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2600" b="1">
                <a:solidFill>
                  <a:srgbClr val="FFFFFF"/>
                </a:solidFill>
                <a:latin typeface="Noto Sans CJK JP"/>
                <a:ea typeface="Noto Sans CJK JP"/>
              </a:rPr>
              <a:t>2レベルと多レベルの出力波形</a:t>
            </a:r>
            <a:endParaRPr lang="ja-JP" sz="2600"/>
          </a:p>
        </p:txBody>
      </p:sp>
      <p:sp>
        <p:nvSpPr>
          <p:cNvPr id="4" name="Text 4"/>
          <p:cNvSpPr txBox="1"/>
          <p:nvPr/>
        </p:nvSpPr>
        <p:spPr>
          <a:xfrm>
            <a:off x="9144000" y="167640"/>
            <a:ext cx="2667000" cy="3429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200" b="0">
                <a:solidFill>
                  <a:srgbClr val="B8D9F2"/>
                </a:solidFill>
                <a:latin typeface="Noto Sans CJK JP"/>
                <a:ea typeface="Noto Sans CJK JP"/>
              </a:rPr>
              <a:t>SPEC可視化 1 / Topic 16</a:t>
            </a:r>
            <a:endParaRPr lang="ja-JP" sz="1200"/>
          </a:p>
        </p:txBody>
      </p:sp>
      <p:sp>
        <p:nvSpPr>
          <p:cNvPr id="5" name="Shape 5"/>
          <p:cNvSpPr/>
          <p:nvPr/>
        </p:nvSpPr>
        <p:spPr>
          <a:xfrm>
            <a:off x="419100" y="762000"/>
            <a:ext cx="7010400" cy="556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647700" y="952500"/>
            <a:ext cx="3810000" cy="3048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500" b="1">
                <a:solidFill>
                  <a:srgbClr val="486581"/>
                </a:solidFill>
                <a:latin typeface="Noto Sans CJK JP"/>
                <a:ea typeface="Noto Sans CJK JP"/>
              </a:rPr>
              <a:t>共通仮定 E_d = 1.0 pu</a:t>
            </a:r>
            <a:endParaRPr lang="ja-JP" sz="1500"/>
          </a:p>
        </p:txBody>
      </p:sp>
      <p:sp>
        <p:nvSpPr>
          <p:cNvPr id="7" name="Text 7"/>
          <p:cNvSpPr txBox="1"/>
          <p:nvPr/>
        </p:nvSpPr>
        <p:spPr>
          <a:xfrm>
            <a:off x="685800" y="1371600"/>
            <a:ext cx="1219200" cy="2743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600" b="1">
                <a:solidFill>
                  <a:srgbClr val="2F80ED"/>
                </a:solidFill>
                <a:latin typeface="Noto Sans CJK JP"/>
                <a:ea typeface="Noto Sans CJK JP"/>
              </a:rPr>
              <a:t>2レベル</a:t>
            </a:r>
            <a:endParaRPr lang="ja-JP" sz="1600"/>
          </a:p>
        </p:txBody>
      </p:sp>
      <p:sp>
        <p:nvSpPr>
          <p:cNvPr id="8" name="Line 8"/>
          <p:cNvSpPr/>
          <p:nvPr/>
        </p:nvSpPr>
        <p:spPr>
          <a:xfrm>
            <a:off x="1447800" y="2286000"/>
            <a:ext cx="5181600" cy="0"/>
          </a:xfrm>
          <a:prstGeom prst="line">
            <a:avLst/>
          </a:prstGeom>
          <a:ln w="12700">
            <a:solidFill>
              <a:srgbClr val="829AB1"/>
            </a:solidFill>
          </a:ln>
        </p:spPr>
      </p:sp>
      <p:sp>
        <p:nvSpPr>
          <p:cNvPr id="9" name="Line 9"/>
          <p:cNvSpPr/>
          <p:nvPr/>
        </p:nvSpPr>
        <p:spPr>
          <a:xfrm>
            <a:off x="1447800" y="1752600"/>
            <a:ext cx="0" cy="1066800"/>
          </a:xfrm>
          <a:prstGeom prst="line">
            <a:avLst/>
          </a:prstGeom>
          <a:ln w="12700">
            <a:solidFill>
              <a:srgbClr val="829AB1"/>
            </a:solidFill>
          </a:ln>
        </p:spPr>
      </p:sp>
      <p:sp>
        <p:nvSpPr>
          <p:cNvPr id="10" name="Line 10"/>
          <p:cNvSpPr/>
          <p:nvPr/>
        </p:nvSpPr>
        <p:spPr>
          <a:xfrm>
            <a:off x="1447800" y="1943100"/>
            <a:ext cx="2514600" cy="0"/>
          </a:xfrm>
          <a:prstGeom prst="line">
            <a:avLst/>
          </a:prstGeom>
          <a:ln w="63500">
            <a:solidFill>
              <a:srgbClr val="2F80ED"/>
            </a:solidFill>
          </a:ln>
        </p:spPr>
      </p:sp>
      <p:sp>
        <p:nvSpPr>
          <p:cNvPr id="11" name="Line 11"/>
          <p:cNvSpPr/>
          <p:nvPr/>
        </p:nvSpPr>
        <p:spPr>
          <a:xfrm>
            <a:off x="3962400" y="1943100"/>
            <a:ext cx="0" cy="685800"/>
          </a:xfrm>
          <a:prstGeom prst="line">
            <a:avLst/>
          </a:prstGeom>
          <a:ln w="63500">
            <a:solidFill>
              <a:srgbClr val="2F80ED"/>
            </a:solidFill>
          </a:ln>
        </p:spPr>
      </p:sp>
      <p:sp>
        <p:nvSpPr>
          <p:cNvPr id="12" name="Line 12"/>
          <p:cNvSpPr/>
          <p:nvPr/>
        </p:nvSpPr>
        <p:spPr>
          <a:xfrm>
            <a:off x="3962400" y="2628900"/>
            <a:ext cx="2667000" cy="0"/>
          </a:xfrm>
          <a:prstGeom prst="line">
            <a:avLst/>
          </a:prstGeom>
          <a:ln w="63500">
            <a:solidFill>
              <a:srgbClr val="2F80ED"/>
            </a:solidFill>
          </a:ln>
        </p:spPr>
      </p:sp>
      <p:sp>
        <p:nvSpPr>
          <p:cNvPr id="13" name="Text 13"/>
          <p:cNvSpPr txBox="1"/>
          <p:nvPr/>
        </p:nvSpPr>
        <p:spPr>
          <a:xfrm>
            <a:off x="685800" y="3124200"/>
            <a:ext cx="4572000" cy="2743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600" b="1">
                <a:solidFill>
                  <a:srgbClr val="27AE60"/>
                </a:solidFill>
                <a:latin typeface="Noto Sans CJK JP"/>
                <a:ea typeface="Noto Sans CJK JP"/>
              </a:rPr>
              <a:t>理想分担3レベル（教材モデル）</a:t>
            </a:r>
            <a:endParaRPr lang="ja-JP" sz="1600"/>
          </a:p>
        </p:txBody>
      </p:sp>
      <p:sp>
        <p:nvSpPr>
          <p:cNvPr id="14" name="Line 14"/>
          <p:cNvSpPr/>
          <p:nvPr/>
        </p:nvSpPr>
        <p:spPr>
          <a:xfrm>
            <a:off x="1447800" y="4305300"/>
            <a:ext cx="5181600" cy="0"/>
          </a:xfrm>
          <a:prstGeom prst="line">
            <a:avLst/>
          </a:prstGeom>
          <a:ln w="12700">
            <a:solidFill>
              <a:srgbClr val="829AB1"/>
            </a:solidFill>
          </a:ln>
        </p:spPr>
      </p:sp>
      <p:sp>
        <p:nvSpPr>
          <p:cNvPr id="15" name="Line 15"/>
          <p:cNvSpPr/>
          <p:nvPr/>
        </p:nvSpPr>
        <p:spPr>
          <a:xfrm>
            <a:off x="1447800" y="3733800"/>
            <a:ext cx="0" cy="1181100"/>
          </a:xfrm>
          <a:prstGeom prst="line">
            <a:avLst/>
          </a:prstGeom>
          <a:ln w="12700">
            <a:solidFill>
              <a:srgbClr val="829AB1"/>
            </a:solidFill>
          </a:ln>
        </p:spPr>
      </p:sp>
      <p:sp>
        <p:nvSpPr>
          <p:cNvPr id="16" name="Line 16"/>
          <p:cNvSpPr/>
          <p:nvPr/>
        </p:nvSpPr>
        <p:spPr>
          <a:xfrm>
            <a:off x="1447800" y="4305300"/>
            <a:ext cx="533400" cy="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17" name="Line 17"/>
          <p:cNvSpPr/>
          <p:nvPr/>
        </p:nvSpPr>
        <p:spPr>
          <a:xfrm flipV="1">
            <a:off x="1981200" y="4305300"/>
            <a:ext cx="0" cy="41910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18" name="Line 18"/>
          <p:cNvSpPr/>
          <p:nvPr/>
        </p:nvSpPr>
        <p:spPr>
          <a:xfrm>
            <a:off x="1981200" y="3886200"/>
            <a:ext cx="1981200" cy="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19" name="Line 19"/>
          <p:cNvSpPr/>
          <p:nvPr/>
        </p:nvSpPr>
        <p:spPr>
          <a:xfrm>
            <a:off x="3962400" y="3886200"/>
            <a:ext cx="0" cy="41910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20" name="Line 20"/>
          <p:cNvSpPr/>
          <p:nvPr/>
        </p:nvSpPr>
        <p:spPr>
          <a:xfrm>
            <a:off x="3962400" y="4305300"/>
            <a:ext cx="609600" cy="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21" name="Line 21"/>
          <p:cNvSpPr/>
          <p:nvPr/>
        </p:nvSpPr>
        <p:spPr>
          <a:xfrm>
            <a:off x="4572000" y="4305300"/>
            <a:ext cx="0" cy="41910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22" name="Line 22"/>
          <p:cNvSpPr/>
          <p:nvPr/>
        </p:nvSpPr>
        <p:spPr>
          <a:xfrm>
            <a:off x="4572000" y="4724400"/>
            <a:ext cx="1447800" cy="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23" name="Line 23"/>
          <p:cNvSpPr/>
          <p:nvPr/>
        </p:nvSpPr>
        <p:spPr>
          <a:xfrm flipV="1">
            <a:off x="6019800" y="4724400"/>
            <a:ext cx="0" cy="41910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24" name="Line 24"/>
          <p:cNvSpPr/>
          <p:nvPr/>
        </p:nvSpPr>
        <p:spPr>
          <a:xfrm>
            <a:off x="6019800" y="4305300"/>
            <a:ext cx="609600" cy="0"/>
          </a:xfrm>
          <a:prstGeom prst="line">
            <a:avLst/>
          </a:prstGeom>
          <a:ln w="50800">
            <a:solidFill>
              <a:srgbClr val="27AE60"/>
            </a:solidFill>
          </a:ln>
        </p:spPr>
      </p:sp>
      <p:sp>
        <p:nvSpPr>
          <p:cNvPr id="25" name="Text 25"/>
          <p:cNvSpPr txBox="1"/>
          <p:nvPr/>
        </p:nvSpPr>
        <p:spPr>
          <a:xfrm>
            <a:off x="647700" y="5181600"/>
            <a:ext cx="6324600" cy="6858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00" b="1">
                <a:solidFill>
                  <a:srgbClr val="243B53"/>
                </a:solidFill>
                <a:latin typeface="Noto Sans CJK JP"/>
                <a:ea typeface="Noto Sans CJK JP"/>
              </a:rPr>
              <a:t>一段の Δv：2レベル E_d → 3レベル E_d/2
同じ Δt なら dv/dt ≈ Δv/Δt も 1/2</a:t>
            </a:r>
            <a:endParaRPr lang="ja-JP" sz="1400"/>
          </a:p>
        </p:txBody>
      </p:sp>
      <p:sp>
        <p:nvSpPr>
          <p:cNvPr id="26" name="Text 26"/>
          <p:cNvSpPr txBox="1"/>
          <p:nvPr/>
        </p:nvSpPr>
        <p:spPr>
          <a:xfrm>
            <a:off x="647700" y="5867400"/>
            <a:ext cx="6324600" cy="36576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200" b="1">
                <a:solidFill>
                  <a:srgbClr val="9B2C2C"/>
                </a:solidFill>
                <a:latin typeface="Noto Sans CJK JP"/>
                <a:ea typeface="Noto Sans CJK JP"/>
              </a:rPr>
              <a:t>※ 700系実車の回路方式・レベル数を示す図ではない</a:t>
            </a:r>
            <a:endParaRPr lang="ja-JP" sz="1200"/>
          </a:p>
        </p:txBody>
      </p:sp>
      <p:sp>
        <p:nvSpPr>
          <p:cNvPr id="27" name="Shape 27"/>
          <p:cNvSpPr/>
          <p:nvPr/>
        </p:nvSpPr>
        <p:spPr>
          <a:xfrm>
            <a:off x="7696200" y="762000"/>
            <a:ext cx="4076700" cy="55626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</a:ln>
        </p:spPr>
      </p:sp>
      <p:sp>
        <p:nvSpPr>
          <p:cNvPr id="28" name="Text 28"/>
          <p:cNvSpPr txBox="1"/>
          <p:nvPr/>
        </p:nvSpPr>
        <p:spPr>
          <a:xfrm>
            <a:off x="7924800" y="990600"/>
            <a:ext cx="3581400" cy="4191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900" b="1">
                <a:solidFill>
                  <a:srgbClr val="243B53"/>
                </a:solidFill>
                <a:latin typeface="Noto Sans CJK JP"/>
                <a:ea typeface="Noto Sans CJK JP"/>
              </a:rPr>
              <a:t>回路状態から読む</a:t>
            </a:r>
            <a:endParaRPr lang="ja-JP" sz="1900"/>
          </a:p>
        </p:txBody>
      </p:sp>
      <p:sp>
        <p:nvSpPr>
          <p:cNvPr id="29" name="Text 29"/>
          <p:cNvSpPr txBox="1"/>
          <p:nvPr/>
        </p:nvSpPr>
        <p:spPr>
          <a:xfrm>
            <a:off x="7924800" y="1447800"/>
            <a:ext cx="3581400" cy="42672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300" b="0">
                <a:solidFill>
                  <a:srgbClr val="334E68"/>
                </a:solidFill>
                <a:latin typeface="Noto Sans CJK JP"/>
                <a:ea typeface="Noto Sans CJK JP"/>
              </a:rPr>
              <a:t>H29型：電圧形インバータ
・上下同時ONを避ける → デッドタイム
・誘導性負荷の電流は還流経路で継続
・出力電圧と素子遮断電圧は別量
R7型：PWM
・正弦波変調波と三角搬送波を比較
・f_c：スイッチング頻度の基準
・f_1：出力基本波周波数（別物）
代表素子：IGBT等＋逆並列ダイオード</a:t>
            </a:r>
            <a:endParaRPr lang="ja-JP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342900" y="137160"/>
            <a:ext cx="8991600" cy="44196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2600" b="1">
                <a:solidFill>
                  <a:srgbClr val="FFFFFF"/>
                </a:solidFill>
                <a:latin typeface="Noto Sans CJK JP"/>
                <a:ea typeface="Noto Sans CJK JP"/>
              </a:rPr>
              <a:t>多重化・位相差と高調波</a:t>
            </a:r>
            <a:endParaRPr lang="ja-JP" sz="2600"/>
          </a:p>
        </p:txBody>
      </p:sp>
      <p:sp>
        <p:nvSpPr>
          <p:cNvPr id="4" name="Text 4"/>
          <p:cNvSpPr txBox="1"/>
          <p:nvPr/>
        </p:nvSpPr>
        <p:spPr>
          <a:xfrm>
            <a:off x="9144000" y="167640"/>
            <a:ext cx="2667000" cy="3429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200" b="0">
                <a:solidFill>
                  <a:srgbClr val="B8D9F2"/>
                </a:solidFill>
                <a:latin typeface="Noto Sans CJK JP"/>
                <a:ea typeface="Noto Sans CJK JP"/>
              </a:rPr>
              <a:t>SPEC可視化 2 / H24一次</a:t>
            </a:r>
            <a:endParaRPr lang="ja-JP" sz="1200"/>
          </a:p>
        </p:txBody>
      </p:sp>
      <p:sp>
        <p:nvSpPr>
          <p:cNvPr id="5" name="Shape 5"/>
          <p:cNvSpPr/>
          <p:nvPr/>
        </p:nvSpPr>
        <p:spPr>
          <a:xfrm>
            <a:off x="419100" y="762000"/>
            <a:ext cx="6781800" cy="556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647700" y="952500"/>
            <a:ext cx="6096000" cy="3810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800" b="1">
                <a:solidFill>
                  <a:srgbClr val="243B53"/>
                </a:solidFill>
                <a:latin typeface="Noto Sans CJK JP"/>
                <a:ea typeface="Noto Sans CJK JP"/>
              </a:rPr>
              <a:t>位相差で高調波の合成振幅が変わる</a:t>
            </a:r>
            <a:endParaRPr lang="ja-JP" sz="1800"/>
          </a:p>
        </p:txBody>
      </p:sp>
      <p:sp>
        <p:nvSpPr>
          <p:cNvPr id="7" name="Text 7"/>
          <p:cNvSpPr txBox="1"/>
          <p:nvPr/>
        </p:nvSpPr>
        <p:spPr>
          <a:xfrm>
            <a:off x="647700" y="1409700"/>
            <a:ext cx="6248400" cy="4191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550" b="1">
                <a:solidFill>
                  <a:srgbClr val="1F4E79"/>
                </a:solidFill>
                <a:latin typeface="Noto Sans CJK JP"/>
                <a:ea typeface="Noto Sans CJK JP"/>
              </a:rPr>
              <a:t>sin(nωt)+sin(n(ωt−φ)) = 2cos(nφ/2) sin(nωt−nφ/2)</a:t>
            </a:r>
            <a:endParaRPr lang="ja-JP" sz="1550"/>
          </a:p>
        </p:txBody>
      </p:sp>
      <p:sp>
        <p:nvSpPr>
          <p:cNvPr id="8" name="Text 8"/>
          <p:cNvSpPr txBox="1"/>
          <p:nvPr/>
        </p:nvSpPr>
        <p:spPr>
          <a:xfrm>
            <a:off x="685800" y="2103120"/>
            <a:ext cx="1371600" cy="3505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00" b="1">
                <a:solidFill>
                  <a:srgbClr val="243B53"/>
                </a:solidFill>
                <a:latin typeface="Noto Sans CJK JP"/>
                <a:ea typeface="Noto Sans CJK JP"/>
              </a:rPr>
              <a:t>基本波 n=1</a:t>
            </a:r>
            <a:endParaRPr lang="ja-JP" sz="1400"/>
          </a:p>
        </p:txBody>
      </p:sp>
      <p:sp>
        <p:nvSpPr>
          <p:cNvPr id="9" name="Shape 9"/>
          <p:cNvSpPr/>
          <p:nvPr/>
        </p:nvSpPr>
        <p:spPr>
          <a:xfrm>
            <a:off x="2209800" y="2164080"/>
            <a:ext cx="3736790" cy="259080"/>
          </a:xfrm>
          <a:prstGeom prst="round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5715000" y="2103120"/>
            <a:ext cx="1219200" cy="3505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300" b="1">
                <a:solidFill>
                  <a:srgbClr val="486581"/>
                </a:solidFill>
                <a:latin typeface="Noto Sans CJK JP"/>
                <a:ea typeface="Noto Sans CJK JP"/>
              </a:rPr>
              <a:t>0.980785</a:t>
            </a:r>
            <a:endParaRPr lang="ja-JP" sz="1300"/>
          </a:p>
        </p:txBody>
      </p:sp>
      <p:sp>
        <p:nvSpPr>
          <p:cNvPr id="11" name="Text 11"/>
          <p:cNvSpPr txBox="1"/>
          <p:nvPr/>
        </p:nvSpPr>
        <p:spPr>
          <a:xfrm>
            <a:off x="685800" y="3055620"/>
            <a:ext cx="1371600" cy="3505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00" b="1">
                <a:solidFill>
                  <a:srgbClr val="243B53"/>
                </a:solidFill>
                <a:latin typeface="Noto Sans CJK JP"/>
                <a:ea typeface="Noto Sans CJK JP"/>
              </a:rPr>
              <a:t>5次 n=5</a:t>
            </a:r>
            <a:endParaRPr lang="ja-JP" sz="1400"/>
          </a:p>
        </p:txBody>
      </p:sp>
      <p:sp>
        <p:nvSpPr>
          <p:cNvPr id="12" name="Shape 12"/>
          <p:cNvSpPr/>
          <p:nvPr/>
        </p:nvSpPr>
        <p:spPr>
          <a:xfrm>
            <a:off x="2209800" y="3116580"/>
            <a:ext cx="2116721" cy="259080"/>
          </a:xfrm>
          <a:prstGeom prst="roundRect">
            <a:avLst/>
          </a:prstGeom>
          <a:solidFill>
            <a:srgbClr val="F2994A"/>
          </a:solidFill>
          <a:ln w="12700">
            <a:solidFill>
              <a:srgbClr val="F2994A"/>
            </a:solidFill>
          </a:ln>
        </p:spPr>
      </p:sp>
      <p:sp>
        <p:nvSpPr>
          <p:cNvPr id="13" name="Text 13"/>
          <p:cNvSpPr txBox="1"/>
          <p:nvPr/>
        </p:nvSpPr>
        <p:spPr>
          <a:xfrm>
            <a:off x="5715000" y="3055620"/>
            <a:ext cx="1219200" cy="3505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300" b="1">
                <a:solidFill>
                  <a:srgbClr val="486581"/>
                </a:solidFill>
                <a:latin typeface="Noto Sans CJK JP"/>
                <a:ea typeface="Noto Sans CJK JP"/>
              </a:rPr>
              <a:t>0.555570</a:t>
            </a:r>
            <a:endParaRPr lang="ja-JP" sz="1300"/>
          </a:p>
        </p:txBody>
      </p:sp>
      <p:sp>
        <p:nvSpPr>
          <p:cNvPr id="14" name="Text 14"/>
          <p:cNvSpPr txBox="1"/>
          <p:nvPr/>
        </p:nvSpPr>
        <p:spPr>
          <a:xfrm>
            <a:off x="685800" y="4008120"/>
            <a:ext cx="1371600" cy="3505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00" b="1">
                <a:solidFill>
                  <a:srgbClr val="243B53"/>
                </a:solidFill>
                <a:latin typeface="Noto Sans CJK JP"/>
                <a:ea typeface="Noto Sans CJK JP"/>
              </a:rPr>
              <a:t>7次 n=7</a:t>
            </a:r>
            <a:endParaRPr lang="ja-JP" sz="1400"/>
          </a:p>
        </p:txBody>
      </p:sp>
      <p:sp>
        <p:nvSpPr>
          <p:cNvPr id="15" name="Shape 15"/>
          <p:cNvSpPr/>
          <p:nvPr/>
        </p:nvSpPr>
        <p:spPr>
          <a:xfrm>
            <a:off x="2209800" y="4069080"/>
            <a:ext cx="743292" cy="259080"/>
          </a:xfrm>
          <a:prstGeom prst="roundRect">
            <a:avLst/>
          </a:prstGeom>
          <a:solidFill>
            <a:srgbClr val="EB5757"/>
          </a:solidFill>
          <a:ln w="12700">
            <a:solidFill>
              <a:srgbClr val="EB5757"/>
            </a:solidFill>
          </a:ln>
        </p:spPr>
      </p:sp>
      <p:sp>
        <p:nvSpPr>
          <p:cNvPr id="16" name="Text 16"/>
          <p:cNvSpPr txBox="1"/>
          <p:nvPr/>
        </p:nvSpPr>
        <p:spPr>
          <a:xfrm>
            <a:off x="5715000" y="4008120"/>
            <a:ext cx="1219200" cy="35052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300" b="1">
                <a:solidFill>
                  <a:srgbClr val="486581"/>
                </a:solidFill>
                <a:latin typeface="Noto Sans CJK JP"/>
                <a:ea typeface="Noto Sans CJK JP"/>
              </a:rPr>
              <a:t>0.195090</a:t>
            </a:r>
            <a:endParaRPr lang="ja-JP" sz="1300"/>
          </a:p>
        </p:txBody>
      </p:sp>
      <p:sp>
        <p:nvSpPr>
          <p:cNvPr id="17" name="Text 17"/>
          <p:cNvSpPr txBox="1"/>
          <p:nvPr/>
        </p:nvSpPr>
        <p:spPr>
          <a:xfrm>
            <a:off x="647700" y="5181600"/>
            <a:ext cx="6248400" cy="8382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250" b="0">
                <a:solidFill>
                  <a:srgbClr val="243B53"/>
                </a:solidFill>
                <a:latin typeface="Noto Sans CJK JP"/>
                <a:ea typeface="Noto Sans CJK JP"/>
              </a:rPr>
              <a:t>例：φ = π/8。高調波次数 n を掛けて評価する。
多重化・PWM・位相差制御は別の手段。高調波がゼロになるとは限らない。
高調波比較は同一1周期波形から V_n/V_1 を算出。</a:t>
            </a:r>
            <a:endParaRPr lang="ja-JP" sz="1250"/>
          </a:p>
        </p:txBody>
      </p:sp>
      <p:sp>
        <p:nvSpPr>
          <p:cNvPr id="18" name="Shape 18"/>
          <p:cNvSpPr/>
          <p:nvPr/>
        </p:nvSpPr>
        <p:spPr>
          <a:xfrm>
            <a:off x="7543800" y="762000"/>
            <a:ext cx="4229100" cy="55626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</a:ln>
        </p:spPr>
      </p:sp>
      <p:sp>
        <p:nvSpPr>
          <p:cNvPr id="19" name="Text 19"/>
          <p:cNvSpPr txBox="1"/>
          <p:nvPr/>
        </p:nvSpPr>
        <p:spPr>
          <a:xfrm>
            <a:off x="7772400" y="990600"/>
            <a:ext cx="3657600" cy="4191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800" b="1">
                <a:solidFill>
                  <a:srgbClr val="243B53"/>
                </a:solidFill>
                <a:latin typeface="Noto Sans CJK JP"/>
                <a:ea typeface="Noto Sans CJK JP"/>
              </a:rPr>
              <a:t>H24一次型への接続</a:t>
            </a:r>
            <a:endParaRPr lang="ja-JP" sz="1800"/>
          </a:p>
        </p:txBody>
      </p:sp>
      <p:sp>
        <p:nvSpPr>
          <p:cNvPr id="20" name="Text 20"/>
          <p:cNvSpPr txBox="1"/>
          <p:nvPr/>
        </p:nvSpPr>
        <p:spPr>
          <a:xfrm>
            <a:off x="7772400" y="1485900"/>
            <a:ext cx="3657600" cy="42672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250" b="0">
                <a:solidFill>
                  <a:srgbClr val="334E68"/>
                </a:solidFill>
                <a:latin typeface="Noto Sans CJK JP"/>
                <a:ea typeface="Noto Sans CJK JP"/>
              </a:rPr>
              <a:t>複数ユニットの交流出力を直列合成
各ユニットの直流側は必要に応じて絶縁
位相差付き合成 → 電圧段数増加
5次・7次など低次高調波を合成で低減
基本波も位相差の影響を受ける
比較順序
1. 各ユニットの瞬時出力
2. 直列加算
3. 電圧レベル数・Δv
4. n次成分の位相 nφ
5. 素子電圧・損失を別確認</a:t>
            </a:r>
            <a:endParaRPr lang="ja-JP" sz="12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342900" y="137160"/>
            <a:ext cx="8991600" cy="44196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2600" b="1">
                <a:solidFill>
                  <a:srgbClr val="FFFFFF"/>
                </a:solidFill>
                <a:latin typeface="Noto Sans CJK JP"/>
                <a:ea typeface="Noto Sans CJK JP"/>
              </a:rPr>
              <a:t>素子電圧・dv/dt・H24二次計算</a:t>
            </a:r>
            <a:endParaRPr lang="ja-JP" sz="2600"/>
          </a:p>
        </p:txBody>
      </p:sp>
      <p:sp>
        <p:nvSpPr>
          <p:cNvPr id="4" name="Text 4"/>
          <p:cNvSpPr txBox="1"/>
          <p:nvPr/>
        </p:nvSpPr>
        <p:spPr>
          <a:xfrm>
            <a:off x="9144000" y="167640"/>
            <a:ext cx="2667000" cy="3429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200" b="0">
                <a:solidFill>
                  <a:srgbClr val="B8D9F2"/>
                </a:solidFill>
                <a:latin typeface="Noto Sans CJK JP"/>
                <a:ea typeface="Noto Sans CJK JP"/>
              </a:rPr>
              <a:t>SPEC可視化 3 / H24二次</a:t>
            </a:r>
            <a:endParaRPr lang="ja-JP" sz="1200"/>
          </a:p>
        </p:txBody>
      </p:sp>
      <p:sp>
        <p:nvSpPr>
          <p:cNvPr id="5" name="Shape 5"/>
          <p:cNvSpPr/>
          <p:nvPr/>
        </p:nvSpPr>
        <p:spPr>
          <a:xfrm>
            <a:off x="419100" y="762000"/>
            <a:ext cx="4876800" cy="556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647700" y="990600"/>
            <a:ext cx="3810000" cy="3810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800" b="1">
                <a:solidFill>
                  <a:srgbClr val="243B53"/>
                </a:solidFill>
                <a:latin typeface="Noto Sans CJK JP"/>
                <a:ea typeface="Noto Sans CJK JP"/>
              </a:rPr>
              <a:t>素子電圧比較（E_d = 1.0 pu）</a:t>
            </a:r>
            <a:endParaRPr lang="ja-JP" sz="1800"/>
          </a:p>
        </p:txBody>
      </p:sp>
      <p:sp>
        <p:nvSpPr>
          <p:cNvPr id="7" name="Text 7"/>
          <p:cNvSpPr txBox="1"/>
          <p:nvPr/>
        </p:nvSpPr>
        <p:spPr>
          <a:xfrm>
            <a:off x="723900" y="1790700"/>
            <a:ext cx="1219200" cy="32004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50" b="1">
                <a:solidFill>
                  <a:srgbClr val="243B53"/>
                </a:solidFill>
                <a:latin typeface="Noto Sans CJK JP"/>
                <a:ea typeface="Noto Sans CJK JP"/>
              </a:rPr>
              <a:t>2レベル</a:t>
            </a:r>
            <a:endParaRPr lang="ja-JP" sz="1450"/>
          </a:p>
        </p:txBody>
      </p:sp>
      <p:sp>
        <p:nvSpPr>
          <p:cNvPr id="8" name="Shape 8"/>
          <p:cNvSpPr/>
          <p:nvPr/>
        </p:nvSpPr>
        <p:spPr>
          <a:xfrm>
            <a:off x="1981200" y="1752600"/>
            <a:ext cx="2514600" cy="320040"/>
          </a:xfrm>
          <a:prstGeom prst="round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4343400" y="1790700"/>
            <a:ext cx="838200" cy="32004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300" b="1">
                <a:solidFill>
                  <a:srgbClr val="243B53"/>
                </a:solidFill>
                <a:latin typeface="Noto Sans CJK JP"/>
                <a:ea typeface="Noto Sans CJK JP"/>
              </a:rPr>
              <a:t>1.0 pu</a:t>
            </a:r>
            <a:endParaRPr lang="ja-JP" sz="1300"/>
          </a:p>
        </p:txBody>
      </p:sp>
      <p:sp>
        <p:nvSpPr>
          <p:cNvPr id="10" name="Text 10"/>
          <p:cNvSpPr txBox="1"/>
          <p:nvPr/>
        </p:nvSpPr>
        <p:spPr>
          <a:xfrm>
            <a:off x="723900" y="2590800"/>
            <a:ext cx="1447800" cy="32004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50" b="1">
                <a:solidFill>
                  <a:srgbClr val="243B53"/>
                </a:solidFill>
                <a:latin typeface="Noto Sans CJK JP"/>
                <a:ea typeface="Noto Sans CJK JP"/>
              </a:rPr>
              <a:t>理想3レベル</a:t>
            </a:r>
            <a:endParaRPr lang="ja-JP" sz="1450"/>
          </a:p>
        </p:txBody>
      </p:sp>
      <p:sp>
        <p:nvSpPr>
          <p:cNvPr id="11" name="Shape 11"/>
          <p:cNvSpPr/>
          <p:nvPr/>
        </p:nvSpPr>
        <p:spPr>
          <a:xfrm>
            <a:off x="2209800" y="2552700"/>
            <a:ext cx="1257300" cy="32004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27AE60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4343400" y="2590800"/>
            <a:ext cx="838200" cy="32004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300" b="1">
                <a:solidFill>
                  <a:srgbClr val="243B53"/>
                </a:solidFill>
                <a:latin typeface="Noto Sans CJK JP"/>
                <a:ea typeface="Noto Sans CJK JP"/>
              </a:rPr>
              <a:t>0.5 pu</a:t>
            </a:r>
            <a:endParaRPr lang="ja-JP" sz="1300"/>
          </a:p>
        </p:txBody>
      </p:sp>
      <p:sp>
        <p:nvSpPr>
          <p:cNvPr id="13" name="Text 13"/>
          <p:cNvSpPr txBox="1"/>
          <p:nvPr/>
        </p:nvSpPr>
        <p:spPr>
          <a:xfrm>
            <a:off x="647700" y="3276600"/>
            <a:ext cx="4114800" cy="22860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00" b="0">
                <a:solidFill>
                  <a:srgbClr val="334E68"/>
                </a:solidFill>
                <a:latin typeface="Noto Sans CJK JP"/>
                <a:ea typeface="Noto Sans CJK JP"/>
              </a:rPr>
              <a:t>出力電圧 ≠ 素子遮断電圧
実回路ではトポロジー・電圧バランス・過渡条件で素子電圧が決まる。
同じ立上り時間 Δt：
dv/dt ≈ Δv/Δt
Δv が 1/2 → dv/dt も 1/2</a:t>
            </a:r>
            <a:endParaRPr lang="ja-JP" sz="1400"/>
          </a:p>
        </p:txBody>
      </p:sp>
      <p:sp>
        <p:nvSpPr>
          <p:cNvPr id="14" name="Shape 14"/>
          <p:cNvSpPr/>
          <p:nvPr/>
        </p:nvSpPr>
        <p:spPr>
          <a:xfrm>
            <a:off x="5600700" y="762000"/>
            <a:ext cx="6172200" cy="55626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</a:ln>
        </p:spPr>
      </p:sp>
      <p:sp>
        <p:nvSpPr>
          <p:cNvPr id="15" name="Text 15"/>
          <p:cNvSpPr txBox="1"/>
          <p:nvPr/>
        </p:nvSpPr>
        <p:spPr>
          <a:xfrm>
            <a:off x="5867400" y="990600"/>
            <a:ext cx="5334000" cy="39624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800" b="1">
                <a:solidFill>
                  <a:srgbClr val="243B53"/>
                </a:solidFill>
                <a:latin typeface="Noto Sans CJK JP"/>
                <a:ea typeface="Noto Sans CJK JP"/>
              </a:rPr>
              <a:t>H24二次型：基本波と連系リアクトル</a:t>
            </a:r>
            <a:endParaRPr lang="ja-JP" sz="1800"/>
          </a:p>
        </p:txBody>
      </p:sp>
      <p:sp>
        <p:nvSpPr>
          <p:cNvPr id="16" name="Text 16"/>
          <p:cNvSpPr txBox="1"/>
          <p:nvPr/>
        </p:nvSpPr>
        <p:spPr>
          <a:xfrm>
            <a:off x="5867400" y="1485900"/>
            <a:ext cx="5410200" cy="19050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500" b="1">
                <a:solidFill>
                  <a:srgbClr val="1F4E79"/>
                </a:solidFill>
                <a:latin typeface="Noto Sans CJK JP"/>
                <a:ea typeface="Noto Sans CJK JP"/>
              </a:rPr>
              <a:t>v_v = E_d K sin(ωt+φ)
V_v = E_d K / √2
フェーザ式：V_v = V_L + j X I
I = I_P + j I_Q
→ V_v = (V_L − X I_Q) + j X I_P</a:t>
            </a:r>
            <a:endParaRPr lang="ja-JP" sz="1500"/>
          </a:p>
        </p:txBody>
      </p:sp>
      <p:sp>
        <p:nvSpPr>
          <p:cNvPr id="17" name="Text 17"/>
          <p:cNvSpPr txBox="1"/>
          <p:nvPr/>
        </p:nvSpPr>
        <p:spPr>
          <a:xfrm>
            <a:off x="5867400" y="3695700"/>
            <a:ext cx="5410200" cy="21336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350" b="0">
                <a:solidFill>
                  <a:srgbClr val="334E68"/>
                </a:solidFill>
                <a:latin typeface="Noto Sans CJK JP"/>
                <a:ea typeface="Noto Sans CJK JP"/>
              </a:rPr>
              <a:t>解法手順
1. E_d・K から基本波実効値 V_v
2. P/Q成分を I_P・I_Q に分解
3. 電圧上限 |V_v| を円条件で処理
4. 電流上限 |I| を別条件で処理
5. 共通範囲を採用</a:t>
            </a:r>
            <a:endParaRPr lang="ja-JP" sz="13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</a:ln>
        </p:spPr>
      </p:sp>
      <p:sp>
        <p:nvSpPr>
          <p:cNvPr id="3" name="Text 3"/>
          <p:cNvSpPr txBox="1"/>
          <p:nvPr/>
        </p:nvSpPr>
        <p:spPr>
          <a:xfrm>
            <a:off x="342900" y="137160"/>
            <a:ext cx="8991600" cy="44196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2600" b="1">
                <a:solidFill>
                  <a:srgbClr val="FFFFFF"/>
                </a:solidFill>
                <a:latin typeface="Noto Sans CJK JP"/>
                <a:ea typeface="Noto Sans CJK JP"/>
              </a:rPr>
              <a:t>PWM・スイッチング周波数・変換効率</a:t>
            </a:r>
            <a:endParaRPr lang="ja-JP" sz="2600"/>
          </a:p>
        </p:txBody>
      </p:sp>
      <p:sp>
        <p:nvSpPr>
          <p:cNvPr id="4" name="Text 4"/>
          <p:cNvSpPr txBox="1"/>
          <p:nvPr/>
        </p:nvSpPr>
        <p:spPr>
          <a:xfrm>
            <a:off x="9144000" y="167640"/>
            <a:ext cx="2667000" cy="3429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ja-JP" sz="1200" b="0">
                <a:solidFill>
                  <a:srgbClr val="B8D9F2"/>
                </a:solidFill>
                <a:latin typeface="Noto Sans CJK JP"/>
                <a:ea typeface="Noto Sans CJK JP"/>
              </a:rPr>
              <a:t>R7 / R4 一次への接続</a:t>
            </a:r>
            <a:endParaRPr lang="ja-JP" sz="1200"/>
          </a:p>
        </p:txBody>
      </p:sp>
      <p:sp>
        <p:nvSpPr>
          <p:cNvPr id="5" name="Shape 5"/>
          <p:cNvSpPr/>
          <p:nvPr/>
        </p:nvSpPr>
        <p:spPr>
          <a:xfrm>
            <a:off x="419100" y="762000"/>
            <a:ext cx="7086600" cy="556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647700" y="990600"/>
            <a:ext cx="6096000" cy="3810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800" b="1">
                <a:solidFill>
                  <a:srgbClr val="243B53"/>
                </a:solidFill>
                <a:latin typeface="Noto Sans CJK JP"/>
                <a:ea typeface="Noto Sans CJK JP"/>
              </a:rPr>
              <a:t>PWM：変調波と搬送波を比較</a:t>
            </a:r>
            <a:endParaRPr lang="ja-JP" sz="1800"/>
          </a:p>
        </p:txBody>
      </p:sp>
      <p:sp>
        <p:nvSpPr>
          <p:cNvPr id="7" name="Line 7"/>
          <p:cNvSpPr/>
          <p:nvPr/>
        </p:nvSpPr>
        <p:spPr>
          <a:xfrm>
            <a:off x="838200" y="2628900"/>
            <a:ext cx="6019800" cy="0"/>
          </a:xfrm>
          <a:prstGeom prst="line">
            <a:avLst/>
          </a:prstGeom>
          <a:ln w="12700">
            <a:solidFill>
              <a:srgbClr val="829AB1"/>
            </a:solidFill>
          </a:ln>
        </p:spPr>
      </p:sp>
      <p:sp>
        <p:nvSpPr>
          <p:cNvPr id="8" name="Line 8"/>
          <p:cNvSpPr/>
          <p:nvPr/>
        </p:nvSpPr>
        <p:spPr>
          <a:xfrm flipV="1">
            <a:off x="838200" y="2095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9" name="Line 9"/>
          <p:cNvSpPr/>
          <p:nvPr/>
        </p:nvSpPr>
        <p:spPr>
          <a:xfrm>
            <a:off x="1600200" y="1714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0" name="Line 10"/>
          <p:cNvSpPr/>
          <p:nvPr/>
        </p:nvSpPr>
        <p:spPr>
          <a:xfrm>
            <a:off x="2362200" y="2095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1" name="Line 11"/>
          <p:cNvSpPr/>
          <p:nvPr/>
        </p:nvSpPr>
        <p:spPr>
          <a:xfrm flipV="1">
            <a:off x="3124200" y="2476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2" name="Line 12"/>
          <p:cNvSpPr/>
          <p:nvPr/>
        </p:nvSpPr>
        <p:spPr>
          <a:xfrm flipV="1">
            <a:off x="3886200" y="2095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3" name="Line 13"/>
          <p:cNvSpPr/>
          <p:nvPr/>
        </p:nvSpPr>
        <p:spPr>
          <a:xfrm>
            <a:off x="4648200" y="1714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4" name="Line 14"/>
          <p:cNvSpPr/>
          <p:nvPr/>
        </p:nvSpPr>
        <p:spPr>
          <a:xfrm>
            <a:off x="5410200" y="2095500"/>
            <a:ext cx="7620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5" name="Line 15"/>
          <p:cNvSpPr/>
          <p:nvPr/>
        </p:nvSpPr>
        <p:spPr>
          <a:xfrm flipV="1">
            <a:off x="6172200" y="2476500"/>
            <a:ext cx="685800" cy="381000"/>
          </a:xfrm>
          <a:prstGeom prst="line">
            <a:avLst/>
          </a:prstGeom>
          <a:ln w="38100">
            <a:solidFill>
              <a:srgbClr val="2F80ED"/>
            </a:solidFill>
          </a:ln>
        </p:spPr>
      </p:sp>
      <p:sp>
        <p:nvSpPr>
          <p:cNvPr id="16" name="Line 16"/>
          <p:cNvSpPr/>
          <p:nvPr/>
        </p:nvSpPr>
        <p:spPr>
          <a:xfrm flipV="1">
            <a:off x="838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17" name="Line 17"/>
          <p:cNvSpPr/>
          <p:nvPr/>
        </p:nvSpPr>
        <p:spPr>
          <a:xfrm>
            <a:off x="1219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18" name="Line 18"/>
          <p:cNvSpPr/>
          <p:nvPr/>
        </p:nvSpPr>
        <p:spPr>
          <a:xfrm flipV="1">
            <a:off x="1600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19" name="Line 19"/>
          <p:cNvSpPr/>
          <p:nvPr/>
        </p:nvSpPr>
        <p:spPr>
          <a:xfrm>
            <a:off x="1981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0" name="Line 20"/>
          <p:cNvSpPr/>
          <p:nvPr/>
        </p:nvSpPr>
        <p:spPr>
          <a:xfrm flipV="1">
            <a:off x="2362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1" name="Line 21"/>
          <p:cNvSpPr/>
          <p:nvPr/>
        </p:nvSpPr>
        <p:spPr>
          <a:xfrm>
            <a:off x="2743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2" name="Line 22"/>
          <p:cNvSpPr/>
          <p:nvPr/>
        </p:nvSpPr>
        <p:spPr>
          <a:xfrm flipV="1">
            <a:off x="3124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3" name="Line 23"/>
          <p:cNvSpPr/>
          <p:nvPr/>
        </p:nvSpPr>
        <p:spPr>
          <a:xfrm>
            <a:off x="3505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4" name="Line 24"/>
          <p:cNvSpPr/>
          <p:nvPr/>
        </p:nvSpPr>
        <p:spPr>
          <a:xfrm flipV="1">
            <a:off x="3886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5" name="Line 25"/>
          <p:cNvSpPr/>
          <p:nvPr/>
        </p:nvSpPr>
        <p:spPr>
          <a:xfrm>
            <a:off x="4267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6" name="Line 26"/>
          <p:cNvSpPr/>
          <p:nvPr/>
        </p:nvSpPr>
        <p:spPr>
          <a:xfrm flipV="1">
            <a:off x="4648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7" name="Line 27"/>
          <p:cNvSpPr/>
          <p:nvPr/>
        </p:nvSpPr>
        <p:spPr>
          <a:xfrm>
            <a:off x="5029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8" name="Line 28"/>
          <p:cNvSpPr/>
          <p:nvPr/>
        </p:nvSpPr>
        <p:spPr>
          <a:xfrm flipV="1">
            <a:off x="5410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29" name="Line 29"/>
          <p:cNvSpPr/>
          <p:nvPr/>
        </p:nvSpPr>
        <p:spPr>
          <a:xfrm>
            <a:off x="5791200" y="17907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30" name="Line 30"/>
          <p:cNvSpPr/>
          <p:nvPr/>
        </p:nvSpPr>
        <p:spPr>
          <a:xfrm flipV="1">
            <a:off x="6172200" y="2400300"/>
            <a:ext cx="381000" cy="6096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31" name="Line 31"/>
          <p:cNvSpPr/>
          <p:nvPr/>
        </p:nvSpPr>
        <p:spPr>
          <a:xfrm>
            <a:off x="6553200" y="1790700"/>
            <a:ext cx="304800" cy="495300"/>
          </a:xfrm>
          <a:prstGeom prst="line">
            <a:avLst/>
          </a:prstGeom>
          <a:ln w="25400">
            <a:solidFill>
              <a:srgbClr val="F2994A"/>
            </a:solidFill>
          </a:ln>
        </p:spPr>
      </p:sp>
      <p:sp>
        <p:nvSpPr>
          <p:cNvPr id="32" name="Text 32"/>
          <p:cNvSpPr txBox="1"/>
          <p:nvPr/>
        </p:nvSpPr>
        <p:spPr>
          <a:xfrm>
            <a:off x="647700" y="2819400"/>
            <a:ext cx="6248400" cy="6477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350" b="0">
                <a:solidFill>
                  <a:srgbClr val="334E68"/>
                </a:solidFill>
                <a:latin typeface="Noto Sans CJK JP"/>
                <a:ea typeface="Noto Sans CJK JP"/>
              </a:rPr>
              <a:t>比較結果 → PWMパルス列
搬送波周波数 f_c がスイッチング頻度の基準</a:t>
            </a:r>
            <a:endParaRPr lang="ja-JP" sz="1350"/>
          </a:p>
        </p:txBody>
      </p:sp>
      <p:sp>
        <p:nvSpPr>
          <p:cNvPr id="33" name="Shape 33"/>
          <p:cNvSpPr/>
          <p:nvPr/>
        </p:nvSpPr>
        <p:spPr>
          <a:xfrm>
            <a:off x="838200" y="3657600"/>
            <a:ext cx="487680" cy="3048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34" name="Shape 34"/>
          <p:cNvSpPr/>
          <p:nvPr/>
        </p:nvSpPr>
        <p:spPr>
          <a:xfrm>
            <a:off x="1417320" y="3657600"/>
            <a:ext cx="487680" cy="3048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35" name="Shape 35"/>
          <p:cNvSpPr/>
          <p:nvPr/>
        </p:nvSpPr>
        <p:spPr>
          <a:xfrm>
            <a:off x="1996440" y="3962400"/>
            <a:ext cx="487680" cy="76200"/>
          </a:xfrm>
          <a:prstGeom prst="rect">
            <a:avLst/>
          </a:prstGeom>
          <a:solidFill>
            <a:srgbClr val="B8C5D1"/>
          </a:solidFill>
          <a:ln w="12700">
            <a:solidFill>
              <a:srgbClr val="B8C5D1"/>
            </a:solidFill>
          </a:ln>
        </p:spPr>
      </p:sp>
      <p:sp>
        <p:nvSpPr>
          <p:cNvPr id="36" name="Shape 36"/>
          <p:cNvSpPr/>
          <p:nvPr/>
        </p:nvSpPr>
        <p:spPr>
          <a:xfrm>
            <a:off x="2575560" y="3657600"/>
            <a:ext cx="487680" cy="3048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37" name="Shape 37"/>
          <p:cNvSpPr/>
          <p:nvPr/>
        </p:nvSpPr>
        <p:spPr>
          <a:xfrm>
            <a:off x="3154680" y="3657600"/>
            <a:ext cx="487680" cy="3048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38" name="Shape 38"/>
          <p:cNvSpPr/>
          <p:nvPr/>
        </p:nvSpPr>
        <p:spPr>
          <a:xfrm>
            <a:off x="3733800" y="3962400"/>
            <a:ext cx="487680" cy="76200"/>
          </a:xfrm>
          <a:prstGeom prst="rect">
            <a:avLst/>
          </a:prstGeom>
          <a:solidFill>
            <a:srgbClr val="B8C5D1"/>
          </a:solidFill>
          <a:ln w="12700">
            <a:solidFill>
              <a:srgbClr val="B8C5D1"/>
            </a:solidFill>
          </a:ln>
        </p:spPr>
      </p:sp>
      <p:sp>
        <p:nvSpPr>
          <p:cNvPr id="39" name="Shape 39"/>
          <p:cNvSpPr/>
          <p:nvPr/>
        </p:nvSpPr>
        <p:spPr>
          <a:xfrm>
            <a:off x="4312920" y="3657600"/>
            <a:ext cx="487680" cy="3048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40" name="Shape 40"/>
          <p:cNvSpPr/>
          <p:nvPr/>
        </p:nvSpPr>
        <p:spPr>
          <a:xfrm>
            <a:off x="4892040" y="3962400"/>
            <a:ext cx="487680" cy="76200"/>
          </a:xfrm>
          <a:prstGeom prst="rect">
            <a:avLst/>
          </a:prstGeom>
          <a:solidFill>
            <a:srgbClr val="B8C5D1"/>
          </a:solidFill>
          <a:ln w="12700">
            <a:solidFill>
              <a:srgbClr val="B8C5D1"/>
            </a:solidFill>
          </a:ln>
        </p:spPr>
      </p:sp>
      <p:sp>
        <p:nvSpPr>
          <p:cNvPr id="41" name="Shape 41"/>
          <p:cNvSpPr/>
          <p:nvPr/>
        </p:nvSpPr>
        <p:spPr>
          <a:xfrm>
            <a:off x="5471160" y="3962400"/>
            <a:ext cx="487680" cy="76200"/>
          </a:xfrm>
          <a:prstGeom prst="rect">
            <a:avLst/>
          </a:prstGeom>
          <a:solidFill>
            <a:srgbClr val="B8C5D1"/>
          </a:solidFill>
          <a:ln w="12700">
            <a:solidFill>
              <a:srgbClr val="B8C5D1"/>
            </a:solidFill>
          </a:ln>
        </p:spPr>
      </p:sp>
      <p:sp>
        <p:nvSpPr>
          <p:cNvPr id="42" name="Shape 42"/>
          <p:cNvSpPr/>
          <p:nvPr/>
        </p:nvSpPr>
        <p:spPr>
          <a:xfrm>
            <a:off x="6050280" y="3657600"/>
            <a:ext cx="487680" cy="3048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</p:sp>
      <p:sp>
        <p:nvSpPr>
          <p:cNvPr id="43" name="Text 43"/>
          <p:cNvSpPr txBox="1"/>
          <p:nvPr/>
        </p:nvSpPr>
        <p:spPr>
          <a:xfrm>
            <a:off x="647700" y="4457700"/>
            <a:ext cx="6248400" cy="14478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400" b="1">
                <a:solidFill>
                  <a:srgbClr val="243B53"/>
                </a:solidFill>
                <a:latin typeface="Noto Sans CJK JP"/>
                <a:ea typeface="Noto Sans CJK JP"/>
              </a:rPr>
              <a:t>f_sw ↑ → 波形整形側には有利
　　　→ 単位時間当たりスイッチング回数 ↑
P_sw ≈ f_sw E_sw
η = P_out / (P_out + P_loss)
高周波化は「高ければ高いほどよい」ではない。</a:t>
            </a:r>
            <a:endParaRPr lang="ja-JP" sz="1400"/>
          </a:p>
        </p:txBody>
      </p:sp>
      <p:sp>
        <p:nvSpPr>
          <p:cNvPr id="44" name="Shape 44"/>
          <p:cNvSpPr/>
          <p:nvPr/>
        </p:nvSpPr>
        <p:spPr>
          <a:xfrm>
            <a:off x="7810500" y="762000"/>
            <a:ext cx="3962400" cy="55626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</a:ln>
        </p:spPr>
      </p:sp>
      <p:sp>
        <p:nvSpPr>
          <p:cNvPr id="45" name="Text 45"/>
          <p:cNvSpPr txBox="1"/>
          <p:nvPr/>
        </p:nvSpPr>
        <p:spPr>
          <a:xfrm>
            <a:off x="8039100" y="990600"/>
            <a:ext cx="3429000" cy="4191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750" b="1">
                <a:solidFill>
                  <a:srgbClr val="243B53"/>
                </a:solidFill>
                <a:latin typeface="Noto Sans CJK JP"/>
                <a:ea typeface="Noto Sans CJK JP"/>
              </a:rPr>
              <a:t>R4一次型：損失を分ける</a:t>
            </a:r>
            <a:endParaRPr lang="ja-JP" sz="1750"/>
          </a:p>
        </p:txBody>
      </p:sp>
      <p:sp>
        <p:nvSpPr>
          <p:cNvPr id="46" name="Text 46"/>
          <p:cNvSpPr txBox="1"/>
          <p:nvPr/>
        </p:nvSpPr>
        <p:spPr>
          <a:xfrm>
            <a:off x="8039100" y="1485900"/>
            <a:ext cx="3429000" cy="4114800"/>
          </a:xfrm>
          <a:prstGeom prst="rect">
            <a:avLst/>
          </a:prstGeom>
          <a:ln>
            <a:noFill/>
          </a:ln>
        </p:spPr>
        <p:txBody>
          <a:bodyPr wrap="square" lIns="91440" tIns="45720" rIns="91440" bIns="45720"/>
          <a:lstStyle/>
          <a:p>
            <a:pPr algn="l"/>
            <a:r>
              <a:rPr lang="ja-JP" sz="1300" b="0">
                <a:solidFill>
                  <a:srgbClr val="334E68"/>
                </a:solidFill>
                <a:latin typeface="Noto Sans CJK JP"/>
                <a:ea typeface="Noto Sans CJK JP"/>
              </a:rPr>
              <a:t>オン損失：導通時
オフ時損失：漏れ電流等
スイッチング損失：切替過渡
E_sw：1回当たりの切替損失
f_sw：単位時間当たり回数
ソフトスイッチング：切替損失低減側
変換効率は全損失を含めて評価
Topic 17の素子別詳細損失比較へ先取りしない。
未確認700系実車値は置かない。</a:t>
            </a:r>
            <a:endParaRPr lang="ja-JP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243B53"/>
      </a:dk2>
      <a:lt2>
        <a:srgbClr val="F7FAFC"/>
      </a:lt2>
      <a:accent1>
        <a:srgbClr val="2F80ED"/>
      </a:accent1>
      <a:accent2>
        <a:srgbClr val="27AE60"/>
      </a:accent2>
      <a:accent3>
        <a:srgbClr val="F2994A"/>
      </a:accent3>
      <a:accent4>
        <a:srgbClr val="EB5757"/>
      </a:accent4>
      <a:accent5>
        <a:srgbClr val="486581"/>
      </a:accent5>
      <a:accent6>
        <a:srgbClr val="829AB1"/>
      </a:accent6>
      <a:hlink>
        <a:srgbClr val="0000FF"/>
      </a:hlink>
      <a:folHlink>
        <a:srgbClr val="800080"/>
      </a:folHlink>
    </a:clrScheme>
    <a:fontScheme name="Minimal">
      <a:majorFont>
        <a:latin typeface="Noto Sans CJK JP"/>
        <a:ea typeface="Noto Sans CJK JP"/>
        <a:cs typeface="Arial"/>
      </a:majorFont>
      <a:minorFont>
        <a:latin typeface="Noto Sans CJK JP"/>
        <a:ea typeface="Noto Sans CJK JP"/>
        <a:cs typeface="Arial"/>
      </a:minorFont>
    </a:fontScheme>
    <a:fmtScheme name="Minimal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