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4A63"/>
          </a:solidFill>
          <a:ln w="12700">
            <a:solidFill>
              <a:srgbClr val="184A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967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電験×新幹線｜新幹線車両・電験二種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744200" y="65196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Topic 39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636E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636E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6304"/>
            <a:ext cx="12191695" cy="6336792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3703320" cy="6336792"/>
          </a:xfrm>
          <a:prstGeom prst="rect">
            <a:avLst/>
          </a:prstGeom>
          <a:solidFill>
            <a:srgbClr val="184A63"/>
          </a:solidFill>
          <a:ln w="12700">
            <a:solidFill>
              <a:srgbClr val="184A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8686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39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4251960" y="1097280"/>
            <a:ext cx="7040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COSMOS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統合監視・SCADA・信頼性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279392" y="2944368"/>
            <a:ext cx="6400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7D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電験二種｜一次「機械」＋二次「電力・管理」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79392" y="3584448"/>
            <a:ext cx="7086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試験で問われる「計測 → デジタル化 → 通信 → 監視・制御 → 信頼性」を、一般SCADAモデルで一続きに理解する。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279392" y="4800600"/>
            <a:ext cx="7086600" cy="841248"/>
          </a:xfrm>
          <a:prstGeom prst="roundRect">
            <a:avLst/>
          </a:prstGeom>
          <a:solidFill>
            <a:srgbClr val="FFF4D6"/>
          </a:solidFill>
          <a:ln w="12700">
            <a:solidFill>
              <a:srgbClr val="E6D6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4892040"/>
            <a:ext cx="6867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境界：一般SCADAモデルと教材用の信頼性計算を扱う。COSMOSの未公開内部構成・通信仕様・故障率・MTBF/MTTR等は推測しない。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566928" y="4846320"/>
            <a:ext cx="2514600" cy="292608"/>
          </a:xfrm>
          <a:prstGeom prst="roundRect">
            <a:avLst/>
          </a:prstGeom>
          <a:solidFill>
            <a:srgbClr val="147D83"/>
          </a:solidFill>
          <a:ln w="12700">
            <a:solidFill>
              <a:srgbClr val="147D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4896612"/>
            <a:ext cx="2404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一次 4問 / 20答案要素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6928" y="5285232"/>
            <a:ext cx="2514600" cy="292608"/>
          </a:xfrm>
          <a:prstGeom prst="roundRect">
            <a:avLst/>
          </a:prstGeom>
          <a:solidFill>
            <a:srgbClr val="E88B3A"/>
          </a:solidFill>
          <a:ln w="12700">
            <a:solidFill>
              <a:srgbClr val="E88B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5335524"/>
            <a:ext cx="2404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二次 1問 / 5答案要素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636E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10896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試験論点の全体像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81381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固定13項目を、一般SCADAの機能連鎖へ配置する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128016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D3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02996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計測対象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352" y="242316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状態量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37360" y="2340864"/>
            <a:ext cx="82296" cy="0"/>
          </a:xfrm>
          <a:prstGeom prst="line">
            <a:avLst/>
          </a:prstGeom>
          <a:noFill/>
          <a:ln w="1524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874520" y="1874520"/>
            <a:ext cx="128016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D3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47672" y="202996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CT/VT・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センサ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47672" y="242316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変成・絶縁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54680" y="2340864"/>
            <a:ext cx="82296" cy="0"/>
          </a:xfrm>
          <a:prstGeom prst="line">
            <a:avLst/>
          </a:prstGeom>
          <a:noFill/>
          <a:ln w="1524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91840" y="1874520"/>
            <a:ext cx="128016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D3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202996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信号調整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64992" y="242316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計測前段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0" y="2340864"/>
            <a:ext cx="82296" cy="0"/>
          </a:xfrm>
          <a:prstGeom prst="line">
            <a:avLst/>
          </a:prstGeom>
          <a:noFill/>
          <a:ln w="1524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09160" y="1874520"/>
            <a:ext cx="1280160" cy="932688"/>
          </a:xfrm>
          <a:prstGeom prst="roundRect">
            <a:avLst/>
          </a:prstGeom>
          <a:solidFill>
            <a:srgbClr val="DDEFF3"/>
          </a:solidFill>
          <a:ln w="15240">
            <a:solidFill>
              <a:srgbClr val="147D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2312" y="202996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A/D・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データ収集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82312" y="242316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標本化・量子化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89320" y="2340864"/>
            <a:ext cx="82296" cy="0"/>
          </a:xfrm>
          <a:prstGeom prst="line">
            <a:avLst/>
          </a:prstGeom>
          <a:noFill/>
          <a:ln w="1524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26480" y="1874520"/>
            <a:ext cx="128016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D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202996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通信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99632" y="242316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LAN・変調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406640" y="2340864"/>
            <a:ext cx="82296" cy="0"/>
          </a:xfrm>
          <a:prstGeom prst="line">
            <a:avLst/>
          </a:prstGeom>
          <a:noFill/>
          <a:ln w="1524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543800" y="1874520"/>
            <a:ext cx="1280160" cy="932688"/>
          </a:xfrm>
          <a:prstGeom prst="roundRect">
            <a:avLst/>
          </a:prstGeom>
          <a:solidFill>
            <a:srgbClr val="DDEFF3"/>
          </a:solidFill>
          <a:ln w="15240">
            <a:solidFill>
              <a:srgbClr val="147D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16952" y="202996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監視表示・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状態判定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16952" y="242316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SCADA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823960" y="2340864"/>
            <a:ext cx="82296" cy="0"/>
          </a:xfrm>
          <a:prstGeom prst="line">
            <a:avLst/>
          </a:prstGeom>
          <a:noFill/>
          <a:ln w="1524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961120" y="1874520"/>
            <a:ext cx="128016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D3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34272" y="202996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操作指令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034272" y="242316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遠隔制御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0241280" y="2340864"/>
            <a:ext cx="82296" cy="0"/>
          </a:xfrm>
          <a:prstGeom prst="line">
            <a:avLst/>
          </a:prstGeom>
          <a:noFill/>
          <a:ln w="1524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378440" y="1874520"/>
            <a:ext cx="128016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D3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51592" y="202996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制御対象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451592" y="242316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設備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48640" y="3337560"/>
            <a:ext cx="342900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3970">
            <a:solidFill>
              <a:srgbClr val="C8D3D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" y="3447288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分散システム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3232" y="3813048"/>
            <a:ext cx="309981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複数地点・装置を通信で結ぶ。通信断、状態不一致、時刻情報、共通原因故障を考える。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370832" y="3337560"/>
            <a:ext cx="342900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3970">
            <a:solidFill>
              <a:srgbClr val="C8D3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35424" y="3447288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遠隔計測 / 遠隔制御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35424" y="3813048"/>
            <a:ext cx="309981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計測は「取得→変成→デジタル化→伝送」。制御は対象状態・保護条件・安全側動作まで含めて指令妥当性を考える。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183880" y="3337560"/>
            <a:ext cx="342900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3970">
            <a:solidFill>
              <a:srgbClr val="C8D3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48472" y="3447288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信頼性 / 可用性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48472" y="3813048"/>
            <a:ext cx="309981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故障率 λ、信頼度 R(t)、冗長系、MTBF/MTTRから「壊れにくさ」と「使える割合」を分けて評価する。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1920240" y="5175504"/>
            <a:ext cx="8321040" cy="566928"/>
          </a:xfrm>
          <a:prstGeom prst="roundRect">
            <a:avLst/>
          </a:prstGeom>
          <a:solidFill>
            <a:srgbClr val="FFF4D6"/>
          </a:solidFill>
          <a:ln w="12700">
            <a:solidFill>
              <a:srgbClr val="E6D6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29968" y="5266944"/>
            <a:ext cx="8101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この図は一般教材モデルであり、COSMOSの公開済み内部構成図ではない。</a:t>
            </a:r>
            <a:endParaRPr lang="en-US" sz="1020" dirty="0"/>
          </a:p>
        </p:txBody>
      </p:sp>
      <p:sp>
        <p:nvSpPr>
          <p:cNvPr id="46" name="Text 44"/>
          <p:cNvSpPr/>
          <p:nvPr/>
        </p:nvSpPr>
        <p:spPr>
          <a:xfrm>
            <a:off x="475488" y="6163056"/>
            <a:ext cx="11109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D76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対応：系列SPEC Topic 39 固定13項目 / EXAM_ALIGNMENT 固定5問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636E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10896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計器用変成器：CT / VT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81381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変成・絶縁・誤差・安全を一体で押さえる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246120" cy="1847088"/>
          </a:xfrm>
          <a:prstGeom prst="roundRect">
            <a:avLst>
              <a:gd name="adj" fmla="val 2970"/>
            </a:avLst>
          </a:prstGeom>
          <a:solidFill>
            <a:srgbClr val="F4F9FA"/>
          </a:solidFill>
          <a:ln w="13970">
            <a:solidFill>
              <a:srgbClr val="C8D3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435608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CT（変流器）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7512" y="1801368"/>
            <a:ext cx="2916936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大電流を計測・保護用の扱いやすい電流へ変成。二次側負担・励磁電流・励磁インピーダンスが変成誤差に関係する。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005072" y="1325880"/>
            <a:ext cx="3246120" cy="1847088"/>
          </a:xfrm>
          <a:prstGeom prst="roundRect">
            <a:avLst>
              <a:gd name="adj" fmla="val 2970"/>
            </a:avLst>
          </a:prstGeom>
          <a:solidFill>
            <a:srgbClr val="F8F7F2"/>
          </a:solidFill>
          <a:ln w="13970">
            <a:solidFill>
              <a:srgbClr val="C8D3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69664" y="1435608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VT（計器用変圧器）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69664" y="1801368"/>
            <a:ext cx="2916936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高電圧を計測・保護用の扱いやすい電圧へ変成。主回路と計測・保護回路を絶縁する。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07224" y="1325880"/>
            <a:ext cx="4160520" cy="1847088"/>
          </a:xfrm>
          <a:prstGeom prst="roundRect">
            <a:avLst>
              <a:gd name="adj" fmla="val 2970"/>
            </a:avLst>
          </a:prstGeom>
          <a:solidFill>
            <a:srgbClr val="FFF7F0"/>
          </a:solidFill>
          <a:ln w="13970">
            <a:solidFill>
              <a:srgbClr val="E6B9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71816" y="1435608"/>
            <a:ext cx="3831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B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安全上の対比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71816" y="1801368"/>
            <a:ext cx="3831336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CT：一次通電中に二次側を開放しない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VT：二次側を短絡しない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この2点を逆にしない。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51560" y="3794760"/>
            <a:ext cx="4160520" cy="585216"/>
          </a:xfrm>
          <a:prstGeom prst="roundRect">
            <a:avLst/>
          </a:prstGeom>
          <a:solidFill>
            <a:srgbClr val="EDF3F6"/>
          </a:solidFill>
          <a:ln w="12700">
            <a:solidFill>
              <a:srgbClr val="B9CB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3858768"/>
            <a:ext cx="3941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 = (K_n − K) / K × 100 [%]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5994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例：K_n=400, K=398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498348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7D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(400−398)/398×100 = +0.5025… % ≈ +0.503 %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55664" y="3675888"/>
            <a:ext cx="0" cy="1737360"/>
          </a:xfrm>
          <a:prstGeom prst="line">
            <a:avLst/>
          </a:prstGeom>
          <a:noFill/>
          <a:ln w="15240">
            <a:solidFill>
              <a:srgbClr val="C8D3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76288" y="38221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過去問接続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76288" y="4315968"/>
            <a:ext cx="2103120" cy="292608"/>
          </a:xfrm>
          <a:prstGeom prst="roundRect">
            <a:avLst/>
          </a:prstGeom>
          <a:solidFill>
            <a:srgbClr val="147D83"/>
          </a:solidFill>
          <a:ln w="12700">
            <a:solidFill>
              <a:srgbClr val="147D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1152" y="436626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R4 一次「機械」問3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76288" y="4754880"/>
            <a:ext cx="2514600" cy="292608"/>
          </a:xfrm>
          <a:prstGeom prst="roundRect">
            <a:avLst/>
          </a:prstGeom>
          <a:solidFill>
            <a:srgbClr val="E88B3A"/>
          </a:solidFill>
          <a:ln w="12700">
            <a:solidFill>
              <a:srgbClr val="E88B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31152" y="4805172"/>
            <a:ext cx="2404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R2 二次「電力・管理」問2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162288" y="4279392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負担 / 励磁 / 比誤差 / CT二次開放 / CT・VTの目的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5488" y="6163056"/>
            <a:ext cx="11109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D76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固定答案要素：R4一次 5 / 5、R2二次の計器用変成器・比誤差へ接続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636E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10896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A/D変換：標本化・量子化・コード化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81381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「時間方向」と「振幅方向」の離散化を分ける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73736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3970">
            <a:solidFill>
              <a:srgbClr val="C8D3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481328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入力信号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" y="1847088"/>
            <a:ext cx="140817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連続時間・連続振幅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2423160" y="1993392"/>
            <a:ext cx="347472" cy="0"/>
          </a:xfrm>
          <a:prstGeom prst="line">
            <a:avLst/>
          </a:prstGeom>
          <a:noFill/>
          <a:ln w="1778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62072" y="1371600"/>
            <a:ext cx="173736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3970">
            <a:solidFill>
              <a:srgbClr val="C8D3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26664" y="1481328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サンプルホールド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26664" y="1847088"/>
            <a:ext cx="140817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変換中の入力をほぼ一定に保持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599432" y="1993392"/>
            <a:ext cx="347472" cy="0"/>
          </a:xfrm>
          <a:prstGeom prst="line">
            <a:avLst/>
          </a:prstGeom>
          <a:noFill/>
          <a:ln w="1778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38344" y="1371600"/>
            <a:ext cx="1737360" cy="1298448"/>
          </a:xfrm>
          <a:prstGeom prst="roundRect">
            <a:avLst>
              <a:gd name="adj" fmla="val 4225"/>
            </a:avLst>
          </a:prstGeom>
          <a:solidFill>
            <a:srgbClr val="DDEFF3"/>
          </a:solidFill>
          <a:ln w="13970">
            <a:solidFill>
              <a:srgbClr val="C8D3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02936" y="1481328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量子化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02936" y="1847088"/>
            <a:ext cx="140817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有限個のレベルへ丸める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6775704" y="1993392"/>
            <a:ext cx="347472" cy="0"/>
          </a:xfrm>
          <a:prstGeom prst="line">
            <a:avLst/>
          </a:prstGeom>
          <a:noFill/>
          <a:ln w="17780">
            <a:solidFill>
              <a:srgbClr val="59636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14616" y="1371600"/>
            <a:ext cx="173736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3970">
            <a:solidFill>
              <a:srgbClr val="C8D3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79208" y="1481328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デジタルコード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79208" y="1847088"/>
            <a:ext cx="140817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2進数。MSBは最大重み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9345168" y="1371600"/>
            <a:ext cx="2148840" cy="1298448"/>
          </a:xfrm>
          <a:prstGeom prst="roundRect">
            <a:avLst>
              <a:gd name="adj" fmla="val 4225"/>
            </a:avLst>
          </a:prstGeom>
          <a:solidFill>
            <a:srgbClr val="F8F7F2"/>
          </a:solidFill>
          <a:ln w="13970">
            <a:solidFill>
              <a:srgbClr val="C8D3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0" y="1481328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代表方式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09760" y="1847088"/>
            <a:ext cx="18196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並列比較形：高速 / 比較器多数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逐次比較形：MSBから判定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積分形：積分時間を要する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713232" y="3246120"/>
            <a:ext cx="2148840" cy="502920"/>
          </a:xfrm>
          <a:prstGeom prst="roundRect">
            <a:avLst/>
          </a:prstGeom>
          <a:solidFill>
            <a:srgbClr val="EDF3F6"/>
          </a:solidFill>
          <a:ln w="12700">
            <a:solidFill>
              <a:srgbClr val="B9CB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310128"/>
            <a:ext cx="192938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段数 = 2^n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081528" y="3246120"/>
            <a:ext cx="2377440" cy="502920"/>
          </a:xfrm>
          <a:prstGeom prst="roundRect">
            <a:avLst/>
          </a:prstGeom>
          <a:solidFill>
            <a:srgbClr val="EDF3F6"/>
          </a:solidFill>
          <a:ln w="12700">
            <a:solidFill>
              <a:srgbClr val="B9CB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91256" y="3310128"/>
            <a:ext cx="215798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V_FS / 2^n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0" y="3246120"/>
            <a:ext cx="2331720" cy="502920"/>
          </a:xfrm>
          <a:prstGeom prst="roundRect">
            <a:avLst/>
          </a:prstGeom>
          <a:solidFill>
            <a:srgbClr val="EDF3F6"/>
          </a:solidFill>
          <a:ln w="12700">
            <a:solidFill>
              <a:srgbClr val="B9CB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79008" y="3310128"/>
            <a:ext cx="21122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|e_q| ≤ q / 2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211312" y="3246120"/>
            <a:ext cx="2331720" cy="502920"/>
          </a:xfrm>
          <a:prstGeom prst="roundRect">
            <a:avLst/>
          </a:prstGeom>
          <a:solidFill>
            <a:srgbClr val="EDF3F6"/>
          </a:solidFill>
          <a:ln w="12700">
            <a:solidFill>
              <a:srgbClr val="B9CB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3310128"/>
            <a:ext cx="21122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f_s &gt; 2 f_max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51560" y="4160520"/>
            <a:ext cx="4892040" cy="1078992"/>
          </a:xfrm>
          <a:prstGeom prst="roundRect">
            <a:avLst/>
          </a:prstGeom>
          <a:solidFill>
            <a:srgbClr val="F4F9FA"/>
          </a:solidFill>
          <a:ln w="16510">
            <a:solidFill>
              <a:srgbClr val="147D8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61872" y="4370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 bit・0〜8 V の例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401568" y="426110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7D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2^10 = 1024 段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7D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8 / 1024 = 7.8125 mV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10528" y="4114800"/>
            <a:ext cx="4645152" cy="1188720"/>
          </a:xfrm>
          <a:prstGeom prst="roundRect">
            <a:avLst>
              <a:gd name="adj" fmla="val 4615"/>
            </a:avLst>
          </a:prstGeom>
          <a:solidFill>
            <a:srgbClr val="FFF7F0"/>
          </a:solidFill>
          <a:ln w="13970">
            <a:solidFill>
              <a:srgbClr val="E6B98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4224528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B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ひっかけ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75120" y="4590288"/>
            <a:ext cx="431596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標本化不足→エイリアシング。量子化誤差とは別。有限変換時間があるなら入力保持の役割も確認する。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366760" y="5532120"/>
            <a:ext cx="2057400" cy="292608"/>
          </a:xfrm>
          <a:prstGeom prst="roundRect">
            <a:avLst/>
          </a:prstGeom>
          <a:solidFill>
            <a:srgbClr val="147D83"/>
          </a:solidFill>
          <a:ln w="12700">
            <a:solidFill>
              <a:srgbClr val="147D8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21624" y="5582412"/>
            <a:ext cx="1947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R3 一次「機械」問8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5488" y="6163056"/>
            <a:ext cx="11109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D76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固定答案要素：2進数 / 量子化誤差 / 変換時間 / MSB / サンプルホールド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636E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10896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情報伝送：LANと変調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81381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機器の役割・層と、搬送波の変え方を混同しない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307592"/>
            <a:ext cx="5440680" cy="4315968"/>
          </a:xfrm>
          <a:prstGeom prst="roundRect">
            <a:avLst>
              <a:gd name="adj" fmla="val 1271"/>
            </a:avLst>
          </a:prstGeom>
          <a:solidFill>
            <a:srgbClr val="F4F9FA"/>
          </a:solidFill>
          <a:ln w="13970">
            <a:solidFill>
              <a:srgbClr val="C8D3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417320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LAN側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7512" y="1783080"/>
            <a:ext cx="5111496" cy="3730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リピータ　物理層で信号再生・中継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ブリッジ　データリンク層でMACアドレスを利用して中継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MAC　データリンク層の識別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IP　ネットワーク層の論理アドレス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Wi-Fi　IEEE 802.11系の無線LAN技術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DHCP　IPアドレス等の設定を自動配布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36208" y="1307592"/>
            <a:ext cx="5440680" cy="4315968"/>
          </a:xfrm>
          <a:prstGeom prst="roundRect">
            <a:avLst>
              <a:gd name="adj" fmla="val 1271"/>
            </a:avLst>
          </a:prstGeom>
          <a:solidFill>
            <a:srgbClr val="F8F7F2"/>
          </a:solidFill>
          <a:ln w="13970">
            <a:solidFill>
              <a:srgbClr val="C8D3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417320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変調側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1783080"/>
            <a:ext cx="5111496" cy="3730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搬送波　情報を伝送路へ載せる基準となる波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復調　受信側で搬送された情報を取り出す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アナログ：AM / FM / PM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デジタル：ASK / FSK / PSK / QAM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QAMは直交2成分を用い、振幅と位相の組合せで多値シンボルを表す。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234440" y="5742432"/>
            <a:ext cx="2148840" cy="292608"/>
          </a:xfrm>
          <a:prstGeom prst="roundRect">
            <a:avLst/>
          </a:prstGeom>
          <a:solidFill>
            <a:srgbClr val="147D83"/>
          </a:solidFill>
          <a:ln w="12700">
            <a:solidFill>
              <a:srgbClr val="147D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9304" y="5792724"/>
            <a:ext cx="2039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H30 一次「機械」問8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15200" y="5742432"/>
            <a:ext cx="2148840" cy="292608"/>
          </a:xfrm>
          <a:prstGeom prst="roundRect">
            <a:avLst/>
          </a:prstGeom>
          <a:solidFill>
            <a:srgbClr val="147D83"/>
          </a:solidFill>
          <a:ln w="12700">
            <a:solidFill>
              <a:srgbClr val="147D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70064" y="5792724"/>
            <a:ext cx="2039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H25 一次「機械」問8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6163056"/>
            <a:ext cx="11109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D76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一次20答案要素のうち：LAN 5要素 + 変調 5要素をこのスライドへ接続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636E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10896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信頼度―時間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81381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一定故障率モデルでは R(t)=exp(−λt)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41248" y="5458968"/>
            <a:ext cx="6537960" cy="0"/>
          </a:xfrm>
          <a:prstGeom prst="line">
            <a:avLst/>
          </a:prstGeom>
          <a:noFill/>
          <a:ln w="16510">
            <a:solidFill>
              <a:srgbClr val="59636E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41248" y="5458968"/>
            <a:ext cx="0" cy="-4041648"/>
          </a:xfrm>
          <a:prstGeom prst="line">
            <a:avLst/>
          </a:prstGeom>
          <a:noFill/>
          <a:ln w="16510">
            <a:solidFill>
              <a:srgbClr val="59636E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41248" y="5458968"/>
            <a:ext cx="6537960" cy="0"/>
          </a:xfrm>
          <a:prstGeom prst="line">
            <a:avLst/>
          </a:prstGeom>
          <a:noFill/>
          <a:ln w="8890">
            <a:solidFill>
              <a:srgbClr val="E3E8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53675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0.00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41248" y="4448556"/>
            <a:ext cx="6537960" cy="0"/>
          </a:xfrm>
          <a:prstGeom prst="line">
            <a:avLst/>
          </a:prstGeom>
          <a:noFill/>
          <a:ln w="8890">
            <a:solidFill>
              <a:srgbClr val="E3E8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435711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0.25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41248" y="3438144"/>
            <a:ext cx="6537960" cy="0"/>
          </a:xfrm>
          <a:prstGeom prst="line">
            <a:avLst/>
          </a:prstGeom>
          <a:noFill/>
          <a:ln w="8890">
            <a:solidFill>
              <a:srgbClr val="E3E8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33467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0.50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41248" y="2427732"/>
            <a:ext cx="6537960" cy="0"/>
          </a:xfrm>
          <a:prstGeom prst="line">
            <a:avLst/>
          </a:prstGeom>
          <a:noFill/>
          <a:ln w="8890">
            <a:solidFill>
              <a:srgbClr val="E3E8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33629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0.75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41248" y="1417320"/>
            <a:ext cx="6537960" cy="0"/>
          </a:xfrm>
          <a:prstGeom prst="line">
            <a:avLst/>
          </a:prstGeom>
          <a:noFill/>
          <a:ln w="8890">
            <a:solidFill>
              <a:srgbClr val="E3E8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132588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1.00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41248" y="5458968"/>
            <a:ext cx="0" cy="73152"/>
          </a:xfrm>
          <a:prstGeom prst="line">
            <a:avLst/>
          </a:prstGeom>
          <a:noFill/>
          <a:ln w="12700">
            <a:solidFill>
              <a:srgbClr val="5963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55869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148840" y="5458968"/>
            <a:ext cx="0" cy="73152"/>
          </a:xfrm>
          <a:prstGeom prst="line">
            <a:avLst/>
          </a:prstGeom>
          <a:noFill/>
          <a:ln w="12700">
            <a:solidFill>
              <a:srgbClr val="5963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55869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1000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56432" y="5458968"/>
            <a:ext cx="0" cy="73152"/>
          </a:xfrm>
          <a:prstGeom prst="line">
            <a:avLst/>
          </a:prstGeom>
          <a:noFill/>
          <a:ln w="12700">
            <a:solidFill>
              <a:srgbClr val="5963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82112" y="55869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2000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64024" y="5458968"/>
            <a:ext cx="0" cy="73152"/>
          </a:xfrm>
          <a:prstGeom prst="line">
            <a:avLst/>
          </a:prstGeom>
          <a:noFill/>
          <a:ln w="12700">
            <a:solidFill>
              <a:srgbClr val="5963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9704" y="55869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3000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071616" y="5458968"/>
            <a:ext cx="0" cy="73152"/>
          </a:xfrm>
          <a:prstGeom prst="line">
            <a:avLst/>
          </a:prstGeom>
          <a:noFill/>
          <a:ln w="12700">
            <a:solidFill>
              <a:srgbClr val="5963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97296" y="55869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4000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379208" y="5458968"/>
            <a:ext cx="0" cy="73152"/>
          </a:xfrm>
          <a:prstGeom prst="line">
            <a:avLst/>
          </a:prstGeom>
          <a:noFill/>
          <a:ln w="12700">
            <a:solidFill>
              <a:srgbClr val="5963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04888" y="55869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5000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37560" y="57424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時間 t [h]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64592" y="11795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R(t)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41248" y="1417320"/>
            <a:ext cx="130759" cy="80030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2007" y="1497350"/>
            <a:ext cx="130759" cy="78445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02766" y="1575795"/>
            <a:ext cx="130759" cy="76892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33526" y="1652687"/>
            <a:ext cx="130759" cy="75369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64285" y="1728057"/>
            <a:ext cx="130759" cy="73877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95044" y="1801934"/>
            <a:ext cx="130759" cy="72414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25803" y="1874348"/>
            <a:ext cx="130759" cy="70980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756562" y="1945328"/>
            <a:ext cx="130759" cy="69575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87322" y="2014903"/>
            <a:ext cx="130759" cy="68197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18081" y="2083100"/>
            <a:ext cx="130759" cy="66847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48840" y="2149946"/>
            <a:ext cx="130759" cy="65523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79599" y="2215470"/>
            <a:ext cx="130759" cy="64226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10358" y="2279695"/>
            <a:ext cx="130759" cy="62954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41118" y="2342649"/>
            <a:ext cx="130759" cy="61707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71877" y="2404356"/>
            <a:ext cx="130759" cy="60485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802636" y="2464842"/>
            <a:ext cx="130759" cy="59288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33395" y="2524129"/>
            <a:ext cx="130759" cy="58114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064154" y="2582243"/>
            <a:ext cx="130759" cy="56963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94914" y="2639206"/>
            <a:ext cx="130759" cy="55835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25673" y="2695041"/>
            <a:ext cx="130759" cy="54729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456432" y="2749770"/>
            <a:ext cx="130759" cy="53646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87191" y="2803416"/>
            <a:ext cx="130759" cy="52583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17950" y="2855999"/>
            <a:ext cx="130759" cy="51542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848710" y="2907542"/>
            <a:ext cx="130759" cy="50522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979469" y="2958063"/>
            <a:ext cx="130759" cy="49521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10228" y="3007585"/>
            <a:ext cx="130759" cy="48541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240987" y="3056125"/>
            <a:ext cx="130759" cy="47579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371746" y="3103705"/>
            <a:ext cx="130759" cy="46637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02506" y="3150342"/>
            <a:ext cx="130759" cy="45714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33265" y="3196056"/>
            <a:ext cx="130759" cy="44809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64024" y="3240865"/>
            <a:ext cx="130759" cy="43921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94783" y="3284786"/>
            <a:ext cx="130759" cy="43052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025542" y="3327838"/>
            <a:ext cx="130759" cy="42199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156302" y="3370037"/>
            <a:ext cx="130759" cy="41364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287061" y="3411400"/>
            <a:ext cx="130759" cy="40545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417820" y="3451945"/>
            <a:ext cx="130759" cy="39742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548579" y="3491687"/>
            <a:ext cx="130759" cy="38955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679338" y="3530641"/>
            <a:ext cx="130759" cy="38183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810098" y="3568825"/>
            <a:ext cx="130759" cy="37427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940857" y="3606252"/>
            <a:ext cx="130759" cy="36686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71616" y="3642938"/>
            <a:ext cx="130759" cy="35960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02375" y="3678898"/>
            <a:ext cx="130759" cy="35248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333134" y="3714146"/>
            <a:ext cx="130759" cy="34550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63894" y="3748696"/>
            <a:ext cx="130759" cy="33866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594653" y="3782561"/>
            <a:ext cx="130759" cy="33195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725412" y="3815757"/>
            <a:ext cx="130759" cy="32538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856171" y="3848294"/>
            <a:ext cx="130759" cy="31893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986930" y="3880188"/>
            <a:ext cx="130759" cy="31262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117690" y="3911450"/>
            <a:ext cx="130759" cy="30643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248449" y="3942093"/>
            <a:ext cx="130759" cy="30036"/>
          </a:xfrm>
          <a:prstGeom prst="line">
            <a:avLst/>
          </a:prstGeom>
          <a:noFill/>
          <a:ln w="30480">
            <a:solidFill>
              <a:srgbClr val="147D8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401568" y="2694906"/>
            <a:ext cx="109728" cy="109728"/>
          </a:xfrm>
          <a:prstGeom prst="ellipse">
            <a:avLst/>
          </a:prstGeom>
          <a:solidFill>
            <a:srgbClr val="E88B3A"/>
          </a:solidFill>
          <a:ln w="12700">
            <a:solidFill>
              <a:srgbClr val="E88B3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456432" y="2749770"/>
            <a:ext cx="0" cy="2709198"/>
          </a:xfrm>
          <a:prstGeom prst="line">
            <a:avLst/>
          </a:prstGeom>
          <a:noFill/>
          <a:ln w="12700">
            <a:solidFill>
              <a:srgbClr val="E88B3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566160" y="258517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B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2000 h → 0.670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7818120" y="1463040"/>
            <a:ext cx="3703320" cy="1591056"/>
          </a:xfrm>
          <a:prstGeom prst="roundRect">
            <a:avLst>
              <a:gd name="adj" fmla="val 3448"/>
            </a:avLst>
          </a:prstGeom>
          <a:solidFill>
            <a:srgbClr val="F4F9FA"/>
          </a:solidFill>
          <a:ln w="13970">
            <a:solidFill>
              <a:srgbClr val="C8D3D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982712" y="1572768"/>
            <a:ext cx="3374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計算例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7982712" y="1938528"/>
            <a:ext cx="337413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λ=2.0×10^-4 1/h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λt=0.4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R(2000)=exp(−0.4)=0.6703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7818120" y="3401568"/>
            <a:ext cx="3703320" cy="1874520"/>
          </a:xfrm>
          <a:prstGeom prst="roundRect">
            <a:avLst>
              <a:gd name="adj" fmla="val 2927"/>
            </a:avLst>
          </a:prstGeom>
          <a:solidFill>
            <a:srgbClr val="FFF7F0"/>
          </a:solidFill>
          <a:ln w="13970">
            <a:solidFill>
              <a:srgbClr val="E6B98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982712" y="3511296"/>
            <a:ext cx="3374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B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成立条件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7982712" y="3877056"/>
            <a:ext cx="3374136" cy="1289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故障率一定の指数分布モデル。初期故障期・摩耗故障期まで同じλとみなすとは限らない。教材用仮定値でありCOSMOS実値ではない。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475488" y="6163056"/>
            <a:ext cx="11109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D76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系列SPEC計算・グラフ 1/3：信頼度―時間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636E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10896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単一系と冗長系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81381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理想2並列は「両方故障」の確率を引く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335024"/>
            <a:ext cx="3977640" cy="566928"/>
          </a:xfrm>
          <a:prstGeom prst="roundRect">
            <a:avLst/>
          </a:prstGeom>
          <a:solidFill>
            <a:srgbClr val="EDF3F6"/>
          </a:solidFill>
          <a:ln w="12700">
            <a:solidFill>
              <a:srgbClr val="B9CB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399032"/>
            <a:ext cx="3758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R_parallel = 1 − (1 − R)^2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17627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例：1台の信頼度 R=0.80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87552" y="2871216"/>
            <a:ext cx="1051560" cy="2340864"/>
          </a:xfrm>
          <a:prstGeom prst="rect">
            <a:avLst/>
          </a:prstGeom>
          <a:solidFill>
            <a:srgbClr val="316D8B"/>
          </a:solidFill>
          <a:ln w="12700">
            <a:solidFill>
              <a:srgbClr val="316D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53512" y="2403043"/>
            <a:ext cx="1051560" cy="2809037"/>
          </a:xfrm>
          <a:prstGeom prst="rect">
            <a:avLst/>
          </a:prstGeom>
          <a:solidFill>
            <a:srgbClr val="147D83"/>
          </a:solidFill>
          <a:ln w="12700">
            <a:solidFill>
              <a:srgbClr val="147D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4871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6D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0.80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53512" y="2018995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7D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0.96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87552" y="53218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単一系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16352" y="53218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理想2並列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32120" y="1325880"/>
            <a:ext cx="5669280" cy="1481328"/>
          </a:xfrm>
          <a:prstGeom prst="roundRect">
            <a:avLst>
              <a:gd name="adj" fmla="val 3704"/>
            </a:avLst>
          </a:prstGeom>
          <a:solidFill>
            <a:srgbClr val="F4F9FA"/>
          </a:solidFill>
          <a:ln w="13970">
            <a:solidFill>
              <a:srgbClr val="C8D3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96712" y="1435608"/>
            <a:ext cx="534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考え方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96712" y="1801368"/>
            <a:ext cx="534009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1台の故障確率は 0.20。2台とも故障する確率は 0.20²=0.04。よって少なくとも1台正常の確率は 1−0.04=0.96。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532120" y="3172968"/>
            <a:ext cx="5669280" cy="1874520"/>
          </a:xfrm>
          <a:prstGeom prst="roundRect">
            <a:avLst>
              <a:gd name="adj" fmla="val 2927"/>
            </a:avLst>
          </a:prstGeom>
          <a:solidFill>
            <a:srgbClr val="FFF7F0"/>
          </a:solidFill>
          <a:ln w="13970">
            <a:solidFill>
              <a:srgbClr val="E6B9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96712" y="3282696"/>
            <a:ext cx="5340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B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実設備へ使う前に確認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96712" y="3648456"/>
            <a:ext cx="5340096" cy="1289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独立故障 / 完全切替 / 負荷分担による故障率変化なし、を仮定。共通電源・共通ソフトウェア・共通環境などの共通原因故障があると改善量は小さくなる。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532120" y="5330952"/>
            <a:ext cx="5669280" cy="640080"/>
          </a:xfrm>
          <a:prstGeom prst="roundRect">
            <a:avLst/>
          </a:prstGeom>
          <a:solidFill>
            <a:srgbClr val="EEF5F7"/>
          </a:solidFill>
          <a:ln w="12700">
            <a:solidFill>
              <a:srgbClr val="E6D6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41848" y="5422392"/>
            <a:ext cx="5449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直列系：R_series = ΠR_i。必要要素が増えるほど、各要素の信頼度が1未満なら系信頼度は低下する。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475488" y="6163056"/>
            <a:ext cx="11109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D76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系列SPEC計算・グラフ 2/3：単一系・冗長系比較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636E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10896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可用性：修理を含め「必要時に使えるか」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81381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信頼度と可用性を同じ式で扱わない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07592"/>
            <a:ext cx="4069080" cy="566928"/>
          </a:xfrm>
          <a:prstGeom prst="roundRect">
            <a:avLst/>
          </a:prstGeom>
          <a:solidFill>
            <a:srgbClr val="EDF3F6"/>
          </a:solidFill>
          <a:ln w="12700">
            <a:solidFill>
              <a:srgbClr val="B9CB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371600"/>
            <a:ext cx="3849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MTBF / (MTBF + MTTR)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4069080" cy="1572768"/>
          </a:xfrm>
          <a:prstGeom prst="roundRect">
            <a:avLst>
              <a:gd name="adj" fmla="val 3488"/>
            </a:avLst>
          </a:prstGeom>
          <a:solidFill>
            <a:srgbClr val="F4F9FA"/>
          </a:solidFill>
          <a:ln w="13970">
            <a:solidFill>
              <a:srgbClr val="C8D3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258568"/>
            <a:ext cx="3739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単一系の例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0392" y="2624328"/>
            <a:ext cx="3739896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MTBF=2000 h, MTTR=4 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A=2000/2004=0.998004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= 99.8004 %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4078224"/>
            <a:ext cx="4069080" cy="1371600"/>
          </a:xfrm>
          <a:prstGeom prst="roundRect">
            <a:avLst>
              <a:gd name="adj" fmla="val 4000"/>
            </a:avLst>
          </a:prstGeom>
          <a:solidFill>
            <a:srgbClr val="F8F7F2"/>
          </a:solidFill>
          <a:ln w="13970">
            <a:solidFill>
              <a:srgbClr val="C8D3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4187952"/>
            <a:ext cx="3739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理想2並列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0392" y="4553712"/>
            <a:ext cx="3739896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A_parallel=1−(1−A)^2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= 99.9996 %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14173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可用性の比較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715000" y="22128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単一系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84848" y="2176272"/>
            <a:ext cx="5166360" cy="347472"/>
          </a:xfrm>
          <a:prstGeom prst="rect">
            <a:avLst/>
          </a:prstGeom>
          <a:solidFill>
            <a:srgbClr val="DFE8ED"/>
          </a:solidFill>
          <a:ln w="12700">
            <a:solidFill>
              <a:srgbClr val="DFE8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84848" y="2176272"/>
            <a:ext cx="5156048" cy="347472"/>
          </a:xfrm>
          <a:prstGeom prst="rect">
            <a:avLst/>
          </a:prstGeom>
          <a:solidFill>
            <a:srgbClr val="316D8B"/>
          </a:solidFill>
          <a:ln w="12700">
            <a:solidFill>
              <a:srgbClr val="316D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25712" y="1993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16D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99.8004 %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15000" y="31546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理想2並列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84848" y="3118104"/>
            <a:ext cx="5166360" cy="347472"/>
          </a:xfrm>
          <a:prstGeom prst="rect">
            <a:avLst/>
          </a:prstGeom>
          <a:solidFill>
            <a:srgbClr val="DFE8ED"/>
          </a:solidFill>
          <a:ln w="12700">
            <a:solidFill>
              <a:srgbClr val="DFE8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84848" y="3118104"/>
            <a:ext cx="5166339" cy="347472"/>
          </a:xfrm>
          <a:prstGeom prst="rect">
            <a:avLst/>
          </a:prstGeom>
          <a:solidFill>
            <a:srgbClr val="147D83"/>
          </a:solidFill>
          <a:ln w="12700">
            <a:solidFill>
              <a:srgbClr val="147D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25712" y="2935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7D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99.9996 %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87568" y="4041648"/>
            <a:ext cx="5559552" cy="1463040"/>
          </a:xfrm>
          <a:prstGeom prst="roundRect">
            <a:avLst>
              <a:gd name="adj" fmla="val 3750"/>
            </a:avLst>
          </a:prstGeom>
          <a:solidFill>
            <a:srgbClr val="FFF7F0"/>
          </a:solidFill>
          <a:ln w="13970">
            <a:solidFill>
              <a:srgbClr val="E6B9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4151376"/>
            <a:ext cx="5230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B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区別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52160" y="4517136"/>
            <a:ext cx="5230368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信頼度：一定時間、連続して故障しない確率。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可用性：修復を含め、必要な時に使用可能である度合い。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75488" y="6163056"/>
            <a:ext cx="11109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D76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系列SPEC計算・グラフ 3/3：可用性比較。数値は教材用仮定でありCOSMOS実設備値ではない。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636E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10896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遠隔計測・遠隔制御と保護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81381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二次試験では「理由まで書ける」状態を作る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3337560" cy="1847088"/>
          </a:xfrm>
          <a:prstGeom prst="roundRect">
            <a:avLst>
              <a:gd name="adj" fmla="val 2970"/>
            </a:avLst>
          </a:prstGeom>
          <a:solidFill>
            <a:srgbClr val="F4F9FA"/>
          </a:solidFill>
          <a:ln w="13970">
            <a:solidFill>
              <a:srgbClr val="C8D3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408176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遠隔計測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7512" y="1773936"/>
            <a:ext cx="3008376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現場量 → センサ/CT/VT → A/D → 通信 → 監視側。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誤差・異常・通信品質も評価対象。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33088" y="1298448"/>
            <a:ext cx="3337560" cy="1847088"/>
          </a:xfrm>
          <a:prstGeom prst="roundRect">
            <a:avLst>
              <a:gd name="adj" fmla="val 2970"/>
            </a:avLst>
          </a:prstGeom>
          <a:solidFill>
            <a:srgbClr val="F8F7F2"/>
          </a:solidFill>
          <a:ln w="13970">
            <a:solidFill>
              <a:srgbClr val="C8D3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408176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遠隔制御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97680" y="1773936"/>
            <a:ext cx="3008376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対象状態・保護条件・通信異常時の扱いを確認し、安全側動作を含めて指令妥当性を判断。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63256" y="1298448"/>
            <a:ext cx="3913632" cy="1847088"/>
          </a:xfrm>
          <a:prstGeom prst="roundRect">
            <a:avLst>
              <a:gd name="adj" fmla="val 2970"/>
            </a:avLst>
          </a:prstGeom>
          <a:solidFill>
            <a:srgbClr val="F4F9FA"/>
          </a:solidFill>
          <a:ln w="13970">
            <a:solidFill>
              <a:srgbClr val="C8D3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27848" y="1408176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保護リレーの信頼性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27848" y="1773936"/>
            <a:ext cx="3584448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正動作：区間内事故で確実に動作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正不動作：区間外事故・正常時に不要動作しない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改善：点検 / 自動監視 / 低故障率 / 必要箇所の冗長化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49808" y="3840480"/>
            <a:ext cx="10287000" cy="0"/>
          </a:xfrm>
          <a:prstGeom prst="line">
            <a:avLst/>
          </a:prstGeom>
          <a:noFill/>
          <a:ln w="16510">
            <a:solidFill>
              <a:srgbClr val="C8D3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05079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R2 二次「電力・管理」問2 への5答案要素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13232" y="4599432"/>
            <a:ext cx="201168" cy="201168"/>
          </a:xfrm>
          <a:prstGeom prst="ellipse">
            <a:avLst/>
          </a:prstGeom>
          <a:solidFill>
            <a:srgbClr val="147D83"/>
          </a:solidFill>
          <a:ln w="12700">
            <a:solidFill>
              <a:srgbClr val="147D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4572000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 計器用変成器：絶縁・変成、CT / VT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13232" y="5056632"/>
            <a:ext cx="201168" cy="201168"/>
          </a:xfrm>
          <a:prstGeom prst="ellipse">
            <a:avLst/>
          </a:prstGeom>
          <a:solidFill>
            <a:srgbClr val="147D83"/>
          </a:solidFill>
          <a:ln w="12700">
            <a:solidFill>
              <a:srgbClr val="147D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5029200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 比誤差：定義式・符号・百分率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13232" y="5513832"/>
            <a:ext cx="201168" cy="201168"/>
          </a:xfrm>
          <a:prstGeom prst="ellipse">
            <a:avLst/>
          </a:prstGeom>
          <a:solidFill>
            <a:srgbClr val="147D83"/>
          </a:solidFill>
          <a:ln w="12700">
            <a:solidFill>
              <a:srgbClr val="147D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5486400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③ 正動作 / 正不動作 + 信頼性向上策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419088" y="4599432"/>
            <a:ext cx="201168" cy="201168"/>
          </a:xfrm>
          <a:prstGeom prst="ellipse">
            <a:avLst/>
          </a:prstGeom>
          <a:solidFill>
            <a:srgbClr val="E88B3A"/>
          </a:solidFill>
          <a:ln w="12700">
            <a:solidFill>
              <a:srgbClr val="E88B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9984" y="457200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④ 77/66 kV級：5又は3サイクル、トリップコイル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419088" y="5056632"/>
            <a:ext cx="201168" cy="201168"/>
          </a:xfrm>
          <a:prstGeom prst="ellipse">
            <a:avLst/>
          </a:prstGeom>
          <a:solidFill>
            <a:srgbClr val="E88B3A"/>
          </a:solidFill>
          <a:ln w="12700">
            <a:solidFill>
              <a:srgbClr val="E88B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9984" y="502920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⑤ トリップフリー：投入より引外しを優先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419088" y="5532120"/>
            <a:ext cx="4709160" cy="576072"/>
          </a:xfrm>
          <a:prstGeom prst="roundRect">
            <a:avLst/>
          </a:prstGeom>
          <a:solidFill>
            <a:srgbClr val="FFF4D6"/>
          </a:solidFill>
          <a:ln w="12700">
            <a:solidFill>
              <a:srgbClr val="E6D6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28816" y="5623560"/>
            <a:ext cx="44897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トリップフリー：投入指令が残っていても、事故除去の引外し指令を優先して開放状態へ導く。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475488" y="6163056"/>
            <a:ext cx="11109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D76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二次問題の件数合わせ 0件。主題に直接対応するR2二次「電力・管理」問2のみ採用。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636E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10896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過去問対応ゲート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81381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PowerPointでも固定25答案要素・SPEC固定項目を落とさない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2331720" cy="411480"/>
          </a:xfrm>
          <a:prstGeom prst="rect">
            <a:avLst/>
          </a:prstGeom>
          <a:solidFill>
            <a:srgbClr val="184A63"/>
          </a:solidFill>
          <a:ln w="12700">
            <a:solidFill>
              <a:srgbClr val="184A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362456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固定公式過去問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71800" y="1261872"/>
            <a:ext cx="594360" cy="411480"/>
          </a:xfrm>
          <a:prstGeom prst="rect">
            <a:avLst/>
          </a:prstGeom>
          <a:solidFill>
            <a:srgbClr val="184A63"/>
          </a:solidFill>
          <a:ln w="12700">
            <a:solidFill>
              <a:srgbClr val="184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44952" y="1362456"/>
            <a:ext cx="448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答案要素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03320" y="1261872"/>
            <a:ext cx="5760720" cy="411480"/>
          </a:xfrm>
          <a:prstGeom prst="rect">
            <a:avLst/>
          </a:prstGeom>
          <a:solidFill>
            <a:srgbClr val="184A63"/>
          </a:solidFill>
          <a:ln w="12700">
            <a:solidFill>
              <a:srgbClr val="184A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76472" y="1362456"/>
            <a:ext cx="5614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PowerPoint接続内容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646920" y="1261872"/>
            <a:ext cx="1554480" cy="411480"/>
          </a:xfrm>
          <a:prstGeom prst="rect">
            <a:avLst/>
          </a:prstGeom>
          <a:solidFill>
            <a:srgbClr val="184A63"/>
          </a:solidFill>
          <a:ln w="12700">
            <a:solidFill>
              <a:srgbClr val="184A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20072" y="1362456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位置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1673352"/>
            <a:ext cx="233172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C8D3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1783080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R4 一次「機械」問3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2971800" y="1673352"/>
            <a:ext cx="59436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C8D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44952" y="1783080"/>
            <a:ext cx="448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3703320" y="1673352"/>
            <a:ext cx="576072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C8D3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76472" y="1783080"/>
            <a:ext cx="5614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CT/VT・負担・励磁・比誤差・CT二次開放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9646920" y="1673352"/>
            <a:ext cx="155448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C8D3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20072" y="1783080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Slide 3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502920" y="2249424"/>
            <a:ext cx="2331720" cy="576072"/>
          </a:xfrm>
          <a:prstGeom prst="rect">
            <a:avLst/>
          </a:prstGeom>
          <a:solidFill>
            <a:srgbClr val="F2F5F7"/>
          </a:solidFill>
          <a:ln w="8890">
            <a:solidFill>
              <a:srgbClr val="C8D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359152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R3 一次「機械」問8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2971800" y="2249424"/>
            <a:ext cx="594360" cy="576072"/>
          </a:xfrm>
          <a:prstGeom prst="rect">
            <a:avLst/>
          </a:prstGeom>
          <a:solidFill>
            <a:srgbClr val="F2F5F7"/>
          </a:solidFill>
          <a:ln w="8890">
            <a:solidFill>
              <a:srgbClr val="C8D3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44952" y="2359152"/>
            <a:ext cx="448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3703320" y="2249424"/>
            <a:ext cx="5760720" cy="576072"/>
          </a:xfrm>
          <a:prstGeom prst="rect">
            <a:avLst/>
          </a:prstGeom>
          <a:solidFill>
            <a:srgbClr val="F2F5F7"/>
          </a:solidFill>
          <a:ln w="8890">
            <a:solidFill>
              <a:srgbClr val="C8D3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76472" y="2359152"/>
            <a:ext cx="5614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A/D・2進数・量子化・MSB・S/H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9646920" y="2249424"/>
            <a:ext cx="1554480" cy="576072"/>
          </a:xfrm>
          <a:prstGeom prst="rect">
            <a:avLst/>
          </a:prstGeom>
          <a:solidFill>
            <a:srgbClr val="F2F5F7"/>
          </a:solidFill>
          <a:ln w="8890">
            <a:solidFill>
              <a:srgbClr val="C8D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20072" y="2359152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Slide 4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502920" y="2825496"/>
            <a:ext cx="233172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C8D3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2935224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H30 一次「機械」問8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2971800" y="2825496"/>
            <a:ext cx="59436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C8D3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44952" y="2935224"/>
            <a:ext cx="448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3703320" y="2825496"/>
            <a:ext cx="576072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C8D3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76472" y="2935224"/>
            <a:ext cx="5614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LAN・リピータ・ブリッジ・MAC・Wi-Fi・DHCP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9646920" y="2825496"/>
            <a:ext cx="155448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C8D3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20072" y="2935224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Slide 5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502920" y="3401568"/>
            <a:ext cx="2331720" cy="576072"/>
          </a:xfrm>
          <a:prstGeom prst="rect">
            <a:avLst/>
          </a:prstGeom>
          <a:solidFill>
            <a:srgbClr val="F2F5F7"/>
          </a:solidFill>
          <a:ln w="8890">
            <a:solidFill>
              <a:srgbClr val="C8D3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3511296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H25 一次「機械」問8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2971800" y="3401568"/>
            <a:ext cx="594360" cy="576072"/>
          </a:xfrm>
          <a:prstGeom prst="rect">
            <a:avLst/>
          </a:prstGeom>
          <a:solidFill>
            <a:srgbClr val="F2F5F7"/>
          </a:solidFill>
          <a:ln w="8890">
            <a:solidFill>
              <a:srgbClr val="C8D3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44952" y="3511296"/>
            <a:ext cx="448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3703320" y="3401568"/>
            <a:ext cx="5760720" cy="576072"/>
          </a:xfrm>
          <a:prstGeom prst="rect">
            <a:avLst/>
          </a:prstGeom>
          <a:solidFill>
            <a:srgbClr val="F2F5F7"/>
          </a:solidFill>
          <a:ln w="8890">
            <a:solidFill>
              <a:srgbClr val="C8D3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76472" y="3511296"/>
            <a:ext cx="5614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搬送波・復調・AM・QAM・ASK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9646920" y="3401568"/>
            <a:ext cx="1554480" cy="576072"/>
          </a:xfrm>
          <a:prstGeom prst="rect">
            <a:avLst/>
          </a:prstGeom>
          <a:solidFill>
            <a:srgbClr val="F2F5F7"/>
          </a:solidFill>
          <a:ln w="8890">
            <a:solidFill>
              <a:srgbClr val="C8D3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20072" y="3511296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Slide 5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502920" y="3977640"/>
            <a:ext cx="233172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C8D3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" y="4087368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R2 二次「電力・管理」問2</a:t>
            </a:r>
            <a:endParaRPr lang="en-US" sz="960" dirty="0"/>
          </a:p>
        </p:txBody>
      </p:sp>
      <p:sp>
        <p:nvSpPr>
          <p:cNvPr id="46" name="Shape 44"/>
          <p:cNvSpPr/>
          <p:nvPr/>
        </p:nvSpPr>
        <p:spPr>
          <a:xfrm>
            <a:off x="2971800" y="3977640"/>
            <a:ext cx="59436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C8D3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44952" y="4087368"/>
            <a:ext cx="448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960" dirty="0"/>
          </a:p>
        </p:txBody>
      </p:sp>
      <p:sp>
        <p:nvSpPr>
          <p:cNvPr id="48" name="Shape 46"/>
          <p:cNvSpPr/>
          <p:nvPr/>
        </p:nvSpPr>
        <p:spPr>
          <a:xfrm>
            <a:off x="3703320" y="3977640"/>
            <a:ext cx="576072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C8D3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76472" y="4087368"/>
            <a:ext cx="5614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計器用変成器・比誤差・保護信頼性・遮断器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9646920" y="3977640"/>
            <a:ext cx="1554480" cy="576072"/>
          </a:xfrm>
          <a:prstGeom prst="rect">
            <a:avLst/>
          </a:prstGeom>
          <a:solidFill>
            <a:srgbClr val="FFFFFF"/>
          </a:solidFill>
          <a:ln w="8890">
            <a:solidFill>
              <a:srgbClr val="C8D3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720072" y="4087368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3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Slide 3 / 9</a:t>
            </a:r>
            <a:endParaRPr lang="en-US" sz="960" dirty="0"/>
          </a:p>
        </p:txBody>
      </p:sp>
      <p:sp>
        <p:nvSpPr>
          <p:cNvPr id="52" name="Shape 50"/>
          <p:cNvSpPr/>
          <p:nvPr/>
        </p:nvSpPr>
        <p:spPr>
          <a:xfrm>
            <a:off x="685800" y="4855464"/>
            <a:ext cx="1627632" cy="292608"/>
          </a:xfrm>
          <a:prstGeom prst="roundRect">
            <a:avLst/>
          </a:prstGeom>
          <a:solidFill>
            <a:srgbClr val="147D83"/>
          </a:solidFill>
          <a:ln w="12700">
            <a:solidFill>
              <a:srgbClr val="147D8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0664" y="4905756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一次 20 / 20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487168" y="4855464"/>
            <a:ext cx="1463040" cy="292608"/>
          </a:xfrm>
          <a:prstGeom prst="roundRect">
            <a:avLst/>
          </a:prstGeom>
          <a:solidFill>
            <a:srgbClr val="E88B3A"/>
          </a:solidFill>
          <a:ln w="12700">
            <a:solidFill>
              <a:srgbClr val="E88B3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490575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二次 5 / 5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142232" y="4855464"/>
            <a:ext cx="1645920" cy="292608"/>
          </a:xfrm>
          <a:prstGeom prst="roundRect">
            <a:avLst/>
          </a:prstGeom>
          <a:solidFill>
            <a:srgbClr val="184A63"/>
          </a:solidFill>
          <a:ln w="12700">
            <a:solidFill>
              <a:srgbClr val="184A6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97096" y="4905756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合計 25 / 25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998464" y="4855464"/>
            <a:ext cx="1645920" cy="292608"/>
          </a:xfrm>
          <a:prstGeom prst="roundRect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53328" y="4905756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SPEC 13 / 13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863840" y="4855464"/>
            <a:ext cx="1645920" cy="292608"/>
          </a:xfrm>
          <a:prstGeom prst="roundRect">
            <a:avLst/>
          </a:prstGeom>
          <a:solidFill>
            <a:srgbClr val="316D8B"/>
          </a:solidFill>
          <a:ln w="12700">
            <a:solidFill>
              <a:srgbClr val="316D8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918704" y="4905756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グラフ 3 / 3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9729216" y="4855464"/>
            <a:ext cx="1645920" cy="292608"/>
          </a:xfrm>
          <a:prstGeom prst="roundRect">
            <a:avLst/>
          </a:prstGeom>
          <a:solidFill>
            <a:srgbClr val="B44A4A"/>
          </a:solidFill>
          <a:ln w="12700">
            <a:solidFill>
              <a:srgbClr val="B44A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784080" y="4905756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推測実値 0件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66928" y="5422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4A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主な正本・出典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2359152" y="5330952"/>
            <a:ext cx="8823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・一般財団法人 電気技術者試験センター「第二種電気主任技術者試験 過去問題」 https://www.shiken.or.jp/chief/second/qa/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・denken-shinkansen/MASTER_SPEC.md / EXAM_ALIGNMENT_SPEC.md / 05_shinkansen_vehicle_2/SPEC.md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5963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・Topic 39 EXAM_ALIGNMENT / explanation source / practice source（GitHub正本、2026-09-21）</a:t>
            </a:r>
            <a:endParaRPr lang="en-US" sz="860" dirty="0"/>
          </a:p>
        </p:txBody>
      </p:sp>
      <p:sp>
        <p:nvSpPr>
          <p:cNvPr id="66" name="Text 64"/>
          <p:cNvSpPr/>
          <p:nvPr/>
        </p:nvSpPr>
        <p:spPr>
          <a:xfrm>
            <a:off x="475488" y="6163056"/>
            <a:ext cx="11109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D76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このPowerPointは試験論点の理解支援資料。独立clean blind最終ゲートは別fresh workerで実施する。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9636E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cureflash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39 COSMOS 統合監視・SCADA・信頼性</dc:title>
  <dc:subject>電験×新幹線 Topic 39 COSMOS 統合監視・SCADA・信頼性</dc:subject>
  <dc:creator>cureflash / OpenAI</dc:creator>
  <cp:lastModifiedBy>cureflash / OpenAI</cp:lastModifiedBy>
  <cp:revision>1</cp:revision>
  <dcterms:created xsi:type="dcterms:W3CDTF">2026-09-21T10:54:36Z</dcterms:created>
  <dcterms:modified xsi:type="dcterms:W3CDTF">2026-09-21T10:54:36Z</dcterms:modified>
</cp:coreProperties>
</file>