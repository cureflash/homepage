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91C"/>
                </a:solidFill>
                <a:latin typeface="Noto Sans CJK JP"/>
              </a:rPr>
              <a:t>E2系 50 Hz・60 Hzと磁束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A5A62"/>
                </a:solidFill>
                <a:latin typeface="Noto Sans CJK JP"/>
              </a:rPr>
              <a:t>電験二種：変圧器の磁束条件と誘導機の周波数を混同しない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0574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36192"/>
            <a:ext cx="187451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365C9B"/>
                </a:solidFill>
                <a:latin typeface="Noto Sans CJK JP"/>
              </a:rPr>
              <a:t>交流入力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874519"/>
            <a:ext cx="183794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19191C"/>
                </a:solidFill>
                <a:latin typeface="Noto Sans CJK JP"/>
              </a:rPr>
              <a:t>f_src = 50 / 60 Hz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029968"/>
            <a:ext cx="182880" cy="0"/>
          </a:xfrm>
          <a:prstGeom prst="line">
            <a:avLst/>
          </a:prstGeom>
          <a:ln w="2540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43200" y="1417320"/>
            <a:ext cx="20574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536192"/>
            <a:ext cx="187451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365C9B"/>
                </a:solidFill>
                <a:latin typeface="Noto Sans CJK JP"/>
              </a:rPr>
              <a:t>変圧器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874519"/>
            <a:ext cx="183794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19191C"/>
                </a:solidFill>
                <a:latin typeface="Noto Sans CJK JP"/>
              </a:rPr>
              <a:t>E = 4.44 f N Φm</a:t>
            </a:r>
            <a:br/>
            <a:r>
              <a:rPr sz="1300" b="0">
                <a:solidFill>
                  <a:srgbClr val="19191C"/>
                </a:solidFill>
                <a:latin typeface="Noto Sans CJK JP"/>
              </a:rPr>
              <a:t>Bm = Φm / 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00600" y="2029968"/>
            <a:ext cx="182880" cy="0"/>
          </a:xfrm>
          <a:prstGeom prst="line">
            <a:avLst/>
          </a:prstGeom>
          <a:ln w="2540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83480" y="1417320"/>
            <a:ext cx="20574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1536192"/>
            <a:ext cx="187451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365C9B"/>
                </a:solidFill>
                <a:latin typeface="Noto Sans CJK JP"/>
              </a:rPr>
              <a:t>主変換装置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8" y="1874519"/>
            <a:ext cx="183794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19191C"/>
                </a:solidFill>
                <a:latin typeface="Noto Sans CJK JP"/>
              </a:rPr>
              <a:t>電源側と電動機側を分離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40880" y="2029968"/>
            <a:ext cx="182880" cy="0"/>
          </a:xfrm>
          <a:prstGeom prst="line">
            <a:avLst/>
          </a:prstGeom>
          <a:ln w="2540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23760" y="1417320"/>
            <a:ext cx="20574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1536192"/>
            <a:ext cx="187451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365C9B"/>
                </a:solidFill>
                <a:latin typeface="Noto Sans CJK JP"/>
              </a:rPr>
              <a:t>インバータ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874519"/>
            <a:ext cx="183794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19191C"/>
                </a:solidFill>
                <a:latin typeface="Noto Sans CJK JP"/>
              </a:rPr>
              <a:t>f_inv 可変</a:t>
            </a:r>
            <a:br/>
            <a:r>
              <a:rPr sz="1300" b="0">
                <a:solidFill>
                  <a:srgbClr val="19191C"/>
                </a:solidFill>
                <a:latin typeface="Noto Sans CJK JP"/>
              </a:rPr>
              <a:t>V/f = 一定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81160" y="2029968"/>
            <a:ext cx="182880" cy="0"/>
          </a:xfrm>
          <a:prstGeom prst="line">
            <a:avLst/>
          </a:prstGeom>
          <a:ln w="2540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464040" y="1417320"/>
            <a:ext cx="20574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5480" y="1536192"/>
            <a:ext cx="187451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365C9B"/>
                </a:solidFill>
                <a:latin typeface="Noto Sans CJK JP"/>
              </a:rPr>
              <a:t>誘導電動機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73767" y="1874519"/>
            <a:ext cx="1837943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19191C"/>
                </a:solidFill>
                <a:latin typeface="Noto Sans CJK JP"/>
              </a:rPr>
              <a:t>Ns = 120 f_inv / P</a:t>
            </a:r>
            <a:br/>
            <a:r>
              <a:rPr sz="1300" b="0">
                <a:solidFill>
                  <a:srgbClr val="19191C"/>
                </a:solidFill>
                <a:latin typeface="Noto Sans CJK JP"/>
              </a:rPr>
              <a:t>f2 = s f_inv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063240"/>
            <a:ext cx="5394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26517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9191C"/>
                </a:solidFill>
                <a:latin typeface="Noto Sans CJK JP"/>
              </a:rPr>
              <a:t>変圧器側：磁束条件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675887"/>
            <a:ext cx="4800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9191C"/>
                </a:solidFill>
                <a:latin typeface="Noto Sans CJK JP"/>
              </a:rPr>
              <a:t>Φm = E/(4.44 f N)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同一 E・N なら Φm ∝ 1/f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同一鉄心なら Bm も同じ比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定格は「電圧・周波数・巻数・許容磁束」の組で判断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063240"/>
            <a:ext cx="53492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246120"/>
            <a:ext cx="26517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9191C"/>
                </a:solidFill>
                <a:latin typeface="Noto Sans CJK JP"/>
              </a:rPr>
              <a:t>誘導機側：速度条件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675887"/>
            <a:ext cx="47548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9191C"/>
                </a:solidFill>
                <a:latin typeface="Noto Sans CJK JP"/>
              </a:rPr>
              <a:t>同期速度には f_src ではなく f_inv を使う。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Ns = 120 f_inv / P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s = (Ns−N)/Ns,  f2 = s f_inv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固定子から見た二つの回転磁界の相対速度は 0。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89320"/>
            <a:ext cx="11064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5A5A62"/>
                </a:solidFill>
                <a:latin typeface="Noto Sans CJK JP"/>
              </a:rPr>
              <a:t>固定EXAM_ALIGNMENT：一次3問＋二次2問 / 15答案要素　｜　未確認E2系実車値は使わない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91C"/>
                </a:solidFill>
                <a:latin typeface="Noto Sans CJK JP"/>
              </a:rPr>
              <a:t>周波数―磁束密度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A5A62"/>
                </a:solidFill>
                <a:latin typeface="Noto Sans CJK JP"/>
              </a:rPr>
              <a:t>同一電圧・同一巻数・同一鉄心：60 Hz時 Bm = 1.00 p.u. の一般モデル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5669279"/>
            <a:ext cx="6446520" cy="0"/>
          </a:xfrm>
          <a:prstGeom prst="line">
            <a:avLst/>
          </a:prstGeom>
          <a:ln w="15240">
            <a:solidFill>
              <a:srgbClr val="1919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22960" y="1508760"/>
            <a:ext cx="0" cy="4160519"/>
          </a:xfrm>
          <a:prstGeom prst="line">
            <a:avLst/>
          </a:prstGeom>
          <a:ln w="15240">
            <a:solidFill>
              <a:srgbClr val="1919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583179" y="5897879"/>
            <a:ext cx="29260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5A62"/>
                </a:solidFill>
                <a:latin typeface="Noto Sans CJK JP"/>
              </a:rPr>
              <a:t>周波数 f [Hz]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43000"/>
            <a:ext cx="2011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A5A62"/>
                </a:solidFill>
                <a:latin typeface="Noto Sans CJK JP"/>
              </a:rPr>
              <a:t>Bm [p.u.]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786128"/>
            <a:ext cx="429768" cy="396240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52728" y="2182368"/>
            <a:ext cx="429767" cy="360218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682495" y="2542586"/>
            <a:ext cx="429769" cy="328895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12264" y="2871481"/>
            <a:ext cx="429768" cy="301487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2032" y="3172968"/>
            <a:ext cx="429768" cy="277368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71800" y="3450336"/>
            <a:ext cx="429768" cy="256032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401568" y="3706368"/>
            <a:ext cx="429768" cy="237066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831336" y="3943434"/>
            <a:ext cx="429768" cy="220134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261104" y="4163568"/>
            <a:ext cx="429768" cy="204951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90872" y="4368519"/>
            <a:ext cx="429768" cy="191289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20640" y="4559808"/>
            <a:ext cx="429768" cy="178947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50408" y="4738755"/>
            <a:ext cx="429768" cy="167763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80176" y="4906518"/>
            <a:ext cx="429768" cy="157595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409944" y="5064113"/>
            <a:ext cx="429768" cy="148325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39712" y="5212438"/>
            <a:ext cx="429768" cy="139850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898648" y="3377184"/>
            <a:ext cx="146304" cy="146304"/>
          </a:xfrm>
          <a:prstGeom prst="ellipse">
            <a:avLst/>
          </a:prstGeom>
          <a:solidFill>
            <a:srgbClr val="9B5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2971800" y="3450336"/>
            <a:ext cx="0" cy="2218943"/>
          </a:xfrm>
          <a:prstGeom prst="line">
            <a:avLst/>
          </a:prstGeom>
          <a:ln w="12700">
            <a:solidFill>
              <a:srgbClr val="DCDCE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468880" y="2855976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9B5A36"/>
                </a:solidFill>
                <a:latin typeface="Noto Sans CJK JP"/>
              </a:rPr>
              <a:t>50 Hz</a:t>
            </a:r>
            <a:br/>
            <a:r>
              <a:rPr sz="1300" b="1">
                <a:solidFill>
                  <a:srgbClr val="9B5A36"/>
                </a:solidFill>
                <a:latin typeface="Noto Sans CJK JP"/>
              </a:rPr>
              <a:t>1.20 p.u.</a:t>
            </a:r>
          </a:p>
        </p:txBody>
      </p:sp>
      <p:sp>
        <p:nvSpPr>
          <p:cNvPr id="26" name="Oval 25"/>
          <p:cNvSpPr/>
          <p:nvPr/>
        </p:nvSpPr>
        <p:spPr>
          <a:xfrm>
            <a:off x="5047488" y="4486656"/>
            <a:ext cx="146304" cy="146304"/>
          </a:xfrm>
          <a:prstGeom prst="ellipse">
            <a:avLst/>
          </a:prstGeom>
          <a:solidFill>
            <a:srgbClr val="9B5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120640" y="4559808"/>
            <a:ext cx="0" cy="1109471"/>
          </a:xfrm>
          <a:prstGeom prst="line">
            <a:avLst/>
          </a:prstGeom>
          <a:ln w="12700">
            <a:solidFill>
              <a:srgbClr val="DCDCE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17720" y="3965447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9B5A36"/>
                </a:solidFill>
                <a:latin typeface="Noto Sans CJK JP"/>
              </a:rPr>
              <a:t>60 Hz</a:t>
            </a:r>
            <a:br/>
            <a:r>
              <a:rPr sz="1300" b="1">
                <a:solidFill>
                  <a:srgbClr val="9B5A36"/>
                </a:solidFill>
                <a:latin typeface="Noto Sans CJK JP"/>
              </a:rPr>
              <a:t>1.00 p.u.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687567"/>
            <a:ext cx="457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5A5A62"/>
                </a:solidFill>
                <a:latin typeface="Noto Sans CJK JP"/>
              </a:rPr>
              <a:t>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5687567"/>
            <a:ext cx="457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5A5A62"/>
                </a:solidFill>
                <a:latin typeface="Noto Sans CJK JP"/>
              </a:rPr>
              <a:t>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5687567"/>
            <a:ext cx="457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5A5A62"/>
                </a:solidFill>
                <a:latin typeface="Noto Sans CJK JP"/>
              </a:rPr>
              <a:t>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5687567"/>
            <a:ext cx="457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5A5A62"/>
                </a:solidFill>
                <a:latin typeface="Noto Sans CJK JP"/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5541264"/>
            <a:ext cx="411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5A62"/>
                </a:solidFill>
                <a:latin typeface="Noto Sans CJK JP"/>
              </a:rPr>
              <a:t>0.8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4431792"/>
            <a:ext cx="411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5A62"/>
                </a:solidFill>
                <a:latin typeface="Noto Sans CJK JP"/>
              </a:rPr>
              <a:t>1.0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3322320"/>
            <a:ext cx="411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5A62"/>
                </a:solidFill>
                <a:latin typeface="Noto Sans CJK JP"/>
              </a:rPr>
              <a:t>1.2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2212848"/>
            <a:ext cx="411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5A62"/>
                </a:solidFill>
                <a:latin typeface="Noto Sans CJK JP"/>
              </a:rPr>
              <a:t>1.4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35240" y="1417320"/>
            <a:ext cx="388620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1664208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9191C"/>
                </a:solidFill>
                <a:latin typeface="Noto Sans CJK JP"/>
              </a:rPr>
              <a:t>式と判断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7848" y="2084831"/>
            <a:ext cx="3246120" cy="3246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9191C"/>
                </a:solidFill>
                <a:latin typeface="Noto Sans CJK JP"/>
              </a:rPr>
              <a:t>E = 4.44 f N Φm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Φm = E/(4.44 f N)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Bm = Φm/A</a:t>
            </a:r>
            <a:br/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同一 E・N・A：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Bm(f) = 60/f [p.u.]</a:t>
            </a:r>
            <a:br/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50 Hz → 1.20 p.u.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60 Hz → 1.00 p.u.</a:t>
            </a:r>
            <a:br/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周波数低下＋電圧一定 → 磁束密度増加 → 飽和側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91C"/>
                </a:solidFill>
                <a:latin typeface="Noto Sans CJK JP"/>
              </a:rPr>
              <a:t>V/f 特性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A5A62"/>
                </a:solidFill>
                <a:latin typeface="Noto Sans CJK JP"/>
              </a:rPr>
              <a:t>基準点 60 Hz・1.00 p.u.：磁束を概ね一定に保つ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5669279"/>
            <a:ext cx="6400800" cy="0"/>
          </a:xfrm>
          <a:prstGeom prst="line">
            <a:avLst/>
          </a:prstGeom>
          <a:ln w="15240">
            <a:solidFill>
              <a:srgbClr val="1919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22960" y="1508760"/>
            <a:ext cx="0" cy="4160519"/>
          </a:xfrm>
          <a:prstGeom prst="line">
            <a:avLst/>
          </a:prstGeom>
          <a:ln w="15240">
            <a:solidFill>
              <a:srgbClr val="1919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560320" y="5897879"/>
            <a:ext cx="29260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5A62"/>
                </a:solidFill>
                <a:latin typeface="Noto Sans CJK JP"/>
              </a:rPr>
              <a:t>インバータ出力周波数 f_inv [Hz]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43000"/>
            <a:ext cx="2011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A5A62"/>
                </a:solidFill>
                <a:latin typeface="Noto Sans CJK JP"/>
              </a:rPr>
              <a:t>V [p.u.]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822960" y="1886989"/>
            <a:ext cx="6400800" cy="3782290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950208" y="3704982"/>
            <a:ext cx="146304" cy="146304"/>
          </a:xfrm>
          <a:prstGeom prst="ellipse">
            <a:avLst/>
          </a:prstGeom>
          <a:solidFill>
            <a:srgbClr val="9B5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4023360" y="3778134"/>
            <a:ext cx="0" cy="1891145"/>
          </a:xfrm>
          <a:prstGeom prst="line">
            <a:avLst/>
          </a:prstGeom>
          <a:ln w="12700">
            <a:solidFill>
              <a:srgbClr val="DCDCE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520440" y="3183774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9B5A36"/>
                </a:solidFill>
                <a:latin typeface="Noto Sans CJK JP"/>
              </a:rPr>
              <a:t>30 Hz</a:t>
            </a:r>
            <a:br/>
            <a:r>
              <a:rPr sz="1300" b="1">
                <a:solidFill>
                  <a:srgbClr val="9B5A36"/>
                </a:solidFill>
                <a:latin typeface="Noto Sans CJK JP"/>
              </a:rPr>
              <a:t>0.50 p.u.</a:t>
            </a:r>
          </a:p>
        </p:txBody>
      </p:sp>
      <p:sp>
        <p:nvSpPr>
          <p:cNvPr id="12" name="Oval 11"/>
          <p:cNvSpPr/>
          <p:nvPr/>
        </p:nvSpPr>
        <p:spPr>
          <a:xfrm>
            <a:off x="7150608" y="1813837"/>
            <a:ext cx="146304" cy="146304"/>
          </a:xfrm>
          <a:prstGeom prst="ellipse">
            <a:avLst/>
          </a:prstGeom>
          <a:solidFill>
            <a:srgbClr val="9B5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7223760" y="1886989"/>
            <a:ext cx="0" cy="3782290"/>
          </a:xfrm>
          <a:prstGeom prst="line">
            <a:avLst/>
          </a:prstGeom>
          <a:ln w="12700">
            <a:solidFill>
              <a:srgbClr val="DCDCE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720840" y="1292629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9B5A36"/>
                </a:solidFill>
                <a:latin typeface="Noto Sans CJK JP"/>
              </a:rPr>
              <a:t>60 Hz</a:t>
            </a:r>
            <a:br/>
            <a:r>
              <a:rPr sz="1300" b="1">
                <a:solidFill>
                  <a:srgbClr val="9B5A36"/>
                </a:solidFill>
                <a:latin typeface="Noto Sans CJK JP"/>
              </a:rPr>
              <a:t>1.00 p.u.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687567"/>
            <a:ext cx="457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5A5A62"/>
                </a:solidFill>
                <a:latin typeface="Noto Sans CJK JP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5687567"/>
            <a:ext cx="457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5A5A62"/>
                </a:solidFill>
                <a:latin typeface="Noto Sans CJK JP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5687567"/>
            <a:ext cx="457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5A5A62"/>
                </a:solidFill>
                <a:latin typeface="Noto Sans CJK JP"/>
              </a:rPr>
              <a:t>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541264"/>
            <a:ext cx="411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5A62"/>
                </a:solidFill>
                <a:latin typeface="Noto Sans CJK JP"/>
              </a:rPr>
              <a:t>0.0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650118"/>
            <a:ext cx="411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5A62"/>
                </a:solidFill>
                <a:latin typeface="Noto Sans CJK JP"/>
              </a:rPr>
              <a:t>0.5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1758973"/>
            <a:ext cx="411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5A5A62"/>
                </a:solidFill>
                <a:latin typeface="Noto Sans CJK JP"/>
              </a:rPr>
              <a:t>1.0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1417320"/>
            <a:ext cx="393192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1272" y="1664208"/>
            <a:ext cx="3291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9191C"/>
                </a:solidFill>
                <a:latin typeface="Noto Sans CJK JP"/>
              </a:rPr>
              <a:t>V/f 一定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084831"/>
            <a:ext cx="3246120" cy="3246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9191C"/>
                </a:solidFill>
                <a:latin typeface="Noto Sans CJK JP"/>
              </a:rPr>
              <a:t>Φm ∝ V/f_inv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V(f) = f/60 [p.u.]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V/f = 1/60 [p.u./Hz]</a:t>
            </a:r>
            <a:br/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例：50 Hz・200 Vを基準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200/50 = 4.0 V/Hz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30 Hz → 120 V</a:t>
            </a:r>
            <a:br/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注意：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f_src = 車両への交流入力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f_inv = 電動機への出力</a:t>
            </a:r>
            <a:br/>
            <a:r>
              <a:rPr sz="1600" b="0">
                <a:solidFill>
                  <a:srgbClr val="19191C"/>
                </a:solidFill>
                <a:latin typeface="Noto Sans CJK JP"/>
              </a:rPr>
              <a:t>同期速度は f_inv で計算。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91C"/>
                </a:solidFill>
                <a:latin typeface="Noto Sans CJK JP"/>
              </a:rPr>
              <a:t>周波数―同期速度と回転磁界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A5A62"/>
                </a:solidFill>
                <a:latin typeface="Noto Sans CJK JP"/>
              </a:rPr>
              <a:t>4極一般モデル + R2二次型の相対速度7要素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5715000"/>
            <a:ext cx="5074920" cy="0"/>
          </a:xfrm>
          <a:prstGeom prst="line">
            <a:avLst/>
          </a:prstGeom>
          <a:ln w="15240">
            <a:solidFill>
              <a:srgbClr val="1919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1463040"/>
            <a:ext cx="0" cy="4251960"/>
          </a:xfrm>
          <a:prstGeom prst="line">
            <a:avLst/>
          </a:prstGeom>
          <a:ln w="15240">
            <a:solidFill>
              <a:srgbClr val="1919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760219" y="5943600"/>
            <a:ext cx="29260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5A62"/>
                </a:solidFill>
                <a:latin typeface="Noto Sans CJK JP"/>
              </a:rPr>
              <a:t>f_inv [Hz]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20116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A5A62"/>
                </a:solidFill>
                <a:latin typeface="Noto Sans CJK JP"/>
              </a:rPr>
              <a:t>Ns [min^-1]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85800" y="1463040"/>
            <a:ext cx="5074920" cy="4251960"/>
          </a:xfrm>
          <a:prstGeom prst="line">
            <a:avLst/>
          </a:prstGeom>
          <a:ln w="30480">
            <a:solidFill>
              <a:srgbClr val="365C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784473" y="2984373"/>
            <a:ext cx="146304" cy="146304"/>
          </a:xfrm>
          <a:prstGeom prst="ellipse">
            <a:avLst/>
          </a:prstGeom>
          <a:solidFill>
            <a:srgbClr val="9B5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0697" y="2454021"/>
            <a:ext cx="11338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9B5A36"/>
                </a:solidFill>
                <a:latin typeface="Noto Sans CJK JP"/>
              </a:rPr>
              <a:t>50 Hz</a:t>
            </a:r>
            <a:br/>
            <a:r>
              <a:rPr sz="1200" b="1">
                <a:solidFill>
                  <a:srgbClr val="9B5A36"/>
                </a:solidFill>
                <a:latin typeface="Noto Sans CJK JP"/>
              </a:rPr>
              <a:t>1500 min^-1</a:t>
            </a:r>
          </a:p>
        </p:txBody>
      </p:sp>
      <p:sp>
        <p:nvSpPr>
          <p:cNvPr id="11" name="Oval 10"/>
          <p:cNvSpPr/>
          <p:nvPr/>
        </p:nvSpPr>
        <p:spPr>
          <a:xfrm>
            <a:off x="4418838" y="2452878"/>
            <a:ext cx="146304" cy="146304"/>
          </a:xfrm>
          <a:prstGeom prst="ellipse">
            <a:avLst/>
          </a:prstGeom>
          <a:solidFill>
            <a:srgbClr val="9B5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25061" y="1922526"/>
            <a:ext cx="11338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9B5A36"/>
                </a:solidFill>
                <a:latin typeface="Noto Sans CJK JP"/>
              </a:rPr>
              <a:t>60 Hz</a:t>
            </a:r>
            <a:br/>
            <a:r>
              <a:rPr sz="1200" b="1">
                <a:solidFill>
                  <a:srgbClr val="9B5A36"/>
                </a:solidFill>
                <a:latin typeface="Noto Sans CJK JP"/>
              </a:rPr>
              <a:t>1800 min^-1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33288"/>
            <a:ext cx="457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5A5A62"/>
                </a:solidFill>
                <a:latin typeface="Noto Sans CJK JP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5930" y="5733288"/>
            <a:ext cx="457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5A5A62"/>
                </a:solidFill>
                <a:latin typeface="Noto Sans CJK JP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4660" y="5733288"/>
            <a:ext cx="457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5A5A62"/>
                </a:solidFill>
                <a:latin typeface="Noto Sans CJK JP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63390" y="5733288"/>
            <a:ext cx="457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5A5A62"/>
                </a:solidFill>
                <a:latin typeface="Noto Sans CJK JP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5733288"/>
            <a:ext cx="4572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5A5A62"/>
                </a:solidFill>
                <a:latin typeface="Noto Sans CJK JP"/>
              </a:rPr>
              <a:t>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7432" y="5586984"/>
            <a:ext cx="640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5A5A62"/>
                </a:solidFill>
                <a:latin typeface="Noto Sans CJK JP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27432" y="4523994"/>
            <a:ext cx="640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5A5A62"/>
                </a:solidFill>
                <a:latin typeface="Noto Sans CJK JP"/>
              </a:rPr>
              <a:t>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7432" y="3461004"/>
            <a:ext cx="640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5A5A62"/>
                </a:solidFill>
                <a:latin typeface="Noto Sans CJK JP"/>
              </a:rPr>
              <a:t>1200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27432" y="2398014"/>
            <a:ext cx="640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5A5A62"/>
                </a:solidFill>
                <a:latin typeface="Noto Sans CJK JP"/>
              </a:rPr>
              <a:t>1800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27432" y="1335024"/>
            <a:ext cx="6400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5A5A62"/>
                </a:solidFill>
                <a:latin typeface="Noto Sans CJK JP"/>
              </a:rPr>
              <a:t>2400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1353312"/>
            <a:ext cx="55321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57276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9191C"/>
                </a:solidFill>
                <a:latin typeface="Noto Sans CJK JP"/>
              </a:rPr>
              <a:t>R2二次：何と何の相対速度かを分ける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039112"/>
            <a:ext cx="4892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365C9B"/>
                </a:solidFill>
                <a:latin typeface="Noto Sans CJK JP"/>
              </a:rPr>
              <a:t>1  固定子磁界 / 固定子 = 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478024"/>
            <a:ext cx="4892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91C"/>
                </a:solidFill>
                <a:latin typeface="Noto Sans CJK JP"/>
              </a:rPr>
              <a:t>2  回転子 / 固定子 = N = (1−s)Ns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916936"/>
            <a:ext cx="4892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91C"/>
                </a:solidFill>
                <a:latin typeface="Noto Sans CJK JP"/>
              </a:rPr>
              <a:t>3  固定子磁界 / 回転子 = sNs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55848"/>
            <a:ext cx="4892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91C"/>
                </a:solidFill>
                <a:latin typeface="Noto Sans CJK JP"/>
              </a:rPr>
              <a:t>4  回転子電流周波数 f2 = s f_inv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794760"/>
            <a:ext cx="4892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91C"/>
                </a:solidFill>
                <a:latin typeface="Noto Sans CJK JP"/>
              </a:rPr>
              <a:t>5  回転子磁界 / 回転子 = 120 f2/P = sNs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233672"/>
            <a:ext cx="4892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91C"/>
                </a:solidFill>
                <a:latin typeface="Noto Sans CJK JP"/>
              </a:rPr>
              <a:t>6  回転子磁界 / 固定子 = N+sNs = 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672583"/>
            <a:ext cx="4892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365C9B"/>
                </a:solidFill>
                <a:latin typeface="Noto Sans CJK JP"/>
              </a:rPr>
              <a:t>7  回転子磁界 / 固定子磁界 = 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007608"/>
            <a:ext cx="10789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5A5A62"/>
                </a:solidFill>
                <a:latin typeface="Noto Sans CJK JP"/>
              </a:rPr>
              <a:t>Ns = 120 f_inv/P　｜　ωs = 4πf/P = 2πf/p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