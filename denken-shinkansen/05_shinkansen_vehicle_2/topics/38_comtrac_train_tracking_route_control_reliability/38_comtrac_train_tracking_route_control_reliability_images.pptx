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999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82880"/>
            <a:ext cx="11521440" cy="594360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8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2800" b="1" dirty="0">
                <a:latin typeface="Aptos"/>
                <a:ea typeface="Yu Gothic"/>
              </a:rPr>
              <a:t>38 COMTRAC：公開事実から電験二種へ接続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320040" y="914400"/>
            <a:ext cx="5577840" cy="2331720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鉄道側で一次資料から確認できる範囲</a:t>
            </a:r>
            <a:br/>
            <a:r>
              <a:rPr lang="ja-JP" sz="1700" b="0" dirty="0">
                <a:latin typeface="Aptos"/>
                <a:ea typeface="Yu Gothic"/>
              </a:rPr>
              <a:t>・列車運行状況・設備状態を把握</a:t>
            </a:r>
            <a:br/>
            <a:r>
              <a:rPr lang="ja-JP" sz="1700" b="0" dirty="0">
                <a:latin typeface="Aptos"/>
                <a:ea typeface="Yu Gothic"/>
              </a:rPr>
              <a:t>・進路制御・列車運行管理等を支援</a:t>
            </a:r>
            <a:br/>
            <a:r>
              <a:rPr lang="ja-JP" sz="1700" b="0" dirty="0">
                <a:latin typeface="Aptos"/>
                <a:ea typeface="Yu Gothic"/>
              </a:rPr>
              <a:t>・到着/発車時刻、番線、列車順序等の運行条件</a:t>
            </a:r>
            <a:br/>
            <a:r>
              <a:rPr lang="ja-JP" sz="1700" b="0" dirty="0">
                <a:latin typeface="Aptos"/>
                <a:ea typeface="Yu Gothic"/>
              </a:rPr>
              <a:t>・東京と同等機能の第二総合指令所（大阪）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6080760" y="914400"/>
            <a:ext cx="5760720" cy="2331720"/>
          </a:xfrm>
          <a:prstGeom prst="rect">
            <a:avLst/>
          </a:prstGeom>
          <a:solidFill>
            <a:srgbClr val="FFF8E8"/>
          </a:solidFill>
          <a:ln w="12700">
            <a:solidFill>
              <a:srgbClr val="D6B656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Topic 38 固定9項目</a:t>
            </a:r>
            <a:br/>
            <a:r>
              <a:rPr lang="ja-JP" sz="1700" b="0" dirty="0">
                <a:latin typeface="Aptos"/>
                <a:ea typeface="Yu Gothic"/>
              </a:rPr>
              <a:t>列車追跡 / 状態データ / 論理処理 / 時刻情報</a:t>
            </a:r>
            <a:br/>
            <a:r>
              <a:rPr lang="ja-JP" sz="1700" b="0" dirty="0">
                <a:latin typeface="Aptos"/>
                <a:ea typeface="Yu Gothic"/>
              </a:rPr>
              <a:t>ブール代数 / インターロック / 状態遷移</a:t>
            </a:r>
            <a:br/>
            <a:r>
              <a:rPr lang="ja-JP" sz="1700" b="0" dirty="0">
                <a:latin typeface="Aptos"/>
                <a:ea typeface="Yu Gothic"/>
              </a:rPr>
              <a:t>冗長化 / 可用性</a:t>
            </a:r>
            <a:br/>
            <a:r>
              <a:rPr lang="ja-JP" sz="1700" b="0" dirty="0">
                <a:latin typeface="Aptos"/>
                <a:ea typeface="Yu Gothic"/>
              </a:rPr>
              <a:t/>
            </a:r>
            <a:br/>
            <a:r>
              <a:rPr lang="ja-JP" sz="1700" b="0" dirty="0">
                <a:latin typeface="Aptos"/>
                <a:ea typeface="Yu Gothic"/>
              </a:rPr>
              <a:t>未公開内部アルゴリズム・処理周期・実MTBF等は断定しない。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320040" y="3493008"/>
            <a:ext cx="11521440" cy="2560320"/>
          </a:xfrm>
          <a:prstGeom prst="rect">
            <a:avLst/>
          </a:prstGeom>
          <a:solidFill>
            <a:srgbClr val="F4F7FA"/>
          </a:solidFill>
          <a:ln w="12700">
            <a:solidFill>
              <a:srgbClr val="5B9BD5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900" b="0" dirty="0">
                <a:latin typeface="Aptos"/>
                <a:ea typeface="Yu Gothic"/>
              </a:rPr>
              <a:t>情報処理としての抽象化（教材モデル）</a:t>
            </a:r>
            <a:br/>
            <a:r>
              <a:rPr lang="ja-JP" sz="1900" b="0" dirty="0">
                <a:latin typeface="Aptos"/>
                <a:ea typeface="Yu Gothic"/>
              </a:rPr>
              <a:t>状態データ → 時刻・イベント整理 → 論理判断 → 状態更新</a:t>
            </a:r>
            <a:br/>
            <a:r>
              <a:rPr lang="ja-JP" sz="1900" b="0" dirty="0">
                <a:latin typeface="Aptos"/>
                <a:ea typeface="Yu Gothic"/>
              </a:rPr>
              <a:t>S_next = f(S_current, Event)</a:t>
            </a:r>
            <a:br/>
            <a:r>
              <a:rPr lang="ja-JP" sz="1900" b="0" dirty="0">
                <a:latin typeface="Aptos"/>
                <a:ea typeface="Yu Gothic"/>
              </a:rPr>
              <a:t/>
            </a:r>
            <a:br/>
            <a:r>
              <a:rPr lang="ja-JP" sz="1900" b="0" dirty="0">
                <a:latin typeface="Aptos"/>
                <a:ea typeface="Yu Gothic"/>
              </a:rPr>
              <a:t>列車位置検知：軌道回路　　安全な進路関係：連動装置</a:t>
            </a:r>
            <a:br/>
            <a:r>
              <a:rPr lang="ja-JP" sz="1900" b="0" dirty="0">
                <a:latin typeface="Aptos"/>
                <a:ea typeface="Yu Gothic"/>
              </a:rPr>
              <a:t>※上記はJRTT/RTRIの一般機能。COMTRAC内部データ構造・OS・スケジューリング方式を意味しない。</a:t>
            </a:r>
            <a:endParaRPr lang="ja-JP" sz="1900"/>
          </a:p>
        </p:txBody>
      </p:sp>
      <p:sp>
        <p:nvSpPr>
          <p:cNvPr id="6" name="Text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800" b="0" dirty="0">
                <a:latin typeface="Aptos"/>
                <a:ea typeface="Yu Gothic"/>
              </a:rPr>
              <a:t>出典: JR東海「安全で安定した輸送の確保」 / JRTT「信号」 / 鉄道総研「信号システム」　参照日 2026-09-21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82880"/>
            <a:ext cx="11521440" cy="594360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8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2800" b="1" dirty="0">
                <a:latin typeface="Aptos"/>
                <a:ea typeface="Yu Gothic"/>
              </a:rPr>
              <a:t>状態・論理・インターロック：R2 / H23 一次へ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320040" y="914400"/>
            <a:ext cx="557784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状態・イベント処理</a:t>
            </a:r>
            <a:br/>
            <a:r>
              <a:rPr lang="ja-JP" sz="1700" b="0" dirty="0">
                <a:latin typeface="Aptos"/>
                <a:ea typeface="Yu Gothic"/>
              </a:rPr>
              <a:t>READY: 実行可能だがCPU未使用</a:t>
            </a:r>
            <a:br/>
            <a:r>
              <a:rPr lang="ja-JP" sz="1700" b="0" dirty="0">
                <a:latin typeface="Aptos"/>
                <a:ea typeface="Yu Gothic"/>
              </a:rPr>
              <a:t>割込み: イベントで所定処理へ制御移行</a:t>
            </a:r>
            <a:br/>
            <a:r>
              <a:rPr lang="ja-JP" sz="1700" b="0" dirty="0">
                <a:latin typeface="Aptos"/>
                <a:ea typeface="Yu Gothic"/>
              </a:rPr>
              <a:t>FIFO: 先入れ先出し</a:t>
            </a:r>
            <a:br/>
            <a:r>
              <a:rPr lang="ja-JP" sz="1700" b="0" dirty="0">
                <a:latin typeface="Aptos"/>
                <a:ea typeface="Yu Gothic"/>
              </a:rPr>
              <a:t>優先度方式: 低優先度にstarvationの可能性</a:t>
            </a:r>
            <a:br/>
            <a:r>
              <a:rPr lang="ja-JP" sz="1700" b="0" dirty="0">
                <a:latin typeface="Aptos"/>
                <a:ea typeface="Yu Gothic"/>
              </a:rPr>
              <a:t>スループット: 単位時間当たり処理量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6080760" y="914400"/>
            <a:ext cx="576072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ブール代数・順序論理</a:t>
            </a:r>
            <a:br/>
            <a:r>
              <a:rPr lang="ja-JP" sz="1700" b="0" dirty="0">
                <a:latin typeface="Aptos"/>
                <a:ea typeface="Yu Gothic"/>
              </a:rPr>
              <a:t>組合せ: Y=f(X)</a:t>
            </a:r>
            <a:br/>
            <a:r>
              <a:rPr lang="ja-JP" sz="1700" b="0" dirty="0">
                <a:latin typeface="Aptos"/>
                <a:ea typeface="Yu Gothic"/>
              </a:rPr>
              <a:t>順序: S_next=f(S,X), Y=g(S,X)</a:t>
            </a:r>
            <a:br/>
            <a:r>
              <a:rPr lang="ja-JP" sz="1700" b="0" dirty="0">
                <a:latin typeface="Aptos"/>
                <a:ea typeface="Yu Gothic"/>
              </a:rPr>
              <a:t>フリップフロップ: 2安定状態 / 1 bit保持</a:t>
            </a:r>
            <a:br/>
            <a:r>
              <a:rPr lang="ja-JP" sz="1700" b="0" dirty="0">
                <a:latin typeface="Aptos"/>
                <a:ea typeface="Yu Gothic"/>
              </a:rPr>
              <a:t>ASIC: 特定用途向けIC</a:t>
            </a:r>
            <a:br/>
            <a:r>
              <a:rPr lang="ja-JP" sz="1700" b="0" dirty="0">
                <a:latin typeface="Aptos"/>
                <a:ea typeface="Yu Gothic"/>
              </a:rPr>
              <a:t>Quine–McCluskey: 論理最小化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320040" y="3584448"/>
            <a:ext cx="11521440" cy="2423160"/>
          </a:xfrm>
          <a:prstGeom prst="rect">
            <a:avLst/>
          </a:prstGeom>
          <a:solidFill>
            <a:srgbClr val="FFF8E8"/>
          </a:solidFill>
          <a:ln w="12700">
            <a:solidFill>
              <a:srgbClr val="D6B656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800" b="0" dirty="0">
                <a:latin typeface="Aptos"/>
                <a:ea typeface="Yu Gothic"/>
              </a:rPr>
              <a:t>教材用インターロック式（実設備論理ではない）</a:t>
            </a:r>
            <a:br/>
            <a:r>
              <a:rPr lang="ja-JP" sz="1800" b="0" dirty="0">
                <a:latin typeface="Aptos"/>
                <a:ea typeface="Yu Gothic"/>
              </a:rPr>
              <a:t>Route_OK = Request・Track_Clear・Point_Locked・NOT Conflict</a:t>
            </a:r>
            <a:br/>
            <a:r>
              <a:rPr lang="ja-JP" sz="1800" b="0" dirty="0">
                <a:latin typeface="Aptos"/>
                <a:ea typeface="Yu Gothic"/>
              </a:rPr>
              <a:t/>
            </a:r>
            <a:br/>
            <a:r>
              <a:rPr lang="ja-JP" sz="1800" b="0" dirty="0">
                <a:latin typeface="Aptos"/>
                <a:ea typeface="Yu Gothic"/>
              </a:rPr>
              <a:t>教材用状態遷移（実設備の状態名・順序ではない）</a:t>
            </a:r>
            <a:br/>
            <a:r>
              <a:rPr lang="ja-JP" sz="1800" b="0" dirty="0">
                <a:latin typeface="Aptos"/>
                <a:ea typeface="Yu Gothic"/>
              </a:rPr>
              <a:t>IDLE → REQUESTED → LOCKED → CLEARED → OCCUPIED → RELEASED → IDLE</a:t>
            </a:r>
            <a:br/>
            <a:r>
              <a:rPr lang="ja-JP" sz="1800" b="0" dirty="0">
                <a:latin typeface="Aptos"/>
                <a:ea typeface="Yu Gothic"/>
              </a:rPr>
              <a:t/>
            </a:r>
            <a:br/>
            <a:r>
              <a:rPr lang="ja-JP" sz="1800" b="0" dirty="0">
                <a:latin typeface="Aptos"/>
                <a:ea typeface="Yu Gothic"/>
              </a:rPr>
              <a:t>過去問接続: R2 一次「機械」問8 = 5/5、H23 一次「機械」問8 = 5/5</a:t>
            </a:r>
            <a:endParaRPr lang="ja-JP" sz="1800"/>
          </a:p>
        </p:txBody>
      </p:sp>
      <p:sp>
        <p:nvSpPr>
          <p:cNvPr id="6" name="Text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800" b="0" dirty="0">
                <a:latin typeface="Aptos"/>
                <a:ea typeface="Yu Gothic"/>
              </a:rPr>
              <a:t>固定答案要素: R2=スループット/実行可能/割込み/FIFO/starvation、H23=組合せ・順序/FF/状態遷移/ASIC/論理最小化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82880"/>
            <a:ext cx="11521440" cy="594360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8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2800" b="1" dirty="0">
                <a:latin typeface="Aptos"/>
                <a:ea typeface="Yu Gothic"/>
              </a:rPr>
              <a:t>制御・検証：R8 / H29 一次へ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320040" y="914400"/>
            <a:ext cx="5577840" cy="2331720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制御の識別</a:t>
            </a:r>
            <a:br/>
            <a:r>
              <a:rPr lang="ja-JP" sz="1700" b="0" dirty="0">
                <a:latin typeface="Aptos"/>
                <a:ea typeface="Yu Gothic"/>
              </a:rPr>
              <a:t>シーケンス制御: 条件・順序に従う</a:t>
            </a:r>
            <a:br/>
            <a:r>
              <a:rPr lang="ja-JP" sz="1700" b="0" dirty="0">
                <a:latin typeface="Aptos"/>
                <a:ea typeface="Yu Gothic"/>
              </a:rPr>
              <a:t>フィードバック制御: 出力を検出し偏差で修正</a:t>
            </a:r>
            <a:br/>
            <a:r>
              <a:rPr lang="ja-JP" sz="1700" b="0" dirty="0">
                <a:latin typeface="Aptos"/>
                <a:ea typeface="Yu Gothic"/>
              </a:rPr>
              <a:t>マイクロコンピュータ: CPU・メモリ・I/O</a:t>
            </a:r>
            <a:br/>
            <a:r>
              <a:rPr lang="ja-JP" sz="1700" b="0" dirty="0">
                <a:latin typeface="Aptos"/>
                <a:ea typeface="Yu Gothic"/>
              </a:rPr>
              <a:t>角位置センサ: 回転位置を検出</a:t>
            </a:r>
            <a:br/>
            <a:r>
              <a:rPr lang="ja-JP" sz="1700" b="0" dirty="0">
                <a:latin typeface="Aptos"/>
                <a:ea typeface="Yu Gothic"/>
              </a:rPr>
              <a:t>ステッピングモータ: パルスで離散角回転</a:t>
            </a:r>
            <a:endParaRPr lang="ja-JP" sz="1700"/>
          </a:p>
        </p:txBody>
      </p:sp>
      <p:sp>
        <p:nvSpPr>
          <p:cNvPr id="4" name="Text 4"/>
          <p:cNvSpPr txBox="1"/>
          <p:nvPr/>
        </p:nvSpPr>
        <p:spPr>
          <a:xfrm>
            <a:off x="6080760" y="914400"/>
            <a:ext cx="5760720" cy="2331720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ソフトウェア試験</a:t>
            </a:r>
            <a:br/>
            <a:r>
              <a:rPr lang="ja-JP" sz="1700" b="0" dirty="0">
                <a:latin typeface="Aptos"/>
                <a:ea typeface="Yu Gothic"/>
              </a:rPr>
              <a:t>ウォーターフォール: 上流→下流へ順次工程</a:t>
            </a:r>
            <a:br/>
            <a:r>
              <a:rPr lang="ja-JP" sz="1700" b="0" dirty="0">
                <a:latin typeface="Aptos"/>
                <a:ea typeface="Yu Gothic"/>
              </a:rPr>
              <a:t>結合試験: モジュール間I/F・データ受渡し</a:t>
            </a:r>
            <a:br/>
            <a:r>
              <a:rPr lang="ja-JP" sz="1700" b="0" dirty="0">
                <a:latin typeface="Aptos"/>
                <a:ea typeface="Yu Gothic"/>
              </a:rPr>
              <a:t>ボトムアップ: 下位から結合 / ドライバ利用</a:t>
            </a:r>
            <a:br/>
            <a:r>
              <a:rPr lang="ja-JP" sz="1700" b="0" dirty="0">
                <a:latin typeface="Aptos"/>
                <a:ea typeface="Yu Gothic"/>
              </a:rPr>
              <a:t>トップダウン: 上位から結合 / スタブ利用</a:t>
            </a:r>
            <a:br/>
            <a:r>
              <a:rPr lang="ja-JP" sz="1700" b="0" dirty="0">
                <a:latin typeface="Aptos"/>
                <a:ea typeface="Yu Gothic"/>
              </a:rPr>
              <a:t>ブラックボックス: 仕様に基づく入出力確認</a:t>
            </a:r>
            <a:endParaRPr lang="ja-JP" sz="1700"/>
          </a:p>
        </p:txBody>
      </p:sp>
      <p:sp>
        <p:nvSpPr>
          <p:cNvPr id="5" name="Text 5"/>
          <p:cNvSpPr txBox="1"/>
          <p:nvPr/>
        </p:nvSpPr>
        <p:spPr>
          <a:xfrm>
            <a:off x="320040" y="3493008"/>
            <a:ext cx="11521440" cy="2468880"/>
          </a:xfrm>
          <a:prstGeom prst="rect">
            <a:avLst/>
          </a:prstGeom>
          <a:solidFill>
            <a:srgbClr val="F4F7FA"/>
          </a:solidFill>
          <a:ln w="12700">
            <a:solidFill>
              <a:srgbClr val="5B9BD5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800" b="0" dirty="0">
                <a:latin typeface="Aptos"/>
                <a:ea typeface="Yu Gothic"/>
              </a:rPr>
              <a:t>高信頼化で重要なのは「論理がある」ことだけでなく、要求された動作を検証できること。</a:t>
            </a:r>
            <a:br/>
            <a:r>
              <a:rPr lang="ja-JP" sz="1800" b="0" dirty="0">
                <a:latin typeface="Aptos"/>
                <a:ea typeface="Yu Gothic"/>
              </a:rPr>
              <a:t>鉄道安全論理ではフェイルセーフ、共通原因故障等も別途考える。</a:t>
            </a:r>
            <a:br/>
            <a:r>
              <a:rPr lang="ja-JP" sz="1800" b="0" dirty="0">
                <a:latin typeface="Aptos"/>
                <a:ea typeface="Yu Gothic"/>
              </a:rPr>
              <a:t/>
            </a:r>
            <a:br/>
            <a:r>
              <a:rPr lang="ja-JP" sz="1800" b="0" dirty="0">
                <a:latin typeface="Aptos"/>
                <a:ea typeface="Yu Gothic"/>
              </a:rPr>
              <a:t>過去問接続</a:t>
            </a:r>
            <a:br/>
            <a:r>
              <a:rPr lang="ja-JP" sz="1800" b="0" dirty="0">
                <a:latin typeface="Aptos"/>
                <a:ea typeface="Yu Gothic"/>
              </a:rPr>
              <a:t>R8 一次「機械」問8 = 5/5 connected</a:t>
            </a:r>
            <a:br/>
            <a:r>
              <a:rPr lang="ja-JP" sz="1800" b="0" dirty="0">
                <a:latin typeface="Aptos"/>
                <a:ea typeface="Yu Gothic"/>
              </a:rPr>
              <a:t>H29 一次「機械」問8 = 5/5 connected</a:t>
            </a:r>
            <a:br/>
            <a:r>
              <a:rPr lang="ja-JP" sz="1800" b="0" dirty="0">
                <a:latin typeface="Aptos"/>
                <a:ea typeface="Yu Gothic"/>
              </a:rPr>
              <a:t>※固定過去問はCOMTRACそのものの出題ではなく、一般理論の要求を固定するために使用。</a:t>
            </a:r>
            <a:endParaRPr lang="ja-JP" sz="1800"/>
          </a:p>
        </p:txBody>
      </p:sp>
      <p:sp>
        <p:nvSpPr>
          <p:cNvPr id="6" name="Text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800" b="0" dirty="0">
                <a:latin typeface="Aptos"/>
                <a:ea typeface="Yu Gothic"/>
              </a:rPr>
              <a:t>固定答案要素: R8=マイコン/シーケンス/フィードバック/角位置センサ/ステッピングモータ、H29=開発・試験5要素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182880"/>
            <a:ext cx="11521440" cy="594360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8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2800" b="1" dirty="0">
                <a:latin typeface="Aptos"/>
                <a:ea typeface="Yu Gothic"/>
              </a:rPr>
              <a:t>冗長化・可用性：H26 一次 + 品質ゲート</a:t>
            </a:r>
            <a:endParaRPr lang="ja-JP" sz="2800"/>
          </a:p>
        </p:txBody>
      </p:sp>
      <p:sp>
        <p:nvSpPr>
          <p:cNvPr id="3" name="Text 3"/>
          <p:cNvSpPr txBox="1"/>
          <p:nvPr/>
        </p:nvSpPr>
        <p:spPr>
          <a:xfrm>
            <a:off x="320040" y="914400"/>
            <a:ext cx="5577840" cy="2487168"/>
          </a:xfrm>
          <a:prstGeom prst="rect">
            <a:avLst/>
          </a:prstGeom>
          <a:solidFill>
            <a:srgbClr val="F7F9FB"/>
          </a:solidFill>
          <a:ln w="12700">
            <a:solidFill>
              <a:srgbClr val="AAB7C4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600" b="0" dirty="0">
                <a:latin typeface="Aptos"/>
                <a:ea typeface="Yu Gothic"/>
              </a:rPr>
              <a:t>UPS・冗長化</a:t>
            </a:r>
            <a:br/>
            <a:r>
              <a:rPr lang="ja-JP" sz="1600" b="0" dirty="0">
                <a:latin typeface="Aptos"/>
                <a:ea typeface="Yu Gothic"/>
              </a:rPr>
              <a:t>蓄電池を直流側へ接続し停電時も給電</a:t>
            </a:r>
            <a:br/>
            <a:r>
              <a:rPr lang="ja-JP" sz="1600" b="0" dirty="0">
                <a:latin typeface="Aptos"/>
                <a:ea typeface="Yu Gothic"/>
              </a:rPr>
              <a:t>直流スイッチ / バイパス / 系統同期</a:t>
            </a:r>
            <a:br/>
            <a:r>
              <a:rPr lang="ja-JP" sz="1600" b="0" dirty="0">
                <a:latin typeface="Aptos"/>
                <a:ea typeface="Yu Gothic"/>
              </a:rPr>
              <a:t>並列冗長: 1系故障後も必要機能・容量を維持</a:t>
            </a:r>
            <a:br/>
            <a:r>
              <a:rPr lang="ja-JP" sz="1600" b="0" dirty="0">
                <a:latin typeface="Aptos"/>
                <a:ea typeface="Yu Gothic"/>
              </a:rPr>
              <a:t>n+1: 必要n台 + 予備1台</a:t>
            </a:r>
            <a:br/>
            <a:r>
              <a:rPr lang="ja-JP" sz="1600" b="0" dirty="0">
                <a:latin typeface="Aptos"/>
                <a:ea typeface="Yu Gothic"/>
              </a:rPr>
              <a:t>※COMTRAC電源構成の断定ではない。</a:t>
            </a:r>
            <a:endParaRPr lang="ja-JP" sz="1600"/>
          </a:p>
        </p:txBody>
      </p:sp>
      <p:sp>
        <p:nvSpPr>
          <p:cNvPr id="4" name="Text 4"/>
          <p:cNvSpPr txBox="1"/>
          <p:nvPr/>
        </p:nvSpPr>
        <p:spPr>
          <a:xfrm>
            <a:off x="6080760" y="914400"/>
            <a:ext cx="5760720" cy="2487168"/>
          </a:xfrm>
          <a:prstGeom prst="rect">
            <a:avLst/>
          </a:prstGeom>
          <a:solidFill>
            <a:srgbClr val="FFF8E8"/>
          </a:solidFill>
          <a:ln w="12700">
            <a:solidFill>
              <a:srgbClr val="D6B656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600" b="0" dirty="0">
                <a:latin typeface="Aptos"/>
                <a:ea typeface="Yu Gothic"/>
              </a:rPr>
              <a:t>可用性（教材用仮定例）</a:t>
            </a:r>
            <a:br/>
            <a:r>
              <a:rPr lang="ja-JP" sz="1600" b="0" dirty="0">
                <a:latin typeface="Aptos"/>
                <a:ea typeface="Yu Gothic"/>
              </a:rPr>
              <a:t>A = MTBF/(MTBF+MTTR)</a:t>
            </a:r>
            <a:br/>
            <a:r>
              <a:rPr lang="ja-JP" sz="1600" b="0" dirty="0">
                <a:latin typeface="Aptos"/>
                <a:ea typeface="Yu Gothic"/>
              </a:rPr>
              <a:t>MTBF=1000 h, MTTR=2 h → A≈99.8004%</a:t>
            </a:r>
            <a:br/>
            <a:r>
              <a:rPr lang="ja-JP" sz="1600" b="0" dirty="0">
                <a:latin typeface="Aptos"/>
                <a:ea typeface="Yu Gothic"/>
              </a:rPr>
              <a:t>独立二系統・完全切替仮定:</a:t>
            </a:r>
            <a:br/>
            <a:r>
              <a:rPr lang="ja-JP" sz="1600" b="0" dirty="0">
                <a:latin typeface="Aptos"/>
                <a:ea typeface="Yu Gothic"/>
              </a:rPr>
              <a:t>A_parallel=1-(1-A)^2≈99.9996%</a:t>
            </a:r>
            <a:br/>
            <a:r>
              <a:rPr lang="ja-JP" sz="1600" b="0" dirty="0">
                <a:latin typeface="Aptos"/>
                <a:ea typeface="Yu Gothic"/>
              </a:rPr>
              <a:t>※COMTRAC/第二総合指令所の実可用性ではない。</a:t>
            </a:r>
            <a:endParaRPr lang="ja-JP" sz="1600"/>
          </a:p>
        </p:txBody>
      </p:sp>
      <p:sp>
        <p:nvSpPr>
          <p:cNvPr id="5" name="Text 5"/>
          <p:cNvSpPr txBox="1"/>
          <p:nvPr/>
        </p:nvSpPr>
        <p:spPr>
          <a:xfrm>
            <a:off x="320040" y="3639312"/>
            <a:ext cx="11521440" cy="2350008"/>
          </a:xfrm>
          <a:prstGeom prst="rect">
            <a:avLst/>
          </a:prstGeom>
          <a:solidFill>
            <a:srgbClr val="F4F7FA"/>
          </a:solidFill>
          <a:ln w="12700">
            <a:solidFill>
              <a:srgbClr val="5B9BD5"/>
            </a:solidFill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1700" b="0" dirty="0">
                <a:latin typeface="Aptos"/>
                <a:ea typeface="Yu Gothic"/>
              </a:rPr>
              <a:t>過去問品質ゲート</a:t>
            </a:r>
            <a:br/>
            <a:r>
              <a:rPr lang="ja-JP" sz="1700" b="0" dirty="0">
                <a:latin typeface="Aptos"/>
                <a:ea typeface="Yu Gothic"/>
              </a:rPr>
              <a:t>固定5問 / 25答案要素: 一次 25/25 connected、二次 0問（直接対応なし、件数合わせ0）</a:t>
            </a:r>
            <a:br/>
            <a:r>
              <a:rPr lang="ja-JP" sz="1700" b="0" dirty="0">
                <a:latin typeface="Aptos"/>
                <a:ea typeface="Yu Gothic"/>
              </a:rPr>
              <a:t>SPEC固定9項目: 9/9 covered</a:t>
            </a:r>
            <a:br/>
            <a:r>
              <a:rPr lang="ja-JP" sz="1700" b="0" dirty="0">
                <a:latin typeface="Aptos"/>
                <a:ea typeface="Yu Gothic"/>
              </a:rPr>
              <a:t>H26 一次「機械」問3: 5/5 connected</a:t>
            </a:r>
            <a:br/>
            <a:r>
              <a:rPr lang="ja-JP" sz="1700" b="0" dirty="0">
                <a:latin typeface="Aptos"/>
                <a:ea typeface="Yu Gothic"/>
              </a:rPr>
              <a:t/>
            </a:r>
            <a:br/>
            <a:r>
              <a:rPr lang="ja-JP" sz="1700" b="0" dirty="0">
                <a:latin typeface="Aptos"/>
                <a:ea typeface="Yu Gothic"/>
              </a:rPr>
              <a:t>境界: 教材Boolean式・状態遷移・可用性モデルを実COMTRAC実装として使用0件。Topic 39 COSMOS/SCADA等の先取り0件。</a:t>
            </a:r>
            <a:endParaRPr lang="ja-JP" sz="1700"/>
          </a:p>
        </p:txBody>
      </p:sp>
      <p:sp>
        <p:nvSpPr>
          <p:cNvPr id="6" name="Text 6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wrap="square"/>
          <a:lstStyle/>
          <a:p>
            <a:pPr marL="0" indent="0"/>
            <a:r>
              <a:rPr lang="ja-JP" sz="800" b="0" dirty="0">
                <a:latin typeface="Aptos"/>
                <a:ea typeface="Yu Gothic"/>
              </a:rPr>
              <a:t>出典: 電気技術者試験センター公式過去問・試験概要 / JR東海 / JRTT / 鉄道総研　参照日 2026-09-21</a:t>
            </a:r>
            <a:endParaRPr lang="ja-JP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nimal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Minimal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38 COMTRAC 列車追跡・進路制御・高信頼化</dc:title>
  <dc:creator>OpenAI</dc:creator>
  <dcterms:created xsi:type="dcterms:W3CDTF">2026-09-21T03:00:00Z</dcterms:created>
</cp:coreProperties>
</file>