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0000" y="180000"/>
            <a:ext cx="11400000" cy="620000"/>
          </a:xfrm>
          <a:prstGeom prst="roundRect">
            <a:avLst/>
          </a:prstGeom>
          <a:noFill/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3000" b="1">
                <a:solidFill>
                  <a:srgbClr val="17365D"/>
                </a:solidFill>
                <a:latin typeface="Aptos"/>
                <a:ea typeface="Yu Gothic"/>
              </a:rPr>
              <a:t>COMTRACを「電験二種の情報処理・論理・信頼性」へ落とす</a:t>
            </a:r>
            <a:endParaRPr lang="ja-JP" sz="3000"/>
          </a:p>
        </p:txBody>
      </p:sp>
      <p:sp>
        <p:nvSpPr>
          <p:cNvPr id="3" name="TextBox 3"/>
          <p:cNvSpPr txBox="1"/>
          <p:nvPr/>
        </p:nvSpPr>
        <p:spPr>
          <a:xfrm>
            <a:off x="700000" y="760000"/>
            <a:ext cx="11000000" cy="360000"/>
          </a:xfrm>
          <a:prstGeom prst="roundRect">
            <a:avLst/>
          </a:prstGeom>
          <a:noFill/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200" b="0">
                <a:solidFill>
                  <a:srgbClr val="6B7280"/>
                </a:solidFill>
                <a:latin typeface="Aptos"/>
                <a:ea typeface="Yu Gothic"/>
              </a:rPr>
              <a:t>Topic 38 / SPEC固定9項目。公開事実と教材モデルを分離。</a:t>
            </a:r>
            <a:endParaRPr lang="ja-JP" sz="1200"/>
          </a:p>
        </p:txBody>
      </p:sp>
      <p:sp>
        <p:nvSpPr>
          <p:cNvPr id="4" name="TextBox 4"/>
          <p:cNvSpPr txBox="1"/>
          <p:nvPr/>
        </p:nvSpPr>
        <p:spPr>
          <a:xfrm>
            <a:off x="500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公開一次資料で確認できる範囲</a:t>
            </a:r>
            <a:endParaRPr lang="ja-JP" sz="1800"/>
          </a:p>
        </p:txBody>
      </p:sp>
      <p:sp>
        <p:nvSpPr>
          <p:cNvPr id="5" name="TextBox 5"/>
          <p:cNvSpPr txBox="1"/>
          <p:nvPr/>
        </p:nvSpPr>
        <p:spPr>
          <a:xfrm>
            <a:off x="500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・JR東海: 列車運行状況・設備状態を把握し、進路制御・運行管理等を支援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・到着/発車時刻、番線、列車順序などの運行条件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・JRTT/RTRI: 軌道回路による列車位置検知、連動による進路の安全確保</a:t>
            </a:r>
            <a:endParaRPr lang="ja-JP" sz="1350"/>
          </a:p>
        </p:txBody>
      </p:sp>
      <p:sp>
        <p:nvSpPr>
          <p:cNvPr id="6" name="TextBox 6"/>
          <p:cNvSpPr txBox="1"/>
          <p:nvPr/>
        </p:nvSpPr>
        <p:spPr>
          <a:xfrm>
            <a:off x="4304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電験へ抽象化する処理</a:t>
            </a:r>
            <a:endParaRPr lang="ja-JP" sz="1800"/>
          </a:p>
        </p:txBody>
      </p:sp>
      <p:sp>
        <p:nvSpPr>
          <p:cNvPr id="7" name="TextBox 7"/>
          <p:cNvSpPr txBox="1"/>
          <p:nvPr/>
        </p:nvSpPr>
        <p:spPr>
          <a:xfrm>
            <a:off x="4304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状態データ: 列車位置・運行条件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→ 状態＋時刻: 現在条件を整理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→ 論理判断: 許容処理を判定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→ 更新・監視: 次状態へ反映</a:t>
            </a:r>
            <a:endParaRPr lang="ja-JP" sz="1350"/>
          </a:p>
        </p:txBody>
      </p:sp>
      <p:sp>
        <p:nvSpPr>
          <p:cNvPr id="8" name="TextBox 8"/>
          <p:cNvSpPr txBox="1"/>
          <p:nvPr/>
        </p:nvSpPr>
        <p:spPr>
          <a:xfrm>
            <a:off x="8108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断定しない境界</a:t>
            </a:r>
            <a:endParaRPr lang="ja-JP" sz="1800"/>
          </a:p>
        </p:txBody>
      </p:sp>
      <p:sp>
        <p:nvSpPr>
          <p:cNvPr id="9" name="TextBox 9"/>
          <p:cNvSpPr txBox="1"/>
          <p:nvPr/>
        </p:nvSpPr>
        <p:spPr>
          <a:xfrm>
            <a:off x="8108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COMTRAC内部の追跡アルゴリズム、進路制御論理、OS、処理周期、装置単位冗長方式、故障率、MTBF/MTTR/実可用性値は真値化しない。教材用モデルは実装値と明確に分離。</a:t>
            </a:r>
            <a:endParaRPr lang="ja-JP" sz="1350"/>
          </a:p>
        </p:txBody>
      </p:sp>
      <p:sp>
        <p:nvSpPr>
          <p:cNvPr id="10" name="TextBox 10"/>
          <p:cNvSpPr txBox="1"/>
          <p:nvPr/>
        </p:nvSpPr>
        <p:spPr>
          <a:xfrm>
            <a:off x="500000" y="5580000"/>
            <a:ext cx="11192000" cy="780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2A6FA5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00" b="1">
                <a:solidFill>
                  <a:srgbClr val="17365D"/>
                </a:solidFill>
                <a:latin typeface="Aptos"/>
                <a:ea typeface="Yu Gothic"/>
              </a:rPr>
              <a:t>SPEC固定9項目: 列車追跡 / 状態データ / 論理処理 / 時刻情報 / ブール代数 / インターロック / 状態遷移 / 冗長化 / 可用性　｜　一次5問・25答案要素 / 二次0問（直接対応なし・件数合わせ0）</a:t>
            </a:r>
            <a:endParaRPr lang="ja-JP" sz="1300"/>
          </a:p>
        </p:txBody>
      </p:sp>
      <p:sp>
        <p:nvSpPr>
          <p:cNvPr id="11" name="TextBox 11"/>
          <p:cNvSpPr txBox="1"/>
          <p:nvPr/>
        </p:nvSpPr>
        <p:spPr>
          <a:xfrm>
            <a:off x="6000000" y="6440000"/>
            <a:ext cx="1500000" cy="250000"/>
          </a:xfrm>
          <a:prstGeom prst="roundRect">
            <a:avLst/>
          </a:prstGeom>
          <a:noFill/>
          <a:ln>
            <a:noFill/>
          </a:ln>
        </p:spPr>
        <p:txBody>
          <a:bodyPr lIns="0" tIns="0" rIns="0" bIns="0" wrap="square"/>
          <a:lstStyle/>
          <a:p>
            <a:pPr algn="ctr"/>
            <a:r>
              <a:rPr lang="ja-JP" sz="900" b="0">
                <a:solidFill>
                  <a:srgbClr val="6B7280"/>
                </a:solidFill>
                <a:latin typeface="Aptos"/>
                <a:ea typeface="Yu Gothic"/>
              </a:rPr>
              <a:t>01 / 04</a:t>
            </a:r>
            <a:endParaRPr lang="ja-JP" sz="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0000" y="180000"/>
            <a:ext cx="11400000" cy="620000"/>
          </a:xfrm>
          <a:prstGeom prst="roundRect">
            <a:avLst/>
          </a:prstGeom>
          <a:noFill/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3000" b="1">
                <a:solidFill>
                  <a:srgbClr val="17365D"/>
                </a:solidFill>
                <a:latin typeface="Aptos"/>
                <a:ea typeface="Yu Gothic"/>
              </a:rPr>
              <a:t>状態・論理処理：R2問8とH23問8を接続</a:t>
            </a:r>
            <a:endParaRPr lang="ja-JP" sz="3000"/>
          </a:p>
        </p:txBody>
      </p:sp>
      <p:sp>
        <p:nvSpPr>
          <p:cNvPr id="3" name="TextBox 3"/>
          <p:cNvSpPr txBox="1"/>
          <p:nvPr/>
        </p:nvSpPr>
        <p:spPr>
          <a:xfrm>
            <a:off x="700000" y="760000"/>
            <a:ext cx="11000000" cy="360000"/>
          </a:xfrm>
          <a:prstGeom prst="roundRect">
            <a:avLst/>
          </a:prstGeom>
          <a:noFill/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200" b="0">
                <a:solidFill>
                  <a:srgbClr val="6B7280"/>
                </a:solidFill>
                <a:latin typeface="Aptos"/>
                <a:ea typeface="Yu Gothic"/>
              </a:rPr>
              <a:t>状態データ→イベント→次状態。組合せ回路と順序回路を分ける。</a:t>
            </a:r>
            <a:endParaRPr lang="ja-JP" sz="1200"/>
          </a:p>
        </p:txBody>
      </p:sp>
      <p:sp>
        <p:nvSpPr>
          <p:cNvPr id="4" name="TextBox 4"/>
          <p:cNvSpPr txBox="1"/>
          <p:nvPr/>
        </p:nvSpPr>
        <p:spPr>
          <a:xfrm>
            <a:off x="500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状態・イベント処理</a:t>
            </a:r>
            <a:endParaRPr lang="ja-JP" sz="1800"/>
          </a:p>
        </p:txBody>
      </p:sp>
      <p:sp>
        <p:nvSpPr>
          <p:cNvPr id="5" name="TextBox 5"/>
          <p:cNvSpPr txBox="1"/>
          <p:nvPr/>
        </p:nvSpPr>
        <p:spPr>
          <a:xfrm>
            <a:off x="500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S_next = f(S_current, Event)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READY: 実行可能状態 / RUN: 実行中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割込み: イベントで所定処理へ制御移行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FIFO: 先入れ先出し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高優先度処理が継続すると低優先度タスクが飢餓状態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スループット: 単位時間当たりの処理量</a:t>
            </a:r>
            <a:endParaRPr lang="ja-JP" sz="1350"/>
          </a:p>
        </p:txBody>
      </p:sp>
      <p:sp>
        <p:nvSpPr>
          <p:cNvPr id="6" name="TextBox 6"/>
          <p:cNvSpPr txBox="1"/>
          <p:nvPr/>
        </p:nvSpPr>
        <p:spPr>
          <a:xfrm>
            <a:off x="4304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論理回路・状態保持</a:t>
            </a:r>
            <a:endParaRPr lang="ja-JP" sz="1800"/>
          </a:p>
        </p:txBody>
      </p:sp>
      <p:sp>
        <p:nvSpPr>
          <p:cNvPr id="7" name="TextBox 7"/>
          <p:cNvSpPr txBox="1"/>
          <p:nvPr/>
        </p:nvSpPr>
        <p:spPr>
          <a:xfrm>
            <a:off x="4304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組合せ回路: Y=f(X)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順序回路: S_next=f(S,X)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フリップフロップ: 1 bitの状態保持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ノイマン形コンピュータ: プログラムとデータを記憶装置に格納し、命令を原則逐次実行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ASIC: 特定用途向け集積回路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Quine–McCluskey法: 論理最小化</a:t>
            </a:r>
            <a:endParaRPr lang="ja-JP" sz="1350"/>
          </a:p>
        </p:txBody>
      </p:sp>
      <p:sp>
        <p:nvSpPr>
          <p:cNvPr id="8" name="TextBox 8"/>
          <p:cNvSpPr txBox="1"/>
          <p:nvPr/>
        </p:nvSpPr>
        <p:spPr>
          <a:xfrm>
            <a:off x="8108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教材用インターロック例</a:t>
            </a:r>
            <a:endParaRPr lang="ja-JP" sz="1800"/>
          </a:p>
        </p:txBody>
      </p:sp>
      <p:sp>
        <p:nvSpPr>
          <p:cNvPr id="9" name="TextBox 9"/>
          <p:cNvSpPr txBox="1"/>
          <p:nvPr/>
        </p:nvSpPr>
        <p:spPr>
          <a:xfrm>
            <a:off x="8108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Route_OK = Request・Track_Clear・Point_Locked・NOT Conflict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教材用状態遷移: IDLE→REQUESTED→LOCKED→CLEARED→OCCUPIED→RELEASED→IDLE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※実COMTRAC/電子連動装置の内部論理式・状態名ではない</a:t>
            </a:r>
            <a:endParaRPr lang="ja-JP" sz="1350"/>
          </a:p>
        </p:txBody>
      </p:sp>
      <p:sp>
        <p:nvSpPr>
          <p:cNvPr id="10" name="TextBox 10"/>
          <p:cNvSpPr txBox="1"/>
          <p:nvPr/>
        </p:nvSpPr>
        <p:spPr>
          <a:xfrm>
            <a:off x="500000" y="5580000"/>
            <a:ext cx="11192000" cy="780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2A6FA5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00" b="1">
                <a:solidFill>
                  <a:srgbClr val="17365D"/>
                </a:solidFill>
                <a:latin typeface="Aptos"/>
                <a:ea typeface="Yu Gothic"/>
              </a:rPr>
              <a:t>固定答案要素　R2問8: スループット / 実行可能状態 / 割込み / FIFO / 低優先度タスクの飢餓状態　｜　H23問8: 組合せ回路 / フリップフロップ / ノイマン形コンピュータ / ASIC / Quine–McCluskey法</a:t>
            </a:r>
            <a:endParaRPr lang="ja-JP" sz="1300"/>
          </a:p>
        </p:txBody>
      </p:sp>
      <p:sp>
        <p:nvSpPr>
          <p:cNvPr id="11" name="TextBox 11"/>
          <p:cNvSpPr txBox="1"/>
          <p:nvPr/>
        </p:nvSpPr>
        <p:spPr>
          <a:xfrm>
            <a:off x="6000000" y="6440000"/>
            <a:ext cx="1500000" cy="250000"/>
          </a:xfrm>
          <a:prstGeom prst="roundRect">
            <a:avLst/>
          </a:prstGeom>
          <a:noFill/>
          <a:ln>
            <a:noFill/>
          </a:ln>
        </p:spPr>
        <p:txBody>
          <a:bodyPr lIns="0" tIns="0" rIns="0" bIns="0" wrap="square"/>
          <a:lstStyle/>
          <a:p>
            <a:pPr algn="ctr"/>
            <a:r>
              <a:rPr lang="ja-JP" sz="900" b="0">
                <a:solidFill>
                  <a:srgbClr val="6B7280"/>
                </a:solidFill>
                <a:latin typeface="Aptos"/>
                <a:ea typeface="Yu Gothic"/>
              </a:rPr>
              <a:t>02 / 04</a:t>
            </a:r>
            <a:endParaRPr lang="ja-JP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0000" y="180000"/>
            <a:ext cx="11400000" cy="620000"/>
          </a:xfrm>
          <a:prstGeom prst="roundRect">
            <a:avLst/>
          </a:prstGeom>
          <a:noFill/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3000" b="1">
                <a:solidFill>
                  <a:srgbClr val="17365D"/>
                </a:solidFill>
                <a:latin typeface="Aptos"/>
                <a:ea typeface="Yu Gothic"/>
              </a:rPr>
              <a:t>制御とソフトウェア試験：R8問8・H29問8の不足点を潰す</a:t>
            </a:r>
            <a:endParaRPr lang="ja-JP" sz="3000"/>
          </a:p>
        </p:txBody>
      </p:sp>
      <p:sp>
        <p:nvSpPr>
          <p:cNvPr id="3" name="TextBox 3"/>
          <p:cNvSpPr txBox="1"/>
          <p:nvPr/>
        </p:nvSpPr>
        <p:spPr>
          <a:xfrm>
            <a:off x="700000" y="760000"/>
            <a:ext cx="11000000" cy="360000"/>
          </a:xfrm>
          <a:prstGeom prst="roundRect">
            <a:avLst/>
          </a:prstGeom>
          <a:noFill/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200" b="0">
                <a:solidFill>
                  <a:srgbClr val="6B7280"/>
                </a:solidFill>
                <a:latin typeface="Aptos"/>
                <a:ea typeface="Yu Gothic"/>
              </a:rPr>
              <a:t>オープンループ位置決め/脱調条件、試験工程の拡大を明示。</a:t>
            </a:r>
            <a:endParaRPr lang="ja-JP" sz="1200"/>
          </a:p>
        </p:txBody>
      </p:sp>
      <p:sp>
        <p:nvSpPr>
          <p:cNvPr id="4" name="TextBox 4"/>
          <p:cNvSpPr txBox="1"/>
          <p:nvPr/>
        </p:nvSpPr>
        <p:spPr>
          <a:xfrm>
            <a:off x="500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シーケンス vs フィードバック</a:t>
            </a:r>
            <a:endParaRPr lang="ja-JP" sz="1800"/>
          </a:p>
        </p:txBody>
      </p:sp>
      <p:sp>
        <p:nvSpPr>
          <p:cNvPr id="5" name="TextBox 5"/>
          <p:cNvSpPr txBox="1"/>
          <p:nvPr/>
        </p:nvSpPr>
        <p:spPr>
          <a:xfrm>
            <a:off x="500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シーケンス制御: 条件・順序に従って動作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フィードバック制御: 出力を検出し、目標との差で操作量を修正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マイクロコンピュータ: CPU・メモリ・I/O等でデジタル制御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角位置センサ: 回転位置を検出</a:t>
            </a:r>
            <a:endParaRPr lang="ja-JP" sz="1350"/>
          </a:p>
        </p:txBody>
      </p:sp>
      <p:sp>
        <p:nvSpPr>
          <p:cNvPr id="6" name="TextBox 6"/>
          <p:cNvSpPr txBox="1"/>
          <p:nvPr/>
        </p:nvSpPr>
        <p:spPr>
          <a:xfrm>
            <a:off x="4304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ステッピングモータ</a:t>
            </a:r>
            <a:endParaRPr lang="ja-JP" sz="1800"/>
          </a:p>
        </p:txBody>
      </p:sp>
      <p:sp>
        <p:nvSpPr>
          <p:cNvPr id="7" name="TextBox 7"/>
          <p:cNvSpPr txBox="1"/>
          <p:nvPr/>
        </p:nvSpPr>
        <p:spPr>
          <a:xfrm>
            <a:off x="4304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入力パルスに対応して離散角だけ回転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指令パルス数と回転角を対応させ、角位置センサなしのオープンループ簡易位置決めが可能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過負荷・急加減速では回転子が指令に追従できず脱調し、指令位置と実位置がずれる</a:t>
            </a:r>
            <a:endParaRPr lang="ja-JP" sz="1350"/>
          </a:p>
        </p:txBody>
      </p:sp>
      <p:sp>
        <p:nvSpPr>
          <p:cNvPr id="8" name="TextBox 8"/>
          <p:cNvSpPr txBox="1"/>
          <p:nvPr/>
        </p:nvSpPr>
        <p:spPr>
          <a:xfrm>
            <a:off x="8108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ソフトウェア試験</a:t>
            </a:r>
            <a:endParaRPr lang="ja-JP" sz="1800"/>
          </a:p>
        </p:txBody>
      </p:sp>
      <p:sp>
        <p:nvSpPr>
          <p:cNvPr id="9" name="TextBox 9"/>
          <p:cNvSpPr txBox="1"/>
          <p:nvPr/>
        </p:nvSpPr>
        <p:spPr>
          <a:xfrm>
            <a:off x="8108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ウォーターフォール: 工程を原則逐次的に進める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単体試験→結合試験→システム試験: 対象プログラム量・範囲が大きくなる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ボトムアップ: 未完成上位の代わりにドライバ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トップダウン: 未完成下位の代わりにスタブ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ブラックボックス: 仕様に基づく入出力関係を確認</a:t>
            </a:r>
            <a:endParaRPr lang="ja-JP" sz="1350"/>
          </a:p>
        </p:txBody>
      </p:sp>
      <p:sp>
        <p:nvSpPr>
          <p:cNvPr id="10" name="TextBox 10"/>
          <p:cNvSpPr txBox="1"/>
          <p:nvPr/>
        </p:nvSpPr>
        <p:spPr>
          <a:xfrm>
            <a:off x="500000" y="5580000"/>
            <a:ext cx="11192000" cy="780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2A6FA5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00" b="1">
                <a:solidFill>
                  <a:srgbClr val="17365D"/>
                </a:solidFill>
                <a:latin typeface="Aptos"/>
                <a:ea typeface="Yu Gothic"/>
              </a:rPr>
              <a:t>固定答案要素　R8問8: マイクロコンピュータ / シーケンス制御 / フィードバック制御 / 角位置センサ / ステッピングモータ　｜　H29問8: 逐次的 / 結合 / ドライバ / 大きくなる / ブラックボックス</a:t>
            </a:r>
            <a:endParaRPr lang="ja-JP" sz="1300"/>
          </a:p>
        </p:txBody>
      </p:sp>
      <p:sp>
        <p:nvSpPr>
          <p:cNvPr id="11" name="TextBox 11"/>
          <p:cNvSpPr txBox="1"/>
          <p:nvPr/>
        </p:nvSpPr>
        <p:spPr>
          <a:xfrm>
            <a:off x="6000000" y="6440000"/>
            <a:ext cx="1500000" cy="250000"/>
          </a:xfrm>
          <a:prstGeom prst="roundRect">
            <a:avLst/>
          </a:prstGeom>
          <a:noFill/>
          <a:ln>
            <a:noFill/>
          </a:ln>
        </p:spPr>
        <p:txBody>
          <a:bodyPr lIns="0" tIns="0" rIns="0" bIns="0" wrap="square"/>
          <a:lstStyle/>
          <a:p>
            <a:pPr algn="ctr"/>
            <a:r>
              <a:rPr lang="ja-JP" sz="900" b="0">
                <a:solidFill>
                  <a:srgbClr val="6B7280"/>
                </a:solidFill>
                <a:latin typeface="Aptos"/>
                <a:ea typeface="Yu Gothic"/>
              </a:rPr>
              <a:t>03 / 04</a:t>
            </a:r>
            <a:endParaRPr lang="ja-JP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80000" y="180000"/>
            <a:ext cx="11400000" cy="620000"/>
          </a:xfrm>
          <a:prstGeom prst="roundRect">
            <a:avLst/>
          </a:prstGeom>
          <a:noFill/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3000" b="1">
                <a:solidFill>
                  <a:srgbClr val="17365D"/>
                </a:solidFill>
                <a:latin typeface="Aptos"/>
                <a:ea typeface="Yu Gothic"/>
              </a:rPr>
              <a:t>UPS・冗長化・可用性：H26問3と品質ゲート</a:t>
            </a:r>
            <a:endParaRPr lang="ja-JP" sz="3000"/>
          </a:p>
        </p:txBody>
      </p:sp>
      <p:sp>
        <p:nvSpPr>
          <p:cNvPr id="3" name="TextBox 3"/>
          <p:cNvSpPr txBox="1"/>
          <p:nvPr/>
        </p:nvSpPr>
        <p:spPr>
          <a:xfrm>
            <a:off x="700000" y="760000"/>
            <a:ext cx="11000000" cy="360000"/>
          </a:xfrm>
          <a:prstGeom prst="roundRect">
            <a:avLst/>
          </a:prstGeom>
          <a:noFill/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200" b="0">
                <a:solidFill>
                  <a:srgbClr val="6B7280"/>
                </a:solidFill>
                <a:latin typeface="Aptos"/>
                <a:ea typeface="Yu Gothic"/>
              </a:rPr>
              <a:t>一般式・仮定値はCOMTRAC実値と明確に分離。</a:t>
            </a:r>
            <a:endParaRPr lang="ja-JP" sz="1200"/>
          </a:p>
        </p:txBody>
      </p:sp>
      <p:sp>
        <p:nvSpPr>
          <p:cNvPr id="4" name="TextBox 4"/>
          <p:cNvSpPr txBox="1"/>
          <p:nvPr/>
        </p:nvSpPr>
        <p:spPr>
          <a:xfrm>
            <a:off x="500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UPSと冗長化</a:t>
            </a:r>
            <a:endParaRPr lang="ja-JP" sz="1800"/>
          </a:p>
        </p:txBody>
      </p:sp>
      <p:sp>
        <p:nvSpPr>
          <p:cNvPr id="5" name="TextBox 5"/>
          <p:cNvSpPr txBox="1"/>
          <p:nvPr/>
        </p:nvSpPr>
        <p:spPr>
          <a:xfrm>
            <a:off x="500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交流入力→整流器→直流母線→インバータ→負荷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蓄電池→直流側へ接続 / 直流スイッチ / 交流バイパス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切替時は同期条件が重要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n+1: 必要容量n台分＋予備1台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共通原因故障・切替失敗が消えるわけではない</a:t>
            </a:r>
            <a:endParaRPr lang="ja-JP" sz="1350"/>
          </a:p>
        </p:txBody>
      </p:sp>
      <p:sp>
        <p:nvSpPr>
          <p:cNvPr id="6" name="TextBox 6"/>
          <p:cNvSpPr txBox="1"/>
          <p:nvPr/>
        </p:nvSpPr>
        <p:spPr>
          <a:xfrm>
            <a:off x="4304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可用性の教材モデル</a:t>
            </a:r>
            <a:endParaRPr lang="ja-JP" sz="1800"/>
          </a:p>
        </p:txBody>
      </p:sp>
      <p:sp>
        <p:nvSpPr>
          <p:cNvPr id="7" name="TextBox 7"/>
          <p:cNvSpPr txBox="1"/>
          <p:nvPr/>
        </p:nvSpPr>
        <p:spPr>
          <a:xfrm>
            <a:off x="4304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A = MTBF / (MTBF + MTTR)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仮定: MTBF=1000 h, MTTR=2 h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A = 1000/1002 ≒ 99.8004 %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独立2系統・完全切替を仮定: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A_parallel = 1-(1-A)^2 ≒ 99.9996 %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※COMTRAC/第二総合指令所の実可用性ではない</a:t>
            </a:r>
            <a:endParaRPr lang="ja-JP" sz="1350"/>
          </a:p>
        </p:txBody>
      </p:sp>
      <p:sp>
        <p:nvSpPr>
          <p:cNvPr id="8" name="TextBox 8"/>
          <p:cNvSpPr txBox="1"/>
          <p:nvPr/>
        </p:nvSpPr>
        <p:spPr>
          <a:xfrm>
            <a:off x="8108000" y="1200000"/>
            <a:ext cx="3584000" cy="430000"/>
          </a:xfrm>
          <a:prstGeom prst="roundRect">
            <a:avLst/>
          </a:prstGeom>
          <a:solidFill>
            <a:srgbClr val="E8F0F7"/>
          </a:solidFill>
          <a:ln>
            <a:noFill/>
          </a:ln>
        </p:spPr>
        <p:txBody>
          <a:bodyPr lIns="90000" tIns="90000" rIns="90000" bIns="90000" wrap="square"/>
          <a:lstStyle/>
          <a:p>
            <a:pPr algn="l"/>
            <a:r>
              <a:rPr lang="ja-JP" sz="1800" b="1">
                <a:solidFill>
                  <a:srgbClr val="17365D"/>
                </a:solidFill>
                <a:latin typeface="Aptos"/>
                <a:ea typeface="Yu Gothic"/>
              </a:rPr>
              <a:t>品質ゲート</a:t>
            </a:r>
            <a:endParaRPr lang="ja-JP" sz="1800"/>
          </a:p>
        </p:txBody>
      </p:sp>
      <p:sp>
        <p:nvSpPr>
          <p:cNvPr id="9" name="TextBox 9"/>
          <p:cNvSpPr txBox="1"/>
          <p:nvPr/>
        </p:nvSpPr>
        <p:spPr>
          <a:xfrm>
            <a:off x="8108000" y="1690000"/>
            <a:ext cx="3584000" cy="365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E2EE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固定5問・25答案要素: 25/25 connected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一次: 5問 / 25答案要素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二次: 0問（直接対応なし、件数合わせ0）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SPEC固定9項目: 9/9 PASS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未確認実装の真値化: 0</a:t>
            </a:r>
            <a:endParaRPr lang="ja-JP" sz="1350"/>
          </a:p>
          <a:p>
            <a:pPr algn="l"/>
            <a:r>
              <a:rPr lang="ja-JP" sz="1350" b="0">
                <a:solidFill>
                  <a:srgbClr val="20242A"/>
                </a:solidFill>
                <a:latin typeface="Aptos"/>
                <a:ea typeface="Yu Gothic"/>
              </a:rPr>
              <a:t>Topic 39先取り: 0</a:t>
            </a:r>
            <a:endParaRPr lang="ja-JP" sz="1350"/>
          </a:p>
        </p:txBody>
      </p:sp>
      <p:sp>
        <p:nvSpPr>
          <p:cNvPr id="10" name="TextBox 10"/>
          <p:cNvSpPr txBox="1"/>
          <p:nvPr/>
        </p:nvSpPr>
        <p:spPr>
          <a:xfrm>
            <a:off x="500000" y="5580000"/>
            <a:ext cx="11192000" cy="780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2A6FA5"/>
            </a:solidFill>
          </a:ln>
        </p:spPr>
        <p:txBody>
          <a:bodyPr lIns="90000" tIns="90000" rIns="90000" bIns="90000" wrap="square"/>
          <a:lstStyle/>
          <a:p>
            <a:pPr algn="l"/>
            <a:r>
              <a:rPr lang="ja-JP" sz="1300" b="1">
                <a:solidFill>
                  <a:srgbClr val="17365D"/>
                </a:solidFill>
                <a:latin typeface="Aptos"/>
                <a:ea typeface="Yu Gothic"/>
              </a:rPr>
              <a:t>H26問3固定5要素: 蓄電池を含む直流側構成 / 直流スイッチ / バイパス・並列冗長 / 同期 / n+1容量　｜　次工程: fresh clean blind v2</a:t>
            </a:r>
            <a:endParaRPr lang="ja-JP" sz="1300"/>
          </a:p>
        </p:txBody>
      </p:sp>
      <p:sp>
        <p:nvSpPr>
          <p:cNvPr id="11" name="TextBox 11"/>
          <p:cNvSpPr txBox="1"/>
          <p:nvPr/>
        </p:nvSpPr>
        <p:spPr>
          <a:xfrm>
            <a:off x="6000000" y="6440000"/>
            <a:ext cx="1500000" cy="250000"/>
          </a:xfrm>
          <a:prstGeom prst="roundRect">
            <a:avLst/>
          </a:prstGeom>
          <a:noFill/>
          <a:ln>
            <a:noFill/>
          </a:ln>
        </p:spPr>
        <p:txBody>
          <a:bodyPr lIns="0" tIns="0" rIns="0" bIns="0" wrap="square"/>
          <a:lstStyle/>
          <a:p>
            <a:pPr algn="ctr"/>
            <a:r>
              <a:rPr lang="ja-JP" sz="900" b="0">
                <a:solidFill>
                  <a:srgbClr val="6B7280"/>
                </a:solidFill>
                <a:latin typeface="Aptos"/>
                <a:ea typeface="Yu Gothic"/>
              </a:rPr>
              <a:t>04 / 04</a:t>
            </a:r>
            <a:endParaRPr lang="ja-JP" sz="900"/>
          </a:p>
        </p:txBody>
      </p:sp>
    </p:spTree>
  </p:cSld>
  <p:clrMapOvr>
    <a:masterClrMapping/>
  </p:clrMapOvr>
</p:sld>
</file>