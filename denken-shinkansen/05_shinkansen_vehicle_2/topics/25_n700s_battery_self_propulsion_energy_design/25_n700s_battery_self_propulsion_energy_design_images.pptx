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105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電験二種 × 新幹線車両｜Topic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0" y="6510528"/>
            <a:ext cx="5349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N700S バッテリー自走のエネルギー設計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25603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88896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25603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88896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自走設計は「Wh条件」と「A条件」を分けて解く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固定品質ゲート：第二種 一次4問＋二次1問＝5問・28答案要素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481328"/>
            <a:ext cx="17830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3970">
            <a:solidFill>
              <a:srgbClr val="CBD7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7335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必要機械出力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99339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Pₘₑcₕ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77440" y="1956816"/>
            <a:ext cx="301752" cy="0"/>
          </a:xfrm>
          <a:prstGeom prst="line">
            <a:avLst/>
          </a:prstGeom>
          <a:noFill/>
          <a:ln w="25400">
            <a:solidFill>
              <a:srgbClr val="1769A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697480" y="1481328"/>
            <a:ext cx="17830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3970">
            <a:solidFill>
              <a:srgbClr val="CBD7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167335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走行時間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88920" y="199339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 [h]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80560" y="1956816"/>
            <a:ext cx="301752" cy="0"/>
          </a:xfrm>
          <a:prstGeom prst="line">
            <a:avLst/>
          </a:prstGeom>
          <a:noFill/>
          <a:ln w="25400">
            <a:solidFill>
              <a:srgbClr val="1769A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800600" y="1481328"/>
            <a:ext cx="17830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3970">
            <a:solidFill>
              <a:srgbClr val="CBD7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67335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効率を逆算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99339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÷ηₘ÷ηinv÷ηb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0" y="1956816"/>
            <a:ext cx="301752" cy="0"/>
          </a:xfrm>
          <a:prstGeom prst="line">
            <a:avLst/>
          </a:prstGeom>
          <a:noFill/>
          <a:ln w="25400">
            <a:solidFill>
              <a:srgbClr val="1769A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03720" y="1481328"/>
            <a:ext cx="17830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3970">
            <a:solidFill>
              <a:srgbClr val="CBD7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167335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必要電力量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95160" y="199339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Ebat [Wh]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686800" y="1956816"/>
            <a:ext cx="301752" cy="0"/>
          </a:xfrm>
          <a:prstGeom prst="line">
            <a:avLst/>
          </a:prstGeom>
          <a:noFill/>
          <a:ln w="25400">
            <a:solidFill>
              <a:srgbClr val="1769A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006840" y="1481328"/>
            <a:ext cx="1783080" cy="960120"/>
          </a:xfrm>
          <a:prstGeom prst="roundRect">
            <a:avLst>
              <a:gd name="adj" fmla="val 4762"/>
            </a:avLst>
          </a:prstGeom>
          <a:solidFill>
            <a:srgbClr val="EEF6F1"/>
          </a:solidFill>
          <a:ln w="13970">
            <a:solidFill>
              <a:srgbClr val="2F7D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98280" y="167335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Ah＋Cレート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98280" y="199339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max条件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2788920"/>
            <a:ext cx="342900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2788920"/>
            <a:ext cx="73152" cy="1600200"/>
          </a:xfrm>
          <a:prstGeom prst="rect">
            <a:avLst/>
          </a:prstGeom>
          <a:solidFill>
            <a:srgbClr val="2F7D5B"/>
          </a:solidFill>
          <a:ln w="12700">
            <a:solidFill>
              <a:srgbClr val="2F7D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2926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N700Sで確認済み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41248" y="3273552"/>
            <a:ext cx="3081528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東芝SCiB採用／JR東海とバッテリー自走システムを共同開発。長時間停電時に安全な場所まで自力走行を目指す。</a:t>
            </a:r>
            <a:endParaRPr lang="en-US" sz="1070" dirty="0"/>
          </a:p>
        </p:txBody>
      </p:sp>
      <p:sp>
        <p:nvSpPr>
          <p:cNvPr id="27" name="Shape 25"/>
          <p:cNvSpPr/>
          <p:nvPr/>
        </p:nvSpPr>
        <p:spPr>
          <a:xfrm>
            <a:off x="4224528" y="2788920"/>
            <a:ext cx="3401568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24528" y="2788920"/>
            <a:ext cx="73152" cy="1600200"/>
          </a:xfrm>
          <a:prstGeom prst="rect">
            <a:avLst/>
          </a:prstGeom>
          <a:solidFill>
            <a:srgbClr val="B33A3A"/>
          </a:solidFill>
          <a:ln w="12700">
            <a:solidFill>
              <a:srgbClr val="B33A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25696" y="292608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実車値として置かない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4425696" y="3273552"/>
            <a:ext cx="3054096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電池電圧・Ah・Wh・セル数・直並列・Cレート・実放電電流・各効率は一次資料未確認。教材数値は仮定値。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772400" y="2788920"/>
            <a:ext cx="3685032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2400" y="2788920"/>
            <a:ext cx="73152" cy="1600200"/>
          </a:xfrm>
          <a:prstGeom prst="rect">
            <a:avLst/>
          </a:prstGeom>
          <a:solidFill>
            <a:srgbClr val="D77B27"/>
          </a:solidFill>
          <a:ln w="12700">
            <a:solidFill>
              <a:srgbClr val="D77B2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73568" y="292608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試験での焦点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7973568" y="3273552"/>
            <a:ext cx="33375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Ah≠Wh／1 Ah=3600 C／直列と並列／Cレート／内部抵抗／充放電符号／可逆チョッパ／効率逆算。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685800" y="4773168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" y="4837176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SPEC必須 10項目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697480" y="480060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電池電圧 / Ah / Wh / 直列・並列 / Cレート / 放電電流 / 電池効率 / インバータ効率 / モーター効率 / 必要容量</a:t>
            </a:r>
            <a:endParaRPr lang="en-US" sz="1060" dirty="0"/>
          </a:p>
        </p:txBody>
      </p:sp>
      <p:sp>
        <p:nvSpPr>
          <p:cNvPr id="38" name="Shape 36"/>
          <p:cNvSpPr/>
          <p:nvPr/>
        </p:nvSpPr>
        <p:spPr>
          <a:xfrm>
            <a:off x="685800" y="5340096"/>
            <a:ext cx="1828800" cy="347472"/>
          </a:xfrm>
          <a:prstGeom prst="roundRect">
            <a:avLst>
              <a:gd name="adj" fmla="val 15789"/>
            </a:avLst>
          </a:prstGeom>
          <a:solidFill>
            <a:srgbClr val="EAF6F7"/>
          </a:solidFill>
          <a:ln w="12700">
            <a:solidFill>
              <a:srgbClr val="EAF6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0664" y="5404104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8A8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指定可視化 3点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697480" y="5376672"/>
            <a:ext cx="8732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走行時間―必要電力量 / 速度条件―必要電力 / 効率―必要電池容量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13232" y="592531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33A3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境界：Topic 25では未指定の走行抵抗モデルを追加しない。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25603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88896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一次試験の電池基礎｜Ah・Wh・直列並列・電池一般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固定一次4問の20答案要素へ接続する最小知識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261872"/>
            <a:ext cx="338328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61872"/>
            <a:ext cx="73152" cy="187452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3990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Ah と Wh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59536" y="1746504"/>
            <a:ext cx="3035808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QAh = I t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 Ah = 3600 C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EWh ≈ V × QAh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 = VI,  E = Pt</a:t>
            </a:r>
            <a:endParaRPr lang="en-US" sz="1140" dirty="0"/>
          </a:p>
          <a:p>
            <a:pPr indent="0" marL="0">
              <a:buNone/>
            </a:pP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Ahは電気量、Whはエネルギー。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4224528" y="1261872"/>
            <a:ext cx="3419856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1261872"/>
            <a:ext cx="73152" cy="1874520"/>
          </a:xfrm>
          <a:prstGeom prst="rect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25696" y="139903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直列・並列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25696" y="1746504"/>
            <a:ext cx="3072384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直列：Vpack = Ns Vcell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　　　Ahは1セル分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並列：Qpack = Np Qcell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　　　電圧は1セル分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Epack ≈ NsNpVcellQcell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7827264" y="1261872"/>
            <a:ext cx="3447288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27264" y="1261872"/>
            <a:ext cx="73152" cy="1874520"/>
          </a:xfrm>
          <a:prstGeom prst="rect">
            <a:avLst/>
          </a:prstGeom>
          <a:solidFill>
            <a:srgbClr val="D77B27"/>
          </a:solidFill>
          <a:ln w="12700">
            <a:solidFill>
              <a:srgbClr val="D77B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28432" y="1399032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ファラデー換算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028432" y="1746504"/>
            <a:ext cx="3099816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 ≈ 9.65×10⁴ C/mol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F/3600 ≈ 26.8 Ah/mol</a:t>
            </a:r>
            <a:endParaRPr lang="en-US" sz="1090" dirty="0"/>
          </a:p>
          <a:p>
            <a:pPr indent="0" marL="0">
              <a:buNone/>
            </a:pP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200 Ah・2電子反応のPbO₂理論量 ≈ 893 g。</a:t>
            </a:r>
            <a:endParaRPr lang="en-US" sz="1090" dirty="0"/>
          </a:p>
        </p:txBody>
      </p:sp>
      <p:sp>
        <p:nvSpPr>
          <p:cNvPr id="16" name="Shape 14"/>
          <p:cNvSpPr/>
          <p:nvPr/>
        </p:nvSpPr>
        <p:spPr>
          <a:xfrm>
            <a:off x="658368" y="3401568"/>
            <a:ext cx="5166360" cy="1938528"/>
          </a:xfrm>
          <a:prstGeom prst="roundRect">
            <a:avLst>
              <a:gd name="adj" fmla="val 2358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401568"/>
            <a:ext cx="73152" cy="1938528"/>
          </a:xfrm>
          <a:prstGeom prst="rect">
            <a:avLst/>
          </a:prstGeom>
          <a:solidFill>
            <a:srgbClr val="2F7D5B"/>
          </a:solidFill>
          <a:ln w="12700">
            <a:solidFill>
              <a:srgbClr val="2F7D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35387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鉛蓄電池｜R8・R1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59536" y="3886200"/>
            <a:ext cx="4818888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5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正極 PbO₂ / 負極 Pb / 電解液 硫酸水溶液</a:t>
            </a:r>
            <a:endParaRPr lang="en-US" sz="1075" dirty="0"/>
          </a:p>
          <a:p>
            <a:pPr indent="0" marL="0">
              <a:buNone/>
            </a:pPr>
            <a:r>
              <a:rPr lang="en-US" sz="1075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放電で PbSO₄ 生成、硫酸濃度・比重は低下</a:t>
            </a:r>
            <a:endParaRPr lang="en-US" sz="1075" dirty="0"/>
          </a:p>
          <a:p>
            <a:pPr indent="0" marL="0">
              <a:buNone/>
            </a:pPr>
            <a:r>
              <a:rPr lang="en-US" sz="1075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1セル公称電圧 ≈ 2.0 V</a:t>
            </a:r>
            <a:endParaRPr lang="en-US" sz="1075" dirty="0"/>
          </a:p>
          <a:p>
            <a:pPr indent="0" marL="0">
              <a:buNone/>
            </a:pPr>
            <a:r>
              <a:rPr lang="en-US" sz="1075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PbO₂中のPb酸化数は +4</a:t>
            </a:r>
            <a:endParaRPr lang="en-US" sz="1075" dirty="0"/>
          </a:p>
          <a:p>
            <a:pPr indent="0" marL="0">
              <a:buNone/>
            </a:pPr>
            <a:r>
              <a:rPr lang="en-US" sz="1075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活物質量はファラデー則で電気量→物質量へ換算</a:t>
            </a:r>
            <a:endParaRPr lang="en-US" sz="1075" dirty="0"/>
          </a:p>
        </p:txBody>
      </p:sp>
      <p:sp>
        <p:nvSpPr>
          <p:cNvPr id="20" name="Shape 18"/>
          <p:cNvSpPr/>
          <p:nvPr/>
        </p:nvSpPr>
        <p:spPr>
          <a:xfrm>
            <a:off x="6016752" y="3401568"/>
            <a:ext cx="5257800" cy="1938528"/>
          </a:xfrm>
          <a:prstGeom prst="roundRect">
            <a:avLst>
              <a:gd name="adj" fmla="val 2358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16752" y="3401568"/>
            <a:ext cx="73152" cy="193852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353872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リチウムイオン電池｜R4・R2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217920" y="3886200"/>
            <a:ext cx="4910328" cy="1344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充放電可能な二次電池。代表例：負極炭素、正極リチウム遷移金属酸化物、有機電解液。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放電：負極酸化／正極還元、Li⁺移動。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R2設問条件の公称電圧 ≈ 3.7 V。大電流では内部抵抗等で端子電圧低下。Wh/kgから必要質量を逆算。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58952" y="565099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本試験型：平均3.5 V × 0.5 A × 10 h = 17.5 Wh → 175 Wh/kg なら 0.10 kg = 100 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25603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88896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二次試験の橋渡し｜Cレート・内部抵抗・可逆チョッパ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H23二次「機械・制御」問3の8答案要素へ接続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234440"/>
            <a:ext cx="3383280" cy="1664208"/>
          </a:xfrm>
          <a:prstGeom prst="roundRect">
            <a:avLst>
              <a:gd name="adj" fmla="val 2747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34440"/>
            <a:ext cx="73152" cy="1664208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3716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Cレート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59536" y="1719072"/>
            <a:ext cx="3035808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容量 CAh、rC放電なら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 = r CAh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 = 1/r [h]</a:t>
            </a:r>
            <a:endParaRPr lang="en-US" sz="1110" dirty="0"/>
          </a:p>
          <a:p>
            <a:pPr indent="0" marL="0">
              <a:buNone/>
            </a:pP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 Ah・2C → 20 A、0.5 h。1C≠1 A。</a:t>
            </a:r>
            <a:endParaRPr lang="en-US" sz="1110" dirty="0"/>
          </a:p>
        </p:txBody>
      </p:sp>
      <p:sp>
        <p:nvSpPr>
          <p:cNvPr id="8" name="Shape 6"/>
          <p:cNvSpPr/>
          <p:nvPr/>
        </p:nvSpPr>
        <p:spPr>
          <a:xfrm>
            <a:off x="4224528" y="1234440"/>
            <a:ext cx="3401568" cy="1664208"/>
          </a:xfrm>
          <a:prstGeom prst="roundRect">
            <a:avLst>
              <a:gd name="adj" fmla="val 2747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24528" y="1234440"/>
            <a:ext cx="73152" cy="1664208"/>
          </a:xfrm>
          <a:prstGeom prst="rect">
            <a:avLst/>
          </a:prstGeom>
          <a:solidFill>
            <a:srgbClr val="D77B27"/>
          </a:solidFill>
          <a:ln w="12700">
            <a:solidFill>
              <a:srgbClr val="D77B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25696" y="1371600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内部抵抗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25696" y="1719072"/>
            <a:ext cx="3054096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充電：Vterm = Ei + IRi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放電：Vterm = Ei − IRi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損失：PR = I²Ri</a:t>
            </a:r>
            <a:endParaRPr lang="en-US" sz="1110" dirty="0"/>
          </a:p>
          <a:p>
            <a:pPr indent="0" marL="0">
              <a:buNone/>
            </a:pP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端子電圧と内部起電力を分ける。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7818120" y="1234440"/>
            <a:ext cx="3447288" cy="1664208"/>
          </a:xfrm>
          <a:prstGeom prst="roundRect">
            <a:avLst>
              <a:gd name="adj" fmla="val 2747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18120" y="1234440"/>
            <a:ext cx="73152" cy="1664208"/>
          </a:xfrm>
          <a:prstGeom prst="rect">
            <a:avLst/>
          </a:prstGeom>
          <a:solidFill>
            <a:srgbClr val="2F7D5B"/>
          </a:solidFill>
          <a:ln w="12700">
            <a:solidFill>
              <a:srgbClr val="2F7D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137160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H23 数値橋渡し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019288" y="1719072"/>
            <a:ext cx="3099816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 Ah, Ri=0.005 Ω, Ei=3.6→3.8 V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1C充電：3.65→3.85 V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2C放電：3.70→3.50 V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822960" y="3246120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EAF3FA"/>
          </a:solidFill>
          <a:ln w="12700">
            <a:solidFill>
              <a:srgbClr val="EAF3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3310128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69A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充電：降圧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4672" y="39319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Ep1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874520" y="3776472"/>
            <a:ext cx="1170432" cy="585216"/>
          </a:xfrm>
          <a:prstGeom prst="rect">
            <a:avLst/>
          </a:prstGeom>
          <a:solidFill>
            <a:srgbClr val="FFFFFF"/>
          </a:solidFill>
          <a:ln w="19050">
            <a:solidFill>
              <a:srgbClr val="1769A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20240" y="392277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S1 / D2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417320" y="4069080"/>
            <a:ext cx="411480" cy="0"/>
          </a:xfrm>
          <a:prstGeom prst="line">
            <a:avLst/>
          </a:prstGeom>
          <a:noFill/>
          <a:ln w="25400">
            <a:solidFill>
              <a:srgbClr val="1769A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063240" y="4069080"/>
            <a:ext cx="466344" cy="0"/>
          </a:xfrm>
          <a:prstGeom prst="line">
            <a:avLst/>
          </a:prstGeom>
          <a:noFill/>
          <a:ln w="25400">
            <a:solidFill>
              <a:srgbClr val="1769AA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3566160" y="39319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Eb1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448056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 = Ton/(Ton+Toff)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Eb1 = D Ep1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080760" y="3246120"/>
            <a:ext cx="1234440" cy="347472"/>
          </a:xfrm>
          <a:prstGeom prst="roundRect">
            <a:avLst>
              <a:gd name="adj" fmla="val 15789"/>
            </a:avLst>
          </a:prstGeom>
          <a:solidFill>
            <a:srgbClr val="EEF6F1"/>
          </a:solidFill>
          <a:ln w="12700">
            <a:solidFill>
              <a:srgbClr val="EEF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35624" y="3310128"/>
            <a:ext cx="1124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7D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放電：昇圧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53328" y="39319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Eb2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150608" y="3776472"/>
            <a:ext cx="1170432" cy="585216"/>
          </a:xfrm>
          <a:prstGeom prst="rect">
            <a:avLst/>
          </a:prstGeom>
          <a:solidFill>
            <a:srgbClr val="FFFFFF"/>
          </a:solidFill>
          <a:ln w="19050">
            <a:solidFill>
              <a:srgbClr val="2F7D5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96328" y="3922776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S2 / D1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702552" y="4069080"/>
            <a:ext cx="402336" cy="0"/>
          </a:xfrm>
          <a:prstGeom prst="line">
            <a:avLst/>
          </a:prstGeom>
          <a:noFill/>
          <a:ln w="25400">
            <a:solidFill>
              <a:srgbClr val="2F7D5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339328" y="4069080"/>
            <a:ext cx="466344" cy="0"/>
          </a:xfrm>
          <a:prstGeom prst="line">
            <a:avLst/>
          </a:prstGeom>
          <a:noFill/>
          <a:ln w="25400">
            <a:solidFill>
              <a:srgbClr val="2F7D5B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8851392" y="39319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Ep2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00800" y="448056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Ep2 = Eb2/(1−D)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= {(Ton+Toff)/Toff} Eb2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811512" y="3246120"/>
            <a:ext cx="1444752" cy="1874520"/>
          </a:xfrm>
          <a:prstGeom prst="roundRect">
            <a:avLst>
              <a:gd name="adj" fmla="val 3165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811512" y="3246120"/>
            <a:ext cx="73152" cy="1874520"/>
          </a:xfrm>
          <a:prstGeom prst="rect">
            <a:avLst/>
          </a:prstGeom>
          <a:solidFill>
            <a:srgbClr val="B33A3A"/>
          </a:solidFill>
          <a:ln w="12700">
            <a:solidFill>
              <a:srgbClr val="B33A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12680" y="3383280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損失判断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10012680" y="3730752"/>
            <a:ext cx="109728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同じ充電エネルギーなら、大電流ほど I²R 損失が増える。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25603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88896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可視化A｜走行時間―必要電力量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教材用仮定：Pmech=300 kW, ηm=0.93, ηinv=0.96, ηb=0.95 → ηtotal=0.84816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68680" y="5321808"/>
            <a:ext cx="6080760" cy="0"/>
          </a:xfrm>
          <a:prstGeom prst="line">
            <a:avLst/>
          </a:prstGeom>
          <a:noFill/>
          <a:ln w="15240">
            <a:solidFill>
              <a:srgbClr val="1721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5321808"/>
            <a:ext cx="0" cy="-3657600"/>
          </a:xfrm>
          <a:prstGeom prst="line">
            <a:avLst/>
          </a:prstGeom>
          <a:noFill/>
          <a:ln w="15240">
            <a:solidFill>
              <a:srgbClr val="1721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5321808"/>
            <a:ext cx="6080760" cy="0"/>
          </a:xfrm>
          <a:prstGeom prst="line">
            <a:avLst/>
          </a:prstGeom>
          <a:noFill/>
          <a:ln w="8890">
            <a:solidFill>
              <a:srgbClr val="DDE5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523036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68680" y="4178808"/>
            <a:ext cx="6080760" cy="0"/>
          </a:xfrm>
          <a:prstGeom prst="line">
            <a:avLst/>
          </a:prstGeom>
          <a:noFill/>
          <a:ln w="8890">
            <a:solidFill>
              <a:srgbClr val="DDE5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408736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68680" y="3035808"/>
            <a:ext cx="6080760" cy="0"/>
          </a:xfrm>
          <a:prstGeom prst="line">
            <a:avLst/>
          </a:prstGeom>
          <a:noFill/>
          <a:ln w="8890">
            <a:solidFill>
              <a:srgbClr val="DDE5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94436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68680" y="1892808"/>
            <a:ext cx="6080760" cy="0"/>
          </a:xfrm>
          <a:prstGeom prst="line">
            <a:avLst/>
          </a:prstGeom>
          <a:noFill/>
          <a:ln w="8890">
            <a:solidFill>
              <a:srgbClr val="DDE5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80136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68680" y="5321808"/>
            <a:ext cx="0" cy="-3657600"/>
          </a:xfrm>
          <a:prstGeom prst="line">
            <a:avLst/>
          </a:prstGeom>
          <a:noFill/>
          <a:ln w="7620">
            <a:solidFill>
              <a:srgbClr val="EDF1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53949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388870" y="5321808"/>
            <a:ext cx="0" cy="-3657600"/>
          </a:xfrm>
          <a:prstGeom prst="line">
            <a:avLst/>
          </a:prstGeom>
          <a:noFill/>
          <a:ln w="7620">
            <a:solidFill>
              <a:srgbClr val="EDF1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51710" y="53949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909060" y="5321808"/>
            <a:ext cx="0" cy="-3657600"/>
          </a:xfrm>
          <a:prstGeom prst="line">
            <a:avLst/>
          </a:prstGeom>
          <a:noFill/>
          <a:ln w="7620">
            <a:solidFill>
              <a:srgbClr val="EDF1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71900" y="53949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29250" y="5321808"/>
            <a:ext cx="0" cy="-3657600"/>
          </a:xfrm>
          <a:prstGeom prst="line">
            <a:avLst/>
          </a:prstGeom>
          <a:noFill/>
          <a:ln w="7620">
            <a:solidFill>
              <a:srgbClr val="EDF1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92090" y="53949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949440" y="5321808"/>
            <a:ext cx="0" cy="-3657600"/>
          </a:xfrm>
          <a:prstGeom prst="line">
            <a:avLst/>
          </a:prstGeom>
          <a:noFill/>
          <a:ln w="7620">
            <a:solidFill>
              <a:srgbClr val="EDF1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53949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68680" y="4647438"/>
            <a:ext cx="1520190" cy="-673227"/>
          </a:xfrm>
          <a:prstGeom prst="line">
            <a:avLst/>
          </a:prstGeom>
          <a:noFill/>
          <a:ln w="33020">
            <a:solidFill>
              <a:srgbClr val="1769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88870" y="3974211"/>
            <a:ext cx="1520190" cy="-674370"/>
          </a:xfrm>
          <a:prstGeom prst="line">
            <a:avLst/>
          </a:prstGeom>
          <a:noFill/>
          <a:ln w="33020">
            <a:solidFill>
              <a:srgbClr val="1769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09060" y="3299841"/>
            <a:ext cx="1520190" cy="-673227"/>
          </a:xfrm>
          <a:prstGeom prst="line">
            <a:avLst/>
          </a:prstGeom>
          <a:noFill/>
          <a:ln w="33020">
            <a:solidFill>
              <a:srgbClr val="1769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29250" y="2626614"/>
            <a:ext cx="1520190" cy="-674370"/>
          </a:xfrm>
          <a:prstGeom prst="line">
            <a:avLst/>
          </a:prstGeom>
          <a:noFill/>
          <a:ln w="33020">
            <a:solidFill>
              <a:srgbClr val="1769A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" y="4597146"/>
            <a:ext cx="100584" cy="100584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38578" y="3923919"/>
            <a:ext cx="100584" cy="100584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58768" y="3249549"/>
            <a:ext cx="100584" cy="100584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78958" y="2576322"/>
            <a:ext cx="100584" cy="100584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99148" y="1901952"/>
            <a:ext cx="100584" cy="100584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0680" y="56509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走行時間 [min]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10312" y="14447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必要電池電力量 [kWh]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269480" y="1298448"/>
            <a:ext cx="3977640" cy="1353312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69480" y="1298448"/>
            <a:ext cx="73152" cy="1353312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70648" y="14356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エネルギー式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7470648" y="1783080"/>
            <a:ext cx="3630168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Ebat = Pmech t /(ηm ηinv ηb)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 min → 25/0.84816 = 29.48 kWh</a:t>
            </a:r>
            <a:endParaRPr lang="en-US" sz="1130" dirty="0"/>
          </a:p>
        </p:txBody>
      </p:sp>
      <p:sp>
        <p:nvSpPr>
          <p:cNvPr id="39" name="Shape 37"/>
          <p:cNvSpPr/>
          <p:nvPr/>
        </p:nvSpPr>
        <p:spPr>
          <a:xfrm>
            <a:off x="7360920" y="2999232"/>
            <a:ext cx="96012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7E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34072" y="312724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電池内部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434072" y="343814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÷ηb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321040" y="3419856"/>
            <a:ext cx="155448" cy="0"/>
          </a:xfrm>
          <a:prstGeom prst="line">
            <a:avLst/>
          </a:prstGeom>
          <a:noFill/>
          <a:ln w="22860">
            <a:solidFill>
              <a:srgbClr val="1B8A8F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8549640" y="2999232"/>
            <a:ext cx="96012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7E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22792" y="312724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端子/DC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622792" y="343814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÷ηinv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509760" y="3419856"/>
            <a:ext cx="155448" cy="0"/>
          </a:xfrm>
          <a:prstGeom prst="line">
            <a:avLst/>
          </a:prstGeom>
          <a:noFill/>
          <a:ln w="22860">
            <a:solidFill>
              <a:srgbClr val="1B8A8F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9738360" y="2999232"/>
            <a:ext cx="960120" cy="841248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7E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811512" y="312724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モータ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9811512" y="343814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÷ηm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0698480" y="3419856"/>
            <a:ext cx="155448" cy="0"/>
          </a:xfrm>
          <a:prstGeom prst="line">
            <a:avLst/>
          </a:prstGeom>
          <a:noFill/>
          <a:ln w="22860">
            <a:solidFill>
              <a:srgbClr val="1B8A8F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10927080" y="2999232"/>
            <a:ext cx="960120" cy="841248"/>
          </a:xfrm>
          <a:prstGeom prst="roundRect">
            <a:avLst>
              <a:gd name="adj" fmla="val 4348"/>
            </a:avLst>
          </a:prstGeom>
          <a:solidFill>
            <a:srgbClr val="EEF6F1"/>
          </a:solidFill>
          <a:ln w="12700">
            <a:solidFill>
              <a:srgbClr val="2F7D5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000232" y="312724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車輪側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1000232" y="343814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Pmech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269480" y="4169664"/>
            <a:ext cx="39776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269480" y="4169664"/>
            <a:ext cx="73152" cy="1325880"/>
          </a:xfrm>
          <a:prstGeom prst="rect">
            <a:avLst/>
          </a:prstGeom>
          <a:solidFill>
            <a:srgbClr val="D77B27"/>
          </a:solidFill>
          <a:ln w="12700">
            <a:solidFill>
              <a:srgbClr val="D77B2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70648" y="4306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容量設計の分岐</a:t>
            </a:r>
            <a:endParaRPr lang="en-US" sz="1450" dirty="0"/>
          </a:p>
        </p:txBody>
      </p:sp>
      <p:sp>
        <p:nvSpPr>
          <p:cNvPr id="57" name="Text 55"/>
          <p:cNvSpPr/>
          <p:nvPr/>
        </p:nvSpPr>
        <p:spPr>
          <a:xfrm>
            <a:off x="7470648" y="4654296"/>
            <a:ext cx="3630168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エネルギー条件：Qenergy = Ebat/Vb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電流条件：QCrate ≥ Ibat/rmax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最終：Qdesign ≥ max(Qenergy, QCrate)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25603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88896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可視化B｜速度条件―必要電力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走行抵抗は追加しない。問題文で与えられた「速度条件と必要機械出力」の組を入力として比較する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68680" y="5285232"/>
            <a:ext cx="5029200" cy="0"/>
          </a:xfrm>
          <a:prstGeom prst="line">
            <a:avLst/>
          </a:prstGeom>
          <a:noFill/>
          <a:ln w="15240">
            <a:solidFill>
              <a:srgbClr val="1721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5285232"/>
            <a:ext cx="0" cy="-3566160"/>
          </a:xfrm>
          <a:prstGeom prst="line">
            <a:avLst/>
          </a:prstGeom>
          <a:noFill/>
          <a:ln w="15240">
            <a:solidFill>
              <a:srgbClr val="1721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4690872"/>
            <a:ext cx="5029200" cy="0"/>
          </a:xfrm>
          <a:prstGeom prst="line">
            <a:avLst/>
          </a:prstGeom>
          <a:noFill/>
          <a:ln w="8890">
            <a:solidFill>
              <a:srgbClr val="DDE5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59943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68680" y="3502152"/>
            <a:ext cx="5029200" cy="0"/>
          </a:xfrm>
          <a:prstGeom prst="line">
            <a:avLst/>
          </a:prstGeom>
          <a:noFill/>
          <a:ln w="8890">
            <a:solidFill>
              <a:srgbClr val="DDE5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41071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300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68680" y="2313432"/>
            <a:ext cx="5029200" cy="0"/>
          </a:xfrm>
          <a:prstGeom prst="line">
            <a:avLst/>
          </a:prstGeom>
          <a:noFill/>
          <a:ln w="8890">
            <a:solidFill>
              <a:srgbClr val="DDE5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2199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400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68680" y="5285232"/>
            <a:ext cx="0" cy="-3566160"/>
          </a:xfrm>
          <a:prstGeom prst="line">
            <a:avLst/>
          </a:prstGeom>
          <a:noFill/>
          <a:ln w="7620">
            <a:solidFill>
              <a:srgbClr val="EDF1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535838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83280" y="5285232"/>
            <a:ext cx="0" cy="-3566160"/>
          </a:xfrm>
          <a:prstGeom prst="line">
            <a:avLst/>
          </a:prstGeom>
          <a:noFill/>
          <a:ln w="7620">
            <a:solidFill>
              <a:srgbClr val="EDF1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8688" y="535838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97880" y="5285232"/>
            <a:ext cx="0" cy="-3566160"/>
          </a:xfrm>
          <a:prstGeom prst="line">
            <a:avLst/>
          </a:prstGeom>
          <a:noFill/>
          <a:ln w="7620">
            <a:solidFill>
              <a:srgbClr val="EDF1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33288" y="5358384"/>
            <a:ext cx="329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68680" y="4690872"/>
            <a:ext cx="2514600" cy="-1188720"/>
          </a:xfrm>
          <a:prstGeom prst="line">
            <a:avLst/>
          </a:prstGeom>
          <a:noFill/>
          <a:ln w="33020">
            <a:solidFill>
              <a:srgbClr val="1B8A8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83280" y="3502152"/>
            <a:ext cx="2514600" cy="-1188720"/>
          </a:xfrm>
          <a:prstGeom prst="line">
            <a:avLst/>
          </a:prstGeom>
          <a:noFill/>
          <a:ln w="33020">
            <a:solidFill>
              <a:srgbClr val="1B8A8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3816" y="4636008"/>
            <a:ext cx="109728" cy="109728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28416" y="3447288"/>
            <a:ext cx="109728" cy="109728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43016" y="2258568"/>
            <a:ext cx="109728" cy="109728"/>
          </a:xfrm>
          <a:prstGeom prst="ellipse">
            <a:avLst/>
          </a:prstGeom>
          <a:solidFill>
            <a:srgbClr val="1B8A8F"/>
          </a:solidFill>
          <a:ln w="12700">
            <a:solidFill>
              <a:srgbClr val="1B8A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5968" y="562356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速度条件 [km/h]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64592" y="1444752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与件の必要機械出力 [kW]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99632" y="1234440"/>
            <a:ext cx="507492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99632" y="1234440"/>
            <a:ext cx="73152" cy="1234440"/>
          </a:xfrm>
          <a:prstGeom prst="rect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1371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複合例題の条件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400800" y="1719072"/>
            <a:ext cx="472744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Pmech=300 kW, t=5 min, ηm=0.93, ηinv=0.96, ηb=0.95, Vb=600 V, 最大2C。すべて教材用仮定値。</a:t>
            </a:r>
            <a:endParaRPr lang="en-US" sz="1070" dirty="0"/>
          </a:p>
        </p:txBody>
      </p:sp>
      <p:sp>
        <p:nvSpPr>
          <p:cNvPr id="29" name="Shape 27"/>
          <p:cNvSpPr/>
          <p:nvPr/>
        </p:nvSpPr>
        <p:spPr>
          <a:xfrm>
            <a:off x="6199632" y="2679192"/>
            <a:ext cx="2432304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99632" y="2679192"/>
            <a:ext cx="73152" cy="1874520"/>
          </a:xfrm>
          <a:prstGeom prst="rect">
            <a:avLst/>
          </a:prstGeom>
          <a:solidFill>
            <a:srgbClr val="D77B27"/>
          </a:solidFill>
          <a:ln w="12700">
            <a:solidFill>
              <a:srgbClr val="D77B2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2816352"/>
            <a:ext cx="2112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Wh条件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400800" y="3163824"/>
            <a:ext cx="2084832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Ebat = 29.48 kWh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Qenergy = 29.48×1000/600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= 49.13 Ah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8823960" y="2679192"/>
            <a:ext cx="2450592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823960" y="2679192"/>
            <a:ext cx="73152" cy="1874520"/>
          </a:xfrm>
          <a:prstGeom prst="rect">
            <a:avLst/>
          </a:prstGeom>
          <a:solidFill>
            <a:srgbClr val="B33A3A"/>
          </a:solidFill>
          <a:ln w="12700">
            <a:solidFill>
              <a:srgbClr val="B33A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25128" y="2816352"/>
            <a:ext cx="2130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 / C-rate条件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9025128" y="3163824"/>
            <a:ext cx="210312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Pterminal = 300/(0.93×0.96)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= 336.0 kW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 ≈ 560 A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QCrate ≥ 560/2 = 280 Ah</a:t>
            </a:r>
            <a:endParaRPr lang="en-US" sz="1070" dirty="0"/>
          </a:p>
        </p:txBody>
      </p:sp>
      <p:sp>
        <p:nvSpPr>
          <p:cNvPr id="37" name="Shape 35"/>
          <p:cNvSpPr/>
          <p:nvPr/>
        </p:nvSpPr>
        <p:spPr>
          <a:xfrm>
            <a:off x="6199632" y="4754880"/>
            <a:ext cx="50749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99632" y="4754880"/>
            <a:ext cx="73152" cy="868680"/>
          </a:xfrm>
          <a:prstGeom prst="rect">
            <a:avLst/>
          </a:prstGeom>
          <a:solidFill>
            <a:srgbClr val="2F7D5B"/>
          </a:solidFill>
          <a:ln w="12700">
            <a:solidFill>
              <a:srgbClr val="2F7D5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4892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設計値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6400800" y="5239512"/>
            <a:ext cx="472744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Qdesign ≥ max(49.13, 280) = 280 Ah　→ 短時間では電力量より出力電流条件が支配的</a:t>
            </a:r>
            <a:endParaRPr lang="en-US" sz="10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25603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88896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可視化C｜効率―必要電池容量 ＋ 固定過去問対応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86868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教材用仮定：Pmech=300 kW, 5 min, Vb=600 V。N700S実電池電圧ではない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49808" y="4114800"/>
            <a:ext cx="5074920" cy="0"/>
          </a:xfrm>
          <a:prstGeom prst="line">
            <a:avLst/>
          </a:prstGeom>
          <a:noFill/>
          <a:ln w="13970">
            <a:solidFill>
              <a:srgbClr val="1721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4114800"/>
            <a:ext cx="0" cy="-2514600"/>
          </a:xfrm>
          <a:prstGeom prst="line">
            <a:avLst/>
          </a:prstGeom>
          <a:noFill/>
          <a:ln w="13970">
            <a:solidFill>
              <a:srgbClr val="1721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3835400"/>
            <a:ext cx="5074920" cy="0"/>
          </a:xfrm>
          <a:prstGeom prst="line">
            <a:avLst/>
          </a:prstGeom>
          <a:noFill/>
          <a:ln w="8890">
            <a:solidFill>
              <a:srgbClr val="DDE5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37439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46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749808" y="3276600"/>
            <a:ext cx="5074920" cy="0"/>
          </a:xfrm>
          <a:prstGeom prst="line">
            <a:avLst/>
          </a:prstGeom>
          <a:noFill/>
          <a:ln w="8890">
            <a:solidFill>
              <a:srgbClr val="DDE5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31851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50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749808" y="2717800"/>
            <a:ext cx="5074920" cy="0"/>
          </a:xfrm>
          <a:prstGeom prst="line">
            <a:avLst/>
          </a:prstGeom>
          <a:noFill/>
          <a:ln w="8890">
            <a:solidFill>
              <a:srgbClr val="DDE5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6263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54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749808" y="2159000"/>
            <a:ext cx="5074920" cy="0"/>
          </a:xfrm>
          <a:prstGeom prst="line">
            <a:avLst/>
          </a:prstGeom>
          <a:noFill/>
          <a:ln w="8890">
            <a:solidFill>
              <a:srgbClr val="DDE5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0675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58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749808" y="1600200"/>
            <a:ext cx="5074920" cy="0"/>
          </a:xfrm>
          <a:prstGeom prst="line">
            <a:avLst/>
          </a:prstGeom>
          <a:noFill/>
          <a:ln w="8890">
            <a:solidFill>
              <a:srgbClr val="DDE5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5087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8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62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749808" y="4114800"/>
            <a:ext cx="0" cy="-2514600"/>
          </a:xfrm>
          <a:prstGeom prst="line">
            <a:avLst/>
          </a:prstGeom>
          <a:noFill/>
          <a:ln w="7620">
            <a:solidFill>
              <a:srgbClr val="EDF1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18795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0.70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018538" y="4114800"/>
            <a:ext cx="0" cy="-2514600"/>
          </a:xfrm>
          <a:prstGeom prst="line">
            <a:avLst/>
          </a:prstGeom>
          <a:noFill/>
          <a:ln w="7620">
            <a:solidFill>
              <a:srgbClr val="EDF1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7370" y="418795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0.75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87268" y="4114800"/>
            <a:ext cx="0" cy="-2514600"/>
          </a:xfrm>
          <a:prstGeom prst="line">
            <a:avLst/>
          </a:prstGeom>
          <a:noFill/>
          <a:ln w="7620">
            <a:solidFill>
              <a:srgbClr val="EDF1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86100" y="418795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0.80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55998" y="4114800"/>
            <a:ext cx="0" cy="-2514600"/>
          </a:xfrm>
          <a:prstGeom prst="line">
            <a:avLst/>
          </a:prstGeom>
          <a:noFill/>
          <a:ln w="7620">
            <a:solidFill>
              <a:srgbClr val="EDF1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54830" y="418795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0.85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824728" y="4114800"/>
            <a:ext cx="0" cy="-2514600"/>
          </a:xfrm>
          <a:prstGeom prst="line">
            <a:avLst/>
          </a:prstGeom>
          <a:noFill/>
          <a:ln w="7620">
            <a:solidFill>
              <a:srgbClr val="EDF1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23560" y="418795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0.90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49808" y="1946656"/>
            <a:ext cx="1268730" cy="553212"/>
          </a:xfrm>
          <a:prstGeom prst="line">
            <a:avLst/>
          </a:prstGeom>
          <a:noFill/>
          <a:ln w="31750">
            <a:solidFill>
              <a:srgbClr val="1769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18538" y="2499868"/>
            <a:ext cx="1268730" cy="486156"/>
          </a:xfrm>
          <a:prstGeom prst="line">
            <a:avLst/>
          </a:prstGeom>
          <a:noFill/>
          <a:ln w="31750">
            <a:solidFill>
              <a:srgbClr val="1769A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87268" y="2986024"/>
            <a:ext cx="1268730" cy="427482"/>
          </a:xfrm>
          <a:prstGeom prst="line">
            <a:avLst/>
          </a:prstGeom>
          <a:noFill/>
          <a:ln w="31750">
            <a:solidFill>
              <a:srgbClr val="1769A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55998" y="3413506"/>
            <a:ext cx="1268730" cy="379984"/>
          </a:xfrm>
          <a:prstGeom prst="line">
            <a:avLst/>
          </a:prstGeom>
          <a:noFill/>
          <a:ln w="31750">
            <a:solidFill>
              <a:srgbClr val="1769A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2259" y="1899107"/>
            <a:ext cx="95098" cy="95098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0989" y="2452319"/>
            <a:ext cx="95098" cy="95098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39719" y="2938475"/>
            <a:ext cx="95098" cy="95098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08449" y="3365957"/>
            <a:ext cx="95098" cy="95098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77179" y="3745941"/>
            <a:ext cx="95098" cy="95098"/>
          </a:xfrm>
          <a:prstGeom prst="ellipse">
            <a:avLst/>
          </a:prstGeom>
          <a:solidFill>
            <a:srgbClr val="1769AA"/>
          </a:solidFill>
          <a:ln w="12700">
            <a:solidFill>
              <a:srgbClr val="1769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15968" y="444398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総合効率 ηtotal [-]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37160" y="13990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必要Ah容量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051560" y="4828032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Qrequired = 25×1000 /(600 ηtotal)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080760" y="1261872"/>
            <a:ext cx="2743200" cy="2395728"/>
          </a:xfrm>
          <a:prstGeom prst="roundRect">
            <a:avLst>
              <a:gd name="adj" fmla="val 1908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80760" y="1261872"/>
            <a:ext cx="73152" cy="2395728"/>
          </a:xfrm>
          <a:prstGeom prst="rect">
            <a:avLst/>
          </a:prstGeom>
          <a:solidFill>
            <a:srgbClr val="2F7D5B"/>
          </a:solidFill>
          <a:ln w="12700">
            <a:solidFill>
              <a:srgbClr val="2F7D5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81928" y="139903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固定過去問 5問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6281928" y="1746504"/>
            <a:ext cx="2395728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R8 一次 機械 問5：5要素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R4 一次 機械 問6：5要素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R2 一次 機械 問4：5要素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R1 一次 機械 問4：5要素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H23 二次 機械・制御 問3：8要素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合計 28答案要素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9006840" y="1261872"/>
            <a:ext cx="2267712" cy="2395728"/>
          </a:xfrm>
          <a:prstGeom prst="roundRect">
            <a:avLst>
              <a:gd name="adj" fmla="val 2016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006840" y="1261872"/>
            <a:ext cx="73152" cy="2395728"/>
          </a:xfrm>
          <a:prstGeom prst="rect">
            <a:avLst/>
          </a:prstGeom>
          <a:solidFill>
            <a:srgbClr val="B33A3A"/>
          </a:solidFill>
          <a:ln w="12700">
            <a:solidFill>
              <a:srgbClr val="B33A3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08008" y="1399032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頻出ミス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9208008" y="1746504"/>
            <a:ext cx="1920240" cy="1801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9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AhとWh混同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min→h忘れ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効率を掛ける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直列でAh加算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1C=1Aと誤解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±IRの符号逆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公称値=端子電圧</a:t>
            </a:r>
            <a:endParaRPr lang="en-US" sz="990" dirty="0"/>
          </a:p>
          <a:p>
            <a:pPr indent="0" marL="0">
              <a:buNone/>
            </a:pPr>
            <a:r>
              <a:rPr lang="en-US" sz="990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Whだけで容量決定</a:t>
            </a:r>
            <a:endParaRPr lang="en-US" sz="990" dirty="0"/>
          </a:p>
        </p:txBody>
      </p:sp>
      <p:sp>
        <p:nvSpPr>
          <p:cNvPr id="46" name="Shape 44"/>
          <p:cNvSpPr/>
          <p:nvPr/>
        </p:nvSpPr>
        <p:spPr>
          <a:xfrm>
            <a:off x="6080760" y="3904488"/>
            <a:ext cx="5193792" cy="1426464"/>
          </a:xfrm>
          <a:prstGeom prst="roundRect">
            <a:avLst>
              <a:gd name="adj" fmla="val 3205"/>
            </a:avLst>
          </a:prstGeom>
          <a:solidFill>
            <a:srgbClr val="FFFFFF"/>
          </a:solidFill>
          <a:ln w="12700">
            <a:solidFill>
              <a:srgbClr val="D6E0E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80760" y="3904488"/>
            <a:ext cx="73152" cy="1426464"/>
          </a:xfrm>
          <a:prstGeom prst="rect">
            <a:avLst/>
          </a:prstGeom>
          <a:solidFill>
            <a:srgbClr val="D77B27"/>
          </a:solidFill>
          <a:ln w="12700">
            <a:solidFill>
              <a:srgbClr val="D77B2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81928" y="4041648"/>
            <a:ext cx="4873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品質境界</a:t>
            </a:r>
            <a:endParaRPr lang="en-US" sz="1450" dirty="0"/>
          </a:p>
        </p:txBody>
      </p:sp>
      <p:sp>
        <p:nvSpPr>
          <p:cNvPr id="49" name="Text 47"/>
          <p:cNvSpPr/>
          <p:nvPr/>
        </p:nvSpPr>
        <p:spPr>
          <a:xfrm>
            <a:off x="6281928" y="4389120"/>
            <a:ext cx="4846320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35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固定EXAM_ALIGNMENTは変更しない。未確認N700S電池値を真値化しない。未指定の走行抵抗・余裕率・劣化率・SOC使用範囲を追加しない。</a:t>
            </a:r>
            <a:endParaRPr lang="en-US" sz="1035" dirty="0"/>
          </a:p>
          <a:p>
            <a:pPr indent="0" marL="0">
              <a:buNone/>
            </a:pPr>
            <a:r>
              <a:rPr lang="en-US" sz="1035" dirty="0">
                <a:solidFill>
                  <a:srgbClr val="17212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完成後clean blind独立再解答は、このPPT完了後の別工程。</a:t>
            </a:r>
            <a:endParaRPr lang="en-US" sz="1035" dirty="0"/>
          </a:p>
        </p:txBody>
      </p:sp>
      <p:sp>
        <p:nvSpPr>
          <p:cNvPr id="50" name="Shape 48"/>
          <p:cNvSpPr/>
          <p:nvPr/>
        </p:nvSpPr>
        <p:spPr>
          <a:xfrm>
            <a:off x="6080760" y="5577840"/>
            <a:ext cx="1965960" cy="347472"/>
          </a:xfrm>
          <a:prstGeom prst="roundRect">
            <a:avLst>
              <a:gd name="adj" fmla="val 15789"/>
            </a:avLst>
          </a:prstGeom>
          <a:solidFill>
            <a:srgbClr val="EAF0F6"/>
          </a:solidFill>
          <a:ln w="12700">
            <a:solidFill>
              <a:srgbClr val="EAF0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35624" y="5641848"/>
            <a:ext cx="1856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PPT QA 対象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8183880" y="5596128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5E6B7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内容 / 表示 / 固定28答案要素への接続 / SPEC必須10項目 / 指定3可視化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25603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88896"/>
                </a:solidFill>
                <a:latin typeface="Noto Sans CJK JP"/>
                <a:ea typeface="Noto Sans CJK JP"/>
                <a:cs typeface="Noto Sans CJK JP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cureflash/homepage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25 N700S バッテリー自走のエネルギー設計</dc:title>
  <dc:subject>Topic 25 N700S バッテリー自走のエネルギー設計</dc:subject>
  <dc:creator>OpenAI</dc:creator>
  <cp:lastModifiedBy>OpenAI</cp:lastModifiedBy>
  <cp:revision>1</cp:revision>
  <dcterms:created xsi:type="dcterms:W3CDTF">2026-09-19T20:56:46Z</dcterms:created>
  <dcterms:modified xsi:type="dcterms:W3CDTF">2026-09-19T20:56:46Z</dcterms:modified>
</cp:coreProperties>
</file>