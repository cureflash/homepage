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3796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573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/ns0:Relationships>
</file>

<file path=ppt/slides/_rels/slide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/ns0:Relationships>
</file>

<file path=ppt/slides/_rels/slide3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/ns0:Relationships>
</file>

<file path=ppt/slides/_rels/slide4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/ns0:Relationships>
</file>

<file path=ppt/slides/_rels/slide5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/ns0: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04088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発電ブレーキは「運動エネルギーを熱へ移す」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111556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R5一次の因果関係と、H24二次の直流機計算を同じエネルギー鎖でつなぐ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214884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8D2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2002536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① 車両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50392" y="2340864"/>
            <a:ext cx="1819656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運動エネルギー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K = 1/2 m_eq v²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46120" y="1874520"/>
            <a:ext cx="2148840" cy="1152144"/>
          </a:xfrm>
          <a:prstGeom prst="roundRect">
            <a:avLst>
              <a:gd name="adj" fmla="val 4762"/>
            </a:avLst>
          </a:prstGeom>
          <a:solidFill>
            <a:srgbClr val="F4F8FC"/>
          </a:solidFill>
          <a:ln w="12700">
            <a:solidFill>
              <a:srgbClr val="C8D2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2002536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② 主電動機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10712" y="2340864"/>
            <a:ext cx="1819656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発電機運転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E = kₑ Φω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806440" y="1874520"/>
            <a:ext cx="2148840" cy="1152144"/>
          </a:xfrm>
          <a:prstGeom prst="roundRect">
            <a:avLst>
              <a:gd name="adj" fmla="val 4762"/>
            </a:avLst>
          </a:prstGeom>
          <a:solidFill>
            <a:srgbClr val="F4F8FC"/>
          </a:solidFill>
          <a:ln w="12700">
            <a:solidFill>
              <a:srgbClr val="C8D2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71032" y="2002536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③ 電気回路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71032" y="2340864"/>
            <a:ext cx="1819656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I_b = E/(R_a+R_b)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P_g = E I_b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366760" y="1874520"/>
            <a:ext cx="2148840" cy="1152144"/>
          </a:xfrm>
          <a:prstGeom prst="roundRect">
            <a:avLst>
              <a:gd name="adj" fmla="val 4762"/>
            </a:avLst>
          </a:prstGeom>
          <a:solidFill>
            <a:srgbClr val="FFF8F2"/>
          </a:solidFill>
          <a:ln w="12700">
            <a:solidFill>
              <a:srgbClr val="C8D2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31352" y="2002536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4C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④ 制動抵抗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31352" y="2340864"/>
            <a:ext cx="1819656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P_R = I_b² R_b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Q_R = ∫P_R dt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2834640" y="2450592"/>
            <a:ext cx="338328" cy="0"/>
          </a:xfrm>
          <a:prstGeom prst="line">
            <a:avLst/>
          </a:prstGeom>
          <a:noFill/>
          <a:ln w="2540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394960" y="2450592"/>
            <a:ext cx="338328" cy="0"/>
          </a:xfrm>
          <a:prstGeom prst="line">
            <a:avLst/>
          </a:prstGeom>
          <a:noFill/>
          <a:ln w="2540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955280" y="2450592"/>
            <a:ext cx="338328" cy="0"/>
          </a:xfrm>
          <a:prstGeom prst="line">
            <a:avLst/>
          </a:prstGeom>
          <a:noFill/>
          <a:ln w="2540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85800" y="3429000"/>
            <a:ext cx="5166360" cy="1499616"/>
          </a:xfrm>
          <a:prstGeom prst="roundRect">
            <a:avLst>
              <a:gd name="adj" fmla="val 3659"/>
            </a:avLst>
          </a:prstGeom>
          <a:solidFill>
            <a:srgbClr val="EAF3FB"/>
          </a:solidFill>
          <a:ln w="12700">
            <a:solidFill>
              <a:srgbClr val="C8D2D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3557016"/>
            <a:ext cx="4837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R5 一次 機械 問2（固定範囲）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50392" y="3895344"/>
            <a:ext cx="4837176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制動時に駆動用電動機で「運動エネルギー → 電気エネルギー」へ変換し、必要に応じて車上抵抗で消費する。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固定範囲の公式解答：(2) 制動、(3) 電気エネルギー。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72200" y="3429000"/>
            <a:ext cx="5166360" cy="1499616"/>
          </a:xfrm>
          <a:prstGeom prst="roundRect">
            <a:avLst>
              <a:gd name="adj" fmla="val 3659"/>
            </a:avLst>
          </a:prstGeom>
          <a:solidFill>
            <a:srgbClr val="F2F7EC"/>
          </a:solidFill>
          <a:ln w="12700">
            <a:solidFill>
              <a:srgbClr val="C8D2D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36792" y="3557016"/>
            <a:ext cx="4837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6B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H24 二次 機械・制御 問1（(1)(2)のみ）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36792" y="3895344"/>
            <a:ext cx="4837176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損失整理 → 電機子抵抗 R_a → 誘導起電力 E。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公式標準解答：R_a = 0.500 Ω、E = 187.5 V ≒ 188 V。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後半の可逆チョッパ (3)〜(6) は本テーマ範囲外。</a:t>
            </a:r>
            <a:endParaRPr lang="en-US" sz="1210" dirty="0"/>
          </a:p>
        </p:txBody>
      </p:sp>
      <p:sp>
        <p:nvSpPr>
          <p:cNvPr id="25" name="Text 23"/>
          <p:cNvSpPr/>
          <p:nvPr/>
        </p:nvSpPr>
        <p:spPr>
          <a:xfrm>
            <a:off x="777240" y="525780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本テーマでは「発電して車上抵抗で熱にする」範囲だけを扱う。回生・チョッパ・VVVFは追加しない。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3796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573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04088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H24二次の直流機計算を、発電制動へ接続する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111556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まず電動機運転の損失から R_a と E を求め、発電機運転側の制動電流へつなぐ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36576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8D2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8952" y="1682496"/>
            <a:ext cx="3328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1. 損失整理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58952" y="2020824"/>
            <a:ext cx="332841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P_in = 200×20 = 4000 W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P_b = 2.5×20 = 50 W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P_Cu = 4000−3750−50 = 200 W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4297680" y="2057400"/>
            <a:ext cx="502920" cy="0"/>
          </a:xfrm>
          <a:prstGeom prst="line">
            <a:avLst/>
          </a:prstGeom>
          <a:noFill/>
          <a:ln w="2540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846320" y="1554480"/>
            <a:ext cx="3063240" cy="1051560"/>
          </a:xfrm>
          <a:prstGeom prst="roundRect">
            <a:avLst>
              <a:gd name="adj" fmla="val 5217"/>
            </a:avLst>
          </a:prstGeom>
          <a:solidFill>
            <a:srgbClr val="EEF4FA"/>
          </a:solidFill>
          <a:ln w="12700">
            <a:solidFill>
              <a:srgbClr val="C8D2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10912" y="1682496"/>
            <a:ext cx="2734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2. 電機子抵抗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10912" y="2020824"/>
            <a:ext cx="273405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R_a = P_Cu / I_a²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= 200 / 20²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= 0.500 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55280" y="2057400"/>
            <a:ext cx="457200" cy="0"/>
          </a:xfrm>
          <a:prstGeom prst="line">
            <a:avLst/>
          </a:prstGeom>
          <a:noFill/>
          <a:ln w="2540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458200" y="1554480"/>
            <a:ext cx="3063240" cy="1051560"/>
          </a:xfrm>
          <a:prstGeom prst="roundRect">
            <a:avLst>
              <a:gd name="adj" fmla="val 5217"/>
            </a:avLst>
          </a:prstGeom>
          <a:solidFill>
            <a:srgbClr val="EEF4FA"/>
          </a:solidFill>
          <a:ln w="12700">
            <a:solidFill>
              <a:srgbClr val="C8D2D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22792" y="1682496"/>
            <a:ext cx="2734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3. 誘導起電力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22792" y="2020824"/>
            <a:ext cx="273405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E = V−V_b−I_aR_a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= 200−2.5−20×0.500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= 187.5 V ≒ 188 V</a:t>
            </a:r>
            <a:endParaRPr lang="en-US" sz="1230" dirty="0"/>
          </a:p>
        </p:txBody>
      </p:sp>
      <p:sp>
        <p:nvSpPr>
          <p:cNvPr id="15" name="Shape 13"/>
          <p:cNvSpPr/>
          <p:nvPr/>
        </p:nvSpPr>
        <p:spPr>
          <a:xfrm>
            <a:off x="640080" y="2971800"/>
            <a:ext cx="3017520" cy="640080"/>
          </a:xfrm>
          <a:prstGeom prst="roundRect">
            <a:avLst/>
          </a:prstGeom>
          <a:solidFill>
            <a:srgbClr val="EEF4FA"/>
          </a:solidFill>
          <a:ln w="12700">
            <a:solidFill>
              <a:srgbClr val="BDD0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026664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発電機運転：E = kₑ Φω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3886200" y="2971800"/>
            <a:ext cx="3474720" cy="640080"/>
          </a:xfrm>
          <a:prstGeom prst="roundRect">
            <a:avLst/>
          </a:prstGeom>
          <a:solidFill>
            <a:srgbClr val="EEF4FA"/>
          </a:solidFill>
          <a:ln w="12700">
            <a:solidFill>
              <a:srgbClr val="BDD0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77640" y="3026664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I_b = E / (R_a + R_b)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589520" y="2971800"/>
            <a:ext cx="2926080" cy="640080"/>
          </a:xfrm>
          <a:prstGeom prst="roundRect">
            <a:avLst/>
          </a:prstGeom>
          <a:solidFill>
            <a:srgbClr val="EEF4FA"/>
          </a:solidFill>
          <a:ln w="12700">
            <a:solidFill>
              <a:srgbClr val="BDD0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0" y="302666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T_b = k_t Φ I_b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3657600" y="3291840"/>
            <a:ext cx="182880" cy="0"/>
          </a:xfrm>
          <a:prstGeom prst="line">
            <a:avLst/>
          </a:prstGeom>
          <a:noFill/>
          <a:ln w="2540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60920" y="3291840"/>
            <a:ext cx="182880" cy="0"/>
          </a:xfrm>
          <a:prstGeom prst="line">
            <a:avLst/>
          </a:prstGeom>
          <a:noFill/>
          <a:ln w="2540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40080" y="3977640"/>
            <a:ext cx="5212080" cy="1417320"/>
          </a:xfrm>
          <a:prstGeom prst="roundRect">
            <a:avLst>
              <a:gd name="adj" fmla="val 3871"/>
            </a:avLst>
          </a:prstGeom>
          <a:solidFill>
            <a:srgbClr val="F4F8FC"/>
          </a:solidFill>
          <a:ln w="12700">
            <a:solidFill>
              <a:srgbClr val="C8D2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" y="4105656"/>
            <a:ext cx="4882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電力収支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672" y="4443984"/>
            <a:ext cx="4882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P_g = E I_b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P_R = I_b²R_b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P_Cu = I_b²R_a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→ P_g = P_R + P_Cu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126480" y="397764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FFF8F2"/>
          </a:solidFill>
          <a:ln w="12700">
            <a:solidFill>
              <a:srgbClr val="C8D2D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91072" y="4105656"/>
            <a:ext cx="5065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4C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速度低下と発熱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91072" y="4443984"/>
            <a:ext cx="506577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K = 1/2 m_eq v²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m_eq dv/dt = −F_b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Q_R = ∫P_R dt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→ 二次記述では電力・エネルギー収支で検算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51560" y="568756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00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注意：発電電力 E I_b と、制動抵抗の発熱 I_b²R_b は同じではない。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3796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573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04088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SPEC指定グラフ①②：速度が下がると、制動力と制動電力も下がる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111556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教材用仮定値：m_eq=2.00×10⁵ kg、c_E=30.0 V/(m/s)、R_a=0.050 Ω、R_b=0.250 Ω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速度―制動力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225296" y="4590288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4489704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225296" y="4045306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3944722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225296" y="3500323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" y="3399739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40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225296" y="2955341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2854757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2410358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" y="2309774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80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225296" y="1865376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6656" y="1764792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225296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0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984248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64792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5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743200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23744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502152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82696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15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261104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41648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20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020056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25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779008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59552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30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1225296" y="4590288"/>
            <a:ext cx="4553712" cy="0"/>
          </a:xfrm>
          <a:prstGeom prst="line">
            <a:avLst/>
          </a:prstGeom>
          <a:noFill/>
          <a:ln w="12700">
            <a:solidFill>
              <a:srgbClr val="7F8C9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225296" y="1865376"/>
            <a:ext cx="0" cy="2724912"/>
          </a:xfrm>
          <a:prstGeom prst="line">
            <a:avLst/>
          </a:prstGeom>
          <a:noFill/>
          <a:ln w="12700">
            <a:solidFill>
              <a:srgbClr val="7F8C9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225296" y="4590288"/>
            <a:ext cx="758952" cy="-408737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84248" y="4181551"/>
            <a:ext cx="758952" cy="-408737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43200" y="3772814"/>
            <a:ext cx="758952" cy="-408737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02152" y="3364078"/>
            <a:ext cx="758952" cy="-408737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61104" y="2955341"/>
            <a:ext cx="758952" cy="-408737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0056" y="2546604"/>
            <a:ext cx="758952" cy="-408737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93292" y="4558284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2244" y="4149547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11196" y="3740810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70148" y="3332074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229100" y="2923337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88052" y="2514600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47004" y="2105863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 rot="16200000">
            <a:off x="630936" y="2258568"/>
            <a:ext cx="25603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制動力 [kN]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1051560" y="524865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75B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F_b = (c_E²/R_t)v = 3000v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F75B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→ 原点を通る直線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309360" y="14173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速度―制動電力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894576" y="4590288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45936" y="4489704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894576" y="4136136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45936" y="4035552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0.5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6894576" y="3681984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45936" y="3581400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894576" y="3227832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45936" y="3127248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1.5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894576" y="2773680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45936" y="2673096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894576" y="2319528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45936" y="2218944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2.5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6894576" y="1865376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5936" y="1764792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6894576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675120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7653528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34072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5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8412480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93024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171432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951976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15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9930384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710928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20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10689336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469880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25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1448288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1228832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30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6894576" y="4590288"/>
            <a:ext cx="4553712" cy="0"/>
          </a:xfrm>
          <a:prstGeom prst="line">
            <a:avLst/>
          </a:prstGeom>
          <a:noFill/>
          <a:ln w="12700">
            <a:solidFill>
              <a:srgbClr val="7F8C9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894576" y="1865376"/>
            <a:ext cx="0" cy="2724912"/>
          </a:xfrm>
          <a:prstGeom prst="line">
            <a:avLst/>
          </a:prstGeom>
          <a:noFill/>
          <a:ln w="12700">
            <a:solidFill>
              <a:srgbClr val="7F8C9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894576" y="4590288"/>
            <a:ext cx="758952" cy="-68123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653528" y="4522165"/>
            <a:ext cx="758952" cy="-204368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412480" y="4317797"/>
            <a:ext cx="758952" cy="-340614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171432" y="3977183"/>
            <a:ext cx="758952" cy="-476860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930384" y="3500323"/>
            <a:ext cx="758952" cy="-613105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689336" y="2887218"/>
            <a:ext cx="758952" cy="-749351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862572" y="4558284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621524" y="4490161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380476" y="4285793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139428" y="3945179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898380" y="3468319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0657332" y="2855214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1416284" y="2105863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894576" y="4590288"/>
            <a:ext cx="758952" cy="-56769"/>
          </a:xfrm>
          <a:prstGeom prst="line">
            <a:avLst/>
          </a:prstGeom>
          <a:noFill/>
          <a:ln w="27940">
            <a:solidFill>
              <a:srgbClr val="ED7D3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653528" y="4533519"/>
            <a:ext cx="758952" cy="-170307"/>
          </a:xfrm>
          <a:prstGeom prst="line">
            <a:avLst/>
          </a:prstGeom>
          <a:noFill/>
          <a:ln w="27940">
            <a:solidFill>
              <a:srgbClr val="ED7D3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412480" y="4363212"/>
            <a:ext cx="758952" cy="-283845"/>
          </a:xfrm>
          <a:prstGeom prst="line">
            <a:avLst/>
          </a:prstGeom>
          <a:noFill/>
          <a:ln w="27940">
            <a:solidFill>
              <a:srgbClr val="ED7D3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9171432" y="4079367"/>
            <a:ext cx="758952" cy="-397383"/>
          </a:xfrm>
          <a:prstGeom prst="line">
            <a:avLst/>
          </a:prstGeom>
          <a:noFill/>
          <a:ln w="27940">
            <a:solidFill>
              <a:srgbClr val="ED7D3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930384" y="3681984"/>
            <a:ext cx="758952" cy="-510921"/>
          </a:xfrm>
          <a:prstGeom prst="line">
            <a:avLst/>
          </a:prstGeom>
          <a:noFill/>
          <a:ln w="27940">
            <a:solidFill>
              <a:srgbClr val="ED7D31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0689336" y="3171063"/>
            <a:ext cx="758952" cy="-624459"/>
          </a:xfrm>
          <a:prstGeom prst="line">
            <a:avLst/>
          </a:prstGeom>
          <a:noFill/>
          <a:ln w="27940">
            <a:solidFill>
              <a:srgbClr val="ED7D31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62572" y="4558284"/>
            <a:ext cx="64008" cy="64008"/>
          </a:xfrm>
          <a:prstGeom prst="ellipse">
            <a:avLst/>
          </a:prstGeom>
          <a:solidFill>
            <a:srgbClr val="ED7D31"/>
          </a:solidFill>
          <a:ln w="5080">
            <a:solidFill>
              <a:srgbClr val="ED7D31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621524" y="4501515"/>
            <a:ext cx="64008" cy="64008"/>
          </a:xfrm>
          <a:prstGeom prst="ellipse">
            <a:avLst/>
          </a:prstGeom>
          <a:solidFill>
            <a:srgbClr val="ED7D31"/>
          </a:solidFill>
          <a:ln w="5080">
            <a:solidFill>
              <a:srgbClr val="ED7D31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380476" y="4331208"/>
            <a:ext cx="64008" cy="64008"/>
          </a:xfrm>
          <a:prstGeom prst="ellipse">
            <a:avLst/>
          </a:prstGeom>
          <a:solidFill>
            <a:srgbClr val="ED7D31"/>
          </a:solidFill>
          <a:ln w="5080">
            <a:solidFill>
              <a:srgbClr val="ED7D31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139428" y="4047363"/>
            <a:ext cx="64008" cy="64008"/>
          </a:xfrm>
          <a:prstGeom prst="ellipse">
            <a:avLst/>
          </a:prstGeom>
          <a:solidFill>
            <a:srgbClr val="ED7D31"/>
          </a:solidFill>
          <a:ln w="5080">
            <a:solidFill>
              <a:srgbClr val="ED7D31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898380" y="3649980"/>
            <a:ext cx="64008" cy="64008"/>
          </a:xfrm>
          <a:prstGeom prst="ellipse">
            <a:avLst/>
          </a:prstGeom>
          <a:solidFill>
            <a:srgbClr val="ED7D31"/>
          </a:solidFill>
          <a:ln w="5080">
            <a:solidFill>
              <a:srgbClr val="ED7D31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0657332" y="3139059"/>
            <a:ext cx="64008" cy="64008"/>
          </a:xfrm>
          <a:prstGeom prst="ellipse">
            <a:avLst/>
          </a:prstGeom>
          <a:solidFill>
            <a:srgbClr val="ED7D31"/>
          </a:solidFill>
          <a:ln w="5080">
            <a:solidFill>
              <a:srgbClr val="ED7D31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1416284" y="2514600"/>
            <a:ext cx="64008" cy="64008"/>
          </a:xfrm>
          <a:prstGeom prst="ellipse">
            <a:avLst/>
          </a:prstGeom>
          <a:solidFill>
            <a:srgbClr val="ED7D31"/>
          </a:solidFill>
          <a:ln w="5080">
            <a:solidFill>
              <a:srgbClr val="ED7D3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 rot="16200000">
            <a:off x="6300216" y="2258568"/>
            <a:ext cx="25603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電力 [MW]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10168128" y="1920240"/>
            <a:ext cx="256032" cy="0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0479024" y="18470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P_g</a:t>
            </a:r>
            <a:endParaRPr lang="en-US" sz="900" dirty="0"/>
          </a:p>
        </p:txBody>
      </p:sp>
      <p:sp>
        <p:nvSpPr>
          <p:cNvPr id="108" name="Shape 106"/>
          <p:cNvSpPr/>
          <p:nvPr/>
        </p:nvSpPr>
        <p:spPr>
          <a:xfrm>
            <a:off x="10168128" y="2121408"/>
            <a:ext cx="256032" cy="0"/>
          </a:xfrm>
          <a:prstGeom prst="line">
            <a:avLst/>
          </a:prstGeom>
          <a:noFill/>
          <a:ln w="27940">
            <a:solidFill>
              <a:srgbClr val="ED7D31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479024" y="2048256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P_R</a:t>
            </a:r>
            <a:endParaRPr lang="en-US" sz="900" dirty="0"/>
          </a:p>
        </p:txBody>
      </p:sp>
      <p:sp>
        <p:nvSpPr>
          <p:cNvPr id="110" name="Text 108"/>
          <p:cNvSpPr/>
          <p:nvPr/>
        </p:nvSpPr>
        <p:spPr>
          <a:xfrm>
            <a:off x="6537960" y="5175504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D7D3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P_g ∝ v²、P_R ∝ v²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ED7D3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30 m/s：P_g=2.70 MW、P_R=2.25 MW</a:t>
            </a:r>
            <a:endParaRPr lang="en-US" sz="1350" dirty="0"/>
          </a:p>
        </p:txBody>
      </p:sp>
      <p:sp>
        <p:nvSpPr>
          <p:cNvPr id="111" name="Text 109"/>
          <p:cNvSpPr/>
          <p:nvPr/>
        </p:nvSpPr>
        <p:spPr>
          <a:xfrm>
            <a:off x="822960" y="5961888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横軸：速度 v [m/s]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3796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573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04088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SPEC指定グラフ③④：速度は指数的に低下し、累積発熱は飽和へ近づく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111556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同じ教材用簡略モデル。一定磁束・固定抵抗、ブラシ損・機械損・他の走行抵抗を無視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時間―速度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225296" y="4590288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4489704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225296" y="3909060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3808476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8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225296" y="3227832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" y="3127248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16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225296" y="2546604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2446020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24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865376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" y="1764792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32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225296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136038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16582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30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046781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27325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60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957523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38067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90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868266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48810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120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79008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59552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150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1225296" y="4590288"/>
            <a:ext cx="4553712" cy="0"/>
          </a:xfrm>
          <a:prstGeom prst="line">
            <a:avLst/>
          </a:prstGeom>
          <a:noFill/>
          <a:ln w="12700">
            <a:solidFill>
              <a:srgbClr val="7F8C9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25296" y="1865376"/>
            <a:ext cx="0" cy="2724912"/>
          </a:xfrm>
          <a:prstGeom prst="line">
            <a:avLst/>
          </a:prstGeom>
          <a:noFill/>
          <a:ln w="12700">
            <a:solidFill>
              <a:srgbClr val="7F8C9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225296" y="2035683"/>
            <a:ext cx="455371" cy="514327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80667" y="2550010"/>
            <a:ext cx="455371" cy="411291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36038" y="2961302"/>
            <a:ext cx="455371" cy="327841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91410" y="3289143"/>
            <a:ext cx="455371" cy="262273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46781" y="3551415"/>
            <a:ext cx="455371" cy="208626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02152" y="3760041"/>
            <a:ext cx="455371" cy="167752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57523" y="3927794"/>
            <a:ext cx="455371" cy="132839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12894" y="4060633"/>
            <a:ext cx="455371" cy="107293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68266" y="4167927"/>
            <a:ext cx="455371" cy="85153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23637" y="4253080"/>
            <a:ext cx="455371" cy="67271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93292" y="2003679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648663" y="2518006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104034" y="2929298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59406" y="3257139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014777" y="3519411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70148" y="3728037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25519" y="3895790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380890" y="4028629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836262" y="4135923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91633" y="4221076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747004" y="4288347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 rot="16200000">
            <a:off x="630936" y="2258568"/>
            <a:ext cx="25603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速度 [m/s]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14400" y="5175504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2F75B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v(t)=v₀ exp(−t/τ_b)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b="1" dirty="0">
                <a:solidFill>
                  <a:srgbClr val="2F75B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τ_b = m_eq R_t / c_E² = 66.7 s</a:t>
            </a:r>
            <a:endParaRPr lang="en-US" sz="1380" dirty="0"/>
          </a:p>
        </p:txBody>
      </p:sp>
      <p:sp>
        <p:nvSpPr>
          <p:cNvPr id="52" name="Text 50"/>
          <p:cNvSpPr/>
          <p:nvPr/>
        </p:nvSpPr>
        <p:spPr>
          <a:xfrm>
            <a:off x="6263640" y="14173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制動抵抗の累積発熱量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894576" y="4590288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45936" y="4489704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894576" y="3909060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45936" y="3808476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20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894576" y="3227832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45936" y="3127248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40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894576" y="2546604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45936" y="2446020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6894576" y="1865376"/>
            <a:ext cx="4553712" cy="0"/>
          </a:xfrm>
          <a:prstGeom prst="line">
            <a:avLst/>
          </a:prstGeom>
          <a:noFill/>
          <a:ln w="8890">
            <a:solidFill>
              <a:srgbClr val="D6DDE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5936" y="1764792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80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6894576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675120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7805318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585862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8716061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496605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626803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407347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90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10537546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318090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120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11448288" y="1865376"/>
            <a:ext cx="0" cy="2724912"/>
          </a:xfrm>
          <a:prstGeom prst="line">
            <a:avLst/>
          </a:prstGeom>
          <a:noFill/>
          <a:ln w="5080">
            <a:solidFill>
              <a:srgbClr val="EEF1F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1228832" y="46634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150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6894576" y="4590288"/>
            <a:ext cx="4553712" cy="0"/>
          </a:xfrm>
          <a:prstGeom prst="line">
            <a:avLst/>
          </a:prstGeom>
          <a:noFill/>
          <a:ln w="12700">
            <a:solidFill>
              <a:srgbClr val="7F8C9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894576" y="1865376"/>
            <a:ext cx="0" cy="2724912"/>
          </a:xfrm>
          <a:prstGeom prst="line">
            <a:avLst/>
          </a:prstGeom>
          <a:noFill/>
          <a:ln w="12700">
            <a:solidFill>
              <a:srgbClr val="7F8C9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894576" y="4590288"/>
            <a:ext cx="455371" cy="-925789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349947" y="3664499"/>
            <a:ext cx="455371" cy="-590625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805318" y="3073874"/>
            <a:ext cx="455371" cy="-376378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260690" y="2697496"/>
            <a:ext cx="455371" cy="-240133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716061" y="2457363"/>
            <a:ext cx="455371" cy="-153276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171432" y="2304087"/>
            <a:ext cx="455371" cy="-97756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626803" y="2206331"/>
            <a:ext cx="455371" cy="-62332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082174" y="2143998"/>
            <a:ext cx="455371" cy="-39511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537546" y="2104487"/>
            <a:ext cx="455371" cy="-25546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992917" y="2078941"/>
            <a:ext cx="455371" cy="-16009"/>
          </a:xfrm>
          <a:prstGeom prst="line">
            <a:avLst/>
          </a:prstGeom>
          <a:noFill/>
          <a:ln w="27940">
            <a:solidFill>
              <a:srgbClr val="2F75B5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862572" y="4558284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317943" y="3632495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773314" y="3041870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228686" y="2665492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684057" y="2425359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139428" y="2272083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594799" y="2174327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0170" y="2111994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505542" y="2072483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960913" y="2046937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416284" y="2030928"/>
            <a:ext cx="64008" cy="64008"/>
          </a:xfrm>
          <a:prstGeom prst="ellipse">
            <a:avLst/>
          </a:prstGeom>
          <a:solidFill>
            <a:srgbClr val="2F75B5"/>
          </a:solidFill>
          <a:ln w="5080">
            <a:solidFill>
              <a:srgbClr val="2F75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 rot="16200000">
            <a:off x="6300216" y="2258568"/>
            <a:ext cx="25603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累積発熱量 [MJ]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6446520" y="5093208"/>
            <a:ext cx="4937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90" b="1" dirty="0">
                <a:solidFill>
                  <a:srgbClr val="ED7D3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Q_R(t)=P_R(0)(τ_b/2){1−exp(−2t/τ_b)}</a:t>
            </a:r>
            <a:endParaRPr lang="en-US" sz="1290" dirty="0"/>
          </a:p>
          <a:p>
            <a:pPr algn="ctr" indent="0" marL="0">
              <a:buNone/>
            </a:pPr>
            <a:r>
              <a:rPr lang="en-US" sz="1290" b="1" dirty="0">
                <a:solidFill>
                  <a:srgbClr val="ED7D3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30→15 m/s：t≈46.2 s、Q_R=56.25 MJ</a:t>
            </a:r>
            <a:endParaRPr lang="en-US" sz="1290" dirty="0"/>
          </a:p>
        </p:txBody>
      </p:sp>
      <p:sp>
        <p:nvSpPr>
          <p:cNvPr id="100" name="Text 98"/>
          <p:cNvSpPr/>
          <p:nvPr/>
        </p:nvSpPr>
        <p:spPr>
          <a:xfrm>
            <a:off x="822960" y="5961888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横軸：時間 t [s]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3796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573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04088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二次記述は「式の鎖」と「検算」を崩さない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111556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固定範囲の計算手順を、条件・単位・エネルギー収支まで一続きで書く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77240" y="1508760"/>
            <a:ext cx="384048" cy="384048"/>
          </a:xfrm>
          <a:prstGeom prst="ellipse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590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98448" y="14813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条件・近似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54680" y="1481328"/>
            <a:ext cx="7818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界磁一定 / 抵抗固定 / 損失の扱いを明記</a:t>
            </a:r>
            <a:endParaRPr lang="en-US" sz="1230" dirty="0"/>
          </a:p>
        </p:txBody>
      </p:sp>
      <p:sp>
        <p:nvSpPr>
          <p:cNvPr id="8" name="Shape 6"/>
          <p:cNvSpPr/>
          <p:nvPr/>
        </p:nvSpPr>
        <p:spPr>
          <a:xfrm>
            <a:off x="777240" y="2039112"/>
            <a:ext cx="384048" cy="384048"/>
          </a:xfrm>
          <a:prstGeom prst="ellipse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08940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0116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発電電圧 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54680" y="2011680"/>
            <a:ext cx="7818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E=kₑΦω または H24型の電圧方程式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777240" y="2569464"/>
            <a:ext cx="384048" cy="384048"/>
          </a:xfrm>
          <a:prstGeom prst="ellipse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619756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25420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制動電流 I_b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154680" y="2542032"/>
            <a:ext cx="7818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I_b=E/(R_a+R_b)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777240" y="3099816"/>
            <a:ext cx="384048" cy="384048"/>
          </a:xfrm>
          <a:prstGeom prst="ellipse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15010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98448" y="307238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トルク・制動力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54680" y="3072384"/>
            <a:ext cx="7818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T_b=k_tΦI_b、または F_bv=EI_b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777240" y="3630168"/>
            <a:ext cx="384048" cy="384048"/>
          </a:xfrm>
          <a:prstGeom prst="ellipse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6804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98448" y="360273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電力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154680" y="3602736"/>
            <a:ext cx="7818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P_g、P_R、P_Cu を分離</a:t>
            </a:r>
            <a:endParaRPr lang="en-US" sz="1230" dirty="0"/>
          </a:p>
        </p:txBody>
      </p:sp>
      <p:sp>
        <p:nvSpPr>
          <p:cNvPr id="24" name="Shape 22"/>
          <p:cNvSpPr/>
          <p:nvPr/>
        </p:nvSpPr>
        <p:spPr>
          <a:xfrm>
            <a:off x="777240" y="4160520"/>
            <a:ext cx="384048" cy="384048"/>
          </a:xfrm>
          <a:prstGeom prst="ellipse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21081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98448" y="41330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発熱量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154680" y="4133088"/>
            <a:ext cx="7818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Q_R=∫P_Rdt</a:t>
            </a:r>
            <a:endParaRPr lang="en-US" sz="1230" dirty="0"/>
          </a:p>
        </p:txBody>
      </p:sp>
      <p:sp>
        <p:nvSpPr>
          <p:cNvPr id="28" name="Shape 26"/>
          <p:cNvSpPr/>
          <p:nvPr/>
        </p:nvSpPr>
        <p:spPr>
          <a:xfrm>
            <a:off x="777240" y="4690872"/>
            <a:ext cx="384048" cy="384048"/>
          </a:xfrm>
          <a:prstGeom prst="ellipse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74116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7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298448" y="46634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速度低下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154680" y="4663440"/>
            <a:ext cx="7818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K=1/2m_eqv² / m_eq dv/dt=−F_b</a:t>
            </a:r>
            <a:endParaRPr lang="en-US" sz="1230" dirty="0"/>
          </a:p>
        </p:txBody>
      </p:sp>
      <p:sp>
        <p:nvSpPr>
          <p:cNvPr id="32" name="Shape 30"/>
          <p:cNvSpPr/>
          <p:nvPr/>
        </p:nvSpPr>
        <p:spPr>
          <a:xfrm>
            <a:off x="777240" y="5221224"/>
            <a:ext cx="384048" cy="384048"/>
          </a:xfrm>
          <a:prstGeom prst="ellipse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271516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8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298448" y="51937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検算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154680" y="5193792"/>
            <a:ext cx="7818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P_g=P_R+P_Cu、ΔK と Q_R の整合を確認</a:t>
            </a:r>
            <a:endParaRPr lang="en-US" sz="1230" dirty="0"/>
          </a:p>
        </p:txBody>
      </p:sp>
      <p:sp>
        <p:nvSpPr>
          <p:cNvPr id="36" name="Shape 34"/>
          <p:cNvSpPr/>
          <p:nvPr/>
        </p:nvSpPr>
        <p:spPr>
          <a:xfrm>
            <a:off x="749808" y="5742432"/>
            <a:ext cx="5257800" cy="512064"/>
          </a:xfrm>
          <a:prstGeom prst="roundRect">
            <a:avLst>
              <a:gd name="adj" fmla="val 10714"/>
            </a:avLst>
          </a:prstGeom>
          <a:solidFill>
            <a:srgbClr val="EAF3FB"/>
          </a:solidFill>
          <a:ln w="12700">
            <a:solidFill>
              <a:srgbClr val="C8D2D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5870448"/>
            <a:ext cx="4928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R5一次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14400" y="6208776"/>
            <a:ext cx="4928616" cy="-548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運動エネルギー → 電気エネルギー → 車上抵抗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181344" y="5742432"/>
            <a:ext cx="5257800" cy="512064"/>
          </a:xfrm>
          <a:prstGeom prst="roundRect">
            <a:avLst>
              <a:gd name="adj" fmla="val 10714"/>
            </a:avLst>
          </a:prstGeom>
          <a:solidFill>
            <a:srgbClr val="F2F7EC"/>
          </a:solidFill>
          <a:ln w="12700">
            <a:solidFill>
              <a:srgbClr val="C8D2D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45936" y="5870448"/>
            <a:ext cx="4928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6B2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H24二次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345936" y="6208776"/>
            <a:ext cx="4928616" cy="-548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2434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R_a=0.500 Ω、E=187.5 V≒188 V まで。後半は扱わない。</a:t>
            </a:r>
            <a:endParaRPr lang="en-US" sz="11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3796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573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JP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JP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