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50000"/>
            <a:ext cx="11300000" cy="5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2600" b="1">
                <a:solidFill>
                  <a:srgbClr val="111827"/>
                </a:solidFill>
                <a:latin typeface="Noto Sans CJK JP"/>
                <a:ea typeface="Noto Sans CJK JP"/>
              </a:rPr>
              <a:t>1  PWM波形：比較でスイッチ状態を作る</a:t>
            </a:r>
            <a:endParaRPr lang="ja-JP" sz="2600"/>
          </a:p>
        </p:txBody>
      </p:sp>
      <p:sp>
        <p:nvSpPr>
          <p:cNvPr id="3" name="Subtitle"/>
          <p:cNvSpPr/>
          <p:nvPr/>
        </p:nvSpPr>
        <p:spPr>
          <a:xfrm>
            <a:off x="420000" y="800000"/>
            <a:ext cx="11300000" cy="32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1050">
                <a:solidFill>
                  <a:srgbClr val="4B5563"/>
                </a:solidFill>
                <a:latin typeface="Noto Sans CJK JP"/>
                <a:ea typeface="Noto Sans CJK JP"/>
              </a:rPr>
              <a:t>H22一次・R4一次｜教材用仮定値（300系実車値ではない）</a:t>
            </a:r>
            <a:endParaRPr lang="ja-JP" sz="1050"/>
          </a:p>
        </p:txBody>
      </p:sp>
      <p:sp>
        <p:nvSpPr>
          <p:cNvPr id="4" name="Body1"/>
          <p:cNvSpPr/>
          <p:nvPr/>
        </p:nvSpPr>
        <p:spPr>
          <a:xfrm>
            <a:off x="550000" y="1350000"/>
            <a:ext cx="57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信号波 m(t)=0.80 sin(2π·50t)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搬送波 fc=1000 Hz = 20 f1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変調率 k=0.80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比較則：m(t) ≥ carrier(t) で上側状態</a:t>
            </a:r>
            <a:endParaRPr lang="ja-JP" sz="1700"/>
          </a:p>
        </p:txBody>
      </p:sp>
      <p:sp>
        <p:nvSpPr>
          <p:cNvPr id="5" name="Body2"/>
          <p:cNvSpPr/>
          <p:nvPr/>
        </p:nvSpPr>
        <p:spPr>
          <a:xfrm>
            <a:off x="6500000" y="1350000"/>
            <a:ext cx="52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正弦波　～　～　～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三角波　△△△△△△△△△△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PWM　　█ ░ ███ ░ ████ ░ ██ ░ █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Ts=1/fs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Psw=fs(Eon+Eoff)</a:t>
            </a:r>
            <a:endParaRPr lang="ja-JP" sz="1700"/>
          </a:p>
        </p:txBody>
      </p:sp>
      <p:sp>
        <p:nvSpPr>
          <p:cNvPr id="6" name="Visual"/>
          <p:cNvSpPr/>
          <p:nvPr/>
        </p:nvSpPr>
        <p:spPr>
          <a:xfrm>
            <a:off x="550000" y="5250000"/>
            <a:ext cx="11650000" cy="8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500" b="1">
                <a:solidFill>
                  <a:srgbClr val="1E3A8A"/>
                </a:solidFill>
                <a:latin typeface="Noto Sans CJK JP"/>
                <a:ea typeface="Noto Sans CJK JP"/>
              </a:rPr>
              <a:t>「信号波＋三角搬送波 → パルス列 → 基本波＋高調波」の流れを可視化</a:t>
            </a:r>
            <a:endParaRPr lang="ja-JP" sz="1500"/>
          </a:p>
        </p:txBody>
      </p:sp>
      <p:sp>
        <p:nvSpPr>
          <p:cNvPr id="7" name="Footer"/>
          <p:cNvSpPr/>
          <p:nvPr/>
        </p:nvSpPr>
        <p:spPr>
          <a:xfrm>
            <a:off x="550000" y="6250000"/>
            <a:ext cx="11650000" cy="3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900">
                <a:solidFill>
                  <a:srgbClr val="475569"/>
                </a:solidFill>
                <a:latin typeface="Noto Sans CJK JP"/>
                <a:ea typeface="Noto Sans CJK JP"/>
              </a:rPr>
              <a:t>固定EXAM_ALIGNMENT：H22一次 問3／R4一次 問4</a:t>
            </a:r>
            <a:endParaRPr lang="ja-JP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50000"/>
            <a:ext cx="11300000" cy="5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2600" b="1">
                <a:solidFill>
                  <a:srgbClr val="111827"/>
                </a:solidFill>
                <a:latin typeface="Noto Sans CJK JP"/>
                <a:ea typeface="Noto Sans CJK JP"/>
              </a:rPr>
              <a:t>2  基本波・高調波：実効値は二乗和</a:t>
            </a:r>
            <a:endParaRPr lang="ja-JP" sz="2600"/>
          </a:p>
        </p:txBody>
      </p:sp>
      <p:sp>
        <p:nvSpPr>
          <p:cNvPr id="3" name="Subtitle"/>
          <p:cNvSpPr/>
          <p:nvPr/>
        </p:nvSpPr>
        <p:spPr>
          <a:xfrm>
            <a:off x="420000" y="800000"/>
            <a:ext cx="11300000" cy="32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1050">
                <a:solidFill>
                  <a:srgbClr val="4B5563"/>
                </a:solidFill>
                <a:latin typeface="Noto Sans CJK JP"/>
                <a:ea typeface="Noto Sans CJK JP"/>
              </a:rPr>
              <a:t>R5二次 機械・制御 問3｜正規化教材値</a:t>
            </a:r>
            <a:endParaRPr lang="ja-JP" sz="1050"/>
          </a:p>
        </p:txBody>
      </p:sp>
      <p:sp>
        <p:nvSpPr>
          <p:cNvPr id="4" name="Body1"/>
          <p:cNvSpPr/>
          <p:nvPr/>
        </p:nvSpPr>
        <p:spPr>
          <a:xfrm>
            <a:off x="550000" y="1350000"/>
            <a:ext cx="57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原波形 iL(t)　┌──┐　┌──┐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　　　　　　└──┴──└──┴──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基本波 i1(t)　 ～　 ～　 ～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iL = i1 + iH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IL² = I1² + IH²</a:t>
            </a:r>
            <a:endParaRPr lang="ja-JP" sz="1700"/>
          </a:p>
        </p:txBody>
      </p:sp>
      <p:sp>
        <p:nvSpPr>
          <p:cNvPr id="5" name="Body2"/>
          <p:cNvSpPr/>
          <p:nvPr/>
        </p:nvSpPr>
        <p:spPr>
          <a:xfrm>
            <a:off x="6500000" y="1350000"/>
            <a:ext cx="52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IL = 1 pu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I1 = 2√2/π = 0.900 pu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IH = √(1−8/π²) = 0.435 pu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補償：ic = −iH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補償後：is = i1</a:t>
            </a:r>
            <a:endParaRPr lang="ja-JP" sz="1700"/>
          </a:p>
        </p:txBody>
      </p:sp>
      <p:sp>
        <p:nvSpPr>
          <p:cNvPr id="6" name="Visual"/>
          <p:cNvSpPr/>
          <p:nvPr/>
        </p:nvSpPr>
        <p:spPr>
          <a:xfrm>
            <a:off x="550000" y="5250000"/>
            <a:ext cx="11650000" cy="8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500" b="1">
                <a:solidFill>
                  <a:srgbClr val="1E3A8A"/>
                </a:solidFill>
                <a:latin typeface="Noto Sans CJK JP"/>
                <a:ea typeface="Noto Sans CJK JP"/>
              </a:rPr>
              <a:t>基本波と高調波は直交 → 実効値は単純差ではなく二乗和</a:t>
            </a:r>
            <a:endParaRPr lang="ja-JP" sz="1500"/>
          </a:p>
        </p:txBody>
      </p:sp>
      <p:sp>
        <p:nvSpPr>
          <p:cNvPr id="7" name="Footer"/>
          <p:cNvSpPr/>
          <p:nvPr/>
        </p:nvSpPr>
        <p:spPr>
          <a:xfrm>
            <a:off x="550000" y="6250000"/>
            <a:ext cx="11650000" cy="3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900">
                <a:solidFill>
                  <a:srgbClr val="475569"/>
                </a:solidFill>
                <a:latin typeface="Noto Sans CJK JP"/>
                <a:ea typeface="Noto Sans CJK JP"/>
              </a:rPr>
              <a:t>固定EXAM_ALIGNMENT：R5二次 問3（基本波／高調波分離・補償電流・実効値）</a:t>
            </a:r>
            <a:endParaRPr lang="ja-JP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50000"/>
            <a:ext cx="11300000" cy="5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2600" b="1">
                <a:solidFill>
                  <a:srgbClr val="111827"/>
                </a:solidFill>
                <a:latin typeface="Noto Sans CJK JP"/>
                <a:ea typeface="Noto Sans CJK JP"/>
              </a:rPr>
              <a:t>3  変調条件―基本波電圧：線形変調域では比例</a:t>
            </a:r>
            <a:endParaRPr lang="ja-JP" sz="2600"/>
          </a:p>
        </p:txBody>
      </p:sp>
      <p:sp>
        <p:nvSpPr>
          <p:cNvPr id="3" name="Subtitle"/>
          <p:cNvSpPr/>
          <p:nvPr/>
        </p:nvSpPr>
        <p:spPr>
          <a:xfrm>
            <a:off x="420000" y="800000"/>
            <a:ext cx="11300000" cy="32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1050">
                <a:solidFill>
                  <a:srgbClr val="4B5563"/>
                </a:solidFill>
                <a:latin typeface="Noto Sans CJK JP"/>
                <a:ea typeface="Noto Sans CJK JP"/>
              </a:rPr>
              <a:t>H22一次・H24二次・R1二次｜単相式と三相線間式を混用しない</a:t>
            </a:r>
            <a:endParaRPr lang="ja-JP" sz="1050"/>
          </a:p>
        </p:txBody>
      </p:sp>
      <p:sp>
        <p:nvSpPr>
          <p:cNvPr id="4" name="Body1"/>
          <p:cNvSpPr/>
          <p:nvPr/>
        </p:nvSpPr>
        <p:spPr>
          <a:xfrm>
            <a:off x="550000" y="1350000"/>
            <a:ext cx="57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三相 H22型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VLL1 / Ed = √3 k / (2√2)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0 ≤ k ≤ 1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k　　 0.0　 0.5　 1.0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V/Ed　0　 0.306　0.612</a:t>
            </a:r>
            <a:endParaRPr lang="ja-JP" sz="1700"/>
          </a:p>
        </p:txBody>
      </p:sp>
      <p:sp>
        <p:nvSpPr>
          <p:cNvPr id="5" name="Body2"/>
          <p:cNvSpPr/>
          <p:nvPr/>
        </p:nvSpPr>
        <p:spPr>
          <a:xfrm>
            <a:off x="6500000" y="1350000"/>
            <a:ext cx="52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正規化基本波電圧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0.612 ┤　　　　／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0.306 ┤　　／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0.000 ┼──／──── k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　　　0　0.5　1.0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単相H24型：Vv=Ed K/√2</a:t>
            </a:r>
            <a:endParaRPr lang="ja-JP" sz="1700"/>
          </a:p>
        </p:txBody>
      </p:sp>
      <p:sp>
        <p:nvSpPr>
          <p:cNvPr id="6" name="Visual"/>
          <p:cNvSpPr/>
          <p:nvPr/>
        </p:nvSpPr>
        <p:spPr>
          <a:xfrm>
            <a:off x="550000" y="5250000"/>
            <a:ext cx="11650000" cy="8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500" b="1">
                <a:solidFill>
                  <a:srgbClr val="1E3A8A"/>
                </a:solidFill>
                <a:latin typeface="Noto Sans CJK JP"/>
                <a:ea typeface="Noto Sans CJK JP"/>
              </a:rPr>
              <a:t>R1二次型：Vs と jXI をフェーザ加算 → |Vconv| → 必要 Ed</a:t>
            </a:r>
            <a:endParaRPr lang="ja-JP" sz="1500"/>
          </a:p>
        </p:txBody>
      </p:sp>
      <p:sp>
        <p:nvSpPr>
          <p:cNvPr id="7" name="Footer"/>
          <p:cNvSpPr/>
          <p:nvPr/>
        </p:nvSpPr>
        <p:spPr>
          <a:xfrm>
            <a:off x="550000" y="6250000"/>
            <a:ext cx="11650000" cy="3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900">
                <a:solidFill>
                  <a:srgbClr val="475569"/>
                </a:solidFill>
                <a:latin typeface="Noto Sans CJK JP"/>
                <a:ea typeface="Noto Sans CJK JP"/>
              </a:rPr>
              <a:t>固定EXAM_ALIGNMENT：H22一次 問3／H24二次 問3／R1二次 問3(1)〜(3)</a:t>
            </a:r>
            <a:endParaRPr lang="ja-JP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50000"/>
            <a:ext cx="11300000" cy="5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2600" b="1">
                <a:solidFill>
                  <a:srgbClr val="111827"/>
                </a:solidFill>
                <a:latin typeface="Noto Sans CJK JP"/>
                <a:ea typeface="Noto Sans CJK JP"/>
              </a:rPr>
              <a:t>4  入力電流波形：補償前→補償電流→補償後</a:t>
            </a:r>
            <a:endParaRPr lang="ja-JP" sz="2600"/>
          </a:p>
        </p:txBody>
      </p:sp>
      <p:sp>
        <p:nvSpPr>
          <p:cNvPr id="3" name="Subtitle"/>
          <p:cNvSpPr/>
          <p:nvPr/>
        </p:nvSpPr>
        <p:spPr>
          <a:xfrm>
            <a:off x="420000" y="800000"/>
            <a:ext cx="11300000" cy="32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1050">
                <a:solidFill>
                  <a:srgbClr val="4B5563"/>
                </a:solidFill>
                <a:latin typeface="Noto Sans CJK JP"/>
                <a:ea typeface="Noto Sans CJK JP"/>
              </a:rPr>
              <a:t>R5二次 機械・制御 問3｜正規化模式図</a:t>
            </a:r>
            <a:endParaRPr lang="ja-JP" sz="1050"/>
          </a:p>
        </p:txBody>
      </p:sp>
      <p:sp>
        <p:nvSpPr>
          <p:cNvPr id="4" name="Body1"/>
          <p:cNvSpPr/>
          <p:nvPr/>
        </p:nvSpPr>
        <p:spPr>
          <a:xfrm>
            <a:off x="550000" y="1350000"/>
            <a:ext cx="57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負荷電流 iL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▁▆█▃▁▆█▃　（ひずみ波）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iL(t) = i1(t) + iH(t)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補償電流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ic(t) = −iH(t)</a:t>
            </a:r>
            <a:endParaRPr lang="ja-JP" sz="1700"/>
          </a:p>
        </p:txBody>
      </p:sp>
      <p:sp>
        <p:nvSpPr>
          <p:cNvPr id="5" name="Body2"/>
          <p:cNvSpPr/>
          <p:nvPr/>
        </p:nvSpPr>
        <p:spPr>
          <a:xfrm>
            <a:off x="6500000" y="1350000"/>
            <a:ext cx="5200000" cy="3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電源電流 is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～　～　～　（基本波）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is(t) = iL(t)+ic(t)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　　 = i1(t)</a:t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/>
            <a:r>
              <a:rPr lang="ja-JP" sz="1700">
                <a:solidFill>
                  <a:srgbClr val="111827"/>
                </a:solidFill>
                <a:latin typeface="Noto Sans CJK JP"/>
                <a:ea typeface="Noto Sans CJK JP"/>
              </a:rPr>
              <a:t>高調波成分を打ち消す</a:t>
            </a:r>
            <a:endParaRPr lang="ja-JP" sz="1700"/>
          </a:p>
        </p:txBody>
      </p:sp>
      <p:sp>
        <p:nvSpPr>
          <p:cNvPr id="6" name="Visual"/>
          <p:cNvSpPr/>
          <p:nvPr/>
        </p:nvSpPr>
        <p:spPr>
          <a:xfrm>
            <a:off x="550000" y="5250000"/>
            <a:ext cx="11650000" cy="8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50000" rIns="90000" bIns="50000" wrap="square"/>
          <a:lstStyle/>
          <a:p>
            <a:pPr/>
            <a:r>
              <a:rPr lang="ja-JP" sz="1500" b="1">
                <a:solidFill>
                  <a:srgbClr val="1E3A8A"/>
                </a:solidFill>
                <a:latin typeface="Noto Sans CJK JP"/>
                <a:ea typeface="Noto Sans CJK JP"/>
              </a:rPr>
              <a:t>解法：①分離  ②IH=√(IL²−I1²)  ③ic=−iH  ④is=i1 を確認</a:t>
            </a:r>
            <a:endParaRPr lang="ja-JP" sz="1500"/>
          </a:p>
        </p:txBody>
      </p:sp>
      <p:sp>
        <p:nvSpPr>
          <p:cNvPr id="7" name="Footer"/>
          <p:cNvSpPr/>
          <p:nvPr/>
        </p:nvSpPr>
        <p:spPr>
          <a:xfrm>
            <a:off x="550000" y="6250000"/>
            <a:ext cx="11650000" cy="300000"/>
          </a:xfrm>
          <a:prstGeom prst="rect">
            <a:avLst/>
          </a:prstGeom>
          <a:noFill/>
          <a:ln>
            <a:noFill/>
          </a:ln>
        </p:spPr>
        <p:txBody>
          <a:bodyPr lIns="90000" tIns="50000" rIns="90000" bIns="50000" wrap="square"/>
          <a:lstStyle/>
          <a:p>
            <a:pPr/>
            <a:r>
              <a:rPr lang="ja-JP" sz="900">
                <a:solidFill>
                  <a:srgbClr val="475569"/>
                </a:solidFill>
                <a:latin typeface="Noto Sans CJK JP"/>
                <a:ea typeface="Noto Sans CJK JP"/>
              </a:rPr>
              <a:t>固定EXAM_ALIGNMENT：R5二次 問3｜Topic 12/13先取り・未確認300系実車値追加 0件</a:t>
            </a:r>
            <a:endParaRPr lang="ja-JP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1D4ED8"/>
      </a:accent1>
      <a:accent2>
        <a:srgbClr val="0F766E"/>
      </a:accent2>
      <a:accent3>
        <a:srgbClr val="B45309"/>
      </a:accent3>
      <a:accent4>
        <a:srgbClr val="7C3AED"/>
      </a:accent4>
      <a:accent5>
        <a:srgbClr val="BE123C"/>
      </a:accent5>
      <a:accent6>
        <a:srgbClr val="475569"/>
      </a:accent6>
      <a:hlink>
        <a:srgbClr val="0563C1"/>
      </a:hlink>
      <a:folHlink>
        <a:srgbClr val="954F72"/>
      </a:folHlink>
    </a:clrScheme>
    <a:fontScheme name="Minimal">
      <a:majorFont>
        <a:latin typeface="Noto Sans CJK JP"/>
        <a:ea typeface="Noto Sans CJK JP"/>
        <a:cs typeface="Noto Sans CJK JP"/>
      </a:majorFont>
      <a:minorFont>
        <a:latin typeface="Noto Sans CJK JP"/>
        <a:ea typeface="Noto Sans CJK JP"/>
        <a:cs typeface="Noto Sans CJK JP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