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AA"/>
                </a:solidFill>
                <a:latin typeface="Noto Sans CJK JP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Noto Sans CJK JP"/>
              </a:rPr>
              <a:t>フィードバック制御をブロック線図へ落とす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1B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電験二種：伝達関数・開ループ・閉ループ・偏差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234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目標値 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1965960"/>
            <a:ext cx="1097280" cy="621792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比較点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965960"/>
            <a:ext cx="1600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制御要素 C(s)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965960"/>
            <a:ext cx="16002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制御対象 P(s)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965960"/>
            <a:ext cx="1188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Noto Sans CJK JP"/>
              </a:rPr>
              <a:t>出力 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276856"/>
            <a:ext cx="32004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46120" y="2276856"/>
            <a:ext cx="45720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03520" y="2276856"/>
            <a:ext cx="502920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06640" y="2276856"/>
            <a:ext cx="548639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06440" y="3730752"/>
            <a:ext cx="1600200" cy="566928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2937"/>
                </a:solidFill>
                <a:latin typeface="Noto Sans CJK JP"/>
              </a:rPr>
              <a:t>検出要素 H(s)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49640" y="2587752"/>
            <a:ext cx="0" cy="1426463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406640" y="4014215"/>
            <a:ext cx="1143000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697480" y="4014215"/>
            <a:ext cx="3108960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697480" y="2587752"/>
            <a:ext cx="0" cy="1426463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05456" y="25328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43232"/>
                </a:solidFill>
                <a:latin typeface="Noto Sans CJK JP"/>
              </a:rPr>
              <a:t>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8803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060"/>
                </a:solidFill>
                <a:latin typeface="Noto Sans CJK JP"/>
              </a:rPr>
              <a:t>偏差 E = R − 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1325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Noto Sans CJK JP"/>
              </a:rPr>
              <a:t>試験で区別する3つ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1783080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JP"/>
              </a:rPr>
              <a:t>開ループ
L(s)=C(s)P(s)H(s)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697480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JP"/>
              </a:rPr>
              <a:t>閉ループ
Y/R=CP/(1+CPH)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611880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JP"/>
              </a:rPr>
              <a:t>単位負帰還の偏差
E/R=1/(1+G)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37760"/>
            <a:ext cx="141732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5EAA"/>
                </a:solidFill>
                <a:latin typeface="Noto Sans CJK JP"/>
              </a:rPr>
              <a:t>直列＝積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31720" y="4937760"/>
            <a:ext cx="160020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5EAA"/>
                </a:solidFill>
                <a:latin typeface="Noto Sans CJK JP"/>
              </a:rPr>
              <a:t>並列＝和/差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4937760"/>
            <a:ext cx="214884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5EAA"/>
                </a:solidFill>
                <a:latin typeface="Noto Sans CJK JP"/>
              </a:rPr>
              <a:t>負帰還：1+L(s)=0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4937760"/>
            <a:ext cx="228600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B5EAA"/>
                </a:solidFill>
                <a:latin typeface="Noto Sans CJK JP"/>
              </a:rPr>
              <a:t>入力・出力を先に確定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6928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Noto Sans CJK JP"/>
              </a:rPr>
              <a:t>N700系は「指令値→偏差→制御→車両/駆動系→検出値」の一般モデルとして接続する。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Noto Sans CJK JP"/>
              </a:rPr>
              <a:t>一般教材モデル。N700系実車の制御定数・伝達関数を示すものではない。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AA"/>
                </a:solidFill>
                <a:latin typeface="Noto Sans CJK JP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Noto Sans CJK JP"/>
              </a:rPr>
              <a:t>一次遅れ：時定数とステップ応答を結び付ける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1B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G(s)=K/(Ts+1)  →  y(t)=K(1−e^(−t/T))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5120640"/>
            <a:ext cx="6080760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05840" y="1417319"/>
            <a:ext cx="0" cy="3703321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05840" y="1417319"/>
            <a:ext cx="0" cy="3703321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9536" y="5166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221992" y="1417319"/>
            <a:ext cx="0" cy="3703321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075688" y="5166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438144" y="1417319"/>
            <a:ext cx="0" cy="3703321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91840" y="5166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654296" y="1417319"/>
            <a:ext cx="0" cy="3703321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07992" y="5166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870448" y="1417319"/>
            <a:ext cx="0" cy="3703321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24144" y="5166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086600" y="1417319"/>
            <a:ext cx="0" cy="3703321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0296" y="5166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40" y="5120640"/>
            <a:ext cx="6080760" cy="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0292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Noto Sans CJK JP"/>
              </a:rPr>
              <a:t>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" y="3357154"/>
            <a:ext cx="6080760" cy="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326571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Noto Sans CJK JP"/>
              </a:rPr>
              <a:t>0.5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" y="1593668"/>
            <a:ext cx="6080760" cy="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150222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Noto Sans CJK JP"/>
              </a:rPr>
              <a:t>1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005840" y="4741781"/>
            <a:ext cx="138199" cy="37885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44039" y="4403618"/>
            <a:ext cx="138199" cy="33816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282238" y="4101781"/>
            <a:ext cx="138199" cy="30183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420437" y="3832365"/>
            <a:ext cx="138199" cy="26941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558636" y="3591890"/>
            <a:ext cx="138199" cy="24047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696835" y="3377246"/>
            <a:ext cx="138199" cy="21464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835034" y="3185658"/>
            <a:ext cx="138199" cy="19158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973233" y="3014651"/>
            <a:ext cx="138199" cy="17100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111432" y="2862012"/>
            <a:ext cx="138199" cy="15263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249631" y="2725770"/>
            <a:ext cx="138199" cy="13624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387830" y="2604162"/>
            <a:ext cx="138200" cy="12160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526030" y="2495618"/>
            <a:ext cx="138199" cy="10854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664229" y="2398732"/>
            <a:ext cx="138199" cy="9688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802428" y="2312254"/>
            <a:ext cx="138199" cy="8647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940627" y="2235066"/>
            <a:ext cx="138199" cy="7718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78826" y="2166168"/>
            <a:ext cx="138199" cy="6889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217025" y="2104672"/>
            <a:ext cx="138199" cy="6149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355224" y="2049781"/>
            <a:ext cx="138199" cy="5489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493423" y="2000786"/>
            <a:ext cx="138199" cy="4899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631622" y="1957055"/>
            <a:ext cx="138199" cy="4373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769821" y="1918021"/>
            <a:ext cx="138199" cy="3903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908020" y="1883180"/>
            <a:ext cx="138200" cy="3484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046220" y="1852081"/>
            <a:ext cx="138199" cy="3109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84419" y="1824323"/>
            <a:ext cx="138199" cy="2775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22618" y="1799546"/>
            <a:ext cx="138199" cy="2477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460817" y="1777432"/>
            <a:ext cx="138199" cy="2211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599016" y="1757692"/>
            <a:ext cx="138199" cy="1974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737215" y="1740073"/>
            <a:ext cx="138199" cy="1761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875414" y="1724347"/>
            <a:ext cx="138199" cy="1572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013613" y="1710309"/>
            <a:ext cx="138199" cy="1403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151812" y="1697780"/>
            <a:ext cx="138199" cy="1252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290011" y="1686597"/>
            <a:ext cx="138199" cy="1118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28210" y="1676614"/>
            <a:ext cx="138200" cy="998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66410" y="1667705"/>
            <a:ext cx="138199" cy="890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04609" y="1659752"/>
            <a:ext cx="138199" cy="795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42808" y="1652653"/>
            <a:ext cx="138199" cy="709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81007" y="1646317"/>
            <a:ext cx="138199" cy="633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19206" y="1640662"/>
            <a:ext cx="138199" cy="565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57405" y="1635614"/>
            <a:ext cx="138199" cy="504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95604" y="1631108"/>
            <a:ext cx="138199" cy="450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33803" y="1627086"/>
            <a:ext cx="138199" cy="402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2002" y="1623497"/>
            <a:ext cx="138199" cy="358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810201" y="1620293"/>
            <a:ext cx="138199" cy="320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948400" y="1617433"/>
            <a:ext cx="138200" cy="286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170432" y="1289304"/>
            <a:ext cx="256032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463040" y="118872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y=1−e^(−t)</a:t>
            </a:r>
          </a:p>
        </p:txBody>
      </p:sp>
      <p:sp>
        <p:nvSpPr>
          <p:cNvPr id="72" name="Oval 71"/>
          <p:cNvSpPr/>
          <p:nvPr/>
        </p:nvSpPr>
        <p:spPr>
          <a:xfrm>
            <a:off x="2180844" y="2850020"/>
            <a:ext cx="82296" cy="82296"/>
          </a:xfrm>
          <a:prstGeom prst="ellipse">
            <a:avLst/>
          </a:prstGeom>
          <a:solidFill>
            <a:srgbClr val="B4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95144" y="2726576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3232"/>
                </a:solidFill>
                <a:latin typeface="Noto Sans CJK JP"/>
              </a:rPr>
              <a:t>t=T：63.2%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20840" y="53400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t [s]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" y="121615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1234440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Noto Sans CJK JP"/>
              </a:rPr>
              <a:t>一次遅れの要点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1691640"/>
            <a:ext cx="38404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JP"/>
              </a:rPr>
              <a:t>極：s=−1/T
T&gt;0 なら左半平面 → 安定
t=T のとき
y(T)=0.632K
T は「最終値へ到達する時間」ではない。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635240" y="4160520"/>
            <a:ext cx="3474720" cy="502920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5EAA"/>
                </a:solidFill>
                <a:latin typeface="Noto Sans CJK JP"/>
              </a:rPr>
              <a:t>指定可視化① ステップ応答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477316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式・初期値・時間軸・定常値を明記し、63.2%点まで同じ式から再生成。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8064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Noto Sans CJK JP"/>
              </a:rPr>
              <a:t>例：G(s)=2/(3s+1) → y(t)=2(1−e^(−t/3)),  y(3)=1.264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547104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Noto Sans CJK JP"/>
              </a:rPr>
              <a:t>一般教材モデル。N700系実車の制御定数・伝達関数を示すものではない。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AA"/>
                </a:solidFill>
                <a:latin typeface="Noto Sans CJK JP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Noto Sans CJK JP"/>
              </a:rPr>
              <a:t>閉ループ：ゲイン変更と定常偏差を同じ式で読む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1B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単位負帰還 G_K(s)=K/(s+1)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977639"/>
            <a:ext cx="4937760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" y="1417319"/>
            <a:ext cx="0" cy="256032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6868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237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0312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5681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33756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9125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57200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2569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80644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013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3977639"/>
            <a:ext cx="4937760" cy="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38862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Noto Sans CJK JP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733040"/>
            <a:ext cx="4937760" cy="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6416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Noto Sans CJK JP"/>
              </a:rPr>
              <a:t>0.35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1488440"/>
            <a:ext cx="4937760" cy="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13970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Noto Sans CJK JP"/>
              </a:rPr>
              <a:t>0.7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868680" y="3826539"/>
            <a:ext cx="112221" cy="15110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80901" y="3694701"/>
            <a:ext cx="112222" cy="13183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93123" y="3579668"/>
            <a:ext cx="112222" cy="11503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05345" y="3479300"/>
            <a:ext cx="112222" cy="10036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17567" y="3391725"/>
            <a:ext cx="112222" cy="8757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429789" y="3315315"/>
            <a:ext cx="112221" cy="7641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542010" y="3248644"/>
            <a:ext cx="112222" cy="6667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654232" y="3190473"/>
            <a:ext cx="112222" cy="5817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766454" y="3139716"/>
            <a:ext cx="112222" cy="5075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78676" y="3095430"/>
            <a:ext cx="112222" cy="4428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990898" y="3056790"/>
            <a:ext cx="112222" cy="3864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103120" y="3023075"/>
            <a:ext cx="112221" cy="3371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215341" y="2993658"/>
            <a:ext cx="112222" cy="2941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327563" y="2967990"/>
            <a:ext cx="112222" cy="2566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439785" y="2945595"/>
            <a:ext cx="112222" cy="2239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552007" y="2926055"/>
            <a:ext cx="112222" cy="1954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64229" y="2909005"/>
            <a:ext cx="112221" cy="1705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76450" y="2894129"/>
            <a:ext cx="112222" cy="1487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888672" y="2881149"/>
            <a:ext cx="112222" cy="1298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000894" y="2869824"/>
            <a:ext cx="112222" cy="1132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113116" y="2859942"/>
            <a:ext cx="112222" cy="988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225338" y="2851320"/>
            <a:ext cx="112222" cy="862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37560" y="2843798"/>
            <a:ext cx="112221" cy="752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449781" y="2837234"/>
            <a:ext cx="112222" cy="656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562003" y="2831507"/>
            <a:ext cx="112222" cy="572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74225" y="2826510"/>
            <a:ext cx="112222" cy="499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786447" y="2822149"/>
            <a:ext cx="112222" cy="436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898669" y="2818345"/>
            <a:ext cx="112221" cy="380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010890" y="2815026"/>
            <a:ext cx="112222" cy="331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123112" y="2812130"/>
            <a:ext cx="112222" cy="289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235334" y="2809603"/>
            <a:ext cx="112222" cy="252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347556" y="2807398"/>
            <a:ext cx="112222" cy="220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459778" y="2805474"/>
            <a:ext cx="112222" cy="192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572000" y="2803795"/>
            <a:ext cx="112221" cy="167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684221" y="2802331"/>
            <a:ext cx="112222" cy="146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796443" y="2801053"/>
            <a:ext cx="112222" cy="127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908665" y="2799938"/>
            <a:ext cx="112222" cy="111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020887" y="2798965"/>
            <a:ext cx="112222" cy="97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133109" y="2798116"/>
            <a:ext cx="112221" cy="84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245330" y="2797376"/>
            <a:ext cx="112222" cy="74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57552" y="2796729"/>
            <a:ext cx="112222" cy="64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469774" y="2796166"/>
            <a:ext cx="112222" cy="56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581996" y="2795674"/>
            <a:ext cx="112222" cy="49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694218" y="2795244"/>
            <a:ext cx="112222" cy="43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33272" y="1289304"/>
            <a:ext cx="256032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325880" y="118872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K=0.5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868680" y="3682052"/>
            <a:ext cx="112221" cy="295587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0901" y="3435605"/>
            <a:ext cx="112222" cy="246447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93123" y="3230130"/>
            <a:ext cx="112222" cy="20547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205345" y="3058814"/>
            <a:ext cx="112222" cy="17131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317567" y="2915978"/>
            <a:ext cx="112222" cy="14283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429789" y="2796889"/>
            <a:ext cx="112221" cy="11908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542010" y="2697598"/>
            <a:ext cx="112222" cy="99291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654232" y="2614814"/>
            <a:ext cx="112222" cy="8278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766454" y="2545792"/>
            <a:ext cx="112222" cy="69022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878676" y="2488246"/>
            <a:ext cx="112222" cy="5754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990898" y="2440266"/>
            <a:ext cx="112222" cy="47980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103120" y="2400262"/>
            <a:ext cx="112221" cy="4000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215341" y="2366909"/>
            <a:ext cx="112222" cy="3335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327563" y="2339101"/>
            <a:ext cx="112222" cy="27808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439785" y="2315916"/>
            <a:ext cx="112222" cy="2318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552007" y="2296585"/>
            <a:ext cx="112222" cy="19331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664229" y="2280468"/>
            <a:ext cx="112221" cy="16117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776450" y="2267031"/>
            <a:ext cx="112222" cy="13437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888672" y="2255827"/>
            <a:ext cx="112222" cy="1120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000894" y="2246486"/>
            <a:ext cx="112222" cy="9341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113116" y="2238698"/>
            <a:ext cx="112222" cy="7788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3225338" y="2232205"/>
            <a:ext cx="112222" cy="649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337560" y="2226791"/>
            <a:ext cx="112221" cy="541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449781" y="2222277"/>
            <a:ext cx="112222" cy="451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562003" y="2218514"/>
            <a:ext cx="112222" cy="376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674225" y="2215376"/>
            <a:ext cx="112222" cy="3138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786447" y="2212760"/>
            <a:ext cx="112222" cy="261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898669" y="2210579"/>
            <a:ext cx="112221" cy="2181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010890" y="2208760"/>
            <a:ext cx="112222" cy="181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123112" y="2207244"/>
            <a:ext cx="112222" cy="151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4235334" y="2205980"/>
            <a:ext cx="112222" cy="126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347556" y="2204926"/>
            <a:ext cx="112222" cy="105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459778" y="2204047"/>
            <a:ext cx="112222" cy="87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4572000" y="2203314"/>
            <a:ext cx="112221" cy="73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4684221" y="2202703"/>
            <a:ext cx="112222" cy="611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4796443" y="2202194"/>
            <a:ext cx="112222" cy="50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4908665" y="2201769"/>
            <a:ext cx="112222" cy="42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020887" y="2201415"/>
            <a:ext cx="112222" cy="35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133109" y="2201120"/>
            <a:ext cx="112221" cy="29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245330" y="2200874"/>
            <a:ext cx="112222" cy="24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357552" y="2200669"/>
            <a:ext cx="112222" cy="20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469774" y="2200498"/>
            <a:ext cx="112222" cy="171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581996" y="2200355"/>
            <a:ext cx="112222" cy="14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5694218" y="2200236"/>
            <a:ext cx="112222" cy="11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112264" y="1289304"/>
            <a:ext cx="256032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2404872" y="118872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K=1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868680" y="3411762"/>
            <a:ext cx="112221" cy="565877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80901" y="2980960"/>
            <a:ext cx="112222" cy="430802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093123" y="2652990"/>
            <a:ext cx="112222" cy="32797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205345" y="2403306"/>
            <a:ext cx="112222" cy="249684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317567" y="2213221"/>
            <a:ext cx="112222" cy="19008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429789" y="2068510"/>
            <a:ext cx="112221" cy="144711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1542010" y="1958341"/>
            <a:ext cx="112222" cy="11016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654232" y="1874470"/>
            <a:ext cx="112222" cy="83871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766454" y="1810618"/>
            <a:ext cx="112222" cy="63852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878676" y="1762008"/>
            <a:ext cx="112222" cy="4861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990898" y="1725001"/>
            <a:ext cx="112222" cy="37007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2103120" y="1696828"/>
            <a:ext cx="112221" cy="28173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2215341" y="1675380"/>
            <a:ext cx="112222" cy="2144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2327563" y="1659051"/>
            <a:ext cx="112222" cy="1632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2439785" y="1646620"/>
            <a:ext cx="112222" cy="12431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2552007" y="1637156"/>
            <a:ext cx="112222" cy="9464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664229" y="1629951"/>
            <a:ext cx="112221" cy="720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776450" y="1624466"/>
            <a:ext cx="112222" cy="548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888672" y="1620291"/>
            <a:ext cx="112222" cy="417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3000894" y="1617112"/>
            <a:ext cx="112222" cy="317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113116" y="1614692"/>
            <a:ext cx="112222" cy="242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225338" y="1612849"/>
            <a:ext cx="112222" cy="1843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337560" y="1611446"/>
            <a:ext cx="112221" cy="1403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449781" y="1610379"/>
            <a:ext cx="112222" cy="1067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562003" y="1609566"/>
            <a:ext cx="112222" cy="813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674225" y="1608947"/>
            <a:ext cx="112222" cy="61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786447" y="1608476"/>
            <a:ext cx="112222" cy="471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898669" y="1608117"/>
            <a:ext cx="112221" cy="35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4010890" y="1607844"/>
            <a:ext cx="112222" cy="273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4123112" y="1607636"/>
            <a:ext cx="112222" cy="20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4235334" y="1607478"/>
            <a:ext cx="112222" cy="15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4347556" y="1607357"/>
            <a:ext cx="112222" cy="121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459778" y="1607265"/>
            <a:ext cx="112222" cy="92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572000" y="1607196"/>
            <a:ext cx="112221" cy="6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684221" y="1607142"/>
            <a:ext cx="112222" cy="54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4796443" y="1607102"/>
            <a:ext cx="112222" cy="4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908665" y="1607071"/>
            <a:ext cx="112222" cy="31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5020887" y="1607048"/>
            <a:ext cx="112222" cy="23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5133109" y="1607030"/>
            <a:ext cx="112221" cy="1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5245330" y="1607016"/>
            <a:ext cx="112222" cy="14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357552" y="1607006"/>
            <a:ext cx="112222" cy="1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5469774" y="1606998"/>
            <a:ext cx="112222" cy="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5581996" y="1606992"/>
            <a:ext cx="112222" cy="6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5694218" y="1606987"/>
            <a:ext cx="112222" cy="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191256" y="1289304"/>
            <a:ext cx="256032" cy="0"/>
          </a:xfrm>
          <a:prstGeom prst="line">
            <a:avLst/>
          </a:prstGeom>
          <a:ln w="2540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3483864" y="118872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K=2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40680" y="41970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t [s]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84632" y="121615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y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6629400" y="3977639"/>
            <a:ext cx="4937760" cy="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629400" y="1417319"/>
            <a:ext cx="0" cy="2560320"/>
          </a:xfrm>
          <a:prstGeom prst="line">
            <a:avLst/>
          </a:prstGeom>
          <a:ln w="127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662940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648309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0</a:t>
            </a:r>
          </a:p>
        </p:txBody>
      </p:sp>
      <p:cxnSp>
        <p:nvCxnSpPr>
          <p:cNvPr id="168" name="Connector 167"/>
          <p:cNvCxnSpPr/>
          <p:nvPr/>
        </p:nvCxnSpPr>
        <p:spPr>
          <a:xfrm flipV="1">
            <a:off x="786384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771753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1</a:t>
            </a:r>
          </a:p>
        </p:txBody>
      </p:sp>
      <p:cxnSp>
        <p:nvCxnSpPr>
          <p:cNvPr id="170" name="Connector 169"/>
          <p:cNvCxnSpPr/>
          <p:nvPr/>
        </p:nvCxnSpPr>
        <p:spPr>
          <a:xfrm flipV="1">
            <a:off x="909828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895197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2</a:t>
            </a:r>
          </a:p>
        </p:txBody>
      </p:sp>
      <p:cxnSp>
        <p:nvCxnSpPr>
          <p:cNvPr id="172" name="Connector 171"/>
          <p:cNvCxnSpPr/>
          <p:nvPr/>
        </p:nvCxnSpPr>
        <p:spPr>
          <a:xfrm flipV="1">
            <a:off x="1033272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1018641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3</a:t>
            </a:r>
          </a:p>
        </p:txBody>
      </p:sp>
      <p:cxnSp>
        <p:nvCxnSpPr>
          <p:cNvPr id="174" name="Connector 173"/>
          <p:cNvCxnSpPr/>
          <p:nvPr/>
        </p:nvCxnSpPr>
        <p:spPr>
          <a:xfrm flipV="1">
            <a:off x="11567160" y="1417319"/>
            <a:ext cx="0" cy="256032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11420856" y="4023359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Noto Sans CJK JP"/>
              </a:rPr>
              <a:t>4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6629400" y="3977639"/>
            <a:ext cx="4937760" cy="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TextBox 176"/>
          <p:cNvSpPr txBox="1"/>
          <p:nvPr/>
        </p:nvSpPr>
        <p:spPr>
          <a:xfrm>
            <a:off x="6263640" y="38862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Noto Sans CJK JP"/>
              </a:rPr>
              <a:t>0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6629400" y="2758440"/>
            <a:ext cx="4937760" cy="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6263640" y="26670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Noto Sans CJK JP"/>
              </a:rPr>
              <a:t>0.5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6629400" y="1539239"/>
            <a:ext cx="4937760" cy="0"/>
          </a:xfrm>
          <a:prstGeom prst="line">
            <a:avLst/>
          </a:prstGeom>
          <a:ln w="635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6263640" y="1447799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4B5563"/>
                </a:solidFill>
                <a:latin typeface="Noto Sans CJK JP"/>
              </a:rPr>
              <a:t>1</a:t>
            </a:r>
          </a:p>
        </p:txBody>
      </p:sp>
      <p:cxnSp>
        <p:nvCxnSpPr>
          <p:cNvPr id="182" name="Connector 181"/>
          <p:cNvCxnSpPr/>
          <p:nvPr/>
        </p:nvCxnSpPr>
        <p:spPr>
          <a:xfrm flipV="1">
            <a:off x="6629400" y="3572263"/>
            <a:ext cx="112221" cy="40537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741621" y="3234278"/>
            <a:ext cx="112222" cy="33798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853843" y="2952483"/>
            <a:ext cx="112222" cy="28179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966065" y="2717536"/>
            <a:ext cx="112222" cy="23494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7078287" y="2521647"/>
            <a:ext cx="112222" cy="19588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7190509" y="2358325"/>
            <a:ext cx="112221" cy="16332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302730" y="2222154"/>
            <a:ext cx="112222" cy="13617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414952" y="2108622"/>
            <a:ext cx="112222" cy="11353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527174" y="2013964"/>
            <a:ext cx="112222" cy="9465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639396" y="1935042"/>
            <a:ext cx="112222" cy="7892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7751618" y="1869241"/>
            <a:ext cx="112222" cy="6580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7863840" y="1814379"/>
            <a:ext cx="112221" cy="54862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7976061" y="1768638"/>
            <a:ext cx="112222" cy="4574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088283" y="1730501"/>
            <a:ext cx="112222" cy="38137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00505" y="1698705"/>
            <a:ext cx="112222" cy="3179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12727" y="1672194"/>
            <a:ext cx="112222" cy="2651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24949" y="1650091"/>
            <a:ext cx="112221" cy="2210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37170" y="1631662"/>
            <a:ext cx="112222" cy="18429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49392" y="1616297"/>
            <a:ext cx="112222" cy="1536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761614" y="1603486"/>
            <a:ext cx="112222" cy="1281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873836" y="1592806"/>
            <a:ext cx="112222" cy="1068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986058" y="1583900"/>
            <a:ext cx="112222" cy="8906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9098280" y="1576476"/>
            <a:ext cx="112221" cy="742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210501" y="1570285"/>
            <a:ext cx="112222" cy="619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322723" y="1565124"/>
            <a:ext cx="112222" cy="516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434945" y="1560821"/>
            <a:ext cx="112222" cy="430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9547167" y="1557233"/>
            <a:ext cx="112222" cy="358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9659389" y="1554242"/>
            <a:ext cx="112221" cy="299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9771610" y="1551748"/>
            <a:ext cx="112222" cy="249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9883832" y="1549668"/>
            <a:ext cx="112222" cy="2080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9996054" y="1547934"/>
            <a:ext cx="112222" cy="173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0108276" y="1546489"/>
            <a:ext cx="112222" cy="144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0220498" y="1545284"/>
            <a:ext cx="112222" cy="120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0332720" y="1544279"/>
            <a:ext cx="112221" cy="100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0444941" y="1543441"/>
            <a:ext cx="112222" cy="83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10557163" y="1542743"/>
            <a:ext cx="112222" cy="69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10669385" y="1542160"/>
            <a:ext cx="112222" cy="583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10781607" y="1541675"/>
            <a:ext cx="112222" cy="48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10893829" y="1541270"/>
            <a:ext cx="112221" cy="40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1006050" y="1540932"/>
            <a:ext cx="112222" cy="338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1118272" y="1540651"/>
            <a:ext cx="112222" cy="281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11230494" y="1540416"/>
            <a:ext cx="112222" cy="23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11342716" y="1540221"/>
            <a:ext cx="112222" cy="195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11454938" y="1540057"/>
            <a:ext cx="112222" cy="164"/>
          </a:xfrm>
          <a:prstGeom prst="line">
            <a:avLst/>
          </a:prstGeom>
          <a:ln w="2032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6793992" y="1289304"/>
            <a:ext cx="256032" cy="0"/>
          </a:xfrm>
          <a:prstGeom prst="line">
            <a:avLst/>
          </a:prstGeom>
          <a:ln w="25400">
            <a:solidFill>
              <a:srgbClr val="1B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TextBox 226"/>
          <p:cNvSpPr txBox="1"/>
          <p:nvPr/>
        </p:nvSpPr>
        <p:spPr>
          <a:xfrm>
            <a:off x="7086600" y="118872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T=0.5</a:t>
            </a:r>
          </a:p>
        </p:txBody>
      </p:sp>
      <p:cxnSp>
        <p:nvCxnSpPr>
          <p:cNvPr id="228" name="Connector 227"/>
          <p:cNvCxnSpPr/>
          <p:nvPr/>
        </p:nvCxnSpPr>
        <p:spPr>
          <a:xfrm flipV="1">
            <a:off x="6629400" y="3765744"/>
            <a:ext cx="112221" cy="21189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6741621" y="3572263"/>
            <a:ext cx="112222" cy="193481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6853843" y="3395594"/>
            <a:ext cx="112222" cy="17666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6966065" y="3234278"/>
            <a:ext cx="112222" cy="16131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7078287" y="3086981"/>
            <a:ext cx="112222" cy="147297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7190509" y="2952483"/>
            <a:ext cx="112221" cy="134498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7302730" y="2829673"/>
            <a:ext cx="112222" cy="122810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7414952" y="2717536"/>
            <a:ext cx="112222" cy="112137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7527174" y="2615142"/>
            <a:ext cx="112222" cy="10239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7639396" y="2521647"/>
            <a:ext cx="112222" cy="9349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7751618" y="2436277"/>
            <a:ext cx="112222" cy="85370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7863840" y="2358325"/>
            <a:ext cx="112221" cy="77952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7976061" y="2287147"/>
            <a:ext cx="112222" cy="71178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8088283" y="2222154"/>
            <a:ext cx="112222" cy="6499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8200505" y="2162809"/>
            <a:ext cx="112222" cy="5934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8312727" y="2108622"/>
            <a:ext cx="112222" cy="54187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8424949" y="2059143"/>
            <a:ext cx="112221" cy="4947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8537170" y="2013964"/>
            <a:ext cx="112222" cy="4517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8649392" y="1972710"/>
            <a:ext cx="112222" cy="4125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8761614" y="1935042"/>
            <a:ext cx="112222" cy="37668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8873836" y="1900647"/>
            <a:ext cx="112222" cy="3439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 flipV="1">
            <a:off x="8986058" y="1869241"/>
            <a:ext cx="112222" cy="3140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9098280" y="1840564"/>
            <a:ext cx="112221" cy="28677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9210501" y="1814379"/>
            <a:ext cx="112222" cy="2618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322723" y="1790470"/>
            <a:ext cx="112222" cy="2390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9434945" y="1768638"/>
            <a:ext cx="112222" cy="21832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 flipV="1">
            <a:off x="9547167" y="1748704"/>
            <a:ext cx="112222" cy="1993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9659389" y="1730501"/>
            <a:ext cx="112221" cy="1820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V="1">
            <a:off x="9771610" y="1713881"/>
            <a:ext cx="112222" cy="16620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V="1">
            <a:off x="9883832" y="1698705"/>
            <a:ext cx="112222" cy="1517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996054" y="1684847"/>
            <a:ext cx="112222" cy="13858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V="1">
            <a:off x="10108276" y="1672194"/>
            <a:ext cx="112222" cy="1265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 flipV="1">
            <a:off x="10220498" y="1660640"/>
            <a:ext cx="112222" cy="1155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V="1">
            <a:off x="10332720" y="1650091"/>
            <a:ext cx="112221" cy="10549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10444941" y="1640458"/>
            <a:ext cx="112222" cy="963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10557163" y="1631662"/>
            <a:ext cx="112222" cy="879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10669385" y="1623631"/>
            <a:ext cx="112222" cy="8031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10781607" y="1616297"/>
            <a:ext cx="112222" cy="7334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893829" y="1609601"/>
            <a:ext cx="112221" cy="6696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1006050" y="1603486"/>
            <a:ext cx="112222" cy="611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118272" y="1597903"/>
            <a:ext cx="112222" cy="5583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230494" y="1592806"/>
            <a:ext cx="112222" cy="5097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1342716" y="1588151"/>
            <a:ext cx="112222" cy="4655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1454938" y="1583900"/>
            <a:ext cx="112222" cy="4251"/>
          </a:xfrm>
          <a:prstGeom prst="line">
            <a:avLst/>
          </a:prstGeom>
          <a:ln w="2032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7872983" y="1289304"/>
            <a:ext cx="256032" cy="0"/>
          </a:xfrm>
          <a:prstGeom prst="line">
            <a:avLst/>
          </a:prstGeom>
          <a:ln w="25400">
            <a:solidFill>
              <a:srgbClr val="008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8165592" y="118872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T=1</a:t>
            </a:r>
          </a:p>
        </p:txBody>
      </p:sp>
      <p:cxnSp>
        <p:nvCxnSpPr>
          <p:cNvPr id="274" name="Connector 273"/>
          <p:cNvCxnSpPr/>
          <p:nvPr/>
        </p:nvCxnSpPr>
        <p:spPr>
          <a:xfrm flipV="1">
            <a:off x="6629400" y="3869284"/>
            <a:ext cx="112221" cy="10835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6741621" y="3765744"/>
            <a:ext cx="112222" cy="10354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6853843" y="3666805"/>
            <a:ext cx="112222" cy="9893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6966065" y="3572263"/>
            <a:ext cx="112222" cy="94542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7078287" y="3481921"/>
            <a:ext cx="112222" cy="90342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7190509" y="3395594"/>
            <a:ext cx="112221" cy="86327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7302730" y="3313104"/>
            <a:ext cx="112222" cy="8249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7414952" y="3234278"/>
            <a:ext cx="112222" cy="78826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7527174" y="3158956"/>
            <a:ext cx="112222" cy="75322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639396" y="3086981"/>
            <a:ext cx="112222" cy="7197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7751618" y="3018204"/>
            <a:ext cx="112222" cy="68777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7863840" y="2952483"/>
            <a:ext cx="112221" cy="65721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7976061" y="2889683"/>
            <a:ext cx="112222" cy="6280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8088283" y="2829673"/>
            <a:ext cx="112222" cy="6001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8200505" y="2772330"/>
            <a:ext cx="112222" cy="57343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8312727" y="2717536"/>
            <a:ext cx="112222" cy="54794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8424949" y="2665176"/>
            <a:ext cx="112221" cy="5236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8537170" y="2615142"/>
            <a:ext cx="112222" cy="50034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8649392" y="2567333"/>
            <a:ext cx="112222" cy="4780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8761614" y="2521647"/>
            <a:ext cx="112222" cy="45686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8873836" y="2477992"/>
            <a:ext cx="112222" cy="4365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8986058" y="2436277"/>
            <a:ext cx="112222" cy="4171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9098280" y="2396415"/>
            <a:ext cx="112221" cy="39862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9210501" y="2358325"/>
            <a:ext cx="112222" cy="3809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9322723" y="2321927"/>
            <a:ext cx="112222" cy="3639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9434945" y="2287147"/>
            <a:ext cx="112222" cy="3478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9547167" y="2253912"/>
            <a:ext cx="112222" cy="33235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9659389" y="2222154"/>
            <a:ext cx="112221" cy="3175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9771610" y="2191808"/>
            <a:ext cx="112222" cy="30346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9883832" y="2162809"/>
            <a:ext cx="112222" cy="2899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996054" y="2135100"/>
            <a:ext cx="112222" cy="27709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0108276" y="2108622"/>
            <a:ext cx="112222" cy="2647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10220498" y="2083320"/>
            <a:ext cx="112222" cy="25302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10332720" y="2059143"/>
            <a:ext cx="112221" cy="24177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10444941" y="2036040"/>
            <a:ext cx="112222" cy="23103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10557163" y="2013964"/>
            <a:ext cx="112222" cy="22076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10669385" y="1992868"/>
            <a:ext cx="112222" cy="21096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10781607" y="1972710"/>
            <a:ext cx="112222" cy="2015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10893829" y="1953448"/>
            <a:ext cx="112221" cy="19262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11006050" y="1935042"/>
            <a:ext cx="112222" cy="18406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11118272" y="1917454"/>
            <a:ext cx="112222" cy="17588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11230494" y="1900647"/>
            <a:ext cx="112222" cy="16807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11342716" y="1884587"/>
            <a:ext cx="112222" cy="16060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11454938" y="1869241"/>
            <a:ext cx="112222" cy="15346"/>
          </a:xfrm>
          <a:prstGeom prst="line">
            <a:avLst/>
          </a:prstGeom>
          <a:ln w="2032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8951976" y="1289304"/>
            <a:ext cx="256031" cy="0"/>
          </a:xfrm>
          <a:prstGeom prst="line">
            <a:avLst/>
          </a:prstGeom>
          <a:ln w="25400">
            <a:solidFill>
              <a:srgbClr val="C475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9244584" y="118872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T=2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1201400" y="41970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t [s]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6245352" y="121615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Noto Sans CJK JP"/>
              </a:rPr>
              <a:t>y</a:t>
            </a:r>
          </a:p>
        </p:txBody>
      </p:sp>
      <p:sp>
        <p:nvSpPr>
          <p:cNvPr id="322" name="Rounded Rectangle 321"/>
          <p:cNvSpPr/>
          <p:nvPr/>
        </p:nvSpPr>
        <p:spPr>
          <a:xfrm>
            <a:off x="777240" y="4370832"/>
            <a:ext cx="2331720" cy="475488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5EAA"/>
                </a:solidFill>
                <a:latin typeface="Noto Sans CJK JP"/>
              </a:rPr>
              <a:t>指定可視化② ゲイン変更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85800" y="4882896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T_K(s)=K/(s+1+K)
y_K=K/(1+K)[1−e^{−(1+K)t}]
K↑ → このモデルでは定常値↑・実効時定数↓</a:t>
            </a:r>
          </a:p>
        </p:txBody>
      </p:sp>
      <p:sp>
        <p:nvSpPr>
          <p:cNvPr id="324" name="Rounded Rectangle 323"/>
          <p:cNvSpPr/>
          <p:nvPr/>
        </p:nvSpPr>
        <p:spPr>
          <a:xfrm>
            <a:off x="6492240" y="4370832"/>
            <a:ext cx="2423160" cy="475488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5EAA"/>
                </a:solidFill>
                <a:latin typeface="Noto Sans CJK JP"/>
              </a:rPr>
              <a:t>指定可視化③ 時定数変更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6400800" y="4882896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G_T(s)=1/(Ts+1)
T=0.5,1,2 s：定常ゲインは同じ1
一次遅れでは T↓ → 立上りが速い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85800" y="59710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Noto Sans CJK JP"/>
              </a:rPr>
              <a:t>定常偏差：E/R=1/(1+G) → 入力種類を確認 → 安定性を確認 → e∞=lim sE(s)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502920" y="6547104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Noto Sans CJK JP"/>
              </a:rPr>
              <a:t>一般教材モデル。N700系実車の制御定数・伝達関数を示すものではない。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AA"/>
                </a:solidFill>
                <a:latin typeface="Noto Sans CJK JP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645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Noto Sans CJK JP"/>
              </a:rPr>
              <a:t>二次遅れ・過渡応答・安定性：極から判定する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04672"/>
            <a:ext cx="11338560" cy="27432"/>
          </a:xfrm>
          <a:prstGeom prst="rect">
            <a:avLst/>
          </a:prstGeom>
          <a:solidFill>
            <a:srgbClr val="1B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Noto Sans CJK JP"/>
              </a:rPr>
              <a:t>固定5問・19答案要素へ接続する最終チェック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Noto Sans CJK JP"/>
              </a:rPr>
              <a:t>二次遅れ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Noto Sans CJK JP"/>
              </a:rPr>
              <a:t>G(s)=Kωₙ²/(s²+2ζωₙs+ωₙ²)
極：s=−ζωₙ ± ωₙ√(ζ²−1)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97480"/>
            <a:ext cx="1828800" cy="475488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B5EAA"/>
                </a:solidFill>
                <a:latin typeface="Noto Sans CJK JP"/>
              </a:rPr>
              <a:t>0&lt;ζ&lt;1：減衰振動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697480"/>
            <a:ext cx="1645920" cy="475488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8060"/>
                </a:solidFill>
                <a:latin typeface="Noto Sans CJK JP"/>
              </a:rPr>
              <a:t>ζ=1：臨界減衰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697480"/>
            <a:ext cx="1828800" cy="475488"/>
          </a:xfrm>
          <a:prstGeom prst="roundRect">
            <a:avLst/>
          </a:prstGeom>
          <a:solidFill>
            <a:srgbClr val="F3F6F9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4751F"/>
                </a:solidFill>
                <a:latin typeface="Noto Sans CJK JP"/>
              </a:rPr>
              <a:t>ζ&gt;1：非振動収束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2344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Noto Sans CJK JP"/>
              </a:rPr>
              <a:t>三次系の安定条件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664208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JP"/>
              </a:rPr>
              <a:t>a₃s³+a₂s²+a₁s+a₀=0  (a₃&gt;0)
a₂&gt;0, a₁&gt;0, a₀&gt;0
a₂a₁ &gt; a₃a₀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3232"/>
                </a:solidFill>
                <a:latin typeface="Noto Sans CJK JP"/>
              </a:rPr>
              <a:t>例：s³+3s²+2s+K=0
→ 0&lt;K&lt;6
K=6 は安定境界。漸近安定に含めない。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Noto Sans CJK JP"/>
              </a:rPr>
              <a:t>時間応答・定常値の解法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16552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① 入力を判定：δ(t), 1(t), t, e^(−at)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64024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② R(s)へ変換し Y(s)=G(s)R(s)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11496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③ 部分分数分解 → 逆ラプラス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58968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④ 初期値・最終値・減衰方向で検算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5532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⑤ 最終値の定理は「収束条件を先に確認」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160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Noto Sans CJK JP"/>
              </a:rPr>
              <a:t>過去問ゲート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590288"/>
            <a:ext cx="466344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Noto Sans CJK JP"/>
              </a:rPr>
              <a:t>H25一次(1)：安定判定
R7二次(1)〜(5)：偏差・応答
R6二次(1)〜(4)：直列/並列・時間応答
R4二次(1)〜(4)：特性方程式・安定条件
R3二次(1)〜(5)：開閉ループ・二次/三次安定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11064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Noto Sans CJK JP"/>
              </a:rPr>
              <a:t>一般教材モデル。N700系実車の制御定数・伝達関数を示すものではない。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