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82880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500" b="1">
                <a:solidFill>
                  <a:srgbClr val="007E8C"/>
                </a:solidFill>
                <a:latin typeface="Noto Sans CJK JP"/>
              </a:defRPr>
            </a:pPr>
            <a:r>
              <a:t>L0系④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50976"/>
            <a:ext cx="10332720" cy="6583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3000" b="1">
                <a:solidFill>
                  <a:srgbClr val="132A3F"/>
                </a:solidFill>
                <a:latin typeface="Noto Sans CJK JP"/>
              </a:defRPr>
            </a:pPr>
            <a:r>
              <a:t>誘導集電・非接触電力伝送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64208"/>
            <a:ext cx="9875520" cy="43891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800" b="0">
                <a:solidFill>
                  <a:srgbClr val="5B6978"/>
                </a:solidFill>
                <a:latin typeface="Noto Sans CJK JP"/>
              </a:defRPr>
            </a:pPr>
            <a:r>
              <a:t>相互インダクタンス → 結合回路 → 電力・効率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267712"/>
            <a:ext cx="2148840" cy="329184"/>
          </a:xfrm>
          <a:prstGeom prst="roundRect">
            <a:avLst/>
          </a:prstGeom>
          <a:solidFill>
            <a:srgbClr val="E6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7E8C"/>
                </a:solidFill>
                <a:latin typeface="Noto Sans CJK JP"/>
              </a:defRPr>
            </a:pPr>
            <a:r>
              <a:t>第二種電験｜一次＋二次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9504" y="2267712"/>
            <a:ext cx="1078992" cy="329184"/>
          </a:xfrm>
          <a:prstGeom prst="roundRect">
            <a:avLst/>
          </a:prstGeom>
          <a:solidFill>
            <a:srgbClr val="E6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2A3F"/>
                </a:solidFill>
                <a:latin typeface="Noto Sans CJK JP"/>
              </a:defRPr>
            </a:pPr>
            <a:r>
              <a:t>Topic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35808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108960"/>
            <a:ext cx="1746504" cy="905255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32A3F"/>
                </a:solidFill>
                <a:latin typeface="Noto Sans CJK JP"/>
              </a:defRPr>
            </a:pPr>
            <a:r>
              <a:t>地上側コイル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5B6978"/>
                </a:solidFill>
                <a:latin typeface="Noto Sans CJK JP"/>
              </a:defRPr>
            </a:pPr>
            <a:r>
              <a:t>電流 i₁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3784" y="3310128"/>
            <a:ext cx="50292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2100" b="1">
                <a:solidFill>
                  <a:srgbClr val="007E8C"/>
                </a:solidFill>
                <a:latin typeface="Noto Sans CJK JP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035808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3108960"/>
            <a:ext cx="1746504" cy="905255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32A3F"/>
                </a:solidFill>
                <a:latin typeface="Noto Sans CJK JP"/>
              </a:defRPr>
            </a:pPr>
            <a:r>
              <a:t>磁界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5B6978"/>
                </a:solidFill>
                <a:latin typeface="Noto Sans CJK JP"/>
              </a:defRPr>
            </a:pPr>
            <a:r>
              <a:t>相互磁束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8383" y="3310128"/>
            <a:ext cx="50292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2100" b="1">
                <a:solidFill>
                  <a:srgbClr val="007E8C"/>
                </a:solidFill>
                <a:latin typeface="Noto Sans CJK JP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3035808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16168" y="3108960"/>
            <a:ext cx="1746504" cy="905255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32A3F"/>
                </a:solidFill>
                <a:latin typeface="Noto Sans CJK JP"/>
              </a:defRPr>
            </a:pPr>
            <a:r>
              <a:t>車上側コイル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5B6978"/>
                </a:solidFill>
                <a:latin typeface="Noto Sans CJK JP"/>
              </a:defRPr>
            </a:pPr>
            <a:r>
              <a:t>誘導起電力 e₂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3" y="3310128"/>
            <a:ext cx="50292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2100" b="1">
                <a:solidFill>
                  <a:srgbClr val="007E8C"/>
                </a:solidFill>
                <a:latin typeface="Noto Sans CJK JP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035808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7" y="3108960"/>
            <a:ext cx="1746504" cy="905255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32A3F"/>
                </a:solidFill>
                <a:latin typeface="Noto Sans CJK JP"/>
              </a:defRPr>
            </a:pPr>
            <a:r>
              <a:t>負荷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5B6978"/>
                </a:solidFill>
                <a:latin typeface="Noto Sans CJK JP"/>
              </a:defRPr>
            </a:pPr>
            <a:r>
              <a:t>P・η・力率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43984"/>
            <a:ext cx="5029200" cy="1152144"/>
          </a:xfrm>
          <a:prstGeom prst="round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517136"/>
            <a:ext cx="4809744" cy="100584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32A3F"/>
                </a:solidFill>
                <a:latin typeface="Noto Sans CJK JP"/>
              </a:defRPr>
            </a:pPr>
            <a:r>
              <a:t>M = k√(L₁L₂)</a:t>
            </a:r>
          </a:p>
          <a:p>
            <a:pPr algn="ctr">
              <a:spcAft>
                <a:spcPts val="500"/>
              </a:spcAft>
              <a:defRPr sz="1900" b="1">
                <a:solidFill>
                  <a:srgbClr val="007E8C"/>
                </a:solidFill>
                <a:latin typeface="Noto Sans CJK JP"/>
              </a:defRPr>
            </a:pPr>
            <a:r>
              <a:t>|E₂| = ωM|I₁|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4443984"/>
            <a:ext cx="5029200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0488" y="4517136"/>
            <a:ext cx="4809744" cy="100584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D3762A"/>
                </a:solidFill>
                <a:latin typeface="Noto Sans CJK JP"/>
              </a:defRPr>
            </a:pPr>
            <a:r>
              <a:t>実車境界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32A3F"/>
                </a:solidFill>
                <a:latin typeface="Noto Sans CJK JP"/>
              </a:defRPr>
            </a:pPr>
            <a:r>
              <a:t>公開一次資料で確認した原理・採用事実だけを実車事実として扱う。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B6978"/>
                </a:solidFill>
                <a:latin typeface="Noto Sans CJK JP"/>
              </a:defRPr>
            </a:pPr>
            <a:r>
              <a:t>k・L・M・R・f・電力・効率などの数値例は教材用仮定値。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89320"/>
            <a:ext cx="1037844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400" b="1">
                <a:solidFill>
                  <a:srgbClr val="132A3F"/>
                </a:solidFill>
                <a:latin typeface="Noto Sans CJK JP"/>
              </a:defRPr>
            </a:pPr>
            <a:r>
              <a:t>狙い：非接触給電を「磁気結合された交流回路」として、二種の式で解ける形にする。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0698480" cy="5303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2500" b="1">
                <a:solidFill>
                  <a:srgbClr val="132A3F"/>
                </a:solidFill>
                <a:latin typeface="Noto Sans CJK JP"/>
              </a:defRPr>
            </a:pPr>
            <a:r>
              <a:t>1｜相互誘導と結合係数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320040"/>
            <a:ext cx="9601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defRPr sz="1000" b="1">
                <a:solidFill>
                  <a:srgbClr val="007E8C"/>
                </a:solidFill>
                <a:latin typeface="Noto Sans CJK JP"/>
              </a:defRPr>
            </a:pPr>
            <a:r>
              <a:t>BASICS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15568"/>
            <a:ext cx="18288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188720"/>
            <a:ext cx="1609344" cy="6400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32A3F"/>
                </a:solidFill>
                <a:latin typeface="Noto Sans CJK JP"/>
              </a:defRPr>
            </a:pPr>
            <a:r>
              <a:t>コイル1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5B6978"/>
                </a:solidFill>
                <a:latin typeface="Noto Sans CJK JP"/>
              </a:defRPr>
            </a:pPr>
            <a:r>
              <a:t>L₁, i₁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115568"/>
            <a:ext cx="18288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5928" y="1188720"/>
            <a:ext cx="1609344" cy="64008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32A3F"/>
                </a:solidFill>
                <a:latin typeface="Noto Sans CJK JP"/>
              </a:defRPr>
            </a:pPr>
            <a:r>
              <a:t>コイル2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5B6978"/>
                </a:solidFill>
                <a:latin typeface="Noto Sans CJK JP"/>
              </a:defRPr>
            </a:pPr>
            <a:r>
              <a:t>L₂, e₂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87168" y="1508760"/>
            <a:ext cx="1335023" cy="0"/>
          </a:xfrm>
          <a:prstGeom prst="line">
            <a:avLst/>
          </a:prstGeom>
          <a:ln w="31750">
            <a:solidFill>
              <a:srgbClr val="007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33472" y="1152144"/>
            <a:ext cx="105156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1100" b="1">
                <a:solidFill>
                  <a:srgbClr val="007E8C"/>
                </a:solidFill>
                <a:latin typeface="Noto Sans CJK JP"/>
              </a:defRPr>
            </a:pPr>
            <a:r>
              <a:t>相互磁束 Ψ₁₂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1581912"/>
            <a:ext cx="29260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1200" b="1">
                <a:solidFill>
                  <a:srgbClr val="007E8C"/>
                </a:solidFill>
                <a:latin typeface="Noto Sans CJK JP"/>
              </a:defRPr>
            </a:pPr>
            <a: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01952"/>
            <a:ext cx="489204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050" b="0">
                <a:solidFill>
                  <a:srgbClr val="5B6978"/>
                </a:solidFill>
                <a:latin typeface="Noto Sans CJK JP"/>
              </a:defRPr>
            </a:pPr>
            <a:r>
              <a:t>磁気回路の橋： Φ = NI/ℜ → L = NΦ/I。磁束分配から L₁・L₂・M を読む。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21408"/>
            <a:ext cx="5065776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194560"/>
            <a:ext cx="4846320" cy="1819656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07E8C"/>
                </a:solidFill>
                <a:latin typeface="Noto Sans CJK JP"/>
              </a:defRPr>
            </a:pPr>
            <a:r>
              <a:t>定義</a:t>
            </a:r>
          </a:p>
          <a:p>
            <a:pPr algn="l">
              <a:spcAft>
                <a:spcPts val="500"/>
              </a:spcAft>
              <a:defRPr sz="1900" b="1">
                <a:solidFill>
                  <a:srgbClr val="132A3F"/>
                </a:solidFill>
                <a:latin typeface="Noto Sans CJK JP"/>
              </a:defRPr>
            </a:pPr>
            <a:r>
              <a:t>Ψ₂ = M i₁ + L₂ i₂</a:t>
            </a:r>
          </a:p>
          <a:p>
            <a:pPr algn="l">
              <a:spcAft>
                <a:spcPts val="500"/>
              </a:spcAft>
              <a:defRPr sz="1800" b="1">
                <a:solidFill>
                  <a:srgbClr val="132A3F"/>
                </a:solidFill>
                <a:latin typeface="Noto Sans CJK JP"/>
              </a:defRPr>
            </a:pPr>
            <a:r>
              <a:t>e₂ = −d(Mi₁)/dt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B6978"/>
                </a:solidFill>
                <a:latin typeface="Noto Sans CJK JP"/>
              </a:defRPr>
            </a:pPr>
            <a:r>
              <a:t>M一定なら  e₂ = −M di₁/dt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6752" y="1115568"/>
            <a:ext cx="544068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188720"/>
            <a:ext cx="5221224" cy="1847088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07E8C"/>
                </a:solidFill>
                <a:latin typeface="Noto Sans CJK JP"/>
              </a:defRPr>
            </a:pPr>
            <a:r>
              <a:t>結合係数</a:t>
            </a:r>
          </a:p>
          <a:p>
            <a:pPr algn="l">
              <a:spcAft>
                <a:spcPts val="500"/>
              </a:spcAft>
              <a:defRPr sz="2000" b="1">
                <a:solidFill>
                  <a:srgbClr val="132A3F"/>
                </a:solidFill>
                <a:latin typeface="Noto Sans CJK JP"/>
              </a:defRPr>
            </a:pPr>
            <a:r>
              <a:t>k = M / √(L₁L₂)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132A3F"/>
                </a:solidFill>
                <a:latin typeface="Noto Sans CJK JP"/>
              </a:defRPr>
            </a:pPr>
            <a:r>
              <a:t>M² ≤ L₁L₂ ⇒ 0 ≤ |k| ≤ 1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B6978"/>
                </a:solidFill>
                <a:latin typeface="Noto Sans CJK JP"/>
              </a:defRPr>
            </a:pPr>
            <a:r>
              <a:t>磁気エネルギーの正半定値条件が上限を与える。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3337560"/>
            <a:ext cx="5440680" cy="1298448"/>
          </a:xfrm>
          <a:prstGeom prst="round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410712"/>
            <a:ext cx="5221224" cy="1152144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07E8C"/>
                </a:solidFill>
                <a:latin typeface="Noto Sans CJK JP"/>
              </a:defRPr>
            </a:pPr>
            <a:r>
              <a:t>正弦定常状態</a:t>
            </a:r>
          </a:p>
          <a:p>
            <a:pPr algn="l">
              <a:spcAft>
                <a:spcPts val="500"/>
              </a:spcAft>
              <a:defRPr sz="2000" b="1">
                <a:solidFill>
                  <a:srgbClr val="132A3F"/>
                </a:solidFill>
                <a:latin typeface="Noto Sans CJK JP"/>
              </a:defRPr>
            </a:pPr>
            <a:r>
              <a:t>|E₂| = ωM|I₁| = 2πfM|I₁|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B6978"/>
                </a:solidFill>
                <a:latin typeface="Noto Sans CJK JP"/>
              </a:defRPr>
            </a:pPr>
            <a:r>
              <a:t>単位確認：s⁻¹ × H × A = 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07408"/>
            <a:ext cx="5065776" cy="1298448"/>
          </a:xfrm>
          <a:prstGeom prst="round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480560"/>
            <a:ext cx="4846320" cy="1152144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D3762A"/>
                </a:solidFill>
                <a:latin typeface="Noto Sans CJK JP"/>
              </a:defRPr>
            </a:pPr>
            <a:r>
              <a:t>教材用仮定値の確認例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32A3F"/>
                </a:solidFill>
                <a:latin typeface="Noto Sans CJK JP"/>
              </a:defRPr>
            </a:pPr>
            <a:r>
              <a:t>L₁=8.0 mH, L₂=18 mH, M=6.0 mH → k=0.500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32A3F"/>
                </a:solidFill>
                <a:latin typeface="Noto Sans CJK JP"/>
              </a:defRPr>
            </a:pPr>
            <a:r>
              <a:t>f=50 Hz, I₁=2.0 A rms → |E₂|=3.77 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4873752"/>
            <a:ext cx="5440680" cy="1207008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946904"/>
            <a:ext cx="5221224" cy="1060704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07E8C"/>
                </a:solidFill>
                <a:latin typeface="Noto Sans CJK JP"/>
              </a:defRPr>
            </a:pPr>
            <a:r>
              <a:t>試験への接続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32A3F"/>
                </a:solidFill>
                <a:latin typeface="Noto Sans CJK JP"/>
              </a:defRPr>
            </a:pPr>
            <a:r>
              <a:t>R7一次：相互インダクタンス・磁気エネルギー・誘導起電力（5要素）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32A3F"/>
                </a:solidFill>
                <a:latin typeface="Noto Sans CJK JP"/>
              </a:defRPr>
            </a:pPr>
            <a:r>
              <a:t>H30一次理論：磁気回路から L₁, L₂, M を読む（5要素）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0698480" cy="5303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2500" b="1">
                <a:solidFill>
                  <a:srgbClr val="132A3F"/>
                </a:solidFill>
                <a:latin typeface="Noto Sans CJK JP"/>
              </a:defRPr>
            </a:pPr>
            <a:r>
              <a:t>2｜結合回路を「電力」まで解く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320040"/>
            <a:ext cx="9601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defRPr sz="1000" b="1">
                <a:solidFill>
                  <a:srgbClr val="007E8C"/>
                </a:solidFill>
                <a:latin typeface="Noto Sans CJK JP"/>
              </a:defRPr>
            </a:pPr>
            <a:r>
              <a:t>CIRCUIT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203911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152144"/>
            <a:ext cx="1819656" cy="932688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07E8C"/>
                </a:solidFill>
                <a:latin typeface="Noto Sans CJK JP"/>
              </a:defRPr>
            </a:pPr>
            <a:r>
              <a:t>一次側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132A3F"/>
                </a:solidFill>
                <a:latin typeface="Noto Sans CJK JP"/>
              </a:defRPr>
            </a:pPr>
            <a:r>
              <a:t>V₁, I₁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B6978"/>
                </a:solidFill>
                <a:latin typeface="Noto Sans CJK JP"/>
              </a:defRPr>
            </a:pPr>
            <a:r>
              <a:t>R₁ + jωL₁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408176"/>
            <a:ext cx="914400" cy="31089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1800" b="1">
                <a:solidFill>
                  <a:srgbClr val="007E8C"/>
                </a:solidFill>
                <a:latin typeface="Noto Sans CJK JP"/>
              </a:defRPr>
            </a:pPr>
            <a:r>
              <a:t>jωM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06624" y="1609344"/>
            <a:ext cx="1207008" cy="0"/>
          </a:xfrm>
          <a:prstGeom prst="line">
            <a:avLst/>
          </a:prstGeom>
          <a:ln w="27940">
            <a:solidFill>
              <a:srgbClr val="007E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23360" y="1078992"/>
            <a:ext cx="213055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1152144"/>
            <a:ext cx="1911095" cy="932688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07E8C"/>
                </a:solidFill>
                <a:latin typeface="Noto Sans CJK JP"/>
              </a:defRPr>
            </a:pPr>
            <a:r>
              <a:t>二次側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132A3F"/>
                </a:solidFill>
                <a:latin typeface="Noto Sans CJK JP"/>
              </a:defRPr>
            </a:pPr>
            <a:r>
              <a:t>I₂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B6978"/>
                </a:solidFill>
                <a:latin typeface="Noto Sans CJK JP"/>
              </a:defRPr>
            </a:pPr>
            <a:r>
              <a:t>R₂ + R_L + jX₂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078992"/>
            <a:ext cx="2377440" cy="1078992"/>
          </a:xfrm>
          <a:prstGeom prst="round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152144"/>
            <a:ext cx="2157984" cy="932688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D3762A"/>
                </a:solidFill>
                <a:latin typeface="Noto Sans CJK JP"/>
              </a:defRPr>
            </a:pPr>
            <a:r>
              <a:t>負荷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132A3F"/>
                </a:solidFill>
                <a:latin typeface="Noto Sans CJK JP"/>
              </a:defRPr>
            </a:pPr>
            <a:r>
              <a:t>P_L = |I₂|²R_L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B6978"/>
                </a:solidFill>
                <a:latin typeface="Noto Sans CJK JP"/>
              </a:defRPr>
            </a:pPr>
            <a:r>
              <a:t>η = P_out/P_in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078992"/>
            <a:ext cx="23317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7" y="1152144"/>
            <a:ext cx="2112263" cy="932688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07E8C"/>
                </a:solidFill>
                <a:latin typeface="Noto Sans CJK JP"/>
              </a:defRPr>
            </a:pPr>
            <a:r>
              <a:t>交流電力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132A3F"/>
                </a:solidFill>
                <a:latin typeface="Noto Sans CJK JP"/>
              </a:defRPr>
            </a:pPr>
            <a:r>
              <a:t>P = VI cosφ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B6978"/>
                </a:solidFill>
                <a:latin typeface="Noto Sans CJK JP"/>
              </a:defRPr>
            </a:pPr>
            <a:r>
              <a:t>S = VI, Q = VI sinφ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441448"/>
            <a:ext cx="5358384" cy="2157984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514600"/>
            <a:ext cx="5138928" cy="2011679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07E8C"/>
                </a:solidFill>
                <a:latin typeface="Noto Sans CJK JP"/>
              </a:defRPr>
            </a:pPr>
            <a:r>
              <a:t>複素数で立式</a:t>
            </a:r>
          </a:p>
          <a:p>
            <a:pPr algn="l">
              <a:spcAft>
                <a:spcPts val="500"/>
              </a:spcAft>
              <a:defRPr sz="1600" b="1">
                <a:solidFill>
                  <a:srgbClr val="132A3F"/>
                </a:solidFill>
                <a:latin typeface="Noto Sans CJK JP"/>
              </a:defRPr>
            </a:pPr>
            <a:r>
              <a:t>V₁ = (R₁+jωL₁)I₁ + jωMI₂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32A3F"/>
                </a:solidFill>
                <a:latin typeface="Noto Sans CJK JP"/>
              </a:defRPr>
            </a:pPr>
            <a:r>
              <a:t>0 = Z₂I₂ + jωMI₁ → I₂ = −jωMI₁/Z₂</a:t>
            </a:r>
          </a:p>
          <a:p>
            <a:pPr algn="l">
              <a:spcAft>
                <a:spcPts val="500"/>
              </a:spcAft>
              <a:defRPr sz="1500" b="1">
                <a:solidFill>
                  <a:srgbClr val="3D6DA0"/>
                </a:solidFill>
                <a:latin typeface="Noto Sans CJK JP"/>
              </a:defRPr>
            </a:pPr>
            <a:r>
              <a:t>Z_ref = (ωM)²/Z₂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B6978"/>
                </a:solidFill>
                <a:latin typeface="Noto Sans CJK JP"/>
              </a:defRPr>
            </a:pPr>
            <a:r>
              <a:t>力率は入力側の V₁ と I₁ の位相差から読む。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2441448"/>
            <a:ext cx="5129784" cy="2560320"/>
          </a:xfrm>
          <a:prstGeom prst="round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2514600"/>
            <a:ext cx="4910328" cy="2414015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D3762A"/>
                </a:solidFill>
                <a:latin typeface="Noto Sans CJK JP"/>
              </a:defRPr>
            </a:pPr>
            <a:r>
              <a:t>教材用仮定値｜本試験標準例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32A3F"/>
                </a:solidFill>
                <a:latin typeface="Noto Sans CJK JP"/>
              </a:defRPr>
            </a:pPr>
            <a:r>
              <a:t>L₁=2.0 mH, L₂=1.5 mH, k=0.30, f=1 kHz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32A3F"/>
                </a:solidFill>
                <a:latin typeface="Noto Sans CJK JP"/>
              </a:defRPr>
            </a:pPr>
            <a:r>
              <a:t>R₁=0.40 Ω, R₂=0.30 Ω, R_L=4.0 Ω, I₁=10.0 A</a:t>
            </a:r>
          </a:p>
          <a:p>
            <a:pPr algn="l">
              <a:spcAft>
                <a:spcPts val="500"/>
              </a:spcAft>
              <a:defRPr sz="1400" b="1">
                <a:solidFill>
                  <a:srgbClr val="132A3F"/>
                </a:solidFill>
                <a:latin typeface="Noto Sans CJK JP"/>
              </a:defRPr>
            </a:pPr>
            <a:r>
              <a:t>M=0.5196 mH / C₂=16.8869 μF</a:t>
            </a:r>
          </a:p>
          <a:p>
            <a:pPr algn="l">
              <a:spcAft>
                <a:spcPts val="500"/>
              </a:spcAft>
              <a:defRPr sz="1400" b="1">
                <a:solidFill>
                  <a:srgbClr val="132A3F"/>
                </a:solidFill>
                <a:latin typeface="Noto Sans CJK JP"/>
              </a:defRPr>
            </a:pPr>
            <a:r>
              <a:t>I₂=7.593 A → P_L=230.59 W</a:t>
            </a:r>
          </a:p>
          <a:p>
            <a:pPr algn="l">
              <a:spcAft>
                <a:spcPts val="500"/>
              </a:spcAft>
              <a:defRPr sz="1400" b="1">
                <a:solidFill>
                  <a:srgbClr val="007E8C"/>
                </a:solidFill>
                <a:latin typeface="Noto Sans CJK JP"/>
              </a:defRPr>
            </a:pPr>
            <a:r>
              <a:t>P_cu1=40.00 W, P_cu2=17.29 W → η=80.1%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230368"/>
            <a:ext cx="19659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2A3F"/>
                </a:solidFill>
                <a:latin typeface="Noto Sans CJK JP"/>
              </a:defRPr>
            </a:pPr>
            <a:r>
              <a:t>① Mを求める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4328" y="5239512"/>
            <a:ext cx="246888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1400" b="1">
                <a:solidFill>
                  <a:srgbClr val="007E8C"/>
                </a:solidFill>
                <a:latin typeface="Noto Sans CJK JP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62072" y="5230368"/>
            <a:ext cx="19659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2A3F"/>
                </a:solidFill>
                <a:latin typeface="Noto Sans CJK JP"/>
              </a:defRPr>
            </a:pPr>
            <a:r>
              <a:t>② Z₂を作る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1" y="5239512"/>
            <a:ext cx="246888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1400" b="1">
                <a:solidFill>
                  <a:srgbClr val="007E8C"/>
                </a:solidFill>
                <a:latin typeface="Noto Sans CJK JP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65776" y="5230368"/>
            <a:ext cx="19659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2A3F"/>
                </a:solidFill>
                <a:latin typeface="Noto Sans CJK JP"/>
              </a:defRPr>
            </a:pPr>
            <a:r>
              <a:t>③ I₂を求める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5239512"/>
            <a:ext cx="246888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1400" b="1">
                <a:solidFill>
                  <a:srgbClr val="007E8C"/>
                </a:solidFill>
                <a:latin typeface="Noto Sans CJK JP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5230368"/>
            <a:ext cx="19659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2A3F"/>
                </a:solidFill>
                <a:latin typeface="Noto Sans CJK JP"/>
              </a:defRPr>
            </a:pPr>
            <a:r>
              <a:t>④ P・力率を計算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239512"/>
            <a:ext cx="246888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1400" b="1">
                <a:solidFill>
                  <a:srgbClr val="007E8C"/>
                </a:solidFill>
                <a:latin typeface="Noto Sans CJK JP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73184" y="5230368"/>
            <a:ext cx="196596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32A3F"/>
                </a:solidFill>
                <a:latin typeface="Noto Sans CJK JP"/>
              </a:defRPr>
            </a:pPr>
            <a:r>
              <a:t>⑤ 損失→η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843016"/>
            <a:ext cx="1078992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300" b="0">
                <a:solidFill>
                  <a:srgbClr val="5B6978"/>
                </a:solidFill>
                <a:latin typeface="Noto Sans CJK JP"/>
              </a:defRPr>
            </a:pPr>
            <a:r>
              <a:t>「磁気」だけで終わらず、最終的に交流電力・損失・効率へ落とす。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0698480" cy="5303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2500" b="1">
                <a:solidFill>
                  <a:srgbClr val="132A3F"/>
                </a:solidFill>
                <a:latin typeface="Noto Sans CJK JP"/>
              </a:defRPr>
            </a:pPr>
            <a:r>
              <a:t>3｜3つの可視化で挙動をつかむ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320040"/>
            <a:ext cx="9601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defRPr sz="1000" b="1">
                <a:solidFill>
                  <a:srgbClr val="007E8C"/>
                </a:solidFill>
                <a:latin typeface="Noto Sans CJK JP"/>
              </a:defRPr>
            </a:pPr>
            <a:r>
              <a:t>VISUAL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329184"/>
            <a:ext cx="3520440" cy="329184"/>
          </a:xfrm>
          <a:prstGeom prst="roundRect">
            <a:avLst/>
          </a:prstGeom>
          <a:solidFill>
            <a:srgbClr val="FC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3762A"/>
                </a:solidFill>
                <a:latin typeface="Noto Sans CJK JP"/>
              </a:defRPr>
            </a:pPr>
            <a:r>
              <a:t>すべて教材用仮定値。L0系実車性能ではない。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960120"/>
            <a:ext cx="359359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opic30_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3374136" cy="21510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69080" y="960120"/>
            <a:ext cx="359359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opic30_char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097280"/>
            <a:ext cx="3374136" cy="22030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99248" y="960120"/>
            <a:ext cx="359359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opic30_char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5" y="1097280"/>
            <a:ext cx="3374136" cy="2151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" y="3959352"/>
            <a:ext cx="3182112" cy="24688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0">
                <a:solidFill>
                  <a:srgbClr val="5B6978"/>
                </a:solidFill>
                <a:latin typeface="Noto Sans CJK JP"/>
              </a:defRPr>
            </a:pPr>
            <a:r>
              <a:t>固定 I₁・共振条件では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242816"/>
            <a:ext cx="3182112" cy="3017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500" b="1">
                <a:solidFill>
                  <a:srgbClr val="007E8C"/>
                </a:solidFill>
                <a:latin typeface="Noto Sans CJK JP"/>
              </a:defRPr>
            </a:pPr>
            <a:r>
              <a:t>P_L ∝ k²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617720"/>
            <a:ext cx="3182112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0">
                <a:solidFill>
                  <a:srgbClr val="132A3F"/>
                </a:solidFill>
                <a:latin typeface="Noto Sans CJK JP"/>
              </a:defRPr>
            </a:pPr>
            <a:r>
              <a:t>kを2倍 → 電力は約4倍。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959352"/>
            <a:ext cx="3182112" cy="24688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0">
                <a:solidFill>
                  <a:srgbClr val="5B6978"/>
                </a:solidFill>
                <a:latin typeface="Noto Sans CJK JP"/>
              </a:defRPr>
            </a:pPr>
            <a:r>
              <a:t>負荷を変えると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4242816"/>
            <a:ext cx="3182112" cy="3017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500" b="1">
                <a:solidFill>
                  <a:srgbClr val="007E8C"/>
                </a:solidFill>
                <a:latin typeface="Noto Sans CJK JP"/>
              </a:defRPr>
            </a:pPr>
            <a:r>
              <a:t>η に山が現れる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617720"/>
            <a:ext cx="3182112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0">
                <a:solidFill>
                  <a:srgbClr val="132A3F"/>
                </a:solidFill>
                <a:latin typeface="Noto Sans CJK JP"/>
              </a:defRPr>
            </a:pPr>
            <a:r>
              <a:t>小さすぎても大きすぎても損失比率が悪化。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3959352"/>
            <a:ext cx="3182112" cy="24688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0">
                <a:solidFill>
                  <a:srgbClr val="5B6978"/>
                </a:solidFill>
                <a:latin typeface="Noto Sans CJK JP"/>
              </a:defRPr>
            </a:pPr>
            <a:r>
              <a:t>リアクタンスが相殺する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242816"/>
            <a:ext cx="3182112" cy="3017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500" b="1">
                <a:solidFill>
                  <a:srgbClr val="007E8C"/>
                </a:solidFill>
                <a:latin typeface="Noto Sans CJK JP"/>
              </a:defRPr>
            </a:pPr>
            <a:r>
              <a:t>f₀ 付近で応答最大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4617720"/>
            <a:ext cx="3182112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0">
                <a:solidFill>
                  <a:srgbClr val="132A3F"/>
                </a:solidFill>
                <a:latin typeface="Noto Sans CJK JP"/>
              </a:defRPr>
            </a:pPr>
            <a:r>
              <a:t>周波数ずれで |Z| が増え、電流・電力が低下。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623560"/>
            <a:ext cx="10881360" cy="658368"/>
          </a:xfrm>
          <a:prstGeom prst="round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696712"/>
            <a:ext cx="10661904" cy="512063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07E8C"/>
                </a:solidFill>
                <a:latin typeface="Noto Sans CJK JP"/>
              </a:defRPr>
            </a:pPr>
            <a:r>
              <a:t>読み方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32A3F"/>
                </a:solidFill>
                <a:latin typeface="Noto Sans CJK JP"/>
              </a:defRPr>
            </a:pPr>
            <a:r>
              <a:t>k・負荷・f のどれを動かしたグラフか、他の条件は何を固定したかを先に確認する。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0698480" cy="5303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2500" b="1">
                <a:solidFill>
                  <a:srgbClr val="132A3F"/>
                </a:solidFill>
                <a:latin typeface="Noto Sans CJK JP"/>
              </a:defRPr>
            </a:pPr>
            <a:r>
              <a:t>4｜共振・損失・最大効率を二種水準へ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320040"/>
            <a:ext cx="9601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defRPr sz="1000" b="1">
                <a:solidFill>
                  <a:srgbClr val="007E8C"/>
                </a:solidFill>
                <a:latin typeface="Noto Sans CJK JP"/>
              </a:defRPr>
            </a:pPr>
            <a:r>
              <a:t>EXAM BRIDGE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078992"/>
            <a:ext cx="3410712" cy="3538728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152144"/>
            <a:ext cx="3191256" cy="3392424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7E8C"/>
                </a:solidFill>
                <a:latin typeface="Noto Sans CJK JP"/>
              </a:defRPr>
            </a:pPr>
            <a:r>
              <a:t>RLC直列共振</a:t>
            </a:r>
          </a:p>
          <a:p>
            <a:pPr algn="l">
              <a:spcAft>
                <a:spcPts val="500"/>
              </a:spcAft>
              <a:defRPr sz="1800" b="1">
                <a:solidFill>
                  <a:srgbClr val="132A3F"/>
                </a:solidFill>
                <a:latin typeface="Noto Sans CJK JP"/>
              </a:defRPr>
            </a:pPr>
            <a:r>
              <a:t>Z = R + j(ωL − 1/ωC)</a:t>
            </a:r>
          </a:p>
          <a:p>
            <a:pPr algn="l">
              <a:spcAft>
                <a:spcPts val="500"/>
              </a:spcAft>
              <a:defRPr sz="1800" b="1">
                <a:solidFill>
                  <a:srgbClr val="132A3F"/>
                </a:solidFill>
                <a:latin typeface="Noto Sans CJK JP"/>
              </a:defRPr>
            </a:pPr>
            <a:r>
              <a:t>ω₀ = 1/√(LC)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32A3F"/>
                </a:solidFill>
                <a:latin typeface="Noto Sans CJK JP"/>
              </a:defRPr>
            </a:pPr>
            <a:r>
              <a:t>共振時：I₀=V/R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32A3F"/>
                </a:solidFill>
                <a:latin typeface="Noto Sans CJK JP"/>
              </a:defRPr>
            </a:pPr>
            <a:r>
              <a:t>Q=ω₀L/R=1/(ω₀CR)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32A3F"/>
                </a:solidFill>
                <a:latin typeface="Noto Sans CJK JP"/>
              </a:defRPr>
            </a:pPr>
            <a:r>
              <a:t>V_L = V_C = QV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B6978"/>
                </a:solidFill>
                <a:latin typeface="Noto Sans CJK JP"/>
              </a:defRPr>
            </a:pPr>
            <a:r>
              <a:t>→ 周波数特性・力率1の基礎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078992"/>
            <a:ext cx="3438144" cy="3538728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152144"/>
            <a:ext cx="3218687" cy="3392424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7E8C"/>
                </a:solidFill>
                <a:latin typeface="Noto Sans CJK JP"/>
              </a:defRPr>
            </a:pPr>
            <a:r>
              <a:t>損失と変換効率</a:t>
            </a:r>
          </a:p>
          <a:p>
            <a:pPr algn="l">
              <a:spcAft>
                <a:spcPts val="500"/>
              </a:spcAft>
              <a:defRPr sz="1800" b="1">
                <a:solidFill>
                  <a:srgbClr val="132A3F"/>
                </a:solidFill>
                <a:latin typeface="Noto Sans CJK JP"/>
              </a:defRPr>
            </a:pPr>
            <a:r>
              <a:t>P_in = P_out + Σ損失</a:t>
            </a:r>
          </a:p>
          <a:p>
            <a:pPr algn="l">
              <a:spcAft>
                <a:spcPts val="500"/>
              </a:spcAft>
              <a:defRPr sz="1800" b="1">
                <a:solidFill>
                  <a:srgbClr val="132A3F"/>
                </a:solidFill>
                <a:latin typeface="Noto Sans CJK JP"/>
              </a:defRPr>
            </a:pPr>
            <a:r>
              <a:t>η = P_out / P_in</a:t>
            </a:r>
          </a:p>
          <a:p>
            <a:pPr algn="l">
              <a:spcAft>
                <a:spcPts val="500"/>
              </a:spcAft>
              <a:defRPr sz="1300" b="1">
                <a:solidFill>
                  <a:srgbClr val="D3762A"/>
                </a:solidFill>
                <a:latin typeface="Noto Sans CJK JP"/>
              </a:defRPr>
            </a:pPr>
            <a:r>
              <a:t>変圧器橋渡し：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132A3F"/>
                </a:solidFill>
                <a:latin typeface="Noto Sans CJK JP"/>
              </a:defRPr>
            </a:pPr>
            <a:r>
              <a:t>P_c(α)=α²P_c,n</a:t>
            </a:r>
          </a:p>
          <a:p>
            <a:pPr algn="l">
              <a:spcAft>
                <a:spcPts val="500"/>
              </a:spcAft>
              <a:defRPr sz="1500" b="1">
                <a:solidFill>
                  <a:srgbClr val="132A3F"/>
                </a:solidFill>
                <a:latin typeface="Noto Sans CJK JP"/>
              </a:defRPr>
            </a:pPr>
            <a:r>
              <a:t>最大効率：P_i = α²P_c,n</a:t>
            </a:r>
          </a:p>
          <a:p>
            <a:pPr algn="l">
              <a:spcAft>
                <a:spcPts val="500"/>
              </a:spcAft>
              <a:defRPr sz="1500" b="1">
                <a:solidFill>
                  <a:srgbClr val="132A3F"/>
                </a:solidFill>
                <a:latin typeface="Noto Sans CJK JP"/>
              </a:defRPr>
            </a:pPr>
            <a:r>
              <a:t>α_max = √(P_i/P_c,n)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4096512"/>
            <a:ext cx="31089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000" b="0">
                <a:solidFill>
                  <a:srgbClr val="5B6978"/>
                </a:solidFill>
                <a:latin typeface="Noto Sans CJK JP"/>
              </a:defRPr>
            </a:pPr>
            <a:r>
              <a:t>同一磁束密度：ヒステリシス損 ∝ f、渦電流損 ∝ f²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0727" y="1078992"/>
            <a:ext cx="3346704" cy="3538728"/>
          </a:xfrm>
          <a:prstGeom prst="round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5" y="1152144"/>
            <a:ext cx="3127248" cy="3392424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D3762A"/>
                </a:solidFill>
                <a:latin typeface="Noto Sans CJK JP"/>
              </a:defRPr>
            </a:pPr>
            <a:r>
              <a:t>教材用仮定値｜複合例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32A3F"/>
                </a:solidFill>
                <a:latin typeface="Noto Sans CJK JP"/>
              </a:defRPr>
            </a:pPr>
            <a:r>
              <a:t>S_n=100 kVA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32A3F"/>
                </a:solidFill>
                <a:latin typeface="Noto Sans CJK JP"/>
              </a:defRPr>
            </a:pPr>
            <a:r>
              <a:t>P_i=500 W, P_c,n=800 W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132A3F"/>
                </a:solidFill>
                <a:latin typeface="Noto Sans CJK JP"/>
              </a:defRPr>
            </a:pPr>
            <a:r>
              <a:t>α_max = 0.7906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32A3F"/>
                </a:solidFill>
                <a:latin typeface="Noto Sans CJK JP"/>
              </a:defRPr>
            </a:pPr>
            <a:r>
              <a:t>α=0.60, cosφ=0.80</a:t>
            </a:r>
          </a:p>
          <a:p>
            <a:pPr algn="l">
              <a:spcAft>
                <a:spcPts val="500"/>
              </a:spcAft>
              <a:defRPr sz="1500" b="1">
                <a:solidFill>
                  <a:srgbClr val="132A3F"/>
                </a:solidFill>
                <a:latin typeface="Noto Sans CJK JP"/>
              </a:defRPr>
            </a:pPr>
            <a:r>
              <a:t>P_out=48.0 kW</a:t>
            </a:r>
          </a:p>
          <a:p>
            <a:pPr algn="l">
              <a:spcAft>
                <a:spcPts val="500"/>
              </a:spcAft>
              <a:defRPr sz="1800" b="1">
                <a:solidFill>
                  <a:srgbClr val="007E8C"/>
                </a:solidFill>
                <a:latin typeface="Noto Sans CJK JP"/>
              </a:defRPr>
            </a:pPr>
            <a:r>
              <a:t>η = 98.4%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4224528"/>
            <a:ext cx="2971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050" b="1">
                <a:solidFill>
                  <a:srgbClr val="007E8C"/>
                </a:solidFill>
                <a:latin typeface="Noto Sans CJK JP"/>
              </a:defRPr>
            </a:pPr>
            <a:r>
              <a:t>η_max ≈ 98.75%（cosφ=1）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901184"/>
            <a:ext cx="10799064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974336"/>
            <a:ext cx="10579608" cy="932688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07E8C"/>
                </a:solidFill>
                <a:latin typeface="Noto Sans CJK JP"/>
              </a:defRPr>
            </a:pPr>
            <a:r>
              <a:t>試験への接続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32A3F"/>
                </a:solidFill>
                <a:latin typeface="Noto Sans CJK JP"/>
              </a:defRPr>
            </a:pPr>
            <a:r>
              <a:t>R8一次：RLC共振・Q・端子電圧（5要素） ｜ H30一次機械：鉄損・銅損・試験・規約効率（5要素）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32A3F"/>
                </a:solidFill>
                <a:latin typeface="Noto Sans CJK JP"/>
              </a:defRPr>
            </a:pPr>
            <a:r>
              <a:t>R2二次：無負荷損・全負荷銅損・最大効率条件・負荷率/力率/効率の記述計算（5要素）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6153912"/>
            <a:ext cx="10698480" cy="31089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1">
                <a:solidFill>
                  <a:srgbClr val="B23A3A"/>
                </a:solidFill>
                <a:latin typeface="Noto Sans CJK JP"/>
              </a:defRPr>
            </a:pPr>
            <a:r>
              <a:t>変圧器問題は「結合回路・電力・損失・効率」の橋渡し。L0系実機と同一構造・同一定数とはみなさない。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10698480" cy="5303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2500" b="1">
                <a:solidFill>
                  <a:srgbClr val="132A3F"/>
                </a:solidFill>
                <a:latin typeface="Noto Sans CJK JP"/>
              </a:defRPr>
            </a:pPr>
            <a:r>
              <a:t>5｜固定過去問への接続と解法フロー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320040"/>
            <a:ext cx="96012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defRPr sz="1000" b="1">
                <a:solidFill>
                  <a:srgbClr val="007E8C"/>
                </a:solidFill>
                <a:latin typeface="Noto Sans CJK JP"/>
              </a:defRPr>
            </a:pPr>
            <a:r>
              <a:t>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2487168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1">
                <a:solidFill>
                  <a:srgbClr val="5B6978"/>
                </a:solidFill>
                <a:latin typeface="Noto Sans CJK JP"/>
              </a:defRPr>
            </a:pPr>
            <a:r>
              <a:t>固定過去問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0128" y="1078992"/>
            <a:ext cx="690372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1">
                <a:solidFill>
                  <a:srgbClr val="5B6978"/>
                </a:solidFill>
                <a:latin typeface="Noto Sans CJK JP"/>
              </a:defRPr>
            </a:pPr>
            <a:r>
              <a:t>教材で接続する5答案要素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88168" y="1078992"/>
            <a:ext cx="64008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>
              <a:defRPr sz="1100" b="1">
                <a:solidFill>
                  <a:srgbClr val="5B6978"/>
                </a:solidFill>
                <a:latin typeface="Noto Sans CJK JP"/>
              </a:defRPr>
            </a:pPr>
            <a:r>
              <a:t>要素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435608"/>
            <a:ext cx="10716768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36192"/>
            <a:ext cx="242316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200" b="1">
                <a:solidFill>
                  <a:srgbClr val="132A3F"/>
                </a:solidFill>
                <a:latin typeface="Noto Sans CJK JP"/>
              </a:defRPr>
            </a:pPr>
            <a:r>
              <a:t>R8 一次 理論 問5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536192"/>
            <a:ext cx="68762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0">
                <a:solidFill>
                  <a:srgbClr val="132A3F"/>
                </a:solidFill>
                <a:latin typeface="Noto Sans CJK JP"/>
              </a:defRPr>
            </a:pPr>
            <a:r>
              <a:t>RLC共振 / I₀ / Q / L・C端子電圧 / 共振条件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88752" y="1527048"/>
            <a:ext cx="457200" cy="329184"/>
          </a:xfrm>
          <a:prstGeom prst="roundRect">
            <a:avLst/>
          </a:prstGeom>
          <a:solidFill>
            <a:srgbClr val="E6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7E8C"/>
                </a:solidFill>
                <a:latin typeface="Noto Sans CJK JP"/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075688"/>
            <a:ext cx="10716768" cy="530352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76272"/>
            <a:ext cx="242316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200" b="1">
                <a:solidFill>
                  <a:srgbClr val="132A3F"/>
                </a:solidFill>
                <a:latin typeface="Noto Sans CJK JP"/>
              </a:defRPr>
            </a:pPr>
            <a:r>
              <a:t>R7 一次 理論 問2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176272"/>
            <a:ext cx="68762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0">
                <a:solidFill>
                  <a:srgbClr val="132A3F"/>
                </a:solidFill>
                <a:latin typeface="Noto Sans CJK JP"/>
              </a:defRPr>
            </a:pPr>
            <a:r>
              <a:t>M / 磁気エネルギー / 誘導起電力 / M²≤L₁L₂ /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88752" y="2167128"/>
            <a:ext cx="457200" cy="329184"/>
          </a:xfrm>
          <a:prstGeom prst="roundRect">
            <a:avLst/>
          </a:prstGeom>
          <a:solidFill>
            <a:srgbClr val="E6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7E8C"/>
                </a:solidFill>
                <a:latin typeface="Noto Sans CJK JP"/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2715768"/>
            <a:ext cx="10716768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816351"/>
            <a:ext cx="242316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200" b="1">
                <a:solidFill>
                  <a:srgbClr val="132A3F"/>
                </a:solidFill>
                <a:latin typeface="Noto Sans CJK JP"/>
              </a:defRPr>
            </a:pPr>
            <a:r>
              <a:t>H30 一次 理論 問2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816351"/>
            <a:ext cx="68762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0">
                <a:solidFill>
                  <a:srgbClr val="132A3F"/>
                </a:solidFill>
                <a:latin typeface="Noto Sans CJK JP"/>
              </a:defRPr>
            </a:pPr>
            <a:r>
              <a:t>磁気回路 / 磁束分配 / L₁ / L₂ /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88752" y="2807208"/>
            <a:ext cx="457200" cy="329184"/>
          </a:xfrm>
          <a:prstGeom prst="roundRect">
            <a:avLst/>
          </a:prstGeom>
          <a:solidFill>
            <a:srgbClr val="E6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7E8C"/>
                </a:solidFill>
                <a:latin typeface="Noto Sans CJK JP"/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355848"/>
            <a:ext cx="10716768" cy="530352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456432"/>
            <a:ext cx="242316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200" b="1">
                <a:solidFill>
                  <a:srgbClr val="132A3F"/>
                </a:solidFill>
                <a:latin typeface="Noto Sans CJK JP"/>
              </a:defRPr>
            </a:pPr>
            <a:r>
              <a:t>H30 一次 機械 問5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3456432"/>
            <a:ext cx="68762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0">
                <a:solidFill>
                  <a:srgbClr val="132A3F"/>
                </a:solidFill>
                <a:latin typeface="Noto Sans CJK JP"/>
              </a:defRPr>
            </a:pPr>
            <a:r>
              <a:t>無負荷・短絡試験 / 鉄損(f・f²) / 銅損 / 規約効率 / 周波数依存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88752" y="3447288"/>
            <a:ext cx="457200" cy="329184"/>
          </a:xfrm>
          <a:prstGeom prst="roundRect">
            <a:avLst/>
          </a:prstGeom>
          <a:solidFill>
            <a:srgbClr val="E6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7E8C"/>
                </a:solidFill>
                <a:latin typeface="Noto Sans CJK JP"/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995928"/>
            <a:ext cx="10716768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096512"/>
            <a:ext cx="242316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200" b="1">
                <a:solidFill>
                  <a:srgbClr val="132A3F"/>
                </a:solidFill>
                <a:latin typeface="Noto Sans CJK JP"/>
              </a:defRPr>
            </a:pPr>
            <a:r>
              <a:t>R2 二次 機械・制御 問2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4096512"/>
            <a:ext cx="687628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>
              <a:defRPr sz="1100" b="0">
                <a:solidFill>
                  <a:srgbClr val="132A3F"/>
                </a:solidFill>
                <a:latin typeface="Noto Sans CJK JP"/>
              </a:defRPr>
            </a:pPr>
            <a:r>
              <a:t>無負荷損 / 全負荷銅損 / α_max / η_max / 指定負荷率・力率でのη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88752" y="4087368"/>
            <a:ext cx="457200" cy="329184"/>
          </a:xfrm>
          <a:prstGeom prst="roundRect">
            <a:avLst/>
          </a:prstGeom>
          <a:solidFill>
            <a:srgbClr val="E6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7E8C"/>
                </a:solidFill>
                <a:latin typeface="Noto Sans CJK JP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718304"/>
            <a:ext cx="3913632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>
              <a:defRPr sz="1300" b="1">
                <a:solidFill>
                  <a:srgbClr val="007E8C"/>
                </a:solidFill>
                <a:latin typeface="Noto Sans CJK JP"/>
              </a:defRPr>
            </a:pPr>
            <a:r>
              <a:t>一次 20/20 ＋ 二次 5/5 ＝ 25/25 connected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074920"/>
            <a:ext cx="10716768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E6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148072"/>
            <a:ext cx="10497312" cy="621792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07E8C"/>
                </a:solidFill>
                <a:latin typeface="Noto Sans CJK JP"/>
              </a:defRPr>
            </a:pPr>
            <a:r>
              <a:t>解法フロー</a:t>
            </a:r>
          </a:p>
          <a:p>
            <a:pPr algn="l">
              <a:spcAft>
                <a:spcPts val="500"/>
              </a:spcAft>
              <a:defRPr sz="1500" b="1">
                <a:solidFill>
                  <a:srgbClr val="132A3F"/>
                </a:solidFill>
                <a:latin typeface="Noto Sans CJK JP"/>
              </a:defRPr>
            </a:pPr>
            <a:r>
              <a:t>① 磁気回路・L・M・k → ② 複素等価回路 → ③ 共振・I → ④ P・力率 → ⑤ 損失・η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980176"/>
            <a:ext cx="10716768" cy="585216"/>
          </a:xfrm>
          <a:prstGeom prst="roundRect">
            <a:avLst/>
          </a:prstGeom>
          <a:solidFill>
            <a:srgbClr val="FCF4EA"/>
          </a:solidFill>
          <a:ln>
            <a:solidFill>
              <a:srgbClr val="F2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6053328"/>
            <a:ext cx="10497312" cy="438912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D3762A"/>
                </a:solidFill>
                <a:latin typeface="Noto Sans CJK JP"/>
              </a:defRPr>
            </a:pPr>
            <a:r>
              <a:t>境界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132A3F"/>
                </a:solidFill>
                <a:latin typeface="Noto Sans CJK JP"/>
              </a:defRPr>
            </a:pPr>
            <a:r>
              <a:t>未確認のL0系実車定数は真値化しない。Topic 31以降は先取りしない。Topic 21の一般式は変更しない。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L0系④ 誘導集電・非接触電力伝送</dc:title>
  <dc:subject>電験二種 Topic 30 解説画像</dc:subject>
  <dc:creator>cureflash / OpenAI worker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