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574536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電験×新幹線｜新幹線車両・二種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835640" y="657453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Topic 09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62179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09 直流機方式の損失・熱設計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275320" y="69494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一次4問＋二次1問・14対象項目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8912" y="11155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57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電力収支 → 損失分類 → 効率 → 発熱 → 定格・冷却・保守を一つの流れで扱う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1645920"/>
            <a:ext cx="22402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2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645920"/>
            <a:ext cx="73152" cy="1325880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755648"/>
            <a:ext cx="1984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入力電力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58952" y="2084832"/>
            <a:ext cx="1984248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P_in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80360" y="2093976"/>
            <a:ext cx="292608" cy="384048"/>
          </a:xfrm>
          <a:prstGeom prst="chevron">
            <a:avLst/>
          </a:prstGeom>
          <a:solidFill>
            <a:srgbClr val="9AA7B5"/>
          </a:solidFill>
          <a:ln w="12700">
            <a:solidFill>
              <a:srgbClr val="9AA7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18688" y="1645920"/>
            <a:ext cx="22402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2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18688" y="1645920"/>
            <a:ext cx="73152" cy="1325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755648"/>
            <a:ext cx="1984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全損失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83280" y="2084832"/>
            <a:ext cx="1984248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P_loss = P_Cu + P_Fe + P_mech + P_stray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04688" y="2093976"/>
            <a:ext cx="292608" cy="384048"/>
          </a:xfrm>
          <a:prstGeom prst="chevron">
            <a:avLst/>
          </a:prstGeom>
          <a:solidFill>
            <a:srgbClr val="9AA7B5"/>
          </a:solidFill>
          <a:ln w="12700">
            <a:solidFill>
              <a:srgbClr val="9AA7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33872" y="1645920"/>
            <a:ext cx="22402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2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33872" y="1645920"/>
            <a:ext cx="73152" cy="13258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98464" y="1755648"/>
            <a:ext cx="1984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発熱・温度上昇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998464" y="2084832"/>
            <a:ext cx="1984248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P_heat ≈ P_loss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冷却で温度上昇を抑える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19872" y="2093976"/>
            <a:ext cx="292608" cy="384048"/>
          </a:xfrm>
          <a:prstGeom prst="chevron">
            <a:avLst/>
          </a:prstGeom>
          <a:solidFill>
            <a:srgbClr val="9AA7B5"/>
          </a:solidFill>
          <a:ln w="12700">
            <a:solidFill>
              <a:srgbClr val="9AA7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58200" y="1645920"/>
            <a:ext cx="22402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2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58200" y="1645920"/>
            <a:ext cx="73152" cy="1325880"/>
          </a:xfrm>
          <a:prstGeom prst="rect">
            <a:avLst/>
          </a:prstGeom>
          <a:solidFill>
            <a:srgbClr val="4F8A10"/>
          </a:solidFill>
          <a:ln w="12700">
            <a:solidFill>
              <a:srgbClr val="4F8A1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22792" y="1755648"/>
            <a:ext cx="1984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軸出力・定格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622792" y="2084832"/>
            <a:ext cx="1984248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P_out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η = P_out / P_in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4360" y="3273552"/>
            <a:ext cx="26060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2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3273552"/>
            <a:ext cx="73152" cy="15087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383280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銅損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58952" y="3712464"/>
            <a:ext cx="2350008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P_Cu = I²R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負荷率と電流が比例する簡略条件では x² で増える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401568" y="3273552"/>
            <a:ext cx="26060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2D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01568" y="3273552"/>
            <a:ext cx="73152" cy="1508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66160" y="3383280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鉄損・機械損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3566160" y="3712464"/>
            <a:ext cx="2350008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一定電圧・回転条件の簡略問題では固定損側に整理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風損は機械損の一部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99632" y="3273552"/>
            <a:ext cx="26060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2D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99632" y="3273552"/>
            <a:ext cx="73152" cy="1508760"/>
          </a:xfrm>
          <a:prstGeom prst="rect">
            <a:avLst/>
          </a:prstGeom>
          <a:solidFill>
            <a:srgbClr val="2F9E9E"/>
          </a:solidFill>
          <a:ln w="12700">
            <a:solidFill>
              <a:srgbClr val="2F9E9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64224" y="3383280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雑負荷損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364224" y="3712464"/>
            <a:ext cx="2350008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負荷時の追加損失。銅損・鉄損・機械損と区別して識別する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9006840" y="3273552"/>
            <a:ext cx="26060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2D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006840" y="3273552"/>
            <a:ext cx="73152" cy="1508760"/>
          </a:xfrm>
          <a:prstGeom prst="rect">
            <a:avLst/>
          </a:prstGeom>
          <a:solidFill>
            <a:srgbClr val="4F8A10"/>
          </a:solidFill>
          <a:ln w="12700">
            <a:solidFill>
              <a:srgbClr val="4F8A1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71432" y="3383280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保守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9171432" y="3712464"/>
            <a:ext cx="2350008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直流機は整流子・ブラシを使用。ブラシは摩耗し点検・交換が必要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21792" y="513892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65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品質ゲート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783080" y="5084064"/>
            <a:ext cx="1143000" cy="301752"/>
          </a:xfrm>
          <a:prstGeom prst="round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783080" y="511149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R8一次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783080" y="5449824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風損・部分負荷効率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657600" y="5084064"/>
            <a:ext cx="1143000" cy="301752"/>
          </a:xfrm>
          <a:prstGeom prst="round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0" y="511149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R6一次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3657600" y="5449824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ブラシ保守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532120" y="5084064"/>
            <a:ext cx="1143000" cy="301752"/>
          </a:xfrm>
          <a:prstGeom prst="round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532120" y="511149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R5一次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532120" y="5449824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損失・規約効率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406640" y="5084064"/>
            <a:ext cx="1143000" cy="301752"/>
          </a:xfrm>
          <a:prstGeom prst="round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406640" y="511149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H23一次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7406640" y="5449824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損失分離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9281160" y="5084064"/>
            <a:ext cx="1143000" cy="301752"/>
          </a:xfrm>
          <a:prstGeom prst="round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281160" y="511149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H22二次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9281160" y="5449824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負荷率・最大効率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21792" y="5989320"/>
            <a:ext cx="10927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固定EXAM_ALIGNMENTは変更しない。後続Topic（誘導機・PWM/VVVF・回生・IGBT/SiC）は追加しない。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62179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負荷率・効率・損失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275320" y="69494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SPEC指定可視化 1 /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8912" y="10789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教材用仮定値：P_N=200 kW、P_0=6.0 kW、P_vN=10.0 kW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55321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2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1847088"/>
            <a:ext cx="4663440" cy="24231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8D2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1847088"/>
            <a:ext cx="0" cy="2423160"/>
          </a:xfrm>
          <a:prstGeom prst="line">
            <a:avLst/>
          </a:prstGeom>
          <a:noFill/>
          <a:ln w="6350">
            <a:solidFill>
              <a:srgbClr val="E1E6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297680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57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773936" y="1847088"/>
            <a:ext cx="0" cy="2423160"/>
          </a:xfrm>
          <a:prstGeom prst="line">
            <a:avLst/>
          </a:prstGeom>
          <a:noFill/>
          <a:ln w="6350">
            <a:solidFill>
              <a:srgbClr val="E1E6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72768" y="4297680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57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706624" y="1847088"/>
            <a:ext cx="0" cy="2423160"/>
          </a:xfrm>
          <a:prstGeom prst="line">
            <a:avLst/>
          </a:prstGeom>
          <a:noFill/>
          <a:ln w="6350">
            <a:solidFill>
              <a:srgbClr val="E1E6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05456" y="4297680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57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40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639312" y="1847088"/>
            <a:ext cx="0" cy="2423160"/>
          </a:xfrm>
          <a:prstGeom prst="line">
            <a:avLst/>
          </a:prstGeom>
          <a:noFill/>
          <a:ln w="6350">
            <a:solidFill>
              <a:srgbClr val="E1E6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38144" y="4297680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57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60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572000" y="1847088"/>
            <a:ext cx="0" cy="2423160"/>
          </a:xfrm>
          <a:prstGeom prst="line">
            <a:avLst/>
          </a:prstGeom>
          <a:noFill/>
          <a:ln w="6350">
            <a:solidFill>
              <a:srgbClr val="E1E6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70832" y="4297680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57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80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504688" y="1847088"/>
            <a:ext cx="0" cy="2423160"/>
          </a:xfrm>
          <a:prstGeom prst="line">
            <a:avLst/>
          </a:prstGeom>
          <a:noFill/>
          <a:ln w="6350">
            <a:solidFill>
              <a:srgbClr val="E1E6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0" y="4297680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57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100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841248" y="4270248"/>
            <a:ext cx="4663440" cy="0"/>
          </a:xfrm>
          <a:prstGeom prst="line">
            <a:avLst/>
          </a:prstGeom>
          <a:noFill/>
          <a:ln w="6350">
            <a:solidFill>
              <a:srgbClr val="E1E6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" y="4187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57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70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841248" y="3785616"/>
            <a:ext cx="4663440" cy="0"/>
          </a:xfrm>
          <a:prstGeom prst="line">
            <a:avLst/>
          </a:prstGeom>
          <a:noFill/>
          <a:ln w="6350">
            <a:solidFill>
              <a:srgbClr val="E1E6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" y="370332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57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75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841248" y="3300984"/>
            <a:ext cx="4663440" cy="0"/>
          </a:xfrm>
          <a:prstGeom prst="line">
            <a:avLst/>
          </a:prstGeom>
          <a:noFill/>
          <a:ln w="6350">
            <a:solidFill>
              <a:srgbClr val="E1E6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" y="3218688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57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80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841248" y="2816352"/>
            <a:ext cx="4663440" cy="0"/>
          </a:xfrm>
          <a:prstGeom prst="line">
            <a:avLst/>
          </a:prstGeom>
          <a:noFill/>
          <a:ln w="6350">
            <a:solidFill>
              <a:srgbClr val="E1E6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" y="2734056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57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85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841248" y="2331720"/>
            <a:ext cx="4663440" cy="0"/>
          </a:xfrm>
          <a:prstGeom prst="line">
            <a:avLst/>
          </a:prstGeom>
          <a:noFill/>
          <a:ln w="6350">
            <a:solidFill>
              <a:srgbClr val="E1E6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" y="2249424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57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90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841248" y="1847088"/>
            <a:ext cx="4663440" cy="0"/>
          </a:xfrm>
          <a:prstGeom prst="line">
            <a:avLst/>
          </a:prstGeom>
          <a:noFill/>
          <a:ln w="6350">
            <a:solidFill>
              <a:srgbClr val="E1E6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" y="176479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57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95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1074420" y="5006647"/>
            <a:ext cx="233172" cy="-1378861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307592" y="3627786"/>
            <a:ext cx="233172" cy="-599721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540764" y="3028065"/>
            <a:ext cx="233172" cy="-328693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773936" y="2699372"/>
            <a:ext cx="233172" cy="-202898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007108" y="2496473"/>
            <a:ext cx="233172" cy="-134328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40280" y="2362145"/>
            <a:ext cx="233172" cy="-92867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73452" y="2269278"/>
            <a:ext cx="233172" cy="-65908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06624" y="2203370"/>
            <a:ext cx="233172" cy="-47408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939796" y="2155962"/>
            <a:ext cx="233172" cy="-34175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172968" y="2121787"/>
            <a:ext cx="233172" cy="-24393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406140" y="2097395"/>
            <a:ext cx="233172" cy="-16965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639312" y="2080429"/>
            <a:ext cx="233172" cy="-11200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872484" y="2069229"/>
            <a:ext cx="233172" cy="-6642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105656" y="2062587"/>
            <a:ext cx="233172" cy="-2981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338828" y="2059606"/>
            <a:ext cx="233172" cy="0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572000" y="2059606"/>
            <a:ext cx="233172" cy="2455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805172" y="2062061"/>
            <a:ext cx="233172" cy="4497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038344" y="2066558"/>
            <a:ext cx="233172" cy="6211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271516" y="2072769"/>
            <a:ext cx="233172" cy="7660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258568" y="45262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負荷率 x [%]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 rot="16200000">
            <a:off x="128016" y="294894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効率 η [%]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412401" y="2018209"/>
            <a:ext cx="82296" cy="82296"/>
          </a:xfrm>
          <a:prstGeom prst="ellipse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453549" y="1847088"/>
            <a:ext cx="0" cy="2423160"/>
          </a:xfrm>
          <a:prstGeom prst="line">
            <a:avLst/>
          </a:prstGeom>
          <a:noFill/>
          <a:ln w="8890">
            <a:solidFill>
              <a:srgbClr val="2F75B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31520" y="4553712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65D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η(x)=200x / (200x + 6 + 10x²)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676656" y="4956048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最大効率条件：P₀ = x²P_vN → x≈0.775、η≈92.8%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236208" y="1417320"/>
            <a:ext cx="55321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2D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656832" y="1847088"/>
            <a:ext cx="4663440" cy="24231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8D2D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656832" y="1847088"/>
            <a:ext cx="0" cy="2423160"/>
          </a:xfrm>
          <a:prstGeom prst="line">
            <a:avLst/>
          </a:prstGeom>
          <a:noFill/>
          <a:ln w="6350">
            <a:solidFill>
              <a:srgbClr val="E1E6E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55664" y="4297680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57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7822692" y="1847088"/>
            <a:ext cx="0" cy="2423160"/>
          </a:xfrm>
          <a:prstGeom prst="line">
            <a:avLst/>
          </a:prstGeom>
          <a:noFill/>
          <a:ln w="6350">
            <a:solidFill>
              <a:srgbClr val="E1E6E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621524" y="4297680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57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50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8988552" y="1847088"/>
            <a:ext cx="0" cy="2423160"/>
          </a:xfrm>
          <a:prstGeom prst="line">
            <a:avLst/>
          </a:prstGeom>
          <a:noFill/>
          <a:ln w="6350">
            <a:solidFill>
              <a:srgbClr val="E1E6E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787384" y="4297680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57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100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10154412" y="1847088"/>
            <a:ext cx="0" cy="2423160"/>
          </a:xfrm>
          <a:prstGeom prst="line">
            <a:avLst/>
          </a:prstGeom>
          <a:noFill/>
          <a:ln w="6350">
            <a:solidFill>
              <a:srgbClr val="E1E6E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953244" y="4297680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57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150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11320272" y="1847088"/>
            <a:ext cx="0" cy="2423160"/>
          </a:xfrm>
          <a:prstGeom prst="line">
            <a:avLst/>
          </a:prstGeom>
          <a:noFill/>
          <a:ln w="6350">
            <a:solidFill>
              <a:srgbClr val="E1E6E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1119104" y="4297680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57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200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6656832" y="4270248"/>
            <a:ext cx="4663440" cy="0"/>
          </a:xfrm>
          <a:prstGeom prst="line">
            <a:avLst/>
          </a:prstGeom>
          <a:noFill/>
          <a:ln w="6350">
            <a:solidFill>
              <a:srgbClr val="E1E6E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309360" y="4187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57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6656832" y="3866388"/>
            <a:ext cx="4663440" cy="0"/>
          </a:xfrm>
          <a:prstGeom prst="line">
            <a:avLst/>
          </a:prstGeom>
          <a:noFill/>
          <a:ln w="6350">
            <a:solidFill>
              <a:srgbClr val="E1E6E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309360" y="378409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57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6656832" y="3462528"/>
            <a:ext cx="4663440" cy="0"/>
          </a:xfrm>
          <a:prstGeom prst="line">
            <a:avLst/>
          </a:prstGeom>
          <a:noFill/>
          <a:ln w="6350">
            <a:solidFill>
              <a:srgbClr val="E1E6E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309360" y="338023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57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6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6656832" y="3058668"/>
            <a:ext cx="4663440" cy="0"/>
          </a:xfrm>
          <a:prstGeom prst="line">
            <a:avLst/>
          </a:prstGeom>
          <a:noFill/>
          <a:ln w="6350">
            <a:solidFill>
              <a:srgbClr val="E1E6E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309360" y="297637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57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9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6656832" y="2654808"/>
            <a:ext cx="4663440" cy="0"/>
          </a:xfrm>
          <a:prstGeom prst="line">
            <a:avLst/>
          </a:prstGeom>
          <a:noFill/>
          <a:ln w="6350">
            <a:solidFill>
              <a:srgbClr val="E1E6EC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309360" y="257251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57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12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6656832" y="2250948"/>
            <a:ext cx="4663440" cy="0"/>
          </a:xfrm>
          <a:prstGeom prst="line">
            <a:avLst/>
          </a:prstGeom>
          <a:noFill/>
          <a:ln w="6350">
            <a:solidFill>
              <a:srgbClr val="E1E6EC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309360" y="21686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57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15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6656832" y="1847088"/>
            <a:ext cx="4663440" cy="0"/>
          </a:xfrm>
          <a:prstGeom prst="line">
            <a:avLst/>
          </a:prstGeom>
          <a:noFill/>
          <a:ln w="6350">
            <a:solidFill>
              <a:srgbClr val="E1E6EC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309360" y="176479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57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18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6656832" y="3462528"/>
            <a:ext cx="233172" cy="-3366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890004" y="3459162"/>
            <a:ext cx="233172" cy="-10096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123176" y="3449066"/>
            <a:ext cx="233172" cy="-16827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356348" y="3432239"/>
            <a:ext cx="233172" cy="-23558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589520" y="3408680"/>
            <a:ext cx="233172" cy="-30290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7822692" y="3378391"/>
            <a:ext cx="233172" cy="-37020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055864" y="3341370"/>
            <a:ext cx="233172" cy="-43752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8289036" y="3297619"/>
            <a:ext cx="233172" cy="-50482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522208" y="3247136"/>
            <a:ext cx="233172" cy="-57214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755380" y="3189923"/>
            <a:ext cx="233172" cy="-63945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8988552" y="3125978"/>
            <a:ext cx="233172" cy="-70675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9221724" y="3055303"/>
            <a:ext cx="233172" cy="-77406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9454896" y="2977896"/>
            <a:ext cx="233172" cy="-84138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9688068" y="2893759"/>
            <a:ext cx="233172" cy="-90868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9921240" y="2802890"/>
            <a:ext cx="233172" cy="-97600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0154412" y="2705291"/>
            <a:ext cx="233172" cy="-104330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0387584" y="2600960"/>
            <a:ext cx="233172" cy="-111062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0620756" y="2489899"/>
            <a:ext cx="233172" cy="-117792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0853928" y="2372106"/>
            <a:ext cx="233172" cy="-124524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1087100" y="2247583"/>
            <a:ext cx="233172" cy="-131254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8074152" y="45262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出力 Pout [kW]</a:t>
            </a:r>
            <a:endParaRPr lang="en-US" sz="850" dirty="0"/>
          </a:p>
        </p:txBody>
      </p:sp>
      <p:sp>
        <p:nvSpPr>
          <p:cNvPr id="103" name="Text 101"/>
          <p:cNvSpPr/>
          <p:nvPr/>
        </p:nvSpPr>
        <p:spPr>
          <a:xfrm rot="16200000">
            <a:off x="5943600" y="294894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全損失 Ploss [kW]</a:t>
            </a:r>
            <a:endParaRPr lang="en-US" sz="850" dirty="0"/>
          </a:p>
        </p:txBody>
      </p:sp>
      <p:sp>
        <p:nvSpPr>
          <p:cNvPr id="104" name="Text 102"/>
          <p:cNvSpPr/>
          <p:nvPr/>
        </p:nvSpPr>
        <p:spPr>
          <a:xfrm>
            <a:off x="6565392" y="4553712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65D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P_loss(x)=6 + 10x² [kW]</a:t>
            </a:r>
            <a:endParaRPr lang="en-US" sz="1200" dirty="0"/>
          </a:p>
        </p:txBody>
      </p:sp>
      <p:sp>
        <p:nvSpPr>
          <p:cNvPr id="105" name="Text 103"/>
          <p:cNvSpPr/>
          <p:nvPr/>
        </p:nvSpPr>
        <p:spPr>
          <a:xfrm>
            <a:off x="6492240" y="495604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固定損6 kWを下限に、負荷依存損が二乗で増える</a:t>
            </a:r>
            <a:endParaRPr lang="en-US" sz="1100" dirty="0"/>
          </a:p>
        </p:txBody>
      </p:sp>
      <p:sp>
        <p:nvSpPr>
          <p:cNvPr id="106" name="Shape 104"/>
          <p:cNvSpPr/>
          <p:nvPr/>
        </p:nvSpPr>
        <p:spPr>
          <a:xfrm>
            <a:off x="658368" y="5870448"/>
            <a:ext cx="10972800" cy="384048"/>
          </a:xfrm>
          <a:prstGeom prst="roundRect">
            <a:avLst/>
          </a:prstGeom>
          <a:solidFill>
            <a:srgbClr val="FFF4E5"/>
          </a:solidFill>
          <a:ln w="12700">
            <a:solidFill>
              <a:srgbClr val="F2C078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822960" y="5961888"/>
            <a:ext cx="10634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4B0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成立条件：負荷率 x と電流が比例し、対象の負荷依存損が I² に比例する場合だけ x² 則を使う。実車の損失曲線ではない。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62179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損失から温度上昇へ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275320" y="69494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SPEC指定可視化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8912" y="1069848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教材用簡略熱モデル：P_loss=12.0 kW、R_th=0.0040 K/W、C_th=150 kJ/K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699516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2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828800"/>
            <a:ext cx="6080760" cy="28803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8D2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1828800"/>
            <a:ext cx="0" cy="2880360"/>
          </a:xfrm>
          <a:prstGeom prst="line">
            <a:avLst/>
          </a:prstGeom>
          <a:noFill/>
          <a:ln w="6350">
            <a:solidFill>
              <a:srgbClr val="E1E6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4736592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57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480310" y="1828800"/>
            <a:ext cx="0" cy="2880360"/>
          </a:xfrm>
          <a:prstGeom prst="line">
            <a:avLst/>
          </a:prstGeom>
          <a:noFill/>
          <a:ln w="6350">
            <a:solidFill>
              <a:srgbClr val="E1E6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79142" y="4736592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57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10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000500" y="1828800"/>
            <a:ext cx="0" cy="2880360"/>
          </a:xfrm>
          <a:prstGeom prst="line">
            <a:avLst/>
          </a:prstGeom>
          <a:noFill/>
          <a:ln w="6350">
            <a:solidFill>
              <a:srgbClr val="E1E6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99332" y="4736592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57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5520690" y="1828800"/>
            <a:ext cx="0" cy="2880360"/>
          </a:xfrm>
          <a:prstGeom prst="line">
            <a:avLst/>
          </a:prstGeom>
          <a:noFill/>
          <a:ln w="6350">
            <a:solidFill>
              <a:srgbClr val="E1E6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19522" y="4736592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57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30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7040880" y="1828800"/>
            <a:ext cx="0" cy="2880360"/>
          </a:xfrm>
          <a:prstGeom prst="line">
            <a:avLst/>
          </a:prstGeom>
          <a:noFill/>
          <a:ln w="6350">
            <a:solidFill>
              <a:srgbClr val="E1E6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39712" y="4736592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57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40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60120" y="4709160"/>
            <a:ext cx="6080760" cy="0"/>
          </a:xfrm>
          <a:prstGeom prst="line">
            <a:avLst/>
          </a:prstGeom>
          <a:noFill/>
          <a:ln w="6350">
            <a:solidFill>
              <a:srgbClr val="E1E6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" y="4626864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57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960120" y="4155245"/>
            <a:ext cx="6080760" cy="0"/>
          </a:xfrm>
          <a:prstGeom prst="line">
            <a:avLst/>
          </a:prstGeom>
          <a:noFill/>
          <a:ln w="6350">
            <a:solidFill>
              <a:srgbClr val="E1E6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" y="4072949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57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10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60120" y="3601329"/>
            <a:ext cx="6080760" cy="0"/>
          </a:xfrm>
          <a:prstGeom prst="line">
            <a:avLst/>
          </a:prstGeom>
          <a:noFill/>
          <a:ln w="6350">
            <a:solidFill>
              <a:srgbClr val="E1E6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" y="3519033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57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960120" y="3047414"/>
            <a:ext cx="6080760" cy="0"/>
          </a:xfrm>
          <a:prstGeom prst="line">
            <a:avLst/>
          </a:prstGeom>
          <a:noFill/>
          <a:ln w="6350">
            <a:solidFill>
              <a:srgbClr val="E1E6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" y="2965118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57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30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960120" y="2493498"/>
            <a:ext cx="6080760" cy="0"/>
          </a:xfrm>
          <a:prstGeom prst="line">
            <a:avLst/>
          </a:prstGeom>
          <a:noFill/>
          <a:ln w="6350">
            <a:solidFill>
              <a:srgbClr val="E1E6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" y="241120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57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40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960120" y="1939583"/>
            <a:ext cx="6080760" cy="0"/>
          </a:xfrm>
          <a:prstGeom prst="line">
            <a:avLst/>
          </a:prstGeom>
          <a:noFill/>
          <a:ln w="6350">
            <a:solidFill>
              <a:srgbClr val="E1E6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" y="1857287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57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50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960120" y="4709160"/>
            <a:ext cx="304038" cy="-481958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264158" y="4227202"/>
            <a:ext cx="304038" cy="-394593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568196" y="3832609"/>
            <a:ext cx="304038" cy="-323066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872234" y="3509543"/>
            <a:ext cx="304038" cy="-264504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76272" y="3245039"/>
            <a:ext cx="304038" cy="-216557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480310" y="3028482"/>
            <a:ext cx="304038" cy="-177302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84348" y="2851179"/>
            <a:ext cx="304038" cy="-145163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088386" y="2706017"/>
            <a:ext cx="304038" cy="-118849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392424" y="2587167"/>
            <a:ext cx="304038" cy="-97306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96462" y="2489862"/>
            <a:ext cx="304038" cy="-79667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000500" y="2410195"/>
            <a:ext cx="304038" cy="-65226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304538" y="2344969"/>
            <a:ext cx="304038" cy="-53402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08576" y="2291566"/>
            <a:ext cx="304038" cy="-43722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912614" y="2247844"/>
            <a:ext cx="304038" cy="-35797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216652" y="2212048"/>
            <a:ext cx="304038" cy="-29308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520690" y="2182740"/>
            <a:ext cx="304038" cy="-23995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824728" y="2158744"/>
            <a:ext cx="304038" cy="-19646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128766" y="2139099"/>
            <a:ext cx="304038" cy="-16084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32804" y="2123014"/>
            <a:ext cx="304038" cy="-13169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736842" y="2109845"/>
            <a:ext cx="304038" cy="-10782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086100" y="496519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時間 t [min]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 rot="16200000">
            <a:off x="246888" y="31592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温度上昇 θ [K]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60120" y="5138928"/>
            <a:ext cx="5989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65D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θ(t)=48(1−e^(−t/10)) [K]  （t：分）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7818120" y="1481328"/>
            <a:ext cx="374904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2D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818120" y="1481328"/>
            <a:ext cx="73152" cy="1170432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982712" y="1591056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熱時定数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7982712" y="1920240"/>
            <a:ext cx="3493008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τ = R_th C_th = 600 s = 10 min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7818120" y="2788920"/>
            <a:ext cx="374904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2D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818120" y="2788920"/>
            <a:ext cx="73152" cy="11704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982712" y="2898648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定常温度上昇</a:t>
            </a:r>
            <a:endParaRPr lang="en-US" sz="1500" dirty="0"/>
          </a:p>
        </p:txBody>
      </p:sp>
      <p:sp>
        <p:nvSpPr>
          <p:cNvPr id="59" name="Text 57"/>
          <p:cNvSpPr/>
          <p:nvPr/>
        </p:nvSpPr>
        <p:spPr>
          <a:xfrm>
            <a:off x="7982712" y="3227832"/>
            <a:ext cx="3493008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θ∞ = P_loss R_th = 48 K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7818120" y="4096512"/>
            <a:ext cx="374904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2D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818120" y="4096512"/>
            <a:ext cx="73152" cy="11704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982712" y="4206240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代表点</a:t>
            </a:r>
            <a:endParaRPr lang="en-US" sz="1500" dirty="0"/>
          </a:p>
        </p:txBody>
      </p:sp>
      <p:sp>
        <p:nvSpPr>
          <p:cNvPr id="63" name="Text 61"/>
          <p:cNvSpPr/>
          <p:nvPr/>
        </p:nvSpPr>
        <p:spPr>
          <a:xfrm>
            <a:off x="7982712" y="4535424"/>
            <a:ext cx="3493008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10分: 30.3 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20分: 41.5 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30分: 45.6 K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7818120" y="5468112"/>
            <a:ext cx="3749040" cy="640080"/>
          </a:xfrm>
          <a:prstGeom prst="roundRect">
            <a:avLst/>
          </a:prstGeom>
          <a:solidFill>
            <a:srgbClr val="EEF7F1"/>
          </a:solidFill>
          <a:ln w="12700">
            <a:solidFill>
              <a:srgbClr val="B8D6C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028432" y="5577840"/>
            <a:ext cx="3328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5D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冷却を強くして R_th を小さくすると、同じ損失でも定常温度上昇を抑えやすい。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612648" y="5989320"/>
            <a:ext cx="6812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R_th・C_th は教材用仮定値。100系・200系の実車値ではない。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JP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JP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09 直流機方式の損失・熱設計</dc:title>
  <dc:subject>PptxGenJS Presentation</dc:subject>
  <dc:creator>OpenAI</dc:creator>
  <cp:lastModifiedBy>OpenAI</cp:lastModifiedBy>
  <cp:revision>1</cp:revision>
  <dcterms:created xsi:type="dcterms:W3CDTF">2026-09-15T16:59:39Z</dcterms:created>
  <dcterms:modified xsi:type="dcterms:W3CDTF">2026-09-15T16:59:39Z</dcterms:modified>
</cp:coreProperties>
</file>