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50000" y="180000"/>
            <a:ext cx="115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2600" b="1">
                <a:latin typeface="Noto Sans CJK JP"/>
                <a:ea typeface="Noto Sans CJK JP"/>
              </a:rPr>
              <a:t>Topic 17  パワー半導体の損失比較</a:t>
            </a:r>
            <a:endParaRPr lang="ja-JP" sz="2600"/>
          </a:p>
        </p:txBody>
      </p:sp>
      <p:sp>
        <p:nvSpPr>
          <p:cNvPr id="3" name="box1"/>
          <p:cNvSpPr txBox="1"/>
          <p:nvPr/>
        </p:nvSpPr>
        <p:spPr>
          <a:xfrm>
            <a:off x="450000" y="1000000"/>
            <a:ext cx="3500000" cy="1800000"/>
          </a:xfrm>
          <a:prstGeom prst="rect">
            <a:avLst/>
          </a:prstGeom>
          <a:solidFill>
            <a:srgbClr val="EAF2F8"/>
          </a:solidFill>
          <a:ln w="12700">
            <a:solidFill>
              <a:srgbClr val="8AA4B8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750" b="1">
                <a:latin typeface="Noto Sans CJK JP"/>
                <a:ea typeface="Noto Sans CJK JP"/>
              </a:rPr>
              <a:t>導通損失</a:t>
            </a:r>
            <a:endParaRPr lang="ja-JP" sz="1750"/>
          </a:p>
          <a:p>
            <a:pPr algn="l"/>
            <a:r>
              <a:rPr lang="ja-JP" sz="1750" b="1">
                <a:latin typeface="Noto Sans CJK JP"/>
                <a:ea typeface="Noto Sans CJK JP"/>
              </a:rPr>
              <a:t>Pcond ≈ Von·D·I</a:t>
            </a:r>
            <a:endParaRPr lang="ja-JP" sz="1750"/>
          </a:p>
          <a:p>
            <a:pPr algn="l"/>
            <a:r>
              <a:rPr lang="ja-JP" sz="1750" b="1">
                <a:latin typeface="Noto Sans CJK JP"/>
                <a:ea typeface="Noto Sans CJK JP"/>
              </a:rPr>
              <a:t>または Irms,on²·Ron</a:t>
            </a:r>
            <a:endParaRPr lang="ja-JP" sz="1750"/>
          </a:p>
          <a:p>
            <a:pPr algn="l"/>
            <a:r>
              <a:rPr lang="ja-JP" sz="1750" b="1">
                <a:latin typeface="Noto Sans CJK JP"/>
                <a:ea typeface="Noto Sans CJK JP"/>
              </a:rPr>
              <a:t>モデルを混在させない</a:t>
            </a:r>
            <a:endParaRPr lang="ja-JP" sz="1750"/>
          </a:p>
        </p:txBody>
      </p:sp>
      <p:sp>
        <p:nvSpPr>
          <p:cNvPr id="4" name="box2"/>
          <p:cNvSpPr txBox="1"/>
          <p:nvPr/>
        </p:nvSpPr>
        <p:spPr>
          <a:xfrm>
            <a:off x="4350000" y="1000000"/>
            <a:ext cx="3500000" cy="1800000"/>
          </a:xfrm>
          <a:prstGeom prst="rect">
            <a:avLst/>
          </a:prstGeom>
          <a:solidFill>
            <a:srgbClr val="F6F2E8"/>
          </a:solidFill>
          <a:ln w="12700">
            <a:solidFill>
              <a:srgbClr val="B8A87A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750" b="1">
                <a:latin typeface="Noto Sans CJK JP"/>
                <a:ea typeface="Noto Sans CJK JP"/>
              </a:rPr>
              <a:t>スイッチング損失</a:t>
            </a:r>
            <a:endParaRPr lang="ja-JP" sz="1750"/>
          </a:p>
          <a:p>
            <a:pPr algn="l"/>
            <a:r>
              <a:rPr lang="ja-JP" sz="1750" b="1">
                <a:latin typeface="Noto Sans CJK JP"/>
                <a:ea typeface="Noto Sans CJK JP"/>
              </a:rPr>
              <a:t>Eon/off = ∫v(t)i(t)dt</a:t>
            </a:r>
            <a:endParaRPr lang="ja-JP" sz="1750"/>
          </a:p>
          <a:p>
            <a:pPr algn="l"/>
            <a:r>
              <a:rPr lang="ja-JP" sz="1750" b="1">
                <a:latin typeface="Noto Sans CJK JP"/>
                <a:ea typeface="Noto Sans CJK JP"/>
              </a:rPr>
              <a:t>Psw = fs(Eon+Eoff)</a:t>
            </a:r>
            <a:endParaRPr lang="ja-JP" sz="1750"/>
          </a:p>
          <a:p>
            <a:pPr algn="l"/>
            <a:r>
              <a:rPr lang="ja-JP" sz="1750" b="1">
                <a:latin typeface="Noto Sans CJK JP"/>
                <a:ea typeface="Noto Sans CJK JP"/>
              </a:rPr>
              <a:t>fs = 1/T</a:t>
            </a:r>
            <a:endParaRPr lang="ja-JP" sz="1750"/>
          </a:p>
        </p:txBody>
      </p:sp>
      <p:sp>
        <p:nvSpPr>
          <p:cNvPr id="5" name="box3"/>
          <p:cNvSpPr txBox="1"/>
          <p:nvPr/>
        </p:nvSpPr>
        <p:spPr>
          <a:xfrm>
            <a:off x="8250000" y="1000000"/>
            <a:ext cx="3500000" cy="1800000"/>
          </a:xfrm>
          <a:prstGeom prst="rect">
            <a:avLst/>
          </a:prstGeom>
          <a:solidFill>
            <a:srgbClr val="F3EEEE"/>
          </a:solidFill>
          <a:ln w="12700">
            <a:solidFill>
              <a:srgbClr val="B58C8C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750" b="1">
                <a:latin typeface="Noto Sans CJK JP"/>
                <a:ea typeface="Noto Sans CJK JP"/>
              </a:rPr>
              <a:t>オフ損失</a:t>
            </a:r>
            <a:endParaRPr lang="ja-JP" sz="1750"/>
          </a:p>
          <a:p>
            <a:pPr algn="l"/>
            <a:r>
              <a:rPr lang="ja-JP" sz="1750" b="1">
                <a:latin typeface="Noto Sans CJK JP"/>
                <a:ea typeface="Noto Sans CJK JP"/>
              </a:rPr>
              <a:t>Poff ≈ Voff·Ileak(1−D)</a:t>
            </a:r>
            <a:endParaRPr lang="ja-JP" sz="1750"/>
          </a:p>
          <a:p>
            <a:pPr algn="l"/>
            <a:r>
              <a:rPr lang="ja-JP" sz="1750" b="1">
                <a:latin typeface="Noto Sans CJK JP"/>
                <a:ea typeface="Noto Sans CJK JP"/>
              </a:rPr>
              <a:t>「オフ=必ず0 W」ではない</a:t>
            </a:r>
            <a:endParaRPr lang="ja-JP" sz="1750"/>
          </a:p>
        </p:txBody>
      </p:sp>
      <p:sp>
        <p:nvSpPr>
          <p:cNvPr id="6" name="dev"/>
          <p:cNvSpPr txBox="1"/>
          <p:nvPr/>
        </p:nvSpPr>
        <p:spPr>
          <a:xfrm>
            <a:off x="650000" y="3250000"/>
            <a:ext cx="5200000" cy="950000"/>
          </a:xfrm>
          <a:prstGeom prst="rect">
            <a:avLst/>
          </a:prstGeom>
          <a:solidFill>
            <a:srgbClr val="F7F8FA"/>
          </a:solidFill>
          <a:ln w="12700">
            <a:solidFill>
              <a:srgbClr val="B5BDC8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500" b="0">
                <a:latin typeface="Noto Sans CJK JP"/>
                <a:ea typeface="Noto Sans CJK JP"/>
              </a:rPr>
              <a:t>IGBT / MOSFET：ゲートでオン・オフする自己消弧形素子</a:t>
            </a:r>
            <a:endParaRPr lang="ja-JP" sz="1500"/>
          </a:p>
          <a:p>
            <a:pPr algn="l"/>
            <a:r>
              <a:rPr lang="ja-JP" sz="1500" b="0">
                <a:latin typeface="Noto Sans CJK JP"/>
                <a:ea typeface="Noto Sans CJK JP"/>
              </a:rPr>
              <a:t>逆並列ダイオード：誘導性負荷の還流経路</a:t>
            </a:r>
            <a:endParaRPr lang="ja-JP" sz="1500"/>
          </a:p>
          <a:p>
            <a:pPr algn="l"/>
            <a:r>
              <a:rPr lang="ja-JP" sz="1500" b="0">
                <a:latin typeface="Noto Sans CJK JP"/>
                <a:ea typeface="Noto Sans CJK JP"/>
              </a:rPr>
              <a:t>→ 損失計算の前に「どの素子を電流が流れるか」を決める</a:t>
            </a:r>
            <a:endParaRPr lang="ja-JP" sz="1500"/>
          </a:p>
        </p:txBody>
      </p:sp>
      <p:sp>
        <p:nvSpPr>
          <p:cNvPr id="7" name="flow"/>
          <p:cNvSpPr txBox="1"/>
          <p:nvPr/>
        </p:nvSpPr>
        <p:spPr>
          <a:xfrm>
            <a:off x="6100000" y="3250000"/>
            <a:ext cx="5200000" cy="950000"/>
          </a:xfrm>
          <a:prstGeom prst="rect">
            <a:avLst/>
          </a:prstGeom>
          <a:solidFill>
            <a:srgbClr val="F7F8FA"/>
          </a:solidFill>
          <a:ln w="12700">
            <a:solidFill>
              <a:srgbClr val="B5BDC8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500" b="0">
                <a:latin typeface="Noto Sans CJK JP"/>
                <a:ea typeface="Noto Sans CJK JP"/>
              </a:rPr>
              <a:t>素子電流・スイッチング → 損失 → 発熱</a:t>
            </a:r>
            <a:endParaRPr lang="ja-JP" sz="1500"/>
          </a:p>
          <a:p>
            <a:pPr algn="l"/>
            <a:r>
              <a:rPr lang="ja-JP" sz="1500" b="0">
                <a:latin typeface="Noto Sans CJK JP"/>
                <a:ea typeface="Noto Sans CJK JP"/>
              </a:rPr>
              <a:t>→ 接合温度・冷却 → 変換効率</a:t>
            </a:r>
            <a:endParaRPr lang="ja-JP" sz="1500"/>
          </a:p>
          <a:p>
            <a:pPr algn="l"/>
            <a:r>
              <a:rPr lang="ja-JP" sz="1500" b="0">
                <a:latin typeface="Noto Sans CJK JP"/>
                <a:ea typeface="Noto Sans CJK JP"/>
              </a:rPr>
              <a:t>Tj = Ta + Ploss Rθ     η = Pout/(Pout+Ploss)</a:t>
            </a:r>
            <a:endParaRPr lang="ja-JP" sz="1500"/>
          </a:p>
        </p:txBody>
      </p:sp>
      <p:sp>
        <p:nvSpPr>
          <p:cNvPr id="8" name="secondary"/>
          <p:cNvSpPr txBox="1"/>
          <p:nvPr/>
        </p:nvSpPr>
        <p:spPr>
          <a:xfrm>
            <a:off x="650000" y="4650000"/>
            <a:ext cx="10600000" cy="1350000"/>
          </a:xfrm>
          <a:prstGeom prst="rect">
            <a:avLst/>
          </a:prstGeom>
          <a:solidFill>
            <a:srgbClr val="EEF3F6"/>
          </a:solidFill>
          <a:ln w="12700">
            <a:solidFill>
              <a:srgbClr val="78909F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550" b="1">
                <a:latin typeface="Noto Sans CJK JP"/>
                <a:ea typeface="Noto Sans CJK JP"/>
              </a:rPr>
              <a:t>二次試験型の順序</a:t>
            </a:r>
            <a:endParaRPr lang="ja-JP" sz="1550"/>
          </a:p>
          <a:p>
            <a:pPr algn="l"/>
            <a:r>
              <a:rPr lang="ja-JP" sz="1550" b="1">
                <a:latin typeface="Noto Sans CJK JP"/>
                <a:ea typeface="Noto Sans CJK JP"/>
              </a:rPr>
              <a:t>①電流方向 → ②IGBT/ダイオード通流 → ③各状態の端子電圧 → ④Va=D V1+(1−D)V2 → ⑤0≤D≤1</a:t>
            </a:r>
            <a:endParaRPr lang="ja-JP" sz="1550"/>
          </a:p>
          <a:p>
            <a:pPr algn="l"/>
            <a:r>
              <a:rPr lang="ja-JP" sz="1550" b="1">
                <a:latin typeface="Noto Sans CJK JP"/>
                <a:ea typeface="Noto Sans CJK JP"/>
              </a:rPr>
              <a:t>問題文が「スイッチング損失を無視」と指定したら、損失項を勝手に追加しない。</a:t>
            </a:r>
            <a:endParaRPr lang="ja-JP" sz="1550"/>
          </a:p>
        </p:txBody>
      </p:sp>
      <p:sp>
        <p:nvSpPr>
          <p:cNvPr id="9" name="note"/>
          <p:cNvSpPr txBox="1"/>
          <p:nvPr/>
        </p:nvSpPr>
        <p:spPr>
          <a:xfrm>
            <a:off x="700000" y="6150000"/>
            <a:ext cx="105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200" b="0">
                <a:latin typeface="Noto Sans CJK JP"/>
                <a:ea typeface="Noto Sans CJK JP"/>
              </a:rPr>
              <a:t>教材用一般モデル。700系の未確認実車値は使用しない。</a:t>
            </a:r>
            <a:endParaRPr lang="ja-JP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50000" y="180000"/>
            <a:ext cx="115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2500" b="1">
                <a:latin typeface="Noto Sans CJK JP"/>
                <a:ea typeface="Noto Sans CJK JP"/>
              </a:rPr>
              <a:t>電流―導通損失：モデルで増え方が変わる</a:t>
            </a:r>
            <a:endParaRPr lang="ja-JP" sz="2500"/>
          </a:p>
        </p:txBody>
      </p:sp>
      <p:sp>
        <p:nvSpPr>
          <p:cNvPr id="3" name="Line 3"/>
          <p:cNvSpPr/>
          <p:nvPr/>
        </p:nvSpPr>
        <p:spPr>
          <a:xfrm>
            <a:off x="650000" y="5300000"/>
            <a:ext cx="7000000" cy="1"/>
          </a:xfrm>
          <a:prstGeom prst="line">
            <a:avLst/>
          </a:prstGeom>
          <a:ln w="19050">
            <a:solidFill>
              <a:srgbClr val="4A5568"/>
            </a:solidFill>
          </a:ln>
        </p:spPr>
      </p:sp>
      <p:sp>
        <p:nvSpPr>
          <p:cNvPr id="4" name="Line 4"/>
          <p:cNvSpPr/>
          <p:nvPr/>
        </p:nvSpPr>
        <p:spPr>
          <a:xfrm>
            <a:off x="650000" y="1200000"/>
            <a:ext cx="1" cy="4100000"/>
          </a:xfrm>
          <a:prstGeom prst="line">
            <a:avLst/>
          </a:prstGeom>
          <a:ln w="19050">
            <a:solidFill>
              <a:srgbClr val="4A5568"/>
            </a:solidFill>
          </a:ln>
        </p:spPr>
      </p:sp>
      <p:sp>
        <p:nvSpPr>
          <p:cNvPr id="5" name="Line 5"/>
          <p:cNvSpPr/>
          <p:nvPr/>
        </p:nvSpPr>
        <p:spPr>
          <a:xfrm flipV="1">
            <a:off x="650000" y="5003415"/>
            <a:ext cx="875000" cy="296585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6" name="Line 6"/>
          <p:cNvSpPr/>
          <p:nvPr/>
        </p:nvSpPr>
        <p:spPr>
          <a:xfrm flipV="1">
            <a:off x="1525000" y="4706829"/>
            <a:ext cx="875000" cy="296586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7" name="Line 7"/>
          <p:cNvSpPr/>
          <p:nvPr/>
        </p:nvSpPr>
        <p:spPr>
          <a:xfrm flipV="1">
            <a:off x="2400000" y="4410244"/>
            <a:ext cx="875000" cy="296585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8" name="Line 8"/>
          <p:cNvSpPr/>
          <p:nvPr/>
        </p:nvSpPr>
        <p:spPr>
          <a:xfrm flipV="1">
            <a:off x="3275000" y="4113658"/>
            <a:ext cx="875000" cy="296586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9" name="Line 9"/>
          <p:cNvSpPr/>
          <p:nvPr/>
        </p:nvSpPr>
        <p:spPr>
          <a:xfrm flipV="1">
            <a:off x="4150000" y="3817072"/>
            <a:ext cx="875000" cy="296586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0" name="Line 10"/>
          <p:cNvSpPr/>
          <p:nvPr/>
        </p:nvSpPr>
        <p:spPr>
          <a:xfrm flipV="1">
            <a:off x="5025000" y="3520487"/>
            <a:ext cx="875000" cy="296585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1" name="Line 11"/>
          <p:cNvSpPr/>
          <p:nvPr/>
        </p:nvSpPr>
        <p:spPr>
          <a:xfrm flipV="1">
            <a:off x="5900000" y="3223901"/>
            <a:ext cx="875000" cy="296586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2" name="Line 12"/>
          <p:cNvSpPr/>
          <p:nvPr/>
        </p:nvSpPr>
        <p:spPr>
          <a:xfrm flipV="1">
            <a:off x="6775000" y="2927315"/>
            <a:ext cx="875000" cy="296586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3" name="Line 13"/>
          <p:cNvSpPr/>
          <p:nvPr/>
        </p:nvSpPr>
        <p:spPr>
          <a:xfrm flipV="1">
            <a:off x="650000" y="5240683"/>
            <a:ext cx="875000" cy="59317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4" name="Line 14"/>
          <p:cNvSpPr/>
          <p:nvPr/>
        </p:nvSpPr>
        <p:spPr>
          <a:xfrm flipV="1">
            <a:off x="1525000" y="5062732"/>
            <a:ext cx="875000" cy="177951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5" name="Line 15"/>
          <p:cNvSpPr/>
          <p:nvPr/>
        </p:nvSpPr>
        <p:spPr>
          <a:xfrm flipV="1">
            <a:off x="2400000" y="4766146"/>
            <a:ext cx="875000" cy="296586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6" name="Line 16"/>
          <p:cNvSpPr/>
          <p:nvPr/>
        </p:nvSpPr>
        <p:spPr>
          <a:xfrm flipV="1">
            <a:off x="3275000" y="4350926"/>
            <a:ext cx="875000" cy="415220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7" name="Line 17"/>
          <p:cNvSpPr/>
          <p:nvPr/>
        </p:nvSpPr>
        <p:spPr>
          <a:xfrm flipV="1">
            <a:off x="4150000" y="3817072"/>
            <a:ext cx="875000" cy="533854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8" name="Line 18"/>
          <p:cNvSpPr/>
          <p:nvPr/>
        </p:nvSpPr>
        <p:spPr>
          <a:xfrm flipV="1">
            <a:off x="5025000" y="3164584"/>
            <a:ext cx="875000" cy="652488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9" name="Line 19"/>
          <p:cNvSpPr/>
          <p:nvPr/>
        </p:nvSpPr>
        <p:spPr>
          <a:xfrm flipV="1">
            <a:off x="5900000" y="2393461"/>
            <a:ext cx="875000" cy="771123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20" name="Line 20"/>
          <p:cNvSpPr/>
          <p:nvPr/>
        </p:nvSpPr>
        <p:spPr>
          <a:xfrm flipV="1">
            <a:off x="6775000" y="1503704"/>
            <a:ext cx="875000" cy="889757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21" name="xlabel"/>
          <p:cNvSpPr txBox="1"/>
          <p:nvPr/>
        </p:nvSpPr>
        <p:spPr>
          <a:xfrm>
            <a:off x="2983333" y="535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300" b="0">
                <a:latin typeface="Noto Sans CJK JP"/>
                <a:ea typeface="Noto Sans CJK JP"/>
              </a:rPr>
              <a:t>素子電流 I [A]</a:t>
            </a:r>
            <a:endParaRPr lang="ja-JP" sz="1300"/>
          </a:p>
        </p:txBody>
      </p:sp>
      <p:sp>
        <p:nvSpPr>
          <p:cNvPr id="22" name="ylabel"/>
          <p:cNvSpPr txBox="1"/>
          <p:nvPr/>
        </p:nvSpPr>
        <p:spPr>
          <a:xfrm>
            <a:off x="550000" y="88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300" b="0">
                <a:latin typeface="Noto Sans CJK JP"/>
                <a:ea typeface="Noto Sans CJK JP"/>
              </a:rPr>
              <a:t>導通損失 Pcond [W]</a:t>
            </a:r>
            <a:endParaRPr lang="ja-JP" sz="1300"/>
          </a:p>
        </p:txBody>
      </p:sp>
      <p:sp>
        <p:nvSpPr>
          <p:cNvPr id="23" name="Line 23"/>
          <p:cNvSpPr/>
          <p:nvPr/>
        </p:nvSpPr>
        <p:spPr>
          <a:xfrm>
            <a:off x="5850000" y="1420000"/>
            <a:ext cx="350000" cy="1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24" name="leg"/>
          <p:cNvSpPr txBox="1"/>
          <p:nvPr/>
        </p:nvSpPr>
        <p:spPr>
          <a:xfrm>
            <a:off x="6250000" y="1300000"/>
            <a:ext cx="1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200" b="0">
                <a:latin typeface="Noto Sans CJK JP"/>
                <a:ea typeface="Noto Sans CJK JP"/>
              </a:rPr>
              <a:t>Von=2.0 V</a:t>
            </a:r>
            <a:endParaRPr lang="ja-JP" sz="1200"/>
          </a:p>
        </p:txBody>
      </p:sp>
      <p:sp>
        <p:nvSpPr>
          <p:cNvPr id="25" name="Line 25"/>
          <p:cNvSpPr/>
          <p:nvPr/>
        </p:nvSpPr>
        <p:spPr>
          <a:xfrm>
            <a:off x="5850000" y="1720000"/>
            <a:ext cx="350000" cy="1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26" name="leg"/>
          <p:cNvSpPr txBox="1"/>
          <p:nvPr/>
        </p:nvSpPr>
        <p:spPr>
          <a:xfrm>
            <a:off x="6250000" y="1600000"/>
            <a:ext cx="1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200" b="0">
                <a:latin typeface="Noto Sans CJK JP"/>
                <a:ea typeface="Noto Sans CJK JP"/>
              </a:rPr>
              <a:t>Ron=8.0 mΩ</a:t>
            </a:r>
            <a:endParaRPr lang="ja-JP" sz="1200"/>
          </a:p>
        </p:txBody>
      </p:sp>
      <p:sp>
        <p:nvSpPr>
          <p:cNvPr id="27" name="cond"/>
          <p:cNvSpPr txBox="1"/>
          <p:nvPr/>
        </p:nvSpPr>
        <p:spPr>
          <a:xfrm>
            <a:off x="8100000" y="1300000"/>
            <a:ext cx="3500000" cy="2300000"/>
          </a:xfrm>
          <a:prstGeom prst="rect">
            <a:avLst/>
          </a:prstGeom>
          <a:solidFill>
            <a:srgbClr val="F7F8FA"/>
          </a:solidFill>
          <a:ln w="12700">
            <a:solidFill>
              <a:srgbClr val="B5BDC8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600" b="1">
                <a:latin typeface="Noto Sans CJK JP"/>
                <a:ea typeface="Noto Sans CJK JP"/>
              </a:rPr>
              <a:t>共通条件 D=0.60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/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一定オン電圧モデル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Pcond,A = 1.20 I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/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オン抵抗モデル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Pcond,B = 0.0048 I²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/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交点：I=250 A, P=300 W</a:t>
            </a:r>
            <a:endParaRPr lang="ja-JP" sz="1600"/>
          </a:p>
        </p:txBody>
      </p:sp>
      <p:sp>
        <p:nvSpPr>
          <p:cNvPr id="28" name="exam"/>
          <p:cNvSpPr txBox="1"/>
          <p:nvPr/>
        </p:nvSpPr>
        <p:spPr>
          <a:xfrm>
            <a:off x="8100000" y="3900000"/>
            <a:ext cx="3500000" cy="1500000"/>
          </a:xfrm>
          <a:prstGeom prst="rect">
            <a:avLst/>
          </a:prstGeom>
          <a:solidFill>
            <a:srgbClr val="EEF3F6"/>
          </a:solidFill>
          <a:ln w="12700">
            <a:solidFill>
              <a:srgbClr val="78909F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450" b="0">
                <a:latin typeface="Noto Sans CJK JP"/>
                <a:ea typeface="Noto Sans CJK JP"/>
              </a:rPr>
              <a:t>試験での判断</a:t>
            </a:r>
            <a:endParaRPr lang="ja-JP" sz="1450"/>
          </a:p>
          <a:p>
            <a:pPr algn="l"/>
            <a:r>
              <a:rPr lang="ja-JP" sz="1450" b="0">
                <a:latin typeface="Noto Sans CJK JP"/>
                <a:ea typeface="Noto Sans CJK JP"/>
              </a:rPr>
              <a:t>・Von型かRon型かを先に確認</a:t>
            </a:r>
            <a:endParaRPr lang="ja-JP" sz="1450"/>
          </a:p>
          <a:p>
            <a:pPr algn="l"/>
            <a:r>
              <a:rPr lang="ja-JP" sz="1450" b="0">
                <a:latin typeface="Noto Sans CJK JP"/>
                <a:ea typeface="Noto Sans CJK JP"/>
              </a:rPr>
              <a:t>・通流率Dを二重に掛けない</a:t>
            </a:r>
            <a:endParaRPr lang="ja-JP" sz="1450"/>
          </a:p>
          <a:p>
            <a:pPr algn="l"/>
            <a:r>
              <a:rPr lang="ja-JP" sz="1450" b="0">
                <a:latin typeface="Noto Sans CJK JP"/>
                <a:ea typeface="Noto Sans CJK JP"/>
              </a:rPr>
              <a:t>・逆並列ダイオード区間は別素子として扱う</a:t>
            </a:r>
            <a:endParaRPr lang="ja-JP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50000" y="180000"/>
            <a:ext cx="115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2500" b="1">
                <a:latin typeface="Noto Sans CJK JP"/>
                <a:ea typeface="Noto Sans CJK JP"/>
              </a:rPr>
              <a:t>スイッチング周波数―損失：1回のエネルギー × 回数</a:t>
            </a:r>
            <a:endParaRPr lang="ja-JP" sz="2500"/>
          </a:p>
        </p:txBody>
      </p:sp>
      <p:sp>
        <p:nvSpPr>
          <p:cNvPr id="3" name="Line 3"/>
          <p:cNvSpPr/>
          <p:nvPr/>
        </p:nvSpPr>
        <p:spPr>
          <a:xfrm>
            <a:off x="650000" y="5300000"/>
            <a:ext cx="7000000" cy="1"/>
          </a:xfrm>
          <a:prstGeom prst="line">
            <a:avLst/>
          </a:prstGeom>
          <a:ln w="19050">
            <a:solidFill>
              <a:srgbClr val="4A5568"/>
            </a:solidFill>
          </a:ln>
        </p:spPr>
      </p:sp>
      <p:sp>
        <p:nvSpPr>
          <p:cNvPr id="4" name="Line 4"/>
          <p:cNvSpPr/>
          <p:nvPr/>
        </p:nvSpPr>
        <p:spPr>
          <a:xfrm>
            <a:off x="650000" y="1200000"/>
            <a:ext cx="1" cy="4100000"/>
          </a:xfrm>
          <a:prstGeom prst="line">
            <a:avLst/>
          </a:prstGeom>
          <a:ln w="19050">
            <a:solidFill>
              <a:srgbClr val="4A5568"/>
            </a:solidFill>
          </a:ln>
        </p:spPr>
      </p:sp>
      <p:sp>
        <p:nvSpPr>
          <p:cNvPr id="5" name="Line 5"/>
          <p:cNvSpPr/>
          <p:nvPr/>
        </p:nvSpPr>
        <p:spPr>
          <a:xfrm flipV="1">
            <a:off x="650000" y="5028836"/>
            <a:ext cx="700000" cy="271164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6" name="Line 6"/>
          <p:cNvSpPr/>
          <p:nvPr/>
        </p:nvSpPr>
        <p:spPr>
          <a:xfrm flipV="1">
            <a:off x="1350000" y="4757672"/>
            <a:ext cx="700000" cy="271164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7" name="Line 7"/>
          <p:cNvSpPr/>
          <p:nvPr/>
        </p:nvSpPr>
        <p:spPr>
          <a:xfrm flipV="1">
            <a:off x="2050000" y="4215344"/>
            <a:ext cx="1400000" cy="542328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8" name="Line 8"/>
          <p:cNvSpPr/>
          <p:nvPr/>
        </p:nvSpPr>
        <p:spPr>
          <a:xfrm flipV="1">
            <a:off x="3450000" y="3673016"/>
            <a:ext cx="1400000" cy="542328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9" name="Line 9"/>
          <p:cNvSpPr/>
          <p:nvPr/>
        </p:nvSpPr>
        <p:spPr>
          <a:xfrm flipV="1">
            <a:off x="4850000" y="3130688"/>
            <a:ext cx="1400000" cy="542328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0" name="Line 10"/>
          <p:cNvSpPr/>
          <p:nvPr/>
        </p:nvSpPr>
        <p:spPr>
          <a:xfrm flipV="1">
            <a:off x="6250000" y="2588360"/>
            <a:ext cx="1400000" cy="542328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1" name="Line 11"/>
          <p:cNvSpPr/>
          <p:nvPr/>
        </p:nvSpPr>
        <p:spPr>
          <a:xfrm flipV="1">
            <a:off x="650000" y="3944180"/>
            <a:ext cx="700000" cy="271164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2" name="Line 12"/>
          <p:cNvSpPr/>
          <p:nvPr/>
        </p:nvSpPr>
        <p:spPr>
          <a:xfrm flipV="1">
            <a:off x="1350000" y="3673016"/>
            <a:ext cx="700000" cy="271164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3" name="Line 13"/>
          <p:cNvSpPr/>
          <p:nvPr/>
        </p:nvSpPr>
        <p:spPr>
          <a:xfrm flipV="1">
            <a:off x="2050000" y="3130688"/>
            <a:ext cx="1400000" cy="542328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4" name="Line 14"/>
          <p:cNvSpPr/>
          <p:nvPr/>
        </p:nvSpPr>
        <p:spPr>
          <a:xfrm flipV="1">
            <a:off x="3450000" y="2588360"/>
            <a:ext cx="1400000" cy="542328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5" name="Line 15"/>
          <p:cNvSpPr/>
          <p:nvPr/>
        </p:nvSpPr>
        <p:spPr>
          <a:xfrm flipV="1">
            <a:off x="4850000" y="2046032"/>
            <a:ext cx="1400000" cy="542328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6" name="Line 16"/>
          <p:cNvSpPr/>
          <p:nvPr/>
        </p:nvSpPr>
        <p:spPr>
          <a:xfrm flipV="1">
            <a:off x="6250000" y="1503704"/>
            <a:ext cx="1400000" cy="542328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17" name="xlabel"/>
          <p:cNvSpPr txBox="1"/>
          <p:nvPr/>
        </p:nvSpPr>
        <p:spPr>
          <a:xfrm>
            <a:off x="2983333" y="535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300" b="0">
                <a:latin typeface="Noto Sans CJK JP"/>
                <a:ea typeface="Noto Sans CJK JP"/>
              </a:rPr>
              <a:t>スイッチング周波数 fs [Hz]</a:t>
            </a:r>
            <a:endParaRPr lang="ja-JP" sz="1300"/>
          </a:p>
        </p:txBody>
      </p:sp>
      <p:sp>
        <p:nvSpPr>
          <p:cNvPr id="18" name="ylabel"/>
          <p:cNvSpPr txBox="1"/>
          <p:nvPr/>
        </p:nvSpPr>
        <p:spPr>
          <a:xfrm>
            <a:off x="550000" y="880000"/>
            <a:ext cx="3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300" b="0">
                <a:latin typeface="Noto Sans CJK JP"/>
                <a:ea typeface="Noto Sans CJK JP"/>
              </a:rPr>
              <a:t>損失 [W]</a:t>
            </a:r>
            <a:endParaRPr lang="ja-JP" sz="1300"/>
          </a:p>
        </p:txBody>
      </p:sp>
      <p:sp>
        <p:nvSpPr>
          <p:cNvPr id="19" name="Line 19"/>
          <p:cNvSpPr/>
          <p:nvPr/>
        </p:nvSpPr>
        <p:spPr>
          <a:xfrm>
            <a:off x="5850000" y="1420000"/>
            <a:ext cx="350000" cy="1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20" name="leg"/>
          <p:cNvSpPr txBox="1"/>
          <p:nvPr/>
        </p:nvSpPr>
        <p:spPr>
          <a:xfrm>
            <a:off x="6250000" y="1300000"/>
            <a:ext cx="1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200" b="0">
                <a:latin typeface="Noto Sans CJK JP"/>
                <a:ea typeface="Noto Sans CJK JP"/>
              </a:rPr>
              <a:t>Psw</a:t>
            </a:r>
            <a:endParaRPr lang="ja-JP" sz="1200"/>
          </a:p>
        </p:txBody>
      </p:sp>
      <p:sp>
        <p:nvSpPr>
          <p:cNvPr id="21" name="Line 21"/>
          <p:cNvSpPr/>
          <p:nvPr/>
        </p:nvSpPr>
        <p:spPr>
          <a:xfrm>
            <a:off x="5850000" y="1720000"/>
            <a:ext cx="350000" cy="1"/>
          </a:xfrm>
          <a:prstGeom prst="line">
            <a:avLst/>
          </a:prstGeom>
          <a:ln w="25400">
            <a:solidFill>
              <a:srgbClr val="A16A4A"/>
            </a:solidFill>
          </a:ln>
        </p:spPr>
      </p:sp>
      <p:sp>
        <p:nvSpPr>
          <p:cNvPr id="22" name="leg"/>
          <p:cNvSpPr txBox="1"/>
          <p:nvPr/>
        </p:nvSpPr>
        <p:spPr>
          <a:xfrm>
            <a:off x="6250000" y="1600000"/>
            <a:ext cx="1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200" b="0">
                <a:latin typeface="Noto Sans CJK JP"/>
                <a:ea typeface="Noto Sans CJK JP"/>
              </a:rPr>
              <a:t>Ptotal</a:t>
            </a:r>
            <a:endParaRPr lang="ja-JP" sz="1200"/>
          </a:p>
        </p:txBody>
      </p:sp>
      <p:sp>
        <p:nvSpPr>
          <p:cNvPr id="23" name="cond"/>
          <p:cNvSpPr txBox="1"/>
          <p:nvPr/>
        </p:nvSpPr>
        <p:spPr>
          <a:xfrm>
            <a:off x="8100000" y="1250000"/>
            <a:ext cx="3500000" cy="1900000"/>
          </a:xfrm>
          <a:prstGeom prst="rect">
            <a:avLst/>
          </a:prstGeom>
          <a:solidFill>
            <a:srgbClr val="F7F8FA"/>
          </a:solidFill>
          <a:ln w="12700">
            <a:solidFill>
              <a:srgbClr val="B5BDC8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600" b="1">
                <a:latin typeface="Noto Sans CJK JP"/>
                <a:ea typeface="Noto Sans CJK JP"/>
              </a:rPr>
              <a:t>共通条件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Eon+Eoff = 0.12 J/回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Pcond = 240 W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/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Psw = 0.12 fs</a:t>
            </a:r>
            <a:endParaRPr lang="ja-JP" sz="1600"/>
          </a:p>
          <a:p>
            <a:pPr algn="l"/>
            <a:r>
              <a:rPr lang="ja-JP" sz="1600" b="1">
                <a:latin typeface="Noto Sans CJK JP"/>
                <a:ea typeface="Noto Sans CJK JP"/>
              </a:rPr>
              <a:t>Ptotal = 240 + 0.12 fs</a:t>
            </a:r>
            <a:endParaRPr lang="ja-JP" sz="1600"/>
          </a:p>
        </p:txBody>
      </p:sp>
      <p:sp>
        <p:nvSpPr>
          <p:cNvPr id="24" name="thermal"/>
          <p:cNvSpPr txBox="1"/>
          <p:nvPr/>
        </p:nvSpPr>
        <p:spPr>
          <a:xfrm>
            <a:off x="8100000" y="3450000"/>
            <a:ext cx="3500000" cy="2050000"/>
          </a:xfrm>
          <a:prstGeom prst="rect">
            <a:avLst/>
          </a:prstGeom>
          <a:solidFill>
            <a:srgbClr val="EEF3F6"/>
          </a:solidFill>
          <a:ln w="12700">
            <a:solidFill>
              <a:srgbClr val="78909F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400" b="0">
                <a:latin typeface="Noto Sans CJK JP"/>
                <a:ea typeface="Noto Sans CJK JP"/>
              </a:rPr>
              <a:t>熱・冷却への接続</a:t>
            </a:r>
            <a:endParaRPr lang="ja-JP" sz="1400"/>
          </a:p>
          <a:p>
            <a:pPr algn="l"/>
            <a:r>
              <a:rPr lang="ja-JP" sz="1400" b="0">
                <a:latin typeface="Noto Sans CJK JP"/>
                <a:ea typeface="Noto Sans CJK JP"/>
              </a:rPr>
              <a:t>Tj = Ta + Ploss Rθ</a:t>
            </a:r>
            <a:endParaRPr lang="ja-JP" sz="1400"/>
          </a:p>
          <a:p>
            <a:pPr algn="l"/>
            <a:r>
              <a:rPr lang="ja-JP" sz="1400" b="0">
                <a:latin typeface="Noto Sans CJK JP"/>
                <a:ea typeface="Noto Sans CJK JP"/>
              </a:rPr>
              <a:t>Rθを下げる → 同じ損失でも温度上昇を抑制</a:t>
            </a:r>
            <a:endParaRPr lang="ja-JP" sz="1400"/>
          </a:p>
          <a:p>
            <a:pPr algn="l"/>
            <a:r>
              <a:rPr lang="ja-JP" sz="1400" b="0">
                <a:latin typeface="Noto Sans CJK JP"/>
                <a:ea typeface="Noto Sans CJK JP"/>
              </a:rPr>
              <a:t/>
            </a:r>
            <a:endParaRPr lang="ja-JP" sz="1400"/>
          </a:p>
          <a:p>
            <a:pPr algn="l"/>
            <a:r>
              <a:rPr lang="ja-JP" sz="1400" b="0">
                <a:latin typeface="Noto Sans CJK JP"/>
                <a:ea typeface="Noto Sans CJK JP"/>
              </a:rPr>
              <a:t>ソフトスイッチング</a:t>
            </a:r>
            <a:endParaRPr lang="ja-JP" sz="1400"/>
          </a:p>
          <a:p>
            <a:pPr algn="l"/>
            <a:r>
              <a:rPr lang="ja-JP" sz="1400" b="0">
                <a:latin typeface="Noto Sans CJK JP"/>
                <a:ea typeface="Noto Sans CJK JP"/>
              </a:rPr>
              <a:t>切替中の v(t)i(t) 重なり面積を小さくし、Eon/Eoffを低減</a:t>
            </a:r>
            <a:endParaRPr lang="ja-JP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50000" y="180000"/>
            <a:ext cx="115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2500" b="1">
                <a:latin typeface="Noto Sans CJK JP"/>
                <a:ea typeface="Noto Sans CJK JP"/>
              </a:rPr>
              <a:t>出力―変換効率と二次試験への接続</a:t>
            </a:r>
            <a:endParaRPr lang="ja-JP" sz="2500"/>
          </a:p>
        </p:txBody>
      </p:sp>
      <p:sp>
        <p:nvSpPr>
          <p:cNvPr id="3" name="Line 3"/>
          <p:cNvSpPr/>
          <p:nvPr/>
        </p:nvSpPr>
        <p:spPr>
          <a:xfrm>
            <a:off x="650000" y="5000000"/>
            <a:ext cx="6500000" cy="1"/>
          </a:xfrm>
          <a:prstGeom prst="line">
            <a:avLst/>
          </a:prstGeom>
          <a:ln w="19050">
            <a:solidFill>
              <a:srgbClr val="4A5568"/>
            </a:solidFill>
          </a:ln>
        </p:spPr>
      </p:sp>
      <p:sp>
        <p:nvSpPr>
          <p:cNvPr id="4" name="Line 4"/>
          <p:cNvSpPr/>
          <p:nvPr/>
        </p:nvSpPr>
        <p:spPr>
          <a:xfrm>
            <a:off x="650000" y="1200000"/>
            <a:ext cx="1" cy="3800000"/>
          </a:xfrm>
          <a:prstGeom prst="line">
            <a:avLst/>
          </a:prstGeom>
          <a:ln w="19050">
            <a:solidFill>
              <a:srgbClr val="4A5568"/>
            </a:solidFill>
          </a:ln>
        </p:spPr>
      </p:sp>
      <p:sp>
        <p:nvSpPr>
          <p:cNvPr id="5" name="Line 5"/>
          <p:cNvSpPr/>
          <p:nvPr/>
        </p:nvSpPr>
        <p:spPr>
          <a:xfrm flipV="1">
            <a:off x="650000" y="2925493"/>
            <a:ext cx="722222" cy="1775709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6" name="Line 6"/>
          <p:cNvSpPr/>
          <p:nvPr/>
        </p:nvSpPr>
        <p:spPr>
          <a:xfrm flipV="1">
            <a:off x="1372222" y="2331701"/>
            <a:ext cx="722222" cy="593792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7" name="Line 7"/>
          <p:cNvSpPr/>
          <p:nvPr/>
        </p:nvSpPr>
        <p:spPr>
          <a:xfrm flipV="1">
            <a:off x="2094444" y="2034450"/>
            <a:ext cx="722222" cy="297251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8" name="Line 8"/>
          <p:cNvSpPr/>
          <p:nvPr/>
        </p:nvSpPr>
        <p:spPr>
          <a:xfrm flipV="1">
            <a:off x="2816666" y="1736961"/>
            <a:ext cx="1444445" cy="297489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9" name="Line 9"/>
          <p:cNvSpPr/>
          <p:nvPr/>
        </p:nvSpPr>
        <p:spPr>
          <a:xfrm flipV="1">
            <a:off x="4261111" y="1588128"/>
            <a:ext cx="1444444" cy="148833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0" name="Line 10"/>
          <p:cNvSpPr/>
          <p:nvPr/>
        </p:nvSpPr>
        <p:spPr>
          <a:xfrm flipV="1">
            <a:off x="5705555" y="1498799"/>
            <a:ext cx="1444445" cy="89329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1" name="xlabel"/>
          <p:cNvSpPr txBox="1"/>
          <p:nvPr/>
        </p:nvSpPr>
        <p:spPr>
          <a:xfrm>
            <a:off x="2816666" y="5050000"/>
            <a:ext cx="32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300" b="0">
                <a:latin typeface="Noto Sans CJK JP"/>
                <a:ea typeface="Noto Sans CJK JP"/>
              </a:rPr>
              <a:t>出力 Pout [kW]</a:t>
            </a:r>
            <a:endParaRPr lang="ja-JP" sz="1300"/>
          </a:p>
        </p:txBody>
      </p:sp>
      <p:sp>
        <p:nvSpPr>
          <p:cNvPr id="12" name="ylabel"/>
          <p:cNvSpPr txBox="1"/>
          <p:nvPr/>
        </p:nvSpPr>
        <p:spPr>
          <a:xfrm>
            <a:off x="550000" y="880000"/>
            <a:ext cx="32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300" b="0">
                <a:latin typeface="Noto Sans CJK JP"/>
                <a:ea typeface="Noto Sans CJK JP"/>
              </a:rPr>
              <a:t>変換効率 η [%]</a:t>
            </a:r>
            <a:endParaRPr lang="ja-JP" sz="1300"/>
          </a:p>
        </p:txBody>
      </p:sp>
      <p:sp>
        <p:nvSpPr>
          <p:cNvPr id="13" name="Line 13"/>
          <p:cNvSpPr/>
          <p:nvPr/>
        </p:nvSpPr>
        <p:spPr>
          <a:xfrm>
            <a:off x="5350000" y="1420000"/>
            <a:ext cx="350000" cy="1"/>
          </a:xfrm>
          <a:prstGeom prst="line">
            <a:avLst/>
          </a:prstGeom>
          <a:ln w="25400">
            <a:solidFill>
              <a:srgbClr val="3F6D8A"/>
            </a:solidFill>
          </a:ln>
        </p:spPr>
      </p:sp>
      <p:sp>
        <p:nvSpPr>
          <p:cNvPr id="14" name="leg"/>
          <p:cNvSpPr txBox="1"/>
          <p:nvPr/>
        </p:nvSpPr>
        <p:spPr>
          <a:xfrm>
            <a:off x="5750000" y="1300000"/>
            <a:ext cx="13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/>
          <a:lstStyle/>
          <a:p>
            <a:pPr algn="l"/>
            <a:r>
              <a:rPr lang="ja-JP" sz="1200" b="0">
                <a:latin typeface="Noto Sans CJK JP"/>
                <a:ea typeface="Noto Sans CJK JP"/>
              </a:rPr>
              <a:t>η</a:t>
            </a:r>
            <a:endParaRPr lang="ja-JP" sz="1200"/>
          </a:p>
        </p:txBody>
      </p:sp>
      <p:sp>
        <p:nvSpPr>
          <p:cNvPr id="15" name="model"/>
          <p:cNvSpPr txBox="1"/>
          <p:nvPr/>
        </p:nvSpPr>
        <p:spPr>
          <a:xfrm>
            <a:off x="7600000" y="1150000"/>
            <a:ext cx="4100000" cy="1900000"/>
          </a:xfrm>
          <a:prstGeom prst="rect">
            <a:avLst/>
          </a:prstGeom>
          <a:solidFill>
            <a:srgbClr val="F7F8FA"/>
          </a:solidFill>
          <a:ln w="12700">
            <a:solidFill>
              <a:srgbClr val="B5BDC8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450" b="1">
                <a:latin typeface="Noto Sans CJK JP"/>
                <a:ea typeface="Noto Sans CJK JP"/>
              </a:rPr>
              <a:t>一般仮定モデル</a:t>
            </a:r>
            <a:endParaRPr lang="ja-JP" sz="1450"/>
          </a:p>
          <a:p>
            <a:pPr algn="l"/>
            <a:r>
              <a:rPr lang="ja-JP" sz="1450" b="1">
                <a:latin typeface="Noto Sans CJK JP"/>
                <a:ea typeface="Noto Sans CJK JP"/>
              </a:rPr>
              <a:t>V=1000 V, D=0.60, Von=2.0 V</a:t>
            </a:r>
            <a:endParaRPr lang="ja-JP" sz="1450"/>
          </a:p>
          <a:p>
            <a:pPr algn="l"/>
            <a:r>
              <a:rPr lang="ja-JP" sz="1450" b="1">
                <a:latin typeface="Noto Sans CJK JP"/>
                <a:ea typeface="Noto Sans CJK JP"/>
              </a:rPr>
              <a:t>fs=2.0 kHz, Eon+Eoff=0.12 J</a:t>
            </a:r>
            <a:endParaRPr lang="ja-JP" sz="1450"/>
          </a:p>
          <a:p>
            <a:pPr algn="l"/>
            <a:r>
              <a:rPr lang="ja-JP" sz="1450" b="1">
                <a:latin typeface="Noto Sans CJK JP"/>
                <a:ea typeface="Noto Sans CJK JP"/>
              </a:rPr>
              <a:t>I=Pout/V, Psw=240 W</a:t>
            </a:r>
            <a:endParaRPr lang="ja-JP" sz="1450"/>
          </a:p>
          <a:p>
            <a:pPr algn="l"/>
            <a:r>
              <a:rPr lang="ja-JP" sz="1450" b="1">
                <a:latin typeface="Noto Sans CJK JP"/>
                <a:ea typeface="Noto Sans CJK JP"/>
              </a:rPr>
              <a:t>η=Pout/(Pout+Ploss)</a:t>
            </a:r>
            <a:endParaRPr lang="ja-JP" sz="1450"/>
          </a:p>
          <a:p>
            <a:pPr algn="l"/>
            <a:r>
              <a:rPr lang="ja-JP" sz="1450" b="1">
                <a:latin typeface="Noto Sans CJK JP"/>
                <a:ea typeface="Noto Sans CJK JP"/>
              </a:rPr>
              <a:t>※実車効率曲線ではない</a:t>
            </a:r>
            <a:endParaRPr lang="ja-JP" sz="1450"/>
          </a:p>
        </p:txBody>
      </p:sp>
      <p:sp>
        <p:nvSpPr>
          <p:cNvPr id="16" name="secondary"/>
          <p:cNvSpPr txBox="1"/>
          <p:nvPr/>
        </p:nvSpPr>
        <p:spPr>
          <a:xfrm>
            <a:off x="7600000" y="3350000"/>
            <a:ext cx="4100000" cy="2200000"/>
          </a:xfrm>
          <a:prstGeom prst="rect">
            <a:avLst/>
          </a:prstGeom>
          <a:solidFill>
            <a:srgbClr val="EEF3F6"/>
          </a:solidFill>
          <a:ln w="12700">
            <a:solidFill>
              <a:srgbClr val="78909F"/>
            </a:solidFill>
          </a:ln>
        </p:spPr>
        <p:txBody>
          <a:bodyPr wrap="square" lIns="91440" rIns="91440" tIns="45720" bIns="45720"/>
          <a:lstStyle/>
          <a:p>
            <a:pPr algn="l"/>
            <a:r>
              <a:rPr lang="ja-JP" sz="1350" b="0">
                <a:latin typeface="Noto Sans CJK JP"/>
                <a:ea typeface="Noto Sans CJK JP"/>
              </a:rPr>
              <a:t>H24二次型：可逆チョッパ</a:t>
            </a:r>
            <a:endParaRPr lang="ja-JP" sz="1350"/>
          </a:p>
          <a:p>
            <a:pPr algn="l"/>
            <a:r>
              <a:rPr lang="ja-JP" sz="1350" b="0">
                <a:latin typeface="Noto Sans CJK JP"/>
                <a:ea typeface="Noto Sans CJK JP"/>
              </a:rPr>
              <a:t>1 電流方向を決める</a:t>
            </a:r>
            <a:endParaRPr lang="ja-JP" sz="1350"/>
          </a:p>
          <a:p>
            <a:pPr algn="l"/>
            <a:r>
              <a:rPr lang="ja-JP" sz="1350" b="0">
                <a:latin typeface="Noto Sans CJK JP"/>
                <a:ea typeface="Noto Sans CJK JP"/>
              </a:rPr>
              <a:t>2 通流するIGBT/ダイオードを決める</a:t>
            </a:r>
            <a:endParaRPr lang="ja-JP" sz="1350"/>
          </a:p>
          <a:p>
            <a:pPr algn="l"/>
            <a:r>
              <a:rPr lang="ja-JP" sz="1350" b="0">
                <a:latin typeface="Noto Sans CJK JP"/>
                <a:ea typeface="Noto Sans CJK JP"/>
              </a:rPr>
              <a:t>3 電圧降下を含め Vstate1, Vstate2</a:t>
            </a:r>
            <a:endParaRPr lang="ja-JP" sz="1350"/>
          </a:p>
          <a:p>
            <a:pPr algn="l"/>
            <a:r>
              <a:rPr lang="ja-JP" sz="1350" b="0">
                <a:latin typeface="Noto Sans CJK JP"/>
                <a:ea typeface="Noto Sans CJK JP"/>
              </a:rPr>
              <a:t>4 Va = D Vstate1 + (1−D)Vstate2</a:t>
            </a:r>
            <a:endParaRPr lang="ja-JP" sz="1350"/>
          </a:p>
          <a:p>
            <a:pPr algn="l"/>
            <a:r>
              <a:rPr lang="ja-JP" sz="1350" b="0">
                <a:latin typeface="Noto Sans CJK JP"/>
                <a:ea typeface="Noto Sans CJK JP"/>
              </a:rPr>
              <a:t>5 直流機側 E+RaIa と接続</a:t>
            </a:r>
            <a:endParaRPr lang="ja-JP" sz="1350"/>
          </a:p>
          <a:p>
            <a:pPr algn="l"/>
            <a:r>
              <a:rPr lang="ja-JP" sz="1350" b="0">
                <a:latin typeface="Noto Sans CJK JP"/>
                <a:ea typeface="Noto Sans CJK JP"/>
              </a:rPr>
              <a:t>6 0≤D≤1 から速度範囲を判定</a:t>
            </a:r>
            <a:endParaRPr lang="ja-JP" sz="1350"/>
          </a:p>
          <a:p>
            <a:pPr algn="l"/>
            <a:r>
              <a:rPr lang="ja-JP" sz="1350" b="0">
                <a:latin typeface="Noto Sans CJK JP"/>
                <a:ea typeface="Noto Sans CJK JP"/>
              </a:rPr>
              <a:t/>
            </a:r>
            <a:endParaRPr lang="ja-JP" sz="1350"/>
          </a:p>
          <a:p>
            <a:pPr algn="l"/>
            <a:r>
              <a:rPr lang="ja-JP" sz="1350" b="0">
                <a:latin typeface="Noto Sans CJK JP"/>
                <a:ea typeface="Noto Sans CJK JP"/>
              </a:rPr>
              <a:t>「損失無視」の指定はそのまま守る。</a:t>
            </a:r>
            <a:endParaRPr lang="ja-JP" sz="1350"/>
          </a:p>
        </p:txBody>
      </p:sp>
    </p:spTree>
  </p:cSld>
  <p:clrMapOvr>
    <a:masterClrMapping/>
  </p:clrMapOvr>
</p:sld>
</file>