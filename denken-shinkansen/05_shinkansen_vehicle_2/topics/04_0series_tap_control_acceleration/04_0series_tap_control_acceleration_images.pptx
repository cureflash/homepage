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162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698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CJK JP"/>
              </a:rPr>
              <a:t>タップ切替：主回路電圧を段階的に上げる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Noto Sans CJK JP"/>
              </a:rPr>
              <a:t>1/4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4965192"/>
            <a:ext cx="6583680" cy="0"/>
          </a:xfrm>
          <a:prstGeom prst="line">
            <a:avLst/>
          </a:prstGeom>
          <a:ln w="12700">
            <a:solidFill>
              <a:srgbClr val="5C66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8368" y="1170432"/>
            <a:ext cx="0" cy="3794760"/>
          </a:xfrm>
          <a:prstGeom prst="line">
            <a:avLst/>
          </a:prstGeom>
          <a:ln w="12700">
            <a:solidFill>
              <a:srgbClr val="5C66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58368" y="4206240"/>
            <a:ext cx="6583680" cy="0"/>
          </a:xfrm>
          <a:prstGeom prst="line">
            <a:avLst/>
          </a:prstGeom>
          <a:ln w="8890">
            <a:solidFill>
              <a:srgbClr val="E1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975104" y="1170432"/>
            <a:ext cx="0" cy="3794760"/>
          </a:xfrm>
          <a:prstGeom prst="line">
            <a:avLst/>
          </a:prstGeom>
          <a:ln w="8890">
            <a:solidFill>
              <a:srgbClr val="E1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8368" y="3447288"/>
            <a:ext cx="6583680" cy="0"/>
          </a:xfrm>
          <a:prstGeom prst="line">
            <a:avLst/>
          </a:prstGeom>
          <a:ln w="8890">
            <a:solidFill>
              <a:srgbClr val="E1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91839" y="1170432"/>
            <a:ext cx="0" cy="3794760"/>
          </a:xfrm>
          <a:prstGeom prst="line">
            <a:avLst/>
          </a:prstGeom>
          <a:ln w="8890">
            <a:solidFill>
              <a:srgbClr val="E1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" y="2688336"/>
            <a:ext cx="6583680" cy="0"/>
          </a:xfrm>
          <a:prstGeom prst="line">
            <a:avLst/>
          </a:prstGeom>
          <a:ln w="8890">
            <a:solidFill>
              <a:srgbClr val="E1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08576" y="1170432"/>
            <a:ext cx="0" cy="3794760"/>
          </a:xfrm>
          <a:prstGeom prst="line">
            <a:avLst/>
          </a:prstGeom>
          <a:ln w="8890">
            <a:solidFill>
              <a:srgbClr val="E1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8" y="1929384"/>
            <a:ext cx="6583680" cy="0"/>
          </a:xfrm>
          <a:prstGeom prst="line">
            <a:avLst/>
          </a:prstGeom>
          <a:ln w="8890">
            <a:solidFill>
              <a:srgbClr val="E1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25312" y="1170432"/>
            <a:ext cx="0" cy="3794760"/>
          </a:xfrm>
          <a:prstGeom prst="line">
            <a:avLst/>
          </a:prstGeom>
          <a:ln w="8890">
            <a:solidFill>
              <a:srgbClr val="E1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04288" y="512064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3282F"/>
                </a:solidFill>
                <a:latin typeface="Noto Sans CJK JP"/>
              </a:rPr>
              <a:t>時間または切替段（模式）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1124712"/>
            <a:ext cx="347472" cy="3886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3282F"/>
                </a:solidFill>
                <a:latin typeface="Noto Sans CJK JP"/>
              </a:rPr>
              <a:t>主回路電圧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" y="4204716"/>
            <a:ext cx="347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3282F"/>
                </a:solidFill>
                <a:latin typeface="Noto Sans CJK JP"/>
              </a:rPr>
              <a:t>V₁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" y="2939796"/>
            <a:ext cx="347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3282F"/>
                </a:solidFill>
                <a:latin typeface="Noto Sans CJK JP"/>
              </a:rPr>
              <a:t>V₂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" y="1674876"/>
            <a:ext cx="347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3282F"/>
                </a:solidFill>
                <a:latin typeface="Noto Sans CJK JP"/>
              </a:rPr>
              <a:t>V₃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4332732"/>
            <a:ext cx="1645920" cy="0"/>
          </a:xfrm>
          <a:prstGeom prst="line">
            <a:avLst/>
          </a:prstGeom>
          <a:ln w="38100">
            <a:solidFill>
              <a:srgbClr val="2D7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304288" y="3067812"/>
            <a:ext cx="0" cy="1264920"/>
          </a:xfrm>
          <a:prstGeom prst="line">
            <a:avLst/>
          </a:prstGeom>
          <a:ln w="38100">
            <a:solidFill>
              <a:srgbClr val="2D7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304288" y="3067812"/>
            <a:ext cx="1645920" cy="0"/>
          </a:xfrm>
          <a:prstGeom prst="line">
            <a:avLst/>
          </a:prstGeom>
          <a:ln w="38100">
            <a:solidFill>
              <a:srgbClr val="2D7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950208" y="1802892"/>
            <a:ext cx="0" cy="1264920"/>
          </a:xfrm>
          <a:prstGeom prst="line">
            <a:avLst/>
          </a:prstGeom>
          <a:ln w="38100">
            <a:solidFill>
              <a:srgbClr val="2D7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950208" y="1802892"/>
            <a:ext cx="3291840" cy="0"/>
          </a:xfrm>
          <a:prstGeom prst="line">
            <a:avLst/>
          </a:prstGeom>
          <a:ln w="38100">
            <a:solidFill>
              <a:srgbClr val="2D7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78408" y="501091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3282F"/>
                </a:solidFill>
                <a:latin typeface="Noto Sans CJK JP"/>
              </a:rPr>
              <a:t>加速区間1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24328" y="501091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3282F"/>
                </a:solidFill>
                <a:latin typeface="Noto Sans CJK JP"/>
              </a:rPr>
              <a:t>切替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52544" y="501091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3282F"/>
                </a:solidFill>
                <a:latin typeface="Noto Sans CJK JP"/>
              </a:rPr>
              <a:t>加速区間2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98464" y="501091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3282F"/>
                </a:solidFill>
                <a:latin typeface="Noto Sans CJK JP"/>
              </a:rPr>
              <a:t>次段へ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82127" y="1042415"/>
            <a:ext cx="379476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5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0" y="123444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2C4D"/>
                </a:solidFill>
                <a:latin typeface="Noto Sans CJK JP"/>
              </a:rPr>
              <a:t>電流制限の基本式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1664208"/>
            <a:ext cx="3246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23282F"/>
                </a:solidFill>
                <a:latin typeface="Noto Sans CJK JP"/>
              </a:rPr>
              <a:t>Vₐ = E + IₐRₐ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2057400"/>
            <a:ext cx="3246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23282F"/>
                </a:solidFill>
                <a:latin typeface="Noto Sans CJK JP"/>
              </a:rPr>
              <a:t>Iₐ = (Vₐ − E) / Rₐ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2450592"/>
            <a:ext cx="3246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23282F"/>
                </a:solidFill>
                <a:latin typeface="Noto Sans CJK JP"/>
              </a:rPr>
              <a:t>E = kₑ Φω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3568" y="3154680"/>
            <a:ext cx="35661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82F"/>
                </a:solidFill>
                <a:latin typeface="Noto Sans CJK JP"/>
              </a:rPr>
              <a:t>低い電圧段で起動 → 速度上昇 → 逆起電力 E が増加 → 電流が低下 → 次の電圧段へ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82127" y="4480560"/>
            <a:ext cx="3794760" cy="1161288"/>
          </a:xfrm>
          <a:prstGeom prst="roundRect">
            <a:avLst/>
          </a:prstGeom>
          <a:solidFill>
            <a:srgbClr val="FAF5EF"/>
          </a:solidFill>
          <a:ln>
            <a:solidFill>
              <a:srgbClr val="E2C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461772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B5D35"/>
                </a:solidFill>
                <a:latin typeface="Noto Sans CJK JP"/>
              </a:rPr>
              <a:t>一次試験への接続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4956048"/>
            <a:ext cx="3246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82F"/>
                </a:solidFill>
                <a:latin typeface="Noto Sans CJK JP"/>
              </a:rPr>
              <a:t>H28 機械 問1：停止時 E=0、始動電流、速度上昇後の電流低下を式から判定。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089904"/>
            <a:ext cx="65836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671"/>
                </a:solidFill>
                <a:latin typeface="Noto Sans CJK JP"/>
              </a:rPr>
              <a:t>模式図。0系の実タップ段数・各段電圧ではない。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6473952"/>
            <a:ext cx="7132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C6671"/>
                </a:solidFill>
                <a:latin typeface="Noto Sans CJK JP"/>
              </a:rPr>
              <a:t>対応: H28一次 機械 問1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6473952"/>
            <a:ext cx="42519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C6671"/>
                </a:solidFill>
                <a:latin typeface="Noto Sans CJK JP"/>
              </a:rPr>
              <a:t>Topic 04  0系④ タップ制御と加速特性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162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698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CJK JP"/>
              </a:rPr>
              <a:t>電圧段と速度―トルク特性：動作点が上側へ移る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Noto Sans CJK JP"/>
              </a:rPr>
              <a:t>2/4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4965192"/>
            <a:ext cx="6583680" cy="0"/>
          </a:xfrm>
          <a:prstGeom prst="line">
            <a:avLst/>
          </a:prstGeom>
          <a:ln w="12700">
            <a:solidFill>
              <a:srgbClr val="5C66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8368" y="1170432"/>
            <a:ext cx="0" cy="3794760"/>
          </a:xfrm>
          <a:prstGeom prst="line">
            <a:avLst/>
          </a:prstGeom>
          <a:ln w="12700">
            <a:solidFill>
              <a:srgbClr val="5C66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58368" y="4206240"/>
            <a:ext cx="6583680" cy="0"/>
          </a:xfrm>
          <a:prstGeom prst="line">
            <a:avLst/>
          </a:prstGeom>
          <a:ln w="8890">
            <a:solidFill>
              <a:srgbClr val="E1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975104" y="1170432"/>
            <a:ext cx="0" cy="3794760"/>
          </a:xfrm>
          <a:prstGeom prst="line">
            <a:avLst/>
          </a:prstGeom>
          <a:ln w="8890">
            <a:solidFill>
              <a:srgbClr val="E1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8368" y="3447288"/>
            <a:ext cx="6583680" cy="0"/>
          </a:xfrm>
          <a:prstGeom prst="line">
            <a:avLst/>
          </a:prstGeom>
          <a:ln w="8890">
            <a:solidFill>
              <a:srgbClr val="E1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91839" y="1170432"/>
            <a:ext cx="0" cy="3794760"/>
          </a:xfrm>
          <a:prstGeom prst="line">
            <a:avLst/>
          </a:prstGeom>
          <a:ln w="8890">
            <a:solidFill>
              <a:srgbClr val="E1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" y="2688336"/>
            <a:ext cx="6583680" cy="0"/>
          </a:xfrm>
          <a:prstGeom prst="line">
            <a:avLst/>
          </a:prstGeom>
          <a:ln w="8890">
            <a:solidFill>
              <a:srgbClr val="E1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08576" y="1170432"/>
            <a:ext cx="0" cy="3794760"/>
          </a:xfrm>
          <a:prstGeom prst="line">
            <a:avLst/>
          </a:prstGeom>
          <a:ln w="8890">
            <a:solidFill>
              <a:srgbClr val="E1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8" y="1929384"/>
            <a:ext cx="6583680" cy="0"/>
          </a:xfrm>
          <a:prstGeom prst="line">
            <a:avLst/>
          </a:prstGeom>
          <a:ln w="8890">
            <a:solidFill>
              <a:srgbClr val="E1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25312" y="1170432"/>
            <a:ext cx="0" cy="3794760"/>
          </a:xfrm>
          <a:prstGeom prst="line">
            <a:avLst/>
          </a:prstGeom>
          <a:ln w="8890">
            <a:solidFill>
              <a:srgbClr val="E1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04288" y="512064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3282F"/>
                </a:solidFill>
                <a:latin typeface="Noto Sans CJK JP"/>
              </a:rPr>
              <a:t>トルク T（正規化）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1124712"/>
            <a:ext cx="347472" cy="3886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3282F"/>
                </a:solidFill>
                <a:latin typeface="Noto Sans CJK JP"/>
              </a:rPr>
              <a:t>回転速度 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" y="3013601"/>
            <a:ext cx="6583680" cy="1409482"/>
          </a:xfrm>
          <a:prstGeom prst="line">
            <a:avLst/>
          </a:prstGeom>
          <a:ln w="31750">
            <a:solidFill>
              <a:srgbClr val="2D7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150608" y="4130475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D73AA"/>
                </a:solidFill>
                <a:latin typeface="Noto Sans CJK JP"/>
              </a:rPr>
              <a:t>V₁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" y="2254649"/>
            <a:ext cx="6583680" cy="1409482"/>
          </a:xfrm>
          <a:prstGeom prst="line">
            <a:avLst/>
          </a:prstGeom>
          <a:ln w="31750">
            <a:solidFill>
              <a:srgbClr val="D17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50608" y="3371523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1772A"/>
                </a:solidFill>
                <a:latin typeface="Noto Sans CJK JP"/>
              </a:rPr>
              <a:t>V₂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8368" y="1495697"/>
            <a:ext cx="6583680" cy="1409482"/>
          </a:xfrm>
          <a:prstGeom prst="line">
            <a:avLst/>
          </a:prstGeom>
          <a:ln w="31750">
            <a:solidFill>
              <a:srgbClr val="339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150608" y="2612571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944B"/>
                </a:solidFill>
                <a:latin typeface="Noto Sans CJK JP"/>
              </a:rPr>
              <a:t>V₃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7200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3282F"/>
                </a:solidFill>
                <a:latin typeface="Noto Sans CJK JP"/>
              </a:rPr>
              <a:t>一定磁束の局所近似（模式図）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82127" y="1042415"/>
            <a:ext cx="379476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5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123444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2C4D"/>
                </a:solidFill>
                <a:latin typeface="Noto Sans CJK JP"/>
              </a:rPr>
              <a:t>一定磁束の局所近似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1664208"/>
            <a:ext cx="3246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23282F"/>
                </a:solidFill>
                <a:latin typeface="Noto Sans CJK JP"/>
              </a:rPr>
              <a:t>E = K_E 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057400"/>
            <a:ext cx="3246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23282F"/>
                </a:solidFill>
                <a:latin typeface="Noto Sans CJK JP"/>
              </a:rPr>
              <a:t>T = K_T Iₐ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2450592"/>
            <a:ext cx="3246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23282F"/>
                </a:solidFill>
                <a:latin typeface="Noto Sans CJK JP"/>
              </a:rPr>
              <a:t>ω = Vₐ/K_E − {Rₐ/(K_E K_T)}T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8" y="3163824"/>
            <a:ext cx="3566160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82F"/>
                </a:solidFill>
                <a:latin typeface="Noto Sans CJK JP"/>
              </a:rPr>
              <a:t>同じ Rₐ・磁束なら、Vₐ が高いほど速度―トルク曲線は上側へ移る。負荷条件との交点が動作点。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82127" y="4480560"/>
            <a:ext cx="3794760" cy="1161288"/>
          </a:xfrm>
          <a:prstGeom prst="roundRect">
            <a:avLst/>
          </a:prstGeom>
          <a:solidFill>
            <a:srgbClr val="EFF7F9"/>
          </a:solidFill>
          <a:ln>
            <a:solidFill>
              <a:srgbClr val="B9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461772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73AA"/>
                </a:solidFill>
                <a:latin typeface="Noto Sans CJK JP"/>
              </a:rPr>
              <a:t>二次答案への接続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956048"/>
            <a:ext cx="3246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82F"/>
                </a:solidFill>
                <a:latin typeface="Noto Sans CJK JP"/>
              </a:rPr>
              <a:t>H24 機械・制御 問1：E₁ → E₂ → Iₐ₂ → V₂ の順で必要端子電圧を逆算。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089904"/>
            <a:ext cx="6675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671"/>
                </a:solidFill>
                <a:latin typeface="Noto Sans CJK JP"/>
              </a:rPr>
              <a:t>一定磁束の局所近似。直巻電動機の全速度域実特性ではない。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473952"/>
            <a:ext cx="7132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C6671"/>
                </a:solidFill>
                <a:latin typeface="Noto Sans CJK JP"/>
              </a:rPr>
              <a:t>対応: H24二次 機械・制御 問1（固定範囲）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6473952"/>
            <a:ext cx="42519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C6671"/>
                </a:solidFill>
                <a:latin typeface="Noto Sans CJK JP"/>
              </a:rPr>
              <a:t>Topic 04  0系④ タップ制御と加速特性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162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698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CJK JP"/>
              </a:rPr>
              <a:t>速度―けん引力：同一段で低下、電圧段を上げると回復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Noto Sans CJK JP"/>
              </a:rPr>
              <a:t>3/4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4965192"/>
            <a:ext cx="6583680" cy="0"/>
          </a:xfrm>
          <a:prstGeom prst="line">
            <a:avLst/>
          </a:prstGeom>
          <a:ln w="12700">
            <a:solidFill>
              <a:srgbClr val="5C66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8368" y="1170432"/>
            <a:ext cx="0" cy="3794760"/>
          </a:xfrm>
          <a:prstGeom prst="line">
            <a:avLst/>
          </a:prstGeom>
          <a:ln w="12700">
            <a:solidFill>
              <a:srgbClr val="5C66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58368" y="4206240"/>
            <a:ext cx="6583680" cy="0"/>
          </a:xfrm>
          <a:prstGeom prst="line">
            <a:avLst/>
          </a:prstGeom>
          <a:ln w="8890">
            <a:solidFill>
              <a:srgbClr val="E1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975104" y="1170432"/>
            <a:ext cx="0" cy="3794760"/>
          </a:xfrm>
          <a:prstGeom prst="line">
            <a:avLst/>
          </a:prstGeom>
          <a:ln w="8890">
            <a:solidFill>
              <a:srgbClr val="E1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8368" y="3447288"/>
            <a:ext cx="6583680" cy="0"/>
          </a:xfrm>
          <a:prstGeom prst="line">
            <a:avLst/>
          </a:prstGeom>
          <a:ln w="8890">
            <a:solidFill>
              <a:srgbClr val="E1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91839" y="1170432"/>
            <a:ext cx="0" cy="3794760"/>
          </a:xfrm>
          <a:prstGeom prst="line">
            <a:avLst/>
          </a:prstGeom>
          <a:ln w="8890">
            <a:solidFill>
              <a:srgbClr val="E1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" y="2688336"/>
            <a:ext cx="6583680" cy="0"/>
          </a:xfrm>
          <a:prstGeom prst="line">
            <a:avLst/>
          </a:prstGeom>
          <a:ln w="8890">
            <a:solidFill>
              <a:srgbClr val="E1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08576" y="1170432"/>
            <a:ext cx="0" cy="3794760"/>
          </a:xfrm>
          <a:prstGeom prst="line">
            <a:avLst/>
          </a:prstGeom>
          <a:ln w="8890">
            <a:solidFill>
              <a:srgbClr val="E1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8" y="1929384"/>
            <a:ext cx="6583680" cy="0"/>
          </a:xfrm>
          <a:prstGeom prst="line">
            <a:avLst/>
          </a:prstGeom>
          <a:ln w="8890">
            <a:solidFill>
              <a:srgbClr val="E1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25312" y="1170432"/>
            <a:ext cx="0" cy="3794760"/>
          </a:xfrm>
          <a:prstGeom prst="line">
            <a:avLst/>
          </a:prstGeom>
          <a:ln w="8890">
            <a:solidFill>
              <a:srgbClr val="E1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04288" y="512064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3282F"/>
                </a:solidFill>
                <a:latin typeface="Noto Sans CJK JP"/>
              </a:rPr>
              <a:t>速度 v（模式）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1124712"/>
            <a:ext cx="347472" cy="3886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3282F"/>
                </a:solidFill>
                <a:latin typeface="Noto Sans CJK JP"/>
              </a:rPr>
              <a:t>車輪周けん引力 Fₜ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" y="1616874"/>
            <a:ext cx="2194560" cy="2064796"/>
          </a:xfrm>
          <a:prstGeom prst="line">
            <a:avLst/>
          </a:prstGeom>
          <a:ln w="38100">
            <a:solidFill>
              <a:srgbClr val="2D7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852928" y="2119122"/>
            <a:ext cx="0" cy="1562548"/>
          </a:xfrm>
          <a:prstGeom prst="line">
            <a:avLst/>
          </a:prstGeom>
          <a:ln w="38100">
            <a:solidFill>
              <a:srgbClr val="2D7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852928" y="2119122"/>
            <a:ext cx="2194560" cy="1841574"/>
          </a:xfrm>
          <a:prstGeom prst="line">
            <a:avLst/>
          </a:prstGeom>
          <a:ln w="38100">
            <a:solidFill>
              <a:srgbClr val="2D7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047488" y="2621369"/>
            <a:ext cx="0" cy="1339327"/>
          </a:xfrm>
          <a:prstGeom prst="line">
            <a:avLst/>
          </a:prstGeom>
          <a:ln w="38100">
            <a:solidFill>
              <a:srgbClr val="2D7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7488" y="2621369"/>
            <a:ext cx="2194560" cy="1674159"/>
          </a:xfrm>
          <a:prstGeom prst="line">
            <a:avLst/>
          </a:prstGeom>
          <a:ln w="38100">
            <a:solidFill>
              <a:srgbClr val="2D7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852928" y="1170432"/>
            <a:ext cx="0" cy="3794760"/>
          </a:xfrm>
          <a:prstGeom prst="line">
            <a:avLst/>
          </a:prstGeom>
          <a:ln w="12700">
            <a:solidFill>
              <a:srgbClr val="A0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7488" y="1170432"/>
            <a:ext cx="0" cy="3794760"/>
          </a:xfrm>
          <a:prstGeom prst="line">
            <a:avLst/>
          </a:prstGeom>
          <a:ln w="12700">
            <a:solidFill>
              <a:srgbClr val="A0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68680" y="4251960"/>
            <a:ext cx="3200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3282F"/>
                </a:solidFill>
                <a:latin typeface="Noto Sans CJK JP"/>
              </a:rPr>
              <a:t>同一段: 速度↑ → 逆起電力↑ → 電流・トルク↓</a:t>
            </a:r>
            <a:br/>
            <a:r>
              <a:rPr sz="1000" b="0">
                <a:solidFill>
                  <a:srgbClr val="23282F"/>
                </a:solidFill>
                <a:latin typeface="Noto Sans CJK JP"/>
              </a:rPr>
              <a:t>切替: 電圧段↑ → けん引力が回復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82127" y="1042415"/>
            <a:ext cx="379476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5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123444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2C4D"/>
                </a:solidFill>
                <a:latin typeface="Noto Sans CJK JP"/>
              </a:rPr>
              <a:t>トルク → 車輪周けん引力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1664208"/>
            <a:ext cx="3246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23282F"/>
                </a:solidFill>
                <a:latin typeface="Noto Sans CJK JP"/>
              </a:rPr>
              <a:t>T = kₜ ΦIₐ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2057400"/>
            <a:ext cx="3246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23282F"/>
                </a:solidFill>
                <a:latin typeface="Noto Sans CJK JP"/>
              </a:rPr>
              <a:t>Fₜ = Nηg G Tₘ / r_w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450592"/>
            <a:ext cx="3246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23282F"/>
                </a:solidFill>
                <a:latin typeface="Noto Sans CJK JP"/>
              </a:rPr>
              <a:t>未飽和: Φ ∝ Iₐ → T ∝ Iₐ²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3568" y="3255264"/>
            <a:ext cx="3566160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82F"/>
                </a:solidFill>
                <a:latin typeface="Noto Sans CJK JP"/>
              </a:rPr>
              <a:t>直巻電動機の「大始動トルク」は未飽和条件付き。磁気飽和後まで T∝Iₐ² と断定しない。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82127" y="4480560"/>
            <a:ext cx="3794760" cy="1161288"/>
          </a:xfrm>
          <a:prstGeom prst="roundRect">
            <a:avLst/>
          </a:prstGeom>
          <a:solidFill>
            <a:srgbClr val="FAF5EF"/>
          </a:solidFill>
          <a:ln>
            <a:solidFill>
              <a:srgbClr val="E2C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461772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B5D35"/>
                </a:solidFill>
                <a:latin typeface="Noto Sans CJK JP"/>
              </a:rPr>
              <a:t>一次試験への接続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956048"/>
            <a:ext cx="3246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82F"/>
                </a:solidFill>
                <a:latin typeface="Noto Sans CJK JP"/>
              </a:rPr>
              <a:t>H28 問5・H26 問5：直流電気鉄道で直巻電動機が使われた理由を始動トルクから説明。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089904"/>
            <a:ext cx="65836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671"/>
                </a:solidFill>
                <a:latin typeface="Noto Sans CJK JP"/>
              </a:rPr>
              <a:t>模式図。実車の切替速度・けん引力値は仮定しない。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473952"/>
            <a:ext cx="7132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C6671"/>
                </a:solidFill>
                <a:latin typeface="Noto Sans CJK JP"/>
              </a:rPr>
              <a:t>対応: H28一次 機械 問5 / H26一次 機械 問5（固定範囲）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6473952"/>
            <a:ext cx="42519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C6671"/>
                </a:solidFill>
                <a:latin typeface="Noto Sans CJK JP"/>
              </a:rPr>
              <a:t>Topic 04  0系④ タップ制御と加速特性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162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698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CJK JP"/>
              </a:rPr>
              <a:t>けん引力 → 加速度 → 時間―速度：二種の計算鎖をつなぐ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Noto Sans CJK JP"/>
              </a:rPr>
              <a:t>4/4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4965192"/>
            <a:ext cx="6583680" cy="0"/>
          </a:xfrm>
          <a:prstGeom prst="line">
            <a:avLst/>
          </a:prstGeom>
          <a:ln w="12700">
            <a:solidFill>
              <a:srgbClr val="5C66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8368" y="1170432"/>
            <a:ext cx="0" cy="3794760"/>
          </a:xfrm>
          <a:prstGeom prst="line">
            <a:avLst/>
          </a:prstGeom>
          <a:ln w="12700">
            <a:solidFill>
              <a:srgbClr val="5C66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58368" y="4206240"/>
            <a:ext cx="6583680" cy="0"/>
          </a:xfrm>
          <a:prstGeom prst="line">
            <a:avLst/>
          </a:prstGeom>
          <a:ln w="8890">
            <a:solidFill>
              <a:srgbClr val="E1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975104" y="1170432"/>
            <a:ext cx="0" cy="3794760"/>
          </a:xfrm>
          <a:prstGeom prst="line">
            <a:avLst/>
          </a:prstGeom>
          <a:ln w="8890">
            <a:solidFill>
              <a:srgbClr val="E1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8368" y="3447288"/>
            <a:ext cx="6583680" cy="0"/>
          </a:xfrm>
          <a:prstGeom prst="line">
            <a:avLst/>
          </a:prstGeom>
          <a:ln w="8890">
            <a:solidFill>
              <a:srgbClr val="E1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91839" y="1170432"/>
            <a:ext cx="0" cy="3794760"/>
          </a:xfrm>
          <a:prstGeom prst="line">
            <a:avLst/>
          </a:prstGeom>
          <a:ln w="8890">
            <a:solidFill>
              <a:srgbClr val="E1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" y="2688336"/>
            <a:ext cx="6583680" cy="0"/>
          </a:xfrm>
          <a:prstGeom prst="line">
            <a:avLst/>
          </a:prstGeom>
          <a:ln w="8890">
            <a:solidFill>
              <a:srgbClr val="E1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08576" y="1170432"/>
            <a:ext cx="0" cy="3794760"/>
          </a:xfrm>
          <a:prstGeom prst="line">
            <a:avLst/>
          </a:prstGeom>
          <a:ln w="8890">
            <a:solidFill>
              <a:srgbClr val="E1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8" y="1929384"/>
            <a:ext cx="6583680" cy="0"/>
          </a:xfrm>
          <a:prstGeom prst="line">
            <a:avLst/>
          </a:prstGeom>
          <a:ln w="8890">
            <a:solidFill>
              <a:srgbClr val="E1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25312" y="1170432"/>
            <a:ext cx="0" cy="3794760"/>
          </a:xfrm>
          <a:prstGeom prst="line">
            <a:avLst/>
          </a:prstGeom>
          <a:ln w="8890">
            <a:solidFill>
              <a:srgbClr val="E1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04288" y="512064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3282F"/>
                </a:solidFill>
                <a:latin typeface="Noto Sans CJK JP"/>
              </a:rPr>
              <a:t>時間 t [s]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1124712"/>
            <a:ext cx="347472" cy="3886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3282F"/>
                </a:solidFill>
                <a:latin typeface="Noto Sans CJK JP"/>
              </a:rPr>
              <a:t>速度 v [km/h]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58368" y="1660588"/>
            <a:ext cx="6214993" cy="2687955"/>
          </a:xfrm>
          <a:prstGeom prst="line">
            <a:avLst/>
          </a:prstGeom>
          <a:ln w="38100">
            <a:solidFill>
              <a:srgbClr val="2D7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12647" y="4302823"/>
            <a:ext cx="91440" cy="91440"/>
          </a:xfrm>
          <a:prstGeom prst="ellipse">
            <a:avLst/>
          </a:prstGeom>
          <a:solidFill>
            <a:srgbClr val="2D7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27641" y="1614868"/>
            <a:ext cx="91440" cy="91440"/>
          </a:xfrm>
          <a:prstGeom prst="ellipse">
            <a:avLst/>
          </a:prstGeom>
          <a:solidFill>
            <a:srgbClr val="2D7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133087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3282F"/>
                </a:solidFill>
                <a:latin typeface="Noto Sans CJK JP"/>
              </a:rPr>
              <a:t>33.9 km/h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1609344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3282F"/>
                </a:solidFill>
                <a:latin typeface="Noto Sans CJK JP"/>
              </a:rPr>
              <a:t>50.9 km/h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407408"/>
            <a:ext cx="3200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3282F"/>
                </a:solidFill>
                <a:latin typeface="Noto Sans CJK JP"/>
              </a:rPr>
              <a:t>教材仮定値: a = 0.200 m/s², Δt = 23.6 s</a:t>
            </a:r>
            <a:br/>
            <a:r>
              <a:rPr sz="1000" b="0">
                <a:solidFill>
                  <a:srgbClr val="23282F"/>
                </a:solidFill>
                <a:latin typeface="Noto Sans CJK JP"/>
              </a:rPr>
              <a:t>0系の実性能ではない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82127" y="1042415"/>
            <a:ext cx="379476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5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123444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2C4D"/>
                </a:solidFill>
                <a:latin typeface="Noto Sans CJK JP"/>
              </a:rPr>
              <a:t>簡略加速計算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1664208"/>
            <a:ext cx="3246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23282F"/>
                </a:solidFill>
                <a:latin typeface="Noto Sans CJK JP"/>
              </a:rPr>
              <a:t>m_eq dv/dt = Fₜ − Fᵣ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057400"/>
            <a:ext cx="3246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23282F"/>
                </a:solidFill>
                <a:latin typeface="Noto Sans CJK JP"/>
              </a:rPr>
              <a:t>a_k = {Fₜ(v_k) − Fᵣ(v_k)} / m_eq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450592"/>
            <a:ext cx="3246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23282F"/>
                </a:solidFill>
                <a:latin typeface="Noto Sans CJK JP"/>
              </a:rPr>
              <a:t>v_{k+1} = v_k + a_k Δt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3568" y="3163824"/>
            <a:ext cx="3566160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82F"/>
                </a:solidFill>
                <a:latin typeface="Noto Sans CJK JP"/>
              </a:rPr>
              <a:t>複合例題の仮定値では、Fₜ≈61.1 kN、Fᵣ=21.1 kN、m_eq=2.00×10⁵ kg → a≈0.200 m/s²。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82127" y="4480560"/>
            <a:ext cx="3794760" cy="1161288"/>
          </a:xfrm>
          <a:prstGeom prst="roundRect">
            <a:avLst/>
          </a:prstGeom>
          <a:solidFill>
            <a:srgbClr val="EFF7F9"/>
          </a:solidFill>
          <a:ln>
            <a:solidFill>
              <a:srgbClr val="B9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0" y="461772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73AA"/>
                </a:solidFill>
                <a:latin typeface="Noto Sans CJK JP"/>
              </a:rPr>
              <a:t>答案の計算順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956048"/>
            <a:ext cx="3246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82F"/>
                </a:solidFill>
                <a:latin typeface="Noto Sans CJK JP"/>
              </a:rPr>
              <a:t>速度・トルク条件 → 必要電圧 → 電動機トルク → けん引力 → 加速度 → 時間―速度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089904"/>
            <a:ext cx="65836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671"/>
                </a:solidFill>
                <a:latin typeface="Noto Sans CJK JP"/>
              </a:rPr>
              <a:t>グラフ値は教材の複合例題11.3。0系の実性能ではない。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473952"/>
            <a:ext cx="7132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C6671"/>
                </a:solidFill>
                <a:latin typeface="Noto Sans CJK JP"/>
              </a:rPr>
              <a:t>対応: SPEC指定「時間―速度」＋ H24二次の逆算手順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6473952"/>
            <a:ext cx="42519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C6671"/>
                </a:solidFill>
                <a:latin typeface="Noto Sans CJK JP"/>
              </a:rPr>
              <a:t>Topic 04  0系④ タップ制御と加速特性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 0系④ タップ制御と加速特性 - 解説画像</dc:title>
  <dc:subject>電験二種 新幹線車両 Topic 04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