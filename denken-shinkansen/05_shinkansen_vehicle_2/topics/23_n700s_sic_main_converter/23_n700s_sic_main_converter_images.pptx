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400000" y="220000"/>
            <a:ext cx="113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2600"/>
            <a:r>
              <a:rPr lang="ja-JP" sz="2600" b="1">
                <a:solidFill>
                  <a:srgbClr val="17365D"/>
                </a:solidFill>
              </a:rPr>
              <a:t>N700S SiC主変換装置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20000" y="1000000"/>
            <a:ext cx="11100000" cy="5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1500"/>
            <a:r>
              <a:rPr lang="ja-JP" sz="1500">
                <a:solidFill>
                  <a:srgbClr val="202020"/>
                </a:solidFill>
              </a:rPr>
              <a:t>電験二種：損失・変換効率・発熱・冷却・小型軽量化を一つの因果で解く</a:t>
            </a:r>
            <a:br/>
            <a:r>
              <a:rPr lang="ja-JP" sz="1500">
                <a:solidFill>
                  <a:srgbClr val="202020"/>
                </a:solidFill>
              </a:rPr>
              <a:t>基本：p(t)=v(t)i(t),  P_loss=(1/T)∫vi dt ≈ P_cond+P_sw,  η=P_out/(P_out+P_loss)</a:t>
            </a:r>
            <a:br/>
            <a:r>
              <a:rPr lang="ja-JP" sz="1500">
                <a:solidFill>
                  <a:srgbClr val="202020"/>
                </a:solidFill>
              </a:rPr>
              <a:t>導通：P_cond=V_on I D または I_rms²R_on　／　切替：E_sw=∫vi dt, P_sw=f_s(E_on+E_off)</a:t>
            </a:r>
            <a:br/>
            <a:r>
              <a:rPr lang="ja-JP" sz="1500">
                <a:solidFill>
                  <a:srgbClr val="202020"/>
                </a:solidFill>
              </a:rPr>
              <a:t>実車境界：N700SのSiC主変換装置採用は確認済み。7%消費電力量低減をSiC単独効果にしない。</a:t>
            </a:r>
            <a:br/>
            <a:r>
              <a:rPr lang="ja-JP" sz="1500">
                <a:solidFill>
                  <a:srgbClr val="202020"/>
                </a:solidFill>
              </a:rPr>
              <a:t>富士電機の20%軽量化は車両用駆動システム全体の従来比。未公表V_on,R_on,E_sw,f_s,R_th等を実車値化しない。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400000" y="220000"/>
            <a:ext cx="113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2600"/>
            <a:r>
              <a:rPr lang="ja-JP" sz="2600" b="1">
                <a:solidFill>
                  <a:srgbClr val="17365D"/>
                </a:solidFill>
              </a:rPr>
              <a:t>1. 導通損失・スイッチング損失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20000" y="1000000"/>
            <a:ext cx="11100000" cy="5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1500"/>
            <a:r>
              <a:rPr lang="ja-JP" sz="1500">
                <a:solidFill>
                  <a:srgbClr val="202020"/>
                </a:solidFill>
              </a:rPr>
              <a:t>R7一次：電圧形インバータ、IGBT/MOSFET、逆並列ダイオード、PWM、スイッチング周波数を電流経路と損失へ接続。</a:t>
            </a:r>
            <a:br/>
            <a:r>
              <a:rPr lang="ja-JP" sz="1500">
                <a:solidFill>
                  <a:srgbClr val="202020"/>
                </a:solidFill>
              </a:rPr>
              <a:t>R4一次：オン損失と漏れ電流、スイッチング損失、繰返し周期、ソフトスイッチングを区別。</a:t>
            </a:r>
            <a:br/>
            <a:r>
              <a:rPr lang="ja-JP" sz="1500">
                <a:solidFill>
                  <a:srgbClr val="202020"/>
                </a:solidFill>
              </a:rPr>
              <a:t>一定オン電圧モデル：P_cond=V_on I D。ダイオードもV_F×I×通流率。</a:t>
            </a:r>
            <a:br/>
            <a:r>
              <a:rPr lang="ja-JP" sz="1500">
                <a:solidFill>
                  <a:srgbClr val="202020"/>
                </a:solidFill>
              </a:rPr>
              <a:t>オン抵抗モデル：P_cond=I_rms²R_on。問題文の素子モデルを混同しない。</a:t>
            </a:r>
            <a:br/>
            <a:r>
              <a:rPr lang="ja-JP" sz="1500">
                <a:solidFill>
                  <a:srgbClr val="202020"/>
                </a:solidFill>
              </a:rPr>
              <a:t>P_sw=f_s(E_on+E_off)。E_sw一定ならf_s↑でP_sw↑。「高周波化＝常に高効率」ではない。</a:t>
            </a:r>
            <a:br/>
            <a:r>
              <a:rPr lang="ja-JP" sz="1500">
                <a:solidFill>
                  <a:srgbClr val="202020"/>
                </a:solidFill>
              </a:rPr>
              <a:t>解法：電流経路→導通区間→切替波形→1回エネルギー→周波数→総損失→単位検算。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400000" y="220000"/>
            <a:ext cx="113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2600"/>
            <a:r>
              <a:rPr lang="ja-JP" sz="2600" b="1">
                <a:solidFill>
                  <a:srgbClr val="17365D"/>
                </a:solidFill>
              </a:rPr>
              <a:t>2. R2一次の読図補強＋H24二次橋渡し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20000" y="1000000"/>
            <a:ext cx="11100000" cy="5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1500"/>
            <a:r>
              <a:rPr lang="ja-JP" sz="1500">
                <a:solidFill>
                  <a:srgbClr val="202020"/>
                </a:solidFill>
              </a:rPr>
              <a:t>R2(2)：通流率Dを暗記で選ばず「電圧矢印の極性→S ON/OFF状態表→平均値」の順で読む。</a:t>
            </a:r>
            <a:br/>
            <a:r>
              <a:rPr lang="ja-JP" sz="1500">
                <a:solidFill>
                  <a:srgbClr val="202020"/>
                </a:solidFill>
              </a:rPr>
              <a:t>固定図：S ON中 v=V_dc がDT、S OFF還流中 v=0 が(1−D)T → V=D V_dc。</a:t>
            </a:r>
            <a:br/>
            <a:r>
              <a:rPr lang="ja-JP" sz="1500">
                <a:solidFill>
                  <a:srgbClr val="202020"/>
                </a:solidFill>
              </a:rPr>
              <a:t>R2(4)：1/2・1/6を暗記しない。必ずp(t)=v(t)i(t)を実波形どおり積分する。</a:t>
            </a:r>
            <a:br/>
            <a:r>
              <a:rPr lang="ja-JP" sz="1500">
                <a:solidFill>
                  <a:srgbClr val="202020"/>
                </a:solidFill>
              </a:rPr>
              <a:t>固定図3はp(t)自体が三角波 → W_off=(1/2)V_dc I_dc T_2。</a:t>
            </a:r>
            <a:br/>
            <a:r>
              <a:rPr lang="ja-JP" sz="1500">
                <a:solidFill>
                  <a:srgbClr val="202020"/>
                </a:solidFill>
              </a:rPr>
              <a:t>別条件でv,iが相補的直線ランプならVI t_s/6の場合がある。一般式E_sw=∫vi dtは不変。</a:t>
            </a:r>
            <a:br/>
            <a:r>
              <a:rPr lang="ja-JP" sz="1500">
                <a:solidFill>
                  <a:srgbClr val="202020"/>
                </a:solidFill>
              </a:rPr>
              <a:t>H24二次：V_a=E+R_a I_a, 一定磁束でE∝n, V_a=D V_state1+(1−D)V_state2, 0≤D≤1。</a:t>
            </a:r>
            <a:br/>
            <a:r>
              <a:rPr lang="ja-JP" sz="1500">
                <a:solidFill>
                  <a:srgbClr val="202020"/>
                </a:solidFill>
              </a:rPr>
              <a:t>IGBT・ダイオードの導通損失も「電圧降下×電流×通流率」で分解する。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400000" y="220000"/>
            <a:ext cx="113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2600"/>
            <a:r>
              <a:rPr lang="ja-JP" sz="2600" b="1">
                <a:solidFill>
                  <a:srgbClr val="17365D"/>
                </a:solidFill>
              </a:rPr>
              <a:t>3. 可視化A/B：同一条件で損失を見る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20000" y="1000000"/>
            <a:ext cx="11100000" cy="5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1500"/>
            <a:r>
              <a:rPr lang="ja-JP" sz="1500">
                <a:solidFill>
                  <a:srgbClr val="202020"/>
                </a:solidFill>
              </a:rPr>
              <a:t>可視化A　電流－導通損失　[教材用仮定 D=0.60]</a:t>
            </a:r>
            <a:br/>
            <a:r>
              <a:rPr lang="ja-JP" sz="1500">
                <a:solidFill>
                  <a:srgbClr val="202020"/>
                </a:solidFill>
              </a:rPr>
              <a:t>I[A]       0    100    200    300    400</a:t>
            </a:r>
            <a:br/>
            <a:r>
              <a:rPr lang="ja-JP" sz="1500">
                <a:solidFill>
                  <a:srgbClr val="202020"/>
                </a:solidFill>
              </a:rPr>
              <a:t>Si 2.0V    0    120    240    360    480 W   ████████████████████</a:t>
            </a:r>
            <a:br/>
            <a:r>
              <a:rPr lang="ja-JP" sz="1500">
                <a:solidFill>
                  <a:srgbClr val="202020"/>
                </a:solidFill>
              </a:rPr>
              <a:t>SiC1.4V    0     84    168    252    336 W   ██████████████</a:t>
            </a:r>
            <a:br/>
            <a:r>
              <a:rPr lang="ja-JP" sz="1500">
                <a:solidFill>
                  <a:srgbClr val="202020"/>
                </a:solidFill>
              </a:rPr>
              <a:t>→ 同一I,Dで比較。この30%差は教材仮定で、N700S実機の低減率ではない。</a:t>
            </a:r>
            <a:br/>
            <a:r>
              <a:rPr lang="ja-JP" sz="1500">
                <a:solidFill>
                  <a:srgbClr val="202020"/>
                </a:solidFill>
              </a:rPr>
              <a:t/>
            </a:r>
            <a:br/>
            <a:r>
              <a:rPr lang="ja-JP" sz="1500">
                <a:solidFill>
                  <a:srgbClr val="202020"/>
                </a:solidFill>
              </a:rPr>
              <a:t>可視化B　スイッチング周波数－総損失　[教材用仮定]</a:t>
            </a:r>
            <a:br/>
            <a:r>
              <a:rPr lang="ja-JP" sz="1500">
                <a:solidFill>
                  <a:srgbClr val="202020"/>
                </a:solidFill>
              </a:rPr>
              <a:t>f_s[kHz]  0.5    1      2      3      4</a:t>
            </a:r>
            <a:br/>
            <a:r>
              <a:rPr lang="ja-JP" sz="1500">
                <a:solidFill>
                  <a:srgbClr val="202020"/>
                </a:solidFill>
              </a:rPr>
              <a:t>Si[W]     300   360    480    600    720     ████████████████████</a:t>
            </a:r>
            <a:br/>
            <a:r>
              <a:rPr lang="ja-JP" sz="1500">
                <a:solidFill>
                  <a:srgbClr val="202020"/>
                </a:solidFill>
              </a:rPr>
              <a:t>SiC[W]    193   218    268    318    368     ██████████</a:t>
            </a:r>
            <a:br/>
            <a:r>
              <a:rPr lang="ja-JP" sz="1500">
                <a:solidFill>
                  <a:srgbClr val="202020"/>
                </a:solidFill>
              </a:rPr>
              <a:t>Si: P_cond=240W,E_cycle=0.12J / SiC:168W,0.05J。f_sはHzで代入。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400000" y="220000"/>
            <a:ext cx="113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2600"/>
            <a:r>
              <a:rPr lang="ja-JP" sz="2600" b="1">
                <a:solidFill>
                  <a:srgbClr val="17365D"/>
                </a:solidFill>
              </a:rPr>
              <a:t>4. 変換効率・発熱・冷却・小型軽量化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20000" y="1000000"/>
            <a:ext cx="11100000" cy="5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1500"/>
            <a:r>
              <a:rPr lang="ja-JP" sz="1500">
                <a:solidFill>
                  <a:srgbClr val="202020"/>
                </a:solidFill>
              </a:rPr>
              <a:t>変換効率：P_in=P_out+P_loss,  η=P_out/P_in=P_out/(P_out+P_loss)。同一P_outならP_loss↓でη↑。</a:t>
            </a:r>
            <a:br/>
            <a:r>
              <a:rPr lang="ja-JP" sz="1500">
                <a:solidFill>
                  <a:srgbClr val="202020"/>
                </a:solidFill>
              </a:rPr>
              <a:t>熱抵抗：T_j≈T_a+P_loss R_th,  R_th,max=(T_j,max−T_a)/P_loss。</a:t>
            </a:r>
            <a:br/>
            <a:r>
              <a:rPr lang="ja-JP" sz="1500">
                <a:solidFill>
                  <a:srgbClr val="202020"/>
                </a:solidFill>
              </a:rPr>
              <a:t>したがって 損失↓ → 発熱↓ → 同じ温度上限で許容R_th↑ → 冷却要求緩和 → 機器小型・軽量化の余地。</a:t>
            </a:r>
            <a:br/>
            <a:r>
              <a:rPr lang="ja-JP" sz="1500">
                <a:solidFill>
                  <a:srgbClr val="202020"/>
                </a:solidFill>
              </a:rPr>
              <a:t>H24一次：損失から半導体接合部温度・放熱設計へつなぐ。</a:t>
            </a:r>
            <a:br/>
            <a:r>
              <a:rPr lang="ja-JP" sz="1500">
                <a:solidFill>
                  <a:srgbClr val="202020"/>
                </a:solidFill>
              </a:rPr>
              <a:t>因果を逆読みしない：SiCだから必ず20%軽い、7%省エネになる、とは言わない。</a:t>
            </a:r>
            <a:br/>
            <a:r>
              <a:rPr lang="ja-JP" sz="1500">
                <a:solidFill>
                  <a:srgbClr val="202020"/>
                </a:solidFill>
              </a:rPr>
              <a:t>車両消費電力量は走行抵抗・重量・補機・運転条件等にも依存。公表値は資料が示す対象範囲だけに使う。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400000" y="220000"/>
            <a:ext cx="113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2600"/>
            <a:r>
              <a:rPr lang="ja-JP" sz="2600" b="1">
                <a:solidFill>
                  <a:srgbClr val="17365D"/>
                </a:solidFill>
              </a:rPr>
              <a:t>5. 可視化C＋過去問品質ゲート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20000" y="1000000"/>
            <a:ext cx="11100000" cy="5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endParaRPr lang="ja-JP" sz="1500"/>
            <a:r>
              <a:rPr lang="ja-JP" sz="1500">
                <a:solidFill>
                  <a:srgbClr val="202020"/>
                </a:solidFill>
              </a:rPr>
              <a:t>可視化C　同一条件 I=200A, D=0.60, f_s=4kHz, R_th=0.05K/W [教材用仮定]</a:t>
            </a:r>
            <a:br/>
            <a:r>
              <a:rPr lang="ja-JP" sz="1500">
                <a:solidFill>
                  <a:srgbClr val="202020"/>
                </a:solidFill>
              </a:rPr>
              <a:t>Si ：導通240W + switching480W = total720W → ΔT=36.0K   ████████████████████</a:t>
            </a:r>
            <a:br/>
            <a:r>
              <a:rPr lang="ja-JP" sz="1500">
                <a:solidFill>
                  <a:srgbClr val="202020"/>
                </a:solidFill>
              </a:rPr>
              <a:t>SiC：導通168W + switching200W = total368W → ΔT=18.4K   ██████████</a:t>
            </a:r>
            <a:br/>
            <a:r>
              <a:rPr lang="ja-JP" sz="1500">
                <a:solidFill>
                  <a:srgbClr val="202020"/>
                </a:solidFill>
              </a:rPr>
              <a:t>検算：条件統一／kHz→Hz／W・J・K/W／公表値と仮定値を分離。</a:t>
            </a:r>
            <a:br/>
            <a:r>
              <a:rPr lang="ja-JP" sz="1500">
                <a:solidFill>
                  <a:srgbClr val="202020"/>
                </a:solidFill>
              </a:rPr>
              <a:t>固定過去問：R7一次問4 5要素、R4一次問4 5、R2一次問2 5、H24一次問6(2)(3) 2、H24二次問1 6。</a:t>
            </a:r>
            <a:br/>
            <a:r>
              <a:rPr lang="ja-JP" sz="1500">
                <a:solidFill>
                  <a:srgbClr val="202020"/>
                </a:solidFill>
              </a:rPr>
              <a:t>一次17 + 二次6 = 23答案要素。R2補強2点も含め23/23を教材内でカバー。</a:t>
            </a:r>
            <a:br/>
            <a:r>
              <a:rPr lang="ja-JP" sz="1500">
                <a:solidFill>
                  <a:srgbClr val="202020"/>
                </a:solidFill>
              </a:rPr>
              <a:t>SPEC固定8項目：SiC・導通損失・スイッチング損失・スイッチング周波数・変換効率・発熱・冷却・小型軽量化。</a:t>
            </a:r>
            <a:br/>
            <a:r>
              <a:rPr lang="ja-JP" sz="1500">
                <a:solidFill>
                  <a:srgbClr val="202020"/>
                </a:solidFill>
              </a:rPr>
              <a:t>指定3可視化：電流－導通損失／周波数－総損失／同条件Si系-SiC系比較。</a:t>
            </a:r>
          </a:p>
        </p:txBody>
      </p:sp>
    </p:spTree>
  </p:cSld>
  <p:clrMapOvr>
    <a:masterClrMapping/>
  </p:clrMapOvr>
</p:sld>
</file>