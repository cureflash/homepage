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F24"/>
                </a:solidFill>
                <a:latin typeface="Noto Sans CJK JP"/>
              </a:rPr>
              <a:t>01  第二種で問われる「損失」を分解する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11556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987552"/>
            <a:ext cx="1874519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瞬時損失 p=vi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987552"/>
            <a:ext cx="233172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平均損失 = 1/T ∫vi dt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700784"/>
            <a:ext cx="3054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Noto Sans CJK JP"/>
              </a:rPr>
              <a:t>導通損失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84832"/>
            <a:ext cx="305409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一定オン電圧モデル
P_cond = V_on I D
オン抵抗モデル
P_cond = I_rms² R_on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572768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00784"/>
            <a:ext cx="3054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Noto Sans CJK JP"/>
              </a:rPr>
              <a:t>スイッチング損失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84832"/>
            <a:ext cx="305409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E_on = ∫vi dt
E_off = ∫vi dt
P_sw = f_s(E_on+E_off)
J/回 × 回/s = 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572768"/>
            <a:ext cx="3383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700784"/>
            <a:ext cx="30540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Noto Sans CJK JP"/>
              </a:rPr>
              <a:t>素子・PWMの前提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084832"/>
            <a:ext cx="3054096" cy="1207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IGBT/MOSFET: 自己消弧形
逆並列ダイオード: 還流経路
上下アーム同時ON: 回避
搬送波周波数 ≈ 代表 f_s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3886200"/>
            <a:ext cx="2194560" cy="384048"/>
          </a:xfrm>
          <a:prstGeom prst="roundRect">
            <a:avLst/>
          </a:prstGeom>
          <a:solidFill>
            <a:srgbClr val="1B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P_loss = P_cond + P_sw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60520" y="4078224"/>
            <a:ext cx="1325880" cy="0"/>
          </a:xfrm>
          <a:prstGeom prst="line">
            <a:avLst/>
          </a:prstGeom>
          <a:ln w="2540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0" y="3886200"/>
            <a:ext cx="1965960" cy="384048"/>
          </a:xfrm>
          <a:prstGeom prst="roundRect">
            <a:avLst/>
          </a:prstGeom>
          <a:solidFill>
            <a:srgbClr val="1B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効率 η = P_out/P_in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79" y="4078224"/>
            <a:ext cx="1188721" cy="0"/>
          </a:xfrm>
          <a:prstGeom prst="line">
            <a:avLst/>
          </a:prstGeom>
          <a:ln w="2540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86800" y="3886200"/>
            <a:ext cx="2011680" cy="384048"/>
          </a:xfrm>
          <a:prstGeom prst="roundRect">
            <a:avLst/>
          </a:prstGeom>
          <a:solidFill>
            <a:srgbClr val="1B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発熱・冷却へ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690872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B1F24"/>
                </a:solidFill>
                <a:latin typeface="Noto Sans CJK JP"/>
              </a:rPr>
              <a:t>固定過去問への接続: R7一次問4（素子・PWM）、R4一次問4（損失区分）、R2一次問2（波形積分）、H24一次問6（接合温度）、H24二次問1（電圧降下・通流率）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26C"/>
                </a:solidFill>
                <a:latin typeface="Noto Sans CJK JP"/>
              </a:rPr>
              <a:t>教材内の数値は比較用仮定値。N700S実車定数ではない。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F24"/>
                </a:solidFill>
                <a:latin typeface="Noto Sans CJK JP"/>
              </a:rPr>
              <a:t>02  H24二次への橋渡し：電圧降下・通流率・運転範囲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11556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298448"/>
            <a:ext cx="3008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Noto Sans CJK JP"/>
              </a:rPr>
              <a:t>直流機側の基本式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682496"/>
            <a:ext cx="300837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V_a = E + R_a I_a
一定界磁では E ∝ n
電機子電流の符号と E を使い、必要端子平均電圧 V_a を求める。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170432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98448"/>
            <a:ext cx="3008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Noto Sans CJK JP"/>
              </a:rPr>
              <a:t>二状態の平均化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82496"/>
            <a:ext cx="300837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状態1: V_state1 = V_s − V_T
状態2: V_state2 = −V_D
V_a = D V_state1 + (1−D)V_state2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1170432"/>
            <a:ext cx="33375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1298448"/>
            <a:ext cx="300837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Noto Sans CJK JP"/>
              </a:rPr>
              <a:t>制約から運転範囲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682496"/>
            <a:ext cx="300837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0 ≤ D ≤ 1
→ V_a は二状態電圧の間
→ V_a = E + R_a I_a へ戻す
→ E ∝ n から速度範囲へ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20440"/>
            <a:ext cx="2971800" cy="38404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IGBT損失 = V_T |I_a| 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3520440"/>
            <a:ext cx="3154680" cy="38404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ダイオード損失 = V_D |I_a| (1−D)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2672" y="3520440"/>
            <a:ext cx="3337560" cy="384048"/>
          </a:xfrm>
          <a:prstGeom prst="roundRect">
            <a:avLst/>
          </a:prstGeom>
          <a:solidFill>
            <a:srgbClr val="1B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平均導通損失 = 両状態の時間平均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370832"/>
            <a:ext cx="1074420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B1F24"/>
                </a:solidFill>
                <a:latin typeface="Noto Sans CJK JP"/>
              </a:rPr>
              <a:t>固定H24二次「機械・制御」問1の6答案要素を、電圧降下 → 通流率 → 0≤D≤1 → 逆起電力・速度の順でつなぐ。直流機制御そのものをTopic 23の新規主題にはしない。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5257800"/>
            <a:ext cx="850392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3392" y="5385816"/>
            <a:ext cx="81747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Noto Sans CJK JP"/>
              </a:rPr>
              <a:t>境界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93392" y="5769864"/>
            <a:ext cx="8174736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ここは過去問橋渡し用の一般モデル。N700S実車の主変換回路・素子定数を表すものではない。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052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26C"/>
                </a:solidFill>
                <a:latin typeface="Noto Sans CJK JP"/>
              </a:rPr>
              <a:t>教材内の数値は比較用仮定値。N700S実車定数ではない。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F24"/>
                </a:solidFill>
                <a:latin typeface="Noto Sans CJK JP"/>
              </a:rPr>
              <a:t>03  損失低減が小型軽量化へ波及する因果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11556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99339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62456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Noto Sans CJK JP"/>
              </a:rPr>
              <a:t>① 損失低減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46504"/>
            <a:ext cx="166420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P_loss 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32888" y="1993392"/>
            <a:ext cx="228600" cy="0"/>
          </a:xfrm>
          <a:prstGeom prst="line">
            <a:avLst/>
          </a:prstGeom>
          <a:ln w="1778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07208" y="1234440"/>
            <a:ext cx="199339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362456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Noto Sans CJK JP"/>
              </a:rPr>
              <a:t>② 発熱低減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746504"/>
            <a:ext cx="166420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Q̇ ≈ P_loss 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37176" y="1993392"/>
            <a:ext cx="228600" cy="0"/>
          </a:xfrm>
          <a:prstGeom prst="line">
            <a:avLst/>
          </a:prstGeom>
          <a:ln w="1778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11496" y="1234440"/>
            <a:ext cx="199339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1362456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Noto Sans CJK JP"/>
              </a:rPr>
              <a:t>③ 温度上昇低減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746504"/>
            <a:ext cx="166420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ΔT = P_loss R_th ↓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41464" y="1993392"/>
            <a:ext cx="228599" cy="0"/>
          </a:xfrm>
          <a:prstGeom prst="line">
            <a:avLst/>
          </a:prstGeom>
          <a:ln w="1778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15783" y="1234440"/>
            <a:ext cx="199339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5" y="1362456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Noto Sans CJK JP"/>
              </a:rPr>
              <a:t>④ 冷却要求緩和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0375" y="1746504"/>
            <a:ext cx="166420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許容 R_th ↑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45751" y="1993392"/>
            <a:ext cx="228600" cy="0"/>
          </a:xfrm>
          <a:prstGeom prst="line">
            <a:avLst/>
          </a:prstGeom>
          <a:ln w="1778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20072" y="1234440"/>
            <a:ext cx="1993392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84663" y="1362456"/>
            <a:ext cx="1664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Noto Sans CJK JP"/>
              </a:rPr>
              <a:t>⑤ 機構簡素化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3" y="1746504"/>
            <a:ext cx="1664208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小型軽量化の余地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4612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374136"/>
            <a:ext cx="4882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Noto Sans CJK JP"/>
              </a:rPr>
              <a:t>簡略熱モデル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58183"/>
            <a:ext cx="4882896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T_j ≈ T_a + P_loss R_th
同じ T_j,max と T_a なら
R_th,max = (T_j,max − T_a)/P_loss
→ 損失が小さいほど冷却条件を緩和できる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52120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3374136"/>
            <a:ext cx="488289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Noto Sans CJK JP"/>
              </a:rPr>
              <a:t>N700S資料の読み方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3758183"/>
            <a:ext cx="4882896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富士電機: SiCの低発熱を利用して冷却機構を簡素化し、車両用駆動システム全体で従来比20%軽量化。
JR東海: N700A比7%消費電力量低減はSiC・車体軽量化・走行抵抗低減等の合算。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04688"/>
            <a:ext cx="1069848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1F24"/>
                </a:solidFill>
                <a:latin typeface="Noto Sans CJK JP"/>
              </a:rPr>
              <a:t>20%を「車両全体の重量低減率」、7%を「SiC単独の効率改善率」と読み替えない。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26C"/>
                </a:solidFill>
                <a:latin typeface="Noto Sans CJK JP"/>
              </a:rPr>
              <a:t>実車公表値は対象範囲を変えずに扱う。未公表 V_on, f_s, T_j, R_th は推定しない。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F24"/>
                </a:solidFill>
                <a:latin typeface="Noto Sans CJK JP"/>
              </a:rPr>
              <a:t>04  指定可視化A：電流 - 導通損失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11556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234440" y="1307592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2134209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34440" y="2960827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34440" y="3787444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34440" y="4614062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34440" y="5440680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34440" y="5440680"/>
            <a:ext cx="6537960" cy="0"/>
          </a:xfrm>
          <a:prstGeom prst="line">
            <a:avLst/>
          </a:prstGeom>
          <a:ln w="1524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34440" y="1307592"/>
            <a:ext cx="0" cy="4133088"/>
          </a:xfrm>
          <a:prstGeom prst="line">
            <a:avLst/>
          </a:prstGeom>
          <a:ln w="1524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0330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4820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9310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300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400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11978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024481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851099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7771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50433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100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330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0460" y="5751576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626C"/>
                </a:solidFill>
                <a:latin typeface="Noto Sans CJK JP"/>
              </a:rPr>
              <a:t>電流 I [A]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1289304"/>
            <a:ext cx="53035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26C"/>
                </a:solidFill>
                <a:latin typeface="Noto Sans CJK JP"/>
              </a:rPr>
              <a:t>P_cond [W]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234440" y="4944709"/>
            <a:ext cx="817245" cy="495971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051685" y="4448738"/>
            <a:ext cx="817245" cy="495971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2868930" y="3952768"/>
            <a:ext cx="817245" cy="495970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686175" y="3456797"/>
            <a:ext cx="817245" cy="495971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4503420" y="2960827"/>
            <a:ext cx="817245" cy="495970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320665" y="2464856"/>
            <a:ext cx="817245" cy="495971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137910" y="1968886"/>
            <a:ext cx="817244" cy="495970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955154" y="1472915"/>
            <a:ext cx="817246" cy="495971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184148" y="539038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001393" y="4894417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818638" y="4398446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635883" y="3902476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53128" y="3406505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70373" y="2910535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87618" y="2414564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904863" y="1918594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22108" y="1422623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1234440" y="5093500"/>
            <a:ext cx="817245" cy="347180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051685" y="4746321"/>
            <a:ext cx="817245" cy="347179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868930" y="4399141"/>
            <a:ext cx="817245" cy="347180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686175" y="4051962"/>
            <a:ext cx="817245" cy="347179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03420" y="3704783"/>
            <a:ext cx="817245" cy="347179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320665" y="3357603"/>
            <a:ext cx="817245" cy="347180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6137910" y="3010424"/>
            <a:ext cx="817244" cy="347179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6955154" y="2663244"/>
            <a:ext cx="817246" cy="347180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184148" y="5390388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001393" y="5043208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818638" y="4696029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35883" y="4348849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453128" y="4001670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270373" y="3654491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087618" y="3307311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904863" y="2960132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22108" y="2612952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5623560" y="1463040"/>
            <a:ext cx="320040" cy="0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016752" y="1380744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Noto Sans CJK JP"/>
              </a:rPr>
              <a:t>Si系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623560" y="1755648"/>
            <a:ext cx="320040" cy="0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016752" y="1673352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Noto Sans CJK JP"/>
              </a:rPr>
              <a:t>SiC系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75320" y="1353312"/>
            <a:ext cx="32461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39912" y="1481328"/>
            <a:ext cx="29169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Noto Sans CJK JP"/>
              </a:rPr>
              <a:t>比較条件（固定）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39912" y="1865376"/>
            <a:ext cx="2916936" cy="1481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D = 0.60
Si系 V_on = 2.0 V
SiC系 V_on = 1.4 V
P_cond = V_on I 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75320" y="3794760"/>
            <a:ext cx="324612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39912" y="3922776"/>
            <a:ext cx="29169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Noto Sans CJK JP"/>
              </a:rPr>
              <a:t>代表点 I=200 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39912" y="4306824"/>
            <a:ext cx="2916936" cy="886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Si系: 240 W
SiC系: 168 W
→ この仮定では30%小さい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51052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26C"/>
                </a:solidFill>
                <a:latin typeface="Noto Sans CJK JP"/>
              </a:rPr>
              <a:t>教材内の数値は比較用仮定値。N700S実車定数ではない。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F24"/>
                </a:solidFill>
                <a:latin typeface="Noto Sans CJK JP"/>
              </a:rPr>
              <a:t>05  指定可視化B：スイッチング周波数 - 総損失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11556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234440" y="1307592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34440" y="2134209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234440" y="2960827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234440" y="3787444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34440" y="4614062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34440" y="5440680"/>
            <a:ext cx="6537960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34440" y="5440680"/>
            <a:ext cx="6537960" cy="0"/>
          </a:xfrm>
          <a:prstGeom prst="line">
            <a:avLst/>
          </a:prstGeom>
          <a:ln w="1524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34440" y="1307592"/>
            <a:ext cx="0" cy="4133088"/>
          </a:xfrm>
          <a:prstGeom prst="line">
            <a:avLst/>
          </a:prstGeom>
          <a:ln w="1524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0.5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9834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7822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5811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5495544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5A626C"/>
                </a:solidFill>
                <a:latin typeface="Noto Sans CJK JP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119786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024481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640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2851099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480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7771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320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450433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160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330952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0460" y="5751576"/>
            <a:ext cx="16459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A626C"/>
                </a:solidFill>
                <a:latin typeface="Noto Sans CJK JP"/>
              </a:rPr>
              <a:t>f_s [kHz]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1289304"/>
            <a:ext cx="53035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26C"/>
                </a:solidFill>
                <a:latin typeface="Noto Sans CJK JP"/>
              </a:rPr>
              <a:t>P_total [W]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234440" y="3580790"/>
            <a:ext cx="933994" cy="309982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168434" y="2960827"/>
            <a:ext cx="1867988" cy="619963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036422" y="2340863"/>
            <a:ext cx="1867989" cy="619964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904411" y="1720900"/>
            <a:ext cx="1867989" cy="619963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84148" y="3840480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18142" y="353049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86130" y="2910535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854119" y="2290571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22108" y="1670608"/>
            <a:ext cx="100584" cy="10058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1234440" y="4314413"/>
            <a:ext cx="933994" cy="129159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168434" y="4056095"/>
            <a:ext cx="1867988" cy="258318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036422" y="3797777"/>
            <a:ext cx="1867989" cy="258318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904411" y="3539459"/>
            <a:ext cx="1867989" cy="258318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184148" y="4393280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18142" y="4264121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986130" y="4005803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54119" y="3747485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22108" y="3489167"/>
            <a:ext cx="100584" cy="100584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5623560" y="1463040"/>
            <a:ext cx="320040" cy="0"/>
          </a:xfrm>
          <a:prstGeom prst="line">
            <a:avLst/>
          </a:prstGeom>
          <a:ln w="3175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16752" y="1380744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Noto Sans CJK JP"/>
              </a:rPr>
              <a:t>Si系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23560" y="1755648"/>
            <a:ext cx="320040" cy="0"/>
          </a:xfrm>
          <a:prstGeom prst="line">
            <a:avLst/>
          </a:prstGeom>
          <a:ln w="3175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16752" y="1673352"/>
            <a:ext cx="1280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Noto Sans CJK JP"/>
              </a:rPr>
              <a:t>SiC系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75320" y="1344168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9912" y="1472184"/>
            <a:ext cx="29169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Noto Sans CJK JP"/>
              </a:rPr>
              <a:t>比較用仮定値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1856232"/>
            <a:ext cx="2916936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Si系: P_cond=240 W
E_on+E_off=0.12 J
SiC系: P_cond=168 W
E_on+E_off=0.05 J
P_sw=f_s(E_on+E_off)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3822191"/>
            <a:ext cx="32461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39912" y="3950207"/>
            <a:ext cx="29169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Noto Sans CJK JP"/>
              </a:rPr>
              <a:t>f_s = 4 kHz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9912" y="4334256"/>
            <a:ext cx="2916936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Si系: 720 W
SiC系: 368 W
1回当たりEが一定なら、P_swはf_sに比例。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51052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26C"/>
                </a:solidFill>
                <a:latin typeface="Noto Sans CJK JP"/>
              </a:rPr>
              <a:t>教材内の数値は比較用仮定値。N700S実車定数ではない。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B1F24"/>
                </a:solidFill>
                <a:latin typeface="Noto Sans CJK JP"/>
              </a:rPr>
              <a:t>06  指定可視化C：同一条件でSi系とSiC系を比較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115568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188719" y="1344168"/>
            <a:ext cx="4800601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7" y="123444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550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19" y="2095804"/>
            <a:ext cx="4800601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58367" y="1986076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440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19" y="2847441"/>
            <a:ext cx="4800601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58367" y="2737713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330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19" y="3599078"/>
            <a:ext cx="4800601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8367" y="348935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220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88719" y="4350715"/>
            <a:ext cx="4800601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7" y="4240987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110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719" y="5102352"/>
            <a:ext cx="4800601" cy="0"/>
          </a:xfrm>
          <a:prstGeom prst="line">
            <a:avLst/>
          </a:prstGeom>
          <a:ln w="10160">
            <a:solidFill>
              <a:srgbClr val="EB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7" y="4992624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A626C"/>
                </a:solidFill>
                <a:latin typeface="Noto Sans CJK JP"/>
              </a:rPr>
              <a:t>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719" y="5102352"/>
            <a:ext cx="4800601" cy="0"/>
          </a:xfrm>
          <a:prstGeom prst="line">
            <a:avLst/>
          </a:prstGeom>
          <a:ln w="1524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536763" y="3462417"/>
            <a:ext cx="504063" cy="163993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9882" y="3206385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Noto Sans CJK JP"/>
              </a:rPr>
              <a:t>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5874" y="517550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B1F24"/>
                </a:solidFill>
                <a:latin typeface="Noto Sans CJK JP"/>
              </a:rPr>
              <a:t>Si
導通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36913" y="1822482"/>
            <a:ext cx="504063" cy="3279869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0033" y="1566450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Noto Sans CJK JP"/>
              </a:rPr>
              <a:t>480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6025" y="517550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B1F24"/>
                </a:solidFill>
                <a:latin typeface="Noto Sans CJK JP"/>
              </a:rPr>
              <a:t>Si
SW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63" y="3954397"/>
            <a:ext cx="504063" cy="114795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0183" y="3698365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  <a:latin typeface="Noto Sans CJK JP"/>
              </a:rPr>
              <a:t>168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6175" y="517550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B1F24"/>
                </a:solidFill>
                <a:latin typeface="Noto Sans CJK JP"/>
              </a:rPr>
              <a:t>SiC
導通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7213" y="3735739"/>
            <a:ext cx="504063" cy="13666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0333" y="3479707"/>
            <a:ext cx="8778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59669"/>
                </a:solidFill>
                <a:latin typeface="Noto Sans CJK JP"/>
              </a:rPr>
              <a:t>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6325" y="5175504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B1F24"/>
                </a:solidFill>
                <a:latin typeface="Noto Sans CJK JP"/>
              </a:rPr>
              <a:t>SiC
SW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1325880"/>
            <a:ext cx="53035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26C"/>
                </a:solidFill>
                <a:latin typeface="Noto Sans CJK JP"/>
              </a:rPr>
              <a:t>損失 [W]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37960" y="1234440"/>
            <a:ext cx="5029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1362456"/>
            <a:ext cx="470001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Noto Sans CJK JP"/>
              </a:rPr>
              <a:t>代表条件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1746504"/>
            <a:ext cx="470001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I=200 A, D=0.60, f_s=4 kHz, R_th=0.05 K/W
（可視化A・Bと同じ仮定値）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281635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2552" y="2944368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Noto Sans CJK JP"/>
              </a:rPr>
              <a:t>Si系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3328416"/>
            <a:ext cx="200253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P_total = 720 W
ΔT = 36.0 K
P_cond 240 + P_sw 480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2816352"/>
            <a:ext cx="2331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2" y="2944368"/>
            <a:ext cx="2002536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9669"/>
                </a:solidFill>
                <a:latin typeface="Noto Sans CJK JP"/>
              </a:rPr>
              <a:t>SiC系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3328416"/>
            <a:ext cx="200253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B1F24"/>
                </a:solidFill>
                <a:latin typeface="Noto Sans CJK JP"/>
              </a:rPr>
              <a:t>P_total = 368 W
ΔT = 18.4 K
P_cond 168 + P_sw 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010912"/>
            <a:ext cx="4983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B1F24"/>
                </a:solidFill>
                <a:latin typeface="Noto Sans CJK JP"/>
              </a:rPr>
              <a:t>同じ仕事・同じ条件で比較して初めて、損失差 → 発熱差 → 冷却設計への波及を議論できる。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A626C"/>
                </a:solidFill>
                <a:latin typeface="Noto Sans CJK JP"/>
              </a:rPr>
              <a:t>教材内の数値は比較用仮定値。N700S実車定数ではない。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