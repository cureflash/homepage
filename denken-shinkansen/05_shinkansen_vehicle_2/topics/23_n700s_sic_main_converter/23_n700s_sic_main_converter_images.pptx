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0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23 N700S SiC主変換装置 — 損失を読む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500000" y="950000"/>
            <a:ext cx="6000000" cy="4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00" b="0"/>
              <a:t>第二種の損失分解</a:t>
            </a:r>
            <a:endParaRPr lang="ja-JP" sz="1800"/>
          </a:p>
          <a:p>
            <a:r>
              <a:rPr lang="ja-JP" sz="1800" b="0"/>
              <a:t>p(t)=v(t)i(t)</a:t>
            </a:r>
            <a:endParaRPr lang="ja-JP" sz="1800"/>
          </a:p>
          <a:p>
            <a:r>
              <a:rPr lang="ja-JP" sz="1800" b="0"/>
              <a:t>Pcond=Von I D / Irms²Ron</a:t>
            </a:r>
            <a:endParaRPr lang="ja-JP" sz="1800"/>
          </a:p>
          <a:p>
            <a:r>
              <a:rPr lang="ja-JP" sz="1800" b="0"/>
              <a:t>Esw=∫v(t)i(t)dt</a:t>
            </a:r>
            <a:endParaRPr lang="ja-JP" sz="1800"/>
          </a:p>
          <a:p>
            <a:r>
              <a:rPr lang="ja-JP" sz="1800" b="0"/>
              <a:t>Psw=fs(Eon+Eoff)</a:t>
            </a:r>
            <a:endParaRPr lang="ja-JP" sz="1800"/>
          </a:p>
          <a:p>
            <a:r>
              <a:rPr lang="ja-JP" sz="1800" b="0"/>
              <a:t>R7: 電圧形インバータ / IGBT・MOSFET / 逆並列ダイオード / PWM / fs</a:t>
            </a:r>
            <a:endParaRPr lang="ja-JP" sz="1800"/>
          </a:p>
          <a:p>
            <a:r>
              <a:rPr lang="ja-JP" sz="1800" b="0"/>
              <a:t>R4: オン損失・漏れ電流・スイッチング損失 / T=1/fs / ソフトスイッチング</a:t>
            </a:r>
            <a:endParaRPr lang="ja-JP" sz="1800"/>
          </a:p>
          <a:p>
            <a:r>
              <a:rPr lang="ja-JP" sz="1800" b="0"/>
              <a:t>R2 問2(4): 問題図の p(t) をそのまま積分</a:t>
            </a:r>
            <a:endParaRPr lang="ja-JP" sz="1800"/>
          </a:p>
        </p:txBody>
      </p:sp>
      <p:sp>
        <p:nvSpPr>
          <p:cNvPr id="4" name="TriText"/>
          <p:cNvSpPr txBox="1"/>
          <p:nvPr/>
        </p:nvSpPr>
        <p:spPr>
          <a:xfrm>
            <a:off x="6900000" y="1050000"/>
            <a:ext cx="4700000" cy="1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900" b="1"/>
              <a:t>固定R2: p(t) は三角波</a:t>
            </a:r>
            <a:endParaRPr lang="ja-JP" sz="1900"/>
          </a:p>
          <a:p>
            <a:r>
              <a:rPr lang="ja-JP" sz="1900" b="1"/>
              <a:t>Woff=(1/2)Vdc Idc T2</a:t>
            </a:r>
            <a:endParaRPr lang="ja-JP" sz="1900"/>
          </a:p>
        </p:txBody>
      </p:sp>
      <p:sp>
        <p:nvSpPr>
          <p:cNvPr id="5" name="axisx"/>
          <p:cNvSpPr/>
          <p:nvPr/>
        </p:nvSpPr>
        <p:spPr>
          <a:xfrm>
            <a:off x="7100000" y="3500000"/>
            <a:ext cx="3600000" cy="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6" name="axisy"/>
          <p:cNvSpPr/>
          <p:nvPr/>
        </p:nvSpPr>
        <p:spPr>
          <a:xfrm>
            <a:off x="7100000" y="2000000"/>
            <a:ext cx="0" cy="15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7" name="tri1"/>
          <p:cNvSpPr/>
          <p:nvPr/>
        </p:nvSpPr>
        <p:spPr>
          <a:xfrm>
            <a:off x="7100000" y="3500000"/>
            <a:ext cx="1800000" cy="-12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8" name="tri2"/>
          <p:cNvSpPr/>
          <p:nvPr/>
        </p:nvSpPr>
        <p:spPr>
          <a:xfrm>
            <a:off x="8900000" y="2300000"/>
            <a:ext cx="1800000" cy="12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9" name="Note"/>
          <p:cNvSpPr txBox="1"/>
          <p:nvPr/>
        </p:nvSpPr>
        <p:spPr>
          <a:xfrm>
            <a:off x="6900000" y="4000000"/>
            <a:ext cx="4700000" cy="1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VI ts/6 は「電圧と電流が相補的な直線ランプ」の別条件だけ。</a:t>
            </a:r>
            <a:endParaRPr lang="ja-JP" sz="15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0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読図手順を固定する — R2一次 問2</a:t>
            </a:r>
            <a:endParaRPr lang="ja-JP" sz="2600"/>
          </a:p>
        </p:txBody>
      </p:sp>
      <p:sp>
        <p:nvSpPr>
          <p:cNvPr id="3" name="Body"/>
          <p:cNvSpPr txBox="1"/>
          <p:nvPr/>
        </p:nvSpPr>
        <p:spPr>
          <a:xfrm>
            <a:off x="500000" y="950000"/>
            <a:ext cx="5100000" cy="5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750" b="0"/>
              <a:t>H24二次への橋渡し</a:t>
            </a:r>
            <a:endParaRPr lang="ja-JP" sz="1750"/>
          </a:p>
          <a:p>
            <a:r>
              <a:rPr lang="ja-JP" sz="1750" b="0"/>
              <a:t>可逆チョッパ / IGBT・ダイオード電圧降下 / Ia / 通流率D</a:t>
            </a:r>
            <a:endParaRPr lang="ja-JP" sz="1750"/>
          </a:p>
          <a:p>
            <a:r>
              <a:rPr lang="ja-JP" sz="1750" b="0"/>
              <a:t>Va=E+Ra Ia、一定磁束で E∝n</a:t>
            </a:r>
            <a:endParaRPr lang="ja-JP" sz="1750"/>
          </a:p>
          <a:p>
            <a:r>
              <a:rPr lang="ja-JP" sz="1750" b="0"/>
              <a:t>Va=D Vstate1+(1−D)Vstate2、0≤D≤1</a:t>
            </a:r>
            <a:endParaRPr lang="ja-JP" sz="1750"/>
          </a:p>
          <a:p>
            <a:r>
              <a:rPr lang="ja-JP" sz="1750" b="0"/>
              <a:t>導通損失は電圧降下×電流×通流率。途中式まで示す。</a:t>
            </a:r>
            <a:endParaRPr lang="ja-JP" sz="1750"/>
          </a:p>
          <a:p>
            <a:r>
              <a:rPr lang="ja-JP" sz="1750" b="0"/>
              <a:t>※N700S実機回路値ではない</a:t>
            </a:r>
            <a:endParaRPr lang="ja-JP" sz="1750"/>
          </a:p>
        </p:txBody>
      </p:sp>
      <p:sp>
        <p:nvSpPr>
          <p:cNvPr id="4" name="R2"/>
          <p:cNvSpPr txBox="1"/>
          <p:nvPr/>
        </p:nvSpPr>
        <p:spPr>
          <a:xfrm>
            <a:off x="6000000" y="950000"/>
            <a:ext cx="5300000" cy="65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950" b="1"/>
              <a:t>R2 問2(2): 矢印極性 → 状態表 → 平均値</a:t>
            </a:r>
            <a:endParaRPr lang="ja-JP" sz="1950"/>
          </a:p>
        </p:txBody>
      </p:sp>
      <p:sp>
        <p:nvSpPr>
          <p:cNvPr id="5" name="h1"/>
          <p:cNvSpPr/>
          <p:nvPr/>
        </p:nvSpPr>
        <p:spPr>
          <a:xfrm>
            <a:off x="6100000" y="1900000"/>
            <a:ext cx="1700000" cy="50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状態</a:t>
            </a:r>
            <a:endParaRPr lang="ja-JP" sz="1500"/>
          </a:p>
        </p:txBody>
      </p:sp>
      <p:sp>
        <p:nvSpPr>
          <p:cNvPr id="6" name="h2"/>
          <p:cNvSpPr/>
          <p:nvPr/>
        </p:nvSpPr>
        <p:spPr>
          <a:xfrm>
            <a:off x="7800000" y="1900000"/>
            <a:ext cx="1700000" cy="50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時間</a:t>
            </a:r>
            <a:endParaRPr lang="ja-JP" sz="1500"/>
          </a:p>
        </p:txBody>
      </p:sp>
      <p:sp>
        <p:nvSpPr>
          <p:cNvPr id="7" name="h3"/>
          <p:cNvSpPr/>
          <p:nvPr/>
        </p:nvSpPr>
        <p:spPr>
          <a:xfrm>
            <a:off x="9500000" y="1900000"/>
            <a:ext cx="1700000" cy="50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v</a:t>
            </a:r>
            <a:endParaRPr lang="ja-JP" sz="1500"/>
          </a:p>
        </p:txBody>
      </p:sp>
      <p:sp>
        <p:nvSpPr>
          <p:cNvPr id="8" name="r11"/>
          <p:cNvSpPr/>
          <p:nvPr/>
        </p:nvSpPr>
        <p:spPr>
          <a:xfrm>
            <a:off x="6100000" y="2400000"/>
            <a:ext cx="1700000" cy="650000"/>
          </a:xfrm>
          <a:prstGeom prst="rect">
            <a:avLst/>
          </a:prstGeom>
          <a:solidFill>
            <a:srgbClr val="FFFFFF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S ON</a:t>
            </a:r>
            <a:endParaRPr lang="ja-JP" sz="1500"/>
          </a:p>
        </p:txBody>
      </p:sp>
      <p:sp>
        <p:nvSpPr>
          <p:cNvPr id="9" name="r12"/>
          <p:cNvSpPr/>
          <p:nvPr/>
        </p:nvSpPr>
        <p:spPr>
          <a:xfrm>
            <a:off x="7800000" y="2400000"/>
            <a:ext cx="1700000" cy="650000"/>
          </a:xfrm>
          <a:prstGeom prst="rect">
            <a:avLst/>
          </a:prstGeom>
          <a:solidFill>
            <a:srgbClr val="FFFFFF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DT</a:t>
            </a:r>
            <a:endParaRPr lang="ja-JP" sz="1500"/>
          </a:p>
        </p:txBody>
      </p:sp>
      <p:sp>
        <p:nvSpPr>
          <p:cNvPr id="10" name="r13"/>
          <p:cNvSpPr/>
          <p:nvPr/>
        </p:nvSpPr>
        <p:spPr>
          <a:xfrm>
            <a:off x="9500000" y="2400000"/>
            <a:ext cx="1700000" cy="650000"/>
          </a:xfrm>
          <a:prstGeom prst="rect">
            <a:avLst/>
          </a:prstGeom>
          <a:solidFill>
            <a:srgbClr val="FFFFFF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Vdc</a:t>
            </a:r>
            <a:endParaRPr lang="ja-JP" sz="1500"/>
          </a:p>
        </p:txBody>
      </p:sp>
      <p:sp>
        <p:nvSpPr>
          <p:cNvPr id="11" name="r21"/>
          <p:cNvSpPr/>
          <p:nvPr/>
        </p:nvSpPr>
        <p:spPr>
          <a:xfrm>
            <a:off x="6100000" y="3050000"/>
            <a:ext cx="1700000" cy="650000"/>
          </a:xfrm>
          <a:prstGeom prst="rect">
            <a:avLst/>
          </a:prstGeom>
          <a:solidFill>
            <a:srgbClr val="FFFFFF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S OFF・還流</a:t>
            </a:r>
            <a:endParaRPr lang="ja-JP" sz="1500"/>
          </a:p>
        </p:txBody>
      </p:sp>
      <p:sp>
        <p:nvSpPr>
          <p:cNvPr id="12" name="r22"/>
          <p:cNvSpPr/>
          <p:nvPr/>
        </p:nvSpPr>
        <p:spPr>
          <a:xfrm>
            <a:off x="7800000" y="3050000"/>
            <a:ext cx="1700000" cy="650000"/>
          </a:xfrm>
          <a:prstGeom prst="rect">
            <a:avLst/>
          </a:prstGeom>
          <a:solidFill>
            <a:srgbClr val="FFFFFF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(1−D)T</a:t>
            </a:r>
            <a:endParaRPr lang="ja-JP" sz="1500"/>
          </a:p>
        </p:txBody>
      </p:sp>
      <p:sp>
        <p:nvSpPr>
          <p:cNvPr id="13" name="r23"/>
          <p:cNvSpPr/>
          <p:nvPr/>
        </p:nvSpPr>
        <p:spPr>
          <a:xfrm>
            <a:off x="9500000" y="3050000"/>
            <a:ext cx="1700000" cy="650000"/>
          </a:xfrm>
          <a:prstGeom prst="rect">
            <a:avLst/>
          </a:prstGeom>
          <a:solidFill>
            <a:srgbClr val="FFFFFF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500" b="1"/>
              <a:t>0</a:t>
            </a:r>
            <a:endParaRPr lang="ja-JP" sz="1500"/>
          </a:p>
        </p:txBody>
      </p:sp>
      <p:sp>
        <p:nvSpPr>
          <p:cNvPr id="14" name="Avg"/>
          <p:cNvSpPr txBox="1"/>
          <p:nvPr/>
        </p:nvSpPr>
        <p:spPr>
          <a:xfrm>
            <a:off x="6100000" y="4100000"/>
            <a:ext cx="51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900" b="1"/>
              <a:t>V={Vdc·DT+0·(1−D)T}/T = D Vdc</a:t>
            </a:r>
            <a:endParaRPr lang="ja-JP" sz="19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0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損失から冷却・小型軽量化へ</a:t>
            </a:r>
            <a:endParaRPr lang="ja-JP" sz="2600"/>
          </a:p>
        </p:txBody>
      </p:sp>
      <p:sp>
        <p:nvSpPr>
          <p:cNvPr id="3" name="Flow"/>
          <p:cNvSpPr txBox="1"/>
          <p:nvPr/>
        </p:nvSpPr>
        <p:spPr>
          <a:xfrm>
            <a:off x="600000" y="1100000"/>
            <a:ext cx="11000000" cy="10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850" b="1"/>
              <a:t>損失低減 → 発熱低減 → 許容熱抵抗増大 → 冷却要求緩和 → 冷却簡素化 → 小型軽量化</a:t>
            </a:r>
            <a:endParaRPr lang="ja-JP" sz="1850"/>
          </a:p>
        </p:txBody>
      </p:sp>
      <p:sp>
        <p:nvSpPr>
          <p:cNvPr id="4" name="Eq"/>
          <p:cNvSpPr txBox="1"/>
          <p:nvPr/>
        </p:nvSpPr>
        <p:spPr>
          <a:xfrm>
            <a:off x="600000" y="2400000"/>
            <a:ext cx="5000000" cy="1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000" b="0"/>
              <a:t>Tj≈Ta+Ploss Rth</a:t>
            </a:r>
            <a:endParaRPr lang="ja-JP" sz="2000"/>
          </a:p>
          <a:p>
            <a:r>
              <a:rPr lang="ja-JP" sz="2000" b="0"/>
              <a:t>Rth,max=(Tj,max−Ta)/Ploss</a:t>
            </a:r>
            <a:endParaRPr lang="ja-JP" sz="2000"/>
          </a:p>
        </p:txBody>
      </p:sp>
      <p:sp>
        <p:nvSpPr>
          <p:cNvPr id="5" name="Boundary"/>
          <p:cNvSpPr txBox="1"/>
          <p:nvPr/>
        </p:nvSpPr>
        <p:spPr>
          <a:xfrm>
            <a:off x="6000000" y="2200000"/>
            <a:ext cx="5400000" cy="2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600" b="0"/>
              <a:t>実車資料の境界</a:t>
            </a:r>
            <a:endParaRPr lang="ja-JP" sz="1600"/>
          </a:p>
          <a:p>
            <a:r>
              <a:rPr lang="ja-JP" sz="1600" b="0"/>
              <a:t>JR東海 7%: N700A比の電力消費量低減。SiC単独効果ではない。</a:t>
            </a:r>
            <a:endParaRPr lang="ja-JP" sz="1600"/>
          </a:p>
          <a:p>
            <a:r>
              <a:rPr lang="ja-JP" sz="1600" b="0"/>
              <a:t>富士電機 20%: 車両用駆動システム全体の従来比軽量化。車両全体20%減ではない。</a:t>
            </a:r>
            <a:endParaRPr lang="ja-JP"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0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可視化A — 電流と導通損失</a:t>
            </a:r>
            <a:endParaRPr lang="ja-JP" sz="2600"/>
          </a:p>
        </p:txBody>
      </p:sp>
      <p:sp>
        <p:nvSpPr>
          <p:cNvPr id="3" name="Assume"/>
          <p:cNvSpPr txBox="1"/>
          <p:nvPr/>
        </p:nvSpPr>
        <p:spPr>
          <a:xfrm>
            <a:off x="500000" y="950000"/>
            <a:ext cx="110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50" b="0"/>
              <a:t>仮定モデル: D=0.60、Si Von=2.0 V、SiC Von=1.4 V（N700S実車定数ではない）</a:t>
            </a:r>
            <a:endParaRPr lang="ja-JP" sz="1550"/>
          </a:p>
        </p:txBody>
      </p:sp>
      <p:sp>
        <p:nvSpPr>
          <p:cNvPr id="4" name="x"/>
          <p:cNvSpPr/>
          <p:nvPr/>
        </p:nvSpPr>
        <p:spPr>
          <a:xfrm>
            <a:off x="1000000" y="5600000"/>
            <a:ext cx="9500000" cy="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5" name="y"/>
          <p:cNvSpPr/>
          <p:nvPr/>
        </p:nvSpPr>
        <p:spPr>
          <a:xfrm>
            <a:off x="1000000" y="1800000"/>
            <a:ext cx="0" cy="38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6" name="si"/>
          <p:cNvSpPr/>
          <p:nvPr/>
        </p:nvSpPr>
        <p:spPr>
          <a:xfrm>
            <a:off x="1000000" y="5600000"/>
            <a:ext cx="8500000" cy="-30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7" name="sic"/>
          <p:cNvSpPr/>
          <p:nvPr/>
        </p:nvSpPr>
        <p:spPr>
          <a:xfrm>
            <a:off x="1000000" y="5600000"/>
            <a:ext cx="8500000" cy="-21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8" name="Lbl"/>
          <p:cNvSpPr txBox="1"/>
          <p:nvPr/>
        </p:nvSpPr>
        <p:spPr>
          <a:xfrm>
            <a:off x="6500000" y="1900000"/>
            <a:ext cx="45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50" b="0"/>
              <a:t>Pcond,Si=2.0·I·0.60</a:t>
            </a:r>
            <a:endParaRPr lang="ja-JP" sz="1550"/>
          </a:p>
          <a:p>
            <a:r>
              <a:rPr lang="ja-JP" sz="1550" b="0"/>
              <a:t>Pcond,SiC=1.4·I·0.60</a:t>
            </a:r>
            <a:endParaRPr lang="ja-JP" sz="1550"/>
          </a:p>
          <a:p>
            <a:r>
              <a:rPr lang="ja-JP" sz="1550" b="0"/>
              <a:t>I=200 A: 240 W / 168 W</a:t>
            </a:r>
            <a:endParaRPr lang="ja-JP" sz="15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0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可視化B — スイッチング周波数と総損失</a:t>
            </a:r>
            <a:endParaRPr lang="ja-JP" sz="2600"/>
          </a:p>
        </p:txBody>
      </p:sp>
      <p:sp>
        <p:nvSpPr>
          <p:cNvPr id="3" name="Assume"/>
          <p:cNvSpPr txBox="1"/>
          <p:nvPr/>
        </p:nvSpPr>
        <p:spPr>
          <a:xfrm>
            <a:off x="500000" y="950000"/>
            <a:ext cx="110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仮定モデル: Si Pcond=240 W, Esw=0.12 J / SiC Pcond=168 W, Esw=0.05 J</a:t>
            </a:r>
            <a:endParaRPr lang="ja-JP" sz="1500"/>
          </a:p>
          <a:p>
            <a:r>
              <a:rPr lang="ja-JP" sz="1500" b="0"/>
              <a:t>Ptotal=Pcond+fs Esw</a:t>
            </a:r>
            <a:endParaRPr lang="ja-JP" sz="1500"/>
          </a:p>
        </p:txBody>
      </p:sp>
      <p:sp>
        <p:nvSpPr>
          <p:cNvPr id="4" name="x"/>
          <p:cNvSpPr/>
          <p:nvPr/>
        </p:nvSpPr>
        <p:spPr>
          <a:xfrm>
            <a:off x="1000000" y="5700000"/>
            <a:ext cx="9500000" cy="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5" name="y"/>
          <p:cNvSpPr/>
          <p:nvPr/>
        </p:nvSpPr>
        <p:spPr>
          <a:xfrm>
            <a:off x="1000000" y="1900000"/>
            <a:ext cx="0" cy="38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6" name="si"/>
          <p:cNvSpPr/>
          <p:nvPr/>
        </p:nvSpPr>
        <p:spPr>
          <a:xfrm>
            <a:off x="1000000" y="4700000"/>
            <a:ext cx="8500000" cy="-24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7" name="sic"/>
          <p:cNvSpPr/>
          <p:nvPr/>
        </p:nvSpPr>
        <p:spPr>
          <a:xfrm>
            <a:off x="1000000" y="5200000"/>
            <a:ext cx="8500000" cy="-1300000"/>
          </a:xfrm>
          <a:prstGeom prst="line">
            <a:avLst/>
          </a:prstGeom>
          <a:ln w="19050">
            <a:solidFill>
              <a:srgbClr val="5B6573"/>
            </a:solidFill>
          </a:ln>
        </p:spPr>
      </p:sp>
      <p:sp>
        <p:nvSpPr>
          <p:cNvPr id="8" name="Vals"/>
          <p:cNvSpPr txBox="1"/>
          <p:nvPr/>
        </p:nvSpPr>
        <p:spPr>
          <a:xfrm>
            <a:off x="6100000" y="2100000"/>
            <a:ext cx="5000000" cy="18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50" b="0"/>
              <a:t>fs [kHz]: 0.5, 1, 2, 3, 4</a:t>
            </a:r>
            <a:endParaRPr lang="ja-JP" sz="1550"/>
          </a:p>
          <a:p>
            <a:r>
              <a:rPr lang="ja-JP" sz="1550" b="0"/>
              <a:t>Si [W]: 300, 360, 480, 600, 720</a:t>
            </a:r>
            <a:endParaRPr lang="ja-JP" sz="1550"/>
          </a:p>
          <a:p>
            <a:r>
              <a:rPr lang="ja-JP" sz="1550" b="0"/>
              <a:t>SiC [W]: 193, 218, 268, 318, 368</a:t>
            </a:r>
            <a:endParaRPr lang="ja-JP" sz="15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0000" y="200000"/>
            <a:ext cx="11200000" cy="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2600" b="1"/>
              <a:t>可視化C — 同条件Si系・SiC系比較</a:t>
            </a:r>
            <a:endParaRPr lang="ja-JP" sz="2600"/>
          </a:p>
        </p:txBody>
      </p:sp>
      <p:sp>
        <p:nvSpPr>
          <p:cNvPr id="3" name="Assume"/>
          <p:cNvSpPr txBox="1"/>
          <p:nvPr/>
        </p:nvSpPr>
        <p:spPr>
          <a:xfrm>
            <a:off x="500000" y="950000"/>
            <a:ext cx="11000000" cy="7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00" b="0"/>
              <a:t>同条件仮定: I=200 A, D=0.60, fs=4 kHz, Rth=0.05 K/W（実車値ではない）</a:t>
            </a:r>
            <a:endParaRPr lang="ja-JP" sz="1500"/>
          </a:p>
        </p:txBody>
      </p:sp>
      <p:sp>
        <p:nvSpPr>
          <p:cNvPr id="4" name="Si 導通"/>
          <p:cNvSpPr/>
          <p:nvPr/>
        </p:nvSpPr>
        <p:spPr>
          <a:xfrm>
            <a:off x="1800000" y="4300000"/>
            <a:ext cx="800000" cy="120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300" b="1"/>
              <a:t>240 W</a:t>
            </a:r>
            <a:endParaRPr lang="ja-JP" sz="1300"/>
          </a:p>
        </p:txBody>
      </p:sp>
      <p:sp>
        <p:nvSpPr>
          <p:cNvPr id="5" name="Si 導通lbl"/>
          <p:cNvSpPr txBox="1"/>
          <p:nvPr/>
        </p:nvSpPr>
        <p:spPr>
          <a:xfrm>
            <a:off x="1700000" y="5700000"/>
            <a:ext cx="100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100" b="0"/>
              <a:t>Si 導通</a:t>
            </a:r>
            <a:endParaRPr lang="ja-JP" sz="1100"/>
          </a:p>
        </p:txBody>
      </p:sp>
      <p:sp>
        <p:nvSpPr>
          <p:cNvPr id="6" name="Si switching"/>
          <p:cNvSpPr/>
          <p:nvPr/>
        </p:nvSpPr>
        <p:spPr>
          <a:xfrm>
            <a:off x="3000000" y="3100000"/>
            <a:ext cx="800000" cy="240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300" b="1"/>
              <a:t>480 W</a:t>
            </a:r>
            <a:endParaRPr lang="ja-JP" sz="1300"/>
          </a:p>
        </p:txBody>
      </p:sp>
      <p:sp>
        <p:nvSpPr>
          <p:cNvPr id="7" name="Si switchinglbl"/>
          <p:cNvSpPr txBox="1"/>
          <p:nvPr/>
        </p:nvSpPr>
        <p:spPr>
          <a:xfrm>
            <a:off x="2900000" y="5700000"/>
            <a:ext cx="100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100" b="0"/>
              <a:t>Si switching</a:t>
            </a:r>
            <a:endParaRPr lang="ja-JP" sz="1100"/>
          </a:p>
        </p:txBody>
      </p:sp>
      <p:sp>
        <p:nvSpPr>
          <p:cNvPr id="8" name="SiC 導通"/>
          <p:cNvSpPr/>
          <p:nvPr/>
        </p:nvSpPr>
        <p:spPr>
          <a:xfrm>
            <a:off x="5000000" y="4660000"/>
            <a:ext cx="800000" cy="84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300" b="1"/>
              <a:t>168 W</a:t>
            </a:r>
            <a:endParaRPr lang="ja-JP" sz="1300"/>
          </a:p>
        </p:txBody>
      </p:sp>
      <p:sp>
        <p:nvSpPr>
          <p:cNvPr id="9" name="SiC 導通lbl"/>
          <p:cNvSpPr txBox="1"/>
          <p:nvPr/>
        </p:nvSpPr>
        <p:spPr>
          <a:xfrm>
            <a:off x="4900000" y="5700000"/>
            <a:ext cx="100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100" b="0"/>
              <a:t>SiC 導通</a:t>
            </a:r>
            <a:endParaRPr lang="ja-JP" sz="1100"/>
          </a:p>
        </p:txBody>
      </p:sp>
      <p:sp>
        <p:nvSpPr>
          <p:cNvPr id="10" name="SiC switching"/>
          <p:cNvSpPr/>
          <p:nvPr/>
        </p:nvSpPr>
        <p:spPr>
          <a:xfrm>
            <a:off x="6200000" y="4500000"/>
            <a:ext cx="800000" cy="1000000"/>
          </a:xfrm>
          <a:prstGeom prst="rect">
            <a:avLst/>
          </a:prstGeom>
          <a:solidFill>
            <a:srgbClr val="D9EAF7"/>
          </a:solidFill>
          <a:ln>
            <a:solidFill>
              <a:srgbClr val="5B6573"/>
            </a:solidFill>
          </a:ln>
        </p:spPr>
        <p:txBody>
          <a:bodyPr anchor="ctr"/>
          <a:lstStyle/>
          <a:p>
            <a:pPr algn="ctr"/>
            <a:r>
              <a:rPr lang="ja-JP" sz="1300" b="1"/>
              <a:t>200 W</a:t>
            </a:r>
            <a:endParaRPr lang="ja-JP" sz="1300"/>
          </a:p>
        </p:txBody>
      </p:sp>
      <p:sp>
        <p:nvSpPr>
          <p:cNvPr id="11" name="SiC switchinglbl"/>
          <p:cNvSpPr txBox="1"/>
          <p:nvPr/>
        </p:nvSpPr>
        <p:spPr>
          <a:xfrm>
            <a:off x="6100000" y="5700000"/>
            <a:ext cx="1000000" cy="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100" b="0"/>
              <a:t>SiC switching</a:t>
            </a:r>
            <a:endParaRPr lang="ja-JP" sz="1100"/>
          </a:p>
        </p:txBody>
      </p:sp>
      <p:sp>
        <p:nvSpPr>
          <p:cNvPr id="12" name="Summary"/>
          <p:cNvSpPr txBox="1"/>
          <p:nvPr/>
        </p:nvSpPr>
        <p:spPr>
          <a:xfrm>
            <a:off x="7800000" y="2200000"/>
            <a:ext cx="35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ja-JP" sz="1550" b="0"/>
              <a:t>Si total 720 W → ΔT 36.0 K</a:t>
            </a:r>
            <a:endParaRPr lang="ja-JP" sz="1550"/>
          </a:p>
          <a:p>
            <a:r>
              <a:rPr lang="ja-JP" sz="1550" b="0"/>
              <a:t>SiC total 368 W → ΔT 18.4 K</a:t>
            </a:r>
            <a:endParaRPr lang="ja-JP" sz="1550"/>
          </a:p>
          <a:p>
            <a:r>
              <a:rPr lang="ja-JP" sz="1550" b="0"/>
              <a:t/>
            </a:r>
            <a:endParaRPr lang="ja-JP" sz="1550"/>
          </a:p>
          <a:p>
            <a:r>
              <a:rPr lang="ja-JP" sz="1550" b="0"/>
              <a:t>同一条件なら低損失化が発熱・冷却要求低減へつながる。</a:t>
            </a:r>
            <a:endParaRPr lang="ja-JP" sz="1550"/>
          </a:p>
        </p:txBody>
      </p:sp>
    </p:spTree>
  </p:cSld>
  <p:clrMapOvr>
    <a:masterClrMapping/>
  </p:clrMapOvr>
</p:sld>
</file>