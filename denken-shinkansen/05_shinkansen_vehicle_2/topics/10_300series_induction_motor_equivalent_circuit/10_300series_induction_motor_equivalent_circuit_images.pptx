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84B63"/>
          </a:solidFill>
          <a:ln w="12700">
            <a:solidFill>
              <a:srgbClr val="284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 × 新幹線車両　Topic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0" y="64922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3E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教材用仮定値（300系実車値ではない）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57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57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300系① 誘導電動機等価回路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07F"/>
                </a:solidFill>
              </a:rPr>
              <a:t>一次・二次の固定5過去問／22答案要素を支える最小モデル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4B63"/>
                </a:solidFill>
              </a:rPr>
              <a:t>1相分へ落とす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914400" cy="91440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37360"/>
            <a:ext cx="1143000" cy="548640"/>
          </a:xfrm>
          <a:prstGeom prst="roundRect">
            <a:avLst/>
          </a:prstGeom>
          <a:solidFill>
            <a:srgbClr val="F0F4F8"/>
          </a:solidFill>
          <a:ln w="13970">
            <a:solidFill>
              <a:srgbClr val="3C6E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4752" y="1783080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r₁ + jx₁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14600" y="2011680"/>
            <a:ext cx="914400" cy="91440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737360"/>
            <a:ext cx="1417320" cy="548640"/>
          </a:xfrm>
          <a:prstGeom prst="roundRect">
            <a:avLst/>
          </a:prstGeom>
          <a:solidFill>
            <a:srgbClr val="FFF2EF"/>
          </a:solidFill>
          <a:ln w="13970">
            <a:solidFill>
              <a:srgbClr val="B55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78308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r₂′/s + jx₂′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914400" cy="91440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19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Vφ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2011680"/>
            <a:ext cx="914400" cy="914400"/>
          </a:xfrm>
          <a:prstGeom prst="line">
            <a:avLst/>
          </a:prstGeom>
          <a:noFill/>
          <a:ln w="1524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57984" y="2788920"/>
            <a:ext cx="1353312" cy="530352"/>
          </a:xfrm>
          <a:prstGeom prst="roundRect">
            <a:avLst/>
          </a:prstGeom>
          <a:solidFill>
            <a:srgbClr val="F1F6F3"/>
          </a:solidFill>
          <a:ln w="13970">
            <a:solidFill>
              <a:srgbClr val="5B8E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136" y="283464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Rc ∥ jXm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31720" y="3355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7F"/>
                </a:solidFill>
              </a:rPr>
              <a:t>励磁枝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858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B63"/>
                </a:solidFill>
              </a:rPr>
              <a:t>運転時の核心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187952"/>
            <a:ext cx="1417320" cy="566928"/>
          </a:xfrm>
          <a:prstGeom prst="roundRect">
            <a:avLst/>
          </a:prstGeom>
          <a:solidFill>
            <a:srgbClr val="EEF4F8"/>
          </a:solidFill>
          <a:ln w="13970">
            <a:solidFill>
              <a:srgbClr val="3C6E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3367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s=(Ns−N)/Ns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04288" y="4187952"/>
            <a:ext cx="1554480" cy="566928"/>
          </a:xfrm>
          <a:prstGeom prst="roundRect">
            <a:avLst/>
          </a:prstGeom>
          <a:solidFill>
            <a:srgbClr val="FFF2EF"/>
          </a:solidFill>
          <a:ln w="13970">
            <a:solidFill>
              <a:srgbClr val="B55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23367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r₂′/s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87368" y="4187952"/>
            <a:ext cx="2240280" cy="566928"/>
          </a:xfrm>
          <a:prstGeom prst="roundRect">
            <a:avLst/>
          </a:prstGeom>
          <a:solidFill>
            <a:srgbClr val="F1F6F3"/>
          </a:solidFill>
          <a:ln w="13970">
            <a:solidFill>
              <a:srgbClr val="5B8E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233672"/>
            <a:ext cx="209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P₂ : Pc₂ : Pm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= 1 : s : (1−s)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84832" y="4471416"/>
            <a:ext cx="914400" cy="914400"/>
          </a:xfrm>
          <a:prstGeom prst="line">
            <a:avLst/>
          </a:prstGeom>
          <a:noFill/>
          <a:ln w="15240">
            <a:solidFill>
              <a:srgbClr val="65707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67912" y="4471416"/>
            <a:ext cx="914400" cy="914400"/>
          </a:xfrm>
          <a:prstGeom prst="line">
            <a:avLst/>
          </a:prstGeom>
          <a:noFill/>
          <a:ln w="15240">
            <a:solidFill>
              <a:srgbClr val="6570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12280" y="1188720"/>
            <a:ext cx="4709160" cy="4873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6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4B63"/>
                </a:solidFill>
              </a:rPr>
              <a:t>二種の解法手順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150608" y="1892808"/>
            <a:ext cx="3968496" cy="438912"/>
          </a:xfrm>
          <a:prstGeom prst="roundRect">
            <a:avLst/>
          </a:prstGeom>
          <a:solidFill>
            <a:srgbClr val="F5F8FB"/>
          </a:solidFill>
          <a:ln w="13970">
            <a:solidFill>
              <a:srgbClr val="DC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19385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① 結線を確認して相値へ変換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50608" y="2496312"/>
            <a:ext cx="3968496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254203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② Ns=120f/p → 滑り 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50608" y="3099816"/>
            <a:ext cx="3968496" cy="438912"/>
          </a:xfrm>
          <a:prstGeom prst="roundRect">
            <a:avLst/>
          </a:prstGeom>
          <a:solidFill>
            <a:srgbClr val="F5F8FB"/>
          </a:solidFill>
          <a:ln w="1397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314553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③ r₂′/s を等価回路へ入れる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50608" y="3703320"/>
            <a:ext cx="3968496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37490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④ 電流 → P₂ → Pc₂・Pm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50608" y="4306824"/>
            <a:ext cx="3968496" cy="438912"/>
          </a:xfrm>
          <a:prstGeom prst="roundRect">
            <a:avLst/>
          </a:prstGeom>
          <a:solidFill>
            <a:srgbClr val="F5F8FB"/>
          </a:solidFill>
          <a:ln w="13970">
            <a:solidFill>
              <a:srgbClr val="DC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435254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⑤ T=P₂/ωs、η=Pout/P₁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50608" y="4910328"/>
            <a:ext cx="3968496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95604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⑥ 最大トルク・比例推移を判定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" y="580644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07F"/>
                </a:solidFill>
              </a:rPr>
              <a:t>基準条件: Vφ=200 V, f=50 Hz, p=4, r₁=0.20 Ω, X=1.00 Ω, r₂′=0.30 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57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滑り s からトルクと出力を読む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07F"/>
                </a:solidFill>
              </a:rPr>
              <a:t>低滑り域 → 最大トルク → 始動点を同じ等価回路で追う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16152"/>
            <a:ext cx="5285232" cy="3456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1353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4B63"/>
                </a:solidFill>
              </a:rPr>
              <a:t>トルク―すべり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468880" y="136245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24D"/>
                </a:solidFill>
              </a:rPr>
              <a:t>最大点 sm≈0.294 / Tmax≈313 N·m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54480" y="4498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5707F"/>
                </a:solidFill>
              </a:rPr>
              <a:t>横軸 s　縦軸 T [N·m]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632" y="1216152"/>
            <a:ext cx="5285232" cy="34564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46520" y="13533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4B63"/>
                </a:solidFill>
              </a:rPr>
              <a:t>出力―すべり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646920" y="1362456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6E91"/>
                </a:solidFill>
              </a:rPr>
              <a:t>P₂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104120" y="136245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E7D"/>
                </a:solidFill>
              </a:rPr>
              <a:t>Pm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269480" y="4498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5707F"/>
                </a:solidFill>
              </a:rPr>
              <a:t>横軸 s　縦軸 P [kW]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68680" y="5102352"/>
            <a:ext cx="10332720" cy="658368"/>
          </a:xfrm>
          <a:prstGeom prst="roundRect">
            <a:avLst/>
          </a:prstGeom>
          <a:solidFill>
            <a:srgbClr val="EEF3F7"/>
          </a:solidFill>
          <a:ln w="13970">
            <a:solidFill>
              <a:srgbClr val="284B6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41832" y="5148072"/>
            <a:ext cx="10186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P₂ = 3 I₂′²(r₂′/s)　　Pc₂ = sP₂　　Pm = (1−s)P₂　　T = P₂/ωs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88920" y="59161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7F"/>
                </a:solidFill>
              </a:rPr>
              <a:t>固定過去問接続: R7一次 問2／R3二次 問1／H28二次 問1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57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効率―負荷率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07F"/>
                </a:solidFill>
              </a:rPr>
              <a:t>励磁枝を含む一次入力と機械出力から、負荷点ごとの η を計算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16152"/>
            <a:ext cx="69951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4B63"/>
                </a:solidFill>
              </a:rPr>
              <a:t>効率―負荷率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200400" y="137160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24D"/>
                </a:solidFill>
              </a:rPr>
              <a:t>基準点 s=0.040 / Pout≈14.33 kW / η≈92.6 %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103120" y="51663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5707F"/>
                </a:solidFill>
              </a:rPr>
              <a:t>横軸 負荷率（基準点Pout比）　縦軸 η [%]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75320" y="1325880"/>
            <a:ext cx="333756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D6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4B63"/>
                </a:solidFill>
              </a:rPr>
              <a:t>計算モデル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77072" y="21031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707F"/>
                </a:solidFill>
              </a:rPr>
              <a:t>直列枝電流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72600" y="2048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I₂′=Vφ/√{(r₁+r₂′/s)²+X²}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77072" y="27614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707F"/>
                </a:solidFill>
              </a:rPr>
              <a:t>機械出力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72600" y="27066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Pout≈Pm=(1−s)P₂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77072" y="34198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707F"/>
                </a:solidFill>
              </a:rPr>
              <a:t>鉄損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72600" y="33649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Pfe=3Vφ²/Rc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77072" y="40782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707F"/>
                </a:solidFill>
              </a:rPr>
              <a:t>一次入力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7260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P₁=Pfe+3I₂′²(r₁+r₂′/s)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77072" y="47365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707F"/>
                </a:solidFill>
              </a:rPr>
              <a:t>効率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72600" y="46817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</a:rPr>
              <a:t>η=Pout/P₁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85632" y="54315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524D"/>
                </a:solidFill>
              </a:rPr>
              <a:t>Rc=800 Ω, Xm=40 Ω は教材用仮定値。実車定格負荷率ではない。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11680" y="59436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7F"/>
                </a:solidFill>
              </a:rPr>
              <a:t>固定過去問接続: H28二次 問1(5) ― 一次入力と軸出力から効率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57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二次抵抗変更と比例推移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07F"/>
                </a:solidFill>
              </a:rPr>
              <a:t>最大トルク値はほぼ不変、最大トルク時滑り sm が r₂′ に比例して移る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1216152"/>
            <a:ext cx="7132320" cy="4315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53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4B63"/>
                </a:solidFill>
              </a:rPr>
              <a:t>トルク―すべり（r₂′比較）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5266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6E91"/>
                </a:solidFill>
              </a:rPr>
              <a:t>r₂′=0.20 Ω: sm≈0.196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834640" y="5266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524D"/>
                </a:solidFill>
              </a:rPr>
              <a:t>r₂′=0.30 Ω: sm≈0.294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54880" y="5266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6BA8"/>
                </a:solidFill>
              </a:rPr>
              <a:t>r₂′=0.45 Ω: sm≈0.441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229600" y="132588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4B63"/>
                </a:solidFill>
              </a:rPr>
              <a:t>比例推移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558784" y="2084832"/>
            <a:ext cx="2651760" cy="658368"/>
          </a:xfrm>
          <a:prstGeom prst="roundRect">
            <a:avLst/>
          </a:prstGeom>
          <a:solidFill>
            <a:srgbClr val="F3F6F9"/>
          </a:solidFill>
          <a:ln w="13970">
            <a:solidFill>
              <a:srgbClr val="284B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31936" y="213055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r₂a′/sa = r₂b′/sb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558784" y="2907792"/>
            <a:ext cx="2651760" cy="658368"/>
          </a:xfrm>
          <a:prstGeom prst="roundRect">
            <a:avLst/>
          </a:prstGeom>
          <a:solidFill>
            <a:srgbClr val="F3F6F9"/>
          </a:solidFill>
          <a:ln w="13970">
            <a:solidFill>
              <a:srgbClr val="284B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31936" y="295351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sb/sa = r₂b′/r₂a′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22792" y="3858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0.20 → 0.45 Ωなら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sm: 0.196 → 0.441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13648" y="4663440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524D"/>
                </a:solidFill>
              </a:rPr>
              <a:t>本近似では Tmax≈313 N·m でほぼ一定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13648" y="52303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5524D"/>
                </a:solidFill>
              </a:rPr>
              <a:t>「二次抵抗↑ → 最大トルク↑」は誤り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011680" y="59436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7F"/>
                </a:solidFill>
              </a:rPr>
              <a:t>固定過去問接続: H25一次 問1(1)／R7一次 問2(3)(4)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B657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300系① 誘導電動機等価回路</dc:title>
  <dc:subject>PptxGenJS Presentation</dc:subject>
  <dc:creator>OpenAI</dc:creator>
  <cp:lastModifiedBy>OpenAI</cp:lastModifiedBy>
  <cp:revision>1</cp:revision>
  <dcterms:created xsi:type="dcterms:W3CDTF">2026-09-15T23:29:31Z</dcterms:created>
  <dcterms:modified xsi:type="dcterms:W3CDTF">2026-09-15T23:29:31Z</dcterms:modified>
</cp:coreProperties>
</file>