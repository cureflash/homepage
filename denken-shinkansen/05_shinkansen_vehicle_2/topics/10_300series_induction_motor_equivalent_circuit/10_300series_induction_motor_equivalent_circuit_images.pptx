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1695" cy="6858000" type="screen16x9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lt2" folHlink="folHlink" hlink="hlink" tx1="dk1" tx2="dk2"/>
  <p:sldLayoutIdLst>
    <p:sldLayoutId id="1" r:id="rId1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11480" y="164592"/>
            <a:ext cx="11292840" cy="530352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30000" bIns="30000" anchor="ctr"/>
          <a:lstStyle/>
          <a:p>
            <a:pPr algn="l"/>
            <a:r>
              <a:rPr lang="ja-JP" sz="2400" b="1" dirty="0">
                <a:latin typeface="Aptos"/>
                <a:ea typeface="Noto Sans CJK JP"/>
              </a:rPr>
              <a:t>300系① 誘導電動機等価回路</a:t>
            </a:r>
            <a:endParaRPr lang="ja-JP" sz="2400"/>
          </a:p>
        </p:txBody>
      </p:sp>
      <p:sp>
        <p:nvSpPr>
          <p:cNvPr id="3" name="Sub"/>
          <p:cNvSpPr/>
          <p:nvPr/>
        </p:nvSpPr>
        <p:spPr>
          <a:xfrm>
            <a:off x="438912" y="713232"/>
            <a:ext cx="11155680" cy="310896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30000" bIns="30000" anchor="ctr"/>
          <a:lstStyle/>
          <a:p>
            <a:pPr algn="l"/>
            <a:r>
              <a:rPr lang="ja-JP" sz="950" b="0" dirty="0">
                <a:latin typeface="Aptos"/>
                <a:ea typeface="Noto Sans CJK JP"/>
              </a:rPr>
              <a:t>第二種電気主任技術者｜一次「機械」＋二次「機械・制御」</a:t>
            </a:r>
            <a:endParaRPr lang="ja-JP" sz="950"/>
          </a:p>
        </p:txBody>
      </p:sp>
      <p:sp>
        <p:nvSpPr>
          <p:cNvPr id="10" name="H"/>
          <p:cNvSpPr/>
          <p:nvPr/>
        </p:nvSpPr>
        <p:spPr>
          <a:xfrm>
            <a:off x="548640" y="1143000"/>
            <a:ext cx="5303520" cy="320040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30000" bIns="30000" anchor="ctr"/>
          <a:lstStyle/>
          <a:p>
            <a:pPr algn="l"/>
            <a:r>
              <a:rPr lang="ja-JP" sz="1700" b="1" dirty="0">
                <a:latin typeface="Aptos"/>
                <a:ea typeface="Noto Sans CJK JP"/>
              </a:rPr>
              <a:t>一相分L形等価回路</a:t>
            </a:r>
            <a:endParaRPr lang="ja-JP" sz="1700"/>
          </a:p>
        </p:txBody>
      </p:sp>
      <p:cxnSp>
        <p:nvCxnSpPr>
          <p:cNvPr id="11" name="Line 11"/>
          <p:cNvCxnSpPr/>
          <p:nvPr/>
        </p:nvCxnSpPr>
        <p:spPr>
          <a:xfrm flipH="0" flipV="0">
            <a:off x="822960" y="2057400"/>
            <a:ext cx="4572000" cy="1"/>
          </a:xfrm>
          <a:prstGeom prst="line">
            <a:avLst/>
          </a:prstGeom>
          <a:ln w="18000">
            <a:solidFill>
              <a:srgbClr val="202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Line 12"/>
          <p:cNvCxnSpPr/>
          <p:nvPr/>
        </p:nvCxnSpPr>
        <p:spPr>
          <a:xfrm flipH="0" flipV="0">
            <a:off x="822960" y="4023360"/>
            <a:ext cx="4572000" cy="1"/>
          </a:xfrm>
          <a:prstGeom prst="line">
            <a:avLst/>
          </a:prstGeom>
          <a:ln w="18000">
            <a:solidFill>
              <a:srgbClr val="202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Z"/>
          <p:cNvSpPr/>
          <p:nvPr/>
        </p:nvSpPr>
        <p:spPr>
          <a:xfrm>
            <a:off x="1097280" y="1828800"/>
            <a:ext cx="6400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1E5A96"/>
            </a:solidFill>
          </a:ln>
        </p:spPr>
        <p:txBody>
          <a:bodyPr wrap="square" lIns="50000" rIns="50000" tIns="30000" bIns="30000" anchor="ctr"/>
          <a:lstStyle/>
          <a:p>
            <a:pPr algn="ctr"/>
            <a:r>
              <a:rPr lang="ja-JP" sz="1000" b="1" dirty="0">
                <a:latin typeface="Aptos"/>
                <a:ea typeface="Noto Sans CJK JP"/>
              </a:rPr>
              <a:t>r₁</a:t>
            </a:r>
            <a:endParaRPr lang="ja-JP" sz="1000"/>
          </a:p>
        </p:txBody>
      </p:sp>
      <p:sp>
        <p:nvSpPr>
          <p:cNvPr id="14" name="Z"/>
          <p:cNvSpPr/>
          <p:nvPr/>
        </p:nvSpPr>
        <p:spPr>
          <a:xfrm>
            <a:off x="1828800" y="1828800"/>
            <a:ext cx="6400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1E5A96"/>
            </a:solidFill>
          </a:ln>
        </p:spPr>
        <p:txBody>
          <a:bodyPr wrap="square" lIns="50000" rIns="50000" tIns="30000" bIns="30000" anchor="ctr"/>
          <a:lstStyle/>
          <a:p>
            <a:pPr algn="ctr"/>
            <a:r>
              <a:rPr lang="ja-JP" sz="1000" b="1" dirty="0">
                <a:latin typeface="Aptos"/>
                <a:ea typeface="Noto Sans CJK JP"/>
              </a:rPr>
              <a:t>jx₁</a:t>
            </a:r>
            <a:endParaRPr lang="ja-JP" sz="1000"/>
          </a:p>
        </p:txBody>
      </p:sp>
      <p:sp>
        <p:nvSpPr>
          <p:cNvPr id="15" name="Z"/>
          <p:cNvSpPr/>
          <p:nvPr/>
        </p:nvSpPr>
        <p:spPr>
          <a:xfrm>
            <a:off x="3794760" y="1828800"/>
            <a:ext cx="6400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1E5A96"/>
            </a:solidFill>
          </a:ln>
        </p:spPr>
        <p:txBody>
          <a:bodyPr wrap="square" lIns="50000" rIns="50000" tIns="30000" bIns="30000" anchor="ctr"/>
          <a:lstStyle/>
          <a:p>
            <a:pPr algn="ctr"/>
            <a:r>
              <a:rPr lang="ja-JP" sz="1000" b="1" dirty="0">
                <a:latin typeface="Aptos"/>
                <a:ea typeface="Noto Sans CJK JP"/>
              </a:rPr>
              <a:t>r₂'/s</a:t>
            </a:r>
            <a:endParaRPr lang="ja-JP" sz="1000"/>
          </a:p>
        </p:txBody>
      </p:sp>
      <p:sp>
        <p:nvSpPr>
          <p:cNvPr id="16" name="Z"/>
          <p:cNvSpPr/>
          <p:nvPr/>
        </p:nvSpPr>
        <p:spPr>
          <a:xfrm>
            <a:off x="4663440" y="1828800"/>
            <a:ext cx="6400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1E5A96"/>
            </a:solidFill>
          </a:ln>
        </p:spPr>
        <p:txBody>
          <a:bodyPr wrap="square" lIns="50000" rIns="50000" tIns="30000" bIns="30000" anchor="ctr"/>
          <a:lstStyle/>
          <a:p>
            <a:pPr algn="ctr"/>
            <a:r>
              <a:rPr lang="ja-JP" sz="1000" b="1" dirty="0">
                <a:latin typeface="Aptos"/>
                <a:ea typeface="Noto Sans CJK JP"/>
              </a:rPr>
              <a:t>jx₂'</a:t>
            </a:r>
            <a:endParaRPr lang="ja-JP" sz="1000"/>
          </a:p>
        </p:txBody>
      </p:sp>
      <p:cxnSp>
        <p:nvCxnSpPr>
          <p:cNvPr id="17" name="Line 17"/>
          <p:cNvCxnSpPr/>
          <p:nvPr/>
        </p:nvCxnSpPr>
        <p:spPr>
          <a:xfrm flipH="0" flipV="0">
            <a:off x="2834640" y="2057400"/>
            <a:ext cx="1" cy="1965960"/>
          </a:xfrm>
          <a:prstGeom prst="line">
            <a:avLst/>
          </a:prstGeom>
          <a:ln w="14000">
            <a:solidFill>
              <a:srgbClr val="202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c"/>
          <p:cNvSpPr/>
          <p:nvPr/>
        </p:nvSpPr>
        <p:spPr>
          <a:xfrm>
            <a:off x="2514600" y="2560320"/>
            <a:ext cx="6400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1E5A96"/>
            </a:solidFill>
          </a:ln>
        </p:spPr>
        <p:txBody>
          <a:bodyPr wrap="square" lIns="50000" rIns="50000" tIns="30000" bIns="30000" anchor="ctr"/>
          <a:lstStyle/>
          <a:p>
            <a:pPr algn="ctr"/>
            <a:r>
              <a:rPr lang="ja-JP" sz="1000" b="1" dirty="0">
                <a:latin typeface="Aptos"/>
                <a:ea typeface="Noto Sans CJK JP"/>
              </a:rPr>
              <a:t>Rc</a:t>
            </a:r>
            <a:endParaRPr lang="ja-JP" sz="1000"/>
          </a:p>
        </p:txBody>
      </p:sp>
      <p:sp>
        <p:nvSpPr>
          <p:cNvPr id="19" name="Xm"/>
          <p:cNvSpPr/>
          <p:nvPr/>
        </p:nvSpPr>
        <p:spPr>
          <a:xfrm>
            <a:off x="2514600" y="3154680"/>
            <a:ext cx="6400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1E5A96"/>
            </a:solidFill>
          </a:ln>
        </p:spPr>
        <p:txBody>
          <a:bodyPr wrap="square" lIns="50000" rIns="50000" tIns="30000" bIns="30000" anchor="ctr"/>
          <a:lstStyle/>
          <a:p>
            <a:pPr algn="ctr"/>
            <a:r>
              <a:rPr lang="ja-JP" sz="1000" b="1" dirty="0">
                <a:latin typeface="Aptos"/>
                <a:ea typeface="Noto Sans CJK JP"/>
              </a:rPr>
              <a:t>jXm</a:t>
            </a:r>
            <a:endParaRPr lang="ja-JP" sz="1000"/>
          </a:p>
        </p:txBody>
      </p:sp>
      <p:sp>
        <p:nvSpPr>
          <p:cNvPr id="20" name="Power"/>
          <p:cNvSpPr/>
          <p:nvPr/>
        </p:nvSpPr>
        <p:spPr>
          <a:xfrm>
            <a:off x="731520" y="4315968"/>
            <a:ext cx="5303520" cy="731520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30000" bIns="30000" anchor="ctr"/>
          <a:lstStyle/>
          <a:p>
            <a:pPr algn="ctr"/>
            <a:r>
              <a:rPr lang="ja-JP" sz="1550" b="1" dirty="0">
                <a:latin typeface="Aptos"/>
                <a:ea typeface="Noto Sans CJK JP"/>
              </a:rPr>
              <a:t>P₂ : Pc₂ : Pm = 1 : s : (1−s)</a:t>
            </a:r>
          </a:p>
          <a:p>
            <a:r>
              <a:rPr lang="ja-JP" sz="1550" b="1" dirty="0">
                <a:latin typeface="Aptos"/>
                <a:ea typeface="Noto Sans CJK JP"/>
              </a:rPr>
              <a:t>Pc₂=sP₂　Pm=(1−s)P₂　T=P₂/ωs</a:t>
            </a:r>
            <a:endParaRPr lang="ja-JP" sz="1550"/>
          </a:p>
        </p:txBody>
      </p:sp>
      <p:sp>
        <p:nvSpPr>
          <p:cNvPr id="21" name="Steps"/>
          <p:cNvSpPr/>
          <p:nvPr/>
        </p:nvSpPr>
        <p:spPr>
          <a:xfrm>
            <a:off x="6309360" y="1188720"/>
            <a:ext cx="5212080" cy="4389120"/>
          </a:xfrm>
          <a:prstGeom prst="rect">
            <a:avLst/>
          </a:prstGeom>
          <a:solidFill>
            <a:srgbClr val="F8FAFD"/>
          </a:solidFill>
          <a:ln w="12700">
            <a:solidFill>
              <a:srgbClr val="CDD7E4"/>
            </a:solidFill>
          </a:ln>
        </p:spPr>
        <p:txBody>
          <a:bodyPr wrap="square" lIns="50000" rIns="50000" tIns="30000" bIns="30000" anchor="ctr"/>
          <a:lstStyle/>
          <a:p>
            <a:pPr algn="l"/>
            <a:r>
              <a:rPr lang="ja-JP" sz="1350" b="0" dirty="0">
                <a:latin typeface="Aptos"/>
                <a:ea typeface="Noto Sans CJK JP"/>
              </a:rPr>
              <a:t>本試験での解法順</a:t>
            </a:r>
          </a:p>
          <a:p>
            <a:r>
              <a:rPr lang="ja-JP" sz="1350" b="0" dirty="0">
                <a:latin typeface="Aptos"/>
                <a:ea typeface="Noto Sans CJK JP"/>
              </a:rPr>
              <a:t>1　結線・相値を確認</a:t>
            </a:r>
          </a:p>
          <a:p>
            <a:r>
              <a:rPr lang="ja-JP" sz="1350" b="0" dirty="0">
                <a:latin typeface="Aptos"/>
                <a:ea typeface="Noto Sans CJK JP"/>
              </a:rPr>
              <a:t>2　Ns=120f/p → s=(Ns−N)/Ns</a:t>
            </a:r>
          </a:p>
          <a:p>
            <a:r>
              <a:rPr lang="ja-JP" sz="1350" b="0" dirty="0">
                <a:latin typeface="Aptos"/>
                <a:ea typeface="Noto Sans CJK JP"/>
              </a:rPr>
              <a:t>3　r₂'/s を等価回路へ入れる</a:t>
            </a:r>
          </a:p>
          <a:p>
            <a:r>
              <a:rPr lang="ja-JP" sz="1350" b="0" dirty="0">
                <a:latin typeface="Aptos"/>
                <a:ea typeface="Noto Sans CJK JP"/>
              </a:rPr>
              <a:t>4　電流 → P₂ → Pc₂・Pm</a:t>
            </a:r>
          </a:p>
          <a:p>
            <a:r>
              <a:rPr lang="ja-JP" sz="1350" b="0" dirty="0">
                <a:latin typeface="Aptos"/>
                <a:ea typeface="Noto Sans CJK JP"/>
              </a:rPr>
              <a:t>5　T=P₂/ωs、η=Pout/P1</a:t>
            </a:r>
          </a:p>
          <a:p>
            <a:r>
              <a:rPr lang="ja-JP" sz="1350" b="0" dirty="0">
                <a:latin typeface="Aptos"/>
                <a:ea typeface="Noto Sans CJK JP"/>
              </a:rPr>
              <a:t>6　三相/一相・単位・近似条件を検算</a:t>
            </a:r>
          </a:p>
          <a:p>
            <a:r>
              <a:rPr lang="ja-JP" sz="1350" b="0" dirty="0">
                <a:latin typeface="Aptos"/>
                <a:ea typeface="Noto Sans CJK JP"/>
              </a:rPr>
              <a:t/>
            </a:r>
          </a:p>
          <a:p>
            <a:r>
              <a:rPr lang="ja-JP" sz="1350" b="0" dirty="0">
                <a:latin typeface="Aptos"/>
                <a:ea typeface="Noto Sans CJK JP"/>
              </a:rPr>
              <a:t>固定：一次3問＋二次2問・22答案要素</a:t>
            </a:r>
            <a:endParaRPr lang="ja-JP" sz="1350"/>
          </a:p>
        </p:txBody>
      </p:sp>
      <p:sp>
        <p:nvSpPr>
          <p:cNvPr id="22" name="Footer"/>
          <p:cNvSpPr/>
          <p:nvPr/>
        </p:nvSpPr>
        <p:spPr>
          <a:xfrm>
            <a:off x="502920" y="6446520"/>
            <a:ext cx="11155680" cy="219456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30000" bIns="30000" anchor="ctr"/>
          <a:lstStyle/>
          <a:p>
            <a:pPr algn="l"/>
            <a:r>
              <a:rPr lang="ja-JP" sz="750" b="0" dirty="0">
                <a:latin typeface="Aptos"/>
                <a:ea typeface="Noto Sans CJK JP"/>
              </a:rPr>
              <a:t>教材用模式図。300系実車の回路定数・制御定数は使用していない。</a:t>
            </a:r>
            <a:endParaRPr lang="ja-JP" sz="75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11480" y="164592"/>
            <a:ext cx="11292840" cy="530352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30000" bIns="30000" anchor="ctr"/>
          <a:lstStyle/>
          <a:p>
            <a:pPr algn="l"/>
            <a:r>
              <a:rPr lang="ja-JP" sz="2400" b="1" dirty="0">
                <a:latin typeface="Aptos"/>
                <a:ea typeface="Noto Sans CJK JP"/>
              </a:rPr>
              <a:t>トルク・出力を「すべり」で読む</a:t>
            </a:r>
            <a:endParaRPr lang="ja-JP" sz="2400"/>
          </a:p>
        </p:txBody>
      </p:sp>
      <p:sp>
        <p:nvSpPr>
          <p:cNvPr id="3" name="Sub"/>
          <p:cNvSpPr/>
          <p:nvPr/>
        </p:nvSpPr>
        <p:spPr>
          <a:xfrm>
            <a:off x="438912" y="713232"/>
            <a:ext cx="11155680" cy="310896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30000" bIns="30000" anchor="ctr"/>
          <a:lstStyle/>
          <a:p>
            <a:pPr algn="l"/>
            <a:r>
              <a:rPr lang="ja-JP" sz="950" b="0" dirty="0">
                <a:latin typeface="Aptos"/>
                <a:ea typeface="Noto Sans CJK JP"/>
              </a:rPr>
              <a:t>Vφ=200 V, f=50 Hz, 4極, r1=0.20 Ω, X=1.00 Ω, r2'=0.30 Ω（教材用仮定値）</a:t>
            </a:r>
            <a:endParaRPr lang="ja-JP" sz="950"/>
          </a:p>
        </p:txBody>
      </p:sp>
      <p:sp>
        <p:nvSpPr>
          <p:cNvPr id="10" name="GraphTitle"/>
          <p:cNvSpPr/>
          <p:nvPr/>
        </p:nvSpPr>
        <p:spPr>
          <a:xfrm>
            <a:off x="548640" y="123444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30000" bIns="30000" anchor="ctr"/>
          <a:lstStyle/>
          <a:p>
            <a:pPr algn="l"/>
            <a:r>
              <a:rPr lang="ja-JP" sz="1150" b="1" dirty="0">
                <a:latin typeface="Aptos"/>
                <a:ea typeface="Noto Sans CJK JP"/>
              </a:rPr>
              <a:t>トルク―すべり</a:t>
            </a:r>
            <a:endParaRPr lang="ja-JP" sz="1150"/>
          </a:p>
        </p:txBody>
      </p:sp>
      <p:cxnSp>
        <p:nvCxnSpPr>
          <p:cNvPr id="11" name="Line 11"/>
          <p:cNvCxnSpPr/>
          <p:nvPr/>
        </p:nvCxnSpPr>
        <p:spPr>
          <a:xfrm flipH="0" flipV="0">
            <a:off x="1051560" y="1673352"/>
            <a:ext cx="1" cy="3703320"/>
          </a:xfrm>
          <a:prstGeom prst="line">
            <a:avLst/>
          </a:prstGeom>
          <a:ln w="12700">
            <a:solidFill>
              <a:srgbClr val="202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Line 12"/>
          <p:cNvCxnSpPr/>
          <p:nvPr/>
        </p:nvCxnSpPr>
        <p:spPr>
          <a:xfrm flipH="0" flipV="0">
            <a:off x="1051560" y="5376672"/>
            <a:ext cx="4800600" cy="1"/>
          </a:xfrm>
          <a:prstGeom prst="line">
            <a:avLst/>
          </a:prstGeom>
          <a:ln w="12700">
            <a:solidFill>
              <a:srgbClr val="202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urve 13"/>
          <p:cNvSpPr/>
          <p:nvPr/>
        </p:nvSpPr>
        <p:spPr>
          <a:xfrm>
            <a:off x="1051560" y="1966440"/>
            <a:ext cx="4800600" cy="3136827"/>
          </a:xfrm>
          <a:custGeom>
            <a:avLst/>
            <a:gdLst/>
            <a:ahLst/>
            <a:cxnLst/>
            <a:rect l="l" t="t" r="r" b="b"/>
            <a:pathLst>
              <a:path w="4800600" h="3136827">
                <a:moveTo>
                  <a:pt x="0" y="3136827"/>
                </a:moveTo>
                <a:lnTo>
                  <a:pt x="193963" y="2144365"/>
                </a:lnTo>
                <a:lnTo>
                  <a:pt x="436418" y="1189333"/>
                </a:lnTo>
                <a:lnTo>
                  <a:pt x="921327" y="201633"/>
                </a:lnTo>
                <a:lnTo>
                  <a:pt x="1406236" y="0"/>
                </a:lnTo>
                <a:lnTo>
                  <a:pt x="2376054" y="365976"/>
                </a:lnTo>
                <a:lnTo>
                  <a:pt x="4800600" y="1413200"/>
                </a:lnTo>
              </a:path>
            </a:pathLst>
          </a:custGeom>
          <a:noFill/>
          <a:ln w="18000">
            <a:solidFill>
              <a:srgbClr val="1B66B4"/>
            </a:solidFill>
          </a:ln>
        </p:spPr>
      </p:sp>
      <p:sp>
        <p:nvSpPr>
          <p:cNvPr id="14" name="Leg"/>
          <p:cNvSpPr/>
          <p:nvPr/>
        </p:nvSpPr>
        <p:spPr>
          <a:xfrm>
            <a:off x="5166359" y="1325880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30000" bIns="30000" anchor="ctr"/>
          <a:lstStyle/>
          <a:p>
            <a:pPr algn="r"/>
            <a:r>
              <a:rPr lang="ja-JP" sz="750" b="0" dirty="0">
                <a:latin typeface="Aptos"/>
                <a:ea typeface="Noto Sans CJK JP"/>
              </a:rPr>
              <a:t>T</a:t>
            </a:r>
            <a:endParaRPr lang="ja-JP" sz="750"/>
          </a:p>
        </p:txBody>
      </p:sp>
      <p:sp>
        <p:nvSpPr>
          <p:cNvPr id="15" name="XLab"/>
          <p:cNvSpPr/>
          <p:nvPr/>
        </p:nvSpPr>
        <p:spPr>
          <a:xfrm>
            <a:off x="3040379" y="54223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30000" bIns="30000" anchor="ctr"/>
          <a:lstStyle/>
          <a:p>
            <a:pPr algn="ctr"/>
            <a:r>
              <a:rPr lang="ja-JP" sz="750" b="0" dirty="0">
                <a:latin typeface="Aptos"/>
                <a:ea typeface="Noto Sans CJK JP"/>
              </a:rPr>
              <a:t>s</a:t>
            </a:r>
            <a:endParaRPr lang="ja-JP" sz="750"/>
          </a:p>
        </p:txBody>
      </p:sp>
      <p:sp>
        <p:nvSpPr>
          <p:cNvPr id="16" name="YLab"/>
          <p:cNvSpPr/>
          <p:nvPr/>
        </p:nvSpPr>
        <p:spPr>
          <a:xfrm>
            <a:off x="585216" y="3433572"/>
            <a:ext cx="411480" cy="201168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30000" bIns="30000" anchor="ctr"/>
          <a:lstStyle/>
          <a:p>
            <a:pPr algn="ctr"/>
            <a:r>
              <a:rPr lang="ja-JP" sz="750" b="0" dirty="0">
                <a:latin typeface="Aptos"/>
                <a:ea typeface="Noto Sans CJK JP"/>
              </a:rPr>
              <a:t>N·m</a:t>
            </a:r>
            <a:endParaRPr lang="ja-JP" sz="750"/>
          </a:p>
        </p:txBody>
      </p:sp>
      <p:sp>
        <p:nvSpPr>
          <p:cNvPr id="17" name="GraphTitle"/>
          <p:cNvSpPr/>
          <p:nvPr/>
        </p:nvSpPr>
        <p:spPr>
          <a:xfrm>
            <a:off x="6263640" y="1234440"/>
            <a:ext cx="5349240" cy="274320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30000" bIns="30000" anchor="ctr"/>
          <a:lstStyle/>
          <a:p>
            <a:pPr algn="l"/>
            <a:r>
              <a:rPr lang="ja-JP" sz="1150" b="1" dirty="0">
                <a:latin typeface="Aptos"/>
                <a:ea typeface="Noto Sans CJK JP"/>
              </a:rPr>
              <a:t>出力―すべり</a:t>
            </a:r>
            <a:endParaRPr lang="ja-JP" sz="1150"/>
          </a:p>
        </p:txBody>
      </p:sp>
      <p:cxnSp>
        <p:nvCxnSpPr>
          <p:cNvPr id="18" name="Line 18"/>
          <p:cNvCxnSpPr/>
          <p:nvPr/>
        </p:nvCxnSpPr>
        <p:spPr>
          <a:xfrm flipH="0" flipV="0">
            <a:off x="6766559" y="1673352"/>
            <a:ext cx="1" cy="3703320"/>
          </a:xfrm>
          <a:prstGeom prst="line">
            <a:avLst/>
          </a:prstGeom>
          <a:ln w="12700">
            <a:solidFill>
              <a:srgbClr val="202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Line 19"/>
          <p:cNvCxnSpPr/>
          <p:nvPr/>
        </p:nvCxnSpPr>
        <p:spPr>
          <a:xfrm flipH="0" flipV="0">
            <a:off x="6766559" y="5376672"/>
            <a:ext cx="4663441" cy="1"/>
          </a:xfrm>
          <a:prstGeom prst="line">
            <a:avLst/>
          </a:prstGeom>
          <a:ln w="12700">
            <a:solidFill>
              <a:srgbClr val="202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Curve 20"/>
          <p:cNvSpPr/>
          <p:nvPr/>
        </p:nvSpPr>
        <p:spPr>
          <a:xfrm>
            <a:off x="6766559" y="823409"/>
            <a:ext cx="4663441" cy="4188220"/>
          </a:xfrm>
          <a:custGeom>
            <a:avLst/>
            <a:gdLst/>
            <a:ahLst/>
            <a:cxnLst/>
            <a:rect l="l" t="t" r="r" b="b"/>
            <a:pathLst>
              <a:path w="4663441" h="4188220">
                <a:moveTo>
                  <a:pt x="0" y="4188220"/>
                </a:moveTo>
                <a:lnTo>
                  <a:pt x="188422" y="2863106"/>
                </a:lnTo>
                <a:lnTo>
                  <a:pt x="423950" y="1587971"/>
                </a:lnTo>
                <a:lnTo>
                  <a:pt x="895004" y="269216"/>
                </a:lnTo>
                <a:lnTo>
                  <a:pt x="1366059" y="0"/>
                </a:lnTo>
                <a:lnTo>
                  <a:pt x="2308168" y="488643"/>
                </a:lnTo>
                <a:lnTo>
                  <a:pt x="4663441" y="1886872"/>
                </a:lnTo>
              </a:path>
            </a:pathLst>
          </a:custGeom>
          <a:noFill/>
          <a:ln w="18000">
            <a:solidFill>
              <a:srgbClr val="1B66B4"/>
            </a:solidFill>
          </a:ln>
        </p:spPr>
      </p:sp>
      <p:sp>
        <p:nvSpPr>
          <p:cNvPr id="21" name="Leg"/>
          <p:cNvSpPr/>
          <p:nvPr/>
        </p:nvSpPr>
        <p:spPr>
          <a:xfrm>
            <a:off x="10744200" y="1325880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30000" bIns="30000" anchor="ctr"/>
          <a:lstStyle/>
          <a:p>
            <a:pPr algn="r"/>
            <a:r>
              <a:rPr lang="ja-JP" sz="750" b="0" dirty="0">
                <a:latin typeface="Aptos"/>
                <a:ea typeface="Noto Sans CJK JP"/>
              </a:rPr>
              <a:t>P₂</a:t>
            </a:r>
            <a:endParaRPr lang="ja-JP" sz="750"/>
          </a:p>
        </p:txBody>
      </p:sp>
      <p:sp>
        <p:nvSpPr>
          <p:cNvPr id="22" name="Curve 22"/>
          <p:cNvSpPr/>
          <p:nvPr/>
        </p:nvSpPr>
        <p:spPr>
          <a:xfrm>
            <a:off x="6766559" y="1949434"/>
            <a:ext cx="4663441" cy="3427238"/>
          </a:xfrm>
          <a:custGeom>
            <a:avLst/>
            <a:gdLst/>
            <a:ahLst/>
            <a:cxnLst/>
            <a:rect l="l" t="t" r="r" b="b"/>
            <a:pathLst>
              <a:path w="4663441" h="3427238">
                <a:moveTo>
                  <a:pt x="0" y="3065845"/>
                </a:moveTo>
                <a:lnTo>
                  <a:pt x="188422" y="1821589"/>
                </a:lnTo>
                <a:lnTo>
                  <a:pt x="423950" y="758475"/>
                </a:lnTo>
                <a:lnTo>
                  <a:pt x="895004" y="0"/>
                </a:lnTo>
                <a:lnTo>
                  <a:pt x="1366059" y="239954"/>
                </a:lnTo>
                <a:lnTo>
                  <a:pt x="2308168" y="1394928"/>
                </a:lnTo>
                <a:lnTo>
                  <a:pt x="4663441" y="3427238"/>
                </a:lnTo>
              </a:path>
            </a:pathLst>
          </a:custGeom>
          <a:noFill/>
          <a:ln w="18000">
            <a:solidFill>
              <a:srgbClr val="DC5A28"/>
            </a:solidFill>
          </a:ln>
        </p:spPr>
      </p:sp>
      <p:sp>
        <p:nvSpPr>
          <p:cNvPr id="23" name="Leg"/>
          <p:cNvSpPr/>
          <p:nvPr/>
        </p:nvSpPr>
        <p:spPr>
          <a:xfrm>
            <a:off x="10744200" y="1527048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30000" bIns="30000" anchor="ctr"/>
          <a:lstStyle/>
          <a:p>
            <a:pPr algn="r"/>
            <a:r>
              <a:rPr lang="ja-JP" sz="750" b="0" dirty="0">
                <a:latin typeface="Aptos"/>
                <a:ea typeface="Noto Sans CJK JP"/>
              </a:rPr>
              <a:t>Pm</a:t>
            </a:r>
            <a:endParaRPr lang="ja-JP" sz="750"/>
          </a:p>
        </p:txBody>
      </p:sp>
      <p:sp>
        <p:nvSpPr>
          <p:cNvPr id="24" name="XLab"/>
          <p:cNvSpPr/>
          <p:nvPr/>
        </p:nvSpPr>
        <p:spPr>
          <a:xfrm>
            <a:off x="8686800" y="54223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30000" bIns="30000" anchor="ctr"/>
          <a:lstStyle/>
          <a:p>
            <a:pPr algn="ctr"/>
            <a:r>
              <a:rPr lang="ja-JP" sz="750" b="0" dirty="0">
                <a:latin typeface="Aptos"/>
                <a:ea typeface="Noto Sans CJK JP"/>
              </a:rPr>
              <a:t>s</a:t>
            </a:r>
            <a:endParaRPr lang="ja-JP" sz="750"/>
          </a:p>
        </p:txBody>
      </p:sp>
      <p:sp>
        <p:nvSpPr>
          <p:cNvPr id="25" name="YLab"/>
          <p:cNvSpPr/>
          <p:nvPr/>
        </p:nvSpPr>
        <p:spPr>
          <a:xfrm>
            <a:off x="6300216" y="3433572"/>
            <a:ext cx="411480" cy="201168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30000" bIns="30000" anchor="ctr"/>
          <a:lstStyle/>
          <a:p>
            <a:pPr algn="ctr"/>
            <a:r>
              <a:rPr lang="ja-JP" sz="750" b="0" dirty="0">
                <a:latin typeface="Aptos"/>
                <a:ea typeface="Noto Sans CJK JP"/>
              </a:rPr>
              <a:t>kW</a:t>
            </a:r>
            <a:endParaRPr lang="ja-JP" sz="750"/>
          </a:p>
        </p:txBody>
      </p:sp>
      <p:sp>
        <p:nvSpPr>
          <p:cNvPr id="26" name="Sum"/>
          <p:cNvSpPr/>
          <p:nvPr/>
        </p:nvSpPr>
        <p:spPr>
          <a:xfrm>
            <a:off x="640080" y="5806440"/>
            <a:ext cx="10972800" cy="411480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30000" bIns="30000" anchor="ctr"/>
          <a:lstStyle/>
          <a:p>
            <a:pPr algn="ctr"/>
            <a:r>
              <a:rPr lang="ja-JP" sz="1200" b="1" dirty="0">
                <a:latin typeface="Aptos"/>
                <a:ea typeface="Noto Sans CJK JP"/>
              </a:rPr>
              <a:t>Ns=1500 min⁻¹｜sm≈0.294｜Tmax≈313 N·m　　Pm=(1−s)P₂、Pc₂=sP₂</a:t>
            </a:r>
            <a:endParaRPr lang="ja-JP" sz="1200"/>
          </a:p>
        </p:txBody>
      </p:sp>
      <p:sp>
        <p:nvSpPr>
          <p:cNvPr id="27" name="Footer"/>
          <p:cNvSpPr/>
          <p:nvPr/>
        </p:nvSpPr>
        <p:spPr>
          <a:xfrm>
            <a:off x="502920" y="6446520"/>
            <a:ext cx="11155680" cy="219456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30000" bIns="30000" anchor="ctr"/>
          <a:lstStyle/>
          <a:p>
            <a:pPr algn="l"/>
            <a:r>
              <a:rPr lang="ja-JP" sz="750" b="0" dirty="0">
                <a:latin typeface="Aptos"/>
                <a:ea typeface="Noto Sans CJK JP"/>
              </a:rPr>
              <a:t>低滑り域では T∝s。滑りが増えるほど二次銅損割合 sP₂ が増える。</a:t>
            </a:r>
            <a:endParaRPr lang="ja-JP" sz="75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11480" y="164592"/>
            <a:ext cx="11292840" cy="530352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30000" bIns="30000" anchor="ctr"/>
          <a:lstStyle/>
          <a:p>
            <a:pPr algn="l"/>
            <a:r>
              <a:rPr lang="ja-JP" sz="2400" b="1" dirty="0">
                <a:latin typeface="Aptos"/>
                <a:ea typeface="Noto Sans CJK JP"/>
              </a:rPr>
              <a:t>効率―負荷率：励磁枝を含む教材用モデル</a:t>
            </a:r>
            <a:endParaRPr lang="ja-JP" sz="2400"/>
          </a:p>
        </p:txBody>
      </p:sp>
      <p:sp>
        <p:nvSpPr>
          <p:cNvPr id="3" name="Sub"/>
          <p:cNvSpPr/>
          <p:nvPr/>
        </p:nvSpPr>
        <p:spPr>
          <a:xfrm>
            <a:off x="438912" y="713232"/>
            <a:ext cx="11155680" cy="310896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30000" bIns="30000" anchor="ctr"/>
          <a:lstStyle/>
          <a:p>
            <a:pPr algn="l"/>
            <a:r>
              <a:rPr lang="ja-JP" sz="950" b="0" dirty="0">
                <a:latin typeface="Aptos"/>
                <a:ea typeface="Noto Sans CJK JP"/>
              </a:rPr>
              <a:t>Rc=800 Ω, Xm=40 Ω。負荷率は s=0.040 の軸出力基準。実車定格負荷率ではない。</a:t>
            </a:r>
            <a:endParaRPr lang="ja-JP" sz="950"/>
          </a:p>
        </p:txBody>
      </p:sp>
      <p:sp>
        <p:nvSpPr>
          <p:cNvPr id="10" name="GraphTitle"/>
          <p:cNvSpPr/>
          <p:nvPr/>
        </p:nvSpPr>
        <p:spPr>
          <a:xfrm>
            <a:off x="822960" y="1280160"/>
            <a:ext cx="7863840" cy="274320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30000" bIns="30000" anchor="ctr"/>
          <a:lstStyle/>
          <a:p>
            <a:pPr algn="l"/>
            <a:r>
              <a:rPr lang="ja-JP" sz="1150" b="1" dirty="0">
                <a:latin typeface="Aptos"/>
                <a:ea typeface="Noto Sans CJK JP"/>
              </a:rPr>
              <a:t>効率―負荷率</a:t>
            </a:r>
            <a:endParaRPr lang="ja-JP" sz="1150"/>
          </a:p>
        </p:txBody>
      </p:sp>
      <p:cxnSp>
        <p:nvCxnSpPr>
          <p:cNvPr id="11" name="Line 11"/>
          <p:cNvCxnSpPr/>
          <p:nvPr/>
        </p:nvCxnSpPr>
        <p:spPr>
          <a:xfrm flipH="0" flipV="0">
            <a:off x="1325880" y="1719072"/>
            <a:ext cx="1" cy="3840480"/>
          </a:xfrm>
          <a:prstGeom prst="line">
            <a:avLst/>
          </a:prstGeom>
          <a:ln w="12700">
            <a:solidFill>
              <a:srgbClr val="202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Line 12"/>
          <p:cNvCxnSpPr/>
          <p:nvPr/>
        </p:nvCxnSpPr>
        <p:spPr>
          <a:xfrm flipH="0" flipV="0">
            <a:off x="1325880" y="5559552"/>
            <a:ext cx="7178040" cy="1"/>
          </a:xfrm>
          <a:prstGeom prst="line">
            <a:avLst/>
          </a:prstGeom>
          <a:ln w="12700">
            <a:solidFill>
              <a:srgbClr val="202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urve 13"/>
          <p:cNvSpPr/>
          <p:nvPr/>
        </p:nvSpPr>
        <p:spPr>
          <a:xfrm>
            <a:off x="1325880" y="1914950"/>
            <a:ext cx="7178040" cy="527286"/>
          </a:xfrm>
          <a:custGeom>
            <a:avLst/>
            <a:gdLst/>
            <a:ahLst/>
            <a:cxnLst/>
            <a:rect l="l" t="t" r="r" b="b"/>
            <a:pathLst>
              <a:path w="7178040" h="527286">
                <a:moveTo>
                  <a:pt x="0" y="5242"/>
                </a:moveTo>
                <a:lnTo>
                  <a:pt x="950154" y="0"/>
                </a:lnTo>
                <a:lnTo>
                  <a:pt x="2678659" y="88310"/>
                </a:lnTo>
                <a:lnTo>
                  <a:pt x="4164349" y="196639"/>
                </a:lnTo>
                <a:lnTo>
                  <a:pt x="5403039" y="307790"/>
                </a:lnTo>
                <a:lnTo>
                  <a:pt x="6402240" y="418362"/>
                </a:lnTo>
                <a:lnTo>
                  <a:pt x="7178040" y="527286"/>
                </a:lnTo>
              </a:path>
            </a:pathLst>
          </a:custGeom>
          <a:noFill/>
          <a:ln w="18000">
            <a:solidFill>
              <a:srgbClr val="1B66B4"/>
            </a:solidFill>
          </a:ln>
        </p:spPr>
      </p:sp>
      <p:sp>
        <p:nvSpPr>
          <p:cNvPr id="14" name="Leg"/>
          <p:cNvSpPr/>
          <p:nvPr/>
        </p:nvSpPr>
        <p:spPr>
          <a:xfrm>
            <a:off x="7818120" y="1371600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30000" bIns="30000" anchor="ctr"/>
          <a:lstStyle/>
          <a:p>
            <a:pPr algn="r"/>
            <a:r>
              <a:rPr lang="ja-JP" sz="750" b="0" dirty="0">
                <a:latin typeface="Aptos"/>
                <a:ea typeface="Noto Sans CJK JP"/>
              </a:rPr>
              <a:t>η</a:t>
            </a:r>
            <a:endParaRPr lang="ja-JP" sz="750"/>
          </a:p>
        </p:txBody>
      </p:sp>
      <p:sp>
        <p:nvSpPr>
          <p:cNvPr id="15" name="XLab"/>
          <p:cNvSpPr/>
          <p:nvPr/>
        </p:nvSpPr>
        <p:spPr>
          <a:xfrm>
            <a:off x="4503420" y="560527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30000" bIns="30000" anchor="ctr"/>
          <a:lstStyle/>
          <a:p>
            <a:pPr algn="ctr"/>
            <a:r>
              <a:rPr lang="ja-JP" sz="750" b="0" dirty="0">
                <a:latin typeface="Aptos"/>
                <a:ea typeface="Noto Sans CJK JP"/>
              </a:rPr>
              <a:t>負荷率 [p.u.]</a:t>
            </a:r>
            <a:endParaRPr lang="ja-JP" sz="750"/>
          </a:p>
        </p:txBody>
      </p:sp>
      <p:sp>
        <p:nvSpPr>
          <p:cNvPr id="16" name="YLab"/>
          <p:cNvSpPr/>
          <p:nvPr/>
        </p:nvSpPr>
        <p:spPr>
          <a:xfrm>
            <a:off x="859536" y="3547872"/>
            <a:ext cx="411480" cy="201168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30000" bIns="30000" anchor="ctr"/>
          <a:lstStyle/>
          <a:p>
            <a:pPr algn="ctr"/>
            <a:r>
              <a:rPr lang="ja-JP" sz="750" b="0" dirty="0">
                <a:latin typeface="Aptos"/>
                <a:ea typeface="Noto Sans CJK JP"/>
              </a:rPr>
              <a:t>%</a:t>
            </a:r>
            <a:endParaRPr lang="ja-JP" sz="750"/>
          </a:p>
        </p:txBody>
      </p:sp>
      <p:sp>
        <p:nvSpPr>
          <p:cNvPr id="17" name="Box"/>
          <p:cNvSpPr/>
          <p:nvPr/>
        </p:nvSpPr>
        <p:spPr>
          <a:xfrm>
            <a:off x="8961120" y="1325880"/>
            <a:ext cx="2468880" cy="4480560"/>
          </a:xfrm>
          <a:prstGeom prst="rect">
            <a:avLst/>
          </a:prstGeom>
          <a:solidFill>
            <a:srgbClr val="F8FAFD"/>
          </a:solidFill>
          <a:ln w="12700">
            <a:solidFill>
              <a:srgbClr val="CDD7E4"/>
            </a:solidFill>
          </a:ln>
        </p:spPr>
        <p:txBody>
          <a:bodyPr wrap="square" lIns="50000" rIns="50000" tIns="30000" bIns="30000" anchor="ctr"/>
          <a:lstStyle/>
          <a:p>
            <a:pPr algn="ctr"/>
            <a:r>
              <a:rPr lang="ja-JP" sz="1300" b="0" dirty="0">
                <a:latin typeface="Aptos"/>
                <a:ea typeface="Noto Sans CJK JP"/>
              </a:rPr>
              <a:t>基準点</a:t>
            </a:r>
          </a:p>
          <a:p>
            <a:r>
              <a:rPr lang="ja-JP" sz="1300" b="0" dirty="0">
                <a:latin typeface="Aptos"/>
                <a:ea typeface="Noto Sans CJK JP"/>
              </a:rPr>
              <a:t>s = 0.040</a:t>
            </a:r>
          </a:p>
          <a:p>
            <a:r>
              <a:rPr lang="ja-JP" sz="1300" b="0" dirty="0">
                <a:latin typeface="Aptos"/>
                <a:ea typeface="Noto Sans CJK JP"/>
              </a:rPr>
              <a:t>Pout ≈ 14.33 kW</a:t>
            </a:r>
          </a:p>
          <a:p>
            <a:r>
              <a:rPr lang="ja-JP" sz="1300" b="0" dirty="0">
                <a:latin typeface="Aptos"/>
                <a:ea typeface="Noto Sans CJK JP"/>
              </a:rPr>
              <a:t>η ≈ 92.6%</a:t>
            </a:r>
          </a:p>
          <a:p>
            <a:r>
              <a:rPr lang="ja-JP" sz="1300" b="0" dirty="0">
                <a:latin typeface="Aptos"/>
                <a:ea typeface="Noto Sans CJK JP"/>
              </a:rPr>
              <a:t/>
            </a:r>
          </a:p>
          <a:p>
            <a:r>
              <a:rPr lang="ja-JP" sz="1300" b="0" dirty="0">
                <a:latin typeface="Aptos"/>
                <a:ea typeface="Noto Sans CJK JP"/>
              </a:rPr>
              <a:t>P1 = 直列枝有効電力</a:t>
            </a:r>
          </a:p>
          <a:p>
            <a:r>
              <a:rPr lang="ja-JP" sz="1300" b="0" dirty="0">
                <a:latin typeface="Aptos"/>
                <a:ea typeface="Noto Sans CJK JP"/>
              </a:rPr>
              <a:t>＋鉄損 3Vφ²/Rc</a:t>
            </a:r>
          </a:p>
          <a:p>
            <a:r>
              <a:rPr lang="ja-JP" sz="1300" b="0" dirty="0">
                <a:latin typeface="Aptos"/>
                <a:ea typeface="Noto Sans CJK JP"/>
              </a:rPr>
              <a:t/>
            </a:r>
          </a:p>
          <a:p>
            <a:r>
              <a:rPr lang="ja-JP" sz="1300" b="0" dirty="0">
                <a:latin typeface="Aptos"/>
                <a:ea typeface="Noto Sans CJK JP"/>
              </a:rPr>
              <a:t>η=Pout/P1</a:t>
            </a:r>
            <a:endParaRPr lang="ja-JP" sz="1300"/>
          </a:p>
        </p:txBody>
      </p:sp>
      <p:sp>
        <p:nvSpPr>
          <p:cNvPr id="18" name="Footer"/>
          <p:cNvSpPr/>
          <p:nvPr/>
        </p:nvSpPr>
        <p:spPr>
          <a:xfrm>
            <a:off x="502920" y="6446520"/>
            <a:ext cx="11155680" cy="219456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30000" bIns="30000" anchor="ctr"/>
          <a:lstStyle/>
          <a:p>
            <a:pPr algn="l"/>
            <a:r>
              <a:rPr lang="ja-JP" sz="750" b="0" dirty="0">
                <a:latin typeface="Aptos"/>
                <a:ea typeface="Noto Sans CJK JP"/>
              </a:rPr>
              <a:t>Xm は励磁電流の位相関係に使用。ここでは有効電力損失として Rc の鉄損を反映。</a:t>
            </a:r>
            <a:endParaRPr lang="ja-JP" sz="75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11480" y="164592"/>
            <a:ext cx="11292840" cy="530352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30000" bIns="30000" anchor="ctr"/>
          <a:lstStyle/>
          <a:p>
            <a:pPr algn="l"/>
            <a:r>
              <a:rPr lang="ja-JP" sz="2400" b="1" dirty="0">
                <a:latin typeface="Aptos"/>
                <a:ea typeface="Noto Sans CJK JP"/>
              </a:rPr>
              <a:t>二次抵抗変更と比例推移</a:t>
            </a:r>
            <a:endParaRPr lang="ja-JP" sz="2400"/>
          </a:p>
        </p:txBody>
      </p:sp>
      <p:sp>
        <p:nvSpPr>
          <p:cNvPr id="3" name="Sub"/>
          <p:cNvSpPr/>
          <p:nvPr/>
        </p:nvSpPr>
        <p:spPr>
          <a:xfrm>
            <a:off x="438912" y="713232"/>
            <a:ext cx="11155680" cy="310896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30000" bIns="30000" anchor="ctr"/>
          <a:lstStyle/>
          <a:p>
            <a:pPr algn="l"/>
            <a:r>
              <a:rPr lang="ja-JP" sz="950" b="0" dirty="0">
                <a:latin typeface="Aptos"/>
                <a:ea typeface="Noto Sans CJK JP"/>
              </a:rPr>
              <a:t>他条件一定のL形近似。r2' を変えても Tmax はほぼ一定、sm が比例して移る。</a:t>
            </a:r>
            <a:endParaRPr lang="ja-JP" sz="950"/>
          </a:p>
        </p:txBody>
      </p:sp>
      <p:sp>
        <p:nvSpPr>
          <p:cNvPr id="10" name="GraphTitle"/>
          <p:cNvSpPr/>
          <p:nvPr/>
        </p:nvSpPr>
        <p:spPr>
          <a:xfrm>
            <a:off x="594360" y="128016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30000" bIns="30000" anchor="ctr"/>
          <a:lstStyle/>
          <a:p>
            <a:pPr algn="l"/>
            <a:r>
              <a:rPr lang="ja-JP" sz="1150" b="1" dirty="0">
                <a:latin typeface="Aptos"/>
                <a:ea typeface="Noto Sans CJK JP"/>
              </a:rPr>
              <a:t>二次抵抗変更時のトルク―すべり</a:t>
            </a:r>
            <a:endParaRPr lang="ja-JP" sz="1150"/>
          </a:p>
        </p:txBody>
      </p:sp>
      <p:cxnSp>
        <p:nvCxnSpPr>
          <p:cNvPr id="11" name="Line 11"/>
          <p:cNvCxnSpPr/>
          <p:nvPr/>
        </p:nvCxnSpPr>
        <p:spPr>
          <a:xfrm flipH="0" flipV="0">
            <a:off x="1097280" y="1719072"/>
            <a:ext cx="1" cy="3840480"/>
          </a:xfrm>
          <a:prstGeom prst="line">
            <a:avLst/>
          </a:prstGeom>
          <a:ln w="12700">
            <a:solidFill>
              <a:srgbClr val="202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Line 12"/>
          <p:cNvCxnSpPr/>
          <p:nvPr/>
        </p:nvCxnSpPr>
        <p:spPr>
          <a:xfrm flipH="0" flipV="0">
            <a:off x="1097280" y="5559552"/>
            <a:ext cx="6629399" cy="1"/>
          </a:xfrm>
          <a:prstGeom prst="line">
            <a:avLst/>
          </a:prstGeom>
          <a:ln w="12700">
            <a:solidFill>
              <a:srgbClr val="202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urve 13"/>
          <p:cNvSpPr/>
          <p:nvPr/>
        </p:nvSpPr>
        <p:spPr>
          <a:xfrm>
            <a:off x="1097280" y="2023015"/>
            <a:ext cx="6629399" cy="3114614"/>
          </a:xfrm>
          <a:custGeom>
            <a:avLst/>
            <a:gdLst/>
            <a:ahLst/>
            <a:cxnLst/>
            <a:rect l="l" t="t" r="r" b="b"/>
            <a:pathLst>
              <a:path w="6629399" h="3114614">
                <a:moveTo>
                  <a:pt x="0" y="3114614"/>
                </a:moveTo>
                <a:lnTo>
                  <a:pt x="267854" y="1684788"/>
                </a:lnTo>
                <a:lnTo>
                  <a:pt x="602672" y="581349"/>
                </a:lnTo>
                <a:lnTo>
                  <a:pt x="1272309" y="0"/>
                </a:lnTo>
                <a:lnTo>
                  <a:pt x="1941945" y="251328"/>
                </a:lnTo>
                <a:lnTo>
                  <a:pt x="3281218" y="998552"/>
                </a:lnTo>
                <a:lnTo>
                  <a:pt x="6629399" y="2048752"/>
                </a:lnTo>
              </a:path>
            </a:pathLst>
          </a:custGeom>
          <a:noFill/>
          <a:ln w="18000">
            <a:solidFill>
              <a:srgbClr val="1B66B4"/>
            </a:solidFill>
          </a:ln>
        </p:spPr>
      </p:sp>
      <p:sp>
        <p:nvSpPr>
          <p:cNvPr id="14" name="Leg"/>
          <p:cNvSpPr/>
          <p:nvPr/>
        </p:nvSpPr>
        <p:spPr>
          <a:xfrm>
            <a:off x="7040880" y="1371600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30000" bIns="30000" anchor="ctr"/>
          <a:lstStyle/>
          <a:p>
            <a:pPr algn="r"/>
            <a:r>
              <a:rPr lang="ja-JP" sz="750" b="0" dirty="0">
                <a:latin typeface="Aptos"/>
                <a:ea typeface="Noto Sans CJK JP"/>
              </a:rPr>
              <a:t>r2'=0.20</a:t>
            </a:r>
            <a:endParaRPr lang="ja-JP" sz="750"/>
          </a:p>
        </p:txBody>
      </p:sp>
      <p:sp>
        <p:nvSpPr>
          <p:cNvPr id="15" name="Curve 15"/>
          <p:cNvSpPr/>
          <p:nvPr/>
        </p:nvSpPr>
        <p:spPr>
          <a:xfrm>
            <a:off x="1097280" y="2023015"/>
            <a:ext cx="6629399" cy="3253006"/>
          </a:xfrm>
          <a:custGeom>
            <a:avLst/>
            <a:gdLst/>
            <a:ahLst/>
            <a:cxnLst/>
            <a:rect l="l" t="t" r="r" b="b"/>
            <a:pathLst>
              <a:path w="6629399" h="3253006">
                <a:moveTo>
                  <a:pt x="0" y="3253006"/>
                </a:moveTo>
                <a:lnTo>
                  <a:pt x="267854" y="2223786"/>
                </a:lnTo>
                <a:lnTo>
                  <a:pt x="602672" y="1233383"/>
                </a:lnTo>
                <a:lnTo>
                  <a:pt x="1272309" y="209101"/>
                </a:lnTo>
                <a:lnTo>
                  <a:pt x="1941945" y="0"/>
                </a:lnTo>
                <a:lnTo>
                  <a:pt x="3281218" y="379531"/>
                </a:lnTo>
                <a:lnTo>
                  <a:pt x="6629399" y="1465541"/>
                </a:lnTo>
              </a:path>
            </a:pathLst>
          </a:custGeom>
          <a:noFill/>
          <a:ln w="18000">
            <a:solidFill>
              <a:srgbClr val="DC5A28"/>
            </a:solidFill>
          </a:ln>
        </p:spPr>
      </p:sp>
      <p:sp>
        <p:nvSpPr>
          <p:cNvPr id="16" name="Leg"/>
          <p:cNvSpPr/>
          <p:nvPr/>
        </p:nvSpPr>
        <p:spPr>
          <a:xfrm>
            <a:off x="7040880" y="1572768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30000" bIns="30000" anchor="ctr"/>
          <a:lstStyle/>
          <a:p>
            <a:pPr algn="r"/>
            <a:r>
              <a:rPr lang="ja-JP" sz="750" b="0" dirty="0">
                <a:latin typeface="Aptos"/>
                <a:ea typeface="Noto Sans CJK JP"/>
              </a:rPr>
              <a:t>r2'=0.30</a:t>
            </a:r>
            <a:endParaRPr lang="ja-JP" sz="750"/>
          </a:p>
        </p:txBody>
      </p:sp>
      <p:sp>
        <p:nvSpPr>
          <p:cNvPr id="17" name="Curve 17"/>
          <p:cNvSpPr/>
          <p:nvPr/>
        </p:nvSpPr>
        <p:spPr>
          <a:xfrm>
            <a:off x="1097280" y="2045418"/>
            <a:ext cx="6629399" cy="3324161"/>
          </a:xfrm>
          <a:custGeom>
            <a:avLst/>
            <a:gdLst/>
            <a:ahLst/>
            <a:cxnLst/>
            <a:rect l="l" t="t" r="r" b="b"/>
            <a:pathLst>
              <a:path w="6629399" h="3324161">
                <a:moveTo>
                  <a:pt x="0" y="3324161"/>
                </a:moveTo>
                <a:lnTo>
                  <a:pt x="267854" y="2607287"/>
                </a:lnTo>
                <a:lnTo>
                  <a:pt x="602672" y="1832402"/>
                </a:lnTo>
                <a:lnTo>
                  <a:pt x="1272309" y="741469"/>
                </a:lnTo>
                <a:lnTo>
                  <a:pt x="1941945" y="186698"/>
                </a:lnTo>
                <a:lnTo>
                  <a:pt x="3281218" y="0"/>
                </a:lnTo>
                <a:lnTo>
                  <a:pt x="6629399" y="784350"/>
                </a:lnTo>
              </a:path>
            </a:pathLst>
          </a:custGeom>
          <a:noFill/>
          <a:ln w="18000">
            <a:solidFill>
              <a:srgbClr val="288C5A"/>
            </a:solidFill>
          </a:ln>
        </p:spPr>
      </p:sp>
      <p:sp>
        <p:nvSpPr>
          <p:cNvPr id="18" name="Leg"/>
          <p:cNvSpPr/>
          <p:nvPr/>
        </p:nvSpPr>
        <p:spPr>
          <a:xfrm>
            <a:off x="7040880" y="1773936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30000" bIns="30000" anchor="ctr"/>
          <a:lstStyle/>
          <a:p>
            <a:pPr algn="r"/>
            <a:r>
              <a:rPr lang="ja-JP" sz="750" b="0" dirty="0">
                <a:latin typeface="Aptos"/>
                <a:ea typeface="Noto Sans CJK JP"/>
              </a:rPr>
              <a:t>r2'=0.45</a:t>
            </a:r>
            <a:endParaRPr lang="ja-JP" sz="750"/>
          </a:p>
        </p:txBody>
      </p:sp>
      <p:sp>
        <p:nvSpPr>
          <p:cNvPr id="19" name="XLab"/>
          <p:cNvSpPr/>
          <p:nvPr/>
        </p:nvSpPr>
        <p:spPr>
          <a:xfrm>
            <a:off x="4000500" y="560527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30000" bIns="30000" anchor="ctr"/>
          <a:lstStyle/>
          <a:p>
            <a:pPr algn="ctr"/>
            <a:r>
              <a:rPr lang="ja-JP" sz="750" b="0" dirty="0">
                <a:latin typeface="Aptos"/>
                <a:ea typeface="Noto Sans CJK JP"/>
              </a:rPr>
              <a:t>s</a:t>
            </a:r>
            <a:endParaRPr lang="ja-JP" sz="750"/>
          </a:p>
        </p:txBody>
      </p:sp>
      <p:sp>
        <p:nvSpPr>
          <p:cNvPr id="20" name="YLab"/>
          <p:cNvSpPr/>
          <p:nvPr/>
        </p:nvSpPr>
        <p:spPr>
          <a:xfrm>
            <a:off x="630936" y="3547872"/>
            <a:ext cx="411480" cy="201168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30000" bIns="30000" anchor="ctr"/>
          <a:lstStyle/>
          <a:p>
            <a:pPr algn="ctr"/>
            <a:r>
              <a:rPr lang="ja-JP" sz="750" b="0" dirty="0">
                <a:latin typeface="Aptos"/>
                <a:ea typeface="Noto Sans CJK JP"/>
              </a:rPr>
              <a:t>N·m</a:t>
            </a:r>
            <a:endParaRPr lang="ja-JP" sz="750"/>
          </a:p>
        </p:txBody>
      </p:sp>
      <p:sp>
        <p:nvSpPr>
          <p:cNvPr id="21" name="Box"/>
          <p:cNvSpPr/>
          <p:nvPr/>
        </p:nvSpPr>
        <p:spPr>
          <a:xfrm>
            <a:off x="8183879" y="1325880"/>
            <a:ext cx="3383280" cy="4480560"/>
          </a:xfrm>
          <a:prstGeom prst="rect">
            <a:avLst/>
          </a:prstGeom>
          <a:solidFill>
            <a:srgbClr val="F8FAFD"/>
          </a:solidFill>
          <a:ln w="12700">
            <a:solidFill>
              <a:srgbClr val="CDD7E4"/>
            </a:solidFill>
          </a:ln>
        </p:spPr>
        <p:txBody>
          <a:bodyPr wrap="square" lIns="50000" rIns="50000" tIns="30000" bIns="30000" anchor="ctr"/>
          <a:lstStyle/>
          <a:p>
            <a:pPr algn="ctr"/>
            <a:r>
              <a:rPr lang="ja-JP" sz="1200" b="0" dirty="0">
                <a:latin typeface="Aptos"/>
                <a:ea typeface="Noto Sans CJK JP"/>
              </a:rPr>
              <a:t>比例推移</a:t>
            </a:r>
          </a:p>
          <a:p>
            <a:r>
              <a:rPr lang="ja-JP" sz="1200" b="0" dirty="0">
                <a:latin typeface="Aptos"/>
                <a:ea typeface="Noto Sans CJK JP"/>
              </a:rPr>
              <a:t>sb/sa = r2b'/r2a'</a:t>
            </a:r>
          </a:p>
          <a:p>
            <a:r>
              <a:rPr lang="ja-JP" sz="1200" b="0" dirty="0">
                <a:latin typeface="Aptos"/>
                <a:ea typeface="Noto Sans CJK JP"/>
              </a:rPr>
              <a:t>同一トルク ⇔ r2'/s が同じ</a:t>
            </a:r>
          </a:p>
          <a:p>
            <a:r>
              <a:rPr lang="ja-JP" sz="1200" b="0" dirty="0">
                <a:latin typeface="Aptos"/>
                <a:ea typeface="Noto Sans CJK JP"/>
              </a:rPr>
              <a:t/>
            </a:r>
          </a:p>
          <a:p>
            <a:r>
              <a:rPr lang="ja-JP" sz="1200" b="0" dirty="0">
                <a:latin typeface="Aptos"/>
                <a:ea typeface="Noto Sans CJK JP"/>
              </a:rPr>
              <a:t>r2'=0.20 → sm≈0.196</a:t>
            </a:r>
          </a:p>
          <a:p>
            <a:r>
              <a:rPr lang="ja-JP" sz="1200" b="0" dirty="0">
                <a:latin typeface="Aptos"/>
                <a:ea typeface="Noto Sans CJK JP"/>
              </a:rPr>
              <a:t>r2'=0.30 → sm≈0.294</a:t>
            </a:r>
          </a:p>
          <a:p>
            <a:r>
              <a:rPr lang="ja-JP" sz="1200" b="0" dirty="0">
                <a:latin typeface="Aptos"/>
                <a:ea typeface="Noto Sans CJK JP"/>
              </a:rPr>
              <a:t>r2'=0.45 → sm≈0.441</a:t>
            </a:r>
          </a:p>
          <a:p>
            <a:r>
              <a:rPr lang="ja-JP" sz="1200" b="0" dirty="0">
                <a:latin typeface="Aptos"/>
                <a:ea typeface="Noto Sans CJK JP"/>
              </a:rPr>
              <a:t>Tmax≈313 N·m</a:t>
            </a:r>
          </a:p>
          <a:p>
            <a:r>
              <a:rPr lang="ja-JP" sz="1200" b="0" dirty="0">
                <a:latin typeface="Aptos"/>
                <a:ea typeface="Noto Sans CJK JP"/>
              </a:rPr>
              <a:t/>
            </a:r>
          </a:p>
          <a:p>
            <a:r>
              <a:rPr lang="ja-JP" sz="1200" b="0" dirty="0">
                <a:latin typeface="Aptos"/>
                <a:ea typeface="Noto Sans CJK JP"/>
              </a:rPr>
              <a:t>固定EXAM_ALIGNMENT変更0件</a:t>
            </a:r>
          </a:p>
          <a:p>
            <a:r>
              <a:rPr lang="ja-JP" sz="1200" b="0" dirty="0">
                <a:latin typeface="Aptos"/>
                <a:ea typeface="Noto Sans CJK JP"/>
              </a:rPr>
              <a:t>Topic 11〜13先取り0件</a:t>
            </a:r>
            <a:endParaRPr lang="ja-JP" sz="1200"/>
          </a:p>
        </p:txBody>
      </p:sp>
      <p:sp>
        <p:nvSpPr>
          <p:cNvPr id="22" name="Footer"/>
          <p:cNvSpPr/>
          <p:nvPr/>
        </p:nvSpPr>
        <p:spPr>
          <a:xfrm>
            <a:off x="365760" y="6428232"/>
            <a:ext cx="11430000" cy="256032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30000" bIns="30000" anchor="ctr"/>
          <a:lstStyle/>
          <a:p>
            <a:pPr algn="l"/>
            <a:r>
              <a:rPr lang="ja-JP" sz="700" b="0" dirty="0">
                <a:latin typeface="Aptos"/>
                <a:ea typeface="Noto Sans CJK JP"/>
              </a:rPr>
              <a:t>技術根拠：試験センター R8/R7一次機械、R3/H28二次機械・制御、H25一次機械。引用画像なし。</a:t>
            </a:r>
            <a:endParaRPr lang="ja-JP" sz="7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nimal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ptos Display"/>
        <a:ea typeface="Noto Sans CJK JP"/>
        <a:cs typeface=""/>
      </a:majorFont>
      <a:minorFont>
        <a:latin typeface="Aptos"/>
        <a:ea typeface="Noto Sans CJK JP"/>
        <a:cs typeface=""/>
      </a:minorFont>
    </a:fontScheme>
    <a:fmtScheme name="Office">
      <a:fillStyleLst>
        <a:solidFill>
          <a:schemeClr val="phClr"/>
        </a:solidFill>
      </a:fillStyleLst>
      <a:lnStyleLst>
        <a:ln w="12700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4</Slides>
  <PresentationFormat>On-screen Show (16:9)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Topic 10 誘導電動機等価回路</dc:title>
  <dc:creator>OpenAI</dc:creator>
</cp:coreProperties>
</file>