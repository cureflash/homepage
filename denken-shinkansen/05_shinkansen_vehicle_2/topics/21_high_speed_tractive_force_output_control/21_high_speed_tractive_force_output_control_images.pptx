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00000" y="300000"/>
            <a:ext cx="11200000" cy="62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600" b="1"/>
              <a:t>21 高速域の速度・けん引力・出力制御</a:t>
            </a:r>
          </a:p>
          <a:p>
            <a:r>
              <a:rPr lang="ja-JP" sz="1600"/>
              <a:t>回転系: P=Tω, ω=2πN/60, T=P/ω</a:t>
            </a:r>
          </a:p>
          <a:p>
            <a:r>
              <a:rPr lang="ja-JP" sz="1600"/>
              <a:t>車両系: P=Fv, F=P/v, P_train=n_m P_m</a:t>
            </a:r>
          </a:p>
          <a:p>
            <a:r>
              <a:rPr lang="ja-JP" sz="1600"/>
              <a:t>低速側: 定トルク / 電流制限　　高速側: 電圧上限 / 定出力</a:t>
            </a:r>
          </a:p>
          <a:p>
            <a:r>
              <a:rPr lang="ja-JP" sz="1600"/>
              <a:t>定出力域では T=P/ω, F=P/v により速度上昇で低下</a:t>
            </a:r>
          </a:p>
          <a:p>
            <a:r>
              <a:rPr lang="ja-JP" sz="1600"/>
              <a:t>学習用仮定値のみ。未確認N700実車値を真値化しない。</a:t>
            </a:r>
          </a:p>
          <a:p>
            <a:r>
              <a:rPr lang="ja-JP" sz="1600"/>
              <a:t>H26一次 問5(4): V/f一定・I_M一定・f_s可変</a:t>
            </a:r>
          </a:p>
          <a:p>
            <a:r>
              <a:rPr lang="ja-JP" sz="1600"/>
              <a:t>H26一次 問5(5): V一定・I_M一定・f_s可変</a:t>
            </a:r>
          </a:p>
          <a:p>
            <a:r>
              <a:rPr lang="ja-JP" sz="1600"/>
              <a:t>H25一次 問3(1): P=Tω の回転角速度</a:t>
            </a:r>
          </a:p>
          <a:p>
            <a:r>
              <a:rPr lang="ja-JP" sz="1600"/>
              <a:t>二次 R7/R1/H26: T=P/ω を途中式・単位付きで計算</a:t>
            </a:r>
          </a:p>
          <a:p>
            <a:r>
              <a:rPr lang="ja-JP" sz="1600"/>
              <a:t>固定ゲート: 一次2問＋二次3問 / 5問・6答案要素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00000" y="300000"/>
            <a:ext cx="11200000" cy="62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600" b="1"/>
              <a:t>SPEC可視化1　速度―けん引力 [kN]</a:t>
            </a:r>
          </a:p>
          <a:p>
            <a:r>
              <a:rPr lang="ja-JP" sz="1600"/>
              <a:t>速度  60   ██████████ 216</a:t>
            </a:r>
          </a:p>
          <a:p>
            <a:r>
              <a:rPr lang="ja-JP" sz="1600"/>
              <a:t>速度 120   ██████████ 216</a:t>
            </a:r>
          </a:p>
          <a:p>
            <a:r>
              <a:rPr lang="ja-JP" sz="1600"/>
              <a:t>速度 180   ███████    144</a:t>
            </a:r>
          </a:p>
          <a:p>
            <a:r>
              <a:rPr lang="ja-JP" sz="1600"/>
              <a:t>速度 240   █████      108</a:t>
            </a:r>
          </a:p>
          <a:p>
            <a:r>
              <a:rPr lang="ja-JP" sz="1600"/>
              <a:t>速度 300   ████        86.4</a:t>
            </a:r>
          </a:p>
          <a:p>
            <a:r>
              <a:rPr lang="ja-JP" sz="1600"/>
              <a:t>60–120 km/h: 定トルク側で一定 / 120 km/h超: F=P/vで低下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00000" y="300000"/>
            <a:ext cx="11200000" cy="62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600" b="1"/>
              <a:t>SPEC可視化2　速度―主電動機出力 [kW]</a:t>
            </a:r>
          </a:p>
          <a:p>
            <a:r>
              <a:rPr lang="ja-JP" sz="1600"/>
              <a:t>速度  60   █████       150</a:t>
            </a:r>
          </a:p>
          <a:p>
            <a:r>
              <a:rPr lang="ja-JP" sz="1600"/>
              <a:t>速度 120   ██████████ 300</a:t>
            </a:r>
          </a:p>
          <a:p>
            <a:r>
              <a:rPr lang="ja-JP" sz="1600"/>
              <a:t>速度 180   ██████████ 300</a:t>
            </a:r>
          </a:p>
          <a:p>
            <a:r>
              <a:rPr lang="ja-JP" sz="1600"/>
              <a:t>速度 240   ██████████ 300</a:t>
            </a:r>
          </a:p>
          <a:p>
            <a:r>
              <a:rPr lang="ja-JP" sz="1600"/>
              <a:t>速度 300   ██████████ 300</a:t>
            </a:r>
          </a:p>
          <a:p>
            <a:r>
              <a:rPr lang="ja-JP" sz="1600"/>
              <a:t>学習モデル: v_b=120 km/h。低速側 P_m∝v、高速側 P_m=300 kW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00000" y="300000"/>
            <a:ext cx="11200000" cy="62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600" b="1"/>
              <a:t>SPEC可視化3　速度―編成必要出力 [MW]</a:t>
            </a:r>
          </a:p>
          <a:p>
            <a:r>
              <a:rPr lang="ja-JP" sz="1600"/>
              <a:t>速度  60   必要 0.759   利用可 3.6</a:t>
            </a:r>
          </a:p>
          <a:p>
            <a:r>
              <a:rPr lang="ja-JP" sz="1600"/>
              <a:t>速度 120   必要 2.074   利用可 7.2</a:t>
            </a:r>
          </a:p>
          <a:p>
            <a:r>
              <a:rPr lang="ja-JP" sz="1600"/>
              <a:t>速度 180   必要 4.500   利用可 7.2</a:t>
            </a:r>
          </a:p>
          <a:p>
            <a:r>
              <a:rPr lang="ja-JP" sz="1600"/>
              <a:t>速度 240   必要 8.593   利用可 7.2  ←不足</a:t>
            </a:r>
          </a:p>
          <a:p>
            <a:r>
              <a:rPr lang="ja-JP" sz="1600"/>
              <a:t>速度 300   必要14.907   利用可 7.2  ←不足</a:t>
            </a:r>
          </a:p>
          <a:p>
            <a:r>
              <a:rPr lang="ja-JP" sz="1600"/>
              <a:t>P_req=R(v)v, R(v)=40000+20v²[N]</a:t>
            </a:r>
          </a:p>
          <a:p>
            <a:r>
              <a:rPr lang="ja-JP" sz="1600"/>
              <a:t>共通仮定: n_m=24, P_m0=300 kW, v_b=120 km/h。実車値ではない</a:t>
            </a:r>
          </a:p>
        </p:txBody>
      </p:sp>
    </p:spTree>
  </p:cSld>
</p:sld>
</file>