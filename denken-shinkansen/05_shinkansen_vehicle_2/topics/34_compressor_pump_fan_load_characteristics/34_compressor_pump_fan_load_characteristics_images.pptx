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</a:t>
            </a:r>
          </a:p>
          <a:p>
            <a:r>
              <a:t>https://www.shiken.or.jp/chief/second/qa/</a:t>
            </a:r>
          </a:p>
          <a:p>
            <a:r>
              <a:t>https://www.shiken.or.jp/chief/upload/20130831_ch_second_q03.pdf</a:t>
            </a:r>
          </a:p>
          <a:p>
            <a:r>
              <a:t>https://www.shiken.or.jp/chief/upload/20130831_ch_second_a01.pdf</a:t>
            </a:r>
          </a:p>
          <a:p>
            <a:r>
              <a:t>https://e-sysnet.com/%E9%9B%BB%E5%8B%95%E6%A9%9F%E3%81%AE%E5%88%B6%E5%8B%95%E3%81%A8%E6%89%80%E8%A6%81%E5%87%BA%E5%8A%9B/</a:t>
            </a:r>
          </a:p>
          <a:p>
            <a:r>
              <a:t>https://e-sysnet.com/%E3%83%9D%E3%83%B3%E3%83%97%E7%94%A8%E3%83%BB%E9%80%81%E9%A2%A8%E6%A9%9F%E3%81%AE%E9%81%8B%E8%BB%A2%E3%81%A8%E5%81%9C%E6%AD%A2/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</a:t>
            </a:r>
          </a:p>
          <a:p>
            <a:r>
              <a:t>https://www.shiken.or.jp/chief/second/qa/</a:t>
            </a:r>
          </a:p>
          <a:p>
            <a:r>
              <a:t>https://www.shiken.or.jp/chief/upload/20130831_ch_second_q03.pdf</a:t>
            </a:r>
          </a:p>
          <a:p>
            <a:r>
              <a:t>https://www.shiken.or.jp/chief/upload/20130831_ch_second_a01.pdf</a:t>
            </a:r>
          </a:p>
          <a:p>
            <a:r>
              <a:t>https://denken-ou.com/c2/kikair7-2/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</a:t>
            </a:r>
          </a:p>
          <a:p>
            <a:r>
              <a:t>https://www.shiken.or.jp/chief/upload/20251116_ch_second_q02.pdf</a:t>
            </a:r>
          </a:p>
          <a:p>
            <a:r>
              <a:t>https://www.shiken.or.jp/chief/upload/20251116_ch_second_a01_tk.pdf</a:t>
            </a:r>
          </a:p>
          <a:p>
            <a:r>
              <a:t>https://denken-ou.com/c2/kikaiseigyor7-2/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</a:t>
            </a:r>
          </a:p>
          <a:p>
            <a:r>
              <a:t>https://www.shiken.or.jp/chief/upload/20130831_ch_second_q03.pdf</a:t>
            </a:r>
          </a:p>
          <a:p>
            <a:r>
              <a:t>https://www.shiken.or.jp/chief/upload/20130831_ch_second_a01.pdf</a:t>
            </a:r>
          </a:p>
          <a:p>
            <a:r>
              <a:t>https://e-sysnet.com/%E3%83%9D%E3%83%B3%E3%83%97%E7%94%A8%E3%83%BB%E9%80%81%E9%A2%A8%E6%A9%9F%E3%81%AE%E9%81%8B%E8%BB%A2%E3%81%A8%E5%81%9C%E6%AD%A2/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</a:t>
            </a:r>
          </a:p>
          <a:p>
            <a:r>
              <a:t>https://www.shiken.or.jp/chief/second/qa/</a:t>
            </a:r>
          </a:p>
          <a:p>
            <a:r>
              <a:t>https://www.shiken.or.jp/chief/upload/20221113_ch_second_q02.pdf</a:t>
            </a:r>
          </a:p>
          <a:p>
            <a:r>
              <a:t>https://www.shiken.or.jp/chief/upload/20221113_ch_second_a01.pdf</a:t>
            </a:r>
          </a:p>
          <a:p>
            <a:r>
              <a:t>https://www.shiken.or.jp/chief/upload/20130831_ch_second_q03.pdf</a:t>
            </a:r>
          </a:p>
          <a:p>
            <a:r>
              <a:t>https://www.shiken.or.jp/chief/upload/20130831_ch_second_a01.pdf</a:t>
            </a:r>
          </a:p>
          <a:p>
            <a:r>
              <a:t>https://denken-ou.com/c2/kikair6-2/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</a:t>
            </a:r>
          </a:p>
          <a:p>
            <a:r>
              <a:t>https://www.shiken.or.jp/chief/second/qa/</a:t>
            </a:r>
          </a:p>
          <a:p>
            <a:r>
              <a:t>https://www.shiken.or.jp/chief/upload/20251116_ch_second_q02.pdf</a:t>
            </a:r>
          </a:p>
          <a:p>
            <a:r>
              <a:t>https://www.shiken.or.jp/chief/upload/20251116_ch_second_a01_tk.pdf</a:t>
            </a:r>
          </a:p>
          <a:p>
            <a:r>
              <a:t>https://www.shiken.or.jp/chief/upload/20221113_ch_second_q02.pdf</a:t>
            </a:r>
          </a:p>
          <a:p>
            <a:r>
              <a:t>https://www.shiken.or.jp/chief/upload/20221113_ch_second_a01.pdf</a:t>
            </a:r>
          </a:p>
          <a:p>
            <a:r>
              <a:t>https://www.shiken.or.jp/chief/upload/20130831_ch_second_q03.pdf</a:t>
            </a:r>
          </a:p>
          <a:p>
            <a:r>
              <a:t>https://www.shiken.or.jp/chief/upload/20130831_ch_second_a01.pdf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28600"/>
            <a:ext cx="502920" cy="384048"/>
          </a:xfrm>
          <a:prstGeom prst="roundRect">
            <a:avLst/>
          </a:prstGeom>
          <a:solidFill>
            <a:srgbClr val="2A62AB"/>
          </a:solidFill>
          <a:ln>
            <a:solidFill>
              <a:srgbClr val="2A6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50292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"/>
            <a:ext cx="1051560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400" b="1">
                <a:solidFill>
                  <a:srgbClr val="14233A"/>
                </a:solidFill>
                <a:latin typeface="Noto Sans CJK JP"/>
              </a:rPr>
              <a:t>補機負荷を「電力 → トルク → 流体仕事」でつなぐ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640080"/>
            <a:ext cx="1024128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0">
                <a:solidFill>
                  <a:srgbClr val="5C6978"/>
                </a:solidFill>
                <a:latin typeface="Noto Sans CJK JP"/>
              </a:rPr>
              <a:t>Topic 34｜コンプレッサ・ポンプ・ファンの負荷特性｜固定5問・27答案要素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960120"/>
            <a:ext cx="11155680" cy="0"/>
          </a:xfrm>
          <a:prstGeom prst="line">
            <a:avLst/>
          </a:prstGeom>
          <a:ln w="127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828800"/>
            <a:ext cx="1783080" cy="960120"/>
          </a:xfrm>
          <a:prstGeom prst="roundRect">
            <a:avLst/>
          </a:prstGeom>
          <a:solidFill>
            <a:srgbClr val="E7F0FA"/>
          </a:solidFill>
          <a:ln w="20320">
            <a:solidFill>
              <a:srgbClr val="2A6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1" y="1920240"/>
            <a:ext cx="1636776" cy="7772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500" b="1">
                <a:solidFill>
                  <a:srgbClr val="2A62AB"/>
                </a:solidFill>
                <a:latin typeface="Noto Sans CJK JP"/>
              </a:rPr>
              <a:t>SIV / 補助電源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23160" y="2304288"/>
            <a:ext cx="548640" cy="0"/>
          </a:xfrm>
          <a:prstGeom prst="line">
            <a:avLst/>
          </a:prstGeom>
          <a:ln w="25400">
            <a:solidFill>
              <a:srgbClr val="5C697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71800" y="1828800"/>
            <a:ext cx="1783080" cy="960120"/>
          </a:xfrm>
          <a:prstGeom prst="roundRect">
            <a:avLst/>
          </a:prstGeom>
          <a:solidFill>
            <a:srgbClr val="E6F6F9"/>
          </a:solidFill>
          <a:ln w="20320">
            <a:solidFill>
              <a:srgbClr val="23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1920240"/>
            <a:ext cx="1636776" cy="7772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500" b="1">
                <a:solidFill>
                  <a:srgbClr val="23807B"/>
                </a:solidFill>
                <a:latin typeface="Noto Sans CJK JP"/>
              </a:rPr>
              <a:t>インバータ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54880" y="2304288"/>
            <a:ext cx="411480" cy="0"/>
          </a:xfrm>
          <a:prstGeom prst="line">
            <a:avLst/>
          </a:prstGeom>
          <a:ln w="25400">
            <a:solidFill>
              <a:srgbClr val="5C697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66360" y="1828800"/>
            <a:ext cx="1783080" cy="960120"/>
          </a:xfrm>
          <a:prstGeom prst="roundRect">
            <a:avLst/>
          </a:prstGeom>
          <a:solidFill>
            <a:srgbClr val="EAF6EE"/>
          </a:solidFill>
          <a:ln w="20320">
            <a:solidFill>
              <a:srgbClr val="43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9512" y="1920240"/>
            <a:ext cx="1636776" cy="7772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500" b="1">
                <a:solidFill>
                  <a:srgbClr val="43915B"/>
                </a:solidFill>
                <a:latin typeface="Noto Sans CJK JP"/>
              </a:rPr>
              <a:t>電動機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49440" y="2304288"/>
            <a:ext cx="411480" cy="0"/>
          </a:xfrm>
          <a:prstGeom prst="line">
            <a:avLst/>
          </a:prstGeom>
          <a:ln w="25400">
            <a:solidFill>
              <a:srgbClr val="5C697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60920" y="1828800"/>
            <a:ext cx="1783080" cy="960120"/>
          </a:xfrm>
          <a:prstGeom prst="roundRect">
            <a:avLst/>
          </a:prstGeom>
          <a:solidFill>
            <a:srgbClr val="FCF1E5"/>
          </a:solidFill>
          <a:ln w="20320">
            <a:solidFill>
              <a:srgbClr val="DD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4072" y="1920240"/>
            <a:ext cx="1636776" cy="7772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500" b="1">
                <a:solidFill>
                  <a:srgbClr val="DD8436"/>
                </a:solidFill>
                <a:latin typeface="Noto Sans CJK JP"/>
              </a:rPr>
              <a:t>補機負荷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0" y="2304288"/>
            <a:ext cx="502920" cy="0"/>
          </a:xfrm>
          <a:prstGeom prst="line">
            <a:avLst/>
          </a:prstGeom>
          <a:ln w="25400">
            <a:solidFill>
              <a:srgbClr val="5C697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46920" y="1828800"/>
            <a:ext cx="1783080" cy="960120"/>
          </a:xfrm>
          <a:prstGeom prst="roundRect">
            <a:avLst/>
          </a:prstGeom>
          <a:solidFill>
            <a:srgbClr val="FAEBE9"/>
          </a:solidFill>
          <a:ln w="20320">
            <a:solidFill>
              <a:srgbClr val="BE4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20072" y="1920240"/>
            <a:ext cx="1636776" cy="7772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500" b="1">
                <a:solidFill>
                  <a:srgbClr val="BE4840"/>
                </a:solidFill>
                <a:latin typeface="Noto Sans CJK JP"/>
              </a:rPr>
              <a:t>空気・液体
の仕事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154680"/>
            <a:ext cx="2331720" cy="658368"/>
          </a:xfrm>
          <a:prstGeom prst="roundRect">
            <a:avLst/>
          </a:prstGeom>
          <a:solidFill>
            <a:srgbClr val="E7F0FA"/>
          </a:solidFill>
          <a:ln>
            <a:solidFill>
              <a:srgbClr val="E7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3182112"/>
            <a:ext cx="2185415" cy="603503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2200" b="1">
                <a:solidFill>
                  <a:srgbClr val="2A62AB"/>
                </a:solidFill>
                <a:latin typeface="Noto Sans Mono CJK JP"/>
              </a:rPr>
              <a:t>P = Tω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10128" y="3154680"/>
            <a:ext cx="3017520" cy="658368"/>
          </a:xfrm>
          <a:prstGeom prst="roundRect">
            <a:avLst/>
          </a:prstGeom>
          <a:solidFill>
            <a:srgbClr val="EAF6EE"/>
          </a:solidFill>
          <a:ln>
            <a:solidFill>
              <a:srgbClr val="EA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0" y="3182112"/>
            <a:ext cx="2871215" cy="603503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900" b="1">
                <a:solidFill>
                  <a:srgbClr val="43915B"/>
                </a:solidFill>
                <a:latin typeface="Noto Sans Mono CJK JP"/>
              </a:rPr>
              <a:t>η = Pout / Pin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3154680"/>
            <a:ext cx="4434840" cy="658368"/>
          </a:xfrm>
          <a:prstGeom prst="roundRect">
            <a:avLst/>
          </a:prstGeom>
          <a:solidFill>
            <a:srgbClr val="E6F6F9"/>
          </a:solidFill>
          <a:ln>
            <a:solidFill>
              <a:srgbClr val="E6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11112" y="3182112"/>
            <a:ext cx="4288536" cy="603503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700" b="1">
                <a:solidFill>
                  <a:srgbClr val="23807B"/>
                </a:solidFill>
                <a:latin typeface="Noto Sans Mono CJK JP"/>
              </a:rPr>
              <a:t>Ns = 120f / p   ,   s = (Ns−N)/Ns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160520"/>
            <a:ext cx="201168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300" b="1">
                <a:solidFill>
                  <a:srgbClr val="14233A"/>
                </a:solidFill>
                <a:latin typeface="Noto Sans CJK JP"/>
              </a:rPr>
              <a:t>SPEC固定 7項目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572000"/>
            <a:ext cx="1508760" cy="347472"/>
          </a:xfrm>
          <a:prstGeom prst="roundRect">
            <a:avLst/>
          </a:prstGeom>
          <a:solidFill>
            <a:srgbClr val="2A62AB"/>
          </a:solidFill>
          <a:ln>
            <a:solidFill>
              <a:srgbClr val="2A6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572000"/>
            <a:ext cx="150876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電動機出力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04288" y="4572000"/>
            <a:ext cx="1508760" cy="347472"/>
          </a:xfrm>
          <a:prstGeom prst="roundRect">
            <a:avLst/>
          </a:prstGeom>
          <a:solidFill>
            <a:srgbClr val="7152A1"/>
          </a:solidFill>
          <a:ln>
            <a:solidFill>
              <a:srgbClr val="7152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04288" y="4572000"/>
            <a:ext cx="150876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負荷トルク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22776" y="4572000"/>
            <a:ext cx="1508760" cy="347472"/>
          </a:xfrm>
          <a:prstGeom prst="roundRect">
            <a:avLst/>
          </a:prstGeom>
          <a:solidFill>
            <a:srgbClr val="23807B"/>
          </a:solidFill>
          <a:ln>
            <a:solidFill>
              <a:srgbClr val="23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2776" y="4572000"/>
            <a:ext cx="150876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ポンプ動力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41264" y="4572000"/>
            <a:ext cx="1508760" cy="347472"/>
          </a:xfrm>
          <a:prstGeom prst="roundRect">
            <a:avLst/>
          </a:prstGeom>
          <a:solidFill>
            <a:srgbClr val="DD8436"/>
          </a:solidFill>
          <a:ln>
            <a:solidFill>
              <a:srgbClr val="DD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41264" y="4572000"/>
            <a:ext cx="150876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ファン動力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59752" y="4572000"/>
            <a:ext cx="1307592" cy="347472"/>
          </a:xfrm>
          <a:prstGeom prst="roundRect">
            <a:avLst/>
          </a:prstGeom>
          <a:solidFill>
            <a:srgbClr val="43915B"/>
          </a:solidFill>
          <a:ln>
            <a:solidFill>
              <a:srgbClr val="43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59752" y="4572000"/>
            <a:ext cx="1307592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回転速度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77072" y="4572000"/>
            <a:ext cx="1051560" cy="347472"/>
          </a:xfrm>
          <a:prstGeom prst="roundRect">
            <a:avLst/>
          </a:prstGeom>
          <a:solidFill>
            <a:srgbClr val="BE4840"/>
          </a:solidFill>
          <a:ln>
            <a:solidFill>
              <a:srgbClr val="BE4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77072" y="4572000"/>
            <a:ext cx="105156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効率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38360" y="4572000"/>
            <a:ext cx="1911095" cy="347472"/>
          </a:xfrm>
          <a:prstGeom prst="roundRect">
            <a:avLst/>
          </a:prstGeom>
          <a:solidFill>
            <a:srgbClr val="14233A"/>
          </a:solidFill>
          <a:ln>
            <a:solidFill>
              <a:srgbClr val="14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38360" y="4572000"/>
            <a:ext cx="1911095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インバータ制御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5212080"/>
            <a:ext cx="10927080" cy="96012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0584" bIns="73152"/>
          <a:lstStyle/>
          <a:p>
            <a:pPr algn="ctr">
              <a:spcAft>
                <a:spcPts val="400"/>
              </a:spcAft>
              <a:defRPr sz="1300" b="1">
                <a:solidFill>
                  <a:srgbClr val="14233A"/>
                </a:solidFill>
                <a:latin typeface="Noto Sans CJK JP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1F2937"/>
                </a:solidFill>
                <a:latin typeface="Noto Sans CJK JP"/>
              </a:defRPr>
            </a:pPr>
            <a:r>
              <a:t>• 新幹線実車の未確認定格値は使わず、電験二種の一般モデルで解析する。</a:t>
            </a:r>
          </a:p>
          <a:p>
            <a:pPr>
              <a:spcAft>
                <a:spcPts val="200"/>
              </a:spcAft>
              <a:defRPr sz="1200">
                <a:solidFill>
                  <a:srgbClr val="1F2937"/>
                </a:solidFill>
                <a:latin typeface="Noto Sans CJK JP"/>
              </a:defRPr>
            </a:pPr>
            <a:r>
              <a:t>• コンプレッサは軸出力・トルク・速度・効率・インバータ制御まで。圧縮熱力学・冷凍サイクルは追加しない。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28600"/>
            <a:ext cx="502920" cy="384048"/>
          </a:xfrm>
          <a:prstGeom prst="roundRect">
            <a:avLst/>
          </a:prstGeom>
          <a:solidFill>
            <a:srgbClr val="2A62AB"/>
          </a:solidFill>
          <a:ln>
            <a:solidFill>
              <a:srgbClr val="2A6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50292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"/>
            <a:ext cx="1051560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400" b="1">
                <a:solidFill>
                  <a:srgbClr val="14233A"/>
                </a:solidFill>
                <a:latin typeface="Noto Sans CJK JP"/>
              </a:rPr>
              <a:t>電動機出力・負荷トルク・動作点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640080"/>
            <a:ext cx="1024128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0">
                <a:solidFill>
                  <a:srgbClr val="5C6978"/>
                </a:solidFill>
                <a:latin typeface="Noto Sans CJK JP"/>
              </a:rPr>
              <a:t>P=Tω / 同期速度 / すべり / 停動トルクを同じ速度軸で読む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960120"/>
            <a:ext cx="11155680" cy="0"/>
          </a:xfrm>
          <a:prstGeom prst="line">
            <a:avLst/>
          </a:prstGeom>
          <a:ln w="127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143000"/>
            <a:ext cx="3108960" cy="566928"/>
          </a:xfrm>
          <a:prstGeom prst="roundRect">
            <a:avLst/>
          </a:prstGeom>
          <a:solidFill>
            <a:srgbClr val="E7F0FA"/>
          </a:solidFill>
          <a:ln>
            <a:solidFill>
              <a:srgbClr val="E7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1" y="1170432"/>
            <a:ext cx="2962656" cy="51206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800" b="1">
                <a:solidFill>
                  <a:srgbClr val="2A62AB"/>
                </a:solidFill>
                <a:latin typeface="Noto Sans Mono CJK JP"/>
              </a:rPr>
              <a:t>P = Tω = 2πNT / 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1143000"/>
            <a:ext cx="2834640" cy="566928"/>
          </a:xfrm>
          <a:prstGeom prst="roundRect">
            <a:avLst/>
          </a:prstGeom>
          <a:solidFill>
            <a:srgbClr val="EAF6EE"/>
          </a:solidFill>
          <a:ln>
            <a:solidFill>
              <a:srgbClr val="EA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50791" y="1170432"/>
            <a:ext cx="2688336" cy="51206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700" b="1">
                <a:solidFill>
                  <a:srgbClr val="43915B"/>
                </a:solidFill>
                <a:latin typeface="Noto Sans Mono CJK JP"/>
              </a:rPr>
              <a:t>J dω/dt = Tm − TL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1143000"/>
            <a:ext cx="3840480" cy="566928"/>
          </a:xfrm>
          <a:prstGeom prst="roundRect">
            <a:avLst/>
          </a:prstGeom>
          <a:solidFill>
            <a:srgbClr val="E6F6F9"/>
          </a:solidFill>
          <a:ln>
            <a:solidFill>
              <a:srgbClr val="E6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14032" y="1170432"/>
            <a:ext cx="3694176" cy="51206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600" b="1">
                <a:solidFill>
                  <a:srgbClr val="23807B"/>
                </a:solidFill>
                <a:latin typeface="Noto Sans Mono CJK JP"/>
              </a:rPr>
              <a:t>Ns=120f/p  ,  s=(Ns−N)/Ns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5349240"/>
            <a:ext cx="5806439" cy="0"/>
          </a:xfrm>
          <a:prstGeom prst="line">
            <a:avLst/>
          </a:prstGeom>
          <a:ln w="19050">
            <a:solidFill>
              <a:srgbClr val="14233A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77240" y="2194559"/>
            <a:ext cx="0" cy="3154681"/>
          </a:xfrm>
          <a:prstGeom prst="line">
            <a:avLst/>
          </a:prstGeom>
          <a:ln w="19050">
            <a:solidFill>
              <a:srgbClr val="14233A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577840" y="5458968"/>
            <a:ext cx="105156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1100" b="1">
                <a:solidFill>
                  <a:srgbClr val="14233A"/>
                </a:solidFill>
                <a:latin typeface="Noto Sans CJK JP"/>
              </a:rPr>
              <a:t>回転速度 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1" y="2057399"/>
            <a:ext cx="50292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14233A"/>
                </a:solidFill>
                <a:latin typeface="Noto Sans CJK JP"/>
              </a:rPr>
              <a:t>T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914400" y="4707833"/>
            <a:ext cx="181356" cy="211639"/>
          </a:xfrm>
          <a:prstGeom prst="line">
            <a:avLst/>
          </a:prstGeom>
          <a:ln w="30480">
            <a:solidFill>
              <a:srgbClr val="2A6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095756" y="4582236"/>
            <a:ext cx="181355" cy="125597"/>
          </a:xfrm>
          <a:prstGeom prst="line">
            <a:avLst/>
          </a:prstGeom>
          <a:ln w="30480">
            <a:solidFill>
              <a:srgbClr val="2A6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277111" y="4480426"/>
            <a:ext cx="181357" cy="101810"/>
          </a:xfrm>
          <a:prstGeom prst="line">
            <a:avLst/>
          </a:prstGeom>
          <a:ln w="30480">
            <a:solidFill>
              <a:srgbClr val="2A6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458468" y="4393512"/>
            <a:ext cx="181356" cy="86914"/>
          </a:xfrm>
          <a:prstGeom prst="line">
            <a:avLst/>
          </a:prstGeom>
          <a:ln w="30480">
            <a:solidFill>
              <a:srgbClr val="2A6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39824" y="4317715"/>
            <a:ext cx="181355" cy="75797"/>
          </a:xfrm>
          <a:prstGeom prst="line">
            <a:avLst/>
          </a:prstGeom>
          <a:ln w="30480">
            <a:solidFill>
              <a:srgbClr val="2A6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821179" y="4250978"/>
            <a:ext cx="181357" cy="66737"/>
          </a:xfrm>
          <a:prstGeom prst="line">
            <a:avLst/>
          </a:prstGeom>
          <a:ln w="30480">
            <a:solidFill>
              <a:srgbClr val="2A6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002536" y="4192037"/>
            <a:ext cx="181356" cy="58941"/>
          </a:xfrm>
          <a:prstGeom prst="line">
            <a:avLst/>
          </a:prstGeom>
          <a:ln w="30480">
            <a:solidFill>
              <a:srgbClr val="2A6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183892" y="4140054"/>
            <a:ext cx="181356" cy="51983"/>
          </a:xfrm>
          <a:prstGeom prst="line">
            <a:avLst/>
          </a:prstGeom>
          <a:ln w="30480">
            <a:solidFill>
              <a:srgbClr val="2A6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365248" y="4094450"/>
            <a:ext cx="181355" cy="45604"/>
          </a:xfrm>
          <a:prstGeom prst="line">
            <a:avLst/>
          </a:prstGeom>
          <a:ln w="30480">
            <a:solidFill>
              <a:srgbClr val="2A6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546603" y="4054820"/>
            <a:ext cx="181356" cy="39630"/>
          </a:xfrm>
          <a:prstGeom prst="line">
            <a:avLst/>
          </a:prstGeom>
          <a:ln w="30480">
            <a:solidFill>
              <a:srgbClr val="2A6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727959" y="4020876"/>
            <a:ext cx="181356" cy="33944"/>
          </a:xfrm>
          <a:prstGeom prst="line">
            <a:avLst/>
          </a:prstGeom>
          <a:ln w="30480">
            <a:solidFill>
              <a:srgbClr val="2A6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909315" y="3992425"/>
            <a:ext cx="181357" cy="28451"/>
          </a:xfrm>
          <a:prstGeom prst="line">
            <a:avLst/>
          </a:prstGeom>
          <a:ln w="30480">
            <a:solidFill>
              <a:srgbClr val="2A6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090672" y="3969344"/>
            <a:ext cx="181356" cy="23081"/>
          </a:xfrm>
          <a:prstGeom prst="line">
            <a:avLst/>
          </a:prstGeom>
          <a:ln w="30480">
            <a:solidFill>
              <a:srgbClr val="2A6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3272028" y="3951572"/>
            <a:ext cx="181355" cy="17772"/>
          </a:xfrm>
          <a:prstGeom prst="line">
            <a:avLst/>
          </a:prstGeom>
          <a:ln w="30480">
            <a:solidFill>
              <a:srgbClr val="2A6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3453383" y="3939104"/>
            <a:ext cx="181356" cy="12468"/>
          </a:xfrm>
          <a:prstGeom prst="line">
            <a:avLst/>
          </a:prstGeom>
          <a:ln w="30480">
            <a:solidFill>
              <a:srgbClr val="2A6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634739" y="3931989"/>
            <a:ext cx="181356" cy="7115"/>
          </a:xfrm>
          <a:prstGeom prst="line">
            <a:avLst/>
          </a:prstGeom>
          <a:ln w="30480">
            <a:solidFill>
              <a:srgbClr val="2A6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816095" y="3930331"/>
            <a:ext cx="181356" cy="1658"/>
          </a:xfrm>
          <a:prstGeom prst="line">
            <a:avLst/>
          </a:prstGeom>
          <a:ln w="30480">
            <a:solidFill>
              <a:srgbClr val="2A6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997451" y="3930331"/>
            <a:ext cx="181356" cy="3961"/>
          </a:xfrm>
          <a:prstGeom prst="line">
            <a:avLst/>
          </a:prstGeom>
          <a:ln w="30480">
            <a:solidFill>
              <a:srgbClr val="2A6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178807" y="3934292"/>
            <a:ext cx="181356" cy="9812"/>
          </a:xfrm>
          <a:prstGeom prst="line">
            <a:avLst/>
          </a:prstGeom>
          <a:ln w="30480">
            <a:solidFill>
              <a:srgbClr val="2A6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360163" y="3944104"/>
            <a:ext cx="181356" cy="15976"/>
          </a:xfrm>
          <a:prstGeom prst="line">
            <a:avLst/>
          </a:prstGeom>
          <a:ln w="30480">
            <a:solidFill>
              <a:srgbClr val="2A6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541519" y="3960080"/>
            <a:ext cx="181356" cy="22560"/>
          </a:xfrm>
          <a:prstGeom prst="line">
            <a:avLst/>
          </a:prstGeom>
          <a:ln w="30480">
            <a:solidFill>
              <a:srgbClr val="2A6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722875" y="3982640"/>
            <a:ext cx="181356" cy="29700"/>
          </a:xfrm>
          <a:prstGeom prst="line">
            <a:avLst/>
          </a:prstGeom>
          <a:ln w="30480">
            <a:solidFill>
              <a:srgbClr val="2A6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904231" y="4012340"/>
            <a:ext cx="181357" cy="37594"/>
          </a:xfrm>
          <a:prstGeom prst="line">
            <a:avLst/>
          </a:prstGeom>
          <a:ln w="30480">
            <a:solidFill>
              <a:srgbClr val="2A6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085588" y="4049934"/>
            <a:ext cx="181356" cy="46526"/>
          </a:xfrm>
          <a:prstGeom prst="line">
            <a:avLst/>
          </a:prstGeom>
          <a:ln w="30480">
            <a:solidFill>
              <a:srgbClr val="2A6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266944" y="4096460"/>
            <a:ext cx="181356" cy="56945"/>
          </a:xfrm>
          <a:prstGeom prst="line">
            <a:avLst/>
          </a:prstGeom>
          <a:ln w="30480">
            <a:solidFill>
              <a:srgbClr val="2A6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448300" y="4153405"/>
            <a:ext cx="181356" cy="69618"/>
          </a:xfrm>
          <a:prstGeom prst="line">
            <a:avLst/>
          </a:prstGeom>
          <a:ln w="30480">
            <a:solidFill>
              <a:srgbClr val="2A6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629656" y="4223023"/>
            <a:ext cx="181356" cy="86004"/>
          </a:xfrm>
          <a:prstGeom prst="line">
            <a:avLst/>
          </a:prstGeom>
          <a:ln w="30480">
            <a:solidFill>
              <a:srgbClr val="2A6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811012" y="4309027"/>
            <a:ext cx="181355" cy="109428"/>
          </a:xfrm>
          <a:prstGeom prst="line">
            <a:avLst/>
          </a:prstGeom>
          <a:ln w="30480">
            <a:solidFill>
              <a:srgbClr val="2A6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992367" y="4418455"/>
            <a:ext cx="181356" cy="150302"/>
          </a:xfrm>
          <a:prstGeom prst="line">
            <a:avLst/>
          </a:prstGeom>
          <a:ln w="30480">
            <a:solidFill>
              <a:srgbClr val="2A6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173723" y="4568757"/>
            <a:ext cx="181356" cy="350715"/>
          </a:xfrm>
          <a:prstGeom prst="line">
            <a:avLst/>
          </a:prstGeom>
          <a:ln w="30480">
            <a:solidFill>
              <a:srgbClr val="2A62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914400" y="5144897"/>
            <a:ext cx="226695" cy="3175"/>
          </a:xfrm>
          <a:prstGeom prst="line">
            <a:avLst/>
          </a:prstGeom>
          <a:ln w="30480">
            <a:solidFill>
              <a:srgbClr val="DD84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141095" y="5135372"/>
            <a:ext cx="226694" cy="9525"/>
          </a:xfrm>
          <a:prstGeom prst="line">
            <a:avLst/>
          </a:prstGeom>
          <a:ln w="30480">
            <a:solidFill>
              <a:srgbClr val="DD84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367789" y="5119497"/>
            <a:ext cx="226696" cy="15875"/>
          </a:xfrm>
          <a:prstGeom prst="line">
            <a:avLst/>
          </a:prstGeom>
          <a:ln w="30480">
            <a:solidFill>
              <a:srgbClr val="DD84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594485" y="5097272"/>
            <a:ext cx="226694" cy="22225"/>
          </a:xfrm>
          <a:prstGeom prst="line">
            <a:avLst/>
          </a:prstGeom>
          <a:ln w="30480">
            <a:solidFill>
              <a:srgbClr val="DD84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821179" y="5068697"/>
            <a:ext cx="226695" cy="28575"/>
          </a:xfrm>
          <a:prstGeom prst="line">
            <a:avLst/>
          </a:prstGeom>
          <a:ln w="30480">
            <a:solidFill>
              <a:srgbClr val="DD84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047874" y="5033772"/>
            <a:ext cx="226696" cy="34925"/>
          </a:xfrm>
          <a:prstGeom prst="line">
            <a:avLst/>
          </a:prstGeom>
          <a:ln w="30480">
            <a:solidFill>
              <a:srgbClr val="DD84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274570" y="4992497"/>
            <a:ext cx="226695" cy="41275"/>
          </a:xfrm>
          <a:prstGeom prst="line">
            <a:avLst/>
          </a:prstGeom>
          <a:ln w="30480">
            <a:solidFill>
              <a:srgbClr val="DD84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501265" y="4944872"/>
            <a:ext cx="226694" cy="47625"/>
          </a:xfrm>
          <a:prstGeom prst="line">
            <a:avLst/>
          </a:prstGeom>
          <a:ln w="30480">
            <a:solidFill>
              <a:srgbClr val="DD84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727959" y="4890897"/>
            <a:ext cx="226695" cy="53975"/>
          </a:xfrm>
          <a:prstGeom prst="line">
            <a:avLst/>
          </a:prstGeom>
          <a:ln w="30480">
            <a:solidFill>
              <a:srgbClr val="DD84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954654" y="4830572"/>
            <a:ext cx="226696" cy="60325"/>
          </a:xfrm>
          <a:prstGeom prst="line">
            <a:avLst/>
          </a:prstGeom>
          <a:ln w="30480">
            <a:solidFill>
              <a:srgbClr val="DD84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181350" y="4763897"/>
            <a:ext cx="226694" cy="66675"/>
          </a:xfrm>
          <a:prstGeom prst="line">
            <a:avLst/>
          </a:prstGeom>
          <a:ln w="30480">
            <a:solidFill>
              <a:srgbClr val="DD84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408044" y="4690872"/>
            <a:ext cx="226695" cy="73025"/>
          </a:xfrm>
          <a:prstGeom prst="line">
            <a:avLst/>
          </a:prstGeom>
          <a:ln w="30480">
            <a:solidFill>
              <a:srgbClr val="DD84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634739" y="4611497"/>
            <a:ext cx="226696" cy="79375"/>
          </a:xfrm>
          <a:prstGeom prst="line">
            <a:avLst/>
          </a:prstGeom>
          <a:ln w="30480">
            <a:solidFill>
              <a:srgbClr val="DD84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861435" y="4525772"/>
            <a:ext cx="226695" cy="85725"/>
          </a:xfrm>
          <a:prstGeom prst="line">
            <a:avLst/>
          </a:prstGeom>
          <a:ln w="30480">
            <a:solidFill>
              <a:srgbClr val="DD84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4088130" y="4433697"/>
            <a:ext cx="226695" cy="92075"/>
          </a:xfrm>
          <a:prstGeom prst="line">
            <a:avLst/>
          </a:prstGeom>
          <a:ln w="30480">
            <a:solidFill>
              <a:srgbClr val="DD84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4314825" y="4335272"/>
            <a:ext cx="226694" cy="98425"/>
          </a:xfrm>
          <a:prstGeom prst="line">
            <a:avLst/>
          </a:prstGeom>
          <a:ln w="30480">
            <a:solidFill>
              <a:srgbClr val="DD84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4541519" y="4230497"/>
            <a:ext cx="226695" cy="104775"/>
          </a:xfrm>
          <a:prstGeom prst="line">
            <a:avLst/>
          </a:prstGeom>
          <a:ln w="30480">
            <a:solidFill>
              <a:srgbClr val="DD84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4768214" y="4119372"/>
            <a:ext cx="226695" cy="111125"/>
          </a:xfrm>
          <a:prstGeom prst="line">
            <a:avLst/>
          </a:prstGeom>
          <a:ln w="30480">
            <a:solidFill>
              <a:srgbClr val="DD84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4994909" y="4001897"/>
            <a:ext cx="226696" cy="117475"/>
          </a:xfrm>
          <a:prstGeom prst="line">
            <a:avLst/>
          </a:prstGeom>
          <a:ln w="30480">
            <a:solidFill>
              <a:srgbClr val="DD84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5221605" y="3878071"/>
            <a:ext cx="226695" cy="123826"/>
          </a:xfrm>
          <a:prstGeom prst="line">
            <a:avLst/>
          </a:prstGeom>
          <a:ln w="30480">
            <a:solidFill>
              <a:srgbClr val="DD84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5448300" y="3747897"/>
            <a:ext cx="226694" cy="130174"/>
          </a:xfrm>
          <a:prstGeom prst="line">
            <a:avLst/>
          </a:prstGeom>
          <a:ln w="30480">
            <a:solidFill>
              <a:srgbClr val="DD84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5674994" y="3611372"/>
            <a:ext cx="226695" cy="136525"/>
          </a:xfrm>
          <a:prstGeom prst="line">
            <a:avLst/>
          </a:prstGeom>
          <a:ln w="30480">
            <a:solidFill>
              <a:srgbClr val="DD84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5901689" y="3468496"/>
            <a:ext cx="226695" cy="142876"/>
          </a:xfrm>
          <a:prstGeom prst="line">
            <a:avLst/>
          </a:prstGeom>
          <a:ln w="30480">
            <a:solidFill>
              <a:srgbClr val="DD84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128384" y="3319272"/>
            <a:ext cx="226695" cy="149224"/>
          </a:xfrm>
          <a:prstGeom prst="line">
            <a:avLst/>
          </a:prstGeom>
          <a:ln w="30480">
            <a:solidFill>
              <a:srgbClr val="DD84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4822088" y="4109496"/>
            <a:ext cx="128016" cy="128016"/>
          </a:xfrm>
          <a:prstGeom prst="ellipse">
            <a:avLst/>
          </a:prstGeom>
          <a:solidFill>
            <a:srgbClr val="BE4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977536" y="4008912"/>
            <a:ext cx="114300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1">
                <a:solidFill>
                  <a:srgbClr val="BE4840"/>
                </a:solidFill>
                <a:latin typeface="Noto Sans CJK JP"/>
              </a:rPr>
              <a:t>定常動作点
Tm = TL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43000" y="1993392"/>
            <a:ext cx="1417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100" b="1">
                <a:solidFill>
                  <a:srgbClr val="2A62AB"/>
                </a:solidFill>
                <a:latin typeface="Noto Sans CJK JP"/>
              </a:rPr>
              <a:t>電動機トルク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514600" y="4526280"/>
            <a:ext cx="128016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100" b="1">
                <a:solidFill>
                  <a:srgbClr val="DD8436"/>
                </a:solidFill>
                <a:latin typeface="Noto Sans CJK JP"/>
              </a:rPr>
              <a:t>ファン負荷 ∝N²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967728" y="1938528"/>
            <a:ext cx="425196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6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0584" bIns="73152"/>
          <a:lstStyle/>
          <a:p>
            <a:pPr algn="ctr">
              <a:spcAft>
                <a:spcPts val="400"/>
              </a:spcAft>
              <a:defRPr sz="1300" b="1">
                <a:solidFill>
                  <a:srgbClr val="2A62AB"/>
                </a:solidFill>
                <a:latin typeface="Noto Sans CJK JP"/>
              </a:defRPr>
            </a:pPr>
            <a:r>
              <a:t>R7一次 問2 ＋ H25一次 接続</a:t>
            </a:r>
          </a:p>
          <a:p>
            <a:pPr>
              <a:spcAft>
                <a:spcPts val="200"/>
              </a:spcAft>
              <a:defRPr sz="1200">
                <a:solidFill>
                  <a:srgbClr val="1F2937"/>
                </a:solidFill>
                <a:latin typeface="Noto Sans CJK JP"/>
              </a:defRPr>
            </a:pPr>
            <a:r>
              <a:t>• 分子 3V₁²(r₂′/s) を含むトルク式</a:t>
            </a:r>
          </a:p>
          <a:p>
            <a:pPr>
              <a:spcAft>
                <a:spcPts val="200"/>
              </a:spcAft>
              <a:defRPr sz="1200">
                <a:solidFill>
                  <a:srgbClr val="1F2937"/>
                </a:solidFill>
                <a:latin typeface="Noto Sans CJK JP"/>
              </a:defRPr>
            </a:pPr>
            <a:r>
              <a:t>• 電動機運転：s &gt; 0</a:t>
            </a:r>
          </a:p>
          <a:p>
            <a:pPr>
              <a:spcAft>
                <a:spcPts val="200"/>
              </a:spcAft>
              <a:defRPr sz="1200">
                <a:solidFill>
                  <a:srgbClr val="1F2937"/>
                </a:solidFill>
                <a:latin typeface="Noto Sans CJK JP"/>
              </a:defRPr>
            </a:pPr>
            <a:r>
              <a:t>• 最大トルク＝停動トルク</a:t>
            </a:r>
          </a:p>
          <a:p>
            <a:pPr>
              <a:spcAft>
                <a:spcPts val="200"/>
              </a:spcAft>
              <a:defRPr sz="1200">
                <a:solidFill>
                  <a:srgbClr val="1F2937"/>
                </a:solidFill>
                <a:latin typeface="Noto Sans CJK JP"/>
              </a:defRPr>
            </a:pPr>
            <a:r>
              <a:t>• 理想化式では最大トルク値は r₂′ に依存しない</a:t>
            </a:r>
          </a:p>
          <a:p>
            <a:pPr>
              <a:spcAft>
                <a:spcPts val="200"/>
              </a:spcAft>
              <a:defRPr sz="1200">
                <a:solidFill>
                  <a:srgbClr val="1F2937"/>
                </a:solidFill>
                <a:latin typeface="Noto Sans CJK JP"/>
              </a:defRPr>
            </a:pPr>
            <a:r>
              <a:t>• 同期速度近傍：T ∝ s</a:t>
            </a:r>
          </a:p>
          <a:p>
            <a:pPr>
              <a:spcAft>
                <a:spcPts val="200"/>
              </a:spcAft>
              <a:defRPr sz="1200">
                <a:solidFill>
                  <a:srgbClr val="1F2937"/>
                </a:solidFill>
                <a:latin typeface="Noto Sans CJK JP"/>
              </a:defRPr>
            </a:pPr>
            <a:r>
              <a:t>• 定常：Tm=TL／過負荷耐量は問題条件で判定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28600"/>
            <a:ext cx="502920" cy="384048"/>
          </a:xfrm>
          <a:prstGeom prst="roundRect">
            <a:avLst/>
          </a:prstGeom>
          <a:solidFill>
            <a:srgbClr val="2A62AB"/>
          </a:solidFill>
          <a:ln>
            <a:solidFill>
              <a:srgbClr val="2A6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50292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"/>
            <a:ext cx="1051560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400" b="1">
                <a:solidFill>
                  <a:srgbClr val="14233A"/>
                </a:solidFill>
                <a:latin typeface="Noto Sans CJK JP"/>
              </a:rPr>
              <a:t>効率と損失を、入力から軸出力まで分解する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640080"/>
            <a:ext cx="1024128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0">
                <a:solidFill>
                  <a:srgbClr val="5C6978"/>
                </a:solidFill>
                <a:latin typeface="Noto Sans CJK JP"/>
              </a:rPr>
              <a:t>R7二次「機械・制御」問2の固定6答案要素を数値で再現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960120"/>
            <a:ext cx="11155680" cy="0"/>
          </a:xfrm>
          <a:prstGeom prst="line">
            <a:avLst/>
          </a:prstGeom>
          <a:ln w="127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1874519"/>
            <a:ext cx="1600200" cy="914400"/>
          </a:xfrm>
          <a:prstGeom prst="roundRect">
            <a:avLst/>
          </a:prstGeom>
          <a:solidFill>
            <a:srgbClr val="E7F0FA"/>
          </a:solidFill>
          <a:ln w="17780">
            <a:solidFill>
              <a:srgbClr val="2A6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38528"/>
            <a:ext cx="1508760" cy="7863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300" b="1">
                <a:solidFill>
                  <a:srgbClr val="2A62AB"/>
                </a:solidFill>
                <a:latin typeface="Noto Sans CJK JP"/>
              </a:rPr>
              <a:t>入力
25.14 kW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86000" y="2331720"/>
            <a:ext cx="502920" cy="0"/>
          </a:xfrm>
          <a:prstGeom prst="line">
            <a:avLst/>
          </a:prstGeom>
          <a:ln w="21590">
            <a:solidFill>
              <a:srgbClr val="5C697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88920" y="1874519"/>
            <a:ext cx="1600200" cy="914400"/>
          </a:xfrm>
          <a:prstGeom prst="roundRect">
            <a:avLst/>
          </a:prstGeom>
          <a:solidFill>
            <a:srgbClr val="FAEBE9"/>
          </a:solidFill>
          <a:ln w="17780">
            <a:solidFill>
              <a:srgbClr val="BE4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39" y="1938528"/>
            <a:ext cx="1508760" cy="7863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300" b="1">
                <a:solidFill>
                  <a:srgbClr val="BE4840"/>
                </a:solidFill>
                <a:latin typeface="Noto Sans CJK JP"/>
              </a:rPr>
              <a:t>一次銅損
0.798 kW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89120" y="2331720"/>
            <a:ext cx="502920" cy="0"/>
          </a:xfrm>
          <a:prstGeom prst="line">
            <a:avLst/>
          </a:prstGeom>
          <a:ln w="21590">
            <a:solidFill>
              <a:srgbClr val="5C697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892040" y="1874519"/>
            <a:ext cx="1600200" cy="914400"/>
          </a:xfrm>
          <a:prstGeom prst="roundRect">
            <a:avLst/>
          </a:prstGeom>
          <a:solidFill>
            <a:srgbClr val="FCF1E5"/>
          </a:solidFill>
          <a:ln w="17780">
            <a:solidFill>
              <a:srgbClr val="DD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59" y="1938528"/>
            <a:ext cx="1508760" cy="7863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300" b="1">
                <a:solidFill>
                  <a:srgbClr val="DD8436"/>
                </a:solidFill>
                <a:latin typeface="Noto Sans CJK JP"/>
              </a:rPr>
              <a:t>固定損
1.55 kW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92240" y="2331720"/>
            <a:ext cx="502920" cy="0"/>
          </a:xfrm>
          <a:prstGeom prst="line">
            <a:avLst/>
          </a:prstGeom>
          <a:ln w="21590">
            <a:solidFill>
              <a:srgbClr val="5C697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995160" y="1874519"/>
            <a:ext cx="1600200" cy="914400"/>
          </a:xfrm>
          <a:prstGeom prst="roundRect">
            <a:avLst/>
          </a:prstGeom>
          <a:solidFill>
            <a:srgbClr val="FAEBE9"/>
          </a:solidFill>
          <a:ln w="17780">
            <a:solidFill>
              <a:srgbClr val="BE4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1938528"/>
            <a:ext cx="1508760" cy="7863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300" b="1">
                <a:solidFill>
                  <a:srgbClr val="BE4840"/>
                </a:solidFill>
                <a:latin typeface="Noto Sans CJK JP"/>
              </a:rPr>
              <a:t>二次銅損
0.798 kW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595360" y="2331720"/>
            <a:ext cx="502920" cy="0"/>
          </a:xfrm>
          <a:prstGeom prst="line">
            <a:avLst/>
          </a:prstGeom>
          <a:ln w="21590">
            <a:solidFill>
              <a:srgbClr val="5C697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098280" y="1874519"/>
            <a:ext cx="1600200" cy="914400"/>
          </a:xfrm>
          <a:prstGeom prst="roundRect">
            <a:avLst/>
          </a:prstGeom>
          <a:solidFill>
            <a:srgbClr val="EAF6EE"/>
          </a:solidFill>
          <a:ln w="17780">
            <a:solidFill>
              <a:srgbClr val="43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938528"/>
            <a:ext cx="1508760" cy="7863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300" b="1">
                <a:solidFill>
                  <a:srgbClr val="43915B"/>
                </a:solidFill>
                <a:latin typeface="Noto Sans CJK JP"/>
              </a:rPr>
              <a:t>軸出力
22.0 kW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154680"/>
            <a:ext cx="2880360" cy="530352"/>
          </a:xfrm>
          <a:prstGeom prst="roundRect">
            <a:avLst/>
          </a:prstGeom>
          <a:solidFill>
            <a:srgbClr val="F3F6F9"/>
          </a:solidFill>
          <a:ln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182112"/>
            <a:ext cx="2734056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23807B"/>
                </a:solidFill>
                <a:latin typeface="Noto Sans Mono CJK JP"/>
              </a:rPr>
              <a:t>Ns = 120×60/6 = 1200 min⁻¹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822191"/>
            <a:ext cx="2880360" cy="530352"/>
          </a:xfrm>
          <a:prstGeom prst="roundRect">
            <a:avLst/>
          </a:prstGeom>
          <a:solidFill>
            <a:srgbClr val="F3F6F9"/>
          </a:solidFill>
          <a:ln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3849624"/>
            <a:ext cx="2734056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23807B"/>
                </a:solidFill>
                <a:latin typeface="Noto Sans Mono CJK JP"/>
              </a:rPr>
              <a:t>s₁ = (1200−1158)/1200 = 0.035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4489704"/>
            <a:ext cx="2880360" cy="530352"/>
          </a:xfrm>
          <a:prstGeom prst="roundRect">
            <a:avLst/>
          </a:prstGeom>
          <a:solidFill>
            <a:srgbClr val="F3F6F9"/>
          </a:solidFill>
          <a:ln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4517136"/>
            <a:ext cx="2734056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2A62AB"/>
                </a:solidFill>
                <a:latin typeface="Noto Sans Mono CJK JP"/>
              </a:rPr>
              <a:t>T₁ = 22 kW / ω = 181 N·m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22191" y="3154680"/>
            <a:ext cx="3154680" cy="530352"/>
          </a:xfrm>
          <a:prstGeom prst="roundRect">
            <a:avLst/>
          </a:prstGeom>
          <a:solidFill>
            <a:srgbClr val="F3F6F9"/>
          </a:solidFill>
          <a:ln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95344" y="3182112"/>
            <a:ext cx="3008376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300" b="1">
                <a:solidFill>
                  <a:srgbClr val="BE4840"/>
                </a:solidFill>
                <a:latin typeface="Noto Sans Mono CJK JP"/>
              </a:rPr>
              <a:t>Pc₂ = s/(1−s) × 22 kW = 798 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22191" y="3822191"/>
            <a:ext cx="3154680" cy="530352"/>
          </a:xfrm>
          <a:prstGeom prst="roundRect">
            <a:avLst/>
          </a:prstGeom>
          <a:solidFill>
            <a:srgbClr val="F3F6F9"/>
          </a:solidFill>
          <a:ln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95344" y="3849624"/>
            <a:ext cx="3008376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300" b="1">
                <a:solidFill>
                  <a:srgbClr val="43915B"/>
                </a:solidFill>
                <a:latin typeface="Noto Sans Mono CJK JP"/>
              </a:rPr>
              <a:t>Pin = 22/0.875 = 25.14 kW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22191" y="4489704"/>
            <a:ext cx="3154680" cy="530352"/>
          </a:xfrm>
          <a:prstGeom prst="roundRect">
            <a:avLst/>
          </a:prstGeom>
          <a:solidFill>
            <a:srgbClr val="F3F6F9"/>
          </a:solidFill>
          <a:ln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95344" y="4517136"/>
            <a:ext cx="3008376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300" b="1">
                <a:solidFill>
                  <a:srgbClr val="DD8436"/>
                </a:solidFill>
                <a:latin typeface="Noto Sans Mono CJK JP"/>
              </a:rPr>
              <a:t>Pf ≈ 3.143 − 2×0.798 = 1.55 kW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23760" y="3108960"/>
            <a:ext cx="4023360" cy="19659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3291840"/>
            <a:ext cx="361188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300" b="1">
                <a:solidFill>
                  <a:srgbClr val="14233A"/>
                </a:solidFill>
                <a:latin typeface="Noto Sans CJK JP"/>
              </a:rPr>
              <a:t>半トルク時（同期速度近傍 T∝s）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3749039"/>
            <a:ext cx="356616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Noto Sans CJK JP"/>
              </a:rPr>
              <a:t>s₂ = 0.0175  →  N₂ = 1179 ≈ 1180 min⁻¹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4151376"/>
            <a:ext cx="356616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Noto Sans CJK JP"/>
              </a:rPr>
              <a:t>P₂ ≈ 0.5T₁ × 2πN₂/60 ≈ 11.2 kW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715000"/>
            <a:ext cx="10607040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5C6978"/>
                </a:solidFill>
                <a:latin typeface="Noto Sans CJK JP"/>
              </a:rPr>
              <a:t>検算：η = Pout/Pin。効率を掛ける向き、軸出力と内部機械出力、min⁻¹→rad/s の変換を混同しない。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28600"/>
            <a:ext cx="502920" cy="384048"/>
          </a:xfrm>
          <a:prstGeom prst="roundRect">
            <a:avLst/>
          </a:prstGeom>
          <a:solidFill>
            <a:srgbClr val="2A62AB"/>
          </a:solidFill>
          <a:ln>
            <a:solidFill>
              <a:srgbClr val="2A6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50292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"/>
            <a:ext cx="1051560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400" b="1">
                <a:solidFill>
                  <a:srgbClr val="14233A"/>
                </a:solidFill>
                <a:latin typeface="Noto Sans CJK JP"/>
              </a:rPr>
              <a:t>ポンプ・ファン負荷：速度を下げると必要動力は大きく下がる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640080"/>
            <a:ext cx="1024128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0">
                <a:solidFill>
                  <a:srgbClr val="5C6978"/>
                </a:solidFill>
                <a:latin typeface="Noto Sans CJK JP"/>
              </a:rPr>
              <a:t>三種既習式は「負荷側→電動機軸出力」の接続に限定。二種固定過去問の直接出題式とは扱わない。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960120"/>
            <a:ext cx="11155680" cy="0"/>
          </a:xfrm>
          <a:prstGeom prst="line">
            <a:avLst/>
          </a:prstGeom>
          <a:ln w="127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94360" y="1234440"/>
            <a:ext cx="4983480" cy="1965960"/>
          </a:xfrm>
          <a:prstGeom prst="roundRect">
            <a:avLst/>
          </a:prstGeom>
          <a:solidFill>
            <a:srgbClr val="E6F6F9"/>
          </a:solidFill>
          <a:ln w="13970">
            <a:solidFill>
              <a:srgbClr val="23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99032"/>
            <a:ext cx="219456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500" b="1">
                <a:solidFill>
                  <a:srgbClr val="23807B"/>
                </a:solidFill>
                <a:latin typeface="Noto Sans CJK JP"/>
              </a:rPr>
              <a:t>ポンプ：仕事率から逆算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65376"/>
            <a:ext cx="20116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92807"/>
            <a:ext cx="1865376" cy="4480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700" b="1">
                <a:solidFill>
                  <a:srgbClr val="23807B"/>
                </a:solidFill>
                <a:latin typeface="Noto Sans Mono CJK JP"/>
              </a:rPr>
              <a:t>Ph = ρgQH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1865376"/>
            <a:ext cx="22402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1892807"/>
            <a:ext cx="2093976" cy="4480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500" b="1">
                <a:solidFill>
                  <a:srgbClr val="23807B"/>
                </a:solidFill>
                <a:latin typeface="Noto Sans Mono CJK JP"/>
              </a:rPr>
              <a:t>Pshaft = Ph / ηp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42032"/>
            <a:ext cx="4434840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Noto Sans CJK JP"/>
              </a:rPr>
              <a:t>さらに Pin = Pshaft / ηm。上流へ戻るほど損失分だけ必要入力は増える。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234440"/>
            <a:ext cx="5715000" cy="1965960"/>
          </a:xfrm>
          <a:prstGeom prst="roundRect">
            <a:avLst/>
          </a:prstGeom>
          <a:solidFill>
            <a:srgbClr val="FCF1E5"/>
          </a:solidFill>
          <a:ln w="13970">
            <a:solidFill>
              <a:srgbClr val="DD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399032"/>
            <a:ext cx="283464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500" b="1">
                <a:solidFill>
                  <a:srgbClr val="DD8436"/>
                </a:solidFill>
                <a:latin typeface="Noto Sans CJK JP"/>
              </a:rPr>
              <a:t>ファン相似則（成立条件つき）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865376"/>
            <a:ext cx="48463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1892807"/>
            <a:ext cx="4700016" cy="4480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600" b="1">
                <a:solidFill>
                  <a:srgbClr val="DD8436"/>
                </a:solidFill>
                <a:latin typeface="Noto Sans Mono CJK JP"/>
              </a:rPr>
              <a:t>Q∝N   Δp∝N²   T∝N²   P∝N³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2542032"/>
            <a:ext cx="4800600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Noto Sans CJK JP"/>
              </a:rPr>
              <a:t>同一ファン・同一流体・幾何形状不変・相似運転の範囲で使う。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502152"/>
            <a:ext cx="2834640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400" b="1">
                <a:solidFill>
                  <a:srgbClr val="14233A"/>
                </a:solidFill>
                <a:latin typeface="Noto Sans CJK JP"/>
              </a:rPr>
              <a:t>例：60 Hz → 45 Hz（速度比 k=0.75）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" y="5806440"/>
            <a:ext cx="5669280" cy="0"/>
          </a:xfrm>
          <a:prstGeom prst="line">
            <a:avLst/>
          </a:prstGeom>
          <a:ln w="15240">
            <a:solidFill>
              <a:srgbClr val="142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234440" y="4297679"/>
            <a:ext cx="530352" cy="1508760"/>
          </a:xfrm>
          <a:prstGeom prst="rect">
            <a:avLst/>
          </a:prstGeom>
          <a:solidFill>
            <a:srgbClr val="2A62AB"/>
          </a:solidFill>
          <a:ln>
            <a:solidFill>
              <a:srgbClr val="2A6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005071"/>
            <a:ext cx="713232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2A62AB"/>
                </a:solidFill>
                <a:latin typeface="Noto Sans CJK JP"/>
              </a:rPr>
              <a:t>100.0%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" y="5852159"/>
            <a:ext cx="932688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Noto Sans CJK JP"/>
              </a:rPr>
              <a:t>速度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65960" y="4674870"/>
            <a:ext cx="530352" cy="1131569"/>
          </a:xfrm>
          <a:prstGeom prst="rect">
            <a:avLst/>
          </a:prstGeom>
          <a:solidFill>
            <a:srgbClr val="3F9DBE"/>
          </a:solidFill>
          <a:ln>
            <a:solidFill>
              <a:srgbClr val="3F9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74519" y="4382262"/>
            <a:ext cx="713232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3F9DBE"/>
                </a:solidFill>
                <a:latin typeface="Noto Sans CJK JP"/>
              </a:rPr>
              <a:t>75.0%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852159"/>
            <a:ext cx="932688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Noto Sans CJK JP"/>
              </a:rPr>
              <a:t>速度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54680" y="4297679"/>
            <a:ext cx="530352" cy="1508760"/>
          </a:xfrm>
          <a:prstGeom prst="rect">
            <a:avLst/>
          </a:prstGeom>
          <a:solidFill>
            <a:srgbClr val="DD8436"/>
          </a:solidFill>
          <a:ln>
            <a:solidFill>
              <a:srgbClr val="DD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63240" y="4005071"/>
            <a:ext cx="713232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DD8436"/>
                </a:solidFill>
                <a:latin typeface="Noto Sans CJK JP"/>
              </a:rPr>
              <a:t>100.0%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53512" y="5852159"/>
            <a:ext cx="932688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Noto Sans CJK JP"/>
              </a:rPr>
              <a:t>軸動力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86200" y="5169931"/>
            <a:ext cx="530352" cy="636508"/>
          </a:xfrm>
          <a:prstGeom prst="rect">
            <a:avLst/>
          </a:prstGeom>
          <a:solidFill>
            <a:srgbClr val="BE4840"/>
          </a:solidFill>
          <a:ln>
            <a:solidFill>
              <a:srgbClr val="BE4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94760" y="4877323"/>
            <a:ext cx="713232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BE4840"/>
                </a:solidFill>
                <a:latin typeface="Noto Sans CJK JP"/>
              </a:rPr>
              <a:t>42.2%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85032" y="5852159"/>
            <a:ext cx="932688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Noto Sans CJK JP"/>
              </a:rPr>
              <a:t>軸動力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6336792"/>
            <a:ext cx="173736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900" b="0">
                <a:solidFill>
                  <a:srgbClr val="5C6978"/>
                </a:solidFill>
                <a:latin typeface="Noto Sans CJK JP"/>
              </a:rPr>
              <a:t>60 Hz    45 Hz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6336792"/>
            <a:ext cx="173736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900" b="0">
                <a:solidFill>
                  <a:srgbClr val="5C6978"/>
                </a:solidFill>
                <a:latin typeface="Noto Sans CJK JP"/>
              </a:rPr>
              <a:t>18.0 kW  7.59 kW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0" y="3474720"/>
            <a:ext cx="4617720" cy="2423160"/>
          </a:xfrm>
          <a:prstGeom prst="roundRect">
            <a:avLst/>
          </a:prstGeom>
          <a:solidFill>
            <a:srgbClr val="F3F6F9"/>
          </a:solidFill>
          <a:ln w="1270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14032" y="3675887"/>
            <a:ext cx="411480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400" b="1">
                <a:solidFill>
                  <a:srgbClr val="14233A"/>
                </a:solidFill>
                <a:latin typeface="Noto Sans CJK JP"/>
              </a:rPr>
              <a:t>VVVF速度制御が省エネにつながる理由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14032" y="4151376"/>
            <a:ext cx="4069080" cy="502920"/>
          </a:xfrm>
          <a:prstGeom prst="roundRect">
            <a:avLst/>
          </a:prstGeom>
          <a:solidFill>
            <a:srgbClr val="FCF1E5"/>
          </a:solidFill>
          <a:ln>
            <a:solidFill>
              <a:srgbClr val="FCF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87184" y="4178808"/>
            <a:ext cx="3922776" cy="4480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DD8436"/>
                </a:solidFill>
                <a:latin typeface="Noto Sans Mono CJK JP"/>
              </a:rPr>
              <a:t>k=0.75 → P₂/P₁ = k³ = 0.4219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4782312"/>
            <a:ext cx="4005072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Noto Sans CJK JP"/>
              </a:rPr>
              <a:t>18 kW → 7.59 kW（仮定例）
ηm=88% なら入力 8.63 kW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16368" y="5440680"/>
            <a:ext cx="3246120" cy="347472"/>
          </a:xfrm>
          <a:prstGeom prst="roundRect">
            <a:avLst/>
          </a:prstGeom>
          <a:solidFill>
            <a:srgbClr val="23807B"/>
          </a:solidFill>
          <a:ln>
            <a:solidFill>
              <a:srgbClr val="23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16368" y="5440680"/>
            <a:ext cx="324612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V/f一定：45 Hz時は電圧も0.75倍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28600"/>
            <a:ext cx="502920" cy="384048"/>
          </a:xfrm>
          <a:prstGeom prst="roundRect">
            <a:avLst/>
          </a:prstGeom>
          <a:solidFill>
            <a:srgbClr val="2A62AB"/>
          </a:solidFill>
          <a:ln>
            <a:solidFill>
              <a:srgbClr val="2A6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50292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"/>
            <a:ext cx="1051560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400" b="1">
                <a:solidFill>
                  <a:srgbClr val="14233A"/>
                </a:solidFill>
                <a:latin typeface="Noto Sans CJK JP"/>
              </a:rPr>
              <a:t>インバータ制御：周波数・電圧・速度・トルクを一つの流れで追う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640080"/>
            <a:ext cx="1024128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0">
                <a:solidFill>
                  <a:srgbClr val="5C6978"/>
                </a:solidFill>
                <a:latin typeface="Noto Sans CJK JP"/>
              </a:rPr>
              <a:t>R6一次・H25一次・R4二次の答案要素を回路ブロックへ配置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960120"/>
            <a:ext cx="11155680" cy="0"/>
          </a:xfrm>
          <a:prstGeom prst="line">
            <a:avLst/>
          </a:prstGeom>
          <a:ln w="127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325880"/>
            <a:ext cx="1417320" cy="868680"/>
          </a:xfrm>
          <a:prstGeom prst="roundRect">
            <a:avLst/>
          </a:prstGeom>
          <a:solidFill>
            <a:srgbClr val="E7F0FA"/>
          </a:solidFill>
          <a:ln w="16510">
            <a:solidFill>
              <a:srgbClr val="2A6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380744"/>
            <a:ext cx="1344168" cy="7498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2A62AB"/>
                </a:solidFill>
                <a:latin typeface="Noto Sans CJK JP"/>
              </a:rPr>
              <a:t>三相交流
220 V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0240" y="1755648"/>
            <a:ext cx="502920" cy="0"/>
          </a:xfrm>
          <a:prstGeom prst="line">
            <a:avLst/>
          </a:prstGeom>
          <a:ln w="19050">
            <a:solidFill>
              <a:srgbClr val="5C697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23160" y="1325880"/>
            <a:ext cx="1417320" cy="868680"/>
          </a:xfrm>
          <a:prstGeom prst="roundRect">
            <a:avLst/>
          </a:prstGeom>
          <a:solidFill>
            <a:srgbClr val="E6F6F9"/>
          </a:solidFill>
          <a:ln w="16510">
            <a:solidFill>
              <a:srgbClr val="23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9736" y="1380744"/>
            <a:ext cx="1344168" cy="7498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23807B"/>
                </a:solidFill>
                <a:latin typeface="Noto Sans CJK JP"/>
              </a:rPr>
              <a:t>整流器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0" y="1755648"/>
            <a:ext cx="320040" cy="0"/>
          </a:xfrm>
          <a:prstGeom prst="line">
            <a:avLst/>
          </a:prstGeom>
          <a:ln w="19050">
            <a:solidFill>
              <a:srgbClr val="5C697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160520" y="1325880"/>
            <a:ext cx="1417320" cy="868680"/>
          </a:xfrm>
          <a:prstGeom prst="roundRect">
            <a:avLst/>
          </a:prstGeom>
          <a:solidFill>
            <a:srgbClr val="F3F6F9"/>
          </a:solidFill>
          <a:ln w="16510">
            <a:solidFill>
              <a:srgbClr val="14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97096" y="1380744"/>
            <a:ext cx="1344168" cy="7498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14233A"/>
                </a:solidFill>
                <a:latin typeface="Noto Sans CJK JP"/>
              </a:rPr>
              <a:t>DC link
297 V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77840" y="1755648"/>
            <a:ext cx="502920" cy="0"/>
          </a:xfrm>
          <a:prstGeom prst="line">
            <a:avLst/>
          </a:prstGeom>
          <a:ln w="19050">
            <a:solidFill>
              <a:srgbClr val="5C697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080760" y="1325880"/>
            <a:ext cx="1417320" cy="868680"/>
          </a:xfrm>
          <a:prstGeom prst="roundRect">
            <a:avLst/>
          </a:prstGeom>
          <a:solidFill>
            <a:srgbClr val="FCF1E5"/>
          </a:solidFill>
          <a:ln w="16510">
            <a:solidFill>
              <a:srgbClr val="DD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17336" y="1380744"/>
            <a:ext cx="1344168" cy="7498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DD8436"/>
                </a:solidFill>
                <a:latin typeface="Noto Sans CJK JP"/>
              </a:rPr>
              <a:t>PWM
インバータ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98080" y="1755648"/>
            <a:ext cx="594360" cy="0"/>
          </a:xfrm>
          <a:prstGeom prst="line">
            <a:avLst/>
          </a:prstGeom>
          <a:ln w="19050">
            <a:solidFill>
              <a:srgbClr val="5C697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092440" y="1325880"/>
            <a:ext cx="1417320" cy="868680"/>
          </a:xfrm>
          <a:prstGeom prst="roundRect">
            <a:avLst/>
          </a:prstGeom>
          <a:solidFill>
            <a:srgbClr val="EAF6EE"/>
          </a:solidFill>
          <a:ln w="16510">
            <a:solidFill>
              <a:srgbClr val="43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9015" y="1380744"/>
            <a:ext cx="1344168" cy="7498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43915B"/>
                </a:solidFill>
                <a:latin typeface="Noto Sans CJK JP"/>
              </a:rPr>
              <a:t>誘導電動機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09760" y="1755648"/>
            <a:ext cx="594360" cy="0"/>
          </a:xfrm>
          <a:prstGeom prst="line">
            <a:avLst/>
          </a:prstGeom>
          <a:ln w="19050">
            <a:solidFill>
              <a:srgbClr val="5C697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104120" y="1325880"/>
            <a:ext cx="1417320" cy="868680"/>
          </a:xfrm>
          <a:prstGeom prst="roundRect">
            <a:avLst/>
          </a:prstGeom>
          <a:solidFill>
            <a:srgbClr val="FAEBE9"/>
          </a:solidFill>
          <a:ln w="16510">
            <a:solidFill>
              <a:srgbClr val="BE4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0696" y="1380744"/>
            <a:ext cx="1344168" cy="7498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BE4840"/>
                </a:solidFill>
                <a:latin typeface="Noto Sans CJK JP"/>
              </a:rPr>
              <a:t>補機負荷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587752"/>
            <a:ext cx="3730752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0584" bIns="73152"/>
          <a:lstStyle/>
          <a:p>
            <a:pPr algn="ctr">
              <a:spcAft>
                <a:spcPts val="400"/>
              </a:spcAft>
              <a:defRPr sz="1200" b="1">
                <a:solidFill>
                  <a:srgbClr val="23807B"/>
                </a:solidFill>
                <a:latin typeface="Noto Sans CJK JP"/>
              </a:defRPr>
            </a:pPr>
            <a:r>
              <a:t>R4二次 問3：固定6要素</a:t>
            </a:r>
          </a:p>
          <a:p>
            <a:pPr>
              <a:spcAft>
                <a:spcPts val="200"/>
              </a:spcAft>
              <a:defRPr sz="1100">
                <a:solidFill>
                  <a:srgbClr val="1F2937"/>
                </a:solidFill>
                <a:latin typeface="Noto Sans CJK JP"/>
              </a:defRPr>
            </a:pPr>
            <a:r>
              <a:t>• Ed = 1.35×220 = 297 V</a:t>
            </a:r>
          </a:p>
          <a:p>
            <a:pPr>
              <a:spcAft>
                <a:spcPts val="200"/>
              </a:spcAft>
              <a:defRPr sz="1100">
                <a:solidFill>
                  <a:srgbClr val="1F2937"/>
                </a:solidFill>
                <a:latin typeface="Noto Sans CJK JP"/>
              </a:defRPr>
            </a:pPr>
            <a:r>
              <a:t>• Id = 10 kW / 297 = 33.7 A</a:t>
            </a:r>
          </a:p>
          <a:p>
            <a:pPr>
              <a:spcAft>
                <a:spcPts val="200"/>
              </a:spcAft>
              <a:defRPr sz="1100">
                <a:solidFill>
                  <a:srgbClr val="1F2937"/>
                </a:solidFill>
                <a:latin typeface="Noto Sans CJK JP"/>
              </a:defRPr>
            </a:pPr>
            <a:r>
              <a:t>• I₁ = 10 kW /(√3×220) = 26.2 A</a:t>
            </a:r>
          </a:p>
          <a:p>
            <a:pPr>
              <a:spcAft>
                <a:spcPts val="200"/>
              </a:spcAft>
              <a:defRPr sz="1100">
                <a:solidFill>
                  <a:srgbClr val="1F2937"/>
                </a:solidFill>
                <a:latin typeface="Noto Sans CJK JP"/>
              </a:defRPr>
            </a:pPr>
            <a:r>
              <a:t>• Vph,peak = (Ed/2)×0.9 ≈ 134 V</a:t>
            </a:r>
          </a:p>
          <a:p>
            <a:pPr>
              <a:spcAft>
                <a:spcPts val="200"/>
              </a:spcAft>
              <a:defRPr sz="1100">
                <a:solidFill>
                  <a:srgbClr val="1F2937"/>
                </a:solidFill>
                <a:latin typeface="Noto Sans CJK JP"/>
              </a:defRPr>
            </a:pPr>
            <a:r>
              <a:t>• VLL,rms ≈ 164 V</a:t>
            </a:r>
          </a:p>
          <a:p>
            <a:pPr>
              <a:spcAft>
                <a:spcPts val="200"/>
              </a:spcAft>
              <a:defRPr sz="1100">
                <a:solidFill>
                  <a:srgbClr val="1F2937"/>
                </a:solidFill>
                <a:latin typeface="Noto Sans CJK JP"/>
              </a:defRPr>
            </a:pPr>
            <a:r>
              <a:t>• fを1/2 → 電圧も1/2（V/f一定）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62272" y="2587752"/>
            <a:ext cx="315468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6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0584" bIns="73152"/>
          <a:lstStyle/>
          <a:p>
            <a:pPr algn="ctr">
              <a:spcAft>
                <a:spcPts val="400"/>
              </a:spcAft>
              <a:defRPr sz="1300" b="1">
                <a:solidFill>
                  <a:srgbClr val="2A62AB"/>
                </a:solidFill>
                <a:latin typeface="Noto Sans CJK JP"/>
              </a:defRPr>
            </a:pPr>
            <a:r>
              <a:t>R6一次 問2：固定5要素</a:t>
            </a:r>
          </a:p>
          <a:p>
            <a:pPr>
              <a:spcAft>
                <a:spcPts val="200"/>
              </a:spcAft>
              <a:defRPr sz="1200">
                <a:solidFill>
                  <a:srgbClr val="1F2937"/>
                </a:solidFill>
                <a:latin typeface="Noto Sans CJK JP"/>
              </a:defRPr>
            </a:pPr>
            <a:r>
              <a:t>• 誘導電動機</a:t>
            </a:r>
          </a:p>
          <a:p>
            <a:pPr>
              <a:spcAft>
                <a:spcPts val="200"/>
              </a:spcAft>
              <a:defRPr sz="1200">
                <a:solidFill>
                  <a:srgbClr val="1F2937"/>
                </a:solidFill>
                <a:latin typeface="Noto Sans CJK JP"/>
              </a:defRPr>
            </a:pPr>
            <a:r>
              <a:t>• 回生：N&gt;Ns → s&lt;0</a:t>
            </a:r>
          </a:p>
          <a:p>
            <a:pPr>
              <a:spcAft>
                <a:spcPts val="200"/>
              </a:spcAft>
              <a:defRPr sz="1200">
                <a:solidFill>
                  <a:srgbClr val="1F2937"/>
                </a:solidFill>
                <a:latin typeface="Noto Sans CJK JP"/>
              </a:defRPr>
            </a:pPr>
            <a:r>
              <a:t>• ブラシ不要</a:t>
            </a:r>
          </a:p>
          <a:p>
            <a:pPr>
              <a:spcAft>
                <a:spcPts val="200"/>
              </a:spcAft>
              <a:defRPr sz="1200">
                <a:solidFill>
                  <a:srgbClr val="1F2937"/>
                </a:solidFill>
                <a:latin typeface="Noto Sans CJK JP"/>
              </a:defRPr>
            </a:pPr>
            <a:r>
              <a:t>• 主変換素子：IGBT</a:t>
            </a:r>
          </a:p>
          <a:p>
            <a:pPr>
              <a:spcAft>
                <a:spcPts val="200"/>
              </a:spcAft>
              <a:defRPr sz="1200">
                <a:solidFill>
                  <a:srgbClr val="1F2937"/>
                </a:solidFill>
                <a:latin typeface="Noto Sans CJK JP"/>
              </a:defRPr>
            </a:pPr>
            <a:r>
              <a:t>• 低速〜基底速度：V/f一定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99831" y="2587752"/>
            <a:ext cx="3749039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152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0584" bIns="73152"/>
          <a:lstStyle/>
          <a:p>
            <a:pPr algn="ctr">
              <a:spcAft>
                <a:spcPts val="400"/>
              </a:spcAft>
              <a:defRPr sz="1300" b="1">
                <a:solidFill>
                  <a:srgbClr val="7152A1"/>
                </a:solidFill>
                <a:latin typeface="Noto Sans CJK JP"/>
              </a:defRPr>
            </a:pPr>
            <a:r>
              <a:t>H25一次 問3：固定5要素</a:t>
            </a:r>
          </a:p>
          <a:p>
            <a:pPr>
              <a:spcAft>
                <a:spcPts val="200"/>
              </a:spcAft>
              <a:defRPr sz="1200">
                <a:solidFill>
                  <a:srgbClr val="1F2937"/>
                </a:solidFill>
                <a:latin typeface="Noto Sans CJK JP"/>
              </a:defRPr>
            </a:pPr>
            <a:r>
              <a:t>• P=Tω：ωは回転角速度</a:t>
            </a:r>
          </a:p>
          <a:p>
            <a:pPr>
              <a:spcAft>
                <a:spcPts val="200"/>
              </a:spcAft>
              <a:defRPr sz="1200">
                <a:solidFill>
                  <a:srgbClr val="1F2937"/>
                </a:solidFill>
                <a:latin typeface="Noto Sans CJK JP"/>
              </a:defRPr>
            </a:pPr>
            <a:r>
              <a:t>• 過負荷耐量</a:t>
            </a:r>
          </a:p>
          <a:p>
            <a:pPr>
              <a:spcAft>
                <a:spcPts val="200"/>
              </a:spcAft>
              <a:defRPr sz="1200">
                <a:solidFill>
                  <a:srgbClr val="1F2937"/>
                </a:solidFill>
                <a:latin typeface="Noto Sans CJK JP"/>
              </a:defRPr>
            </a:pPr>
            <a:r>
              <a:t>• 定常：Tm=TL</a:t>
            </a:r>
          </a:p>
          <a:p>
            <a:pPr>
              <a:spcAft>
                <a:spcPts val="200"/>
              </a:spcAft>
              <a:defRPr sz="1200">
                <a:solidFill>
                  <a:srgbClr val="1F2937"/>
                </a:solidFill>
                <a:latin typeface="Noto Sans CJK JP"/>
              </a:defRPr>
            </a:pPr>
            <a:r>
              <a:t>• ベクトル制御：トルク成分</a:t>
            </a:r>
          </a:p>
          <a:p>
            <a:pPr>
              <a:spcAft>
                <a:spcPts val="200"/>
              </a:spcAft>
              <a:defRPr sz="1200">
                <a:solidFill>
                  <a:srgbClr val="1F2937"/>
                </a:solidFill>
                <a:latin typeface="Noto Sans CJK JP"/>
              </a:defRPr>
            </a:pPr>
            <a:r>
              <a:t>• θsl = ∫ωsl dt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17320" y="5623560"/>
            <a:ext cx="9281160" cy="530352"/>
          </a:xfrm>
          <a:prstGeom prst="roundRect">
            <a:avLst/>
          </a:prstGeom>
          <a:solidFill>
            <a:srgbClr val="F3F6F9"/>
          </a:solidFill>
          <a:ln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90472" y="5650992"/>
            <a:ext cx="9134856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14233A"/>
                </a:solidFill>
                <a:latin typeface="Noto Sans Mono CJK JP"/>
              </a:rPr>
              <a:t>周波数 f ↓ → 同期速度 Ns=120f/p ↓ → 回転速度を制御 → 負荷側の必要動力へ接続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28600"/>
            <a:ext cx="502920" cy="384048"/>
          </a:xfrm>
          <a:prstGeom prst="roundRect">
            <a:avLst/>
          </a:prstGeom>
          <a:solidFill>
            <a:srgbClr val="2A62AB"/>
          </a:solidFill>
          <a:ln>
            <a:solidFill>
              <a:srgbClr val="2A6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50292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"/>
            <a:ext cx="1051560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400" b="1">
                <a:solidFill>
                  <a:srgbClr val="14233A"/>
                </a:solidFill>
                <a:latin typeface="Noto Sans CJK JP"/>
              </a:rPr>
              <a:t>試験での解法順序と品質ゲート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640080"/>
            <a:ext cx="1024128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0">
                <a:solidFill>
                  <a:srgbClr val="5C6978"/>
                </a:solidFill>
                <a:latin typeface="Noto Sans CJK JP"/>
              </a:rPr>
              <a:t>固定5問・27答案要素 / SPEC 7項目をPowerPoint内で全接続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960120"/>
            <a:ext cx="11155680" cy="0"/>
          </a:xfrm>
          <a:prstGeom prst="line">
            <a:avLst/>
          </a:prstGeom>
          <a:ln w="1270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94360" y="1261872"/>
            <a:ext cx="502920" cy="347472"/>
          </a:xfrm>
          <a:prstGeom prst="roundRect">
            <a:avLst/>
          </a:prstGeom>
          <a:solidFill>
            <a:srgbClr val="23807B"/>
          </a:solidFill>
          <a:ln>
            <a:solidFill>
              <a:srgbClr val="23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50292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JP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37360"/>
            <a:ext cx="2578608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3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856231"/>
            <a:ext cx="233172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300" b="1">
                <a:solidFill>
                  <a:srgbClr val="23807B"/>
                </a:solidFill>
                <a:latin typeface="Noto Sans CJK JP"/>
              </a:rPr>
              <a:t>負荷側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76272"/>
            <a:ext cx="2331720" cy="4297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Noto Sans CJK JP"/>
              </a:rPr>
              <a:t>必要軸出力 / 負荷トルク
ポンプ・ファンは成立条件を確認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72968" y="2240280"/>
            <a:ext cx="256032" cy="0"/>
          </a:xfrm>
          <a:prstGeom prst="line">
            <a:avLst/>
          </a:prstGeom>
          <a:ln w="16510">
            <a:solidFill>
              <a:srgbClr val="5C697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47288" y="1261872"/>
            <a:ext cx="502920" cy="347472"/>
          </a:xfrm>
          <a:prstGeom prst="roundRect">
            <a:avLst/>
          </a:prstGeom>
          <a:solidFill>
            <a:srgbClr val="2A62AB"/>
          </a:solidFill>
          <a:ln>
            <a:solidFill>
              <a:srgbClr val="2A6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1261872"/>
            <a:ext cx="50292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JP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47288" y="1737360"/>
            <a:ext cx="2578608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62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7016" y="1856231"/>
            <a:ext cx="233172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300" b="1">
                <a:solidFill>
                  <a:srgbClr val="2A62AB"/>
                </a:solidFill>
                <a:latin typeface="Noto Sans CJK JP"/>
              </a:rPr>
              <a:t>電動機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2176272"/>
            <a:ext cx="2331720" cy="4297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Noto Sans CJK JP"/>
              </a:rPr>
              <a:t>P=Tω、Ns、s、動作点
効率・損失を分解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25896" y="2240280"/>
            <a:ext cx="256032" cy="0"/>
          </a:xfrm>
          <a:prstGeom prst="line">
            <a:avLst/>
          </a:prstGeom>
          <a:ln w="16510">
            <a:solidFill>
              <a:srgbClr val="5C697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00216" y="1261872"/>
            <a:ext cx="502920" cy="347472"/>
          </a:xfrm>
          <a:prstGeom prst="roundRect">
            <a:avLst/>
          </a:prstGeom>
          <a:solidFill>
            <a:srgbClr val="DD8436"/>
          </a:solidFill>
          <a:ln>
            <a:solidFill>
              <a:srgbClr val="DD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0216" y="1261872"/>
            <a:ext cx="50292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JP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0216" y="1737360"/>
            <a:ext cx="2578608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9944" y="1856231"/>
            <a:ext cx="233172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300" b="1">
                <a:solidFill>
                  <a:srgbClr val="DD8436"/>
                </a:solidFill>
                <a:latin typeface="Noto Sans CJK JP"/>
              </a:rPr>
              <a:t>変換器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2176272"/>
            <a:ext cx="2331720" cy="4297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Noto Sans CJK JP"/>
              </a:rPr>
              <a:t>整流 → DC link → PWM
V/f と周波数を追う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78824" y="2240280"/>
            <a:ext cx="256032" cy="0"/>
          </a:xfrm>
          <a:prstGeom prst="line">
            <a:avLst/>
          </a:prstGeom>
          <a:ln w="16510">
            <a:solidFill>
              <a:srgbClr val="5C6978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153144" y="1261872"/>
            <a:ext cx="502920" cy="347472"/>
          </a:xfrm>
          <a:prstGeom prst="roundRect">
            <a:avLst/>
          </a:prstGeom>
          <a:solidFill>
            <a:srgbClr val="43915B"/>
          </a:solidFill>
          <a:ln>
            <a:solidFill>
              <a:srgbClr val="43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3144" y="1261872"/>
            <a:ext cx="50292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JP"/>
              </a:rP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53144" y="1737360"/>
            <a:ext cx="2578608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3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2872" y="1856231"/>
            <a:ext cx="233172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300" b="1">
                <a:solidFill>
                  <a:srgbClr val="43915B"/>
                </a:solidFill>
                <a:latin typeface="Noto Sans CJK JP"/>
              </a:rPr>
              <a:t>検算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2872" y="2176272"/>
            <a:ext cx="2331720" cy="4297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Noto Sans CJK JP"/>
              </a:rPr>
              <a:t>単位・符号・入力/出力
公式条件と整合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3090672"/>
            <a:ext cx="3657600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400" b="1">
                <a:solidFill>
                  <a:srgbClr val="14233A"/>
                </a:solidFill>
                <a:latin typeface="Noto Sans CJK JP"/>
              </a:rPr>
              <a:t>固定過去問 → PowerPoint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3493008"/>
            <a:ext cx="5394960" cy="384048"/>
          </a:xfrm>
          <a:prstGeom prst="rect">
            <a:avLst/>
          </a:prstGeom>
          <a:solidFill>
            <a:srgbClr val="F3F6F9"/>
          </a:solidFill>
          <a:ln w="635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3511296"/>
            <a:ext cx="3154680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Noto Sans CJK JP"/>
              </a:rPr>
              <a:t>R7一次 機械 問2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50208" y="3511296"/>
            <a:ext cx="868680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43915B"/>
                </a:solidFill>
                <a:latin typeface="Noto Sans CJK JP"/>
              </a:rPr>
              <a:t>5 /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3511296"/>
            <a:ext cx="1051560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2A62AB"/>
                </a:solidFill>
                <a:latin typeface="Noto Sans CJK JP"/>
              </a:rPr>
              <a:t>S2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3931920"/>
            <a:ext cx="5394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3950207"/>
            <a:ext cx="3154680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Noto Sans CJK JP"/>
              </a:rPr>
              <a:t>R6一次 機械 問2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50208" y="3950207"/>
            <a:ext cx="868680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43915B"/>
                </a:solidFill>
                <a:latin typeface="Noto Sans CJK JP"/>
              </a:rPr>
              <a:t>5 /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3950207"/>
            <a:ext cx="1051560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2A62AB"/>
                </a:solidFill>
                <a:latin typeface="Noto Sans CJK JP"/>
              </a:rPr>
              <a:t>S5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70831"/>
            <a:ext cx="5394960" cy="384048"/>
          </a:xfrm>
          <a:prstGeom prst="rect">
            <a:avLst/>
          </a:prstGeom>
          <a:solidFill>
            <a:srgbClr val="F3F6F9"/>
          </a:solidFill>
          <a:ln w="635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4389119"/>
            <a:ext cx="3154680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Noto Sans CJK JP"/>
              </a:rPr>
              <a:t>H25一次 機械 問3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50208" y="4389119"/>
            <a:ext cx="868680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43915B"/>
                </a:solidFill>
                <a:latin typeface="Noto Sans CJK JP"/>
              </a:rPr>
              <a:t>5 / 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4389119"/>
            <a:ext cx="1051560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2A62AB"/>
                </a:solidFill>
                <a:latin typeface="Noto Sans CJK JP"/>
              </a:rPr>
              <a:t>S2・S4・S5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809744"/>
            <a:ext cx="5394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8096" y="4828031"/>
            <a:ext cx="3154680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Noto Sans CJK JP"/>
              </a:rPr>
              <a:t>R7二次 機械・制御 問2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50208" y="4828031"/>
            <a:ext cx="868680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43915B"/>
                </a:solidFill>
                <a:latin typeface="Noto Sans CJK JP"/>
              </a:rPr>
              <a:t>6 / 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6320" y="4828031"/>
            <a:ext cx="1051560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2A62AB"/>
                </a:solidFill>
                <a:latin typeface="Noto Sans CJK JP"/>
              </a:rPr>
              <a:t>S3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5248656"/>
            <a:ext cx="5394960" cy="384048"/>
          </a:xfrm>
          <a:prstGeom prst="rect">
            <a:avLst/>
          </a:prstGeom>
          <a:solidFill>
            <a:srgbClr val="F3F6F9"/>
          </a:solidFill>
          <a:ln w="6350"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8096" y="5266944"/>
            <a:ext cx="3154680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Noto Sans CJK JP"/>
              </a:rPr>
              <a:t>R4二次 機械・制御 問3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50208" y="5266944"/>
            <a:ext cx="868680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43915B"/>
                </a:solidFill>
                <a:latin typeface="Noto Sans CJK JP"/>
              </a:rPr>
              <a:t>6 / 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46320" y="5266944"/>
            <a:ext cx="1051560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2A62AB"/>
                </a:solidFill>
                <a:latin typeface="Noto Sans CJK JP"/>
              </a:rPr>
              <a:t>S5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3090672"/>
            <a:ext cx="2194560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400" b="1">
                <a:solidFill>
                  <a:srgbClr val="14233A"/>
                </a:solidFill>
                <a:latin typeface="Noto Sans CJK JP"/>
              </a:rPr>
              <a:t>SPEC固定 7 / 7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46520" y="3493008"/>
            <a:ext cx="2331720" cy="457200"/>
          </a:xfrm>
          <a:prstGeom prst="roundRect">
            <a:avLst/>
          </a:prstGeom>
          <a:solidFill>
            <a:srgbClr val="EAF6EE"/>
          </a:solidFill>
          <a:ln w="10160">
            <a:solidFill>
              <a:srgbClr val="43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56248" y="3520439"/>
            <a:ext cx="141732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1">
                <a:solidFill>
                  <a:srgbClr val="43915B"/>
                </a:solidFill>
                <a:latin typeface="Noto Sans CJK JP"/>
              </a:rPr>
              <a:t>電動機出力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27848" y="3520439"/>
            <a:ext cx="69494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900" b="1">
                <a:solidFill>
                  <a:srgbClr val="5C6978"/>
                </a:solidFill>
                <a:latin typeface="Noto Sans CJK JP"/>
              </a:rPr>
              <a:t>S2・S3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961120" y="3493008"/>
            <a:ext cx="2331720" cy="457200"/>
          </a:xfrm>
          <a:prstGeom prst="roundRect">
            <a:avLst/>
          </a:prstGeom>
          <a:solidFill>
            <a:srgbClr val="EAF6EE"/>
          </a:solidFill>
          <a:ln w="10160">
            <a:solidFill>
              <a:srgbClr val="43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70848" y="3520439"/>
            <a:ext cx="141732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1">
                <a:solidFill>
                  <a:srgbClr val="43915B"/>
                </a:solidFill>
                <a:latin typeface="Noto Sans CJK JP"/>
              </a:rPr>
              <a:t>負荷トルク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42448" y="3520439"/>
            <a:ext cx="69494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900" b="1">
                <a:solidFill>
                  <a:srgbClr val="5C6978"/>
                </a:solidFill>
                <a:latin typeface="Noto Sans CJK JP"/>
              </a:rPr>
              <a:t>S2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46520" y="4059935"/>
            <a:ext cx="2331720" cy="457200"/>
          </a:xfrm>
          <a:prstGeom prst="roundRect">
            <a:avLst/>
          </a:prstGeom>
          <a:solidFill>
            <a:srgbClr val="EAF6EE"/>
          </a:solidFill>
          <a:ln w="10160">
            <a:solidFill>
              <a:srgbClr val="43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56248" y="4087368"/>
            <a:ext cx="141732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1">
                <a:solidFill>
                  <a:srgbClr val="43915B"/>
                </a:solidFill>
                <a:latin typeface="Noto Sans CJK JP"/>
              </a:rPr>
              <a:t>ポンプ動力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27848" y="4087368"/>
            <a:ext cx="69494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900" b="1">
                <a:solidFill>
                  <a:srgbClr val="5C6978"/>
                </a:solidFill>
                <a:latin typeface="Noto Sans CJK JP"/>
              </a:rPr>
              <a:t>S4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961120" y="4059935"/>
            <a:ext cx="2331720" cy="457200"/>
          </a:xfrm>
          <a:prstGeom prst="roundRect">
            <a:avLst/>
          </a:prstGeom>
          <a:solidFill>
            <a:srgbClr val="EAF6EE"/>
          </a:solidFill>
          <a:ln w="10160">
            <a:solidFill>
              <a:srgbClr val="43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70848" y="4087368"/>
            <a:ext cx="141732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1">
                <a:solidFill>
                  <a:srgbClr val="43915B"/>
                </a:solidFill>
                <a:latin typeface="Noto Sans CJK JP"/>
              </a:rPr>
              <a:t>ファン動力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42448" y="4087368"/>
            <a:ext cx="69494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900" b="1">
                <a:solidFill>
                  <a:srgbClr val="5C6978"/>
                </a:solidFill>
                <a:latin typeface="Noto Sans CJK JP"/>
              </a:rPr>
              <a:t>S4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46520" y="4626864"/>
            <a:ext cx="2331720" cy="457200"/>
          </a:xfrm>
          <a:prstGeom prst="roundRect">
            <a:avLst/>
          </a:prstGeom>
          <a:solidFill>
            <a:srgbClr val="EAF6EE"/>
          </a:solidFill>
          <a:ln w="10160">
            <a:solidFill>
              <a:srgbClr val="43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56248" y="4654296"/>
            <a:ext cx="141732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1">
                <a:solidFill>
                  <a:srgbClr val="43915B"/>
                </a:solidFill>
                <a:latin typeface="Noto Sans CJK JP"/>
              </a:rPr>
              <a:t>回転速度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27848" y="4654296"/>
            <a:ext cx="69494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900" b="1">
                <a:solidFill>
                  <a:srgbClr val="5C6978"/>
                </a:solidFill>
                <a:latin typeface="Noto Sans CJK JP"/>
              </a:rPr>
              <a:t>S2・S3・S5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961120" y="4626864"/>
            <a:ext cx="2331720" cy="457200"/>
          </a:xfrm>
          <a:prstGeom prst="roundRect">
            <a:avLst/>
          </a:prstGeom>
          <a:solidFill>
            <a:srgbClr val="EAF6EE"/>
          </a:solidFill>
          <a:ln w="10160">
            <a:solidFill>
              <a:srgbClr val="43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70848" y="4654296"/>
            <a:ext cx="141732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1">
                <a:solidFill>
                  <a:srgbClr val="43915B"/>
                </a:solidFill>
                <a:latin typeface="Noto Sans CJK JP"/>
              </a:rPr>
              <a:t>効率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42448" y="4654296"/>
            <a:ext cx="69494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900" b="1">
                <a:solidFill>
                  <a:srgbClr val="5C6978"/>
                </a:solidFill>
                <a:latin typeface="Noto Sans CJK JP"/>
              </a:rPr>
              <a:t>S3・S4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46520" y="5193792"/>
            <a:ext cx="2331720" cy="457200"/>
          </a:xfrm>
          <a:prstGeom prst="roundRect">
            <a:avLst/>
          </a:prstGeom>
          <a:solidFill>
            <a:srgbClr val="EAF6EE"/>
          </a:solidFill>
          <a:ln w="10160">
            <a:solidFill>
              <a:srgbClr val="43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56248" y="5221224"/>
            <a:ext cx="141732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000" b="1">
                <a:solidFill>
                  <a:srgbClr val="43915B"/>
                </a:solidFill>
                <a:latin typeface="Noto Sans CJK JP"/>
              </a:rPr>
              <a:t>インバータ制御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27848" y="5221224"/>
            <a:ext cx="694944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900" b="1">
                <a:solidFill>
                  <a:srgbClr val="5C6978"/>
                </a:solidFill>
                <a:latin typeface="Noto Sans CJK JP"/>
              </a:rPr>
              <a:t>S4・S5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446520" y="5742432"/>
            <a:ext cx="5074920" cy="731520"/>
          </a:xfrm>
          <a:prstGeom prst="roundRect">
            <a:avLst/>
          </a:prstGeom>
          <a:solidFill>
            <a:srgbClr val="FAEBE9"/>
          </a:solidFill>
          <a:ln w="12700">
            <a:solidFill>
              <a:srgbClr val="BE4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0584" bIns="73152"/>
          <a:lstStyle/>
          <a:p>
            <a:pPr algn="ctr">
              <a:spcAft>
                <a:spcPts val="400"/>
              </a:spcAft>
              <a:defRPr sz="1100" b="1">
                <a:solidFill>
                  <a:srgbClr val="BE4840"/>
                </a:solidFill>
                <a:latin typeface="Noto Sans CJK JP"/>
              </a:defRPr>
            </a:pPr>
            <a:r>
              <a:t>境界</a:t>
            </a:r>
          </a:p>
          <a:p>
            <a:pPr>
              <a:spcAft>
                <a:spcPts val="200"/>
              </a:spcAft>
              <a:defRPr sz="1000">
                <a:solidFill>
                  <a:srgbClr val="1F2937"/>
                </a:solidFill>
                <a:latin typeface="Noto Sans CJK JP"/>
              </a:defRPr>
            </a:pPr>
            <a:r>
              <a:t>• 未確認実車値なし／圧縮熱力学・冷凍サイクルなし／Topic 35以降の先取りなし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34 コンプレッサ・ポンプ・ファンの負荷特性</dc:title>
  <dc:subject>電験二種 新幹線車両教材 解説画像PowerPoint</dc:subject>
  <dc:creator>OpenAI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