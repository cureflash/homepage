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32104"/>
            <a:ext cx="11155680" cy="36576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052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数値例は教材用仮定値。L0系の未確認実車値を真値化しない。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27  L0系①：リニア同期モータ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電験二種「機械」：同期速度・電機子反作用・同期リアクタンス・短絡比まで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20320">
            <a:solidFill>
              <a:srgbClr val="D881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0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三相交流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12848" y="1901952"/>
            <a:ext cx="530352" cy="0"/>
          </a:xfrm>
          <a:prstGeom prst="line">
            <a:avLst/>
          </a:prstGeom>
          <a:noFill/>
          <a:ln w="19050">
            <a:solidFill>
              <a:srgbClr val="6971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150876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20320">
            <a:solidFill>
              <a:srgbClr val="2D69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700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移動磁界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1901952"/>
            <a:ext cx="530352" cy="0"/>
          </a:xfrm>
          <a:prstGeom prst="line">
            <a:avLst/>
          </a:prstGeom>
          <a:noFill/>
          <a:ln w="19050">
            <a:solidFill>
              <a:srgbClr val="6971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50876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20320">
            <a:solidFill>
              <a:srgbClr val="359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00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同期速度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10528" y="1901952"/>
            <a:ext cx="530352" cy="0"/>
          </a:xfrm>
          <a:prstGeom prst="line">
            <a:avLst/>
          </a:prstGeom>
          <a:noFill/>
          <a:ln w="19050">
            <a:solidFill>
              <a:srgbClr val="6971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50876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20320">
            <a:solidFill>
              <a:srgbClr val="378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700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同期リアクタンス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59368" y="1901952"/>
            <a:ext cx="530352" cy="0"/>
          </a:xfrm>
          <a:prstGeom prst="line">
            <a:avLst/>
          </a:prstGeom>
          <a:noFill/>
          <a:ln w="19050">
            <a:solidFill>
              <a:srgbClr val="6971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0" y="150876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20320">
            <a:solidFill>
              <a:srgbClr val="775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700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短絡比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13232" y="2834640"/>
            <a:ext cx="5120640" cy="2468880"/>
          </a:xfrm>
          <a:prstGeom prst="roundRect">
            <a:avLst>
              <a:gd name="adj" fmla="val 1852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2834640"/>
            <a:ext cx="73152" cy="2468880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2944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L0系との接続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" y="3319272"/>
            <a:ext cx="484632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一次資料で確認するのは、ガイドウェイ推進コイルへ三相交流を供給し、移動磁界と車上超電導磁石の吸引・反発で推進する原理まで。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実極ピッチ・実推進周波数・実同期リアクタンス・実推力は、本Topicの確認範囲では真値化しない。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2834640"/>
            <a:ext cx="5120640" cy="2468880"/>
          </a:xfrm>
          <a:prstGeom prst="roundRect">
            <a:avLst>
              <a:gd name="adj" fmla="val 1852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834640"/>
            <a:ext cx="73152" cy="2468880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944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このTopicで解くもの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82512" y="3319272"/>
            <a:ext cx="484632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・回転機：N_s = 120f/P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・リニア機：v_s = 2τf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・電機子反作用：交差磁化 / 増磁 / 減磁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・X_s = X_a + X_l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・無負荷飽和曲線 / 三相短絡特性 / 短絡比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57150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負荷角δ・本格フェーザ出力解析・推力式はTopic 28へ送る。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回転同期機を直線へ展開すると何が変わるか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同期の本質は「界磁が三相交流の作る磁界速度に追従する」こと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73152" cy="4480560"/>
          </a:xfrm>
          <a:prstGeom prst="rect">
            <a:avLst/>
          </a:prstGeom>
          <a:solidFill>
            <a:srgbClr val="D88134"/>
          </a:solidFill>
          <a:ln w="12700">
            <a:solidFill>
              <a:srgbClr val="D881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898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三相交流 → 磁界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1764792"/>
            <a:ext cx="324612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三相巻線を空間的に120°ずらし、時間的にも120°位相差の三相交流を流す。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回転機：合成磁界は円周方向へ回転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リニア機：展開した一次側を直線方向へ移動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同期機の界磁は、その磁界速度と同期して運動する。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1280160"/>
            <a:ext cx="3383280" cy="4480560"/>
          </a:xfrm>
          <a:prstGeom prst="roundRect">
            <a:avLst>
              <a:gd name="adj" fmla="val 1351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4256" y="1280160"/>
            <a:ext cx="73152" cy="4480560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回転同期機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8848" y="1764792"/>
            <a:ext cx="310896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極数 P、周波数 f [Hz]</a:t>
            </a:r>
            <a:endParaRPr lang="en-US" sz="1360" dirty="0"/>
          </a:p>
          <a:p>
            <a:pPr algn="l" indent="0" marL="0">
              <a:buNone/>
            </a:pP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N_s = 120f / P [min^-1]</a:t>
            </a:r>
            <a:endParaRPr lang="en-US" sz="1360" dirty="0"/>
          </a:p>
          <a:p>
            <a:pPr algn="l" indent="0" marL="0">
              <a:buNone/>
            </a:pP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逆算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 = PN_s / 120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 = 120f / N_s</a:t>
            </a:r>
            <a:endParaRPr lang="en-US" sz="1360" dirty="0"/>
          </a:p>
          <a:p>
            <a:pPr algn="l" indent="0" marL="0">
              <a:buNone/>
            </a:pP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注意：Pは極対数ではなく極数。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7936992" y="1280160"/>
            <a:ext cx="3639312" cy="4480560"/>
          </a:xfrm>
          <a:prstGeom prst="roundRect">
            <a:avLst>
              <a:gd name="adj" fmla="val 1256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36992" y="1280160"/>
            <a:ext cx="73152" cy="4480560"/>
          </a:xfrm>
          <a:prstGeom prst="rect">
            <a:avLst/>
          </a:prstGeom>
          <a:solidFill>
            <a:srgbClr val="3599BC"/>
          </a:solidFill>
          <a:ln w="12700">
            <a:solidFill>
              <a:srgbClr val="359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1584" y="138988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リニア同期機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01584" y="1764792"/>
            <a:ext cx="3364992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極ピッチ τ [m]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空間1周期 λ = 2τ</a:t>
            </a:r>
            <a:endParaRPr lang="en-US" sz="1340" dirty="0"/>
          </a:p>
          <a:p>
            <a:pPr algn="l" indent="0" marL="0">
              <a:buNone/>
            </a:pP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v_s = fλ = 2τf [m/s]</a:t>
            </a:r>
            <a:endParaRPr lang="en-US" sz="1340" dirty="0"/>
          </a:p>
          <a:p>
            <a:pPr algn="l" indent="0" marL="0">
              <a:buNone/>
            </a:pP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逆算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 = v_s / (2τ)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τ = v_s / (2f)</a:t>
            </a:r>
            <a:endParaRPr lang="en-US" sz="1340" dirty="0"/>
          </a:p>
          <a:p>
            <a:pPr algn="l" indent="0" marL="0">
              <a:buNone/>
            </a:pP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τを空間1周期と誤認しない。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640080" y="59710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単位ゲート：回転機は min^-1、リニア機は m/s。同じ「同期速度」でも単位を交換しない。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指定可視化：同期速度は周波数・極ピッチに比例する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すべて教材用仮定値。L0系の実極ピッチ・実推進周波数ではない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97280" y="5221224"/>
            <a:ext cx="4791456" cy="0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536192"/>
            <a:ext cx="0" cy="3685032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5221224"/>
            <a:ext cx="4791456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129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097280" y="4299966"/>
            <a:ext cx="4791456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0852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097280" y="3378708"/>
            <a:ext cx="4791456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8726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1097280" y="2457450"/>
            <a:ext cx="4791456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6601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150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1097280" y="1536192"/>
            <a:ext cx="4791456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44475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914400" y="52486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2112264" y="52486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3310128" y="52486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4507992" y="52486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75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5705856" y="52486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1097280" y="5221224"/>
            <a:ext cx="958291" cy="-73700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5571" y="4484218"/>
            <a:ext cx="958291" cy="-73700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3862" y="3747211"/>
            <a:ext cx="958291" cy="-73700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72154" y="3010205"/>
            <a:ext cx="958291" cy="-73700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0445" y="2273198"/>
            <a:ext cx="958291" cy="-73700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5276" y="5189220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23567" y="4452214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81858" y="3715207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40150" y="2978201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8441" y="2241194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6732" y="1504188"/>
            <a:ext cx="64008" cy="64008"/>
          </a:xfrm>
          <a:prstGeom prst="ellipse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5486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周波数 f [Hz]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502920" y="15179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v_s [m/s]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766560" y="5221224"/>
            <a:ext cx="4700016" cy="0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1536192"/>
            <a:ext cx="0" cy="3685032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5221224"/>
            <a:ext cx="4700016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512978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6766560" y="4299966"/>
            <a:ext cx="4700016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420852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6766560" y="3378708"/>
            <a:ext cx="4700016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328726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6766560" y="2457450"/>
            <a:ext cx="4700016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36601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150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6766560" y="1536192"/>
            <a:ext cx="4700016" cy="0"/>
          </a:xfrm>
          <a:prstGeom prst="line">
            <a:avLst/>
          </a:prstGeom>
          <a:noFill/>
          <a:ln w="7620">
            <a:solidFill>
              <a:srgbClr val="DBE2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144475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6583680" y="52486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7758684" y="52486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0.5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8933688" y="52486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10108692" y="52486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1.5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11283696" y="52486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6766560" y="5221224"/>
            <a:ext cx="940003" cy="-737006"/>
          </a:xfrm>
          <a:prstGeom prst="line">
            <a:avLst/>
          </a:prstGeom>
          <a:noFill/>
          <a:ln w="25400">
            <a:solidFill>
              <a:srgbClr val="3784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06563" y="4484218"/>
            <a:ext cx="940003" cy="-737006"/>
          </a:xfrm>
          <a:prstGeom prst="line">
            <a:avLst/>
          </a:prstGeom>
          <a:noFill/>
          <a:ln w="25400">
            <a:solidFill>
              <a:srgbClr val="3784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46566" y="3747211"/>
            <a:ext cx="940003" cy="-737006"/>
          </a:xfrm>
          <a:prstGeom prst="line">
            <a:avLst/>
          </a:prstGeom>
          <a:noFill/>
          <a:ln w="25400">
            <a:solidFill>
              <a:srgbClr val="3784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586570" y="3010205"/>
            <a:ext cx="940003" cy="-737006"/>
          </a:xfrm>
          <a:prstGeom prst="line">
            <a:avLst/>
          </a:prstGeom>
          <a:noFill/>
          <a:ln w="25400">
            <a:solidFill>
              <a:srgbClr val="3784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26573" y="2273198"/>
            <a:ext cx="940003" cy="-737006"/>
          </a:xfrm>
          <a:prstGeom prst="line">
            <a:avLst/>
          </a:prstGeom>
          <a:noFill/>
          <a:ln w="25400">
            <a:solidFill>
              <a:srgbClr val="3784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34556" y="5189220"/>
            <a:ext cx="64008" cy="64008"/>
          </a:xfrm>
          <a:prstGeom prst="ellipse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74559" y="4452214"/>
            <a:ext cx="64008" cy="64008"/>
          </a:xfrm>
          <a:prstGeom prst="ellipse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14562" y="3715207"/>
            <a:ext cx="64008" cy="64008"/>
          </a:xfrm>
          <a:prstGeom prst="ellipse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54566" y="2978201"/>
            <a:ext cx="64008" cy="64008"/>
          </a:xfrm>
          <a:prstGeom prst="ellipse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94569" y="2241194"/>
            <a:ext cx="64008" cy="64008"/>
          </a:xfrm>
          <a:prstGeom prst="ellipse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434572" y="1504188"/>
            <a:ext cx="64008" cy="64008"/>
          </a:xfrm>
          <a:prstGeom prst="ellipse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02168" y="5486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極ピッチ τ [m]</a:t>
            </a:r>
            <a:endParaRPr lang="en-US" sz="920" dirty="0"/>
          </a:p>
        </p:txBody>
      </p:sp>
      <p:sp>
        <p:nvSpPr>
          <p:cNvPr id="63" name="Text 61"/>
          <p:cNvSpPr/>
          <p:nvPr/>
        </p:nvSpPr>
        <p:spPr>
          <a:xfrm>
            <a:off x="6172200" y="15179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v_s [m/s]</a:t>
            </a:r>
            <a:endParaRPr lang="en-US" sz="880" dirty="0"/>
          </a:p>
        </p:txBody>
      </p:sp>
      <p:sp>
        <p:nvSpPr>
          <p:cNvPr id="64" name="Text 62"/>
          <p:cNvSpPr/>
          <p:nvPr/>
        </p:nvSpPr>
        <p:spPr>
          <a:xfrm>
            <a:off x="1325880" y="5623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左：τ=1.00 m → v_s=2f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040880" y="5623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84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右：f=50 Hz → v_s=100τ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85800" y="60350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例：τ=1.20 m、f=50 Hz → v_s=120 m/s（432 km/h換算）。この数値はL0系実運転条件ではない。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電機子反作用をリアクタンスとして扱う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一次試験では「作用の向き」と「X_a / X_l / X_s の役割」を分けて覚える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3657600" cy="4526280"/>
          </a:xfrm>
          <a:prstGeom prst="roundRect">
            <a:avLst>
              <a:gd name="adj" fmla="val 125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73152" cy="4526280"/>
          </a:xfrm>
          <a:prstGeom prst="rect">
            <a:avLst/>
          </a:prstGeom>
          <a:solidFill>
            <a:srgbClr val="D88134"/>
          </a:solidFill>
          <a:ln w="12700">
            <a:solidFill>
              <a:srgbClr val="D881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08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電機子反作用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38328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電機子電流 I_a が作る磁界が界磁磁束へ作用する現象。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力率1付近：主に交差磁化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遅れ力率：減磁成分を持つ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進み力率：増磁成分を持つ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磁束が弱まれば内部誘導起電力は低下、強まれば上昇。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298448"/>
            <a:ext cx="3246120" cy="4526280"/>
          </a:xfrm>
          <a:prstGeom prst="roundRect">
            <a:avLst>
              <a:gd name="adj" fmla="val 1408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298448"/>
            <a:ext cx="73152" cy="4526280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081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等価リアクタンス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1783080"/>
            <a:ext cx="29718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発電機の標準表現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 = E_0 − jX_a I_a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X_a：電機子反作用リアクタンス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X_l：漏れリアクタンス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X_s = X_a + X_l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抵抗無視では jX_s I_a を主なリアクタンス降下として扱う。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818120" y="1298448"/>
            <a:ext cx="3749040" cy="4526280"/>
          </a:xfrm>
          <a:prstGeom prst="roundRect">
            <a:avLst>
              <a:gd name="adj" fmla="val 122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1298448"/>
            <a:ext cx="73152" cy="4526280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82712" y="1408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本試験標準例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82712" y="1783080"/>
            <a:ext cx="347472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6極、50 Hz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X_a=1.8 Ω/相、X_l=0.2 Ω/相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N_s = 120×50/6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  = 1000 min^-1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X_s = 1.8+0.2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  = 2.0 Ω/相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I_a=100 Aなら X_s I_a=200 V/相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60167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負荷角δを導入して出力・推力を求める解析は、ここでは追加しない。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二次試験：試験手順 → 短絡比 → 同期インピーダンス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R6二次「機械・制御」問1に対応する記述＋計算手順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3200400" cy="3063240"/>
          </a:xfrm>
          <a:prstGeom prst="roundRect">
            <a:avLst>
              <a:gd name="adj" fmla="val 1493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43584"/>
            <a:ext cx="73152" cy="3063240"/>
          </a:xfrm>
          <a:prstGeom prst="rect">
            <a:avLst/>
          </a:prstGeom>
          <a:solidFill>
            <a:srgbClr val="D88134"/>
          </a:solidFill>
          <a:ln w="12700">
            <a:solidFill>
              <a:srgbClr val="D881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53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無負荷飽和曲線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28216"/>
            <a:ext cx="29260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 電機子端子を開放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 定格速度で回転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 界磁電流 I_f を変化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  無負荷端子電圧を測定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 I_f―端子電圧を作図</a:t>
            </a:r>
            <a:endParaRPr lang="en-US" sz="1240" dirty="0"/>
          </a:p>
          <a:p>
            <a:pPr algn="l" indent="0" marL="0">
              <a:buNone/>
            </a:pP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高界磁側では磁気飽和で増加が鈍る。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3931920" y="1243584"/>
            <a:ext cx="3200400" cy="3063240"/>
          </a:xfrm>
          <a:prstGeom prst="roundRect">
            <a:avLst>
              <a:gd name="adj" fmla="val 1493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243584"/>
            <a:ext cx="73152" cy="3063240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96512" y="1353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三相短絡特性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96512" y="1728216"/>
            <a:ext cx="29260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 三相端子を短絡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 定格速度で回転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 界磁電流 I_f を変化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  持続短絡電流 I_sc を測定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 I_f―I_sc を作図</a:t>
            </a:r>
            <a:endParaRPr lang="en-US" sz="1240" dirty="0"/>
          </a:p>
          <a:p>
            <a:pPr algn="l" indent="0" marL="0">
              <a:buNone/>
            </a:pP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標準問題ではほぼ直線として扱う。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7296912" y="1243584"/>
            <a:ext cx="4297680" cy="3063240"/>
          </a:xfrm>
          <a:prstGeom prst="roundRect">
            <a:avLst>
              <a:gd name="adj" fmla="val 1493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1243584"/>
            <a:ext cx="73152" cy="3063240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1504" y="1353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短絡比からΩ値へ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61504" y="1728216"/>
            <a:ext cx="40233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 = I_f0 / I_fsc = I_sc0 / I_n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Z_s(p.u.) = 1 / K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Z_base = V_n² / S_n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Z_s[Ω] = Z_s(p.u.) × Z_base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R_aがあれば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X_s = sqrt(Z_s² − R_a²)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566928" y="4498848"/>
            <a:ext cx="11027664" cy="1243584"/>
          </a:xfrm>
          <a:prstGeom prst="roundRect">
            <a:avLst>
              <a:gd name="adj" fmla="val 3676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498848"/>
            <a:ext cx="73152" cy="1243584"/>
          </a:xfrm>
          <a:prstGeom prst="rect">
            <a:avLst/>
          </a:prstGeom>
          <a:solidFill>
            <a:srgbClr val="7758A6"/>
          </a:solidFill>
          <a:ln w="12700">
            <a:solidFill>
              <a:srgbClr val="775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08576"/>
            <a:ext cx="1075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複合例題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10753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V_n=6.6 kV、S_n=5.0 MVA、I_f0=220 A、I_fsc=200 A、R_a=0.80 Ω/相 → K=1.10、Z_s=0.909 p.u.、Z_base=8.712 Ω、Z_s=7.92 Ω/相、X_s≈7.88 Ω/相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658368" y="5980176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pu と Ω、線間電圧と三相容量の基準を混同しない。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5. 過去問対応と品質ゲート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固定EXAM_ALIGNMENTを変えず、一次18＋二次5＝23答案要素へ接続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7589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173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R7 一次「機械」問1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3218688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界磁 / 電機子反作用 / 内部誘導起電力 / 漏れリアクタンス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7452360" y="14173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5要素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594360" y="2130552"/>
            <a:ext cx="7589520" cy="73152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219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R6 一次「機械」問1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218688" y="2221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交差磁化 / 増磁 / 減磁 / 誘導起電力変化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7452360" y="2221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5要素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594360" y="2935224"/>
            <a:ext cx="7589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02666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H29 一次「機械」問1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3218688" y="30266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極数 / 周波数 / 同期速度 / 電機子反作用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7452360" y="30266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3要素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94360" y="3739896"/>
            <a:ext cx="7589520" cy="73152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83133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H21 一次「機械」問5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3218688" y="3831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E=E0−jXaIa / Xa / Xl / Xs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7452360" y="38313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5要素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594360" y="4544568"/>
            <a:ext cx="7589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6360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R6 二次「機械・制御」問1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3218688" y="46360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無負荷飽和 / 三相短絡 / 短絡比 / 同期インピーダンス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7452360" y="46360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5要素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8430768" y="1325880"/>
            <a:ext cx="3090672" cy="2084832"/>
          </a:xfrm>
          <a:prstGeom prst="roundRect">
            <a:avLst>
              <a:gd name="adj" fmla="val 2193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30768" y="1325880"/>
            <a:ext cx="73152" cy="2084832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143560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ゲート接続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5360" y="1810512"/>
            <a:ext cx="2816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固定5問：5/5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一次：18/18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二次：5/5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合計：23/23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30768" y="3639312"/>
            <a:ext cx="3090672" cy="2084832"/>
          </a:xfrm>
          <a:prstGeom prst="roundRect">
            <a:avLst>
              <a:gd name="adj" fmla="val 2193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0768" y="3639312"/>
            <a:ext cx="73152" cy="2084832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374904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 / 境界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95360" y="4123944"/>
            <a:ext cx="2816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必須7項目：7/7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指定可視化：2/2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28先取り：0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未確認実車値真値化：0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658368" y="5596128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次工程：完成後clean blind独立再解答。PowerPoint完成だけではTopic 27をcompletedにしない。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658368" y="59710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21の48.0 / 48.1 N·mは過去問固有丸め差。一般式 P=Tω、ω=2πN/60 は変更しない。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cureflash/homepage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27 L0系① リニア同期モータ</dc:title>
  <dc:subject>Topic 27 L0系① リニア同期モータ</dc:subject>
  <dc:creator>OpenAI</dc:creator>
  <cp:lastModifiedBy>OpenAI</cp:lastModifiedBy>
  <cp:revision>1</cp:revision>
  <dcterms:created xsi:type="dcterms:W3CDTF">2026-09-20T00:01:59Z</dcterms:created>
  <dcterms:modified xsi:type="dcterms:W3CDTF">2026-09-20T00:01:59Z</dcterms:modified>
</cp:coreProperties>
</file>