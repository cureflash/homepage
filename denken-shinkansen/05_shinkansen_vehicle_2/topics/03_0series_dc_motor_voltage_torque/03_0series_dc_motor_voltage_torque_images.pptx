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472C4" accent2="ED7D31" accent3="A5A5A5" accent4="FFC000" accent5="5B9BD5" accent6="70AD47" bg1="FFFFFF" bg2="E7E6E6" folHlink="954F72" hlink="0563C1" tx1="000000" tx2="44546A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28600"/>
            <a:ext cx="1133856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2600"/>
            <a:r>
              <a:rPr lang="ja-JP" sz="2600" b="1">
                <a:solidFill>
                  <a:srgbClr val="FFFFFF"/>
                </a:solidFill>
                <a:latin typeface="Aptos"/>
                <a:ea typeface="Yu Gothic"/>
              </a:rPr>
              <a:t>0系③ 直流主電動機：式を1つの動作点として読む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758952"/>
            <a:ext cx="11064240" cy="329184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00"/>
            <a:r>
              <a:rPr lang="ja-JP" sz="1200" b="0">
                <a:solidFill>
                  <a:srgbClr val="475569"/>
                </a:solidFill>
                <a:latin typeface="Aptos"/>
                <a:ea typeface="Yu Gothic"/>
              </a:rPr>
              <a:t>固定範囲のみ／未確認の0系実車値は使用しない</a:t>
            </a:r>
          </a:p>
        </p:txBody>
      </p:sp>
      <p:sp>
        <p:nvSpPr>
          <p:cNvPr id="4" name="電圧方程式"/>
          <p:cNvSpPr txBox="1"/>
          <p:nvPr/>
        </p:nvSpPr>
        <p:spPr>
          <a:xfrm>
            <a:off x="502920" y="1234440"/>
            <a:ext cx="3566160" cy="32918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400"/>
            <a:r>
              <a:rPr lang="ja-JP" sz="1400" b="1">
                <a:solidFill>
                  <a:srgbClr val="1E3A8A"/>
                </a:solidFill>
                <a:latin typeface="Aptos"/>
                <a:ea typeface="Yu Gothic"/>
              </a:rPr>
              <a:t>電圧方程式</a:t>
            </a:r>
          </a:p>
        </p:txBody>
      </p:sp>
      <p:sp>
        <p:nvSpPr>
          <p:cNvPr id="5" name="電圧方程式 body"/>
          <p:cNvSpPr txBox="1"/>
          <p:nvPr/>
        </p:nvSpPr>
        <p:spPr>
          <a:xfrm>
            <a:off x="502920" y="1545336"/>
            <a:ext cx="3566160" cy="832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600"/>
            <a:r>
              <a:rPr lang="ja-JP" sz="1600" b="0">
                <a:solidFill>
                  <a:srgbClr val="111827"/>
                </a:solidFill>
                <a:latin typeface="Aptos"/>
                <a:ea typeface="Yu Gothic"/>
              </a:rPr>
              <a:t>V = E + IₐRₐ</a:t>
            </a:r>
          </a:p>
          <a:p>
            <a:pPr algn="l"/>
            <a:endParaRPr lang="ja-JP" sz="1600"/>
            <a:r>
              <a:rPr lang="ja-JP" sz="1600" b="0">
                <a:solidFill>
                  <a:srgbClr val="111827"/>
                </a:solidFill>
                <a:latin typeface="Aptos"/>
                <a:ea typeface="Yu Gothic"/>
              </a:rPr>
              <a:t>E = V − IₐRₐ</a:t>
            </a:r>
          </a:p>
        </p:txBody>
      </p:sp>
      <p:sp>
        <p:nvSpPr>
          <p:cNvPr id="6" name="逆起電力"/>
          <p:cNvSpPr txBox="1"/>
          <p:nvPr/>
        </p:nvSpPr>
        <p:spPr>
          <a:xfrm>
            <a:off x="4315968" y="1234440"/>
            <a:ext cx="3566160" cy="329184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93C5FD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400"/>
            <a:r>
              <a:rPr lang="ja-JP" sz="1400" b="1">
                <a:solidFill>
                  <a:srgbClr val="1E3A8A"/>
                </a:solidFill>
                <a:latin typeface="Aptos"/>
                <a:ea typeface="Yu Gothic"/>
              </a:rPr>
              <a:t>逆起電力</a:t>
            </a:r>
          </a:p>
        </p:txBody>
      </p:sp>
      <p:sp>
        <p:nvSpPr>
          <p:cNvPr id="7" name="逆起電力 body"/>
          <p:cNvSpPr txBox="1"/>
          <p:nvPr/>
        </p:nvSpPr>
        <p:spPr>
          <a:xfrm>
            <a:off x="4315968" y="1545336"/>
            <a:ext cx="3566160" cy="832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600"/>
            <a:r>
              <a:rPr lang="ja-JP" sz="1600" b="0">
                <a:solidFill>
                  <a:srgbClr val="111827"/>
                </a:solidFill>
                <a:latin typeface="Aptos"/>
                <a:ea typeface="Yu Gothic"/>
              </a:rPr>
              <a:t>E = kₑΦω</a:t>
            </a:r>
          </a:p>
          <a:p>
            <a:pPr algn="l"/>
            <a:endParaRPr lang="ja-JP" sz="1600"/>
            <a:r>
              <a:rPr lang="ja-JP" sz="1600" b="0">
                <a:solidFill>
                  <a:srgbClr val="111827"/>
                </a:solidFill>
                <a:latin typeface="Aptos"/>
                <a:ea typeface="Yu Gothic"/>
              </a:rPr>
              <a:t>磁束一定 → E ∝ ω ∝ n</a:t>
            </a:r>
          </a:p>
        </p:txBody>
      </p:sp>
      <p:sp>
        <p:nvSpPr>
          <p:cNvPr id="8" name="電磁トルク"/>
          <p:cNvSpPr txBox="1"/>
          <p:nvPr/>
        </p:nvSpPr>
        <p:spPr>
          <a:xfrm>
            <a:off x="8119872" y="1234440"/>
            <a:ext cx="3566160" cy="329184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93C5FD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400"/>
            <a:r>
              <a:rPr lang="ja-JP" sz="1400" b="1">
                <a:solidFill>
                  <a:srgbClr val="1E3A8A"/>
                </a:solidFill>
                <a:latin typeface="Aptos"/>
                <a:ea typeface="Yu Gothic"/>
              </a:rPr>
              <a:t>電磁トルク</a:t>
            </a:r>
          </a:p>
        </p:txBody>
      </p:sp>
      <p:sp>
        <p:nvSpPr>
          <p:cNvPr id="9" name="電磁トルク body"/>
          <p:cNvSpPr txBox="1"/>
          <p:nvPr/>
        </p:nvSpPr>
        <p:spPr>
          <a:xfrm>
            <a:off x="8119872" y="1545336"/>
            <a:ext cx="3566160" cy="832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600"/>
            <a:r>
              <a:rPr lang="ja-JP" sz="1600" b="0">
                <a:solidFill>
                  <a:srgbClr val="111827"/>
                </a:solidFill>
                <a:latin typeface="Aptos"/>
                <a:ea typeface="Yu Gothic"/>
              </a:rPr>
              <a:t>T = kₜΦIₐ</a:t>
            </a:r>
          </a:p>
          <a:p>
            <a:pPr algn="l"/>
            <a:endParaRPr lang="ja-JP" sz="1600"/>
            <a:r>
              <a:rPr lang="ja-JP" sz="1600" b="0">
                <a:solidFill>
                  <a:srgbClr val="111827"/>
                </a:solidFill>
                <a:latin typeface="Aptos"/>
                <a:ea typeface="Yu Gothic"/>
              </a:rPr>
              <a:t>磁束一定 → T ∝ Iₐ</a:t>
            </a:r>
          </a:p>
        </p:txBody>
      </p:sp>
      <p:sp>
        <p:nvSpPr>
          <p:cNvPr id="10" name="電力・損失"/>
          <p:cNvSpPr txBox="1"/>
          <p:nvPr/>
        </p:nvSpPr>
        <p:spPr>
          <a:xfrm>
            <a:off x="502920" y="2578608"/>
            <a:ext cx="3566160" cy="32918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3C5FD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400"/>
            <a:r>
              <a:rPr lang="ja-JP" sz="1400" b="1">
                <a:solidFill>
                  <a:srgbClr val="1E3A8A"/>
                </a:solidFill>
                <a:latin typeface="Aptos"/>
                <a:ea typeface="Yu Gothic"/>
              </a:rPr>
              <a:t>電力・損失</a:t>
            </a:r>
          </a:p>
        </p:txBody>
      </p:sp>
      <p:sp>
        <p:nvSpPr>
          <p:cNvPr id="11" name="電力・損失 body"/>
          <p:cNvSpPr txBox="1"/>
          <p:nvPr/>
        </p:nvSpPr>
        <p:spPr>
          <a:xfrm>
            <a:off x="502920" y="2889503"/>
            <a:ext cx="3566160" cy="923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600"/>
            <a:r>
              <a:rPr lang="ja-JP" sz="1600" b="0">
                <a:solidFill>
                  <a:srgbClr val="111827"/>
                </a:solidFill>
                <a:latin typeface="Aptos"/>
                <a:ea typeface="Yu Gothic"/>
              </a:rPr>
              <a:t>Pₑₘ = EIₐ = Tω</a:t>
            </a:r>
          </a:p>
          <a:p>
            <a:pPr algn="l"/>
            <a:endParaRPr lang="ja-JP" sz="1600"/>
            <a:r>
              <a:rPr lang="ja-JP" sz="1600" b="0">
                <a:solidFill>
                  <a:srgbClr val="111827"/>
                </a:solidFill>
                <a:latin typeface="Aptos"/>
                <a:ea typeface="Yu Gothic"/>
              </a:rPr>
              <a:t>P_Cu = Iₐ²Rₐ</a:t>
            </a:r>
          </a:p>
          <a:p>
            <a:pPr algn="l"/>
            <a:endParaRPr lang="ja-JP" sz="1600"/>
            <a:r>
              <a:rPr lang="ja-JP" sz="1600" b="0">
                <a:solidFill>
                  <a:srgbClr val="111827"/>
                </a:solidFill>
                <a:latin typeface="Aptos"/>
                <a:ea typeface="Yu Gothic"/>
              </a:rPr>
              <a:t>VIₐ = EIₐ + Iₐ²Rₐ</a:t>
            </a:r>
          </a:p>
        </p:txBody>
      </p:sp>
      <p:sp>
        <p:nvSpPr>
          <p:cNvPr id="12" name="負荷変化の追跡"/>
          <p:cNvSpPr txBox="1"/>
          <p:nvPr/>
        </p:nvSpPr>
        <p:spPr>
          <a:xfrm>
            <a:off x="4315968" y="2578608"/>
            <a:ext cx="3566160" cy="329184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93C5FD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400"/>
            <a:r>
              <a:rPr lang="ja-JP" sz="1400" b="1">
                <a:solidFill>
                  <a:srgbClr val="1E3A8A"/>
                </a:solidFill>
                <a:latin typeface="Aptos"/>
                <a:ea typeface="Yu Gothic"/>
              </a:rPr>
              <a:t>負荷変化の追跡</a:t>
            </a:r>
          </a:p>
        </p:txBody>
      </p:sp>
      <p:sp>
        <p:nvSpPr>
          <p:cNvPr id="13" name="負荷変化の追跡 body"/>
          <p:cNvSpPr txBox="1"/>
          <p:nvPr/>
        </p:nvSpPr>
        <p:spPr>
          <a:xfrm>
            <a:off x="4315968" y="2889503"/>
            <a:ext cx="3566160" cy="923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600"/>
            <a:r>
              <a:rPr lang="ja-JP" sz="1600" b="0">
                <a:solidFill>
                  <a:srgbClr val="111827"/>
                </a:solidFill>
                <a:latin typeface="Aptos"/>
                <a:ea typeface="Yu Gothic"/>
              </a:rPr>
              <a:t>負荷T → T → Iₐ → IₐRₐ</a:t>
            </a:r>
          </a:p>
          <a:p>
            <a:pPr algn="l"/>
            <a:endParaRPr lang="ja-JP" sz="1600"/>
            <a:r>
              <a:rPr lang="ja-JP" sz="1600" b="0">
                <a:solidFill>
                  <a:srgbClr val="111827"/>
                </a:solidFill>
                <a:latin typeface="Aptos"/>
                <a:ea typeface="Yu Gothic"/>
              </a:rPr>
              <a:t>→ E → ω,n → 電力収支で検算</a:t>
            </a:r>
          </a:p>
        </p:txBody>
      </p:sp>
      <p:sp>
        <p:nvSpPr>
          <p:cNvPr id="14" name="飽和時の注意"/>
          <p:cNvSpPr txBox="1"/>
          <p:nvPr/>
        </p:nvSpPr>
        <p:spPr>
          <a:xfrm>
            <a:off x="8119872" y="2578608"/>
            <a:ext cx="3566160" cy="329184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93C5FD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400"/>
            <a:r>
              <a:rPr lang="ja-JP" sz="1400" b="1">
                <a:solidFill>
                  <a:srgbClr val="1E3A8A"/>
                </a:solidFill>
                <a:latin typeface="Aptos"/>
                <a:ea typeface="Yu Gothic"/>
              </a:rPr>
              <a:t>飽和時の注意</a:t>
            </a:r>
          </a:p>
        </p:txBody>
      </p:sp>
      <p:sp>
        <p:nvSpPr>
          <p:cNvPr id="15" name="飽和時の注意 body"/>
          <p:cNvSpPr txBox="1"/>
          <p:nvPr/>
        </p:nvSpPr>
        <p:spPr>
          <a:xfrm>
            <a:off x="8119872" y="2889503"/>
            <a:ext cx="3566160" cy="923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600"/>
            <a:r>
              <a:rPr lang="ja-JP" sz="1600" b="0">
                <a:solidFill>
                  <a:srgbClr val="111827"/>
                </a:solidFill>
                <a:latin typeface="Aptos"/>
                <a:ea typeface="Yu Gothic"/>
              </a:rPr>
              <a:t>Φ ∝ I_f を無条件に延長しない</a:t>
            </a:r>
          </a:p>
          <a:p>
            <a:pPr algn="l"/>
            <a:endParaRPr lang="ja-JP" sz="1600"/>
            <a:r>
              <a:rPr lang="ja-JP" sz="1600" b="0">
                <a:solidFill>
                  <a:srgbClr val="111827"/>
                </a:solidFill>
                <a:latin typeface="Aptos"/>
                <a:ea typeface="Yu Gothic"/>
              </a:rPr>
              <a:t>与えられた磁化特性・磁束比を使う</a:t>
            </a:r>
          </a:p>
        </p:txBody>
      </p:sp>
      <p:sp>
        <p:nvSpPr>
          <p:cNvPr id="16" name="primary"/>
          <p:cNvSpPr txBox="1"/>
          <p:nvPr/>
        </p:nvSpPr>
        <p:spPr>
          <a:xfrm>
            <a:off x="502920" y="4133087"/>
            <a:ext cx="5440680" cy="1325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400"/>
            <a:r>
              <a:rPr lang="ja-JP" sz="1400" b="0">
                <a:solidFill>
                  <a:srgbClr val="111827"/>
                </a:solidFill>
                <a:latin typeface="Aptos"/>
                <a:ea typeface="Yu Gothic"/>
              </a:rPr>
              <a:t>一次：H28 機械 問1（固定範囲）</a:t>
            </a:r>
          </a:p>
          <a:p>
            <a:pPr algn="l"/>
            <a:endParaRPr lang="ja-JP" sz="1400"/>
            <a:r>
              <a:rPr lang="ja-JP" sz="1400" b="0">
                <a:solidFill>
                  <a:srgbClr val="111827"/>
                </a:solidFill>
                <a:latin typeface="Aptos"/>
                <a:ea typeface="Yu Gothic"/>
              </a:rPr>
              <a:t>KI_f i_a → トルク</a:t>
            </a:r>
          </a:p>
          <a:p>
            <a:pPr algn="l"/>
            <a:endParaRPr lang="ja-JP" sz="1400"/>
            <a:r>
              <a:rPr lang="ja-JP" sz="1400" b="0">
                <a:solidFill>
                  <a:srgbClr val="111827"/>
                </a:solidFill>
                <a:latin typeface="Aptos"/>
                <a:ea typeface="Yu Gothic"/>
              </a:rPr>
              <a:t>KI_f ω_m → 誘導起電力</a:t>
            </a:r>
          </a:p>
          <a:p>
            <a:pPr algn="l"/>
            <a:endParaRPr lang="ja-JP" sz="1400"/>
            <a:r>
              <a:rPr lang="ja-JP" sz="1400" b="0">
                <a:solidFill>
                  <a:srgbClr val="111827"/>
                </a:solidFill>
                <a:latin typeface="Aptos"/>
                <a:ea typeface="Yu Gothic"/>
              </a:rPr>
              <a:t>電圧方程式の各項の意味を識別</a:t>
            </a:r>
          </a:p>
        </p:txBody>
      </p:sp>
      <p:sp>
        <p:nvSpPr>
          <p:cNvPr id="17" name="secondary"/>
          <p:cNvSpPr txBox="1"/>
          <p:nvPr/>
        </p:nvSpPr>
        <p:spPr>
          <a:xfrm>
            <a:off x="6199632" y="4133087"/>
            <a:ext cx="5468112" cy="1325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400"/>
            <a:r>
              <a:rPr lang="ja-JP" sz="1400" b="0">
                <a:solidFill>
                  <a:srgbClr val="111827"/>
                </a:solidFill>
                <a:latin typeface="Aptos"/>
                <a:ea typeface="Yu Gothic"/>
              </a:rPr>
              <a:t>二次：H24 機械・制御 問1（固定範囲）</a:t>
            </a:r>
          </a:p>
          <a:p>
            <a:pPr algn="l"/>
            <a:endParaRPr lang="ja-JP" sz="1400"/>
            <a:r>
              <a:rPr lang="ja-JP" sz="1400" b="0">
                <a:solidFill>
                  <a:srgbClr val="111827"/>
                </a:solidFill>
                <a:latin typeface="Aptos"/>
                <a:ea typeface="Yu Gothic"/>
              </a:rPr>
              <a:t>入力・出力 → 損失 → Rₐ → E₁</a:t>
            </a:r>
          </a:p>
          <a:p>
            <a:pPr algn="l"/>
            <a:endParaRPr lang="ja-JP" sz="1400"/>
            <a:r>
              <a:rPr lang="ja-JP" sz="1400" b="0">
                <a:solidFill>
                  <a:srgbClr val="111827"/>
                </a:solidFill>
                <a:latin typeface="Aptos"/>
                <a:ea typeface="Yu Gothic"/>
              </a:rPr>
              <a:t>→ 速度比でE₂／トルク比でIₐ₂</a:t>
            </a:r>
          </a:p>
          <a:p>
            <a:pPr algn="l"/>
            <a:endParaRPr lang="ja-JP" sz="1400"/>
            <a:r>
              <a:rPr lang="ja-JP" sz="1400" b="0">
                <a:solidFill>
                  <a:srgbClr val="111827"/>
                </a:solidFill>
                <a:latin typeface="Aptos"/>
                <a:ea typeface="Yu Gothic"/>
              </a:rPr>
              <a:t>→ 電圧方程式でV₂ → 検算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502920" y="5715000"/>
            <a:ext cx="11155680" cy="56692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100"/>
            <a:r>
              <a:rPr lang="ja-JP" sz="1100" b="0">
                <a:solidFill>
                  <a:srgbClr val="7F1D1D"/>
                </a:solidFill>
                <a:latin typeface="Aptos"/>
                <a:ea typeface="Yu Gothic"/>
              </a:rPr>
              <a:t>範囲外：始動過渡・慣性・チョッパ・回生・電機子反作用・整流作用・速度制御方式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28600"/>
            <a:ext cx="1133856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2600"/>
            <a:r>
              <a:rPr lang="ja-JP" sz="2600" b="1">
                <a:solidFill>
                  <a:srgbClr val="FFFFFF"/>
                </a:solidFill>
                <a:latin typeface="Aptos"/>
                <a:ea typeface="Yu Gothic"/>
              </a:rPr>
              <a:t>指定4グラフ：直流主電動機の定常特性</a:t>
            </a:r>
          </a:p>
        </p:txBody>
      </p:sp>
      <p:sp>
        <p:nvSpPr>
          <p:cNvPr id="3" name="sub"/>
          <p:cNvSpPr txBox="1"/>
          <p:nvPr/>
        </p:nvSpPr>
        <p:spPr>
          <a:xfrm>
            <a:off x="548640" y="758952"/>
            <a:ext cx="1106424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00"/>
            <a:r>
              <a:rPr lang="ja-JP" sz="1200" b="0">
                <a:solidFill>
                  <a:srgbClr val="475569"/>
                </a:solidFill>
                <a:latin typeface="Aptos"/>
                <a:ea typeface="Yu Gothic"/>
              </a:rPr>
              <a:t>模式図。特記しない限り V・Rₐ・Φ 一定。実車の数値特性ではない。</a:t>
            </a:r>
          </a:p>
        </p:txBody>
      </p:sp>
      <p:sp>
        <p:nvSpPr>
          <p:cNvPr id="4" name="① 電機子電流 Iₐ ― トルク T"/>
          <p:cNvSpPr txBox="1"/>
          <p:nvPr/>
        </p:nvSpPr>
        <p:spPr>
          <a:xfrm>
            <a:off x="502920" y="1234440"/>
            <a:ext cx="544068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400"/>
            <a:r>
              <a:rPr lang="ja-JP" sz="1400" b="1">
                <a:solidFill>
                  <a:srgbClr val="1E3A8A"/>
                </a:solidFill>
                <a:latin typeface="Aptos"/>
                <a:ea typeface="Yu Gothic"/>
              </a:rPr>
              <a:t>① 電機子電流 Iₐ ― トルク T</a:t>
            </a:r>
          </a:p>
        </p:txBody>
      </p:sp>
      <p:sp>
        <p:nvSpPr>
          <p:cNvPr id="5" name="② 回転速度 n ― トルク T"/>
          <p:cNvSpPr txBox="1"/>
          <p:nvPr/>
        </p:nvSpPr>
        <p:spPr>
          <a:xfrm>
            <a:off x="6199632" y="1234440"/>
            <a:ext cx="544068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400"/>
            <a:r>
              <a:rPr lang="ja-JP" sz="1400" b="1">
                <a:solidFill>
                  <a:srgbClr val="1E3A8A"/>
                </a:solidFill>
                <a:latin typeface="Aptos"/>
                <a:ea typeface="Yu Gothic"/>
              </a:rPr>
              <a:t>② 回転速度 n ― トルク T</a:t>
            </a:r>
          </a:p>
        </p:txBody>
      </p:sp>
      <p:sp>
        <p:nvSpPr>
          <p:cNvPr id="6" name="③ 回転速度 n ― 出力 P"/>
          <p:cNvSpPr txBox="1"/>
          <p:nvPr/>
        </p:nvSpPr>
        <p:spPr>
          <a:xfrm>
            <a:off x="502920" y="3703320"/>
            <a:ext cx="544068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400"/>
            <a:r>
              <a:rPr lang="ja-JP" sz="1400" b="1">
                <a:solidFill>
                  <a:srgbClr val="1E3A8A"/>
                </a:solidFill>
                <a:latin typeface="Aptos"/>
                <a:ea typeface="Yu Gothic"/>
              </a:rPr>
              <a:t>③ 回転速度 n ― 出力 P</a:t>
            </a:r>
          </a:p>
        </p:txBody>
      </p:sp>
      <p:sp>
        <p:nvSpPr>
          <p:cNvPr id="7" name="④ 負荷変化時の動作点"/>
          <p:cNvSpPr txBox="1"/>
          <p:nvPr/>
        </p:nvSpPr>
        <p:spPr>
          <a:xfrm>
            <a:off x="6199632" y="3703320"/>
            <a:ext cx="544068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73152" rIns="73152" tIns="73152" bIns="73152" anchor="mid"/>
          <a:lstStyle/>
          <a:p>
            <a:pPr algn="l"/>
            <a:endParaRPr lang="ja-JP" sz="1400"/>
            <a:r>
              <a:rPr lang="ja-JP" sz="1400" b="1">
                <a:solidFill>
                  <a:srgbClr val="1E3A8A"/>
                </a:solidFill>
                <a:latin typeface="Aptos"/>
                <a:ea typeface="Yu Gothic"/>
              </a:rPr>
              <a:t>④ 負荷変化時の動作点</a:t>
            </a:r>
          </a:p>
        </p:txBody>
      </p:sp>
      <p:cxnSp>
        <p:nvCxnSpPr>
          <p:cNvPr id="8" name="x"/>
          <p:cNvCxnSpPr/>
          <p:nvPr/>
        </p:nvCxnSpPr>
        <p:spPr>
          <a:xfrm flipH="0" flipV="0">
            <a:off x="1051560" y="3246120"/>
            <a:ext cx="4389120" cy="1"/>
          </a:xfrm>
          <a:prstGeom prst="line">
            <a:avLst/>
          </a:prstGeom>
          <a:ln w="15240">
            <a:solidFill>
              <a:srgbClr val="475569"/>
            </a:solidFill>
            <a:tailEnd type="none"/>
            <a:headEnd type="triangle"/>
          </a:ln>
        </p:spPr>
      </p:cxnSp>
      <p:cxnSp>
        <p:nvCxnSpPr>
          <p:cNvPr id="9" name="y"/>
          <p:cNvCxnSpPr/>
          <p:nvPr/>
        </p:nvCxnSpPr>
        <p:spPr>
          <a:xfrm flipH="0" flipV="1">
            <a:off x="1051560" y="1783080"/>
            <a:ext cx="1" cy="1463039"/>
          </a:xfrm>
          <a:prstGeom prst="line">
            <a:avLst/>
          </a:prstGeom>
          <a:ln w="15240">
            <a:solidFill>
              <a:srgbClr val="475569"/>
            </a:solidFill>
            <a:tailEnd type="none"/>
            <a:headEnd type="triangle"/>
          </a:ln>
        </p:spPr>
      </p:cxnSp>
      <p:cxnSp>
        <p:nvCxnSpPr>
          <p:cNvPr id="10" name="diag"/>
          <p:cNvCxnSpPr/>
          <p:nvPr/>
        </p:nvCxnSpPr>
        <p:spPr>
          <a:xfrm flipH="0" flipV="1">
            <a:off x="1188719" y="1965960"/>
            <a:ext cx="3931920" cy="1234440"/>
          </a:xfrm>
          <a:prstGeom prst="line">
            <a:avLst/>
          </a:prstGeom>
          <a:ln w="25400">
            <a:solidFill>
              <a:srgbClr val="2563EB"/>
            </a:solidFill>
          </a:ln>
        </p:spPr>
      </p:cxnSp>
      <p:sp>
        <p:nvSpPr>
          <p:cNvPr id="11" name="eq"/>
          <p:cNvSpPr txBox="1"/>
          <p:nvPr/>
        </p:nvSpPr>
        <p:spPr>
          <a:xfrm>
            <a:off x="1417320" y="2029968"/>
            <a:ext cx="347472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300"/>
            <a:r>
              <a:rPr lang="ja-JP" sz="1300" b="0">
                <a:solidFill>
                  <a:srgbClr val="111827"/>
                </a:solidFill>
                <a:latin typeface="Aptos"/>
                <a:ea typeface="Yu Gothic"/>
              </a:rPr>
              <a:t>T = kₜΦIₐ  →  原点を通る直線</a:t>
            </a:r>
          </a:p>
        </p:txBody>
      </p:sp>
      <p:sp>
        <p:nvSpPr>
          <p:cNvPr id="12" name="xl"/>
          <p:cNvSpPr txBox="1"/>
          <p:nvPr/>
        </p:nvSpPr>
        <p:spPr>
          <a:xfrm>
            <a:off x="4892040" y="3172968"/>
            <a:ext cx="7315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00"/>
            <a:r>
              <a:rPr lang="ja-JP" sz="1200" b="1">
                <a:solidFill>
                  <a:srgbClr val="1F2937"/>
                </a:solidFill>
                <a:latin typeface="Aptos"/>
                <a:ea typeface="Yu Gothic"/>
              </a:rPr>
              <a:t>Iₐ</a:t>
            </a:r>
          </a:p>
        </p:txBody>
      </p:sp>
      <p:sp>
        <p:nvSpPr>
          <p:cNvPr id="13" name="yl"/>
          <p:cNvSpPr txBox="1"/>
          <p:nvPr/>
        </p:nvSpPr>
        <p:spPr>
          <a:xfrm>
            <a:off x="713232" y="1691640"/>
            <a:ext cx="4572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00"/>
            <a:r>
              <a:rPr lang="ja-JP" sz="1200" b="1">
                <a:solidFill>
                  <a:srgbClr val="1F2937"/>
                </a:solidFill>
                <a:latin typeface="Aptos"/>
                <a:ea typeface="Yu Gothic"/>
              </a:rPr>
              <a:t>T</a:t>
            </a:r>
          </a:p>
        </p:txBody>
      </p:sp>
      <p:cxnSp>
        <p:nvCxnSpPr>
          <p:cNvPr id="14" name="x2"/>
          <p:cNvCxnSpPr/>
          <p:nvPr/>
        </p:nvCxnSpPr>
        <p:spPr>
          <a:xfrm flipH="0" flipV="0">
            <a:off x="6748272" y="3246120"/>
            <a:ext cx="4389120" cy="1"/>
          </a:xfrm>
          <a:prstGeom prst="line">
            <a:avLst/>
          </a:prstGeom>
          <a:ln w="15240">
            <a:solidFill>
              <a:srgbClr val="475569"/>
            </a:solidFill>
            <a:tailEnd type="none"/>
            <a:headEnd type="triangle"/>
          </a:ln>
        </p:spPr>
      </p:cxnSp>
      <p:cxnSp>
        <p:nvCxnSpPr>
          <p:cNvPr id="15" name="y2"/>
          <p:cNvCxnSpPr/>
          <p:nvPr/>
        </p:nvCxnSpPr>
        <p:spPr>
          <a:xfrm flipH="0" flipV="1">
            <a:off x="6748272" y="1783080"/>
            <a:ext cx="1" cy="1463039"/>
          </a:xfrm>
          <a:prstGeom prst="line">
            <a:avLst/>
          </a:prstGeom>
          <a:ln w="15240">
            <a:solidFill>
              <a:srgbClr val="475569"/>
            </a:solidFill>
            <a:tailEnd type="none"/>
            <a:headEnd type="triangle"/>
          </a:ln>
        </p:spPr>
      </p:cxnSp>
      <p:cxnSp>
        <p:nvCxnSpPr>
          <p:cNvPr id="16" name="fall"/>
          <p:cNvCxnSpPr/>
          <p:nvPr/>
        </p:nvCxnSpPr>
        <p:spPr>
          <a:xfrm flipH="0" flipV="0">
            <a:off x="6885432" y="1947672"/>
            <a:ext cx="3977639" cy="1133855"/>
          </a:xfrm>
          <a:prstGeom prst="line">
            <a:avLst/>
          </a:prstGeom>
          <a:ln w="25400">
            <a:solidFill>
              <a:srgbClr val="DC2626"/>
            </a:solidFill>
          </a:ln>
        </p:spPr>
      </p:cxnSp>
      <p:sp>
        <p:nvSpPr>
          <p:cNvPr id="17" name="eq2"/>
          <p:cNvSpPr txBox="1"/>
          <p:nvPr/>
        </p:nvSpPr>
        <p:spPr>
          <a:xfrm>
            <a:off x="7132320" y="2011680"/>
            <a:ext cx="3611880" cy="566928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50"/>
            <a:r>
              <a:rPr lang="ja-JP" sz="1250" b="0">
                <a:solidFill>
                  <a:srgbClr val="111827"/>
                </a:solidFill>
                <a:latin typeface="Aptos"/>
                <a:ea typeface="Yu Gothic"/>
              </a:rPr>
              <a:t>n = 定数 − K·T</a:t>
            </a:r>
          </a:p>
          <a:p>
            <a:pPr algn="l"/>
            <a:endParaRPr lang="ja-JP" sz="1250"/>
            <a:r>
              <a:rPr lang="ja-JP" sz="1250" b="0">
                <a:solidFill>
                  <a:srgbClr val="111827"/>
                </a:solidFill>
                <a:latin typeface="Aptos"/>
                <a:ea typeface="Yu Gothic"/>
              </a:rPr>
              <a:t>負荷T↑ → IₐRₐ↑ → E↓ → n↓</a:t>
            </a:r>
          </a:p>
        </p:txBody>
      </p:sp>
      <p:sp>
        <p:nvSpPr>
          <p:cNvPr id="18" name="xl2"/>
          <p:cNvSpPr txBox="1"/>
          <p:nvPr/>
        </p:nvSpPr>
        <p:spPr>
          <a:xfrm>
            <a:off x="10588752" y="3172968"/>
            <a:ext cx="7315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00"/>
            <a:r>
              <a:rPr lang="ja-JP" sz="1200" b="1">
                <a:solidFill>
                  <a:srgbClr val="1F2937"/>
                </a:solidFill>
                <a:latin typeface="Aptos"/>
                <a:ea typeface="Yu Gothic"/>
              </a:rPr>
              <a:t>T</a:t>
            </a:r>
          </a:p>
        </p:txBody>
      </p:sp>
      <p:sp>
        <p:nvSpPr>
          <p:cNvPr id="19" name="yl2"/>
          <p:cNvSpPr txBox="1"/>
          <p:nvPr/>
        </p:nvSpPr>
        <p:spPr>
          <a:xfrm>
            <a:off x="6419088" y="1691640"/>
            <a:ext cx="4572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00"/>
            <a:r>
              <a:rPr lang="ja-JP" sz="1200" b="1">
                <a:solidFill>
                  <a:srgbClr val="1F2937"/>
                </a:solidFill>
                <a:latin typeface="Aptos"/>
                <a:ea typeface="Yu Gothic"/>
              </a:rPr>
              <a:t>n</a:t>
            </a:r>
          </a:p>
        </p:txBody>
      </p:sp>
      <p:cxnSp>
        <p:nvCxnSpPr>
          <p:cNvPr id="20" name="x3"/>
          <p:cNvCxnSpPr/>
          <p:nvPr/>
        </p:nvCxnSpPr>
        <p:spPr>
          <a:xfrm flipH="0" flipV="0">
            <a:off x="1051560" y="6126480"/>
            <a:ext cx="4389120" cy="1"/>
          </a:xfrm>
          <a:prstGeom prst="line">
            <a:avLst/>
          </a:prstGeom>
          <a:ln w="15240">
            <a:solidFill>
              <a:srgbClr val="475569"/>
            </a:solidFill>
            <a:tailEnd type="none"/>
            <a:headEnd type="triangle"/>
          </a:ln>
        </p:spPr>
      </p:cxnSp>
      <p:cxnSp>
        <p:nvCxnSpPr>
          <p:cNvPr id="21" name="y3"/>
          <p:cNvCxnSpPr/>
          <p:nvPr/>
        </p:nvCxnSpPr>
        <p:spPr>
          <a:xfrm flipH="0" flipV="1">
            <a:off x="1051560" y="4251960"/>
            <a:ext cx="1" cy="1874519"/>
          </a:xfrm>
          <a:prstGeom prst="line">
            <a:avLst/>
          </a:prstGeom>
          <a:ln w="15240">
            <a:solidFill>
              <a:srgbClr val="475569"/>
            </a:solidFill>
            <a:tailEnd type="none"/>
            <a:headEnd type="triangle"/>
          </a:ln>
        </p:spPr>
      </p:cxnSp>
      <p:cxnSp>
        <p:nvCxnSpPr>
          <p:cNvPr id="22" name="c"/>
          <p:cNvCxnSpPr/>
          <p:nvPr/>
        </p:nvCxnSpPr>
        <p:spPr>
          <a:xfrm flipH="0" flipV="1">
            <a:off x="1234439" y="5520784"/>
            <a:ext cx="357447" cy="468535"/>
          </a:xfrm>
          <a:prstGeom prst="line">
            <a:avLst/>
          </a:prstGeom>
          <a:ln w="25400">
            <a:solidFill>
              <a:srgbClr val="059669"/>
            </a:solidFill>
          </a:ln>
        </p:spPr>
      </p:cxnSp>
      <p:cxnSp>
        <p:nvCxnSpPr>
          <p:cNvPr id="23" name="c"/>
          <p:cNvCxnSpPr/>
          <p:nvPr/>
        </p:nvCxnSpPr>
        <p:spPr>
          <a:xfrm flipH="0" flipV="1">
            <a:off x="1591887" y="5145956"/>
            <a:ext cx="357447" cy="374828"/>
          </a:xfrm>
          <a:prstGeom prst="line">
            <a:avLst/>
          </a:prstGeom>
          <a:ln w="25400">
            <a:solidFill>
              <a:srgbClr val="059669"/>
            </a:solidFill>
          </a:ln>
        </p:spPr>
      </p:cxnSp>
      <p:cxnSp>
        <p:nvCxnSpPr>
          <p:cNvPr id="24" name="c"/>
          <p:cNvCxnSpPr/>
          <p:nvPr/>
        </p:nvCxnSpPr>
        <p:spPr>
          <a:xfrm flipH="0" flipV="1">
            <a:off x="1949334" y="4864834"/>
            <a:ext cx="357447" cy="281121"/>
          </a:xfrm>
          <a:prstGeom prst="line">
            <a:avLst/>
          </a:prstGeom>
          <a:ln w="25400">
            <a:solidFill>
              <a:srgbClr val="059669"/>
            </a:solidFill>
          </a:ln>
        </p:spPr>
      </p:cxnSp>
      <p:cxnSp>
        <p:nvCxnSpPr>
          <p:cNvPr id="25" name="c"/>
          <p:cNvCxnSpPr/>
          <p:nvPr/>
        </p:nvCxnSpPr>
        <p:spPr>
          <a:xfrm flipH="0" flipV="1">
            <a:off x="2306781" y="4677420"/>
            <a:ext cx="357447" cy="187414"/>
          </a:xfrm>
          <a:prstGeom prst="line">
            <a:avLst/>
          </a:prstGeom>
          <a:ln w="25400">
            <a:solidFill>
              <a:srgbClr val="059669"/>
            </a:solidFill>
          </a:ln>
        </p:spPr>
      </p:cxnSp>
      <p:cxnSp>
        <p:nvCxnSpPr>
          <p:cNvPr id="26" name="c"/>
          <p:cNvCxnSpPr/>
          <p:nvPr/>
        </p:nvCxnSpPr>
        <p:spPr>
          <a:xfrm flipH="0" flipV="1">
            <a:off x="2664229" y="4583713"/>
            <a:ext cx="357447" cy="93707"/>
          </a:xfrm>
          <a:prstGeom prst="line">
            <a:avLst/>
          </a:prstGeom>
          <a:ln w="25400">
            <a:solidFill>
              <a:srgbClr val="059669"/>
            </a:solidFill>
          </a:ln>
        </p:spPr>
      </p:cxnSp>
      <p:cxnSp>
        <p:nvCxnSpPr>
          <p:cNvPr id="27" name="c"/>
          <p:cNvCxnSpPr/>
          <p:nvPr/>
        </p:nvCxnSpPr>
        <p:spPr>
          <a:xfrm flipH="0" flipV="0">
            <a:off x="3021676" y="4583713"/>
            <a:ext cx="357447" cy="1"/>
          </a:xfrm>
          <a:prstGeom prst="line">
            <a:avLst/>
          </a:prstGeom>
          <a:ln w="25400">
            <a:solidFill>
              <a:srgbClr val="059669"/>
            </a:solidFill>
          </a:ln>
        </p:spPr>
      </p:cxnSp>
      <p:cxnSp>
        <p:nvCxnSpPr>
          <p:cNvPr id="28" name="c"/>
          <p:cNvCxnSpPr/>
          <p:nvPr/>
        </p:nvCxnSpPr>
        <p:spPr>
          <a:xfrm flipH="0" flipV="0">
            <a:off x="3379123" y="4583713"/>
            <a:ext cx="357447" cy="93707"/>
          </a:xfrm>
          <a:prstGeom prst="line">
            <a:avLst/>
          </a:prstGeom>
          <a:ln w="25400">
            <a:solidFill>
              <a:srgbClr val="059669"/>
            </a:solidFill>
          </a:ln>
        </p:spPr>
      </p:cxnSp>
      <p:cxnSp>
        <p:nvCxnSpPr>
          <p:cNvPr id="29" name="c"/>
          <p:cNvCxnSpPr/>
          <p:nvPr/>
        </p:nvCxnSpPr>
        <p:spPr>
          <a:xfrm flipH="0" flipV="0">
            <a:off x="3736570" y="4677420"/>
            <a:ext cx="357447" cy="187414"/>
          </a:xfrm>
          <a:prstGeom prst="line">
            <a:avLst/>
          </a:prstGeom>
          <a:ln w="25400">
            <a:solidFill>
              <a:srgbClr val="059669"/>
            </a:solidFill>
          </a:ln>
        </p:spPr>
      </p:cxnSp>
      <p:cxnSp>
        <p:nvCxnSpPr>
          <p:cNvPr id="30" name="c"/>
          <p:cNvCxnSpPr/>
          <p:nvPr/>
        </p:nvCxnSpPr>
        <p:spPr>
          <a:xfrm flipH="0" flipV="0">
            <a:off x="4094018" y="4864834"/>
            <a:ext cx="357447" cy="281121"/>
          </a:xfrm>
          <a:prstGeom prst="line">
            <a:avLst/>
          </a:prstGeom>
          <a:ln w="25400">
            <a:solidFill>
              <a:srgbClr val="059669"/>
            </a:solidFill>
          </a:ln>
        </p:spPr>
      </p:cxnSp>
      <p:cxnSp>
        <p:nvCxnSpPr>
          <p:cNvPr id="31" name="c"/>
          <p:cNvCxnSpPr/>
          <p:nvPr/>
        </p:nvCxnSpPr>
        <p:spPr>
          <a:xfrm flipH="0" flipV="0">
            <a:off x="4451465" y="5145956"/>
            <a:ext cx="357447" cy="374828"/>
          </a:xfrm>
          <a:prstGeom prst="line">
            <a:avLst/>
          </a:prstGeom>
          <a:ln w="25400">
            <a:solidFill>
              <a:srgbClr val="059669"/>
            </a:solidFill>
          </a:ln>
        </p:spPr>
      </p:cxnSp>
      <p:cxnSp>
        <p:nvCxnSpPr>
          <p:cNvPr id="32" name="c"/>
          <p:cNvCxnSpPr/>
          <p:nvPr/>
        </p:nvCxnSpPr>
        <p:spPr>
          <a:xfrm flipH="0" flipV="0">
            <a:off x="4808912" y="5520784"/>
            <a:ext cx="357447" cy="468535"/>
          </a:xfrm>
          <a:prstGeom prst="line">
            <a:avLst/>
          </a:prstGeom>
          <a:ln w="25400">
            <a:solidFill>
              <a:srgbClr val="059669"/>
            </a:solidFill>
          </a:ln>
        </p:spPr>
      </p:cxnSp>
      <p:sp>
        <p:nvSpPr>
          <p:cNvPr id="33" name="eq3"/>
          <p:cNvSpPr txBox="1"/>
          <p:nvPr/>
        </p:nvSpPr>
        <p:spPr>
          <a:xfrm>
            <a:off x="1572768" y="4462272"/>
            <a:ext cx="338328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50"/>
            <a:r>
              <a:rPr lang="ja-JP" sz="1250" b="0">
                <a:solidFill>
                  <a:srgbClr val="111827"/>
                </a:solidFill>
                <a:latin typeface="Aptos"/>
                <a:ea typeface="Yu Gothic"/>
              </a:rPr>
              <a:t>Pₑₘ = E Iₐ</a:t>
            </a:r>
          </a:p>
          <a:p>
            <a:pPr algn="l"/>
            <a:endParaRPr lang="ja-JP" sz="1250"/>
            <a:r>
              <a:rPr lang="ja-JP" sz="1250" b="0">
                <a:solidFill>
                  <a:srgbClr val="111827"/>
                </a:solidFill>
                <a:latin typeface="Aptos"/>
                <a:ea typeface="Yu Gothic"/>
              </a:rPr>
              <a:t>→ 速度に対して下向きに開く形</a:t>
            </a:r>
          </a:p>
        </p:txBody>
      </p:sp>
      <p:sp>
        <p:nvSpPr>
          <p:cNvPr id="34" name="xl3"/>
          <p:cNvSpPr txBox="1"/>
          <p:nvPr/>
        </p:nvSpPr>
        <p:spPr>
          <a:xfrm>
            <a:off x="4892040" y="6053328"/>
            <a:ext cx="7315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00"/>
            <a:r>
              <a:rPr lang="ja-JP" sz="1200" b="1">
                <a:solidFill>
                  <a:srgbClr val="1F2937"/>
                </a:solidFill>
                <a:latin typeface="Aptos"/>
                <a:ea typeface="Yu Gothic"/>
              </a:rPr>
              <a:t>n</a:t>
            </a:r>
          </a:p>
        </p:txBody>
      </p:sp>
      <p:sp>
        <p:nvSpPr>
          <p:cNvPr id="35" name="yl3"/>
          <p:cNvSpPr txBox="1"/>
          <p:nvPr/>
        </p:nvSpPr>
        <p:spPr>
          <a:xfrm>
            <a:off x="704088" y="4160520"/>
            <a:ext cx="4572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00"/>
            <a:r>
              <a:rPr lang="ja-JP" sz="1200" b="1">
                <a:solidFill>
                  <a:srgbClr val="1F2937"/>
                </a:solidFill>
                <a:latin typeface="Aptos"/>
                <a:ea typeface="Yu Gothic"/>
              </a:rPr>
              <a:t>P</a:t>
            </a:r>
          </a:p>
        </p:txBody>
      </p:sp>
      <p:cxnSp>
        <p:nvCxnSpPr>
          <p:cNvPr id="36" name="x4"/>
          <p:cNvCxnSpPr/>
          <p:nvPr/>
        </p:nvCxnSpPr>
        <p:spPr>
          <a:xfrm flipH="0" flipV="0">
            <a:off x="6748272" y="6126480"/>
            <a:ext cx="4389120" cy="1"/>
          </a:xfrm>
          <a:prstGeom prst="line">
            <a:avLst/>
          </a:prstGeom>
          <a:ln w="15240">
            <a:solidFill>
              <a:srgbClr val="475569"/>
            </a:solidFill>
            <a:tailEnd type="none"/>
            <a:headEnd type="triangle"/>
          </a:ln>
        </p:spPr>
      </p:cxnSp>
      <p:cxnSp>
        <p:nvCxnSpPr>
          <p:cNvPr id="37" name="y4"/>
          <p:cNvCxnSpPr/>
          <p:nvPr/>
        </p:nvCxnSpPr>
        <p:spPr>
          <a:xfrm flipH="0" flipV="1">
            <a:off x="6748272" y="4251960"/>
            <a:ext cx="1" cy="1874519"/>
          </a:xfrm>
          <a:prstGeom prst="line">
            <a:avLst/>
          </a:prstGeom>
          <a:ln w="15240">
            <a:solidFill>
              <a:srgbClr val="475569"/>
            </a:solidFill>
            <a:tailEnd type="none"/>
            <a:headEnd type="triangle"/>
          </a:ln>
        </p:spPr>
      </p:cxnSp>
      <p:cxnSp>
        <p:nvCxnSpPr>
          <p:cNvPr id="38" name="fall4"/>
          <p:cNvCxnSpPr/>
          <p:nvPr/>
        </p:nvCxnSpPr>
        <p:spPr>
          <a:xfrm flipH="0" flipV="0">
            <a:off x="6931152" y="4416552"/>
            <a:ext cx="3913631" cy="1527048"/>
          </a:xfrm>
          <a:prstGeom prst="line">
            <a:avLst/>
          </a:prstGeom>
          <a:ln w="25400">
            <a:solidFill>
              <a:srgbClr val="7C3AED"/>
            </a:solidFill>
          </a:ln>
        </p:spPr>
      </p:cxnSp>
      <p:sp>
        <p:nvSpPr>
          <p:cNvPr id="39" name="A"/>
          <p:cNvSpPr/>
          <p:nvPr/>
        </p:nvSpPr>
        <p:spPr>
          <a:xfrm>
            <a:off x="8394192" y="4946904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0" name="B"/>
          <p:cNvSpPr/>
          <p:nvPr/>
        </p:nvSpPr>
        <p:spPr>
          <a:xfrm>
            <a:off x="9765792" y="548640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1" name="Al"/>
          <p:cNvSpPr txBox="1"/>
          <p:nvPr/>
        </p:nvSpPr>
        <p:spPr>
          <a:xfrm>
            <a:off x="8183879" y="4617720"/>
            <a:ext cx="64008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00"/>
            <a:r>
              <a:rPr lang="ja-JP" sz="1200" b="1">
                <a:solidFill>
                  <a:srgbClr val="2563EB"/>
                </a:solidFill>
                <a:latin typeface="Aptos"/>
                <a:ea typeface="Yu Gothic"/>
              </a:rPr>
              <a:t>A</a:t>
            </a:r>
          </a:p>
        </p:txBody>
      </p:sp>
      <p:sp>
        <p:nvSpPr>
          <p:cNvPr id="42" name="Bl"/>
          <p:cNvSpPr txBox="1"/>
          <p:nvPr/>
        </p:nvSpPr>
        <p:spPr>
          <a:xfrm>
            <a:off x="9555480" y="5623560"/>
            <a:ext cx="64008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00"/>
            <a:r>
              <a:rPr lang="ja-JP" sz="1200" b="1">
                <a:solidFill>
                  <a:srgbClr val="DC2626"/>
                </a:solidFill>
                <a:latin typeface="Aptos"/>
                <a:ea typeface="Yu Gothic"/>
              </a:rPr>
              <a:t>B</a:t>
            </a:r>
          </a:p>
        </p:txBody>
      </p:sp>
      <p:sp>
        <p:nvSpPr>
          <p:cNvPr id="43" name="moveLabel"/>
          <p:cNvSpPr txBox="1"/>
          <p:nvPr/>
        </p:nvSpPr>
        <p:spPr>
          <a:xfrm>
            <a:off x="8823960" y="5029200"/>
            <a:ext cx="100584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150"/>
            <a:r>
              <a:rPr lang="ja-JP" sz="1150" b="1">
                <a:solidFill>
                  <a:srgbClr val="DC2626"/>
                </a:solidFill>
                <a:latin typeface="Aptos"/>
                <a:ea typeface="Yu Gothic"/>
              </a:rPr>
              <a:t>A → B</a:t>
            </a:r>
          </a:p>
        </p:txBody>
      </p:sp>
      <p:sp>
        <p:nvSpPr>
          <p:cNvPr id="44" name="chain"/>
          <p:cNvSpPr txBox="1"/>
          <p:nvPr/>
        </p:nvSpPr>
        <p:spPr>
          <a:xfrm>
            <a:off x="7315200" y="4370832"/>
            <a:ext cx="347472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50"/>
            <a:r>
              <a:rPr lang="ja-JP" sz="1250" b="0">
                <a:solidFill>
                  <a:srgbClr val="111827"/>
                </a:solidFill>
                <a:latin typeface="Aptos"/>
                <a:ea typeface="Yu Gothic"/>
              </a:rPr>
              <a:t>負荷T ↑ → Iₐ ↑ → IₐRₐ ↑</a:t>
            </a:r>
          </a:p>
          <a:p>
            <a:pPr algn="l"/>
            <a:endParaRPr lang="ja-JP" sz="1250"/>
            <a:r>
              <a:rPr lang="ja-JP" sz="1250" b="0">
                <a:solidFill>
                  <a:srgbClr val="111827"/>
                </a:solidFill>
                <a:latin typeface="Aptos"/>
                <a:ea typeface="Yu Gothic"/>
              </a:rPr>
              <a:t>→ E ↓ → n ↓</a:t>
            </a:r>
          </a:p>
        </p:txBody>
      </p:sp>
      <p:sp>
        <p:nvSpPr>
          <p:cNvPr id="45" name="xl4"/>
          <p:cNvSpPr txBox="1"/>
          <p:nvPr/>
        </p:nvSpPr>
        <p:spPr>
          <a:xfrm>
            <a:off x="10588752" y="6053328"/>
            <a:ext cx="7315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00"/>
            <a:r>
              <a:rPr lang="ja-JP" sz="1200" b="1">
                <a:solidFill>
                  <a:srgbClr val="1F2937"/>
                </a:solidFill>
                <a:latin typeface="Aptos"/>
                <a:ea typeface="Yu Gothic"/>
              </a:rPr>
              <a:t>T</a:t>
            </a:r>
          </a:p>
        </p:txBody>
      </p:sp>
      <p:sp>
        <p:nvSpPr>
          <p:cNvPr id="46" name="yl4"/>
          <p:cNvSpPr txBox="1"/>
          <p:nvPr/>
        </p:nvSpPr>
        <p:spPr>
          <a:xfrm>
            <a:off x="6419088" y="4160520"/>
            <a:ext cx="4572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73152" rIns="73152" tIns="73152" bIns="73152" anchor="mid"/>
          <a:lstStyle/>
          <a:p>
            <a:pPr algn="l"/>
            <a:endParaRPr lang="ja-JP" sz="1200"/>
            <a:r>
              <a:rPr lang="ja-JP" sz="1200" b="1">
                <a:solidFill>
                  <a:srgbClr val="1F2937"/>
                </a:solidFill>
                <a:latin typeface="Aptos"/>
                <a:ea typeface="Yu Gothic"/>
              </a:rPr>
              <a:t>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Yu Gothic"/>
        <a:cs typeface=""/>
      </a:majorFont>
      <a:minorFont>
        <a:latin typeface="Aptos"/>
        <a:ea typeface="Yu Gothic"/>
        <a:cs typeface="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0系③ 直流主電動機</dc:title>
  <dc:creator>OpenAI</dc:creator>
</cp:coreProperties>
</file>