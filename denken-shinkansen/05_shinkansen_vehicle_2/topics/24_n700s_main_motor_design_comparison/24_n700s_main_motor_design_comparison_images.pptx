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65105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電験二種 × 新幹線車両｜Topic 24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680960" y="6510528"/>
            <a:ext cx="4069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N700S 主電動機設計の比較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256032"/>
            <a:ext cx="4114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88896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256032"/>
            <a:ext cx="4114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88896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極数・周波数から「速度設計」を一気通貫で解く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6868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固定品質ゲート：第二種 一次3問＋二次2問＝5問・17答案要素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AF3FA"/>
          </a:solidFill>
          <a:ln w="13970">
            <a:solidFill>
              <a:srgbClr val="1769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933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極数 P / 周波数 f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35915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nₛ = 120f / 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2331720"/>
            <a:ext cx="246888" cy="0"/>
          </a:xfrm>
          <a:prstGeom prst="line">
            <a:avLst/>
          </a:prstGeom>
          <a:noFill/>
          <a:ln w="25400">
            <a:solidFill>
              <a:srgbClr val="1769A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880360" y="1828800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3970">
            <a:solidFill>
              <a:srgbClr val="C9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90088" y="19933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同期速度 nₛ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90088" y="235915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回転磁界の速度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2331720"/>
            <a:ext cx="246888" cy="0"/>
          </a:xfrm>
          <a:prstGeom prst="line">
            <a:avLst/>
          </a:prstGeom>
          <a:noFill/>
          <a:ln w="25400">
            <a:solidFill>
              <a:srgbClr val="1769A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029200" y="1828800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3970">
            <a:solidFill>
              <a:srgbClr val="C9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38928" y="19933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すべり 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38928" y="235915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n=(1−s)nₛ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0" y="2331720"/>
            <a:ext cx="246888" cy="0"/>
          </a:xfrm>
          <a:prstGeom prst="line">
            <a:avLst/>
          </a:prstGeom>
          <a:noFill/>
          <a:ln w="25400">
            <a:solidFill>
              <a:srgbClr val="1769A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178040" y="1828800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3970">
            <a:solidFill>
              <a:srgbClr val="C9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87768" y="19933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実回転速度 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287768" y="235915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ω=2πn/60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006840" y="2331720"/>
            <a:ext cx="246888" cy="0"/>
          </a:xfrm>
          <a:prstGeom prst="line">
            <a:avLst/>
          </a:prstGeom>
          <a:noFill/>
          <a:ln w="25400">
            <a:solidFill>
              <a:srgbClr val="1769A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326880" y="1828800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3970">
            <a:solidFill>
              <a:srgbClr val="C9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36608" y="19933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トルク・出力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436608" y="235915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Pₘ=ωT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13232" y="3337560"/>
            <a:ext cx="365760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3232" y="3337560"/>
            <a:ext cx="73152" cy="1783080"/>
          </a:xfrm>
          <a:prstGeom prst="rect">
            <a:avLst/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3483864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N700Sで確認済みの事実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3840480"/>
            <a:ext cx="3310128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・主電動機は6極化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・SiC主変換装置＋6極化＋主変圧器冷却方式見直しを合わせ、駆動システム全体で約20%軽量化</a:t>
            </a:r>
            <a:endParaRPr lang="en-US" sz="1120" dirty="0"/>
          </a:p>
        </p:txBody>
      </p:sp>
      <p:sp>
        <p:nvSpPr>
          <p:cNvPr id="27" name="Shape 25"/>
          <p:cNvSpPr/>
          <p:nvPr/>
        </p:nvSpPr>
        <p:spPr>
          <a:xfrm>
            <a:off x="4526280" y="3337560"/>
            <a:ext cx="324612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26280" y="3337560"/>
            <a:ext cx="73152" cy="1783080"/>
          </a:xfrm>
          <a:prstGeom prst="rect">
            <a:avLst/>
          </a:prstGeom>
          <a:solidFill>
            <a:srgbClr val="B33A3A"/>
          </a:solidFill>
          <a:ln w="12700">
            <a:solidFill>
              <a:srgbClr val="B33A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7448" y="348386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実車値として置かないもの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727448" y="3840480"/>
            <a:ext cx="2898648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実運転周波数・実回転速度・実トルク・寸法・質量は一次資料未確認。教材用条件と実車値を分離する。</a:t>
            </a:r>
            <a:endParaRPr lang="en-US" sz="1120" dirty="0"/>
          </a:p>
        </p:txBody>
      </p:sp>
      <p:sp>
        <p:nvSpPr>
          <p:cNvPr id="31" name="Shape 29"/>
          <p:cNvSpPr/>
          <p:nvPr/>
        </p:nvSpPr>
        <p:spPr>
          <a:xfrm>
            <a:off x="7927848" y="3337560"/>
            <a:ext cx="3547872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27848" y="3337560"/>
            <a:ext cx="73152" cy="1783080"/>
          </a:xfrm>
          <a:prstGeom prst="rect">
            <a:avLst/>
          </a:prstGeom>
          <a:solidFill>
            <a:srgbClr val="D77B27"/>
          </a:solidFill>
          <a:ln w="12700">
            <a:solidFill>
              <a:srgbClr val="D77B2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129016" y="3483864"/>
            <a:ext cx="3227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試験での焦点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129016" y="3840480"/>
            <a:ext cx="320040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 と p=P/2、nₛ と n、%すべり、小型軽量化の帰属、kW→W、min⁻¹→rad/s を取り違えない。</a:t>
            </a:r>
            <a:endParaRPr lang="en-US" sz="1120" dirty="0"/>
          </a:p>
        </p:txBody>
      </p:sp>
      <p:sp>
        <p:nvSpPr>
          <p:cNvPr id="35" name="Shape 33"/>
          <p:cNvSpPr/>
          <p:nvPr/>
        </p:nvSpPr>
        <p:spPr>
          <a:xfrm>
            <a:off x="713232" y="5486400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" y="5550408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SPEC必須 8項目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907792" y="5532120"/>
            <a:ext cx="8549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極数 / 同期速度 / すべり / 周波数 / 回転速度 / トルク / 電気角 / 小型軽量化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256032"/>
            <a:ext cx="4114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88896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可視化A｜極数・周波数と同期速度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6868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nₛ = 120f/P。周波数一定なら極数を増やすほど同期速度は低下する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868680" y="5257800"/>
            <a:ext cx="6720840" cy="0"/>
          </a:xfrm>
          <a:prstGeom prst="line">
            <a:avLst/>
          </a:prstGeom>
          <a:noFill/>
          <a:ln w="15240">
            <a:solidFill>
              <a:srgbClr val="17212B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868680" y="5257800"/>
            <a:ext cx="0" cy="-3794760"/>
          </a:xfrm>
          <a:prstGeom prst="line">
            <a:avLst/>
          </a:prstGeom>
          <a:noFill/>
          <a:ln w="15240">
            <a:solidFill>
              <a:srgbClr val="17212B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68680" y="5257800"/>
            <a:ext cx="6720840" cy="0"/>
          </a:xfrm>
          <a:prstGeom prst="line">
            <a:avLst/>
          </a:prstGeom>
          <a:noFill/>
          <a:ln w="8890">
            <a:solidFill>
              <a:srgbClr val="DDE5ED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411480" y="51663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68680" y="4309110"/>
            <a:ext cx="6720840" cy="0"/>
          </a:xfrm>
          <a:prstGeom prst="line">
            <a:avLst/>
          </a:prstGeom>
          <a:noFill/>
          <a:ln w="8890">
            <a:solidFill>
              <a:srgbClr val="DDE5ED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411480" y="421767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68680" y="3360420"/>
            <a:ext cx="6720840" cy="0"/>
          </a:xfrm>
          <a:prstGeom prst="line">
            <a:avLst/>
          </a:prstGeom>
          <a:noFill/>
          <a:ln w="8890">
            <a:solidFill>
              <a:srgbClr val="DDE5E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411480" y="326898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1200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" y="2411730"/>
            <a:ext cx="6720840" cy="0"/>
          </a:xfrm>
          <a:prstGeom prst="line">
            <a:avLst/>
          </a:prstGeom>
          <a:noFill/>
          <a:ln w="8890">
            <a:solidFill>
              <a:srgbClr val="DDE5ED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411480" y="232029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68680" y="1463040"/>
            <a:ext cx="6720840" cy="0"/>
          </a:xfrm>
          <a:prstGeom prst="line">
            <a:avLst/>
          </a:prstGeom>
          <a:noFill/>
          <a:ln w="8890">
            <a:solidFill>
              <a:srgbClr val="DDE5ED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411480" y="137160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2400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68680" y="5257800"/>
            <a:ext cx="0" cy="-3794760"/>
          </a:xfrm>
          <a:prstGeom prst="line">
            <a:avLst/>
          </a:prstGeom>
          <a:noFill/>
          <a:ln w="7620">
            <a:solidFill>
              <a:srgbClr val="EDF1F5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685800" y="5330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108960" y="5257800"/>
            <a:ext cx="0" cy="-3794760"/>
          </a:xfrm>
          <a:prstGeom prst="line">
            <a:avLst/>
          </a:prstGeom>
          <a:noFill/>
          <a:ln w="7620">
            <a:solidFill>
              <a:srgbClr val="EDF1F5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2926080" y="5330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40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49240" y="5257800"/>
            <a:ext cx="0" cy="-3794760"/>
          </a:xfrm>
          <a:prstGeom prst="line">
            <a:avLst/>
          </a:prstGeom>
          <a:noFill/>
          <a:ln w="7620">
            <a:solidFill>
              <a:srgbClr val="EDF1F5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5166360" y="5330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589520" y="5257800"/>
            <a:ext cx="0" cy="-3794760"/>
          </a:xfrm>
          <a:prstGeom prst="line">
            <a:avLst/>
          </a:prstGeom>
          <a:noFill/>
          <a:ln w="7620">
            <a:solidFill>
              <a:srgbClr val="EDF1F5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7406640" y="5330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80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0" y="55778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 [Hz]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01168" y="1298448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nₛ [min⁻¹]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18388" y="4258818"/>
            <a:ext cx="100584" cy="100584"/>
          </a:xfrm>
          <a:prstGeom prst="ellipse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8680" y="4309110"/>
            <a:ext cx="2240280" cy="-948690"/>
          </a:xfrm>
          <a:prstGeom prst="line">
            <a:avLst/>
          </a:prstGeom>
          <a:noFill/>
          <a:ln w="30480">
            <a:solidFill>
              <a:srgbClr val="1769AA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3058668" y="3310128"/>
            <a:ext cx="100584" cy="100584"/>
          </a:xfrm>
          <a:prstGeom prst="ellipse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108960" y="3360420"/>
            <a:ext cx="2240280" cy="-948690"/>
          </a:xfrm>
          <a:prstGeom prst="line">
            <a:avLst/>
          </a:prstGeom>
          <a:noFill/>
          <a:ln w="30480">
            <a:solidFill>
              <a:srgbClr val="1769AA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5298948" y="2361438"/>
            <a:ext cx="100584" cy="100584"/>
          </a:xfrm>
          <a:prstGeom prst="ellipse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49240" y="2411730"/>
            <a:ext cx="2240280" cy="-948690"/>
          </a:xfrm>
          <a:prstGeom prst="line">
            <a:avLst/>
          </a:prstGeom>
          <a:noFill/>
          <a:ln w="30480">
            <a:solidFill>
              <a:srgbClr val="1769AA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7539228" y="1412748"/>
            <a:ext cx="100584" cy="100584"/>
          </a:xfrm>
          <a:prstGeom prst="ellipse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80760" y="1325880"/>
            <a:ext cx="777240" cy="347472"/>
          </a:xfrm>
          <a:prstGeom prst="roundRect">
            <a:avLst>
              <a:gd name="adj" fmla="val 1578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35624" y="1389888"/>
            <a:ext cx="667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69AA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4極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18388" y="4575048"/>
            <a:ext cx="100584" cy="100584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8680" y="4625340"/>
            <a:ext cx="2240280" cy="-632460"/>
          </a:xfrm>
          <a:prstGeom prst="line">
            <a:avLst/>
          </a:prstGeom>
          <a:noFill/>
          <a:ln w="30480">
            <a:solidFill>
              <a:srgbClr val="1B8A8F"/>
            </a:solidFill>
            <a:prstDash val="solid"/>
            <a:headEnd type="none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3058668" y="3942588"/>
            <a:ext cx="100584" cy="100584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08960" y="3992880"/>
            <a:ext cx="2240280" cy="-632460"/>
          </a:xfrm>
          <a:prstGeom prst="line">
            <a:avLst/>
          </a:prstGeom>
          <a:noFill/>
          <a:ln w="30480">
            <a:solidFill>
              <a:srgbClr val="1B8A8F"/>
            </a:solidFill>
            <a:prstDash val="solid"/>
            <a:headEnd type="none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5298948" y="3310128"/>
            <a:ext cx="100584" cy="100584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49240" y="3360420"/>
            <a:ext cx="2240280" cy="-632460"/>
          </a:xfrm>
          <a:prstGeom prst="line">
            <a:avLst/>
          </a:prstGeom>
          <a:noFill/>
          <a:ln w="30480">
            <a:solidFill>
              <a:srgbClr val="1B8A8F"/>
            </a:solidFill>
            <a:prstDash val="solid"/>
            <a:headEnd type="none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7539228" y="2677668"/>
            <a:ext cx="100584" cy="100584"/>
          </a:xfrm>
          <a:prstGeom prst="ellipse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80760" y="1737360"/>
            <a:ext cx="777240" cy="347472"/>
          </a:xfrm>
          <a:prstGeom prst="roundRect">
            <a:avLst>
              <a:gd name="adj" fmla="val 1578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35624" y="1801368"/>
            <a:ext cx="667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8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6極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18388" y="4733163"/>
            <a:ext cx="100584" cy="100584"/>
          </a:xfrm>
          <a:prstGeom prst="ellipse">
            <a:avLst/>
          </a:prstGeom>
          <a:solidFill>
            <a:srgbClr val="D77B27"/>
          </a:solidFill>
          <a:ln w="12700">
            <a:solidFill>
              <a:srgbClr val="D77B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68680" y="4783455"/>
            <a:ext cx="2240280" cy="-474345"/>
          </a:xfrm>
          <a:prstGeom prst="line">
            <a:avLst/>
          </a:prstGeom>
          <a:noFill/>
          <a:ln w="30480">
            <a:solidFill>
              <a:srgbClr val="D77B27"/>
            </a:solidFill>
            <a:prstDash val="solid"/>
            <a:headEnd type="none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3058668" y="4258818"/>
            <a:ext cx="100584" cy="100584"/>
          </a:xfrm>
          <a:prstGeom prst="ellipse">
            <a:avLst/>
          </a:prstGeom>
          <a:solidFill>
            <a:srgbClr val="D77B27"/>
          </a:solidFill>
          <a:ln w="12700">
            <a:solidFill>
              <a:srgbClr val="D77B2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08960" y="4309110"/>
            <a:ext cx="2240280" cy="-474345"/>
          </a:xfrm>
          <a:prstGeom prst="line">
            <a:avLst/>
          </a:prstGeom>
          <a:noFill/>
          <a:ln w="30480">
            <a:solidFill>
              <a:srgbClr val="D77B27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5298948" y="3784473"/>
            <a:ext cx="100584" cy="100584"/>
          </a:xfrm>
          <a:prstGeom prst="ellipse">
            <a:avLst/>
          </a:prstGeom>
          <a:solidFill>
            <a:srgbClr val="D77B27"/>
          </a:solidFill>
          <a:ln w="12700">
            <a:solidFill>
              <a:srgbClr val="D77B2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49240" y="3834765"/>
            <a:ext cx="2240280" cy="-474345"/>
          </a:xfrm>
          <a:prstGeom prst="line">
            <a:avLst/>
          </a:prstGeom>
          <a:noFill/>
          <a:ln w="30480">
            <a:solidFill>
              <a:srgbClr val="D77B27"/>
            </a:solidFill>
            <a:prstDash val="solid"/>
            <a:headEnd type="none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7539228" y="3310128"/>
            <a:ext cx="100584" cy="100584"/>
          </a:xfrm>
          <a:prstGeom prst="ellipse">
            <a:avLst/>
          </a:prstGeom>
          <a:solidFill>
            <a:srgbClr val="D77B27"/>
          </a:solidFill>
          <a:ln w="12700">
            <a:solidFill>
              <a:srgbClr val="D77B2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080760" y="2148840"/>
            <a:ext cx="777240" cy="347472"/>
          </a:xfrm>
          <a:prstGeom prst="roundRect">
            <a:avLst>
              <a:gd name="adj" fmla="val 1578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35624" y="2212848"/>
            <a:ext cx="667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77B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8極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7955280" y="1261872"/>
            <a:ext cx="333756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955280" y="1261872"/>
            <a:ext cx="73152" cy="1261872"/>
          </a:xfrm>
          <a:prstGeom prst="rect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156448" y="140817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60 Hzで比較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8156448" y="1764792"/>
            <a:ext cx="2990088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4極: 1800 min⁻¹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6極: 1200 min⁻¹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8極: 900 min⁻¹</a:t>
            </a:r>
            <a:endParaRPr lang="en-US" sz="1120" dirty="0"/>
          </a:p>
        </p:txBody>
      </p:sp>
      <p:sp>
        <p:nvSpPr>
          <p:cNvPr id="57" name="Shape 55"/>
          <p:cNvSpPr/>
          <p:nvPr/>
        </p:nvSpPr>
        <p:spPr>
          <a:xfrm>
            <a:off x="7955280" y="2697480"/>
            <a:ext cx="33375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955280" y="2697480"/>
            <a:ext cx="73152" cy="1417320"/>
          </a:xfrm>
          <a:prstGeom prst="rect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6448" y="28437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逆算も出る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8156448" y="3200400"/>
            <a:ext cx="29900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 = Pnₛ/120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 = 120f/nₛ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極数を逆算したら「偶数極か」を検算する。</a:t>
            </a:r>
            <a:endParaRPr lang="en-US" sz="1120" dirty="0"/>
          </a:p>
        </p:txBody>
      </p:sp>
      <p:sp>
        <p:nvSpPr>
          <p:cNvPr id="61" name="Shape 59"/>
          <p:cNvSpPr/>
          <p:nvPr/>
        </p:nvSpPr>
        <p:spPr>
          <a:xfrm>
            <a:off x="7955280" y="4325112"/>
            <a:ext cx="333756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955280" y="4325112"/>
            <a:ext cx="73152" cy="1143000"/>
          </a:xfrm>
          <a:prstGeom prst="rect">
            <a:avLst/>
          </a:prstGeom>
          <a:solidFill>
            <a:srgbClr val="B33A3A"/>
          </a:solidFill>
          <a:ln w="12700">
            <a:solidFill>
              <a:srgbClr val="B33A3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56448" y="447141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N700S境界</a:t>
            </a:r>
            <a:endParaRPr lang="en-US" sz="1500" dirty="0"/>
          </a:p>
        </p:txBody>
      </p:sp>
      <p:sp>
        <p:nvSpPr>
          <p:cNvPr id="64" name="Text 62"/>
          <p:cNvSpPr/>
          <p:nvPr/>
        </p:nvSpPr>
        <p:spPr>
          <a:xfrm>
            <a:off x="8156448" y="4828032"/>
            <a:ext cx="299008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「6極」は確認済み。60 Hz等を使った値は教材条件で、実運転点ではない。</a:t>
            </a:r>
            <a:endParaRPr lang="en-US" sz="11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256032"/>
            <a:ext cx="4114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88896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可視化B｜すべり → 実回転速度 → トルク・出力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6868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n=(1−s)nₛ。軸出力では同期速度ではなく実回転速度 n を使う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868680" y="5303520"/>
            <a:ext cx="5577840" cy="0"/>
          </a:xfrm>
          <a:prstGeom prst="line">
            <a:avLst/>
          </a:prstGeom>
          <a:noFill/>
          <a:ln w="15240">
            <a:solidFill>
              <a:srgbClr val="17212B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868680" y="5303520"/>
            <a:ext cx="0" cy="-3566160"/>
          </a:xfrm>
          <a:prstGeom prst="line">
            <a:avLst/>
          </a:prstGeom>
          <a:noFill/>
          <a:ln w="15240">
            <a:solidFill>
              <a:srgbClr val="17212B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68680" y="5303520"/>
            <a:ext cx="0" cy="-3566160"/>
          </a:xfrm>
          <a:prstGeom prst="line">
            <a:avLst/>
          </a:prstGeom>
          <a:noFill/>
          <a:ln w="7620">
            <a:solidFill>
              <a:srgbClr val="EDF1F5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740664" y="537667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84248" y="5303520"/>
            <a:ext cx="0" cy="-3566160"/>
          </a:xfrm>
          <a:prstGeom prst="line">
            <a:avLst/>
          </a:prstGeom>
          <a:noFill/>
          <a:ln w="7620">
            <a:solidFill>
              <a:srgbClr val="EDF1F5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1856232" y="537667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099816" y="5303520"/>
            <a:ext cx="0" cy="-3566160"/>
          </a:xfrm>
          <a:prstGeom prst="line">
            <a:avLst/>
          </a:prstGeom>
          <a:noFill/>
          <a:ln w="7620">
            <a:solidFill>
              <a:srgbClr val="EDF1F5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2971800" y="537667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15384" y="5303520"/>
            <a:ext cx="0" cy="-3566160"/>
          </a:xfrm>
          <a:prstGeom prst="line">
            <a:avLst/>
          </a:prstGeom>
          <a:noFill/>
          <a:ln w="7620">
            <a:solidFill>
              <a:srgbClr val="EDF1F5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4087368" y="537667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0952" y="5303520"/>
            <a:ext cx="0" cy="-3566160"/>
          </a:xfrm>
          <a:prstGeom prst="line">
            <a:avLst/>
          </a:prstGeom>
          <a:noFill/>
          <a:ln w="7620">
            <a:solidFill>
              <a:srgbClr val="EDF1F5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5202936" y="537667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46520" y="5303520"/>
            <a:ext cx="0" cy="-3566160"/>
          </a:xfrm>
          <a:prstGeom prst="line">
            <a:avLst/>
          </a:prstGeom>
          <a:noFill/>
          <a:ln w="7620">
            <a:solidFill>
              <a:srgbClr val="EDF1F5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6318504" y="537667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68680" y="4411980"/>
            <a:ext cx="5577840" cy="0"/>
          </a:xfrm>
          <a:prstGeom prst="line">
            <a:avLst/>
          </a:prstGeom>
          <a:noFill/>
          <a:ln w="8890">
            <a:solidFill>
              <a:srgbClr val="DDE5ED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411480" y="432054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1140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68680" y="3520440"/>
            <a:ext cx="5577840" cy="0"/>
          </a:xfrm>
          <a:prstGeom prst="line">
            <a:avLst/>
          </a:prstGeom>
          <a:noFill/>
          <a:ln w="8890">
            <a:solidFill>
              <a:srgbClr val="DDE5ED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411480" y="342900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1160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68680" y="2628900"/>
            <a:ext cx="5577840" cy="0"/>
          </a:xfrm>
          <a:prstGeom prst="line">
            <a:avLst/>
          </a:prstGeom>
          <a:noFill/>
          <a:ln w="8890">
            <a:solidFill>
              <a:srgbClr val="DDE5ED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411480" y="253746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1180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68680" y="1737360"/>
            <a:ext cx="5577840" cy="0"/>
          </a:xfrm>
          <a:prstGeom prst="line">
            <a:avLst/>
          </a:prstGeom>
          <a:noFill/>
          <a:ln w="8890">
            <a:solidFill>
              <a:srgbClr val="DDE5ED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411480" y="164592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1200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68680" y="1737360"/>
            <a:ext cx="1115568" cy="534924"/>
          </a:xfrm>
          <a:prstGeom prst="line">
            <a:avLst/>
          </a:prstGeom>
          <a:noFill/>
          <a:ln w="33020">
            <a:solidFill>
              <a:srgbClr val="1769AA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1984248" y="2272284"/>
            <a:ext cx="1115568" cy="534924"/>
          </a:xfrm>
          <a:prstGeom prst="line">
            <a:avLst/>
          </a:prstGeom>
          <a:noFill/>
          <a:ln w="33020">
            <a:solidFill>
              <a:srgbClr val="1769AA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3099816" y="2807208"/>
            <a:ext cx="1115568" cy="534924"/>
          </a:xfrm>
          <a:prstGeom prst="line">
            <a:avLst/>
          </a:prstGeom>
          <a:noFill/>
          <a:ln w="33020">
            <a:solidFill>
              <a:srgbClr val="1769AA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4215384" y="3342132"/>
            <a:ext cx="1115568" cy="534924"/>
          </a:xfrm>
          <a:prstGeom prst="line">
            <a:avLst/>
          </a:prstGeom>
          <a:noFill/>
          <a:ln w="33020">
            <a:solidFill>
              <a:srgbClr val="1769AA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5330952" y="3877056"/>
            <a:ext cx="1115568" cy="534924"/>
          </a:xfrm>
          <a:prstGeom prst="line">
            <a:avLst/>
          </a:prstGeom>
          <a:noFill/>
          <a:ln w="33020">
            <a:solidFill>
              <a:srgbClr val="1769AA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818388" y="1687068"/>
            <a:ext cx="100584" cy="100584"/>
          </a:xfrm>
          <a:prstGeom prst="ellipse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33956" y="2221992"/>
            <a:ext cx="100584" cy="100584"/>
          </a:xfrm>
          <a:prstGeom prst="ellipse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49524" y="2756916"/>
            <a:ext cx="100584" cy="100584"/>
          </a:xfrm>
          <a:prstGeom prst="ellipse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65092" y="3291840"/>
            <a:ext cx="100584" cy="100584"/>
          </a:xfrm>
          <a:prstGeom prst="ellipse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80660" y="3826764"/>
            <a:ext cx="100584" cy="100584"/>
          </a:xfrm>
          <a:prstGeom prst="ellipse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96228" y="4361688"/>
            <a:ext cx="100584" cy="100584"/>
          </a:xfrm>
          <a:prstGeom prst="ellipse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12080" y="566928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すべり s [%]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28600" y="143560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n [min⁻¹]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766560" y="1325880"/>
            <a:ext cx="2221992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766560" y="1325880"/>
            <a:ext cx="73152" cy="1325880"/>
          </a:xfrm>
          <a:prstGeom prst="rect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967728" y="1472184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すべり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967728" y="1828800"/>
            <a:ext cx="18745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s=(nₛ−n)/nₛ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3.5% → 0.035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停止 s=1 / 同期 s=0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9125712" y="1325880"/>
            <a:ext cx="2212848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125712" y="1325880"/>
            <a:ext cx="73152" cy="1325880"/>
          </a:xfrm>
          <a:prstGeom prst="rect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0" y="1472184"/>
            <a:ext cx="189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軸速度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9326880" y="1828800"/>
            <a:ext cx="1865376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ω=2πn/60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min⁻¹ → rad/s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同期速度 nₛ と混同しない</a:t>
            </a:r>
            <a:endParaRPr lang="en-US" sz="1120" dirty="0"/>
          </a:p>
        </p:txBody>
      </p:sp>
      <p:sp>
        <p:nvSpPr>
          <p:cNvPr id="47" name="Shape 45"/>
          <p:cNvSpPr/>
          <p:nvPr/>
        </p:nvSpPr>
        <p:spPr>
          <a:xfrm>
            <a:off x="6766560" y="2834640"/>
            <a:ext cx="457200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766560" y="2834640"/>
            <a:ext cx="73152" cy="1234440"/>
          </a:xfrm>
          <a:prstGeom prst="rect">
            <a:avLst/>
          </a:prstGeom>
          <a:solidFill>
            <a:srgbClr val="D77B27"/>
          </a:solidFill>
          <a:ln w="12700">
            <a:solidFill>
              <a:srgbClr val="D77B2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967728" y="2980944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トルク・機械出力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6967728" y="3337560"/>
            <a:ext cx="4224528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Pₘ=ωT　→　T=60Pₘ/(2πn)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PₘはWで代入。kWなら×1000。</a:t>
            </a:r>
            <a:endParaRPr lang="en-US" sz="1120" dirty="0"/>
          </a:p>
        </p:txBody>
      </p:sp>
      <p:sp>
        <p:nvSpPr>
          <p:cNvPr id="51" name="Shape 49"/>
          <p:cNvSpPr/>
          <p:nvPr/>
        </p:nvSpPr>
        <p:spPr>
          <a:xfrm>
            <a:off x="6766560" y="4279392"/>
            <a:ext cx="4572000" cy="1115568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766560" y="4279392"/>
            <a:ext cx="73152" cy="1115568"/>
          </a:xfrm>
          <a:prstGeom prst="rect">
            <a:avLst/>
          </a:prstGeom>
          <a:solidFill>
            <a:srgbClr val="B33A3A"/>
          </a:solidFill>
          <a:ln w="12700">
            <a:solidFill>
              <a:srgbClr val="B33A3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967728" y="4425696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H26二次の丸め注記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6967728" y="4782312"/>
            <a:ext cx="4224528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48.1 N·m / 48.0 N·m差は π=3.14 相当の過去問固有丸め差。一般式は変更しない。</a:t>
            </a:r>
            <a:endParaRPr lang="en-US" sz="11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256032"/>
            <a:ext cx="4114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88896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固定過去問へ必要な最小橋渡し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6868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Topic 10/12を再展開せず、Topic 24で必要な関係だけ再掲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34440"/>
            <a:ext cx="73152" cy="2148840"/>
          </a:xfrm>
          <a:prstGeom prst="rect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3807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トルク―すべり（R7一次型）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6968" y="1737360"/>
            <a:ext cx="5093208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L形近似：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T(s)=3Vφ²(r₂′/s) / {ωₛ[(r₁+r₂′/s)²+X²]}</a:t>
            </a:r>
            <a:endParaRPr lang="en-US" sz="1120" dirty="0"/>
          </a:p>
          <a:p>
            <a:pPr indent="0" marL="0">
              <a:buNone/>
            </a:pP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低滑り域：T ∝ s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最大トルク時：sₘ=r₂′/√(r₁²+X²)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r₁≒0なら sₘ≒r₂′/X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6291072" y="1234440"/>
            <a:ext cx="52120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91072" y="1234440"/>
            <a:ext cx="73152" cy="2148840"/>
          </a:xfrm>
          <a:prstGeom prst="rect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380744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V/f と磁束（R2一次型）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737360"/>
            <a:ext cx="4864608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誘起電圧：E ∝ fΦ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固定子電圧降下を無視できる範囲で V≈E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→ Φ ∝ V/f</a:t>
            </a:r>
            <a:endParaRPr lang="en-US" sz="1120" dirty="0"/>
          </a:p>
          <a:p>
            <a:pPr indent="0" marL="0">
              <a:buNone/>
            </a:pP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周波数で速度を変えるとき、磁束を概ね一定に保つには V/f を概ね一定にする。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960120" y="5760720"/>
            <a:ext cx="4663440" cy="0"/>
          </a:xfrm>
          <a:prstGeom prst="line">
            <a:avLst/>
          </a:prstGeom>
          <a:noFill/>
          <a:ln w="12700">
            <a:solidFill>
              <a:srgbClr val="17212B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60120" y="5760720"/>
            <a:ext cx="0" cy="-1600200"/>
          </a:xfrm>
          <a:prstGeom prst="line">
            <a:avLst/>
          </a:prstGeom>
          <a:noFill/>
          <a:ln w="12700">
            <a:solidFill>
              <a:srgbClr val="17212B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60120" y="5760720"/>
            <a:ext cx="373075" cy="-288036"/>
          </a:xfrm>
          <a:prstGeom prst="line">
            <a:avLst/>
          </a:prstGeom>
          <a:noFill/>
          <a:ln w="29210">
            <a:solidFill>
              <a:srgbClr val="1769AA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333195" y="5472684"/>
            <a:ext cx="466344" cy="-384048"/>
          </a:xfrm>
          <a:prstGeom prst="line">
            <a:avLst/>
          </a:prstGeom>
          <a:noFill/>
          <a:ln w="29210">
            <a:solidFill>
              <a:srgbClr val="1769AA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799539" y="5088636"/>
            <a:ext cx="792785" cy="-608076"/>
          </a:xfrm>
          <a:prstGeom prst="line">
            <a:avLst/>
          </a:prstGeom>
          <a:noFill/>
          <a:ln w="29210">
            <a:solidFill>
              <a:srgbClr val="1769AA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2592324" y="4480560"/>
            <a:ext cx="699516" cy="-320040"/>
          </a:xfrm>
          <a:prstGeom prst="line">
            <a:avLst/>
          </a:prstGeom>
          <a:noFill/>
          <a:ln w="29210">
            <a:solidFill>
              <a:srgbClr val="1769AA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3291840" y="4160520"/>
            <a:ext cx="932688" cy="192024"/>
          </a:xfrm>
          <a:prstGeom prst="line">
            <a:avLst/>
          </a:prstGeom>
          <a:noFill/>
          <a:ln w="29210">
            <a:solidFill>
              <a:srgbClr val="1769AA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4224528" y="4352544"/>
            <a:ext cx="1399032" cy="480060"/>
          </a:xfrm>
          <a:prstGeom prst="line">
            <a:avLst/>
          </a:prstGeom>
          <a:noFill/>
          <a:ln w="29210">
            <a:solidFill>
              <a:srgbClr val="1769AA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713232" y="406908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59552" y="583387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78992" y="514807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769AA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低滑り域 ≈ 直線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0" y="3950208"/>
            <a:ext cx="1417320" cy="347472"/>
          </a:xfrm>
          <a:prstGeom prst="roundRect">
            <a:avLst>
              <a:gd name="adj" fmla="val 1578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55664" y="4014216"/>
            <a:ext cx="1307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69AA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比例推移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0" y="440740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同一トルク対応点：r₂a′/sₐ = r₂b′/s_b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→ s_b/sₐ = r₂b′/r₂a′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0" y="5285232"/>
            <a:ext cx="1417320" cy="347472"/>
          </a:xfrm>
          <a:prstGeom prst="roundRect">
            <a:avLst>
              <a:gd name="adj" fmla="val 15789"/>
            </a:avLst>
          </a:prstGeom>
          <a:solidFill>
            <a:srgbClr val="FBEDEE"/>
          </a:solidFill>
          <a:ln w="12700">
            <a:solidFill>
              <a:srgbClr val="FBED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55664" y="5349240"/>
            <a:ext cx="1307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3A3A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注意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973568" y="528523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B33A3A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近似条件を外して「最大トルクも二次抵抗に比例する」と判断しない。</a:t>
            </a:r>
            <a:endParaRPr lang="en-US" sz="10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256032"/>
            <a:ext cx="4114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88896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可視化C｜条件変更時の速度比較＋電気角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6868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すべり3%固定の教材用比較。6極以外の周波数・すべりはN700S実値ではない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868680" y="5303520"/>
            <a:ext cx="6309360" cy="0"/>
          </a:xfrm>
          <a:prstGeom prst="line">
            <a:avLst/>
          </a:prstGeom>
          <a:noFill/>
          <a:ln w="13970">
            <a:solidFill>
              <a:srgbClr val="17212B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868680" y="5303520"/>
            <a:ext cx="0" cy="-3474720"/>
          </a:xfrm>
          <a:prstGeom prst="line">
            <a:avLst/>
          </a:prstGeom>
          <a:noFill/>
          <a:ln w="13970">
            <a:solidFill>
              <a:srgbClr val="17212B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68680" y="5303520"/>
            <a:ext cx="6309360" cy="0"/>
          </a:xfrm>
          <a:prstGeom prst="line">
            <a:avLst/>
          </a:prstGeom>
          <a:noFill/>
          <a:ln w="8890">
            <a:solidFill>
              <a:srgbClr val="DDE5ED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384048" y="521208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68680" y="4145280"/>
            <a:ext cx="6309360" cy="0"/>
          </a:xfrm>
          <a:prstGeom prst="line">
            <a:avLst/>
          </a:prstGeom>
          <a:noFill/>
          <a:ln w="8890">
            <a:solidFill>
              <a:srgbClr val="DDE5ED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384048" y="40538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68680" y="2987040"/>
            <a:ext cx="6309360" cy="0"/>
          </a:xfrm>
          <a:prstGeom prst="line">
            <a:avLst/>
          </a:prstGeom>
          <a:noFill/>
          <a:ln w="8890">
            <a:solidFill>
              <a:srgbClr val="DDE5E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384048" y="2895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1200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" y="1828800"/>
            <a:ext cx="6309360" cy="0"/>
          </a:xfrm>
          <a:prstGeom prst="line">
            <a:avLst/>
          </a:prstGeom>
          <a:noFill/>
          <a:ln w="8890">
            <a:solidFill>
              <a:srgbClr val="DDE5ED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384048" y="17373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463040" y="1933042"/>
            <a:ext cx="713232" cy="3370478"/>
          </a:xfrm>
          <a:prstGeom prst="rect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63040" y="5376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25880" y="5605272"/>
            <a:ext cx="987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4極 / 60Hz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389888" y="1658722"/>
            <a:ext cx="85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69AA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1746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852928" y="3056534"/>
            <a:ext cx="713232" cy="2246986"/>
          </a:xfrm>
          <a:prstGeom prst="rect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52928" y="5376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B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15768" y="5605272"/>
            <a:ext cx="987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6極 / 60Hz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79776" y="2782214"/>
            <a:ext cx="85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8F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1164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242816" y="2494788"/>
            <a:ext cx="713232" cy="2808732"/>
          </a:xfrm>
          <a:prstGeom prst="rect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42816" y="5376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105656" y="5605272"/>
            <a:ext cx="987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6極 / 75Hz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69664" y="2220468"/>
            <a:ext cx="85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69AA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1455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32704" y="3196971"/>
            <a:ext cx="713232" cy="2106549"/>
          </a:xfrm>
          <a:prstGeom prst="rect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32704" y="5376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95544" y="5605272"/>
            <a:ext cx="987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8極 / 75Hz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59552" y="2922651"/>
            <a:ext cx="85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69AA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1091.25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82880" y="14264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n [min⁻¹]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498080" y="1325880"/>
            <a:ext cx="374904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8080" y="1325880"/>
            <a:ext cx="73152" cy="1261872"/>
          </a:xfrm>
          <a:prstGeom prst="rect">
            <a:avLst/>
          </a:prstGeom>
          <a:solidFill>
            <a:srgbClr val="D77B27"/>
          </a:solidFill>
          <a:ln w="12700">
            <a:solidFill>
              <a:srgbClr val="D77B2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99248" y="147218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電気角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699248" y="1828800"/>
            <a:ext cx="3401568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p=P/2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θₑ=pθₘ=(P/2)θₘ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6極 → p=3。機械角20° → 電気角60°。</a:t>
            </a:r>
            <a:endParaRPr lang="en-US" sz="1120" dirty="0"/>
          </a:p>
        </p:txBody>
      </p:sp>
      <p:sp>
        <p:nvSpPr>
          <p:cNvPr id="35" name="Shape 33"/>
          <p:cNvSpPr/>
          <p:nvPr/>
        </p:nvSpPr>
        <p:spPr>
          <a:xfrm>
            <a:off x="7498080" y="2788920"/>
            <a:ext cx="374904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98080" y="2788920"/>
            <a:ext cx="73152" cy="1234440"/>
          </a:xfrm>
          <a:prstGeom prst="rect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99248" y="293522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比較の読み方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699248" y="3291840"/>
            <a:ext cx="3401568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A→B：同一fで極数↑ → 速度↓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B→C：同一Pでf↑ → 速度↑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C→D：同一fで極数↑ → 速度↓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7498080" y="4224528"/>
            <a:ext cx="3749040" cy="1115568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98080" y="4224528"/>
            <a:ext cx="73152" cy="1115568"/>
          </a:xfrm>
          <a:prstGeom prst="rect">
            <a:avLst/>
          </a:prstGeom>
          <a:solidFill>
            <a:srgbClr val="B33A3A"/>
          </a:solidFill>
          <a:ln w="12700">
            <a:solidFill>
              <a:srgbClr val="B33A3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99248" y="43708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軽量化の境界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7699248" y="4727448"/>
            <a:ext cx="3401568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約20%は駆動システム全体。主電動機単体・6極化単独の20%とはしない。</a:t>
            </a:r>
            <a:endParaRPr lang="en-US" sz="11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256032"/>
            <a:ext cx="4114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88896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本試験対応マップ｜5問・17答案要素をこの章だけで再現する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6868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PowerPoint完成後にclean blind独立再解答へ進む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21792" y="1234440"/>
            <a:ext cx="6035040" cy="4096512"/>
          </a:xfrm>
          <a:prstGeom prst="roundRect">
            <a:avLst>
              <a:gd name="adj" fmla="val 1116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固定過去問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6052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答案要素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10912" y="14173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主に使う関係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1847088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R7 一次 機械 問2</a:t>
            </a:r>
            <a:endParaRPr lang="en-US" sz="1040" dirty="0"/>
          </a:p>
        </p:txBody>
      </p:sp>
      <p:sp>
        <p:nvSpPr>
          <p:cNvPr id="9" name="Text 7"/>
          <p:cNvSpPr/>
          <p:nvPr/>
        </p:nvSpPr>
        <p:spPr>
          <a:xfrm>
            <a:off x="4297680" y="1847088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9AA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19472" y="1847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すべり / T–s / 比例推移</a:t>
            </a:r>
            <a:endParaRPr lang="en-US" sz="970" dirty="0"/>
          </a:p>
        </p:txBody>
      </p:sp>
      <p:sp>
        <p:nvSpPr>
          <p:cNvPr id="11" name="Shape 9"/>
          <p:cNvSpPr/>
          <p:nvPr/>
        </p:nvSpPr>
        <p:spPr>
          <a:xfrm>
            <a:off x="822960" y="2432304"/>
            <a:ext cx="5596128" cy="0"/>
          </a:xfrm>
          <a:prstGeom prst="line">
            <a:avLst/>
          </a:prstGeom>
          <a:noFill/>
          <a:ln w="8890">
            <a:solidFill>
              <a:srgbClr val="E2E8EF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841248" y="2505456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R4 一次 機械 問2 (3)〜(5)</a:t>
            </a:r>
            <a:endParaRPr lang="en-US" sz="1040" dirty="0"/>
          </a:p>
        </p:txBody>
      </p:sp>
      <p:sp>
        <p:nvSpPr>
          <p:cNvPr id="13" name="Text 11"/>
          <p:cNvSpPr/>
          <p:nvPr/>
        </p:nvSpPr>
        <p:spPr>
          <a:xfrm>
            <a:off x="4297680" y="2505456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9AA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19472" y="2505456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極数 / 同期速度 / すべり</a:t>
            </a:r>
            <a:endParaRPr lang="en-US" sz="970" dirty="0"/>
          </a:p>
        </p:txBody>
      </p:sp>
      <p:sp>
        <p:nvSpPr>
          <p:cNvPr id="15" name="Shape 13"/>
          <p:cNvSpPr/>
          <p:nvPr/>
        </p:nvSpPr>
        <p:spPr>
          <a:xfrm>
            <a:off x="822960" y="3090672"/>
            <a:ext cx="5596128" cy="0"/>
          </a:xfrm>
          <a:prstGeom prst="line">
            <a:avLst/>
          </a:prstGeom>
          <a:noFill/>
          <a:ln w="8890">
            <a:solidFill>
              <a:srgbClr val="E2E8EF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841248" y="3163824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R2 一次 機械 問3 (1)(4)(5)</a:t>
            </a:r>
            <a:endParaRPr lang="en-US" sz="1040" dirty="0"/>
          </a:p>
        </p:txBody>
      </p:sp>
      <p:sp>
        <p:nvSpPr>
          <p:cNvPr id="17" name="Text 15"/>
          <p:cNvSpPr/>
          <p:nvPr/>
        </p:nvSpPr>
        <p:spPr>
          <a:xfrm>
            <a:off x="4297680" y="316382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9AA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19472" y="3163824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同期速度 / V/f / 磁束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822960" y="3749040"/>
            <a:ext cx="5596128" cy="0"/>
          </a:xfrm>
          <a:prstGeom prst="line">
            <a:avLst/>
          </a:prstGeom>
          <a:noFill/>
          <a:ln w="8890">
            <a:solidFill>
              <a:srgbClr val="E2E8EF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841248" y="3822192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R3 二次 機械・制御 問1 (3)(4)</a:t>
            </a:r>
            <a:endParaRPr lang="en-US" sz="1040" dirty="0"/>
          </a:p>
        </p:txBody>
      </p:sp>
      <p:sp>
        <p:nvSpPr>
          <p:cNvPr id="21" name="Text 19"/>
          <p:cNvSpPr/>
          <p:nvPr/>
        </p:nvSpPr>
        <p:spPr>
          <a:xfrm>
            <a:off x="4297680" y="3822192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9AA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19472" y="3822192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速度 / Pₘ=ωT</a:t>
            </a:r>
            <a:endParaRPr lang="en-US" sz="970" dirty="0"/>
          </a:p>
        </p:txBody>
      </p:sp>
      <p:sp>
        <p:nvSpPr>
          <p:cNvPr id="23" name="Shape 21"/>
          <p:cNvSpPr/>
          <p:nvPr/>
        </p:nvSpPr>
        <p:spPr>
          <a:xfrm>
            <a:off x="822960" y="4407408"/>
            <a:ext cx="5596128" cy="0"/>
          </a:xfrm>
          <a:prstGeom prst="line">
            <a:avLst/>
          </a:prstGeom>
          <a:noFill/>
          <a:ln w="8890">
            <a:solidFill>
              <a:srgbClr val="E2E8EF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841248" y="4480560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R7 二次 機械・制御 問2 (1)(3)</a:t>
            </a:r>
            <a:endParaRPr lang="en-US" sz="1040" dirty="0"/>
          </a:p>
        </p:txBody>
      </p:sp>
      <p:sp>
        <p:nvSpPr>
          <p:cNvPr id="25" name="Text 23"/>
          <p:cNvSpPr/>
          <p:nvPr/>
        </p:nvSpPr>
        <p:spPr>
          <a:xfrm>
            <a:off x="4297680" y="4480560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9AA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919472" y="4480560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E6B7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同期速度→すべり→速度→出力</a:t>
            </a:r>
            <a:endParaRPr lang="en-US" sz="970" dirty="0"/>
          </a:p>
        </p:txBody>
      </p:sp>
      <p:sp>
        <p:nvSpPr>
          <p:cNvPr id="27" name="Shape 25"/>
          <p:cNvSpPr/>
          <p:nvPr/>
        </p:nvSpPr>
        <p:spPr>
          <a:xfrm>
            <a:off x="841248" y="5449824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96112" y="5513832"/>
            <a:ext cx="1444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69AA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一次 11/11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578608" y="5449824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E8F4EF"/>
          </a:solidFill>
          <a:ln w="12700">
            <a:solidFill>
              <a:srgbClr val="E8F4E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33472" y="5513832"/>
            <a:ext cx="1444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7D5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二次 6/6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315968" y="5449824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FFF2E7"/>
          </a:solidFill>
          <a:ln w="12700">
            <a:solidFill>
              <a:srgbClr val="FFF2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5513832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77B27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合計 17/17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912864" y="1234440"/>
            <a:ext cx="45262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12864" y="1234440"/>
            <a:ext cx="73152" cy="2148840"/>
          </a:xfrm>
          <a:prstGeom prst="rect">
            <a:avLst/>
          </a:prstGeom>
          <a:solidFill>
            <a:srgbClr val="1769AA"/>
          </a:solidFill>
          <a:ln w="12700">
            <a:solidFill>
              <a:srgbClr val="1769A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14032" y="13807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解法アルゴリズム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114032" y="1737360"/>
            <a:ext cx="4178808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1. P・f → nₛ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2. %すべり → 小数 → n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3. 必要なら ω=2πn/60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4. Pₘ=ωT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5. T–s は近似条件確認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6. 磁束問題だけ V/f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7. 一定条件を再確認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8. 単位・P/p・nₛ/n を検算</a:t>
            </a:r>
            <a:endParaRPr lang="en-US" sz="1120" dirty="0"/>
          </a:p>
        </p:txBody>
      </p:sp>
      <p:sp>
        <p:nvSpPr>
          <p:cNvPr id="37" name="Shape 35"/>
          <p:cNvSpPr/>
          <p:nvPr/>
        </p:nvSpPr>
        <p:spPr>
          <a:xfrm>
            <a:off x="6912864" y="3584448"/>
            <a:ext cx="452628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2864" y="3584448"/>
            <a:ext cx="73152" cy="1783080"/>
          </a:xfrm>
          <a:prstGeom prst="rect">
            <a:avLst/>
          </a:prstGeom>
          <a:solidFill>
            <a:srgbClr val="1B8A8F"/>
          </a:solidFill>
          <a:ln w="12700">
            <a:solidFill>
              <a:srgbClr val="1B8A8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14032" y="37307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3段階例題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114032" y="4087368"/>
            <a:ext cx="4178808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基礎：6極60Hz→nₛ・s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標準：R7二次型 22kW / 1158min⁻¹ → 50%トルク時のn・Pₘ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17212B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複合：4極/6極の速度＋電気角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6912864" y="5596128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FBEDEE"/>
          </a:solidFill>
          <a:ln w="12700">
            <a:solidFill>
              <a:srgbClr val="FBEDE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67728" y="5660136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3A3A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次工程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439912" y="557784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0" b="1" dirty="0">
                <a:solidFill>
                  <a:srgbClr val="B33A3A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保存済み正答を見ず、Topic 24教材だけで固定5問・17答案要素をclean blind再解答。</a:t>
            </a:r>
            <a:endParaRPr lang="en-US" sz="10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256032"/>
            <a:ext cx="4114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88896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JP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JP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cureflash/homepage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Topic 24 N700S 主電動機設計の比較</dc:title>
  <dc:subject>Topic 24 N700S 主電動機設計の比較</dc:subject>
  <dc:creator>OpenAI</dc:creator>
  <cp:lastModifiedBy>OpenAI</cp:lastModifiedBy>
  <cp:revision>1</cp:revision>
  <dcterms:created xsi:type="dcterms:W3CDTF">2026-09-19T18:55:46Z</dcterms:created>
  <dcterms:modified xsi:type="dcterms:W3CDTF">2026-09-19T18:55:46Z</dcterms:modified>
</cp:coreProperties>
</file>