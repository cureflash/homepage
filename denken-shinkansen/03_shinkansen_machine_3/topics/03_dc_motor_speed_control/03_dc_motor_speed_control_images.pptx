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0000" y="300000"/>
            <a:ext cx="11000000" cy="70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square"/>
          <a:lstStyle/>
          <a:p>
            <a:pPr algn="l"/>
            <a:r>
              <a:rPr lang="ja-JP" sz="3000" b="1">
                <a:solidFill>
                  <a:srgbClr val="F5F7FA"/>
                </a:solidFill>
                <a:latin typeface="Noto Sans CJK JP"/>
                <a:ea typeface="Noto Sans CJK JP"/>
              </a:rPr>
              <a:t>直流モーターはどうやって速度を変える？</a:t>
            </a:r>
            <a:endParaRPr lang="ja-JP"/>
          </a:p>
        </p:txBody>
      </p:sp>
      <p:sp>
        <p:nvSpPr>
          <p:cNvPr id="3" name="Lead"/>
          <p:cNvSpPr/>
          <p:nvPr/>
        </p:nvSpPr>
        <p:spPr>
          <a:xfrm>
            <a:off x="600000" y="1050000"/>
            <a:ext cx="11000000" cy="42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square"/>
          <a:lstStyle/>
          <a:p>
            <a:pPr algn="l"/>
            <a:r>
              <a:rPr lang="ja-JP" sz="1700" b="0">
                <a:solidFill>
                  <a:srgbClr val="B8C4D6"/>
                </a:solidFill>
                <a:latin typeface="Noto Sans CJK JP"/>
                <a:ea typeface="Noto Sans CJK JP"/>
              </a:rPr>
              <a:t>速度問題は「端子電圧・電流・磁束」の関係を追う</a:t>
            </a:r>
            <a:endParaRPr lang="ja-JP"/>
          </a:p>
        </p:txBody>
      </p:sp>
      <p:sp>
        <p:nvSpPr>
          <p:cNvPr id="4" name="Formula"/>
          <p:cNvSpPr/>
          <p:nvPr/>
        </p:nvSpPr>
        <p:spPr>
          <a:xfrm>
            <a:off x="600000" y="1600000"/>
            <a:ext cx="11000000" cy="1000000"/>
          </a:xfrm>
          <a:prstGeom prst="roundRect">
            <a:avLst/>
          </a:prstGeom>
          <a:solidFill>
            <a:srgbClr val="15263D"/>
          </a:solidFill>
          <a:ln w="12700">
            <a:solidFill>
              <a:srgbClr val="34D1BF"/>
            </a:solidFill>
          </a:ln>
        </p:spPr>
        <p:txBody>
          <a:bodyPr lIns="90000" rIns="90000" tIns="90000" bIns="90000" anchor="ctr" wrap="square"/>
          <a:lstStyle/>
          <a:p>
            <a:pPr algn="ctr"/>
            <a:r>
              <a:rPr lang="ja-JP" sz="3600" b="1">
                <a:solidFill>
                  <a:srgbClr val="34D1BF"/>
                </a:solidFill>
                <a:latin typeface="Noto Sans CJK JP"/>
                <a:ea typeface="Noto Sans CJK JP"/>
              </a:rPr>
              <a:t>N = (V − IₐRₐ) / (kΦ)</a:t>
            </a:r>
            <a:endParaRPr lang="ja-JP"/>
          </a:p>
          <a:p>
            <a:pPr algn="ctr"/>
            <a:r>
              <a:rPr lang="ja-JP" sz="1800" b="0">
                <a:solidFill>
                  <a:srgbClr val="F5F7FA"/>
                </a:solidFill>
                <a:latin typeface="Noto Sans CJK JP"/>
                <a:ea typeface="Noto Sans CJK JP"/>
              </a:rPr>
              <a:t>V = E + IₐRₐ　　E = kΦN　　T = kΦIₐ</a:t>
            </a:r>
            <a:endParaRPr lang="ja-JP"/>
          </a:p>
        </p:txBody>
      </p:sp>
      <p:sp>
        <p:nvSpPr>
          <p:cNvPr id="5" name="Card0"/>
          <p:cNvSpPr/>
          <p:nvPr/>
        </p:nvSpPr>
        <p:spPr>
          <a:xfrm>
            <a:off x="600000" y="3000000"/>
            <a:ext cx="3400000" cy="145000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txBody>
          <a:bodyPr lIns="90000" rIns="90000" tIns="90000" bIns="90000" anchor="ctr" wrap="square"/>
          <a:lstStyle/>
          <a:p>
            <a:pPr algn="ctr"/>
            <a:r>
              <a:rPr lang="ja-JP" sz="2100" b="1">
                <a:solidFill>
                  <a:srgbClr val="5AA9E6"/>
                </a:solidFill>
                <a:latin typeface="Noto Sans CJK JP"/>
                <a:ea typeface="Noto Sans CJK JP"/>
              </a:rPr>
              <a:t>電機子電圧制御</a:t>
            </a:r>
            <a:endParaRPr lang="ja-JP"/>
          </a:p>
          <a:p>
            <a:pPr algn="ctr"/>
            <a:r>
              <a:rPr lang="ja-JP" sz="2600" b="1">
                <a:solidFill>
                  <a:srgbClr val="F5F7FA"/>
                </a:solidFill>
                <a:latin typeface="Noto Sans CJK JP"/>
                <a:ea typeface="Noto Sans CJK JP"/>
              </a:rPr>
              <a:t>V を変える</a:t>
            </a:r>
            <a:endParaRPr lang="ja-JP"/>
          </a:p>
          <a:p>
            <a:pPr algn="ctr"/>
            <a:r>
              <a:rPr lang="ja-JP" sz="1450" b="0">
                <a:solidFill>
                  <a:srgbClr val="B8C4D6"/>
                </a:solidFill>
                <a:latin typeface="Noto Sans CJK JP"/>
                <a:ea typeface="Noto Sans CJK JP"/>
              </a:rPr>
              <a:t>磁束をほぼ一定にして速度を変える</a:t>
            </a:r>
            <a:endParaRPr lang="ja-JP"/>
          </a:p>
        </p:txBody>
      </p:sp>
      <p:sp>
        <p:nvSpPr>
          <p:cNvPr id="6" name="Card1"/>
          <p:cNvSpPr/>
          <p:nvPr/>
        </p:nvSpPr>
        <p:spPr>
          <a:xfrm>
            <a:off x="4300000" y="3000000"/>
            <a:ext cx="3400000" cy="145000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txBody>
          <a:bodyPr lIns="90000" rIns="90000" tIns="90000" bIns="90000" anchor="ctr" wrap="square"/>
          <a:lstStyle/>
          <a:p>
            <a:pPr algn="ctr"/>
            <a:r>
              <a:rPr lang="ja-JP" sz="2100" b="1">
                <a:solidFill>
                  <a:srgbClr val="5AA9E6"/>
                </a:solidFill>
                <a:latin typeface="Noto Sans CJK JP"/>
                <a:ea typeface="Noto Sans CJK JP"/>
              </a:rPr>
              <a:t>界磁制御</a:t>
            </a:r>
            <a:endParaRPr lang="ja-JP"/>
          </a:p>
          <a:p>
            <a:pPr algn="ctr"/>
            <a:r>
              <a:rPr lang="ja-JP" sz="2600" b="1">
                <a:solidFill>
                  <a:srgbClr val="F5F7FA"/>
                </a:solidFill>
                <a:latin typeface="Noto Sans CJK JP"/>
                <a:ea typeface="Noto Sans CJK JP"/>
              </a:rPr>
              <a:t>Φ を変える</a:t>
            </a:r>
            <a:endParaRPr lang="ja-JP"/>
          </a:p>
          <a:p>
            <a:pPr algn="ctr"/>
            <a:r>
              <a:rPr lang="ja-JP" sz="1450" b="0">
                <a:solidFill>
                  <a:srgbClr val="B8C4D6"/>
                </a:solidFill>
                <a:latin typeface="Noto Sans CJK JP"/>
                <a:ea typeface="Noto Sans CJK JP"/>
              </a:rPr>
              <a:t>弱め界磁 → 速度↑・同電流トルク↓</a:t>
            </a:r>
            <a:endParaRPr lang="ja-JP"/>
          </a:p>
        </p:txBody>
      </p:sp>
      <p:sp>
        <p:nvSpPr>
          <p:cNvPr id="7" name="Card2"/>
          <p:cNvSpPr/>
          <p:nvPr/>
        </p:nvSpPr>
        <p:spPr>
          <a:xfrm>
            <a:off x="8000000" y="3000000"/>
            <a:ext cx="3400000" cy="145000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txBody>
          <a:bodyPr lIns="90000" rIns="90000" tIns="90000" bIns="90000" anchor="ctr" wrap="square"/>
          <a:lstStyle/>
          <a:p>
            <a:pPr algn="ctr"/>
            <a:r>
              <a:rPr lang="ja-JP" sz="2100" b="1">
                <a:solidFill>
                  <a:srgbClr val="5AA9E6"/>
                </a:solidFill>
                <a:latin typeface="Noto Sans CJK JP"/>
                <a:ea typeface="Noto Sans CJK JP"/>
              </a:rPr>
              <a:t>抵抗制御</a:t>
            </a:r>
            <a:endParaRPr lang="ja-JP"/>
          </a:p>
          <a:p>
            <a:pPr algn="ctr"/>
            <a:r>
              <a:rPr lang="ja-JP" sz="2600" b="1">
                <a:solidFill>
                  <a:srgbClr val="F5F7FA"/>
                </a:solidFill>
                <a:latin typeface="Noto Sans CJK JP"/>
                <a:ea typeface="Noto Sans CJK JP"/>
              </a:rPr>
              <a:t>R を加える</a:t>
            </a:r>
            <a:endParaRPr lang="ja-JP"/>
          </a:p>
          <a:p>
            <a:pPr algn="ctr"/>
            <a:r>
              <a:rPr lang="ja-JP" sz="1450" b="0">
                <a:solidFill>
                  <a:srgbClr val="B8C4D6"/>
                </a:solidFill>
                <a:latin typeface="Noto Sans CJK JP"/>
                <a:ea typeface="Noto Sans CJK JP"/>
              </a:rPr>
              <a:t>速度↓。ただし Iₐ²R の損失</a:t>
            </a:r>
            <a:endParaRPr lang="ja-JP"/>
          </a:p>
        </p:txBody>
      </p:sp>
      <p:sp>
        <p:nvSpPr>
          <p:cNvPr id="8" name="Cue"/>
          <p:cNvSpPr/>
          <p:nvPr/>
        </p:nvSpPr>
        <p:spPr>
          <a:xfrm>
            <a:off x="600000" y="5000000"/>
            <a:ext cx="11000000" cy="1000000"/>
          </a:xfrm>
          <a:prstGeom prst="roundRect">
            <a:avLst/>
          </a:prstGeom>
          <a:noFill/>
          <a:ln w="12700">
            <a:solidFill>
              <a:srgbClr val="F6C85F"/>
            </a:solidFill>
          </a:ln>
        </p:spPr>
        <p:txBody>
          <a:bodyPr lIns="90000" rIns="90000" tIns="90000" bIns="90000" anchor="ctr" wrap="square"/>
          <a:lstStyle/>
          <a:p>
            <a:pPr algn="ctr"/>
            <a:r>
              <a:rPr lang="ja-JP" sz="1700" b="1">
                <a:solidFill>
                  <a:srgbClr val="F6C85F"/>
                </a:solidFill>
                <a:latin typeface="Noto Sans CJK JP"/>
                <a:ea typeface="Noto Sans CJK JP"/>
              </a:rPr>
              <a:t>本試験の最初の判断</a:t>
            </a:r>
            <a:endParaRPr lang="ja-JP"/>
          </a:p>
          <a:p>
            <a:pPr algn="ctr"/>
            <a:r>
              <a:rPr lang="ja-JP" sz="2600" b="1">
                <a:solidFill>
                  <a:srgbClr val="F5F7FA"/>
                </a:solidFill>
                <a:latin typeface="Noto Sans CJK JP"/>
                <a:ea typeface="Noto Sans CJK JP"/>
              </a:rPr>
              <a:t>問題文で「何が一定か」を先に決める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0000" y="300000"/>
            <a:ext cx="11000000" cy="70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square"/>
          <a:lstStyle/>
          <a:p>
            <a:pPr algn="l"/>
            <a:r>
              <a:rPr lang="ja-JP" sz="3000" b="1">
                <a:solidFill>
                  <a:srgbClr val="F5F7FA"/>
                </a:solidFill>
                <a:latin typeface="Noto Sans CJK JP"/>
                <a:ea typeface="Noto Sans CJK JP"/>
              </a:rPr>
              <a:t>始動時だけは E = 0</a:t>
            </a:r>
            <a:endParaRPr lang="ja-JP"/>
          </a:p>
        </p:txBody>
      </p:sp>
      <p:sp>
        <p:nvSpPr>
          <p:cNvPr id="3" name="Lead"/>
          <p:cNvSpPr/>
          <p:nvPr/>
        </p:nvSpPr>
        <p:spPr>
          <a:xfrm>
            <a:off x="600000" y="1050000"/>
            <a:ext cx="11000000" cy="42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square"/>
          <a:lstStyle/>
          <a:p>
            <a:pPr algn="l"/>
            <a:r>
              <a:rPr lang="ja-JP" sz="1700" b="0">
                <a:solidFill>
                  <a:srgbClr val="B8C4D6"/>
                </a:solidFill>
                <a:latin typeface="Noto Sans CJK JP"/>
                <a:ea typeface="Noto Sans CJK JP"/>
              </a:rPr>
              <a:t>停止中は逆起電力がない → 電機子抵抗だけでは大電流になり得る</a:t>
            </a:r>
            <a:endParaRPr lang="ja-JP"/>
          </a:p>
        </p:txBody>
      </p:sp>
      <p:sp>
        <p:nvSpPr>
          <p:cNvPr id="4" name="Left"/>
          <p:cNvSpPr/>
          <p:nvPr/>
        </p:nvSpPr>
        <p:spPr>
          <a:xfrm>
            <a:off x="600000" y="1700000"/>
            <a:ext cx="5000000" cy="220000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txBody>
          <a:bodyPr lIns="100000" rIns="100000" tIns="100000" bIns="100000" anchor="ctr" wrap="square"/>
          <a:lstStyle/>
          <a:p>
            <a:pPr algn="ctr"/>
            <a:r>
              <a:rPr lang="ja-JP" sz="1900" b="1">
                <a:solidFill>
                  <a:srgbClr val="5AA9E6"/>
                </a:solidFill>
                <a:latin typeface="Noto Sans CJK JP"/>
                <a:ea typeface="Noto Sans CJK JP"/>
              </a:rPr>
              <a:t>始動直後</a:t>
            </a:r>
            <a:endParaRPr lang="ja-JP"/>
          </a:p>
          <a:p>
            <a:pPr algn="ctr"/>
            <a:r>
              <a:rPr lang="ja-JP" sz="2600" b="1">
                <a:solidFill>
                  <a:srgbClr val="F5F7FA"/>
                </a:solidFill>
                <a:latin typeface="Noto Sans CJK JP"/>
                <a:ea typeface="Noto Sans CJK JP"/>
              </a:rPr>
              <a:t>N = 0 → E = kΦN = 0</a:t>
            </a:r>
            <a:endParaRPr lang="ja-JP"/>
          </a:p>
          <a:p>
            <a:pPr algn="ctr"/>
            <a:r>
              <a:rPr lang="ja-JP" sz="2600" b="1">
                <a:solidFill>
                  <a:srgbClr val="34D1BF"/>
                </a:solidFill>
                <a:latin typeface="Noto Sans CJK JP"/>
                <a:ea typeface="Noto Sans CJK JP"/>
              </a:rPr>
              <a:t>Istart = V / (Rₐ + Rstart)</a:t>
            </a:r>
            <a:endParaRPr lang="ja-JP"/>
          </a:p>
          <a:p>
            <a:pPr algn="ctr"/>
            <a:r>
              <a:rPr lang="ja-JP" sz="1600" b="0">
                <a:solidFill>
                  <a:srgbClr val="B8C4D6"/>
                </a:solidFill>
                <a:latin typeface="Noto Sans CJK JP"/>
                <a:ea typeface="Noto Sans CJK JP"/>
              </a:rPr>
              <a:t>始動抵抗は「電機子回路」に直列</a:t>
            </a:r>
            <a:endParaRPr lang="ja-JP"/>
          </a:p>
        </p:txBody>
      </p:sp>
      <p:sp>
        <p:nvSpPr>
          <p:cNvPr id="5" name="Right"/>
          <p:cNvSpPr/>
          <p:nvPr/>
        </p:nvSpPr>
        <p:spPr>
          <a:xfrm>
            <a:off x="6000000" y="1700000"/>
            <a:ext cx="5600000" cy="220000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txBody>
          <a:bodyPr lIns="100000" rIns="100000" tIns="100000" bIns="100000" anchor="ctr" wrap="square"/>
          <a:lstStyle/>
          <a:p>
            <a:pPr algn="ctr"/>
            <a:r>
              <a:rPr lang="ja-JP" sz="1750" b="1">
                <a:solidFill>
                  <a:srgbClr val="5AA9E6"/>
                </a:solidFill>
                <a:latin typeface="Noto Sans CJK JP"/>
                <a:ea typeface="Noto Sans CJK JP"/>
              </a:rPr>
              <a:t>例題：220 V・Rₐ=0.40 Ω・50 A以下</a:t>
            </a:r>
            <a:endParaRPr lang="ja-JP"/>
          </a:p>
          <a:p>
            <a:pPr algn="ctr"/>
            <a:r>
              <a:rPr lang="ja-JP" sz="2400" b="1">
                <a:solidFill>
                  <a:srgbClr val="F5F7FA"/>
                </a:solidFill>
                <a:latin typeface="Noto Sans CJK JP"/>
                <a:ea typeface="Noto Sans CJK JP"/>
              </a:rPr>
              <a:t>始動直後：Rstart = 4.00 Ω</a:t>
            </a:r>
            <a:endParaRPr lang="ja-JP"/>
          </a:p>
          <a:p>
            <a:pPr algn="ctr"/>
            <a:r>
              <a:rPr lang="ja-JP" sz="2400" b="1">
                <a:solidFill>
                  <a:srgbClr val="F5F7FA"/>
                </a:solidFill>
                <a:latin typeface="Noto Sans CJK JP"/>
                <a:ea typeface="Noto Sans CJK JP"/>
              </a:rPr>
              <a:t>E=100 V後：Rstart = 2.00 Ω</a:t>
            </a:r>
            <a:endParaRPr lang="ja-JP"/>
          </a:p>
          <a:p>
            <a:pPr algn="ctr"/>
            <a:r>
              <a:rPr lang="ja-JP" sz="1550" b="0">
                <a:solidFill>
                  <a:srgbClr val="B8C4D6"/>
                </a:solidFill>
                <a:latin typeface="Noto Sans CJK JP"/>
                <a:ea typeface="Noto Sans CJK JP"/>
              </a:rPr>
              <a:t>速度↑ → E↑ → 抵抗を段階的に減らす</a:t>
            </a:r>
            <a:endParaRPr lang="ja-JP"/>
          </a:p>
        </p:txBody>
      </p:sp>
      <p:sp>
        <p:nvSpPr>
          <p:cNvPr id="6" name="Mistake"/>
          <p:cNvSpPr/>
          <p:nvPr/>
        </p:nvSpPr>
        <p:spPr>
          <a:xfrm>
            <a:off x="600000" y="4350000"/>
            <a:ext cx="11000000" cy="1350000"/>
          </a:xfrm>
          <a:prstGeom prst="roundRect">
            <a:avLst/>
          </a:prstGeom>
          <a:noFill/>
          <a:ln w="12700">
            <a:solidFill>
              <a:srgbClr val="F6C85F"/>
            </a:solidFill>
          </a:ln>
        </p:spPr>
        <p:txBody>
          <a:bodyPr lIns="120000" rIns="120000" tIns="120000" bIns="120000" anchor="ctr" wrap="square"/>
          <a:lstStyle/>
          <a:p>
            <a:pPr algn="l"/>
            <a:r>
              <a:rPr lang="ja-JP" sz="1750" b="1">
                <a:solidFill>
                  <a:srgbClr val="F6C85F"/>
                </a:solidFill>
                <a:latin typeface="Noto Sans CJK JP"/>
                <a:ea typeface="Noto Sans CJK JP"/>
              </a:rPr>
              <a:t>頻出ミス</a:t>
            </a:r>
            <a:endParaRPr lang="ja-JP"/>
          </a:p>
          <a:p>
            <a:pPr algn="l"/>
            <a:r>
              <a:rPr lang="ja-JP" sz="1900" b="1">
                <a:solidFill>
                  <a:srgbClr val="F5F7FA"/>
                </a:solidFill>
                <a:latin typeface="Noto Sans CJK JP"/>
                <a:ea typeface="Noto Sans CJK JP"/>
              </a:rPr>
              <a:t>× 始動時にも逆起電力がある　　× 始動抵抗を界磁回路に入れる</a:t>
            </a:r>
            <a:endParaRPr lang="ja-JP"/>
          </a:p>
          <a:p>
            <a:pPr algn="l"/>
            <a:r>
              <a:rPr lang="ja-JP" sz="1900" b="1">
                <a:solidFill>
                  <a:srgbClr val="F5F7FA"/>
                </a:solidFill>
                <a:latin typeface="Noto Sans CJK JP"/>
                <a:ea typeface="Noto Sans CJK JP"/>
              </a:rPr>
              <a:t>○ 始動時も V = E + IₐRₐ は成立し、E=0 を代入して使う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0000" y="300000"/>
            <a:ext cx="11000000" cy="70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square"/>
          <a:lstStyle/>
          <a:p>
            <a:pPr algn="l"/>
            <a:r>
              <a:rPr lang="ja-JP" sz="3000" b="1">
                <a:solidFill>
                  <a:srgbClr val="F5F7FA"/>
                </a:solidFill>
                <a:latin typeface="Noto Sans CJK JP"/>
                <a:ea typeface="Noto Sans CJK JP"/>
              </a:rPr>
              <a:t>低速側は定トルク、高速側は弱め界磁</a:t>
            </a:r>
            <a:endParaRPr lang="ja-JP"/>
          </a:p>
        </p:txBody>
      </p:sp>
      <p:sp>
        <p:nvSpPr>
          <p:cNvPr id="3" name="Lead"/>
          <p:cNvSpPr/>
          <p:nvPr/>
        </p:nvSpPr>
        <p:spPr>
          <a:xfrm>
            <a:off x="600000" y="1050000"/>
            <a:ext cx="11000000" cy="42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square"/>
          <a:lstStyle/>
          <a:p>
            <a:pPr algn="l"/>
            <a:r>
              <a:rPr lang="ja-JP" sz="1700" b="0">
                <a:solidFill>
                  <a:srgbClr val="B8C4D6"/>
                </a:solidFill>
                <a:latin typeface="Noto Sans CJK JP"/>
                <a:ea typeface="Noto Sans CJK JP"/>
              </a:rPr>
              <a:t>電圧制御と界磁制御を、トルク・出力までつなぐ</a:t>
            </a:r>
            <a:endParaRPr lang="ja-JP"/>
          </a:p>
        </p:txBody>
      </p:sp>
      <p:sp>
        <p:nvSpPr>
          <p:cNvPr id="4" name="Low"/>
          <p:cNvSpPr/>
          <p:nvPr/>
        </p:nvSpPr>
        <p:spPr>
          <a:xfrm>
            <a:off x="600000" y="1650000"/>
            <a:ext cx="5200000" cy="200000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txBody>
          <a:bodyPr lIns="100000" rIns="100000" tIns="100000" bIns="100000" anchor="ctr" wrap="square"/>
          <a:lstStyle/>
          <a:p>
            <a:pPr algn="ctr"/>
            <a:r>
              <a:rPr lang="ja-JP" sz="1900" b="1">
                <a:solidFill>
                  <a:srgbClr val="5AA9E6"/>
                </a:solidFill>
                <a:latin typeface="Noto Sans CJK JP"/>
                <a:ea typeface="Noto Sans CJK JP"/>
              </a:rPr>
              <a:t>低速側：電機子電圧制御</a:t>
            </a:r>
            <a:endParaRPr lang="ja-JP"/>
          </a:p>
          <a:p>
            <a:pPr algn="ctr"/>
            <a:r>
              <a:rPr lang="ja-JP" sz="2300" b="1">
                <a:solidFill>
                  <a:srgbClr val="F5F7FA"/>
                </a:solidFill>
                <a:latin typeface="Noto Sans CJK JP"/>
                <a:ea typeface="Noto Sans CJK JP"/>
              </a:rPr>
              <a:t>Φ ≈ 一定</a:t>
            </a:r>
            <a:endParaRPr lang="ja-JP"/>
          </a:p>
          <a:p>
            <a:pPr algn="ctr"/>
            <a:r>
              <a:rPr lang="ja-JP" sz="1650" b="0">
                <a:solidFill>
                  <a:srgbClr val="B8C4D6"/>
                </a:solidFill>
                <a:latin typeface="Noto Sans CJK JP"/>
                <a:ea typeface="Noto Sans CJK JP"/>
              </a:rPr>
              <a:t>T = kΦIₐ → 電流上限内で定トルクの基本</a:t>
            </a:r>
            <a:endParaRPr lang="ja-JP"/>
          </a:p>
        </p:txBody>
      </p:sp>
      <p:sp>
        <p:nvSpPr>
          <p:cNvPr id="5" name="High"/>
          <p:cNvSpPr/>
          <p:nvPr/>
        </p:nvSpPr>
        <p:spPr>
          <a:xfrm>
            <a:off x="6000000" y="1650000"/>
            <a:ext cx="5600000" cy="200000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txBody>
          <a:bodyPr lIns="100000" rIns="100000" tIns="100000" bIns="100000" anchor="ctr" wrap="square"/>
          <a:lstStyle/>
          <a:p>
            <a:pPr algn="ctr"/>
            <a:r>
              <a:rPr lang="ja-JP" sz="1900" b="1">
                <a:solidFill>
                  <a:srgbClr val="34D1BF"/>
                </a:solidFill>
                <a:latin typeface="Noto Sans CJK JP"/>
                <a:ea typeface="Noto Sans CJK JP"/>
              </a:rPr>
              <a:t>高速側：弱め界磁</a:t>
            </a:r>
            <a:endParaRPr lang="ja-JP"/>
          </a:p>
          <a:p>
            <a:pPr algn="ctr"/>
            <a:r>
              <a:rPr lang="ja-JP" sz="2300" b="1">
                <a:solidFill>
                  <a:srgbClr val="F5F7FA"/>
                </a:solidFill>
                <a:latin typeface="Noto Sans CJK JP"/>
                <a:ea typeface="Noto Sans CJK JP"/>
              </a:rPr>
              <a:t>N ∝ 1/Φ　　T ∝ Φ</a:t>
            </a:r>
            <a:endParaRPr lang="ja-JP"/>
          </a:p>
          <a:p>
            <a:pPr algn="ctr"/>
            <a:r>
              <a:rPr lang="ja-JP" sz="1650" b="0">
                <a:solidFill>
                  <a:srgbClr val="B8C4D6"/>
                </a:solidFill>
                <a:latin typeface="Noto Sans CJK JP"/>
                <a:ea typeface="Noto Sans CJK JP"/>
              </a:rPr>
              <a:t>速度↑・トルク↓ → P=Tω がほぼ一定の基本</a:t>
            </a:r>
            <a:endParaRPr lang="ja-JP"/>
          </a:p>
        </p:txBody>
      </p:sp>
      <p:sp>
        <p:nvSpPr>
          <p:cNvPr id="6" name="Train"/>
          <p:cNvSpPr/>
          <p:nvPr/>
        </p:nvSpPr>
        <p:spPr>
          <a:xfrm>
            <a:off x="600000" y="4050000"/>
            <a:ext cx="11000000" cy="1450000"/>
          </a:xfrm>
          <a:prstGeom prst="roundRect">
            <a:avLst/>
          </a:prstGeom>
          <a:noFill/>
          <a:ln w="12700">
            <a:solidFill>
              <a:srgbClr val="F6C85F"/>
            </a:solidFill>
          </a:ln>
        </p:spPr>
        <p:txBody>
          <a:bodyPr lIns="100000" rIns="100000" tIns="100000" bIns="100000" anchor="ctr" wrap="square"/>
          <a:lstStyle/>
          <a:p>
            <a:pPr algn="ctr"/>
            <a:r>
              <a:rPr lang="ja-JP" sz="1600" b="1">
                <a:solidFill>
                  <a:srgbClr val="F6C85F"/>
                </a:solidFill>
                <a:latin typeface="Noto Sans CJK JP"/>
                <a:ea typeface="Noto Sans CJK JP"/>
              </a:rPr>
              <a:t>新幹線への接続（系列SPECで確定済みの範囲）</a:t>
            </a:r>
            <a:endParaRPr lang="ja-JP"/>
          </a:p>
          <a:p>
            <a:pPr algn="ctr"/>
            <a:r>
              <a:rPr lang="ja-JP" sz="1900" b="1">
                <a:solidFill>
                  <a:srgbClr val="F5F7FA"/>
                </a:solidFill>
                <a:latin typeface="Noto Sans CJK JP"/>
                <a:ea typeface="Noto Sans CJK JP"/>
              </a:rPr>
              <a:t>変圧器側で電圧を変える → 主電動機へ加わる電圧が変わる</a:t>
            </a:r>
            <a:endParaRPr lang="ja-JP"/>
          </a:p>
          <a:p>
            <a:pPr algn="ctr"/>
            <a:r>
              <a:rPr lang="ja-JP" sz="2200" b="1">
                <a:solidFill>
                  <a:srgbClr val="34D1BF"/>
                </a:solidFill>
                <a:latin typeface="Noto Sans CJK JP"/>
                <a:ea typeface="Noto Sans CJK JP"/>
              </a:rPr>
              <a:t>→ 電流・トルク・速度が変化する</a:t>
            </a:r>
            <a:endParaRPr lang="ja-JP"/>
          </a:p>
        </p:txBody>
      </p:sp>
      <p:sp>
        <p:nvSpPr>
          <p:cNvPr id="7" name="Boundary"/>
          <p:cNvSpPr/>
          <p:nvPr/>
        </p:nvSpPr>
        <p:spPr>
          <a:xfrm>
            <a:off x="600000" y="5700000"/>
            <a:ext cx="11000000" cy="5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square"/>
          <a:lstStyle/>
          <a:p>
            <a:pPr algn="ctr"/>
            <a:r>
              <a:rPr lang="ja-JP" sz="1350" b="0">
                <a:solidFill>
                  <a:srgbClr val="B8C4D6"/>
                </a:solidFill>
                <a:latin typeface="Noto Sans CJK JP"/>
                <a:ea typeface="Noto Sans CJK JP"/>
              </a:rPr>
              <a:t>未確認の0系タップ数・主電動機定格値は使わない／回生・VVVF・半導体は後続Topic</a:t>
            </a:r>
            <a:endParaRPr lang="ja-JP"/>
          </a:p>
        </p:txBody>
      </p:sp>
    </p:spTree>
  </p:cSld>
  <p:clrMapOvr>
    <a:masterClrMapping/>
  </p:clrMapOvr>
</p:sld>
</file>