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FFFFFF" bg2="E7E6E6" folHlink="954F72" hlink="0563C1" tx1="000000" tx2="44546A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20000" y="290000"/>
            <a:ext cx="109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3000" b="1">
                <a:solidFill>
                  <a:srgbClr val="0F172A"/>
                </a:solidFill>
                <a:latin typeface="Aptos"/>
                <a:ea typeface="Noto Sans CJK JP"/>
              </a:rPr>
              <a:t>誘導電動機は「速度差」で回る</a:t>
            </a:r>
            <a:endParaRPr lang="ja-JP" sz="3000"/>
          </a:p>
        </p:txBody>
      </p:sp>
      <p:sp>
        <p:nvSpPr>
          <p:cNvPr id="11" name="Text 11"/>
          <p:cNvSpPr txBox="1"/>
          <p:nvPr/>
        </p:nvSpPr>
        <p:spPr>
          <a:xfrm>
            <a:off x="620000" y="800000"/>
            <a:ext cx="10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475569"/>
                </a:solidFill>
                <a:latin typeface="Aptos"/>
                <a:ea typeface="Noto Sans CJK JP"/>
              </a:rPr>
              <a:t>回転磁界 → 電磁誘導 → 回転子電流 → トルク</a:t>
            </a:r>
            <a:endParaRPr lang="ja-JP" sz="1450"/>
          </a:p>
        </p:txBody>
      </p:sp>
      <p:sp>
        <p:nvSpPr>
          <p:cNvPr id="10" name="Box 10"/>
          <p:cNvSpPr/>
          <p:nvPr/>
        </p:nvSpPr>
        <p:spPr>
          <a:xfrm>
            <a:off x="650000" y="1850000"/>
            <a:ext cx="1700000" cy="9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60A5FA"/>
            </a:solidFill>
          </a:ln>
        </p:spPr>
      </p:sp>
      <p:sp>
        <p:nvSpPr>
          <p:cNvPr id="11" name="Text 11"/>
          <p:cNvSpPr txBox="1"/>
          <p:nvPr/>
        </p:nvSpPr>
        <p:spPr>
          <a:xfrm>
            <a:off x="730000" y="2050000"/>
            <a:ext cx="154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600" b="1">
                <a:solidFill>
                  <a:srgbClr val="1E3A8A"/>
                </a:solidFill>
                <a:latin typeface="Aptos"/>
                <a:ea typeface="Noto Sans CJK JP"/>
              </a:rPr>
              <a:t>三相固定子電流</a:t>
            </a:r>
            <a:endParaRPr lang="ja-JP" sz="1600"/>
          </a:p>
        </p:txBody>
      </p:sp>
      <p:sp>
        <p:nvSpPr>
          <p:cNvPr id="12" name="Box 12"/>
          <p:cNvSpPr/>
          <p:nvPr/>
        </p:nvSpPr>
        <p:spPr>
          <a:xfrm>
            <a:off x="3000000" y="1850000"/>
            <a:ext cx="1700000" cy="9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60A5FA"/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3080000" y="2050000"/>
            <a:ext cx="154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600" b="1">
                <a:solidFill>
                  <a:srgbClr val="1E3A8A"/>
                </a:solidFill>
                <a:latin typeface="Aptos"/>
                <a:ea typeface="Noto Sans CJK JP"/>
              </a:rPr>
              <a:t>回転磁界 Ns</a:t>
            </a:r>
            <a:endParaRPr lang="ja-JP" sz="1600"/>
          </a:p>
        </p:txBody>
      </p:sp>
      <p:sp>
        <p:nvSpPr>
          <p:cNvPr id="14" name="Box 14"/>
          <p:cNvSpPr/>
          <p:nvPr/>
        </p:nvSpPr>
        <p:spPr>
          <a:xfrm>
            <a:off x="5350000" y="1850000"/>
            <a:ext cx="1700000" cy="9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60A5FA"/>
            </a:solidFill>
          </a:ln>
        </p:spPr>
      </p:sp>
      <p:sp>
        <p:nvSpPr>
          <p:cNvPr id="15" name="Text 15"/>
          <p:cNvSpPr txBox="1"/>
          <p:nvPr/>
        </p:nvSpPr>
        <p:spPr>
          <a:xfrm>
            <a:off x="5430000" y="2050000"/>
            <a:ext cx="154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600" b="1">
                <a:solidFill>
                  <a:srgbClr val="1E3A8A"/>
                </a:solidFill>
                <a:latin typeface="Aptos"/>
                <a:ea typeface="Noto Sans CJK JP"/>
              </a:rPr>
              <a:t>誘導起電力・回転子電流</a:t>
            </a:r>
            <a:endParaRPr lang="ja-JP" sz="1600"/>
          </a:p>
        </p:txBody>
      </p:sp>
      <p:sp>
        <p:nvSpPr>
          <p:cNvPr id="16" name="Box 16"/>
          <p:cNvSpPr/>
          <p:nvPr/>
        </p:nvSpPr>
        <p:spPr>
          <a:xfrm>
            <a:off x="7700000" y="1850000"/>
            <a:ext cx="1700000" cy="9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60A5FA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7780000" y="2050000"/>
            <a:ext cx="154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600" b="1">
                <a:solidFill>
                  <a:srgbClr val="1E3A8A"/>
                </a:solidFill>
                <a:latin typeface="Aptos"/>
                <a:ea typeface="Noto Sans CJK JP"/>
              </a:rPr>
              <a:t>電磁トルク</a:t>
            </a:r>
            <a:endParaRPr lang="ja-JP" sz="1600"/>
          </a:p>
        </p:txBody>
      </p:sp>
      <p:sp>
        <p:nvSpPr>
          <p:cNvPr id="18" name="Box 18"/>
          <p:cNvSpPr/>
          <p:nvPr/>
        </p:nvSpPr>
        <p:spPr>
          <a:xfrm>
            <a:off x="10050000" y="1850000"/>
            <a:ext cx="1700000" cy="9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60A5FA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10130000" y="2050000"/>
            <a:ext cx="154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600" b="1">
                <a:solidFill>
                  <a:srgbClr val="1E3A8A"/>
                </a:solidFill>
                <a:latin typeface="Aptos"/>
                <a:ea typeface="Noto Sans CJK JP"/>
              </a:rPr>
              <a:t>回転子 N</a:t>
            </a:r>
            <a:endParaRPr lang="ja-JP" sz="1600"/>
          </a:p>
        </p:txBody>
      </p:sp>
      <p:sp>
        <p:nvSpPr>
          <p:cNvPr id="20" name="Line 20"/>
          <p:cNvSpPr/>
          <p:nvPr/>
        </p:nvSpPr>
        <p:spPr>
          <a:xfrm>
            <a:off x="2350000" y="2320000"/>
            <a:ext cx="590000" cy="0"/>
          </a:xfrm>
          <a:prstGeom prst="line">
            <a:avLst/>
          </a:prstGeom>
          <a:ln w="22000">
            <a:solidFill>
              <a:srgbClr val="3B82F6"/>
            </a:solidFill>
            <a:tailEnd type="triangle"/>
            <a:headEnd type="none"/>
          </a:ln>
        </p:spPr>
      </p:sp>
      <p:sp>
        <p:nvSpPr>
          <p:cNvPr id="21" name="Line 21"/>
          <p:cNvSpPr/>
          <p:nvPr/>
        </p:nvSpPr>
        <p:spPr>
          <a:xfrm>
            <a:off x="4700000" y="2320000"/>
            <a:ext cx="590000" cy="0"/>
          </a:xfrm>
          <a:prstGeom prst="line">
            <a:avLst/>
          </a:prstGeom>
          <a:ln w="22000">
            <a:solidFill>
              <a:srgbClr val="3B82F6"/>
            </a:solidFill>
            <a:tailEnd type="triangle"/>
            <a:headEnd type="none"/>
          </a:ln>
        </p:spPr>
      </p:sp>
      <p:sp>
        <p:nvSpPr>
          <p:cNvPr id="22" name="Line 22"/>
          <p:cNvSpPr/>
          <p:nvPr/>
        </p:nvSpPr>
        <p:spPr>
          <a:xfrm>
            <a:off x="7050000" y="2320000"/>
            <a:ext cx="590000" cy="0"/>
          </a:xfrm>
          <a:prstGeom prst="line">
            <a:avLst/>
          </a:prstGeom>
          <a:ln w="22000">
            <a:solidFill>
              <a:srgbClr val="3B82F6"/>
            </a:solidFill>
            <a:tailEnd type="triangle"/>
            <a:headEnd type="none"/>
          </a:ln>
        </p:spPr>
      </p:sp>
      <p:sp>
        <p:nvSpPr>
          <p:cNvPr id="23" name="Line 23"/>
          <p:cNvSpPr/>
          <p:nvPr/>
        </p:nvSpPr>
        <p:spPr>
          <a:xfrm>
            <a:off x="9400000" y="2320000"/>
            <a:ext cx="590000" cy="0"/>
          </a:xfrm>
          <a:prstGeom prst="line">
            <a:avLst/>
          </a:prstGeom>
          <a:ln w="22000">
            <a:solidFill>
              <a:srgbClr val="3B82F6"/>
            </a:solidFill>
            <a:tailEnd type="triangle"/>
            <a:headEnd type="none"/>
          </a:ln>
        </p:spPr>
      </p:sp>
      <p:sp>
        <p:nvSpPr>
          <p:cNvPr id="24" name="Box 24"/>
          <p:cNvSpPr/>
          <p:nvPr/>
        </p:nvSpPr>
        <p:spPr>
          <a:xfrm>
            <a:off x="1050000" y="3600000"/>
            <a:ext cx="9900000" cy="135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1350000" y="383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900" b="0">
                <a:solidFill>
                  <a:srgbClr val="0F172A"/>
                </a:solidFill>
                <a:latin typeface="Aptos"/>
                <a:ea typeface="Noto Sans CJK JP"/>
              </a:rPr>
              <a:t>Ns = 120 f₁ / p     s = (Ns − N) / Ns     f₂ = s f₁</a:t>
            </a:r>
            <a:endParaRPr lang="ja-JP" sz="1900"/>
          </a:p>
          <a:p>
            <a:pPr algn="ctr"/>
            <a:r>
              <a:rPr lang="ja-JP" sz="1900" b="0">
                <a:solidFill>
                  <a:srgbClr val="0F172A"/>
                </a:solidFill>
                <a:latin typeface="Aptos"/>
                <a:ea typeface="Noto Sans CJK JP"/>
              </a:rPr>
              <a:t>N = Ns になると相対速度→0 → 誘導起電力・回転子電流・トルク→0。負荷運転には正の滑りが必要。</a:t>
            </a:r>
            <a:endParaRPr lang="ja-JP" sz="1900"/>
          </a:p>
        </p:txBody>
      </p:sp>
      <p:sp>
        <p:nvSpPr>
          <p:cNvPr id="12" name="Text 12"/>
          <p:cNvSpPr txBox="1"/>
          <p:nvPr/>
        </p:nvSpPr>
        <p:spPr>
          <a:xfrm>
            <a:off x="620000" y="648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950" b="0">
                <a:solidFill>
                  <a:srgbClr val="64748B"/>
                </a:solidFill>
                <a:latin typeface="Aptos"/>
                <a:ea typeface="Noto Sans CJK JP"/>
              </a:rPr>
              <a:t>電験三種 機械｜Topic 05 誘導電動機</a:t>
            </a:r>
            <a:endParaRPr lang="ja-JP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20000" y="290000"/>
            <a:ext cx="109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3000" b="1">
                <a:solidFill>
                  <a:srgbClr val="0F172A"/>
                </a:solidFill>
                <a:latin typeface="Aptos"/>
                <a:ea typeface="Noto Sans CJK JP"/>
              </a:rPr>
              <a:t>同期速度・滑り・二次周波数</a:t>
            </a:r>
            <a:endParaRPr lang="ja-JP" sz="3000"/>
          </a:p>
        </p:txBody>
      </p:sp>
      <p:sp>
        <p:nvSpPr>
          <p:cNvPr id="11" name="Text 11"/>
          <p:cNvSpPr txBox="1"/>
          <p:nvPr/>
        </p:nvSpPr>
        <p:spPr>
          <a:xfrm>
            <a:off x="620000" y="800000"/>
            <a:ext cx="10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475569"/>
                </a:solidFill>
                <a:latin typeface="Aptos"/>
                <a:ea typeface="Noto Sans CJK JP"/>
              </a:rPr>
              <a:t>本試験ではこの3式を往復できることが基本</a:t>
            </a:r>
            <a:endParaRPr lang="ja-JP" sz="1450"/>
          </a:p>
        </p:txBody>
      </p:sp>
      <p:sp>
        <p:nvSpPr>
          <p:cNvPr id="13" name="Box 13"/>
          <p:cNvSpPr/>
          <p:nvPr/>
        </p:nvSpPr>
        <p:spPr>
          <a:xfrm>
            <a:off x="700000" y="1700000"/>
            <a:ext cx="3450000" cy="39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50000" y="1950000"/>
            <a:ext cx="3000000" cy="2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① 同期速度</a:t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Ns = 120 f₁ / p</a:t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/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② 滑り</a:t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s = (Ns − N) / Ns</a:t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N = (1 − s)Ns</a:t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/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③ 二次周波数</a:t>
            </a:r>
            <a:endParaRPr lang="ja-JP" sz="2050"/>
          </a:p>
          <a:p>
            <a:pPr algn="l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f₂ = s f₁</a:t>
            </a:r>
            <a:endParaRPr lang="ja-JP" sz="2050"/>
          </a:p>
        </p:txBody>
      </p:sp>
      <p:sp>
        <p:nvSpPr>
          <p:cNvPr id="15" name="Box 15"/>
          <p:cNvSpPr/>
          <p:nvPr/>
        </p:nvSpPr>
        <p:spPr>
          <a:xfrm>
            <a:off x="4550000" y="1700000"/>
            <a:ext cx="6950000" cy="3900000"/>
          </a:xfrm>
          <a:prstGeom prst="roundRect">
            <a:avLst/>
          </a:prstGeom>
          <a:solidFill>
            <a:srgbClr val="FFFBEB"/>
          </a:solidFill>
          <a:ln w="16000">
            <a:solidFill>
              <a:srgbClr val="F59E0B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4850000" y="1950000"/>
            <a:ext cx="635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2050" b="0">
                <a:solidFill>
                  <a:srgbClr val="78350F"/>
                </a:solidFill>
                <a:latin typeface="Aptos"/>
                <a:ea typeface="Noto Sans CJK JP"/>
              </a:rPr>
              <a:t>例：50 Hz・4極・1440 min⁻¹</a:t>
            </a:r>
            <a:endParaRPr lang="ja-JP" sz="2050"/>
          </a:p>
          <a:p>
            <a:pPr algn="l"/>
            <a:r>
              <a:rPr lang="ja-JP" sz="2050" b="0">
                <a:solidFill>
                  <a:srgbClr val="78350F"/>
                </a:solidFill>
                <a:latin typeface="Aptos"/>
                <a:ea typeface="Noto Sans CJK JP"/>
              </a:rPr>
              <a:t/>
            </a:r>
            <a:endParaRPr lang="ja-JP" sz="2050"/>
          </a:p>
          <a:p>
            <a:pPr algn="l"/>
            <a:r>
              <a:rPr lang="ja-JP" sz="2050" b="0">
                <a:solidFill>
                  <a:srgbClr val="78350F"/>
                </a:solidFill>
                <a:latin typeface="Aptos"/>
                <a:ea typeface="Noto Sans CJK JP"/>
              </a:rPr>
              <a:t>Ns = 120×50/4 = 1500 min⁻¹</a:t>
            </a:r>
            <a:endParaRPr lang="ja-JP" sz="2050"/>
          </a:p>
          <a:p>
            <a:pPr algn="l"/>
            <a:r>
              <a:rPr lang="ja-JP" sz="2050" b="0">
                <a:solidFill>
                  <a:srgbClr val="78350F"/>
                </a:solidFill>
                <a:latin typeface="Aptos"/>
                <a:ea typeface="Noto Sans CJK JP"/>
              </a:rPr>
              <a:t>s = (1500−1440)/1500 = 0.040 = 4.0 %</a:t>
            </a:r>
            <a:endParaRPr lang="ja-JP" sz="2050"/>
          </a:p>
          <a:p>
            <a:pPr algn="l"/>
            <a:r>
              <a:rPr lang="ja-JP" sz="2050" b="0">
                <a:solidFill>
                  <a:srgbClr val="78350F"/>
                </a:solidFill>
                <a:latin typeface="Aptos"/>
                <a:ea typeface="Noto Sans CJK JP"/>
              </a:rPr>
              <a:t>f₂ = 0.040×50 = 2.0 Hz</a:t>
            </a:r>
            <a:endParaRPr lang="ja-JP" sz="2050"/>
          </a:p>
        </p:txBody>
      </p:sp>
      <p:sp>
        <p:nvSpPr>
          <p:cNvPr id="17" name="Text 17"/>
          <p:cNvSpPr txBox="1"/>
          <p:nvPr/>
        </p:nvSpPr>
        <p:spPr>
          <a:xfrm>
            <a:off x="4850000" y="4650000"/>
            <a:ext cx="635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600" b="1">
                <a:solidFill>
                  <a:srgbClr val="92400E"/>
                </a:solidFill>
                <a:latin typeface="Aptos"/>
                <a:ea typeface="Noto Sans CJK JP"/>
              </a:rPr>
              <a:t>検算：電動機運転なら 0 &lt; s &lt; 1、かつ N &lt; Ns。</a:t>
            </a:r>
            <a:endParaRPr lang="ja-JP" sz="1600"/>
          </a:p>
        </p:txBody>
      </p:sp>
      <p:sp>
        <p:nvSpPr>
          <p:cNvPr id="12" name="Text 12"/>
          <p:cNvSpPr txBox="1"/>
          <p:nvPr/>
        </p:nvSpPr>
        <p:spPr>
          <a:xfrm>
            <a:off x="620000" y="648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950" b="0">
                <a:solidFill>
                  <a:srgbClr val="64748B"/>
                </a:solidFill>
                <a:latin typeface="Aptos"/>
                <a:ea typeface="Noto Sans CJK JP"/>
              </a:rPr>
              <a:t>電験三種 機械｜Topic 05 誘導電動機</a:t>
            </a:r>
            <a:endParaRPr lang="ja-JP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20000" y="290000"/>
            <a:ext cx="109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3000" b="1">
                <a:solidFill>
                  <a:srgbClr val="0F172A"/>
                </a:solidFill>
                <a:latin typeface="Aptos"/>
                <a:ea typeface="Noto Sans CJK JP"/>
              </a:rPr>
              <a:t>電力フローを順番で追う</a:t>
            </a:r>
            <a:endParaRPr lang="ja-JP" sz="3000"/>
          </a:p>
        </p:txBody>
      </p:sp>
      <p:sp>
        <p:nvSpPr>
          <p:cNvPr id="11" name="Text 11"/>
          <p:cNvSpPr txBox="1"/>
          <p:nvPr/>
        </p:nvSpPr>
        <p:spPr>
          <a:xfrm>
            <a:off x="620000" y="800000"/>
            <a:ext cx="10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475569"/>
                </a:solidFill>
                <a:latin typeface="Aptos"/>
                <a:ea typeface="Noto Sans CJK JP"/>
              </a:rPr>
              <a:t>二次銅損の基準は P₂。機械損を引くのは Pm の後。</a:t>
            </a:r>
            <a:endParaRPr lang="ja-JP" sz="1450"/>
          </a:p>
        </p:txBody>
      </p:sp>
      <p:sp>
        <p:nvSpPr>
          <p:cNvPr id="13" name="Box 13"/>
          <p:cNvSpPr/>
          <p:nvPr/>
        </p:nvSpPr>
        <p:spPr>
          <a:xfrm>
            <a:off x="450000" y="2000000"/>
            <a:ext cx="1200000" cy="10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4A3B8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500000" y="2140000"/>
            <a:ext cx="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P₁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一次入力</a:t>
            </a:r>
            <a:endParaRPr lang="ja-JP" sz="1350"/>
          </a:p>
        </p:txBody>
      </p:sp>
      <p:sp>
        <p:nvSpPr>
          <p:cNvPr id="15" name="Line 15"/>
          <p:cNvSpPr/>
          <p:nvPr/>
        </p:nvSpPr>
        <p:spPr>
          <a:xfrm>
            <a:off x="1650000" y="2520000"/>
            <a:ext cx="180000" cy="0"/>
          </a:xfrm>
          <a:prstGeom prst="line">
            <a:avLst/>
          </a:prstGeom>
          <a:ln w="18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16" name="Box 16"/>
          <p:cNvSpPr/>
          <p:nvPr/>
        </p:nvSpPr>
        <p:spPr>
          <a:xfrm>
            <a:off x="1850000" y="2000000"/>
            <a:ext cx="1450000" cy="1050000"/>
          </a:xfrm>
          <a:prstGeom prst="roundRect">
            <a:avLst/>
          </a:prstGeom>
          <a:solidFill>
            <a:srgbClr val="FEF2F2"/>
          </a:solidFill>
          <a:ln w="16000">
            <a:solidFill>
              <a:srgbClr val="94A3B8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1900000" y="2140000"/>
            <a:ext cx="13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損失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鉄損 Pi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一次銅損 Pc₁</a:t>
            </a:r>
            <a:endParaRPr lang="ja-JP" sz="1350"/>
          </a:p>
        </p:txBody>
      </p:sp>
      <p:sp>
        <p:nvSpPr>
          <p:cNvPr id="18" name="Line 18"/>
          <p:cNvSpPr/>
          <p:nvPr/>
        </p:nvSpPr>
        <p:spPr>
          <a:xfrm>
            <a:off x="3300000" y="2520000"/>
            <a:ext cx="180000" cy="0"/>
          </a:xfrm>
          <a:prstGeom prst="line">
            <a:avLst/>
          </a:prstGeom>
          <a:ln w="18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19" name="Box 19"/>
          <p:cNvSpPr/>
          <p:nvPr/>
        </p:nvSpPr>
        <p:spPr>
          <a:xfrm>
            <a:off x="3500000" y="2000000"/>
            <a:ext cx="1200000" cy="10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4A3B8"/>
            </a:solidFill>
          </a:ln>
        </p:spPr>
      </p:sp>
      <p:sp>
        <p:nvSpPr>
          <p:cNvPr id="20" name="Text 20"/>
          <p:cNvSpPr txBox="1"/>
          <p:nvPr/>
        </p:nvSpPr>
        <p:spPr>
          <a:xfrm>
            <a:off x="3550000" y="2140000"/>
            <a:ext cx="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P₂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二次入力</a:t>
            </a:r>
            <a:endParaRPr lang="ja-JP" sz="1350"/>
          </a:p>
        </p:txBody>
      </p:sp>
      <p:sp>
        <p:nvSpPr>
          <p:cNvPr id="21" name="Line 21"/>
          <p:cNvSpPr/>
          <p:nvPr/>
        </p:nvSpPr>
        <p:spPr>
          <a:xfrm>
            <a:off x="4700000" y="2520000"/>
            <a:ext cx="180000" cy="0"/>
          </a:xfrm>
          <a:prstGeom prst="line">
            <a:avLst/>
          </a:prstGeom>
          <a:ln w="18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22" name="Box 22"/>
          <p:cNvSpPr/>
          <p:nvPr/>
        </p:nvSpPr>
        <p:spPr>
          <a:xfrm>
            <a:off x="4900000" y="2000000"/>
            <a:ext cx="1200000" cy="1050000"/>
          </a:xfrm>
          <a:prstGeom prst="roundRect">
            <a:avLst/>
          </a:prstGeom>
          <a:solidFill>
            <a:srgbClr val="FEF2F2"/>
          </a:solidFill>
          <a:ln w="16000">
            <a:solidFill>
              <a:srgbClr val="94A3B8"/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4950000" y="2140000"/>
            <a:ext cx="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Pc₂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二次銅損</a:t>
            </a:r>
            <a:endParaRPr lang="ja-JP" sz="1350"/>
          </a:p>
        </p:txBody>
      </p:sp>
      <p:sp>
        <p:nvSpPr>
          <p:cNvPr id="24" name="Line 24"/>
          <p:cNvSpPr/>
          <p:nvPr/>
        </p:nvSpPr>
        <p:spPr>
          <a:xfrm>
            <a:off x="6100000" y="2520000"/>
            <a:ext cx="180000" cy="0"/>
          </a:xfrm>
          <a:prstGeom prst="line">
            <a:avLst/>
          </a:prstGeom>
          <a:ln w="18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25" name="Box 25"/>
          <p:cNvSpPr/>
          <p:nvPr/>
        </p:nvSpPr>
        <p:spPr>
          <a:xfrm>
            <a:off x="6300000" y="2000000"/>
            <a:ext cx="1450000" cy="10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4A3B8"/>
            </a:solidFill>
          </a:ln>
        </p:spPr>
      </p:sp>
      <p:sp>
        <p:nvSpPr>
          <p:cNvPr id="26" name="Text 26"/>
          <p:cNvSpPr txBox="1"/>
          <p:nvPr/>
        </p:nvSpPr>
        <p:spPr>
          <a:xfrm>
            <a:off x="6350000" y="2140000"/>
            <a:ext cx="13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Pm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機械変換電力</a:t>
            </a:r>
            <a:endParaRPr lang="ja-JP" sz="1350"/>
          </a:p>
        </p:txBody>
      </p:sp>
      <p:sp>
        <p:nvSpPr>
          <p:cNvPr id="27" name="Line 27"/>
          <p:cNvSpPr/>
          <p:nvPr/>
        </p:nvSpPr>
        <p:spPr>
          <a:xfrm>
            <a:off x="7750000" y="2520000"/>
            <a:ext cx="180000" cy="0"/>
          </a:xfrm>
          <a:prstGeom prst="line">
            <a:avLst/>
          </a:prstGeom>
          <a:ln w="18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28" name="Box 28"/>
          <p:cNvSpPr/>
          <p:nvPr/>
        </p:nvSpPr>
        <p:spPr>
          <a:xfrm>
            <a:off x="7950000" y="2000000"/>
            <a:ext cx="1200000" cy="1050000"/>
          </a:xfrm>
          <a:prstGeom prst="roundRect">
            <a:avLst/>
          </a:prstGeom>
          <a:solidFill>
            <a:srgbClr val="FEF2F2"/>
          </a:solidFill>
          <a:ln w="16000">
            <a:solidFill>
              <a:srgbClr val="94A3B8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8000000" y="2140000"/>
            <a:ext cx="110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Pmec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機械損</a:t>
            </a:r>
            <a:endParaRPr lang="ja-JP" sz="1350"/>
          </a:p>
        </p:txBody>
      </p:sp>
      <p:sp>
        <p:nvSpPr>
          <p:cNvPr id="30" name="Line 30"/>
          <p:cNvSpPr/>
          <p:nvPr/>
        </p:nvSpPr>
        <p:spPr>
          <a:xfrm>
            <a:off x="9150000" y="2520000"/>
            <a:ext cx="180000" cy="0"/>
          </a:xfrm>
          <a:prstGeom prst="line">
            <a:avLst/>
          </a:prstGeom>
          <a:ln w="18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31" name="Box 31"/>
          <p:cNvSpPr/>
          <p:nvPr/>
        </p:nvSpPr>
        <p:spPr>
          <a:xfrm>
            <a:off x="9350000" y="2000000"/>
            <a:ext cx="1350000" cy="105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4A3B8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9400000" y="2140000"/>
            <a:ext cx="1250000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Pout</a:t>
            </a:r>
            <a:endParaRPr lang="ja-JP" sz="1350"/>
          </a:p>
          <a:p>
            <a:pPr algn="ctr"/>
            <a:r>
              <a:rPr lang="ja-JP" sz="1350" b="1">
                <a:solidFill>
                  <a:srgbClr val="0F172A"/>
                </a:solidFill>
                <a:latin typeface="Aptos"/>
                <a:ea typeface="Noto Sans CJK JP"/>
              </a:rPr>
              <a:t>軸出力</a:t>
            </a:r>
            <a:endParaRPr lang="ja-JP" sz="1350"/>
          </a:p>
        </p:txBody>
      </p:sp>
      <p:sp>
        <p:nvSpPr>
          <p:cNvPr id="33" name="Box 33"/>
          <p:cNvSpPr/>
          <p:nvPr/>
        </p:nvSpPr>
        <p:spPr>
          <a:xfrm>
            <a:off x="950000" y="3700000"/>
            <a:ext cx="10200000" cy="145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1200000" y="3920000"/>
            <a:ext cx="9700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P₁ = √3VIcosφ      P₂ = P₁ − Pi − Pc₁</a:t>
            </a:r>
            <a:endParaRPr lang="ja-JP" sz="2050"/>
          </a:p>
          <a:p>
            <a:pPr algn="ctr"/>
            <a:r>
              <a:rPr lang="ja-JP" sz="2050" b="1">
                <a:solidFill>
                  <a:srgbClr val="0F172A"/>
                </a:solidFill>
                <a:latin typeface="Aptos"/>
                <a:ea typeface="Noto Sans CJK JP"/>
              </a:rPr>
              <a:t>Pc₂ = sP₂      Pm = (1−s)P₂      Pout = Pm − Pmec      η = Pout/P₁</a:t>
            </a:r>
            <a:endParaRPr lang="ja-JP" sz="2050"/>
          </a:p>
        </p:txBody>
      </p:sp>
      <p:sp>
        <p:nvSpPr>
          <p:cNvPr id="12" name="Text 12"/>
          <p:cNvSpPr txBox="1"/>
          <p:nvPr/>
        </p:nvSpPr>
        <p:spPr>
          <a:xfrm>
            <a:off x="620000" y="648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950" b="0">
                <a:solidFill>
                  <a:srgbClr val="64748B"/>
                </a:solidFill>
                <a:latin typeface="Aptos"/>
                <a:ea typeface="Noto Sans CJK JP"/>
              </a:rPr>
              <a:t>電験三種 機械｜Topic 05 誘導電動機</a:t>
            </a:r>
            <a:endParaRPr lang="ja-JP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20000" y="290000"/>
            <a:ext cx="109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3000" b="1">
                <a:solidFill>
                  <a:srgbClr val="0F172A"/>
                </a:solidFill>
                <a:latin typeface="Aptos"/>
                <a:ea typeface="Noto Sans CJK JP"/>
              </a:rPr>
              <a:t>トルクは「どの電力・どの角速度か」を区別</a:t>
            </a:r>
            <a:endParaRPr lang="ja-JP" sz="3000"/>
          </a:p>
        </p:txBody>
      </p:sp>
      <p:sp>
        <p:nvSpPr>
          <p:cNvPr id="11" name="Text 11"/>
          <p:cNvSpPr txBox="1"/>
          <p:nvPr/>
        </p:nvSpPr>
        <p:spPr>
          <a:xfrm>
            <a:off x="620000" y="800000"/>
            <a:ext cx="10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475569"/>
                </a:solidFill>
                <a:latin typeface="Aptos"/>
                <a:ea typeface="Noto Sans CJK JP"/>
              </a:rPr>
              <a:t>比例推移は同一トルク点の r₂/s 一定を使う</a:t>
            </a:r>
            <a:endParaRPr lang="ja-JP" sz="1450"/>
          </a:p>
        </p:txBody>
      </p:sp>
      <p:sp>
        <p:nvSpPr>
          <p:cNvPr id="13" name="Box 13"/>
          <p:cNvSpPr/>
          <p:nvPr/>
        </p:nvSpPr>
        <p:spPr>
          <a:xfrm>
            <a:off x="650000" y="1650000"/>
            <a:ext cx="5100000" cy="180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60A5FA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900000" y="1900000"/>
            <a:ext cx="46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900" b="1">
                <a:solidFill>
                  <a:srgbClr val="1E3A8A"/>
                </a:solidFill>
                <a:latin typeface="Aptos"/>
                <a:ea typeface="Noto Sans CJK JP"/>
              </a:rPr>
              <a:t>二次入力と電磁トルク</a:t>
            </a:r>
            <a:endParaRPr lang="ja-JP" sz="1900"/>
          </a:p>
          <a:p>
            <a:pPr algn="l"/>
            <a:r>
              <a:rPr lang="ja-JP" sz="1900" b="1">
                <a:solidFill>
                  <a:srgbClr val="1E3A8A"/>
                </a:solidFill>
                <a:latin typeface="Aptos"/>
                <a:ea typeface="Noto Sans CJK JP"/>
              </a:rPr>
              <a:t>P₂ = Tωs   （ωs = 2πNs/60）</a:t>
            </a:r>
            <a:endParaRPr lang="ja-JP" sz="1900"/>
          </a:p>
          <a:p>
            <a:pPr algn="l"/>
            <a:r>
              <a:rPr lang="ja-JP" sz="1900" b="1">
                <a:solidFill>
                  <a:srgbClr val="1E3A8A"/>
                </a:solidFill>
                <a:latin typeface="Aptos"/>
                <a:ea typeface="Noto Sans CJK JP"/>
              </a:rPr>
              <a:t/>
            </a:r>
            <a:endParaRPr lang="ja-JP" sz="1900"/>
          </a:p>
          <a:p>
            <a:pPr algn="l"/>
            <a:r>
              <a:rPr lang="ja-JP" sz="1900" b="1">
                <a:solidFill>
                  <a:srgbClr val="1E3A8A"/>
                </a:solidFill>
                <a:latin typeface="Aptos"/>
                <a:ea typeface="Noto Sans CJK JP"/>
              </a:rPr>
              <a:t>機械変換電力</a:t>
            </a:r>
            <a:endParaRPr lang="ja-JP" sz="1900"/>
          </a:p>
          <a:p>
            <a:pPr algn="l"/>
            <a:r>
              <a:rPr lang="ja-JP" sz="1900" b="1">
                <a:solidFill>
                  <a:srgbClr val="1E3A8A"/>
                </a:solidFill>
                <a:latin typeface="Aptos"/>
                <a:ea typeface="Noto Sans CJK JP"/>
              </a:rPr>
              <a:t>Pm = Tωm   （ωm = 2πN/60）</a:t>
            </a:r>
            <a:endParaRPr lang="ja-JP" sz="1900"/>
          </a:p>
        </p:txBody>
      </p:sp>
      <p:sp>
        <p:nvSpPr>
          <p:cNvPr id="15" name="Box 15"/>
          <p:cNvSpPr/>
          <p:nvPr/>
        </p:nvSpPr>
        <p:spPr>
          <a:xfrm>
            <a:off x="5900000" y="1650000"/>
            <a:ext cx="5700000" cy="1800000"/>
          </a:xfrm>
          <a:prstGeom prst="roundRect">
            <a:avLst/>
          </a:prstGeom>
          <a:solidFill>
            <a:srgbClr val="F0FDF4"/>
          </a:solidFill>
          <a:ln w="16000">
            <a:solidFill>
              <a:srgbClr val="4ADE80"/>
            </a:solidFill>
          </a:ln>
        </p:spPr>
      </p:sp>
      <p:sp>
        <p:nvSpPr>
          <p:cNvPr id="16" name="Text 16"/>
          <p:cNvSpPr txBox="1"/>
          <p:nvPr/>
        </p:nvSpPr>
        <p:spPr>
          <a:xfrm>
            <a:off x="6200000" y="1900000"/>
            <a:ext cx="51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750" b="1">
                <a:solidFill>
                  <a:srgbClr val="14532D"/>
                </a:solidFill>
                <a:latin typeface="Aptos"/>
                <a:ea typeface="Noto Sans CJK JP"/>
              </a:rPr>
              <a:t>最大トルク・比例推移（簡略モデル）</a:t>
            </a:r>
            <a:endParaRPr lang="ja-JP" sz="1750"/>
          </a:p>
          <a:p>
            <a:pPr algn="l"/>
            <a:r>
              <a:rPr lang="ja-JP" sz="1750" b="1">
                <a:solidFill>
                  <a:srgbClr val="14532D"/>
                </a:solidFill>
                <a:latin typeface="Aptos"/>
                <a:ea typeface="Noto Sans CJK JP"/>
              </a:rPr>
              <a:t>最大条件：r₂/s = x₂₀</a:t>
            </a:r>
            <a:endParaRPr lang="ja-JP" sz="1750"/>
          </a:p>
          <a:p>
            <a:pPr algn="l"/>
            <a:r>
              <a:rPr lang="ja-JP" sz="1750" b="1">
                <a:solidFill>
                  <a:srgbClr val="14532D"/>
                </a:solidFill>
                <a:latin typeface="Aptos"/>
                <a:ea typeface="Noto Sans CJK JP"/>
              </a:rPr>
              <a:t>同一トルク・他条件一定：r₂/s = 一定</a:t>
            </a:r>
            <a:endParaRPr lang="ja-JP" sz="1750"/>
          </a:p>
          <a:p>
            <a:pPr algn="l"/>
            <a:r>
              <a:rPr lang="ja-JP" sz="1750" b="1">
                <a:solidFill>
                  <a:srgbClr val="14532D"/>
                </a:solidFill>
                <a:latin typeface="Aptos"/>
                <a:ea typeface="Noto Sans CJK JP"/>
              </a:rPr>
              <a:t>r₂を k 倍 → 対応する滑り s も k 倍</a:t>
            </a:r>
            <a:endParaRPr lang="ja-JP" sz="1750"/>
          </a:p>
        </p:txBody>
      </p:sp>
      <p:sp>
        <p:nvSpPr>
          <p:cNvPr id="17" name="Line 17"/>
          <p:cNvSpPr/>
          <p:nvPr/>
        </p:nvSpPr>
        <p:spPr>
          <a:xfrm>
            <a:off x="1200000" y="5600000"/>
            <a:ext cx="3700000" cy="0"/>
          </a:xfrm>
          <a:prstGeom prst="line">
            <a:avLst/>
          </a:prstGeom>
          <a:ln w="17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18" name="Line 18"/>
          <p:cNvSpPr/>
          <p:nvPr/>
        </p:nvSpPr>
        <p:spPr>
          <a:xfrm>
            <a:off x="1200000" y="5600000"/>
            <a:ext cx="0" cy="-1750000"/>
          </a:xfrm>
          <a:prstGeom prst="line">
            <a:avLst/>
          </a:prstGeom>
          <a:ln w="17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19" name="Line 19"/>
          <p:cNvSpPr/>
          <p:nvPr/>
        </p:nvSpPr>
        <p:spPr>
          <a:xfrm>
            <a:off x="1300000" y="5500000"/>
            <a:ext cx="600000" cy="-700000"/>
          </a:xfrm>
          <a:prstGeom prst="line">
            <a:avLst/>
          </a:prstGeom>
          <a:ln w="28000">
            <a:solidFill>
              <a:srgbClr val="2563EB"/>
            </a:solidFill>
          </a:ln>
        </p:spPr>
      </p:sp>
      <p:sp>
        <p:nvSpPr>
          <p:cNvPr id="20" name="Line 20"/>
          <p:cNvSpPr/>
          <p:nvPr/>
        </p:nvSpPr>
        <p:spPr>
          <a:xfrm>
            <a:off x="1900000" y="4800000"/>
            <a:ext cx="600000" cy="-600000"/>
          </a:xfrm>
          <a:prstGeom prst="line">
            <a:avLst/>
          </a:prstGeom>
          <a:ln w="28000">
            <a:solidFill>
              <a:srgbClr val="2563EB"/>
            </a:solidFill>
          </a:ln>
        </p:spPr>
      </p:sp>
      <p:sp>
        <p:nvSpPr>
          <p:cNvPr id="21" name="Line 21"/>
          <p:cNvSpPr/>
          <p:nvPr/>
        </p:nvSpPr>
        <p:spPr>
          <a:xfrm>
            <a:off x="2500000" y="4200000"/>
            <a:ext cx="600000" cy="350000"/>
          </a:xfrm>
          <a:prstGeom prst="line">
            <a:avLst/>
          </a:prstGeom>
          <a:ln w="28000">
            <a:solidFill>
              <a:srgbClr val="2563EB"/>
            </a:solidFill>
          </a:ln>
        </p:spPr>
      </p:sp>
      <p:sp>
        <p:nvSpPr>
          <p:cNvPr id="22" name="Line 22"/>
          <p:cNvSpPr/>
          <p:nvPr/>
        </p:nvSpPr>
        <p:spPr>
          <a:xfrm>
            <a:off x="3100000" y="4550000"/>
            <a:ext cx="1100000" cy="650000"/>
          </a:xfrm>
          <a:prstGeom prst="line">
            <a:avLst/>
          </a:prstGeom>
          <a:ln w="28000">
            <a:solidFill>
              <a:srgbClr val="2563EB"/>
            </a:solidFill>
          </a:ln>
        </p:spPr>
      </p:sp>
      <p:sp>
        <p:nvSpPr>
          <p:cNvPr id="23" name="Line 23"/>
          <p:cNvSpPr/>
          <p:nvPr/>
        </p:nvSpPr>
        <p:spPr>
          <a:xfrm>
            <a:off x="1300000" y="5550000"/>
            <a:ext cx="1100000" cy="-450000"/>
          </a:xfrm>
          <a:prstGeom prst="line">
            <a:avLst/>
          </a:prstGeom>
          <a:ln w="28000">
            <a:solidFill>
              <a:srgbClr val="16A34A"/>
            </a:solidFill>
          </a:ln>
        </p:spPr>
      </p:sp>
      <p:sp>
        <p:nvSpPr>
          <p:cNvPr id="24" name="Line 24"/>
          <p:cNvSpPr/>
          <p:nvPr/>
        </p:nvSpPr>
        <p:spPr>
          <a:xfrm>
            <a:off x="2400000" y="5100000"/>
            <a:ext cx="900000" cy="-900000"/>
          </a:xfrm>
          <a:prstGeom prst="line">
            <a:avLst/>
          </a:prstGeom>
          <a:ln w="28000">
            <a:solidFill>
              <a:srgbClr val="16A34A"/>
            </a:solidFill>
          </a:ln>
        </p:spPr>
      </p:sp>
      <p:sp>
        <p:nvSpPr>
          <p:cNvPr id="25" name="Line 25"/>
          <p:cNvSpPr/>
          <p:nvPr/>
        </p:nvSpPr>
        <p:spPr>
          <a:xfrm>
            <a:off x="3300000" y="4200000"/>
            <a:ext cx="600000" cy="350000"/>
          </a:xfrm>
          <a:prstGeom prst="line">
            <a:avLst/>
          </a:prstGeom>
          <a:ln w="28000">
            <a:solidFill>
              <a:srgbClr val="16A34A"/>
            </a:solidFill>
          </a:ln>
        </p:spPr>
      </p:sp>
      <p:sp>
        <p:nvSpPr>
          <p:cNvPr id="26" name="Line 26"/>
          <p:cNvSpPr/>
          <p:nvPr/>
        </p:nvSpPr>
        <p:spPr>
          <a:xfrm>
            <a:off x="3900000" y="4550000"/>
            <a:ext cx="900000" cy="600000"/>
          </a:xfrm>
          <a:prstGeom prst="line">
            <a:avLst/>
          </a:prstGeom>
          <a:ln w="28000">
            <a:solidFill>
              <a:srgbClr val="16A34A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1500000" y="5700000"/>
            <a:ext cx="31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150" b="0">
                <a:solidFill>
                  <a:srgbClr val="334155"/>
                </a:solidFill>
                <a:latin typeface="Aptos"/>
                <a:ea typeface="Noto Sans CJK JP"/>
              </a:rPr>
              <a:t>二次抵抗↑ → 最大トルク点は高滑り側へ。最大値は同じ（条件内）。</a:t>
            </a:r>
            <a:endParaRPr lang="ja-JP" sz="1150"/>
          </a:p>
        </p:txBody>
      </p:sp>
      <p:sp>
        <p:nvSpPr>
          <p:cNvPr id="28" name="Text 28"/>
          <p:cNvSpPr txBox="1"/>
          <p:nvPr/>
        </p:nvSpPr>
        <p:spPr>
          <a:xfrm>
            <a:off x="6150000" y="4000000"/>
            <a:ext cx="5200000" cy="1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550" b="0">
                <a:solidFill>
                  <a:srgbClr val="7C2D12"/>
                </a:solidFill>
                <a:latin typeface="Aptos"/>
                <a:ea typeface="Noto Sans CJK JP"/>
              </a:rPr>
              <a:t>頻出ミス</a:t>
            </a:r>
            <a:endParaRPr lang="ja-JP" sz="1550"/>
          </a:p>
          <a:p>
            <a:pPr algn="l"/>
            <a:r>
              <a:rPr lang="ja-JP" sz="1550" b="0">
                <a:solidFill>
                  <a:srgbClr val="7C2D12"/>
                </a:solidFill>
                <a:latin typeface="Aptos"/>
                <a:ea typeface="Noto Sans CJK JP"/>
              </a:rPr>
              <a:t>・P₂=Tωs に実回転速度を入れない</a:t>
            </a:r>
            <a:endParaRPr lang="ja-JP" sz="1550"/>
          </a:p>
          <a:p>
            <a:pPr algn="l"/>
            <a:r>
              <a:rPr lang="ja-JP" sz="1550" b="0">
                <a:solidFill>
                  <a:srgbClr val="7C2D12"/>
                </a:solidFill>
                <a:latin typeface="Aptos"/>
                <a:ea typeface="Noto Sans CJK JP"/>
              </a:rPr>
              <a:t>・「抵抗2倍 → トルク2倍」ではない</a:t>
            </a:r>
            <a:endParaRPr lang="ja-JP" sz="1550"/>
          </a:p>
          <a:p>
            <a:pPr algn="l"/>
            <a:r>
              <a:rPr lang="ja-JP" sz="1550" b="0">
                <a:solidFill>
                  <a:srgbClr val="7C2D12"/>
                </a:solidFill>
                <a:latin typeface="Aptos"/>
                <a:ea typeface="Noto Sans CJK JP"/>
              </a:rPr>
              <a:t>・T∝s は問題文で微小滑り条件が与えられた範囲だけ</a:t>
            </a:r>
            <a:endParaRPr lang="ja-JP" sz="1550"/>
          </a:p>
        </p:txBody>
      </p:sp>
      <p:sp>
        <p:nvSpPr>
          <p:cNvPr id="12" name="Text 12"/>
          <p:cNvSpPr txBox="1"/>
          <p:nvPr/>
        </p:nvSpPr>
        <p:spPr>
          <a:xfrm>
            <a:off x="620000" y="648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950" b="0">
                <a:solidFill>
                  <a:srgbClr val="64748B"/>
                </a:solidFill>
                <a:latin typeface="Aptos"/>
                <a:ea typeface="Noto Sans CJK JP"/>
              </a:rPr>
              <a:t>電験三種 機械｜Topic 05 誘導電動機</a:t>
            </a:r>
            <a:endParaRPr lang="ja-JP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10"/>
          <p:cNvSpPr txBox="1"/>
          <p:nvPr/>
        </p:nvSpPr>
        <p:spPr>
          <a:xfrm>
            <a:off x="620000" y="290000"/>
            <a:ext cx="10900000" cy="5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3000" b="1">
                <a:solidFill>
                  <a:srgbClr val="0F172A"/>
                </a:solidFill>
                <a:latin typeface="Aptos"/>
                <a:ea typeface="Noto Sans CJK JP"/>
              </a:rPr>
              <a:t>固定EXAM_ALIGNMENT 5問・6小問への接続</a:t>
            </a:r>
            <a:endParaRPr lang="ja-JP" sz="3000"/>
          </a:p>
        </p:txBody>
      </p:sp>
      <p:sp>
        <p:nvSpPr>
          <p:cNvPr id="11" name="Text 11"/>
          <p:cNvSpPr txBox="1"/>
          <p:nvPr/>
        </p:nvSpPr>
        <p:spPr>
          <a:xfrm>
            <a:off x="620000" y="800000"/>
            <a:ext cx="109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475569"/>
                </a:solidFill>
                <a:latin typeface="Aptos"/>
                <a:ea typeface="Noto Sans CJK JP"/>
              </a:rPr>
              <a:t>PowerPointも本文・PDF・練習と同じ固定範囲だけを可視化</a:t>
            </a:r>
            <a:endParaRPr lang="ja-JP" sz="1450"/>
          </a:p>
        </p:txBody>
      </p:sp>
      <p:sp>
        <p:nvSpPr>
          <p:cNvPr id="13" name="Box 13"/>
          <p:cNvSpPr/>
          <p:nvPr/>
        </p:nvSpPr>
        <p:spPr>
          <a:xfrm>
            <a:off x="700000" y="1580000"/>
            <a:ext cx="2400000" cy="70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3C5FD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800000" y="1715000"/>
            <a:ext cx="2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450" b="1">
                <a:solidFill>
                  <a:srgbClr val="1E3A8A"/>
                </a:solidFill>
                <a:latin typeface="Aptos"/>
                <a:ea typeface="Noto Sans CJK JP"/>
              </a:rPr>
              <a:t>R8上 問4</a:t>
            </a:r>
            <a:endParaRPr lang="ja-JP" sz="1450"/>
          </a:p>
        </p:txBody>
      </p:sp>
      <p:sp>
        <p:nvSpPr>
          <p:cNvPr id="15" name="Line 15"/>
          <p:cNvSpPr/>
          <p:nvPr/>
        </p:nvSpPr>
        <p:spPr>
          <a:xfrm>
            <a:off x="3100000" y="1930000"/>
            <a:ext cx="450000" cy="0"/>
          </a:xfrm>
          <a:prstGeom prst="line">
            <a:avLst/>
          </a:prstGeom>
          <a:ln w="16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16" name="Box 16"/>
          <p:cNvSpPr/>
          <p:nvPr/>
        </p:nvSpPr>
        <p:spPr>
          <a:xfrm>
            <a:off x="3600000" y="1580000"/>
            <a:ext cx="7600000" cy="7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3800000" y="1715000"/>
            <a:ext cx="7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0F172A"/>
                </a:solidFill>
                <a:latin typeface="Aptos"/>
                <a:ea typeface="Noto Sans CJK JP"/>
              </a:rPr>
              <a:t>同期速度 → ωs → P₂=Tωs</a:t>
            </a:r>
            <a:endParaRPr lang="ja-JP" sz="1450"/>
          </a:p>
        </p:txBody>
      </p:sp>
      <p:sp>
        <p:nvSpPr>
          <p:cNvPr id="18" name="Box 18"/>
          <p:cNvSpPr/>
          <p:nvPr/>
        </p:nvSpPr>
        <p:spPr>
          <a:xfrm>
            <a:off x="700000" y="2460000"/>
            <a:ext cx="2400000" cy="70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3C5FD"/>
            </a:solidFill>
          </a:ln>
        </p:spPr>
      </p:sp>
      <p:sp>
        <p:nvSpPr>
          <p:cNvPr id="19" name="Text 19"/>
          <p:cNvSpPr txBox="1"/>
          <p:nvPr/>
        </p:nvSpPr>
        <p:spPr>
          <a:xfrm>
            <a:off x="800000" y="2595000"/>
            <a:ext cx="2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450" b="1">
                <a:solidFill>
                  <a:srgbClr val="1E3A8A"/>
                </a:solidFill>
                <a:latin typeface="Aptos"/>
                <a:ea typeface="Noto Sans CJK JP"/>
              </a:rPr>
              <a:t>R6下 問3</a:t>
            </a:r>
            <a:endParaRPr lang="ja-JP" sz="1450"/>
          </a:p>
        </p:txBody>
      </p:sp>
      <p:sp>
        <p:nvSpPr>
          <p:cNvPr id="20" name="Line 20"/>
          <p:cNvSpPr/>
          <p:nvPr/>
        </p:nvSpPr>
        <p:spPr>
          <a:xfrm>
            <a:off x="3100000" y="2810000"/>
            <a:ext cx="450000" cy="0"/>
          </a:xfrm>
          <a:prstGeom prst="line">
            <a:avLst/>
          </a:prstGeom>
          <a:ln w="16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21" name="Box 21"/>
          <p:cNvSpPr/>
          <p:nvPr/>
        </p:nvSpPr>
        <p:spPr>
          <a:xfrm>
            <a:off x="3600000" y="2460000"/>
            <a:ext cx="7600000" cy="7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22" name="Text 22"/>
          <p:cNvSpPr txBox="1"/>
          <p:nvPr/>
        </p:nvSpPr>
        <p:spPr>
          <a:xfrm>
            <a:off x="3800000" y="2595000"/>
            <a:ext cx="7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0F172A"/>
                </a:solidFill>
                <a:latin typeface="Aptos"/>
                <a:ea typeface="Noto Sans CJK JP"/>
              </a:rPr>
              <a:t>最大トルク・二次抵抗・比例推移</a:t>
            </a:r>
            <a:endParaRPr lang="ja-JP" sz="1450"/>
          </a:p>
        </p:txBody>
      </p:sp>
      <p:sp>
        <p:nvSpPr>
          <p:cNvPr id="23" name="Box 23"/>
          <p:cNvSpPr/>
          <p:nvPr/>
        </p:nvSpPr>
        <p:spPr>
          <a:xfrm>
            <a:off x="700000" y="3340000"/>
            <a:ext cx="2400000" cy="70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3C5FD"/>
            </a:solidFill>
          </a:ln>
        </p:spPr>
      </p:sp>
      <p:sp>
        <p:nvSpPr>
          <p:cNvPr id="24" name="Text 24"/>
          <p:cNvSpPr txBox="1"/>
          <p:nvPr/>
        </p:nvSpPr>
        <p:spPr>
          <a:xfrm>
            <a:off x="800000" y="3475000"/>
            <a:ext cx="2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450" b="1">
                <a:solidFill>
                  <a:srgbClr val="1E3A8A"/>
                </a:solidFill>
                <a:latin typeface="Aptos"/>
                <a:ea typeface="Noto Sans CJK JP"/>
              </a:rPr>
              <a:t>R6下 問4</a:t>
            </a:r>
            <a:endParaRPr lang="ja-JP" sz="1450"/>
          </a:p>
        </p:txBody>
      </p:sp>
      <p:sp>
        <p:nvSpPr>
          <p:cNvPr id="25" name="Line 25"/>
          <p:cNvSpPr/>
          <p:nvPr/>
        </p:nvSpPr>
        <p:spPr>
          <a:xfrm>
            <a:off x="3100000" y="3690000"/>
            <a:ext cx="450000" cy="0"/>
          </a:xfrm>
          <a:prstGeom prst="line">
            <a:avLst/>
          </a:prstGeom>
          <a:ln w="16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26" name="Box 26"/>
          <p:cNvSpPr/>
          <p:nvPr/>
        </p:nvSpPr>
        <p:spPr>
          <a:xfrm>
            <a:off x="3600000" y="3340000"/>
            <a:ext cx="7600000" cy="7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27" name="Text 27"/>
          <p:cNvSpPr txBox="1"/>
          <p:nvPr/>
        </p:nvSpPr>
        <p:spPr>
          <a:xfrm>
            <a:off x="3800000" y="3475000"/>
            <a:ext cx="7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0F172A"/>
                </a:solidFill>
                <a:latin typeface="Aptos"/>
                <a:ea typeface="Noto Sans CJK JP"/>
              </a:rPr>
              <a:t>P₁ → 固定子損失 → P₂ → Pc₂</a:t>
            </a:r>
            <a:endParaRPr lang="ja-JP" sz="1450"/>
          </a:p>
        </p:txBody>
      </p:sp>
      <p:sp>
        <p:nvSpPr>
          <p:cNvPr id="28" name="Box 28"/>
          <p:cNvSpPr/>
          <p:nvPr/>
        </p:nvSpPr>
        <p:spPr>
          <a:xfrm>
            <a:off x="700000" y="4220000"/>
            <a:ext cx="2400000" cy="70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3C5FD"/>
            </a:solidFill>
          </a:ln>
        </p:spPr>
      </p:sp>
      <p:sp>
        <p:nvSpPr>
          <p:cNvPr id="29" name="Text 29"/>
          <p:cNvSpPr txBox="1"/>
          <p:nvPr/>
        </p:nvSpPr>
        <p:spPr>
          <a:xfrm>
            <a:off x="800000" y="4355000"/>
            <a:ext cx="2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450" b="1">
                <a:solidFill>
                  <a:srgbClr val="1E3A8A"/>
                </a:solidFill>
                <a:latin typeface="Aptos"/>
                <a:ea typeface="Noto Sans CJK JP"/>
              </a:rPr>
              <a:t>R6上 問15(a)(b)</a:t>
            </a:r>
            <a:endParaRPr lang="ja-JP" sz="1450"/>
          </a:p>
        </p:txBody>
      </p:sp>
      <p:sp>
        <p:nvSpPr>
          <p:cNvPr id="30" name="Line 30"/>
          <p:cNvSpPr/>
          <p:nvPr/>
        </p:nvSpPr>
        <p:spPr>
          <a:xfrm>
            <a:off x="3100000" y="4570000"/>
            <a:ext cx="450000" cy="0"/>
          </a:xfrm>
          <a:prstGeom prst="line">
            <a:avLst/>
          </a:prstGeom>
          <a:ln w="16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31" name="Box 31"/>
          <p:cNvSpPr/>
          <p:nvPr/>
        </p:nvSpPr>
        <p:spPr>
          <a:xfrm>
            <a:off x="3600000" y="4220000"/>
            <a:ext cx="7600000" cy="7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32" name="Text 32"/>
          <p:cNvSpPr txBox="1"/>
          <p:nvPr/>
        </p:nvSpPr>
        <p:spPr>
          <a:xfrm>
            <a:off x="3800000" y="4355000"/>
            <a:ext cx="7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0F172A"/>
                </a:solidFill>
                <a:latin typeface="Aptos"/>
                <a:ea typeface="Noto Sans CJK JP"/>
              </a:rPr>
              <a:t>滑り・T∝s条件・比例推移 → N</a:t>
            </a:r>
            <a:endParaRPr lang="ja-JP" sz="1450"/>
          </a:p>
        </p:txBody>
      </p:sp>
      <p:sp>
        <p:nvSpPr>
          <p:cNvPr id="33" name="Box 33"/>
          <p:cNvSpPr/>
          <p:nvPr/>
        </p:nvSpPr>
        <p:spPr>
          <a:xfrm>
            <a:off x="700000" y="5100000"/>
            <a:ext cx="2400000" cy="700000"/>
          </a:xfrm>
          <a:prstGeom prst="roundRect">
            <a:avLst/>
          </a:prstGeom>
          <a:solidFill>
            <a:srgbClr val="EFF6FF"/>
          </a:solidFill>
          <a:ln w="16000">
            <a:solidFill>
              <a:srgbClr val="93C5FD"/>
            </a:solidFill>
          </a:ln>
        </p:spPr>
      </p:sp>
      <p:sp>
        <p:nvSpPr>
          <p:cNvPr id="34" name="Text 34"/>
          <p:cNvSpPr txBox="1"/>
          <p:nvPr/>
        </p:nvSpPr>
        <p:spPr>
          <a:xfrm>
            <a:off x="800000" y="5235000"/>
            <a:ext cx="2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450" b="1">
                <a:solidFill>
                  <a:srgbClr val="1E3A8A"/>
                </a:solidFill>
                <a:latin typeface="Aptos"/>
                <a:ea typeface="Noto Sans CJK JP"/>
              </a:rPr>
              <a:t>R4下 問2</a:t>
            </a:r>
            <a:endParaRPr lang="ja-JP" sz="1450"/>
          </a:p>
        </p:txBody>
      </p:sp>
      <p:sp>
        <p:nvSpPr>
          <p:cNvPr id="35" name="Line 35"/>
          <p:cNvSpPr/>
          <p:nvPr/>
        </p:nvSpPr>
        <p:spPr>
          <a:xfrm>
            <a:off x="3100000" y="5450000"/>
            <a:ext cx="450000" cy="0"/>
          </a:xfrm>
          <a:prstGeom prst="line">
            <a:avLst/>
          </a:prstGeom>
          <a:ln w="16000">
            <a:solidFill>
              <a:srgbClr val="64748B"/>
            </a:solidFill>
            <a:tailEnd type="triangle"/>
            <a:headEnd type="none"/>
          </a:ln>
        </p:spPr>
      </p:sp>
      <p:sp>
        <p:nvSpPr>
          <p:cNvPr id="36" name="Box 36"/>
          <p:cNvSpPr/>
          <p:nvPr/>
        </p:nvSpPr>
        <p:spPr>
          <a:xfrm>
            <a:off x="3600000" y="5100000"/>
            <a:ext cx="7600000" cy="700000"/>
          </a:xfrm>
          <a:prstGeom prst="roundRect">
            <a:avLst/>
          </a:prstGeom>
          <a:solidFill>
            <a:srgbClr val="F8FAFC"/>
          </a:solidFill>
          <a:ln w="16000">
            <a:solidFill>
              <a:srgbClr val="CBD5E1"/>
            </a:solidFill>
          </a:ln>
        </p:spPr>
      </p:sp>
      <p:sp>
        <p:nvSpPr>
          <p:cNvPr id="37" name="Text 37"/>
          <p:cNvSpPr txBox="1"/>
          <p:nvPr/>
        </p:nvSpPr>
        <p:spPr>
          <a:xfrm>
            <a:off x="3800000" y="5235000"/>
            <a:ext cx="7200000" cy="4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1450" b="0">
                <a:solidFill>
                  <a:srgbClr val="0F172A"/>
                </a:solidFill>
                <a:latin typeface="Aptos"/>
                <a:ea typeface="Noto Sans CJK JP"/>
              </a:rPr>
              <a:t>Pc₂ → P₂ → Pm → 機械損 → Pout</a:t>
            </a:r>
            <a:endParaRPr lang="ja-JP" sz="1450"/>
          </a:p>
        </p:txBody>
      </p:sp>
      <p:sp>
        <p:nvSpPr>
          <p:cNvPr id="38" name="Text 38"/>
          <p:cNvSpPr txBox="1"/>
          <p:nvPr/>
        </p:nvSpPr>
        <p:spPr>
          <a:xfrm>
            <a:off x="750000" y="6050000"/>
            <a:ext cx="107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ja-JP" sz="1150" b="0">
                <a:solidFill>
                  <a:srgbClr val="64748B"/>
                </a:solidFill>
                <a:latin typeface="Aptos"/>
                <a:ea typeface="Noto Sans CJK JP"/>
              </a:rPr>
              <a:t>固定範囲外追加 0件：Y-Δ始動 / V/f・VVVF / 回生 / 単相誘導機 / 円線図・詳細等価回路 / 未確認実車値</a:t>
            </a:r>
            <a:endParaRPr lang="ja-JP" sz="1150"/>
          </a:p>
        </p:txBody>
      </p:sp>
      <p:sp>
        <p:nvSpPr>
          <p:cNvPr id="12" name="Text 12"/>
          <p:cNvSpPr txBox="1"/>
          <p:nvPr/>
        </p:nvSpPr>
        <p:spPr>
          <a:xfrm>
            <a:off x="620000" y="6480000"/>
            <a:ext cx="109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ja-JP" sz="950" b="0">
                <a:solidFill>
                  <a:srgbClr val="64748B"/>
                </a:solidFill>
                <a:latin typeface="Aptos"/>
                <a:ea typeface="Noto Sans CJK JP"/>
              </a:rPr>
              <a:t>電験三種 機械｜Topic 05 誘導電動機</a:t>
            </a:r>
            <a:endParaRPr lang="ja-JP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Noto Sans CJK JP"/>
        <a:cs typeface=""/>
      </a:majorFont>
      <a:minorFont>
        <a:latin typeface="Aptos"/>
        <a:ea typeface="Noto Sans CJK JP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ワイド画面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05 誘導電動機はなぜ勝手に回る？</dc:title>
  <dc:creator>OpenAI</dc:creator>
  <dcterms:created xsi:type="dcterms:W3CDTF">2026-09-14T03:19:31.077392Z</dcterms:created>
</cp:coreProperties>
</file>