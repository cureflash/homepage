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943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400" b="1">
                <a:solidFill>
                  <a:srgbClr val="14263E"/>
                </a:solidFill>
                <a:latin typeface="Noto Sans CJK JP"/>
              </a:defRPr>
            </a:pPr>
            <a:r>
              <a:t>300系でモーターが全部変わった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04672"/>
            <a:ext cx="10972800" cy="347472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050">
                <a:solidFill>
                  <a:srgbClr val="5F6772"/>
                </a:solidFill>
                <a:latin typeface="Noto Sans CJK JP"/>
              </a:defRPr>
            </a:pPr>
            <a:r>
              <a:t>Topic 04固定範囲：三相誘導電動機の構造・回転磁界・同期速度・滑り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2926080" cy="438912"/>
          </a:xfrm>
          <a:prstGeom prst="roundRect">
            <a:avLst/>
          </a:prstGeom>
          <a:solidFill>
            <a:srgbClr val="14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800" b="1">
                <a:solidFill>
                  <a:srgbClr val="FFFFFF"/>
                </a:solidFill>
                <a:latin typeface="Noto Sans CJK JP"/>
              </a:defRPr>
            </a:pPr>
            <a:r>
              <a:t>直流主電動機 → 三相誘導電動機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783080"/>
            <a:ext cx="26060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600" b="1">
                <a:solidFill>
                  <a:srgbClr val="232830"/>
                </a:solidFill>
                <a:latin typeface="Noto Sans CJK JP"/>
              </a:defRPr>
            </a:pPr>
            <a:r>
              <a:t>直流機</a:t>
            </a:r>
            <a:br/>
            <a:r>
              <a:t>整流子・ブラシが必要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337560" y="2157984"/>
            <a:ext cx="822960" cy="0"/>
          </a:xfrm>
          <a:prstGeom prst="line">
            <a:avLst/>
          </a:prstGeom>
          <a:ln w="38100">
            <a:solidFill>
              <a:srgbClr val="D58E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224528" y="1783080"/>
            <a:ext cx="26517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600" b="1">
                <a:solidFill>
                  <a:srgbClr val="232830"/>
                </a:solidFill>
                <a:latin typeface="Noto Sans CJK JP"/>
              </a:defRPr>
            </a:pPr>
            <a:r>
              <a:t>かご形誘導電動機</a:t>
            </a:r>
            <a:br/>
            <a:r>
              <a:t>整流子・ブラシ不要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78040" y="1261872"/>
            <a:ext cx="4434840" cy="365760"/>
          </a:xfrm>
          <a:prstGeom prst="roundRect">
            <a:avLst/>
          </a:prstGeom>
          <a:solidFill>
            <a:srgbClr val="EB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500" b="1">
                <a:solidFill>
                  <a:srgbClr val="14263E"/>
                </a:solidFill>
                <a:latin typeface="Noto Sans CJK JP"/>
              </a:defRPr>
            </a:pPr>
            <a:r>
              <a:t>三相交流 → 回転磁界 → 誘導起電力 → 二次電流 → トルク</a:t>
            </a:r>
          </a:p>
        </p:txBody>
      </p:sp>
      <p:sp>
        <p:nvSpPr>
          <p:cNvPr id="9" name="Oval 8"/>
          <p:cNvSpPr/>
          <p:nvPr/>
        </p:nvSpPr>
        <p:spPr>
          <a:xfrm>
            <a:off x="7790688" y="1874519"/>
            <a:ext cx="2971800" cy="2971800"/>
          </a:xfrm>
          <a:prstGeom prst="ellipse">
            <a:avLst/>
          </a:prstGeom>
          <a:solidFill>
            <a:srgbClr val="E0EBF8"/>
          </a:solidFill>
          <a:ln w="31750">
            <a:solidFill>
              <a:srgbClr val="2C5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375904" y="2459736"/>
            <a:ext cx="1801368" cy="1801368"/>
          </a:xfrm>
          <a:prstGeom prst="ellipse">
            <a:avLst/>
          </a:prstGeom>
          <a:solidFill>
            <a:srgbClr val="EDF5EE"/>
          </a:solidFill>
          <a:ln w="31750">
            <a:solidFill>
              <a:srgbClr val="3D8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56448" y="1975104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2C5FAA"/>
                </a:solidFill>
                <a:latin typeface="Noto Sans CJK JP"/>
              </a:defRPr>
            </a:pPr>
            <a:r>
              <a:t>固定子（三相巻線）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13648" y="3072384"/>
            <a:ext cx="132588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3D8C55"/>
                </a:solidFill>
                <a:latin typeface="Noto Sans CJK JP"/>
              </a:defRPr>
            </a:pPr>
            <a:r>
              <a:t>回転子</a:t>
            </a:r>
            <a:br/>
            <a:r>
              <a:t>（かご形）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88352" y="4956048"/>
            <a:ext cx="3840480" cy="429768"/>
          </a:xfrm>
          <a:prstGeom prst="roundRect">
            <a:avLst/>
          </a:prstGeom>
          <a:solidFill>
            <a:srgbClr val="FF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800" b="1">
                <a:solidFill>
                  <a:srgbClr val="B74646"/>
                </a:solidFill>
                <a:latin typeface="Noto Sans CJK JP"/>
              </a:defRPr>
            </a:pPr>
            <a:r>
              <a:t>回転磁界 Ns  ＞  回転子 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852928"/>
            <a:ext cx="6309360" cy="3182112"/>
          </a:xfrm>
          <a:prstGeom prst="roundRect">
            <a:avLst/>
          </a:prstGeom>
          <a:solidFill>
            <a:srgbClr val="FFFFFF"/>
          </a:solidFill>
          <a:ln>
            <a:solidFill>
              <a:srgbClr val="E2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>
              <a:spcAft>
                <a:spcPts val="400"/>
              </a:spcAft>
              <a:defRPr sz="1800" b="1">
                <a:solidFill>
                  <a:srgbClr val="14263E"/>
                </a:solidFill>
                <a:latin typeface="Noto Sans CJK JP"/>
              </a:defRPr>
            </a:pPr>
            <a:r>
              <a:t>電験でまず使う3式</a:t>
            </a:r>
          </a:p>
          <a:p>
            <a:pPr>
              <a:spcAft>
                <a:spcPts val="400"/>
              </a:spcAft>
              <a:defRPr sz="2200" b="1">
                <a:solidFill>
                  <a:srgbClr val="2C5FAA"/>
                </a:solidFill>
                <a:latin typeface="Noto Sans CJK JP"/>
              </a:defRPr>
            </a:pPr>
            <a:r>
              <a:t>同期速度   Ns = 120 f / p</a:t>
            </a:r>
          </a:p>
          <a:p>
            <a:pPr>
              <a:spcAft>
                <a:spcPts val="400"/>
              </a:spcAft>
              <a:defRPr sz="2200" b="1">
                <a:solidFill>
                  <a:srgbClr val="218C82"/>
                </a:solidFill>
                <a:latin typeface="Noto Sans CJK JP"/>
              </a:defRPr>
            </a:pPr>
            <a:r>
              <a:t>滑り       s = (Ns − N) / Ns</a:t>
            </a:r>
          </a:p>
          <a:p>
            <a:pPr>
              <a:spcAft>
                <a:spcPts val="400"/>
              </a:spcAft>
              <a:defRPr sz="2200" b="1">
                <a:solidFill>
                  <a:srgbClr val="3D8C55"/>
                </a:solidFill>
                <a:latin typeface="Noto Sans CJK JP"/>
              </a:defRPr>
            </a:pPr>
            <a:r>
              <a:t>二次周波数 f2 = s f1</a:t>
            </a:r>
          </a:p>
          <a:p>
            <a:pPr>
              <a:spcAft>
                <a:spcPts val="400"/>
              </a:spcAft>
              <a:defRPr sz="1300" b="0">
                <a:solidFill>
                  <a:srgbClr val="232830"/>
                </a:solidFill>
                <a:latin typeface="Noto Sans CJK JP"/>
              </a:defRPr>
            </a:pPr>
            <a:r>
              <a:t>停止時 s=1、同期速度に近づくほど s→0。Ns は回転磁界、N は回転子の実速度。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" y="6547104"/>
            <a:ext cx="12143232" cy="246888"/>
          </a:xfrm>
          <a:prstGeom prst="rect">
            <a:avLst/>
          </a:prstGeom>
          <a:solidFill>
            <a:srgbClr val="14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565392"/>
            <a:ext cx="11155680" cy="164592"/>
          </a:xfrm>
          <a:prstGeom prst="rect">
            <a:avLst/>
          </a:prstGeom>
          <a:noFill/>
        </p:spPr>
        <p:txBody>
          <a:bodyPr wrap="none" lIns="0" anchor="ctr">
            <a:spAutoFit/>
          </a:bodyPr>
          <a:lstStyle/>
          <a:p>
            <a:pPr>
              <a:defRPr sz="850">
                <a:solidFill>
                  <a:srgbClr val="FFFFFF"/>
                </a:solidFill>
                <a:latin typeface="Noto Sans CJK JP"/>
              </a:defRPr>
            </a:pPr>
            <a:r>
              <a:t>Topic 04 / 電験三種 機械・誘導機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943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400" b="1">
                <a:solidFill>
                  <a:srgbClr val="14263E"/>
                </a:solidFill>
                <a:latin typeface="Noto Sans CJK JP"/>
              </a:defRPr>
            </a:pPr>
            <a:r>
              <a:t>速度を決める：同期速度 → 滑り → 二次周波数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04672"/>
            <a:ext cx="10972800" cy="347472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050">
                <a:solidFill>
                  <a:srgbClr val="5F6772"/>
                </a:solidFill>
                <a:latin typeface="Noto Sans CJK JP"/>
              </a:defRPr>
            </a:pPr>
            <a:r>
              <a:t>R5上 問3・問4、R1 問3に直結する計算の順序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70432"/>
            <a:ext cx="4663440" cy="5138928"/>
          </a:xfrm>
          <a:prstGeom prst="roundRect">
            <a:avLst/>
          </a:prstGeom>
          <a:solidFill>
            <a:srgbClr val="FFFFFF"/>
          </a:solidFill>
          <a:ln>
            <a:solidFill>
              <a:srgbClr val="E2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>
              <a:spcAft>
                <a:spcPts val="400"/>
              </a:spcAft>
              <a:defRPr sz="1800" b="1">
                <a:solidFill>
                  <a:srgbClr val="14263E"/>
                </a:solidFill>
                <a:latin typeface="Noto Sans CJK JP"/>
              </a:defRPr>
            </a:pPr>
            <a:r>
              <a:t>解法アルゴリズム</a:t>
            </a:r>
          </a:p>
          <a:p>
            <a:pPr>
              <a:spcAft>
                <a:spcPts val="400"/>
              </a:spcAft>
              <a:defRPr sz="1600" b="1">
                <a:solidFill>
                  <a:srgbClr val="232830"/>
                </a:solidFill>
                <a:latin typeface="Noto Sans CJK JP"/>
              </a:defRPr>
            </a:pPr>
            <a:r>
              <a:t>1. 周波数 f と極数 p から Ns を求める</a:t>
            </a:r>
          </a:p>
          <a:p>
            <a:pPr>
              <a:spcAft>
                <a:spcPts val="400"/>
              </a:spcAft>
              <a:defRPr sz="1600" b="1">
                <a:solidFill>
                  <a:srgbClr val="232830"/>
                </a:solidFill>
                <a:latin typeface="Noto Sans CJK JP"/>
              </a:defRPr>
            </a:pPr>
            <a:r>
              <a:t>2. N または s の与え方を確認する</a:t>
            </a:r>
          </a:p>
          <a:p>
            <a:pPr>
              <a:spcAft>
                <a:spcPts val="400"/>
              </a:spcAft>
              <a:defRPr sz="1600" b="1">
                <a:solidFill>
                  <a:srgbClr val="232830"/>
                </a:solidFill>
                <a:latin typeface="Noto Sans CJK JP"/>
              </a:defRPr>
            </a:pPr>
            <a:r>
              <a:t>3. s=(Ns−N)/Ns または N=(1−s)Ns</a:t>
            </a:r>
          </a:p>
          <a:p>
            <a:pPr>
              <a:spcAft>
                <a:spcPts val="400"/>
              </a:spcAft>
              <a:defRPr sz="1600" b="1">
                <a:solidFill>
                  <a:srgbClr val="232830"/>
                </a:solidFill>
                <a:latin typeface="Noto Sans CJK JP"/>
              </a:defRPr>
            </a:pPr>
            <a:r>
              <a:t>4. 必要なら f2=s f1 へつなぐ</a:t>
            </a:r>
          </a:p>
          <a:p>
            <a:pPr>
              <a:spcAft>
                <a:spcPts val="400"/>
              </a:spcAft>
              <a:defRPr sz="1600" b="1">
                <a:solidFill>
                  <a:srgbClr val="232830"/>
                </a:solidFill>
                <a:latin typeface="Noto Sans CJK JP"/>
              </a:defRPr>
            </a:pPr>
            <a:r>
              <a:t>5. 0&lt;s&lt;1、N&lt;Ns を検算する</a:t>
            </a:r>
          </a:p>
          <a:p>
            <a:pPr>
              <a:spcAft>
                <a:spcPts val="400"/>
              </a:spcAft>
              <a:defRPr sz="500" b="0">
                <a:solidFill>
                  <a:srgbClr val="232830"/>
                </a:solidFill>
                <a:latin typeface="Noto Sans CJK JP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B74646"/>
                </a:solidFill>
                <a:latin typeface="Noto Sans CJK JP"/>
              </a:defRPr>
            </a:pPr>
            <a:r>
              <a:t>頻出ミス</a:t>
            </a:r>
          </a:p>
          <a:p>
            <a:pPr>
              <a:spcAft>
                <a:spcPts val="400"/>
              </a:spcAft>
              <a:defRPr sz="1400" b="0">
                <a:solidFill>
                  <a:srgbClr val="232830"/>
                </a:solidFill>
                <a:latin typeface="Noto Sans CJK JP"/>
              </a:defRPr>
            </a:pPr>
            <a:r>
              <a:t>・p は極対数ではなく極数</a:t>
            </a:r>
          </a:p>
          <a:p>
            <a:pPr>
              <a:spcAft>
                <a:spcPts val="400"/>
              </a:spcAft>
              <a:defRPr sz="1400" b="0">
                <a:solidFill>
                  <a:srgbClr val="232830"/>
                </a:solidFill>
                <a:latin typeface="Noto Sans CJK JP"/>
              </a:defRPr>
            </a:pPr>
            <a:r>
              <a:t>・Ns と N を混同しない</a:t>
            </a:r>
          </a:p>
          <a:p>
            <a:pPr>
              <a:spcAft>
                <a:spcPts val="400"/>
              </a:spcAft>
              <a:defRPr sz="1400" b="0">
                <a:solidFill>
                  <a:srgbClr val="232830"/>
                </a:solidFill>
                <a:latin typeface="Noto Sans CJK JP"/>
              </a:defRPr>
            </a:pPr>
            <a:r>
              <a:t>・滑りを百分率のまま式へ入れない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32120" y="1298448"/>
            <a:ext cx="5989320" cy="685800"/>
          </a:xfrm>
          <a:prstGeom prst="roundRect">
            <a:avLst/>
          </a:prstGeom>
          <a:solidFill>
            <a:srgbClr val="EC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1900" b="1">
                <a:solidFill>
                  <a:srgbClr val="2C5FAA"/>
                </a:solidFill>
                <a:latin typeface="Noto Sans CJK JP"/>
              </a:defRPr>
            </a:pPr>
            <a:r>
              <a:t>50 Hz・4極なら  Ns = 120×50/4 = 1500 min⁻¹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522208" y="2002536"/>
            <a:ext cx="0" cy="301752"/>
          </a:xfrm>
          <a:prstGeom prst="line">
            <a:avLst/>
          </a:prstGeom>
          <a:ln w="31750">
            <a:solidFill>
              <a:srgbClr val="5F67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532120" y="2359152"/>
            <a:ext cx="5989320" cy="685800"/>
          </a:xfrm>
          <a:prstGeom prst="roundRect">
            <a:avLst/>
          </a:prstGeom>
          <a:solidFill>
            <a:srgbClr val="EC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1800" b="1">
                <a:solidFill>
                  <a:srgbClr val="218C82"/>
                </a:solidFill>
                <a:latin typeface="Noto Sans CJK JP"/>
              </a:defRPr>
            </a:pPr>
            <a:r>
              <a:t>N = 1440 min⁻¹ なら  s = (1500−1440)/1500 = 0.04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522208" y="3063240"/>
            <a:ext cx="0" cy="301752"/>
          </a:xfrm>
          <a:prstGeom prst="line">
            <a:avLst/>
          </a:prstGeom>
          <a:ln w="31750">
            <a:solidFill>
              <a:srgbClr val="5F67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532120" y="3419856"/>
            <a:ext cx="5989320" cy="685800"/>
          </a:xfrm>
          <a:prstGeom prst="roundRect">
            <a:avLst/>
          </a:prstGeom>
          <a:solidFill>
            <a:srgbClr val="F0F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2000" b="1">
                <a:solidFill>
                  <a:srgbClr val="3D8C55"/>
                </a:solidFill>
                <a:latin typeface="Noto Sans CJK JP"/>
              </a:defRPr>
            </a:pPr>
            <a:r>
              <a:t>f₂ = s f₁ = 0.04×50 = 2 Hz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33288" y="4498848"/>
            <a:ext cx="5596128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defRPr sz="1500" b="0">
                <a:solidFill>
                  <a:srgbClr val="232830"/>
                </a:solidFill>
                <a:latin typeface="Noto Sans CJK JP"/>
              </a:defRPr>
            </a:pPr>
            <a:r>
              <a:t>意味：回転子が同期速度へ近づくほど相対速度が小さくなり、二次周波数と二次誘導起電力も小さくなる。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0" y="5742432"/>
            <a:ext cx="5623560" cy="384048"/>
          </a:xfrm>
          <a:prstGeom prst="roundRect">
            <a:avLst/>
          </a:prstGeom>
          <a:solidFill>
            <a:srgbClr val="FFF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1400" b="1">
                <a:solidFill>
                  <a:srgbClr val="D58E2D"/>
                </a:solidFill>
                <a:latin typeface="Noto Sans CJK JP"/>
              </a:defRPr>
            </a:pPr>
            <a:r>
              <a:t>E₂s = s E₂0 も同じ「滑り比例」で扱う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" y="6547104"/>
            <a:ext cx="12143232" cy="246888"/>
          </a:xfrm>
          <a:prstGeom prst="rect">
            <a:avLst/>
          </a:prstGeom>
          <a:solidFill>
            <a:srgbClr val="14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6565392"/>
            <a:ext cx="11155680" cy="164592"/>
          </a:xfrm>
          <a:prstGeom prst="rect">
            <a:avLst/>
          </a:prstGeom>
          <a:noFill/>
        </p:spPr>
        <p:txBody>
          <a:bodyPr wrap="none" lIns="0" anchor="ctr">
            <a:spAutoFit/>
          </a:bodyPr>
          <a:lstStyle/>
          <a:p>
            <a:pPr>
              <a:defRPr sz="850">
                <a:solidFill>
                  <a:srgbClr val="FFFFFF"/>
                </a:solidFill>
                <a:latin typeface="Noto Sans CJK JP"/>
              </a:defRPr>
            </a:pPr>
            <a:r>
              <a:t>Topic 04 / 電験三種 機械・誘導機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943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400" b="1">
                <a:solidFill>
                  <a:srgbClr val="14263E"/>
                </a:solidFill>
                <a:latin typeface="Noto Sans CJK JP"/>
              </a:defRPr>
            </a:pPr>
            <a:r>
              <a:t>電力の流れ：P₁ → P₂ → Pm → Pout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04672"/>
            <a:ext cx="10972800" cy="347472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050">
                <a:solidFill>
                  <a:srgbClr val="5F6772"/>
                </a:solidFill>
                <a:latin typeface="Noto Sans CJK JP"/>
              </a:defRPr>
            </a:pPr>
            <a:r>
              <a:t>R6下 問4・R1 問3・R8上 問4で要求される損失とトルクの接続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1874519" cy="822960"/>
          </a:xfrm>
          <a:prstGeom prst="roundRect">
            <a:avLst/>
          </a:prstGeom>
          <a:solidFill>
            <a:srgbClr val="14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1400" b="1">
                <a:solidFill>
                  <a:srgbClr val="FFFFFF"/>
                </a:solidFill>
                <a:latin typeface="Noto Sans CJK JP"/>
              </a:defRPr>
            </a:pPr>
            <a:r>
              <a:t>一次入力 P₁</a:t>
            </a:r>
            <a:br/>
            <a:r>
              <a:t>√3 VI cosφ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423159" y="1828800"/>
            <a:ext cx="301752" cy="0"/>
          </a:xfrm>
          <a:prstGeom prst="line">
            <a:avLst/>
          </a:prstGeom>
          <a:ln w="29209">
            <a:solidFill>
              <a:srgbClr val="5F67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743200" y="1417320"/>
            <a:ext cx="1874519" cy="822960"/>
          </a:xfrm>
          <a:prstGeom prst="roundRect">
            <a:avLst/>
          </a:prstGeom>
          <a:solidFill>
            <a:srgbClr val="2C5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1400" b="1">
                <a:solidFill>
                  <a:srgbClr val="FFFFFF"/>
                </a:solidFill>
                <a:latin typeface="Noto Sans CJK JP"/>
              </a:defRPr>
            </a:pPr>
            <a:r>
              <a:t>二次入力 P₂</a:t>
            </a:r>
            <a:br/>
            <a:r>
              <a:t>P₁−鉄損−一次銅損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663440" y="1828800"/>
            <a:ext cx="301752" cy="0"/>
          </a:xfrm>
          <a:prstGeom prst="line">
            <a:avLst/>
          </a:prstGeom>
          <a:ln w="29209">
            <a:solidFill>
              <a:srgbClr val="5F67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983480" y="1417320"/>
            <a:ext cx="1874519" cy="822960"/>
          </a:xfrm>
          <a:prstGeom prst="roundRect">
            <a:avLst/>
          </a:prstGeom>
          <a:solidFill>
            <a:srgbClr val="218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1400" b="1">
                <a:solidFill>
                  <a:srgbClr val="FFFFFF"/>
                </a:solidFill>
                <a:latin typeface="Noto Sans CJK JP"/>
              </a:defRPr>
            </a:pPr>
            <a:r>
              <a:t>機械変換 Pm</a:t>
            </a:r>
            <a:br/>
            <a:r>
              <a:t>(1−s)P₂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903720" y="1828800"/>
            <a:ext cx="301752" cy="0"/>
          </a:xfrm>
          <a:prstGeom prst="line">
            <a:avLst/>
          </a:prstGeom>
          <a:ln w="29209">
            <a:solidFill>
              <a:srgbClr val="5F67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223760" y="1417320"/>
            <a:ext cx="1874519" cy="822960"/>
          </a:xfrm>
          <a:prstGeom prst="roundRect">
            <a:avLst/>
          </a:prstGeom>
          <a:solidFill>
            <a:srgbClr val="3D8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1400" b="1">
                <a:solidFill>
                  <a:srgbClr val="FFFFFF"/>
                </a:solidFill>
                <a:latin typeface="Noto Sans CJK JP"/>
              </a:defRPr>
            </a:pPr>
            <a:r>
              <a:t>軸出力 Pout</a:t>
            </a:r>
            <a:br/>
            <a:r>
              <a:t>Pm−機械損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24912" y="2450592"/>
            <a:ext cx="1920240" cy="566928"/>
          </a:xfrm>
          <a:prstGeom prst="roundRect">
            <a:avLst/>
          </a:prstGeom>
          <a:solidFill>
            <a:srgbClr val="FF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500" b="1">
                <a:solidFill>
                  <a:srgbClr val="B74646"/>
                </a:solidFill>
                <a:latin typeface="Noto Sans CJK JP"/>
              </a:defRPr>
            </a:pPr>
            <a:r>
              <a:t>二次銅損 Pc₂ = sP₂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05472" y="2450592"/>
            <a:ext cx="1920240" cy="566928"/>
          </a:xfrm>
          <a:prstGeom prst="roundRect">
            <a:avLst/>
          </a:prstGeom>
          <a:solidFill>
            <a:srgbClr val="EF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600" b="1">
                <a:solidFill>
                  <a:srgbClr val="14263E"/>
                </a:solidFill>
                <a:latin typeface="Noto Sans CJK JP"/>
              </a:defRPr>
            </a:pPr>
            <a:r>
              <a:t>η = Pout / P₁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310128"/>
            <a:ext cx="5440680" cy="2578608"/>
          </a:xfrm>
          <a:prstGeom prst="roundRect">
            <a:avLst/>
          </a:prstGeom>
          <a:solidFill>
            <a:srgbClr val="FFFFFF"/>
          </a:solidFill>
          <a:ln>
            <a:solidFill>
              <a:srgbClr val="E2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>
              <a:spcAft>
                <a:spcPts val="400"/>
              </a:spcAft>
              <a:defRPr sz="1700" b="1">
                <a:solidFill>
                  <a:srgbClr val="14263E"/>
                </a:solidFill>
                <a:latin typeface="Noto Sans CJK JP"/>
              </a:defRPr>
            </a:pPr>
            <a:r>
              <a:t>トルクは「どの角速度か」を確認</a:t>
            </a:r>
          </a:p>
          <a:p>
            <a:pPr>
              <a:spcAft>
                <a:spcPts val="400"/>
              </a:spcAft>
              <a:defRPr sz="2100" b="1">
                <a:solidFill>
                  <a:srgbClr val="3D8C55"/>
                </a:solidFill>
                <a:latin typeface="Noto Sans CJK JP"/>
              </a:defRPr>
            </a:pPr>
            <a:r>
              <a:t>軸出力から：  T = Pout / ωm</a:t>
            </a:r>
          </a:p>
          <a:p>
            <a:pPr>
              <a:spcAft>
                <a:spcPts val="400"/>
              </a:spcAft>
              <a:defRPr sz="1800" b="1">
                <a:solidFill>
                  <a:srgbClr val="232830"/>
                </a:solidFill>
                <a:latin typeface="Noto Sans CJK JP"/>
              </a:defRPr>
            </a:pPr>
            <a:r>
              <a:t>ωm = 2πN/60</a:t>
            </a:r>
          </a:p>
          <a:p>
            <a:pPr>
              <a:spcAft>
                <a:spcPts val="400"/>
              </a:spcAft>
              <a:defRPr sz="2100" b="1">
                <a:solidFill>
                  <a:srgbClr val="2C5FAA"/>
                </a:solidFill>
                <a:latin typeface="Noto Sans CJK JP"/>
              </a:defRPr>
            </a:pPr>
            <a:r>
              <a:t>同期ワットから： P₂ = T ωs</a:t>
            </a:r>
          </a:p>
          <a:p>
            <a:pPr>
              <a:spcAft>
                <a:spcPts val="400"/>
              </a:spcAft>
              <a:defRPr sz="1800" b="1">
                <a:solidFill>
                  <a:srgbClr val="232830"/>
                </a:solidFill>
                <a:latin typeface="Noto Sans CJK JP"/>
              </a:defRPr>
            </a:pPr>
            <a:r>
              <a:t>ωs = 2πNs/60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3310128"/>
            <a:ext cx="5376672" cy="2578608"/>
          </a:xfrm>
          <a:prstGeom prst="roundRect">
            <a:avLst/>
          </a:prstGeom>
          <a:solidFill>
            <a:srgbClr val="FFFFFF"/>
          </a:solidFill>
          <a:ln>
            <a:solidFill>
              <a:srgbClr val="E2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>
              <a:spcAft>
                <a:spcPts val="400"/>
              </a:spcAft>
              <a:defRPr sz="1700" b="1">
                <a:solidFill>
                  <a:srgbClr val="14263E"/>
                </a:solidFill>
                <a:latin typeface="Noto Sans CJK JP"/>
              </a:defRPr>
            </a:pPr>
            <a:r>
              <a:t>計算の見方</a:t>
            </a:r>
          </a:p>
          <a:p>
            <a:pPr>
              <a:spcAft>
                <a:spcPts val="400"/>
              </a:spcAft>
              <a:defRPr sz="1500" b="0">
                <a:solidFill>
                  <a:srgbClr val="232830"/>
                </a:solidFill>
                <a:latin typeface="Noto Sans CJK JP"/>
              </a:defRPr>
            </a:pPr>
            <a:r>
              <a:t>s = 0.04、P₂ = 100 kW のとき</a:t>
            </a:r>
          </a:p>
          <a:p>
            <a:pPr>
              <a:spcAft>
                <a:spcPts val="400"/>
              </a:spcAft>
              <a:defRPr sz="1800" b="1">
                <a:solidFill>
                  <a:srgbClr val="B74646"/>
                </a:solidFill>
                <a:latin typeface="Noto Sans CJK JP"/>
              </a:defRPr>
            </a:pPr>
            <a:r>
              <a:t>Pc₂ = 0.04×100 = 4 kW</a:t>
            </a:r>
          </a:p>
          <a:p>
            <a:pPr>
              <a:spcAft>
                <a:spcPts val="400"/>
              </a:spcAft>
              <a:defRPr sz="1800" b="1">
                <a:solidFill>
                  <a:srgbClr val="218C82"/>
                </a:solidFill>
                <a:latin typeface="Noto Sans CJK JP"/>
              </a:defRPr>
            </a:pPr>
            <a:r>
              <a:t>Pm = 0.96×100 = 96 kW</a:t>
            </a:r>
          </a:p>
          <a:p>
            <a:pPr>
              <a:spcAft>
                <a:spcPts val="400"/>
              </a:spcAft>
              <a:defRPr sz="1600" b="1">
                <a:solidFill>
                  <a:srgbClr val="3D8C55"/>
                </a:solidFill>
                <a:latin typeface="Noto Sans CJK JP"/>
              </a:defRPr>
            </a:pPr>
            <a:r>
              <a:t>機械損が無視なら Pout = 96 kW</a:t>
            </a:r>
          </a:p>
          <a:p>
            <a:pPr>
              <a:spcAft>
                <a:spcPts val="400"/>
              </a:spcAft>
              <a:defRPr sz="1300" b="0">
                <a:solidFill>
                  <a:srgbClr val="5F6772"/>
                </a:solidFill>
                <a:latin typeface="Noto Sans CJK JP"/>
              </a:defRPr>
            </a:pPr>
            <a:r>
              <a:t>→ 入力 &gt; 出力、損失が正の値か検算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" y="6547104"/>
            <a:ext cx="12143232" cy="246888"/>
          </a:xfrm>
          <a:prstGeom prst="rect">
            <a:avLst/>
          </a:prstGeom>
          <a:solidFill>
            <a:srgbClr val="14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565392"/>
            <a:ext cx="11155680" cy="164592"/>
          </a:xfrm>
          <a:prstGeom prst="rect">
            <a:avLst/>
          </a:prstGeom>
          <a:noFill/>
        </p:spPr>
        <p:txBody>
          <a:bodyPr wrap="none" lIns="0" anchor="ctr">
            <a:spAutoFit/>
          </a:bodyPr>
          <a:lstStyle/>
          <a:p>
            <a:pPr>
              <a:defRPr sz="850">
                <a:solidFill>
                  <a:srgbClr val="FFFFFF"/>
                </a:solidFill>
                <a:latin typeface="Noto Sans CJK JP"/>
              </a:defRPr>
            </a:pPr>
            <a:r>
              <a:t>Topic 04 / 電験三種 機械・誘導機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943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400" b="1">
                <a:solidFill>
                  <a:srgbClr val="14263E"/>
                </a:solidFill>
                <a:latin typeface="Noto Sans CJK JP"/>
              </a:defRPr>
            </a:pPr>
            <a:r>
              <a:t>本試験5問への対応と範囲境界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04672"/>
            <a:ext cx="10972800" cy="347472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050">
                <a:solidFill>
                  <a:srgbClr val="5F6772"/>
                </a:solidFill>
                <a:latin typeface="Noto Sans CJK JP"/>
              </a:defRPr>
            </a:pPr>
            <a:r>
              <a:t>教材へ仕様外論点を足さず、Topic 04固定範囲だけで解く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828800" cy="411480"/>
          </a:xfrm>
          <a:prstGeom prst="rect">
            <a:avLst/>
          </a:prstGeom>
          <a:solidFill>
            <a:srgbClr val="14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1400" b="1">
                <a:solidFill>
                  <a:srgbClr val="FFFFFF"/>
                </a:solidFill>
                <a:latin typeface="Noto Sans CJK JP"/>
              </a:defRPr>
            </a:pPr>
            <a:r>
              <a:t>公式過去問</a:t>
            </a:r>
          </a:p>
        </p:txBody>
      </p:sp>
      <p:sp>
        <p:nvSpPr>
          <p:cNvPr id="5" name="Rectangle 4"/>
          <p:cNvSpPr/>
          <p:nvPr/>
        </p:nvSpPr>
        <p:spPr>
          <a:xfrm>
            <a:off x="2395728" y="1234440"/>
            <a:ext cx="6629400" cy="411480"/>
          </a:xfrm>
          <a:prstGeom prst="rect">
            <a:avLst/>
          </a:prstGeom>
          <a:solidFill>
            <a:srgbClr val="14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1400" b="1">
                <a:solidFill>
                  <a:srgbClr val="FFFFFF"/>
                </a:solidFill>
                <a:latin typeface="Noto Sans CJK JP"/>
              </a:defRPr>
            </a:pPr>
            <a:r>
              <a:t>要求事項</a:t>
            </a:r>
          </a:p>
        </p:txBody>
      </p:sp>
      <p:sp>
        <p:nvSpPr>
          <p:cNvPr id="6" name="Rectangle 5"/>
          <p:cNvSpPr/>
          <p:nvPr/>
        </p:nvSpPr>
        <p:spPr>
          <a:xfrm>
            <a:off x="9043416" y="1234440"/>
            <a:ext cx="2514600" cy="411480"/>
          </a:xfrm>
          <a:prstGeom prst="rect">
            <a:avLst/>
          </a:prstGeom>
          <a:solidFill>
            <a:srgbClr val="14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1400" b="1">
                <a:solidFill>
                  <a:srgbClr val="FFFFFF"/>
                </a:solidFill>
                <a:latin typeface="Noto Sans CJK JP"/>
              </a:defRPr>
            </a:pPr>
            <a:r>
              <a:t>PowerPoint対応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64208"/>
            <a:ext cx="1828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1300" b="1">
                <a:solidFill>
                  <a:srgbClr val="232830"/>
                </a:solidFill>
                <a:latin typeface="Noto Sans CJK JP"/>
              </a:defRPr>
            </a:pPr>
            <a:r>
              <a:t>R8上 機械 問4</a:t>
            </a:r>
          </a:p>
        </p:txBody>
      </p:sp>
      <p:sp>
        <p:nvSpPr>
          <p:cNvPr id="8" name="Rectangle 7"/>
          <p:cNvSpPr/>
          <p:nvPr/>
        </p:nvSpPr>
        <p:spPr>
          <a:xfrm>
            <a:off x="2395728" y="1664208"/>
            <a:ext cx="66294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82296" bIns="82296"/>
          <a:lstStyle/>
          <a:p>
            <a:pPr algn="l">
              <a:defRPr sz="1300" b="0">
                <a:solidFill>
                  <a:srgbClr val="232830"/>
                </a:solidFill>
                <a:latin typeface="Noto Sans CJK JP"/>
              </a:defRPr>
            </a:pPr>
            <a:r>
              <a:t>Ns・同期ワット・トルク・機械出力</a:t>
            </a:r>
          </a:p>
        </p:txBody>
      </p:sp>
      <p:sp>
        <p:nvSpPr>
          <p:cNvPr id="9" name="Rectangle 8"/>
          <p:cNvSpPr/>
          <p:nvPr/>
        </p:nvSpPr>
        <p:spPr>
          <a:xfrm>
            <a:off x="9043416" y="1664208"/>
            <a:ext cx="2514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1300" b="1">
                <a:solidFill>
                  <a:srgbClr val="2C5FAA"/>
                </a:solidFill>
                <a:latin typeface="Noto Sans CJK JP"/>
              </a:defRPr>
            </a:pPr>
            <a:r>
              <a:t>Slide 1・3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04288"/>
            <a:ext cx="1828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1300" b="1">
                <a:solidFill>
                  <a:srgbClr val="232830"/>
                </a:solidFill>
                <a:latin typeface="Noto Sans CJK JP"/>
              </a:defRPr>
            </a:pPr>
            <a:r>
              <a:t>R6下 機械 問4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95728" y="2304288"/>
            <a:ext cx="66294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82296" bIns="82296"/>
          <a:lstStyle/>
          <a:p>
            <a:pPr algn="l">
              <a:defRPr sz="1300" b="0">
                <a:solidFill>
                  <a:srgbClr val="232830"/>
                </a:solidFill>
                <a:latin typeface="Noto Sans CJK JP"/>
              </a:defRPr>
            </a:pPr>
            <a:r>
              <a:t>三相入力・損失・二次銅損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43416" y="2304288"/>
            <a:ext cx="2514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1300" b="1">
                <a:solidFill>
                  <a:srgbClr val="2C5FAA"/>
                </a:solidFill>
                <a:latin typeface="Noto Sans CJK JP"/>
              </a:defRPr>
            </a:pPr>
            <a:r>
              <a:t>Slide 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944368"/>
            <a:ext cx="1828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1300" b="1">
                <a:solidFill>
                  <a:srgbClr val="232830"/>
                </a:solidFill>
                <a:latin typeface="Noto Sans CJK JP"/>
              </a:defRPr>
            </a:pPr>
            <a:r>
              <a:t>R5上 機械 問3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95728" y="2944368"/>
            <a:ext cx="66294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82296" bIns="82296"/>
          <a:lstStyle/>
          <a:p>
            <a:pPr algn="l">
              <a:defRPr sz="1300" b="0">
                <a:solidFill>
                  <a:srgbClr val="232830"/>
                </a:solidFill>
                <a:latin typeface="Noto Sans CJK JP"/>
              </a:defRPr>
            </a:pPr>
            <a:r>
              <a:t>回転磁界・誘導起電力・滑り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43416" y="2944368"/>
            <a:ext cx="2514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1300" b="1">
                <a:solidFill>
                  <a:srgbClr val="2C5FAA"/>
                </a:solidFill>
                <a:latin typeface="Noto Sans CJK JP"/>
              </a:defRPr>
            </a:pPr>
            <a:r>
              <a:t>Slide 1・2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584448"/>
            <a:ext cx="1828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1300" b="1">
                <a:solidFill>
                  <a:srgbClr val="232830"/>
                </a:solidFill>
                <a:latin typeface="Noto Sans CJK JP"/>
              </a:defRPr>
            </a:pPr>
            <a:r>
              <a:t>R5上 機械 問4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95728" y="3584448"/>
            <a:ext cx="66294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82296" bIns="82296"/>
          <a:lstStyle/>
          <a:p>
            <a:pPr algn="l">
              <a:defRPr sz="1300" b="0">
                <a:solidFill>
                  <a:srgbClr val="232830"/>
                </a:solidFill>
                <a:latin typeface="Noto Sans CJK JP"/>
              </a:defRPr>
            </a:pPr>
            <a:r>
              <a:t>Ns・N・出力からトルク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43416" y="3584448"/>
            <a:ext cx="2514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1300" b="1">
                <a:solidFill>
                  <a:srgbClr val="2C5FAA"/>
                </a:solidFill>
                <a:latin typeface="Noto Sans CJK JP"/>
              </a:defRPr>
            </a:pPr>
            <a:r>
              <a:t>Slide 2・3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224528"/>
            <a:ext cx="1828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1300" b="1">
                <a:solidFill>
                  <a:srgbClr val="232830"/>
                </a:solidFill>
                <a:latin typeface="Noto Sans CJK JP"/>
              </a:defRPr>
            </a:pPr>
            <a:r>
              <a:t>R1 機械 問3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95728" y="4224528"/>
            <a:ext cx="66294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82296" bIns="82296"/>
          <a:lstStyle/>
          <a:p>
            <a:pPr algn="l">
              <a:defRPr sz="1300" b="0">
                <a:solidFill>
                  <a:srgbClr val="232830"/>
                </a:solidFill>
                <a:latin typeface="Noto Sans CJK JP"/>
              </a:defRPr>
            </a:pPr>
            <a:r>
              <a:t>滑り・P₂・損失・効率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43416" y="4224528"/>
            <a:ext cx="2514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1300" b="1">
                <a:solidFill>
                  <a:srgbClr val="2C5FAA"/>
                </a:solidFill>
                <a:latin typeface="Noto Sans CJK JP"/>
              </a:defRPr>
            </a:pPr>
            <a:r>
              <a:t>Slide 2・3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02352"/>
            <a:ext cx="11018520" cy="1069848"/>
          </a:xfrm>
          <a:prstGeom prst="roundRect">
            <a:avLst/>
          </a:prstGeom>
          <a:solidFill>
            <a:srgbClr val="FFF7F7"/>
          </a:solidFill>
          <a:ln>
            <a:solidFill>
              <a:srgbClr val="E6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>
              <a:spcAft>
                <a:spcPts val="400"/>
              </a:spcAft>
              <a:defRPr sz="1400" b="1">
                <a:solidFill>
                  <a:srgbClr val="B74646"/>
                </a:solidFill>
                <a:latin typeface="Noto Sans CJK JP"/>
              </a:defRPr>
            </a:pPr>
            <a:r>
              <a:t>このTopicでは扱わない</a:t>
            </a:r>
          </a:p>
          <a:p>
            <a:pPr>
              <a:spcAft>
                <a:spcPts val="400"/>
              </a:spcAft>
              <a:defRPr sz="1300" b="0">
                <a:solidFill>
                  <a:srgbClr val="232830"/>
                </a:solidFill>
                <a:latin typeface="Noto Sans CJK JP"/>
              </a:defRPr>
            </a:pPr>
            <a:r>
              <a:t>始動法 / Y-Δ始動 / 巻線形の比例推移 / インバータ・V/f・VVVF / ベクトル制御 / 回生制動 / 詳細等価回路</a:t>
            </a:r>
          </a:p>
          <a:p>
            <a:pPr>
              <a:spcAft>
                <a:spcPts val="400"/>
              </a:spcAft>
              <a:defRPr sz="1200" b="0">
                <a:solidFill>
                  <a:srgbClr val="5F6772"/>
                </a:solidFill>
                <a:latin typeface="Noto Sans CJK JP"/>
              </a:defRPr>
            </a:pPr>
            <a:r>
              <a:t>300系との接続も「三相誘導電動機方式への転換」「整流子・ブラシ不要」の範囲に限定し、未確認の主電動機定格値・具体的制御方式は追加しない。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" y="6547104"/>
            <a:ext cx="12143232" cy="246888"/>
          </a:xfrm>
          <a:prstGeom prst="rect">
            <a:avLst/>
          </a:prstGeom>
          <a:solidFill>
            <a:srgbClr val="14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6565392"/>
            <a:ext cx="11155680" cy="164592"/>
          </a:xfrm>
          <a:prstGeom prst="rect">
            <a:avLst/>
          </a:prstGeom>
          <a:noFill/>
        </p:spPr>
        <p:txBody>
          <a:bodyPr wrap="none" lIns="0" anchor="ctr">
            <a:spAutoFit/>
          </a:bodyPr>
          <a:lstStyle/>
          <a:p>
            <a:pPr>
              <a:defRPr sz="850">
                <a:solidFill>
                  <a:srgbClr val="FFFFFF"/>
                </a:solidFill>
                <a:latin typeface="Noto Sans CJK JP"/>
              </a:defRPr>
            </a:pPr>
            <a:r>
              <a:t>Topic 04 / EXAM_ALIGNMENT固定5問を可視化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