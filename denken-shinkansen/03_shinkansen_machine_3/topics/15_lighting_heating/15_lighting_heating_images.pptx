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電験三種「機械」 Topic 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818120" y="651052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固定範囲のみ / 未確認の実車値は使わない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65176"/>
            <a:ext cx="2560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65176"/>
            <a:ext cx="2560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車内の照明・空調にはどれだけ電気が必要？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新幹線の客室設備を入口に、電験三種「機械」の照明・電熱を解く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886200" cy="4160520"/>
          </a:xfrm>
          <a:prstGeom prst="roundRect">
            <a:avLst>
              <a:gd name="adj" fmla="val 1882"/>
            </a:avLst>
          </a:prstGeom>
          <a:solidFill>
            <a:srgbClr val="FFFFFF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755648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933"/>
                </a:solidFill>
              </a:rPr>
              <a:t>客室で電気を使う2系統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60120" y="2395728"/>
            <a:ext cx="411480" cy="164592"/>
          </a:xfrm>
          <a:prstGeom prst="ellipse">
            <a:avLst/>
          </a:prstGeom>
          <a:solidFill>
            <a:srgbClr val="FFE9A8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70432" y="2560320"/>
            <a:ext cx="0" cy="384048"/>
          </a:xfrm>
          <a:prstGeom prst="line">
            <a:avLst/>
          </a:prstGeom>
          <a:noFill/>
          <a:ln w="15240">
            <a:solidFill>
              <a:srgbClr val="E3B44F">
                <a:alpha val="8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81912" y="2395728"/>
            <a:ext cx="411480" cy="164592"/>
          </a:xfrm>
          <a:prstGeom prst="ellipse">
            <a:avLst/>
          </a:prstGeom>
          <a:solidFill>
            <a:srgbClr val="FFE9A8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92224" y="2560320"/>
            <a:ext cx="0" cy="384048"/>
          </a:xfrm>
          <a:prstGeom prst="line">
            <a:avLst/>
          </a:prstGeom>
          <a:noFill/>
          <a:ln w="15240">
            <a:solidFill>
              <a:srgbClr val="E3B44F">
                <a:alpha val="8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03704" y="2395728"/>
            <a:ext cx="411480" cy="164592"/>
          </a:xfrm>
          <a:prstGeom prst="ellipse">
            <a:avLst/>
          </a:prstGeom>
          <a:solidFill>
            <a:srgbClr val="FFE9A8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14016" y="2560320"/>
            <a:ext cx="0" cy="384048"/>
          </a:xfrm>
          <a:prstGeom prst="line">
            <a:avLst/>
          </a:prstGeom>
          <a:noFill/>
          <a:ln w="15240">
            <a:solidFill>
              <a:srgbClr val="E3B44F">
                <a:alpha val="8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25496" y="2395728"/>
            <a:ext cx="411480" cy="164592"/>
          </a:xfrm>
          <a:prstGeom prst="ellipse">
            <a:avLst/>
          </a:prstGeom>
          <a:solidFill>
            <a:srgbClr val="FFE9A8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35808" y="2560320"/>
            <a:ext cx="0" cy="384048"/>
          </a:xfrm>
          <a:prstGeom prst="line">
            <a:avLst/>
          </a:prstGeom>
          <a:noFill/>
          <a:ln w="15240">
            <a:solidFill>
              <a:srgbClr val="E3B44F">
                <a:alpha val="8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47288" y="2395728"/>
            <a:ext cx="411480" cy="164592"/>
          </a:xfrm>
          <a:prstGeom prst="ellipse">
            <a:avLst/>
          </a:prstGeom>
          <a:solidFill>
            <a:srgbClr val="FFE9A8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2560320"/>
            <a:ext cx="0" cy="384048"/>
          </a:xfrm>
          <a:prstGeom prst="line">
            <a:avLst/>
          </a:prstGeom>
          <a:noFill/>
          <a:ln w="15240">
            <a:solidFill>
              <a:srgbClr val="E3B44F">
                <a:alpha val="8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9718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8891C"/>
                </a:solidFill>
              </a:rPr>
              <a:t>照明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96112" y="3346704"/>
            <a:ext cx="1828800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光束・光度・照度・輝度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照明率・保守率・発光効率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971800" y="2359152"/>
            <a:ext cx="1005840" cy="658368"/>
          </a:xfrm>
          <a:prstGeom prst="roundRect">
            <a:avLst/>
          </a:prstGeom>
          <a:solidFill>
            <a:srgbClr val="DDF3F7"/>
          </a:solidFill>
          <a:ln w="13970">
            <a:solidFill>
              <a:srgbClr val="79BA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27248" y="2542032"/>
            <a:ext cx="694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6CB0"/>
                </a:solidFill>
              </a:rPr>
              <a:t>空調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163824" y="3127248"/>
            <a:ext cx="0" cy="365760"/>
          </a:xfrm>
          <a:prstGeom prst="line">
            <a:avLst/>
          </a:prstGeom>
          <a:noFill/>
          <a:ln w="20320">
            <a:solidFill>
              <a:srgbClr val="79BAC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10712" y="3127248"/>
            <a:ext cx="0" cy="365760"/>
          </a:xfrm>
          <a:prstGeom prst="line">
            <a:avLst/>
          </a:prstGeom>
          <a:noFill/>
          <a:ln w="20320">
            <a:solidFill>
              <a:srgbClr val="79BAC3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657600" y="3127248"/>
            <a:ext cx="0" cy="365760"/>
          </a:xfrm>
          <a:prstGeom prst="line">
            <a:avLst/>
          </a:prstGeom>
          <a:noFill/>
          <a:ln w="20320">
            <a:solidFill>
              <a:srgbClr val="79BAC3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2788920" y="3685032"/>
            <a:ext cx="1481328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電熱・空調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dirty="0">
                <a:solidFill>
                  <a:srgbClr val="1F2933"/>
                </a:solidFill>
              </a:rPr>
              <a:t>熱量・効率・COP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170432" y="4736592"/>
            <a:ext cx="2651760" cy="0"/>
          </a:xfrm>
          <a:prstGeom prst="line">
            <a:avLst/>
          </a:prstGeom>
          <a:noFill/>
          <a:ln w="50800">
            <a:solidFill>
              <a:srgbClr val="123B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89204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3B63"/>
                </a:solidFill>
              </a:rPr>
              <a:t>車内設備への電力供給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1508760"/>
            <a:ext cx="6537960" cy="4160520"/>
          </a:xfrm>
          <a:prstGeom prst="roundRect">
            <a:avLst>
              <a:gd name="adj" fmla="val 1758"/>
            </a:avLst>
          </a:prstGeom>
          <a:solidFill>
            <a:srgbClr val="FDFEFE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38928" y="1755648"/>
            <a:ext cx="2377440" cy="402336"/>
          </a:xfrm>
          <a:prstGeom prst="round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38928" y="1764792"/>
            <a:ext cx="23774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本試験で問われること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5193792" y="2359152"/>
            <a:ext cx="1097280" cy="347472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93792" y="2368296"/>
            <a:ext cx="1097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量を区別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419088" y="2350008"/>
            <a:ext cx="44805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lm / cd / lx / cd/m²を取り違えない</a:t>
            </a:r>
            <a:endParaRPr lang="en-US" sz="1320" dirty="0"/>
          </a:p>
        </p:txBody>
      </p:sp>
      <p:sp>
        <p:nvSpPr>
          <p:cNvPr id="32" name="Shape 30"/>
          <p:cNvSpPr/>
          <p:nvPr/>
        </p:nvSpPr>
        <p:spPr>
          <a:xfrm>
            <a:off x="5193792" y="2962656"/>
            <a:ext cx="1097280" cy="347472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2971800"/>
            <a:ext cx="1097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照度計算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419088" y="2953512"/>
            <a:ext cx="44805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I = Φ/(4π)、E = I cosθ/r²、複数光源の加算</a:t>
            </a:r>
            <a:endParaRPr lang="en-US" sz="1320" dirty="0"/>
          </a:p>
        </p:txBody>
      </p:sp>
      <p:sp>
        <p:nvSpPr>
          <p:cNvPr id="35" name="Shape 33"/>
          <p:cNvSpPr/>
          <p:nvPr/>
        </p:nvSpPr>
        <p:spPr>
          <a:xfrm>
            <a:off x="5193792" y="3566160"/>
            <a:ext cx="1097280" cy="347472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93792" y="3575304"/>
            <a:ext cx="1097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6C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照明設計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419088" y="3557016"/>
            <a:ext cx="44805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N = EA/(FUM)、必要最小灯数は切上げ</a:t>
            </a:r>
            <a:endParaRPr lang="en-US" sz="1320" dirty="0"/>
          </a:p>
        </p:txBody>
      </p:sp>
      <p:sp>
        <p:nvSpPr>
          <p:cNvPr id="38" name="Shape 36"/>
          <p:cNvSpPr/>
          <p:nvPr/>
        </p:nvSpPr>
        <p:spPr>
          <a:xfrm>
            <a:off x="5193792" y="4169664"/>
            <a:ext cx="1097280" cy="347472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193792" y="4178808"/>
            <a:ext cx="1097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8891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電熱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6419088" y="4160520"/>
            <a:ext cx="44805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Q = I²Rt、Q = ηPt、熱量・電力・時間の逆算</a:t>
            </a:r>
            <a:endParaRPr lang="en-US" sz="1320" dirty="0"/>
          </a:p>
        </p:txBody>
      </p:sp>
      <p:sp>
        <p:nvSpPr>
          <p:cNvPr id="41" name="Shape 39"/>
          <p:cNvSpPr/>
          <p:nvPr/>
        </p:nvSpPr>
        <p:spPr>
          <a:xfrm>
            <a:off x="5193792" y="4773168"/>
            <a:ext cx="1097280" cy="347472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4782312"/>
            <a:ext cx="10972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D8891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空調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419088" y="4764024"/>
            <a:ext cx="4480560" cy="40233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F2933"/>
                </a:solidFill>
              </a:rPr>
              <a:t>COP = Q / W_in。効率ηと同一視しない</a:t>
            </a:r>
            <a:endParaRPr lang="en-US" sz="1320" dirty="0"/>
          </a:p>
        </p:txBody>
      </p:sp>
      <p:sp>
        <p:nvSpPr>
          <p:cNvPr id="44" name="Text 42"/>
          <p:cNvSpPr/>
          <p:nvPr/>
        </p:nvSpPr>
        <p:spPr>
          <a:xfrm>
            <a:off x="5193792" y="5239512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D7A58"/>
                </a:solidFill>
              </a:rPr>
              <a:t>固定品質ゲート: 7問・12答案要素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7735824" y="5202936"/>
            <a:ext cx="321868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52616F"/>
                </a:solidFill>
              </a:rPr>
              <a:t>実車の灯数・消費電力・空調能力・COPは、一次資料未確認の値を使わない。</a:t>
            </a:r>
            <a:endParaRPr lang="en-US" sz="1080" dirty="0"/>
          </a:p>
        </p:txBody>
      </p:sp>
      <p:sp>
        <p:nvSpPr>
          <p:cNvPr id="46" name="Text 44"/>
          <p:cNvSpPr/>
          <p:nvPr/>
        </p:nvSpPr>
        <p:spPr>
          <a:xfrm>
            <a:off x="621792" y="619048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対応: R8上 問17 / R7上 問12・問17 / R6下 問17 / R6上 問17 / R4上 問17 / R2 問12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65176"/>
            <a:ext cx="2560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所要灯数は照明率・保守率を入れて「切り上げる」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発光効率までつなげると、必要な総消費電力も求められる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4160520" cy="448056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1764792"/>
            <a:ext cx="1554480" cy="384048"/>
          </a:xfrm>
          <a:prstGeom prst="roundRect">
            <a:avLst/>
          </a:prstGeom>
          <a:solidFill>
            <a:srgbClr val="123B63"/>
          </a:solidFill>
          <a:ln w="12700">
            <a:solidFill>
              <a:srgbClr val="123B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773936"/>
            <a:ext cx="15544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照明設計の式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41832" y="2331720"/>
            <a:ext cx="3639312" cy="612648"/>
          </a:xfrm>
          <a:prstGeom prst="roundRect">
            <a:avLst>
              <a:gd name="adj" fmla="val 11940"/>
            </a:avLst>
          </a:prstGeom>
          <a:solidFill>
            <a:srgbClr val="EAF2FB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377440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E = N F U M / A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41832" y="3136392"/>
            <a:ext cx="3639312" cy="612648"/>
          </a:xfrm>
          <a:prstGeom prst="roundRect">
            <a:avLst>
              <a:gd name="adj" fmla="val 11940"/>
            </a:avLst>
          </a:prstGeom>
          <a:solidFill>
            <a:srgbClr val="EAF2FB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14984" y="3182112"/>
            <a:ext cx="34930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2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N = E A / (F U M)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24128" y="3941064"/>
            <a:ext cx="1554480" cy="14996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E: 平均照度 [lx]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N: 灯数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F: 1灯当たり光束 [lm]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U: 照明率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M: 保守率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</a:rPr>
              <a:t>A: 面積 [m²]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986784"/>
            <a:ext cx="1783080" cy="124358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80" b="1" dirty="0">
                <a:solidFill>
                  <a:srgbClr val="B54A4A"/>
                </a:solidFill>
              </a:rPr>
              <a:t>60% → 0.60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B54A4A"/>
                </a:solidFill>
              </a:rPr>
              <a:t>80% → 0.80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B54A4A"/>
                </a:solidFill>
              </a:rPr>
              <a:t>必要最小灯数は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b="1" dirty="0">
                <a:solidFill>
                  <a:srgbClr val="B54A4A"/>
                </a:solidFill>
              </a:rPr>
              <a:t>小数なら切上げ</a:t>
            </a:r>
            <a:endParaRPr lang="en-US" sz="1380" dirty="0"/>
          </a:p>
        </p:txBody>
      </p:sp>
      <p:sp>
        <p:nvSpPr>
          <p:cNvPr id="13" name="Shape 11"/>
          <p:cNvSpPr/>
          <p:nvPr/>
        </p:nvSpPr>
        <p:spPr>
          <a:xfrm>
            <a:off x="5138928" y="1508760"/>
            <a:ext cx="6217920" cy="4480560"/>
          </a:xfrm>
          <a:prstGeom prst="roundRect">
            <a:avLst>
              <a:gd name="adj" fmla="val 1633"/>
            </a:avLst>
          </a:prstGeom>
          <a:solidFill>
            <a:srgbClr val="FBFCFE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22392" y="1764792"/>
            <a:ext cx="1325880" cy="384048"/>
          </a:xfrm>
          <a:prstGeom prst="round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22392" y="1773936"/>
            <a:ext cx="1325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標準例題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013448" y="18013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F2933"/>
                </a:solidFill>
              </a:rPr>
              <a:t>60 m² / 300 lx / 3000 lm / U=0.60 / M=0.80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5532120" y="2350008"/>
            <a:ext cx="2496312" cy="1691640"/>
          </a:xfrm>
          <a:prstGeom prst="rect">
            <a:avLst/>
          </a:prstGeom>
          <a:solidFill>
            <a:srgbClr val="FFFFFF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2587752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53912" y="2587752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92824" y="2587752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31736" y="2587752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70648" y="2587752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3026664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53912" y="3026664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92824" y="3026664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31736" y="3026664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470648" y="3026664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715000" y="3465576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53912" y="3465576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92824" y="3465576"/>
            <a:ext cx="256032" cy="137160"/>
          </a:xfrm>
          <a:prstGeom prst="ellipse">
            <a:avLst/>
          </a:prstGeom>
          <a:solidFill>
            <a:srgbClr val="FFE9A8"/>
          </a:solidFill>
          <a:ln w="10160">
            <a:solidFill>
              <a:srgbClr val="D8891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96128" y="4160520"/>
            <a:ext cx="23957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54A4A"/>
                </a:solidFill>
              </a:rPr>
              <a:t>計算値 12.5灯 → 13灯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8366760" y="2414016"/>
            <a:ext cx="253288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N = 300×60 / (3000×0.60×0.80)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  = 12.5  →  13灯</a:t>
            </a:r>
            <a:endParaRPr lang="en-US" sz="1700" dirty="0"/>
          </a:p>
        </p:txBody>
      </p:sp>
      <p:sp>
        <p:nvSpPr>
          <p:cNvPr id="33" name="Shape 31"/>
          <p:cNvSpPr/>
          <p:nvPr/>
        </p:nvSpPr>
        <p:spPr>
          <a:xfrm>
            <a:off x="8458200" y="3337560"/>
            <a:ext cx="2240280" cy="530352"/>
          </a:xfrm>
          <a:prstGeom prst="roundRect">
            <a:avLst>
              <a:gd name="adj" fmla="val 13793"/>
            </a:avLst>
          </a:prstGeom>
          <a:solidFill>
            <a:srgbClr val="E6F4EC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531352" y="3383280"/>
            <a:ext cx="20939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D7A58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K = Φ / P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8211312" y="4105656"/>
            <a:ext cx="2907792" cy="7132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10" b="1" dirty="0">
                <a:solidFill>
                  <a:srgbClr val="1F2933"/>
                </a:solidFill>
              </a:rPr>
              <a:t>1灯:  P = 3000 / 120 = 25 W</a:t>
            </a:r>
            <a:endParaRPr lang="en-US" sz="1510" dirty="0"/>
          </a:p>
          <a:p>
            <a:pPr indent="0" marL="0">
              <a:buNone/>
            </a:pPr>
            <a:r>
              <a:rPr lang="en-US" sz="1510" b="1" dirty="0">
                <a:solidFill>
                  <a:srgbClr val="1F2933"/>
                </a:solidFill>
              </a:rPr>
              <a:t>総消費電力: 13 × 25 = 325 W</a:t>
            </a:r>
            <a:endParaRPr lang="en-US" sz="1510" dirty="0"/>
          </a:p>
        </p:txBody>
      </p:sp>
      <p:sp>
        <p:nvSpPr>
          <p:cNvPr id="36" name="Shape 34"/>
          <p:cNvSpPr/>
          <p:nvPr/>
        </p:nvSpPr>
        <p:spPr>
          <a:xfrm>
            <a:off x="8430768" y="5001768"/>
            <a:ext cx="731520" cy="329184"/>
          </a:xfrm>
          <a:prstGeom prst="roundRect">
            <a:avLst/>
          </a:prstGeom>
          <a:solidFill>
            <a:srgbClr val="2D7A58"/>
          </a:solidFill>
          <a:ln w="12700">
            <a:solidFill>
              <a:srgbClr val="2D7A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430768" y="5010912"/>
            <a:ext cx="73152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答え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235440" y="50017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b="1" dirty="0">
                <a:solidFill>
                  <a:srgbClr val="2D7A58"/>
                </a:solidFill>
              </a:rPr>
              <a:t>13灯・325 W</a:t>
            </a:r>
            <a:endParaRPr lang="en-US" sz="1620" dirty="0"/>
          </a:p>
        </p:txBody>
      </p:sp>
      <p:sp>
        <p:nvSpPr>
          <p:cNvPr id="39" name="Text 37"/>
          <p:cNvSpPr/>
          <p:nvPr/>
        </p:nvSpPr>
        <p:spPr>
          <a:xfrm>
            <a:off x="5422392" y="5559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4A4A"/>
                </a:solidFill>
              </a:rPr>
              <a:t>ひっかけ: 12.5灯を四捨五入して12灯にしない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621792" y="619048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対応答案要素: R2 機械 問12 ＝ 1 / 12（累計 6 / 12）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65176"/>
            <a:ext cx="2560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3891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23B6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電熱は効率η、空調はCOP - 同じ式に入れない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熱量・電力量・電力・時間を、単位をそろえて往復できるようにする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5440680" cy="4535424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737360"/>
            <a:ext cx="1645920" cy="384048"/>
          </a:xfrm>
          <a:prstGeom prst="roundRect">
            <a:avLst/>
          </a:prstGeom>
          <a:solidFill>
            <a:srgbClr val="D8891C"/>
          </a:solidFill>
          <a:ln w="12700">
            <a:solidFill>
              <a:srgbClr val="D889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746504"/>
            <a:ext cx="1645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電熱・ヒーター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2331720"/>
            <a:ext cx="2359152" cy="621792"/>
          </a:xfrm>
          <a:prstGeom prst="roundRect">
            <a:avLst>
              <a:gd name="adj" fmla="val 11765"/>
            </a:avLst>
          </a:prstGeom>
          <a:solidFill>
            <a:srgbClr val="FFF2D8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7552" y="2377440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 = I² R t = P t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38144" y="2331720"/>
            <a:ext cx="2249424" cy="621792"/>
          </a:xfrm>
          <a:prstGeom prst="roundRect">
            <a:avLst>
              <a:gd name="adj" fmla="val 11765"/>
            </a:avLst>
          </a:prstGeom>
          <a:solidFill>
            <a:srgbClr val="FFF2D8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1296" y="237744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Q_use = η P 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32688" y="3200400"/>
            <a:ext cx="45262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3"/>
                </a:solidFill>
              </a:rPr>
              <a:t>例: m=2.0 kg、c=4.2 kJ/(kg·K)、ΔT=40 K</a:t>
            </a:r>
            <a:endParaRPr lang="en-US" sz="1430" dirty="0"/>
          </a:p>
          <a:p>
            <a:pPr indent="0" marL="0">
              <a:buNone/>
            </a:pPr>
            <a:r>
              <a:rPr lang="en-US" sz="1430" dirty="0">
                <a:solidFill>
                  <a:srgbClr val="1F2933"/>
                </a:solidFill>
              </a:rPr>
              <a:t>P=1.0 kW、η=0.84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932688" y="3895344"/>
            <a:ext cx="4526280" cy="10332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必要熱量  Q = mcΔT = 336 kJ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有効加熱電力  ηP = 0.84 kJ/s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時間  t = 336 / 0.84 = 400 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" y="5166360"/>
            <a:ext cx="45262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260" b="1" dirty="0">
                <a:solidFill>
                  <a:srgbClr val="B54A4A"/>
                </a:solidFill>
              </a:rPr>
              <a:t>効率84%は 0.84。必要入力を求めるときはηで割る。</a:t>
            </a:r>
            <a:endParaRPr lang="en-US" sz="1260" dirty="0"/>
          </a:p>
        </p:txBody>
      </p:sp>
      <p:sp>
        <p:nvSpPr>
          <p:cNvPr id="14" name="Shape 12"/>
          <p:cNvSpPr/>
          <p:nvPr/>
        </p:nvSpPr>
        <p:spPr>
          <a:xfrm>
            <a:off x="6327648" y="1463040"/>
            <a:ext cx="5212080" cy="4535424"/>
          </a:xfrm>
          <a:prstGeom prst="roundRect">
            <a:avLst>
              <a:gd name="adj" fmla="val 1613"/>
            </a:avLst>
          </a:prstGeom>
          <a:solidFill>
            <a:srgbClr val="FBFCFE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737360"/>
            <a:ext cx="1417320" cy="384048"/>
          </a:xfrm>
          <a:prstGeom prst="roundRect">
            <a:avLst/>
          </a:prstGeom>
          <a:solidFill>
            <a:srgbClr val="2B6CB0"/>
          </a:solidFill>
          <a:ln w="12700">
            <a:solidFill>
              <a:srgbClr val="2B6C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1746504"/>
            <a:ext cx="14173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空調・COP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629400" y="2331720"/>
            <a:ext cx="2057400" cy="621792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02552" y="2377440"/>
            <a:ext cx="19110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 = Q / W_in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869680" y="2331720"/>
            <a:ext cx="2176272" cy="621792"/>
          </a:xfrm>
          <a:prstGeom prst="roundRect">
            <a:avLst>
              <a:gd name="adj" fmla="val 11765"/>
            </a:avLst>
          </a:prstGeom>
          <a:solidFill>
            <a:srgbClr val="EAF2FB"/>
          </a:solidFill>
          <a:ln w="13970">
            <a:solidFill>
              <a:srgbClr val="C8D1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42832" y="2377440"/>
            <a:ext cx="20299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F2933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W_in = Q / COP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38544" y="3200400"/>
            <a:ext cx="43434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F2933"/>
                </a:solidFill>
              </a:rPr>
              <a:t>例: 必要な熱量 6.0 kWh、COP=3.0、運転2.0 h</a:t>
            </a:r>
            <a:endParaRPr lang="en-US" sz="1430" dirty="0"/>
          </a:p>
        </p:txBody>
      </p:sp>
      <p:sp>
        <p:nvSpPr>
          <p:cNvPr id="22" name="Text 20"/>
          <p:cNvSpPr/>
          <p:nvPr/>
        </p:nvSpPr>
        <p:spPr>
          <a:xfrm>
            <a:off x="6638544" y="3767328"/>
            <a:ext cx="4343400" cy="8046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入力電力量  W_in = 6.0 / 3.0 = 2.0 kWh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123B63"/>
                </a:solidFill>
              </a:rPr>
              <a:t>平均入力電力  P = 2.0 / 2.0 = 1.0 kW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720840" y="4901184"/>
            <a:ext cx="502920" cy="384048"/>
          </a:xfrm>
          <a:prstGeom prst="roundRect">
            <a:avLst/>
          </a:prstGeom>
          <a:solidFill>
            <a:srgbClr val="FFF2D8"/>
          </a:solidFill>
          <a:ln w="12700">
            <a:solidFill>
              <a:srgbClr val="FFF2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20840" y="4910328"/>
            <a:ext cx="50292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8891C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η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315200" y="4937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1F2933"/>
                </a:solidFill>
              </a:rPr>
              <a:t>入力の有効変換割合（0〜1）</a:t>
            </a:r>
            <a:endParaRPr lang="en-US" sz="1240" dirty="0"/>
          </a:p>
        </p:txBody>
      </p:sp>
      <p:sp>
        <p:nvSpPr>
          <p:cNvPr id="26" name="Shape 24"/>
          <p:cNvSpPr/>
          <p:nvPr/>
        </p:nvSpPr>
        <p:spPr>
          <a:xfrm>
            <a:off x="9235440" y="4901184"/>
            <a:ext cx="777240" cy="384048"/>
          </a:xfrm>
          <a:prstGeom prst="roundRect">
            <a:avLst/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35440" y="4910328"/>
            <a:ext cx="7772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6CB0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COP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0058400" y="4937760"/>
            <a:ext cx="11155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F2933"/>
                </a:solidFill>
              </a:rPr>
              <a:t>熱移動の性能係数（1超も可）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6638544" y="551383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B54A4A"/>
                </a:solidFill>
              </a:rPr>
              <a:t>1 kWh = 3.6 MJ。W と Wh、kW と kWh を混同しない。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621792" y="6190488"/>
            <a:ext cx="10881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2616F"/>
                </a:solidFill>
                <a:latin typeface="Noto Sans CJK JP" pitchFamily="34" charset="0"/>
                <a:ea typeface="Noto Sans CJK JP" pitchFamily="34" charset="-122"/>
                <a:cs typeface="Noto Sans CJK JP" pitchFamily="34" charset="-120"/>
              </a:rPr>
              <a:t>対応答案要素: R8上 問17(a)(b)、R7上 問17(a)(b)、R4上 問17(a)(b) ＝ 6 / 12（合計 12 / 12）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265176"/>
            <a:ext cx="25603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79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JP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JP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cureflash/homepage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車内の照明・空調にはどれだけ電気が必要？</dc:title>
  <dc:subject>電験三種 機械 Topic 15 照明・電熱</dc:subject>
  <dc:creator>OpenAI</dc:creator>
  <cp:lastModifiedBy>OpenAI</cp:lastModifiedBy>
  <cp:revision>1</cp:revision>
  <dcterms:created xsi:type="dcterms:W3CDTF">2026-09-17T23:17:33Z</dcterms:created>
  <dcterms:modified xsi:type="dcterms:W3CDTF">2026-09-17T23:17:33Z</dcterms:modified>
</cp:coreProperties>
</file>