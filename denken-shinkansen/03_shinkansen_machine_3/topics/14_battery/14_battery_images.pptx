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電験三種「機械」× 新幹線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716768" y="64739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Topic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停電してもN700Sが走れるのはなぜ？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N700Sの「バッテリ自走システム」を入口に、電池の基本を電験三種へ接続する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" y="1444752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E2F0D9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490472"/>
            <a:ext cx="154533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蓄電池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313432" y="1865376"/>
            <a:ext cx="347472" cy="0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06624" y="1444752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EAF5FB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9776" y="1490472"/>
            <a:ext cx="154533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直流電力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98264" y="1865376"/>
            <a:ext cx="347472" cy="0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91456" y="1444752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D9EAF7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490472"/>
            <a:ext cx="154533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主変換装置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83096" y="1865376"/>
            <a:ext cx="347472" cy="0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76288" y="1444752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FCE4D6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490472"/>
            <a:ext cx="154533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主電動機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567928" y="1865376"/>
            <a:ext cx="347472" cy="0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961120" y="1444752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FFF2CC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34272" y="1490472"/>
            <a:ext cx="154533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低速自走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21792" y="256032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N700Sで一次資料確認できている事実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792" y="2907792"/>
            <a:ext cx="5394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2953512"/>
            <a:ext cx="5248656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「高速鉄道で世界初となるバッテリ自走システム」を搭載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電池容量・電圧・セル数・自走条件は本教材で推測しない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55080" y="256032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このテーマで電験が問うもの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19088" y="2898648"/>
            <a:ext cx="4983480" cy="1444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40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電池の構成：正極・負極・電解質</a:t>
            </a:r>
            <a:endParaRPr lang="en-US" sz="1440" dirty="0"/>
          </a:p>
          <a:p>
            <a:pPr marL="177800" indent="-177800">
              <a:buSzPct val="100000"/>
              <a:buChar char="•"/>
            </a:pPr>
            <a:r>
              <a:rPr lang="en-US" sz="1440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一次電池と二次電池、充電・放電</a:t>
            </a:r>
            <a:endParaRPr lang="en-US" sz="1440" dirty="0"/>
          </a:p>
          <a:p>
            <a:pPr marL="177800" indent="-177800">
              <a:buSzPct val="100000"/>
              <a:buChar char="•"/>
            </a:pPr>
            <a:r>
              <a:rPr lang="en-US" sz="1440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Ah と Wh、直列・並列、放電時間</a:t>
            </a:r>
            <a:endParaRPr lang="en-US" sz="1440" dirty="0"/>
          </a:p>
          <a:p>
            <a:pPr marL="177800" indent="-177800">
              <a:buSzPct val="100000"/>
              <a:buChar char="•"/>
            </a:pPr>
            <a:r>
              <a:rPr lang="en-US" sz="1440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内部抵抗と充放電効率</a:t>
            </a:r>
            <a:endParaRPr lang="en-US" sz="1440" dirty="0"/>
          </a:p>
        </p:txBody>
      </p:sp>
      <p:sp>
        <p:nvSpPr>
          <p:cNvPr id="26" name="Shape 24"/>
          <p:cNvSpPr/>
          <p:nvPr/>
        </p:nvSpPr>
        <p:spPr>
          <a:xfrm>
            <a:off x="621792" y="4434840"/>
            <a:ext cx="10899648" cy="1389888"/>
          </a:xfrm>
          <a:prstGeom prst="roundRect">
            <a:avLst>
              <a:gd name="adj" fmla="val 3947"/>
            </a:avLst>
          </a:prstGeom>
          <a:solidFill>
            <a:srgbClr val="E4DFEC"/>
          </a:solidFill>
          <a:ln w="12700">
            <a:solidFill>
              <a:srgbClr val="B4A7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" y="4480560"/>
            <a:ext cx="1075334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固定EXAM_ALIGNMENT：H30 機械 問12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リチウムイオン二次電池の「正極・負極・電解液・放電時のLi⁺移動方向・セル電圧」を一組で判断する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電験三種「機械」× 新幹線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716768" y="64739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Topic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H30 問12：リチウムイオン二次電池は「5項目を一組」で覚える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放電時のイオン移動方向を、電極材料・電解液・セル電圧と同時に整理する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2240280" cy="2377440"/>
          </a:xfrm>
          <a:prstGeom prst="roundRect">
            <a:avLst>
              <a:gd name="adj" fmla="val 2449"/>
            </a:avLst>
          </a:prstGeom>
          <a:solidFill>
            <a:srgbClr val="D9EAF7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63040"/>
            <a:ext cx="2093976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負極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主に黒鉛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965192" y="1417320"/>
            <a:ext cx="2240280" cy="2377440"/>
          </a:xfrm>
          <a:prstGeom prst="roundRect">
            <a:avLst>
              <a:gd name="adj" fmla="val 2449"/>
            </a:avLst>
          </a:prstGeom>
          <a:solidFill>
            <a:srgbClr val="FCE4D6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38344" y="1463040"/>
            <a:ext cx="2093976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正極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Liを含む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金属酸化物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054096" y="1417320"/>
            <a:ext cx="1755648" cy="2377440"/>
          </a:xfrm>
          <a:prstGeom prst="roundRect">
            <a:avLst>
              <a:gd name="adj" fmla="val 3125"/>
            </a:avLst>
          </a:prstGeom>
          <a:solidFill>
            <a:srgbClr val="E2F0D9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27248" y="1463040"/>
            <a:ext cx="1609344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電解液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有機電解液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633472" y="2176272"/>
            <a:ext cx="2615184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404872" y="1856232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030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放電時  Li⁺：負極 → 正極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212080" y="3017520"/>
            <a:ext cx="-2560320" cy="0"/>
          </a:xfrm>
          <a:prstGeom prst="line">
            <a:avLst/>
          </a:prstGeom>
          <a:noFill/>
          <a:ln w="2286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834640" y="31272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充電時は逆向き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589520" y="132588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H30 問12で照合する5項目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89520" y="1746504"/>
            <a:ext cx="3913632" cy="521208"/>
          </a:xfrm>
          <a:prstGeom prst="roundRect">
            <a:avLst>
              <a:gd name="adj" fmla="val 8772"/>
            </a:avLst>
          </a:prstGeom>
          <a:solidFill>
            <a:srgbClr val="F3F6FA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44968" y="183794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F559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 正極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9125712" y="181965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Liを含む金属酸化物</a:t>
            </a:r>
            <a:endParaRPr lang="en-US" sz="1420" dirty="0"/>
          </a:p>
        </p:txBody>
      </p:sp>
      <p:sp>
        <p:nvSpPr>
          <p:cNvPr id="21" name="Shape 19"/>
          <p:cNvSpPr/>
          <p:nvPr/>
        </p:nvSpPr>
        <p:spPr>
          <a:xfrm>
            <a:off x="7589520" y="2404872"/>
            <a:ext cx="3913632" cy="521208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44968" y="24963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F559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 負極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9125712" y="247802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主に黒鉛</a:t>
            </a:r>
            <a:endParaRPr lang="en-US" sz="1420" dirty="0"/>
          </a:p>
        </p:txBody>
      </p:sp>
      <p:sp>
        <p:nvSpPr>
          <p:cNvPr id="24" name="Shape 22"/>
          <p:cNvSpPr/>
          <p:nvPr/>
        </p:nvSpPr>
        <p:spPr>
          <a:xfrm>
            <a:off x="7589520" y="3063240"/>
            <a:ext cx="3913632" cy="521208"/>
          </a:xfrm>
          <a:prstGeom prst="roundRect">
            <a:avLst>
              <a:gd name="adj" fmla="val 8772"/>
            </a:avLst>
          </a:prstGeom>
          <a:solidFill>
            <a:srgbClr val="F3F6FA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44968" y="31546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F559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③ 電解液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9125712" y="313639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有機電解液</a:t>
            </a:r>
            <a:endParaRPr lang="en-US" sz="1420" dirty="0"/>
          </a:p>
        </p:txBody>
      </p:sp>
      <p:sp>
        <p:nvSpPr>
          <p:cNvPr id="27" name="Shape 25"/>
          <p:cNvSpPr/>
          <p:nvPr/>
        </p:nvSpPr>
        <p:spPr>
          <a:xfrm>
            <a:off x="7589520" y="3721608"/>
            <a:ext cx="3913632" cy="521208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44968" y="381304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F559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④ 放電時Li⁺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9125712" y="379476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負極 → 正極</a:t>
            </a:r>
            <a:endParaRPr lang="en-US" sz="1420" dirty="0"/>
          </a:p>
        </p:txBody>
      </p:sp>
      <p:sp>
        <p:nvSpPr>
          <p:cNvPr id="30" name="Shape 28"/>
          <p:cNvSpPr/>
          <p:nvPr/>
        </p:nvSpPr>
        <p:spPr>
          <a:xfrm>
            <a:off x="7589520" y="4379976"/>
            <a:ext cx="3913632" cy="521208"/>
          </a:xfrm>
          <a:prstGeom prst="roundRect">
            <a:avLst>
              <a:gd name="adj" fmla="val 8772"/>
            </a:avLst>
          </a:prstGeom>
          <a:solidFill>
            <a:srgbClr val="F3F6FA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44968" y="447141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F559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⑤ セル電圧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9125712" y="445312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3〜4 V 程度</a:t>
            </a:r>
            <a:endParaRPr lang="en-US" sz="1420" dirty="0"/>
          </a:p>
        </p:txBody>
      </p:sp>
      <p:sp>
        <p:nvSpPr>
          <p:cNvPr id="33" name="Shape 31"/>
          <p:cNvSpPr/>
          <p:nvPr/>
        </p:nvSpPr>
        <p:spPr>
          <a:xfrm>
            <a:off x="658368" y="4224528"/>
            <a:ext cx="6565392" cy="1353312"/>
          </a:xfrm>
          <a:prstGeom prst="roundRect">
            <a:avLst>
              <a:gd name="adj" fmla="val 4054"/>
            </a:avLst>
          </a:prstGeom>
          <a:solidFill>
            <a:srgbClr val="FFF2CC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270248"/>
            <a:ext cx="6419088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選択肢の見方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1項目だけ合っていても不可。5項目すべて一致する組合せを選ぶ。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7589520" y="5093208"/>
            <a:ext cx="3913632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62672" y="5138928"/>
            <a:ext cx="376732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セル電圧を「1〜2 V」としない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電験三種「機械」× 新幹線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716768" y="64739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Topic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Ah と Wh、直列と並列を混同しない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計算では「何を求めるか」を先に決め、電圧・容量・時間の単位を整理する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1325880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容量と電力量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700784"/>
            <a:ext cx="5074920" cy="1389888"/>
          </a:xfrm>
          <a:prstGeom prst="roundRect">
            <a:avLst>
              <a:gd name="adj" fmla="val 3947"/>
            </a:avLst>
          </a:prstGeom>
          <a:solidFill>
            <a:srgbClr val="EAF5FB"/>
          </a:solidFill>
          <a:ln w="12700">
            <a:solidFill>
              <a:srgbClr val="9ECA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46504"/>
            <a:ext cx="4928616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容量： C = I t    [Ah]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電力量： W = V C = P t    [Wh]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58368" y="3273552"/>
            <a:ext cx="507492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19272"/>
            <a:ext cx="4928616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例：48 V・20 Ah、4 Aで放電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 = 20 / 4 = 5 h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 = 48 × 20 = 960 Wh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4736592"/>
            <a:ext cx="5074920" cy="786384"/>
          </a:xfrm>
          <a:prstGeom prst="roundRect">
            <a:avLst>
              <a:gd name="adj" fmla="val 6977"/>
            </a:avLst>
          </a:prstGeom>
          <a:solidFill>
            <a:srgbClr val="FCE4D6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782312"/>
            <a:ext cx="492861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 Ah ≠ 20 Wh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99632" y="132588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同一仕様セルの理想接続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9632" y="1700784"/>
            <a:ext cx="5303520" cy="1170432"/>
          </a:xfrm>
          <a:prstGeom prst="roundRect">
            <a:avLst>
              <a:gd name="adj" fmla="val 4688"/>
            </a:avLst>
          </a:prstGeom>
          <a:solidFill>
            <a:srgbClr val="D9EAF7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1746504"/>
            <a:ext cx="5157216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直列： V = nₛ Vc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Ah容量はそのまま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199632" y="3044952"/>
            <a:ext cx="5303520" cy="1170432"/>
          </a:xfrm>
          <a:prstGeom prst="roundRect">
            <a:avLst>
              <a:gd name="adj" fmla="val 4688"/>
            </a:avLst>
          </a:prstGeom>
          <a:solidFill>
            <a:srgbClr val="E2F0D9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3090672"/>
            <a:ext cx="5157216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並列： V = Vc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 = nₚ Cc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199632" y="4416552"/>
            <a:ext cx="5303520" cy="1252728"/>
          </a:xfrm>
          <a:prstGeom prst="roundRect">
            <a:avLst>
              <a:gd name="adj" fmla="val 4380"/>
            </a:avLst>
          </a:prstGeom>
          <a:solidFill>
            <a:srgbClr val="FFFFFF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4462272"/>
            <a:ext cx="5157216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3.7 V・2.5 Ah を 10直列4並列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37 V、10 Ah、370 Wh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327648" y="5797296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C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直列でAhまで加算しない／並列で電圧まで加算しない</a:t>
            </a:r>
            <a:endParaRPr lang="en-US" sz="13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電験三種「機械」× 新幹線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716768" y="64739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Topic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内部抵抗と効率：必要容量は「負荷側から逆算」する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放電時の端子電圧低下と、効率を含む必要エネルギーの逆算を分けて考える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 内部抵抗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73352"/>
            <a:ext cx="3703320" cy="1115568"/>
          </a:xfrm>
          <a:prstGeom prst="roundRect">
            <a:avLst>
              <a:gd name="adj" fmla="val 4918"/>
            </a:avLst>
          </a:prstGeom>
          <a:solidFill>
            <a:srgbClr val="D9EAF7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19072"/>
            <a:ext cx="3557016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放電時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 = E − I r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49808" y="2944368"/>
            <a:ext cx="35204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電流 I が大きいほど Ir が増え、端子電圧 V は低下する。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4709160" y="129844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 必要容量を逆算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09160" y="1673352"/>
            <a:ext cx="1938528" cy="768096"/>
          </a:xfrm>
          <a:prstGeom prst="roundRect">
            <a:avLst>
              <a:gd name="adj" fmla="val 7143"/>
            </a:avLst>
          </a:prstGeom>
          <a:solidFill>
            <a:srgbClr val="E2F0D9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719072"/>
            <a:ext cx="179222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負荷必要量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Wload = Pt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656832" y="2057400"/>
            <a:ext cx="804672" cy="0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711696" y="172821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59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÷ η放電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79792" y="1673352"/>
            <a:ext cx="1938528" cy="768096"/>
          </a:xfrm>
          <a:prstGeom prst="roundRect">
            <a:avLst>
              <a:gd name="adj" fmla="val 7143"/>
            </a:avLst>
          </a:prstGeom>
          <a:solidFill>
            <a:srgbClr val="FCE4D6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52944" y="1719072"/>
            <a:ext cx="179222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電池側必要量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Wbat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427464" y="2057400"/>
            <a:ext cx="768096" cy="0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537192" y="172821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59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÷ V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204704" y="1673352"/>
            <a:ext cx="1325880" cy="768096"/>
          </a:xfrm>
          <a:prstGeom prst="roundRect">
            <a:avLst>
              <a:gd name="adj" fmla="val 7143"/>
            </a:avLst>
          </a:prstGeom>
          <a:solidFill>
            <a:srgbClr val="FFF2CC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77856" y="1719072"/>
            <a:ext cx="117957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必要容量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 [Ah]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709160" y="2770632"/>
            <a:ext cx="6821424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2700">
            <a:solidFill>
              <a:srgbClr val="C7D2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2816352"/>
            <a:ext cx="6675120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例：2.0 kWの負荷を1.5 h、100 V、放電効率80%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Wload = 2.0 × 1.5 = 3.0 kWh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Wbat = 3.0 / 0.80 = 3.75 kWh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 = 3750 / 100 = 37.5 Ah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58368" y="3877056"/>
            <a:ext cx="3703320" cy="1124712"/>
          </a:xfrm>
          <a:prstGeom prst="roundRect">
            <a:avLst>
              <a:gd name="adj" fmla="val 4878"/>
            </a:avLst>
          </a:prstGeom>
          <a:solidFill>
            <a:srgbClr val="FCE4D6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922776"/>
            <a:ext cx="355701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効率80%なら「掛ける」のではなく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必要量を 0.80 で割る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658368" y="5175504"/>
            <a:ext cx="10872216" cy="685800"/>
          </a:xfrm>
          <a:prstGeom prst="roundRect">
            <a:avLst>
              <a:gd name="adj" fmla="val 8000"/>
            </a:avLst>
          </a:prstGeom>
          <a:solidFill>
            <a:srgbClr val="E4DFEC"/>
          </a:solidFill>
          <a:ln w="12700">
            <a:solidFill>
              <a:srgbClr val="B4A7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221224"/>
            <a:ext cx="107259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93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解法順：求める量 → 単位(h) → 直列/並列 → C=It・W=VC・W=Pt → 効率 → 内部抵抗</a:t>
            </a:r>
            <a:endParaRPr lang="en-US" sz="1700" dirty="0"/>
          </a:p>
        </p:txBody>
      </p:sp>
    </p:spTree>
  </p:cSld>
  <p:clrMapOvr>
    <a:masterClrMapping/>
  </p:clrMapOvr>
</p:sld>
</file>