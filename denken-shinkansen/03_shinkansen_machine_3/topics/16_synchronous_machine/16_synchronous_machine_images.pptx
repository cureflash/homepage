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50000"/>
            <a:ext cx="11350000" cy="800000"/>
          </a:xfrm>
          <a:prstGeom prst="roundRect">
            <a:avLst/>
          </a:prstGeom>
          <a:noFill/>
          <a:ln>
            <a:noFill/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2600" b="1">
                <a:solidFill>
                  <a:srgbClr val="0F172A"/>
                </a:solidFill>
                <a:latin typeface="Noto Sans CJK JP"/>
                <a:ea typeface="Noto Sans CJK JP"/>
              </a:rPr>
              <a:t>同期機って新幹線には使わないの？</a:t>
            </a:r>
            <a:endParaRPr lang="ja-JP"/>
          </a:p>
          <a:p>
            <a:pPr marL="0" indent="0" algn="l"/>
            <a:r>
              <a:rPr lang="ja-JP" sz="1100" b="0">
                <a:solidFill>
                  <a:srgbClr val="475569"/>
                </a:solidFill>
                <a:latin typeface="Noto Sans CJK JP"/>
                <a:ea typeface="Noto Sans CJK JP"/>
              </a:rPr>
              <a:t>Topic 16｜同期機・四機比較｜固定6問・6答案要素</a:t>
            </a:r>
            <a:endParaRPr lang="ja-JP"/>
          </a:p>
        </p:txBody>
      </p:sp>
      <p:sp>
        <p:nvSpPr>
          <p:cNvPr id="3" name="Concept"/>
          <p:cNvSpPr txBox="1"/>
          <p:nvPr/>
        </p:nvSpPr>
        <p:spPr>
          <a:xfrm>
            <a:off x="450000" y="1300000"/>
            <a:ext cx="5500000" cy="1500000"/>
          </a:xfrm>
          <a:prstGeom prst="roundRect">
            <a:avLst/>
          </a:prstGeom>
          <a:solidFill>
            <a:srgbClr val="EAF4F8"/>
          </a:solidFill>
          <a:ln w="12700">
            <a:solidFill>
              <a:srgbClr val="94C5D7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2100" b="1">
                <a:solidFill>
                  <a:srgbClr val="0F172A"/>
                </a:solidFill>
                <a:latin typeface="Noto Sans CJK JP"/>
                <a:ea typeface="Noto Sans CJK JP"/>
              </a:rPr>
              <a:t>回転磁界と回転子が同期して回る</a:t>
            </a:r>
            <a:endParaRPr lang="ja-JP"/>
          </a:p>
          <a:p>
            <a:pPr marL="0" indent="0" algn="l"/>
            <a:r>
              <a:rPr lang="ja-JP" sz="2600" b="1">
                <a:solidFill>
                  <a:srgbClr val="0B6E99"/>
                </a:solidFill>
                <a:latin typeface="Noto Sans CJK JP"/>
                <a:ea typeface="Noto Sans CJK JP"/>
              </a:rPr>
              <a:t>Ns = 120f / P</a:t>
            </a:r>
            <a:endParaRPr lang="ja-JP"/>
          </a:p>
          <a:p>
            <a:pPr marL="0" indent="0" algn="l"/>
            <a:r>
              <a:rPr lang="ja-JP" sz="1600" b="0">
                <a:solidFill>
                  <a:srgbClr val="334155"/>
                </a:solidFill>
                <a:latin typeface="Noto Sans CJK JP"/>
                <a:ea typeface="Noto Sans CJK JP"/>
              </a:rPr>
              <a:t>定常運転では N = Ns（すべり0）</a:t>
            </a:r>
            <a:endParaRPr lang="ja-JP"/>
          </a:p>
        </p:txBody>
      </p:sp>
      <p:sp>
        <p:nvSpPr>
          <p:cNvPr id="4" name="Exam"/>
          <p:cNvSpPr txBox="1"/>
          <p:nvPr/>
        </p:nvSpPr>
        <p:spPr>
          <a:xfrm>
            <a:off x="6250000" y="1300000"/>
            <a:ext cx="5450000" cy="1500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CBD5E1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800" b="1">
                <a:solidFill>
                  <a:srgbClr val="0F172A"/>
                </a:solidFill>
                <a:latin typeface="Noto Sans CJK JP"/>
                <a:ea typeface="Noto Sans CJK JP"/>
              </a:rPr>
              <a:t>電験で見る6つの入口</a:t>
            </a:r>
            <a:endParaRPr lang="ja-JP"/>
          </a:p>
          <a:p>
            <a:pPr marL="180000" indent="-120000" algn="l">
              <a:buChar char="•"/>
            </a:pPr>
            <a:r>
              <a:rPr lang="ja-JP" sz="1450" b="0">
                <a:solidFill>
                  <a:srgbClr val="334155"/>
                </a:solidFill>
                <a:latin typeface="Noto Sans CJK JP"/>
                <a:ea typeface="Noto Sans CJK JP"/>
              </a:rPr>
              <a:t>同期速度・並行運転・ベクトル図</a:t>
            </a:r>
            <a:endParaRPr lang="ja-JP"/>
          </a:p>
          <a:p>
            <a:pPr marL="180000" indent="-120000" algn="l">
              <a:buChar char="•"/>
            </a:pPr>
            <a:r>
              <a:rPr lang="ja-JP" sz="1450" b="0">
                <a:solidFill>
                  <a:srgbClr val="334155"/>
                </a:solidFill>
                <a:latin typeface="Noto Sans CJK JP"/>
                <a:ea typeface="Noto Sans CJK JP"/>
              </a:rPr>
              <a:t>V曲線・電機子反作用・同期リアクタンス</a:t>
            </a:r>
            <a:endParaRPr lang="ja-JP"/>
          </a:p>
        </p:txBody>
      </p:sp>
      <p:sp>
        <p:nvSpPr>
          <p:cNvPr id="5" name="Map"/>
          <p:cNvSpPr txBox="1"/>
          <p:nvPr/>
        </p:nvSpPr>
        <p:spPr>
          <a:xfrm>
            <a:off x="450000" y="3100000"/>
            <a:ext cx="11250000" cy="21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700" b="1">
                <a:solidFill>
                  <a:srgbClr val="0F172A"/>
                </a:solidFill>
                <a:latin typeface="Noto Sans CJK JP"/>
                <a:ea typeface="Noto Sans CJK JP"/>
              </a:rPr>
              <a:t>固定EXAM_ALIGNMENT</a:t>
            </a:r>
            <a:endParaRPr lang="ja-JP"/>
          </a:p>
          <a:p>
            <a:pPr marL="180000" indent="-120000" algn="l">
              <a:buChar char="•"/>
            </a:pPr>
            <a:r>
              <a:rPr lang="ja-JP" sz="1250" b="0">
                <a:solidFill>
                  <a:srgbClr val="334155"/>
                </a:solidFill>
                <a:latin typeface="Noto Sans CJK JP"/>
                <a:ea typeface="Noto Sans CJK JP"/>
              </a:rPr>
              <a:t>R7上 問5　並行運転条件 / 同期検定器</a:t>
            </a:r>
            <a:endParaRPr lang="ja-JP"/>
          </a:p>
          <a:p>
            <a:pPr marL="180000" indent="-120000" algn="l">
              <a:buChar char="•"/>
            </a:pPr>
            <a:r>
              <a:rPr lang="ja-JP" sz="1250" b="0">
                <a:solidFill>
                  <a:srgbClr val="334155"/>
                </a:solidFill>
                <a:latin typeface="Noto Sans CJK JP"/>
                <a:ea typeface="Noto Sans CJK JP"/>
              </a:rPr>
              <a:t>R5下 問5　同期電動機 / Xs / ベクトル図</a:t>
            </a:r>
            <a:endParaRPr lang="ja-JP"/>
          </a:p>
          <a:p>
            <a:pPr marL="180000" indent="-120000" algn="l">
              <a:buChar char="•"/>
            </a:pPr>
            <a:r>
              <a:rPr lang="ja-JP" sz="1250" b="0">
                <a:solidFill>
                  <a:srgbClr val="334155"/>
                </a:solidFill>
                <a:latin typeface="Noto Sans CJK JP"/>
                <a:ea typeface="Noto Sans CJK JP"/>
              </a:rPr>
              <a:t>R5下 問6　同期速度 / 極数 / 周波数</a:t>
            </a:r>
            <a:endParaRPr lang="ja-JP"/>
          </a:p>
          <a:p>
            <a:pPr marL="180000" indent="-120000" algn="l">
              <a:buChar char="•"/>
            </a:pPr>
            <a:r>
              <a:rPr lang="ja-JP" sz="1250" b="0">
                <a:solidFill>
                  <a:srgbClr val="334155"/>
                </a:solidFill>
                <a:latin typeface="Noto Sans CJK JP"/>
                <a:ea typeface="Noto Sans CJK JP"/>
              </a:rPr>
              <a:t>R4上 問4　界磁 / 回転速度 / 無効横流</a:t>
            </a:r>
            <a:endParaRPr lang="ja-JP"/>
          </a:p>
          <a:p>
            <a:pPr marL="180000" indent="-120000" algn="l">
              <a:buChar char="•"/>
            </a:pPr>
            <a:r>
              <a:rPr lang="ja-JP" sz="1250" b="0">
                <a:solidFill>
                  <a:srgbClr val="334155"/>
                </a:solidFill>
                <a:latin typeface="Noto Sans CJK JP"/>
                <a:ea typeface="Noto Sans CJK JP"/>
              </a:rPr>
              <a:t>H28 問5　V曲線 / 力率　　H26 問5　電機子反作用</a:t>
            </a:r>
            <a:endParaRPr lang="ja-JP"/>
          </a:p>
        </p:txBody>
      </p:sp>
      <p:sp>
        <p:nvSpPr>
          <p:cNvPr id="6" name="Boundary"/>
          <p:cNvSpPr txBox="1"/>
          <p:nvPr/>
        </p:nvSpPr>
        <p:spPr>
          <a:xfrm>
            <a:off x="450000" y="5500000"/>
            <a:ext cx="11250000" cy="650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050" b="0">
                <a:solidFill>
                  <a:srgbClr val="9A3412"/>
                </a:solidFill>
                <a:latin typeface="Noto Sans CJK JP"/>
                <a:ea typeface="Noto Sans CJK JP"/>
              </a:rPr>
              <a:t>扱わない：始動法・制動巻線・短絡比・同期調相機・負荷角など。L0系は概念接続だけ。</a:t>
            </a:r>
            <a:endParaRPr lang="ja-JP"/>
          </a:p>
        </p:txBody>
      </p:sp>
      <p:sp>
        <p:nvSpPr>
          <p:cNvPr id="90" name="Footer"/>
          <p:cNvSpPr txBox="1"/>
          <p:nvPr/>
        </p:nvSpPr>
        <p:spPr>
          <a:xfrm>
            <a:off x="10500000" y="6400000"/>
            <a:ext cx="1200000" cy="250000"/>
          </a:xfrm>
          <a:prstGeom prst="roundRect">
            <a:avLst/>
          </a:prstGeom>
          <a:noFill/>
          <a:ln>
            <a:noFill/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900" b="0">
                <a:solidFill>
                  <a:srgbClr val="64748B"/>
                </a:solidFill>
                <a:latin typeface="Noto Sans CJK JP"/>
                <a:ea typeface="Noto Sans CJK JP"/>
              </a:rPr>
              <a:t>1 / 4</a:t>
            </a:r>
            <a:endParaRPr lang="ja-JP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50000"/>
            <a:ext cx="11350000" cy="800000"/>
          </a:xfrm>
          <a:prstGeom prst="roundRect">
            <a:avLst/>
          </a:prstGeom>
          <a:noFill/>
          <a:ln>
            <a:noFill/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2600" b="1">
                <a:solidFill>
                  <a:srgbClr val="0F172A"/>
                </a:solidFill>
                <a:latin typeface="Noto Sans CJK JP"/>
                <a:ea typeface="Noto Sans CJK JP"/>
              </a:rPr>
              <a:t>同期速度と並行運転</a:t>
            </a:r>
            <a:endParaRPr lang="ja-JP"/>
          </a:p>
          <a:p>
            <a:pPr marL="0" indent="0" algn="l"/>
            <a:r>
              <a:rPr lang="ja-JP" sz="1100" b="0">
                <a:solidFill>
                  <a:srgbClr val="475569"/>
                </a:solidFill>
                <a:latin typeface="Noto Sans CJK JP"/>
                <a:ea typeface="Noto Sans CJK JP"/>
              </a:rPr>
              <a:t>同じ系統周波数でも、極数が違えば回転速度は違う</a:t>
            </a:r>
            <a:endParaRPr lang="ja-JP"/>
          </a:p>
        </p:txBody>
      </p:sp>
      <p:sp>
        <p:nvSpPr>
          <p:cNvPr id="3" name="Formula"/>
          <p:cNvSpPr txBox="1"/>
          <p:nvPr/>
        </p:nvSpPr>
        <p:spPr>
          <a:xfrm>
            <a:off x="450000" y="1300000"/>
            <a:ext cx="3500000" cy="1350000"/>
          </a:xfrm>
          <a:prstGeom prst="roundRect">
            <a:avLst/>
          </a:prstGeom>
          <a:solidFill>
            <a:srgbClr val="EAF4F8"/>
          </a:solidFill>
          <a:ln w="12700">
            <a:solidFill>
              <a:srgbClr val="94C5D7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700" b="1">
                <a:solidFill>
                  <a:srgbClr val="0F172A"/>
                </a:solidFill>
                <a:latin typeface="Noto Sans CJK JP"/>
                <a:ea typeface="Noto Sans CJK JP"/>
              </a:rPr>
              <a:t>同期速度</a:t>
            </a:r>
            <a:endParaRPr lang="ja-JP"/>
          </a:p>
          <a:p>
            <a:pPr marL="0" indent="0" algn="l"/>
            <a:r>
              <a:rPr lang="ja-JP" sz="2400" b="1">
                <a:solidFill>
                  <a:srgbClr val="0B6E99"/>
                </a:solidFill>
                <a:latin typeface="Noto Sans CJK JP"/>
                <a:ea typeface="Noto Sans CJK JP"/>
              </a:rPr>
              <a:t>Ns = 120f / P</a:t>
            </a:r>
            <a:endParaRPr lang="ja-JP"/>
          </a:p>
          <a:p>
            <a:pPr marL="0" indent="0" algn="l"/>
            <a:r>
              <a:rPr lang="ja-JP" sz="1700" b="0">
                <a:solidFill>
                  <a:srgbClr val="334155"/>
                </a:solidFill>
                <a:latin typeface="Noto Sans CJK JP"/>
                <a:ea typeface="Noto Sans CJK JP"/>
              </a:rPr>
              <a:t>f = PNs / 120</a:t>
            </a:r>
            <a:endParaRPr lang="ja-JP"/>
          </a:p>
        </p:txBody>
      </p:sp>
      <p:sp>
        <p:nvSpPr>
          <p:cNvPr id="4" name="Example"/>
          <p:cNvSpPr txBox="1"/>
          <p:nvPr/>
        </p:nvSpPr>
        <p:spPr>
          <a:xfrm>
            <a:off x="4200000" y="1300000"/>
            <a:ext cx="7500000" cy="1350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CBD5E1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600" b="1">
                <a:solidFill>
                  <a:srgbClr val="0F172A"/>
                </a:solidFill>
                <a:latin typeface="Noto Sans CJK JP"/>
                <a:ea typeface="Noto Sans CJK JP"/>
              </a:rPr>
              <a:t>本文例</a:t>
            </a:r>
            <a:endParaRPr lang="ja-JP"/>
          </a:p>
          <a:p>
            <a:pPr marL="0" indent="0" algn="l"/>
            <a:r>
              <a:rPr lang="ja-JP" sz="1900" b="1">
                <a:solidFill>
                  <a:srgbClr val="334155"/>
                </a:solidFill>
                <a:latin typeface="Noto Sans CJK JP"/>
                <a:ea typeface="Noto Sans CJK JP"/>
              </a:rPr>
              <a:t>6極・1000 min⁻¹ → 50 Hz</a:t>
            </a:r>
            <a:endParaRPr lang="ja-JP"/>
          </a:p>
          <a:p>
            <a:pPr marL="0" indent="0" algn="l"/>
            <a:r>
              <a:rPr lang="ja-JP" sz="1900" b="1">
                <a:solidFill>
                  <a:srgbClr val="334155"/>
                </a:solidFill>
                <a:latin typeface="Noto Sans CJK JP"/>
                <a:ea typeface="Noto Sans CJK JP"/>
              </a:rPr>
              <a:t>同じ50 Hzの4極機 → 1500 min⁻¹</a:t>
            </a:r>
            <a:endParaRPr lang="ja-JP"/>
          </a:p>
        </p:txBody>
      </p:sp>
      <p:sp>
        <p:nvSpPr>
          <p:cNvPr id="5" name="Parallel"/>
          <p:cNvSpPr txBox="1"/>
          <p:nvPr/>
        </p:nvSpPr>
        <p:spPr>
          <a:xfrm>
            <a:off x="450000" y="3000000"/>
            <a:ext cx="5500000" cy="21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650" b="1">
                <a:solidFill>
                  <a:srgbClr val="0F172A"/>
                </a:solidFill>
                <a:latin typeface="Noto Sans CJK JP"/>
                <a:ea typeface="Noto Sans CJK JP"/>
              </a:rPr>
              <a:t>並列投入前に一致させる3条件</a:t>
            </a:r>
            <a:endParaRPr lang="ja-JP"/>
          </a:p>
          <a:p>
            <a:pPr marL="180000" indent="-120000" algn="l">
              <a:buChar char="•"/>
            </a:pPr>
            <a:r>
              <a:rPr lang="ja-JP" sz="1500" b="0">
                <a:solidFill>
                  <a:srgbClr val="334155"/>
                </a:solidFill>
                <a:latin typeface="Noto Sans CJK JP"/>
                <a:ea typeface="Noto Sans CJK JP"/>
              </a:rPr>
              <a:t>電圧の大きさ</a:t>
            </a:r>
            <a:endParaRPr lang="ja-JP"/>
          </a:p>
          <a:p>
            <a:pPr marL="180000" indent="-120000" algn="l">
              <a:buChar char="•"/>
            </a:pPr>
            <a:r>
              <a:rPr lang="ja-JP" sz="1500" b="0">
                <a:solidFill>
                  <a:srgbClr val="334155"/>
                </a:solidFill>
                <a:latin typeface="Noto Sans CJK JP"/>
                <a:ea typeface="Noto Sans CJK JP"/>
              </a:rPr>
              <a:t>周波数</a:t>
            </a:r>
            <a:endParaRPr lang="ja-JP"/>
          </a:p>
          <a:p>
            <a:pPr marL="180000" indent="-120000" algn="l">
              <a:buChar char="•"/>
            </a:pPr>
            <a:r>
              <a:rPr lang="ja-JP" sz="1500" b="0">
                <a:solidFill>
                  <a:srgbClr val="334155"/>
                </a:solidFill>
                <a:latin typeface="Noto Sans CJK JP"/>
                <a:ea typeface="Noto Sans CJK JP"/>
              </a:rPr>
              <a:t>位相</a:t>
            </a:r>
            <a:endParaRPr lang="ja-JP"/>
          </a:p>
          <a:p>
            <a:pPr marL="0" indent="0" algn="l"/>
            <a:r>
              <a:rPr lang="ja-JP" sz="1400" b="1">
                <a:solidFill>
                  <a:srgbClr val="0B6E99"/>
                </a:solidFill>
                <a:latin typeface="Noto Sans CJK JP"/>
                <a:ea typeface="Noto Sans CJK JP"/>
              </a:rPr>
              <a:t>同期状態の確認：同期検定器</a:t>
            </a:r>
            <a:endParaRPr lang="ja-JP"/>
          </a:p>
        </p:txBody>
      </p:sp>
      <p:sp>
        <p:nvSpPr>
          <p:cNvPr id="6" name="Adjust"/>
          <p:cNvSpPr txBox="1"/>
          <p:nvPr/>
        </p:nvSpPr>
        <p:spPr>
          <a:xfrm>
            <a:off x="6250000" y="3000000"/>
            <a:ext cx="5450000" cy="21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650" b="1">
                <a:solidFill>
                  <a:srgbClr val="0F172A"/>
                </a:solidFill>
                <a:latin typeface="Noto Sans CJK JP"/>
                <a:ea typeface="Noto Sans CJK JP"/>
              </a:rPr>
              <a:t>何を調整する？</a:t>
            </a:r>
            <a:endParaRPr lang="ja-JP"/>
          </a:p>
          <a:p>
            <a:pPr marL="180000" indent="-120000" algn="l">
              <a:buChar char="•"/>
            </a:pPr>
            <a:r>
              <a:rPr lang="ja-JP" sz="1500" b="0">
                <a:solidFill>
                  <a:srgbClr val="334155"/>
                </a:solidFill>
                <a:latin typeface="Noto Sans CJK JP"/>
                <a:ea typeface="Noto Sans CJK JP"/>
              </a:rPr>
              <a:t>起電力の大きさ → 界磁電流</a:t>
            </a:r>
            <a:endParaRPr lang="ja-JP"/>
          </a:p>
          <a:p>
            <a:pPr marL="180000" indent="-120000" algn="l">
              <a:buChar char="•"/>
            </a:pPr>
            <a:r>
              <a:rPr lang="ja-JP" sz="1500" b="0">
                <a:solidFill>
                  <a:srgbClr val="334155"/>
                </a:solidFill>
                <a:latin typeface="Noto Sans CJK JP"/>
                <a:ea typeface="Noto Sans CJK JP"/>
              </a:rPr>
              <a:t>投入前の周波数・位相 → 原動機回転速度</a:t>
            </a:r>
            <a:endParaRPr lang="ja-JP"/>
          </a:p>
          <a:p>
            <a:pPr marL="180000" indent="-120000" algn="l">
              <a:buChar char="•"/>
            </a:pPr>
            <a:r>
              <a:rPr lang="ja-JP" sz="1500" b="0">
                <a:solidFill>
                  <a:srgbClr val="334155"/>
                </a:solidFill>
                <a:latin typeface="Noto Sans CJK JP"/>
                <a:ea typeface="Noto Sans CJK JP"/>
              </a:rPr>
              <a:t>起電力差 → 無効横流に注意</a:t>
            </a:r>
            <a:endParaRPr lang="ja-JP"/>
          </a:p>
          <a:p>
            <a:pPr marL="0" indent="0" algn="l"/>
            <a:r>
              <a:rPr lang="ja-JP" sz="1200" b="1">
                <a:solidFill>
                  <a:srgbClr val="7C3AED"/>
                </a:solidFill>
                <a:latin typeface="Noto Sans CJK JP"/>
                <a:ea typeface="Noto Sans CJK JP"/>
              </a:rPr>
              <a:t>対応：R7上問5 / R5下問6 / R4上問4</a:t>
            </a:r>
            <a:endParaRPr lang="ja-JP"/>
          </a:p>
        </p:txBody>
      </p:sp>
      <p:sp>
        <p:nvSpPr>
          <p:cNvPr id="90" name="Footer"/>
          <p:cNvSpPr txBox="1"/>
          <p:nvPr/>
        </p:nvSpPr>
        <p:spPr>
          <a:xfrm>
            <a:off x="10500000" y="6400000"/>
            <a:ext cx="1200000" cy="250000"/>
          </a:xfrm>
          <a:prstGeom prst="roundRect">
            <a:avLst/>
          </a:prstGeom>
          <a:noFill/>
          <a:ln>
            <a:noFill/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900" b="0">
                <a:solidFill>
                  <a:srgbClr val="64748B"/>
                </a:solidFill>
                <a:latin typeface="Noto Sans CJK JP"/>
                <a:ea typeface="Noto Sans CJK JP"/>
              </a:rPr>
              <a:t>2 / 4</a:t>
            </a:r>
            <a:endParaRPr lang="ja-JP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50000"/>
            <a:ext cx="11350000" cy="800000"/>
          </a:xfrm>
          <a:prstGeom prst="roundRect">
            <a:avLst/>
          </a:prstGeom>
          <a:noFill/>
          <a:ln>
            <a:noFill/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2600" b="1">
                <a:solidFill>
                  <a:srgbClr val="0F172A"/>
                </a:solidFill>
                <a:latin typeface="Noto Sans CJK JP"/>
                <a:ea typeface="Noto Sans CJK JP"/>
              </a:rPr>
              <a:t>同期電動機：ベクトル・V曲線・電機子反作用</a:t>
            </a:r>
            <a:endParaRPr lang="ja-JP"/>
          </a:p>
          <a:p>
            <a:pPr marL="0" indent="0" algn="l"/>
            <a:r>
              <a:rPr lang="ja-JP" sz="1100" b="0">
                <a:solidFill>
                  <a:srgbClr val="475569"/>
                </a:solidFill>
                <a:latin typeface="Noto Sans CJK JP"/>
                <a:ea typeface="Noto Sans CJK JP"/>
              </a:rPr>
              <a:t>「式の向き」「V曲線の軸」「発電機の力率」を混同しない</a:t>
            </a:r>
            <a:endParaRPr lang="ja-JP"/>
          </a:p>
        </p:txBody>
      </p:sp>
      <p:sp>
        <p:nvSpPr>
          <p:cNvPr id="3" name="Vector"/>
          <p:cNvSpPr txBox="1"/>
          <p:nvPr/>
        </p:nvSpPr>
        <p:spPr>
          <a:xfrm>
            <a:off x="450000" y="1300000"/>
            <a:ext cx="3600000" cy="3600000"/>
          </a:xfrm>
          <a:prstGeom prst="roundRect">
            <a:avLst/>
          </a:prstGeom>
          <a:solidFill>
            <a:srgbClr val="EAF4F8"/>
          </a:solidFill>
          <a:ln w="12700">
            <a:solidFill>
              <a:srgbClr val="94C5D7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550" b="1">
                <a:solidFill>
                  <a:srgbClr val="0F172A"/>
                </a:solidFill>
                <a:latin typeface="Noto Sans CJK JP"/>
                <a:ea typeface="Noto Sans CJK JP"/>
              </a:rPr>
              <a:t>同期電動機のベクトル</a:t>
            </a:r>
            <a:endParaRPr lang="ja-JP"/>
          </a:p>
          <a:p>
            <a:pPr marL="0" indent="0" algn="l"/>
            <a:r>
              <a:rPr lang="ja-JP" sz="2100" b="1">
                <a:solidFill>
                  <a:srgbClr val="0B6E99"/>
                </a:solidFill>
                <a:latin typeface="Noto Sans CJK JP"/>
                <a:ea typeface="Noto Sans CJK JP"/>
              </a:rPr>
              <a:t>V = E + jXsI</a:t>
            </a:r>
            <a:endParaRPr lang="ja-JP"/>
          </a:p>
          <a:p>
            <a:pPr marL="0" indent="0" algn="l"/>
            <a:r>
              <a:rPr lang="ja-JP" sz="1900" b="1">
                <a:solidFill>
                  <a:srgbClr val="0B6E99"/>
                </a:solidFill>
                <a:latin typeface="Noto Sans CJK JP"/>
                <a:ea typeface="Noto Sans CJK JP"/>
              </a:rPr>
              <a:t>E = V − jXsI</a:t>
            </a:r>
            <a:endParaRPr lang="ja-JP"/>
          </a:p>
          <a:p>
            <a:pPr marL="0" indent="0" algn="l"/>
            <a:r>
              <a:rPr lang="ja-JP" sz="1450" b="0">
                <a:solidFill>
                  <a:srgbClr val="334155"/>
                </a:solidFill>
                <a:latin typeface="Noto Sans CJK JP"/>
                <a:ea typeface="Noto Sans CJK JP"/>
              </a:rPr>
              <a:t>jXsI は I より90°進む</a:t>
            </a:r>
            <a:endParaRPr lang="ja-JP"/>
          </a:p>
          <a:p>
            <a:pPr marL="0" indent="0" algn="l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遅れ力率なら I は V より遅れる</a:t>
            </a:r>
            <a:endParaRPr lang="ja-JP"/>
          </a:p>
          <a:p>
            <a:pPr marL="0" indent="0" algn="l"/>
            <a:r>
              <a:rPr lang="ja-JP" sz="1200" b="1">
                <a:solidFill>
                  <a:srgbClr val="7C3AED"/>
                </a:solidFill>
                <a:latin typeface="Noto Sans CJK JP"/>
                <a:ea typeface="Noto Sans CJK JP"/>
              </a:rPr>
              <a:t>対応：R5下 問5</a:t>
            </a:r>
            <a:endParaRPr lang="ja-JP"/>
          </a:p>
        </p:txBody>
      </p:sp>
      <p:sp>
        <p:nvSpPr>
          <p:cNvPr id="4" name="Vcurve"/>
          <p:cNvSpPr txBox="1"/>
          <p:nvPr/>
        </p:nvSpPr>
        <p:spPr>
          <a:xfrm>
            <a:off x="4250000" y="1300000"/>
            <a:ext cx="3600000" cy="360000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CBD5E1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550" b="1">
                <a:solidFill>
                  <a:srgbClr val="0F172A"/>
                </a:solidFill>
                <a:latin typeface="Noto Sans CJK JP"/>
                <a:ea typeface="Noto Sans CJK JP"/>
              </a:rPr>
              <a:t>V曲線</a:t>
            </a:r>
            <a:endParaRPr lang="ja-JP"/>
          </a:p>
          <a:p>
            <a:pPr marL="0" indent="0" algn="l"/>
            <a:r>
              <a:rPr lang="ja-JP" sz="1450" b="1">
                <a:solidFill>
                  <a:srgbClr val="334155"/>
                </a:solidFill>
                <a:latin typeface="Noto Sans CJK JP"/>
                <a:ea typeface="Noto Sans CJK JP"/>
              </a:rPr>
              <a:t>横軸：界磁電流 If</a:t>
            </a:r>
            <a:endParaRPr lang="ja-JP"/>
          </a:p>
          <a:p>
            <a:pPr marL="0" indent="0" algn="l"/>
            <a:r>
              <a:rPr lang="ja-JP" sz="1450" b="1">
                <a:solidFill>
                  <a:srgbClr val="334155"/>
                </a:solidFill>
                <a:latin typeface="Noto Sans CJK JP"/>
                <a:ea typeface="Noto Sans CJK JP"/>
              </a:rPr>
              <a:t>縦軸：電機子電流 Ia</a:t>
            </a:r>
            <a:endParaRPr lang="ja-JP"/>
          </a:p>
          <a:p>
            <a:pPr marL="0" indent="0" algn="l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低励磁 → 遅れ力率</a:t>
            </a:r>
            <a:endParaRPr lang="ja-JP"/>
          </a:p>
          <a:p>
            <a:pPr marL="0" indent="0" algn="l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最小付近 → 力率1</a:t>
            </a:r>
            <a:endParaRPr lang="ja-JP"/>
          </a:p>
          <a:p>
            <a:pPr marL="0" indent="0" algn="l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過励磁 → 進み力率</a:t>
            </a:r>
            <a:endParaRPr lang="ja-JP"/>
          </a:p>
          <a:p>
            <a:pPr marL="0" indent="0" algn="l"/>
            <a:r>
              <a:rPr lang="ja-JP" sz="1200" b="1">
                <a:solidFill>
                  <a:srgbClr val="7C3AED"/>
                </a:solidFill>
                <a:latin typeface="Noto Sans CJK JP"/>
                <a:ea typeface="Noto Sans CJK JP"/>
              </a:rPr>
              <a:t>対応：H28 問5</a:t>
            </a:r>
            <a:endParaRPr lang="ja-JP"/>
          </a:p>
        </p:txBody>
      </p:sp>
      <p:sp>
        <p:nvSpPr>
          <p:cNvPr id="5" name="Reaction"/>
          <p:cNvSpPr txBox="1"/>
          <p:nvPr/>
        </p:nvSpPr>
        <p:spPr>
          <a:xfrm>
            <a:off x="8050000" y="1300000"/>
            <a:ext cx="3650000" cy="36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550" b="1">
                <a:solidFill>
                  <a:srgbClr val="0F172A"/>
                </a:solidFill>
                <a:latin typeface="Noto Sans CJK JP"/>
                <a:ea typeface="Noto Sans CJK JP"/>
              </a:rPr>
              <a:t>発電機の電機子反作用</a:t>
            </a:r>
            <a:endParaRPr lang="ja-JP"/>
          </a:p>
          <a:p>
            <a:pPr marL="0" indent="0" algn="l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力率1 → 交差磁化</a:t>
            </a:r>
            <a:endParaRPr lang="ja-JP"/>
          </a:p>
          <a:p>
            <a:pPr marL="0" indent="0" algn="l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遅れ力率0 → 減磁</a:t>
            </a:r>
            <a:endParaRPr lang="ja-JP"/>
          </a:p>
          <a:p>
            <a:pPr marL="0" indent="0" algn="l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進み力率0 → 増磁</a:t>
            </a:r>
            <a:endParaRPr lang="ja-JP"/>
          </a:p>
          <a:p>
            <a:pPr marL="0" indent="0" algn="l"/>
            <a:r>
              <a:rPr lang="ja-JP" sz="1280" b="0">
                <a:solidFill>
                  <a:srgbClr val="334155"/>
                </a:solidFill>
                <a:latin typeface="Noto Sans CJK JP"/>
                <a:ea typeface="Noto Sans CJK JP"/>
              </a:rPr>
              <a:t>Xs：反作用等を等価回路で扱う</a:t>
            </a:r>
            <a:endParaRPr lang="ja-JP"/>
          </a:p>
          <a:p>
            <a:pPr marL="0" indent="0" algn="l"/>
            <a:r>
              <a:rPr lang="ja-JP" sz="1200" b="1">
                <a:solidFill>
                  <a:srgbClr val="7C3AED"/>
                </a:solidFill>
                <a:latin typeface="Noto Sans CJK JP"/>
                <a:ea typeface="Noto Sans CJK JP"/>
              </a:rPr>
              <a:t>対応：H26 問5</a:t>
            </a:r>
            <a:endParaRPr lang="ja-JP"/>
          </a:p>
        </p:txBody>
      </p:sp>
      <p:sp>
        <p:nvSpPr>
          <p:cNvPr id="6" name="Caution"/>
          <p:cNvSpPr txBox="1"/>
          <p:nvPr/>
        </p:nvSpPr>
        <p:spPr>
          <a:xfrm>
            <a:off x="450000" y="5250000"/>
            <a:ext cx="11250000" cy="650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1100" b="0">
                <a:solidFill>
                  <a:srgbClr val="9A3412"/>
                </a:solidFill>
                <a:latin typeface="Noto Sans CJK JP"/>
                <a:ea typeface="Noto Sans CJK JP"/>
              </a:rPr>
              <a:t>注意：同期電動機の式と同期発電機の式を、電流方向を確認せず混同しない。</a:t>
            </a:r>
            <a:endParaRPr lang="ja-JP"/>
          </a:p>
        </p:txBody>
      </p:sp>
      <p:sp>
        <p:nvSpPr>
          <p:cNvPr id="90" name="Footer"/>
          <p:cNvSpPr txBox="1"/>
          <p:nvPr/>
        </p:nvSpPr>
        <p:spPr>
          <a:xfrm>
            <a:off x="10500000" y="6400000"/>
            <a:ext cx="1200000" cy="250000"/>
          </a:xfrm>
          <a:prstGeom prst="roundRect">
            <a:avLst/>
          </a:prstGeom>
          <a:noFill/>
          <a:ln>
            <a:noFill/>
          </a:ln>
        </p:spPr>
        <p:txBody>
          <a:bodyPr wrap="square" lIns="80000" tIns="80000" rIns="80000" bIns="80000" anchor="t"/>
          <a:lstStyle/>
          <a:p>
            <a:pPr marL="0" indent="0" algn="l"/>
            <a:r>
              <a:rPr lang="ja-JP" sz="900" b="0">
                <a:solidFill>
                  <a:srgbClr val="64748B"/>
                </a:solidFill>
                <a:latin typeface="Noto Sans CJK JP"/>
                <a:ea typeface="Noto Sans CJK JP"/>
              </a:rPr>
              <a:t>3 / 4</a:t>
            </a:r>
            <a:endParaRPr lang="ja-JP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Noto Sans CJK JP"/>
        <a:cs typeface="Arial"/>
      </a:majorFont>
      <a:minorFont>
        <a:latin typeface="Aptos"/>
        <a:ea typeface="Noto Sans CJK JP"/>
        <a:cs typeface="Arial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