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endParaRPr lang="ja-JP" sz="2600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新幹線は主電動機以外もモーターだらけ？</a:t>
            </a:r>
          </a:p>
        </p:txBody>
      </p:sp>
      <p:sp>
        <p:nvSpPr>
          <p:cNvPr id="3" name="冷却ファン ブロワ"/>
          <p:cNvSpPr txBox="1"/>
          <p:nvPr/>
        </p:nvSpPr>
        <p:spPr>
          <a:xfrm>
            <a:off x="500000" y="1500000"/>
            <a:ext cx="1800000" cy="900000"/>
          </a:xfrm>
          <a:prstGeom prst="roundRect">
            <a:avLst/>
          </a:prstGeom>
          <a:solidFill>
            <a:srgbClr val="E2E8F0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冷却ファン</a:t>
            </a:r>
          </a:p>
          <a:p>
            <a:pPr algn="ctr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ブロワ</a:t>
            </a:r>
          </a:p>
        </p:txBody>
      </p:sp>
      <p:sp>
        <p:nvSpPr>
          <p:cNvPr id="4" name="ポンプ"/>
          <p:cNvSpPr txBox="1"/>
          <p:nvPr/>
        </p:nvSpPr>
        <p:spPr>
          <a:xfrm>
            <a:off x="2700000" y="1500000"/>
            <a:ext cx="1800000" cy="900000"/>
          </a:xfrm>
          <a:prstGeom prst="roundRect">
            <a:avLst/>
          </a:prstGeom>
          <a:solidFill>
            <a:srgbClr val="E2E8F0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ポンプ</a:t>
            </a:r>
          </a:p>
        </p:txBody>
      </p:sp>
      <p:sp>
        <p:nvSpPr>
          <p:cNvPr id="5" name="コンプレッサ"/>
          <p:cNvSpPr txBox="1"/>
          <p:nvPr/>
        </p:nvSpPr>
        <p:spPr>
          <a:xfrm>
            <a:off x="4900000" y="1500000"/>
            <a:ext cx="1800000" cy="900000"/>
          </a:xfrm>
          <a:prstGeom prst="roundRect">
            <a:avLst/>
          </a:prstGeom>
          <a:solidFill>
            <a:srgbClr val="E2E8F0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コンプレッサ</a:t>
            </a:r>
          </a:p>
        </p:txBody>
      </p:sp>
      <p:sp>
        <p:nvSpPr>
          <p:cNvPr id="6" name="空調機"/>
          <p:cNvSpPr txBox="1"/>
          <p:nvPr/>
        </p:nvSpPr>
        <p:spPr>
          <a:xfrm>
            <a:off x="7100000" y="1500000"/>
            <a:ext cx="1800000" cy="900000"/>
          </a:xfrm>
          <a:prstGeom prst="roundRect">
            <a:avLst/>
          </a:prstGeom>
          <a:solidFill>
            <a:srgbClr val="E2E8F0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空調機</a:t>
            </a:r>
          </a:p>
        </p:txBody>
      </p:sp>
      <p:sp>
        <p:nvSpPr>
          <p:cNvPr id="7" name="ドア駆動"/>
          <p:cNvSpPr txBox="1"/>
          <p:nvPr/>
        </p:nvSpPr>
        <p:spPr>
          <a:xfrm>
            <a:off x="9300000" y="1500000"/>
            <a:ext cx="1800000" cy="900000"/>
          </a:xfrm>
          <a:prstGeom prst="roundRect">
            <a:avLst/>
          </a:prstGeom>
          <a:solidFill>
            <a:srgbClr val="E2E8F0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ドア駆動</a:t>
            </a:r>
          </a:p>
        </p:txBody>
      </p:sp>
      <p:sp>
        <p:nvSpPr>
          <p:cNvPr id="12" name="Common"/>
          <p:cNvSpPr txBox="1"/>
          <p:nvPr/>
        </p:nvSpPr>
        <p:spPr>
          <a:xfrm>
            <a:off x="2300000" y="3000000"/>
            <a:ext cx="7600000" cy="900000"/>
          </a:xfrm>
          <a:prstGeom prst="roundRect">
            <a:avLst/>
          </a:prstGeom>
          <a:solidFill>
            <a:srgbClr val="DBEAFE"/>
          </a:solidFill>
          <a:ln w="12000">
            <a:solidFill>
              <a:srgbClr val="93C5FD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900"/>
            <a:r>
              <a:rPr lang="ja-JP" sz="1900" b="1">
                <a:solidFill>
                  <a:srgbClr val="0F172A"/>
                </a:solidFill>
                <a:latin typeface="Noto Sans CJK JP"/>
                <a:ea typeface="Noto Sans CJK JP"/>
              </a:rPr>
              <a:t>共通構造：電気入力 → 電動機 → 軸出力 → 負荷</a:t>
            </a:r>
          </a:p>
        </p:txBody>
      </p:sp>
      <p:sp>
        <p:nvSpPr>
          <p:cNvPr id="13" name="Formula"/>
          <p:cNvSpPr txBox="1"/>
          <p:nvPr/>
        </p:nvSpPr>
        <p:spPr>
          <a:xfrm>
            <a:off x="3100000" y="4200000"/>
            <a:ext cx="6000000" cy="8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3C5FD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2200"/>
            <a:r>
              <a:rPr lang="ja-JP" sz="2200" b="1">
                <a:solidFill>
                  <a:srgbClr val="1D4ED8"/>
                </a:solidFill>
                <a:latin typeface="Noto Sans CJK JP"/>
                <a:ea typeface="Noto Sans CJK JP"/>
              </a:rPr>
              <a:t>P = ωT　　ω = 2πN / 60</a:t>
            </a:r>
          </a:p>
        </p:txBody>
      </p:sp>
      <p:sp>
        <p:nvSpPr>
          <p:cNvPr id="14" name="Exam"/>
          <p:cNvSpPr txBox="1"/>
          <p:nvPr/>
        </p:nvSpPr>
        <p:spPr>
          <a:xfrm>
            <a:off x="900000" y="5350000"/>
            <a:ext cx="10400000" cy="650000"/>
          </a:xfrm>
          <a:prstGeom prst="roundRect">
            <a:avLst/>
          </a:prstGeom>
          <a:solidFill>
            <a:srgbClr val="F1F5F9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350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固定5問：R5上 問7 ／ R4下 問11 ／ H30 問10 ／ H29 問12 ／ H27 問12</a:t>
            </a:r>
          </a:p>
        </p:txBody>
      </p:sp>
      <p:sp>
        <p:nvSpPr>
          <p:cNvPr id="90" name="Footer"/>
          <p:cNvSpPr txBox="1"/>
          <p:nvPr/>
        </p:nvSpPr>
        <p:spPr>
          <a:xfrm>
            <a:off x="500000" y="6420000"/>
            <a:ext cx="11100000" cy="2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endParaRPr lang="ja-JP" sz="900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電験三種「機械」 Topic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endParaRPr lang="ja-JP" sz="2600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動作点は「電動機トルク = 負荷トルク」</a:t>
            </a:r>
          </a:p>
        </p:txBody>
      </p:sp>
      <p:sp>
        <p:nvSpPr>
          <p:cNvPr id="3" name="Accel"/>
          <p:cNvSpPr txBox="1"/>
          <p:nvPr/>
        </p:nvSpPr>
        <p:spPr>
          <a:xfrm>
            <a:off x="600000" y="1500000"/>
            <a:ext cx="3000000" cy="900000"/>
          </a:xfrm>
          <a:prstGeom prst="roundRect">
            <a:avLst/>
          </a:prstGeom>
          <a:solidFill>
            <a:srgbClr val="DCFCE7"/>
          </a:solidFill>
          <a:ln w="12000">
            <a:solidFill>
              <a:srgbClr val="86EFAC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2000"/>
            <a:r>
              <a:rPr lang="ja-JP" sz="2000" b="1">
                <a:solidFill>
                  <a:srgbClr val="15803D"/>
                </a:solidFill>
                <a:latin typeface="Noto Sans CJK JP"/>
                <a:ea typeface="Noto Sans CJK JP"/>
              </a:rPr>
              <a:t>Tm &gt; TL</a:t>
            </a:r>
          </a:p>
          <a:p>
            <a:pPr algn="ctr"/>
            <a:endParaRPr lang="ja-JP" sz="1500"/>
            <a:r>
              <a:rPr lang="ja-JP" sz="1500" b="0">
                <a:solidFill>
                  <a:srgbClr val="166534"/>
                </a:solidFill>
                <a:latin typeface="Noto Sans CJK JP"/>
                <a:ea typeface="Noto Sans CJK JP"/>
              </a:rPr>
              <a:t>加速</a:t>
            </a:r>
          </a:p>
        </p:txBody>
      </p:sp>
      <p:sp>
        <p:nvSpPr>
          <p:cNvPr id="4" name="Point"/>
          <p:cNvSpPr txBox="1"/>
          <p:nvPr/>
        </p:nvSpPr>
        <p:spPr>
          <a:xfrm>
            <a:off x="4600000" y="1500000"/>
            <a:ext cx="3000000" cy="900000"/>
          </a:xfrm>
          <a:prstGeom prst="roundRect">
            <a:avLst/>
          </a:prstGeom>
          <a:solidFill>
            <a:srgbClr val="DBEAFE"/>
          </a:solidFill>
          <a:ln w="12000">
            <a:solidFill>
              <a:srgbClr val="93C5FD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2000"/>
            <a:r>
              <a:rPr lang="ja-JP" sz="2000" b="1">
                <a:solidFill>
                  <a:srgbClr val="1D4ED8"/>
                </a:solidFill>
                <a:latin typeface="Noto Sans CJK JP"/>
                <a:ea typeface="Noto Sans CJK JP"/>
              </a:rPr>
              <a:t>Tm = TL</a:t>
            </a:r>
          </a:p>
          <a:p>
            <a:pPr algn="ctr"/>
            <a:endParaRPr lang="ja-JP" sz="1500"/>
            <a:r>
              <a:rPr lang="ja-JP" sz="1500" b="0">
                <a:solidFill>
                  <a:srgbClr val="1E40AF"/>
                </a:solidFill>
                <a:latin typeface="Noto Sans CJK JP"/>
                <a:ea typeface="Noto Sans CJK JP"/>
              </a:rPr>
              <a:t>動作点</a:t>
            </a:r>
          </a:p>
        </p:txBody>
      </p:sp>
      <p:sp>
        <p:nvSpPr>
          <p:cNvPr id="5" name="Decel"/>
          <p:cNvSpPr txBox="1"/>
          <p:nvPr/>
        </p:nvSpPr>
        <p:spPr>
          <a:xfrm>
            <a:off x="8600000" y="1500000"/>
            <a:ext cx="3000000" cy="900000"/>
          </a:xfrm>
          <a:prstGeom prst="roundRect">
            <a:avLst/>
          </a:prstGeom>
          <a:solidFill>
            <a:srgbClr val="FEE2E2"/>
          </a:solidFill>
          <a:ln w="12000">
            <a:solidFill>
              <a:srgbClr val="FCA5A5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2000"/>
            <a:r>
              <a:rPr lang="ja-JP" sz="2000" b="1">
                <a:solidFill>
                  <a:srgbClr val="B91C1C"/>
                </a:solidFill>
                <a:latin typeface="Noto Sans CJK JP"/>
                <a:ea typeface="Noto Sans CJK JP"/>
              </a:rPr>
              <a:t>Tm &lt; TL</a:t>
            </a:r>
          </a:p>
          <a:p>
            <a:pPr algn="ctr"/>
            <a:endParaRPr lang="ja-JP" sz="1500"/>
            <a:r>
              <a:rPr lang="ja-JP" sz="1500" b="0">
                <a:solidFill>
                  <a:srgbClr val="991B1B"/>
                </a:solidFill>
                <a:latin typeface="Noto Sans CJK JP"/>
                <a:ea typeface="Noto Sans CJK JP"/>
              </a:rPr>
              <a:t>減速</a:t>
            </a:r>
          </a:p>
        </p:txBody>
      </p:sp>
      <p:sp>
        <p:nvSpPr>
          <p:cNvPr id="6" name="AxisX"/>
          <p:cNvSpPr/>
          <p:nvPr/>
        </p:nvSpPr>
        <p:spPr>
          <a:xfrm>
            <a:off x="1400000" y="5000000"/>
            <a:ext cx="5500000" cy="0"/>
          </a:xfrm>
          <a:prstGeom prst="line">
            <a:avLst/>
          </a:prstGeom>
          <a:ln w="15000">
            <a:solidFill>
              <a:srgbClr val="475569"/>
            </a:solidFill>
            <a:tailEnd type="triangle"/>
          </a:ln>
        </p:spPr>
      </p:sp>
      <p:sp>
        <p:nvSpPr>
          <p:cNvPr id="7" name="AxisY"/>
          <p:cNvSpPr/>
          <p:nvPr/>
        </p:nvSpPr>
        <p:spPr>
          <a:xfrm>
            <a:off x="1400000" y="5000000"/>
            <a:ext cx="0" cy="-2100000"/>
          </a:xfrm>
          <a:prstGeom prst="line">
            <a:avLst/>
          </a:prstGeom>
          <a:ln w="15000">
            <a:solidFill>
              <a:srgbClr val="475569"/>
            </a:solidFill>
            <a:tailEnd type="triangle"/>
          </a:ln>
        </p:spPr>
      </p:sp>
      <p:sp>
        <p:nvSpPr>
          <p:cNvPr id="8" name="Motor"/>
          <p:cNvSpPr/>
          <p:nvPr/>
        </p:nvSpPr>
        <p:spPr>
          <a:xfrm>
            <a:off x="1600000" y="3200000"/>
            <a:ext cx="4900000" cy="1500000"/>
          </a:xfrm>
          <a:prstGeom prst="line">
            <a:avLst/>
          </a:prstGeom>
          <a:ln w="30000">
            <a:solidFill>
              <a:srgbClr val="2563EB"/>
            </a:solidFill>
          </a:ln>
        </p:spPr>
      </p:sp>
      <p:sp>
        <p:nvSpPr>
          <p:cNvPr id="9" name="Load"/>
          <p:cNvSpPr/>
          <p:nvPr/>
        </p:nvSpPr>
        <p:spPr>
          <a:xfrm>
            <a:off x="1600000" y="4700000"/>
            <a:ext cx="4900000" cy="-1400000"/>
          </a:xfrm>
          <a:prstGeom prst="line">
            <a:avLst/>
          </a:prstGeom>
          <a:ln w="30000">
            <a:solidFill>
              <a:srgbClr val="DC2626"/>
            </a:solidFill>
          </a:ln>
        </p:spPr>
      </p:sp>
      <p:sp>
        <p:nvSpPr>
          <p:cNvPr id="10" name="Labels"/>
          <p:cNvSpPr txBox="1"/>
          <p:nvPr/>
        </p:nvSpPr>
        <p:spPr>
          <a:xfrm>
            <a:off x="7100000" y="3100000"/>
            <a:ext cx="4000000" cy="17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l"/>
            <a:endParaRPr lang="ja-JP" sz="1750"/>
            <a:r>
              <a:rPr lang="ja-JP" sz="1750" b="1">
                <a:solidFill>
                  <a:srgbClr val="0F172A"/>
                </a:solidFill>
                <a:latin typeface="Noto Sans CJK JP"/>
                <a:ea typeface="Noto Sans CJK JP"/>
              </a:rPr>
              <a:t>安定判定</a:t>
            </a:r>
          </a:p>
          <a:p>
            <a:pPr algn="l"/>
            <a:endParaRPr lang="ja-JP" sz="1450"/>
            <a:r>
              <a:rPr lang="ja-JP" sz="1450" b="0">
                <a:solidFill>
                  <a:srgbClr val="1F2937"/>
                </a:solidFill>
                <a:latin typeface="Noto Sans CJK JP"/>
                <a:ea typeface="Noto Sans CJK JP"/>
              </a:rPr>
              <a:t>低速側：Tm &gt; TL → 加速</a:t>
            </a:r>
          </a:p>
          <a:p>
            <a:pPr algn="l"/>
            <a:endParaRPr lang="ja-JP" sz="1450"/>
            <a:r>
              <a:rPr lang="ja-JP" sz="1450" b="0">
                <a:solidFill>
                  <a:srgbClr val="1F2937"/>
                </a:solidFill>
                <a:latin typeface="Noto Sans CJK JP"/>
                <a:ea typeface="Noto Sans CJK JP"/>
              </a:rPr>
              <a:t>高速側：Tm &lt; TL → 減速</a:t>
            </a:r>
          </a:p>
          <a:p>
            <a:pPr algn="l"/>
            <a:endParaRPr lang="ja-JP" sz="1450"/>
            <a:r>
              <a:rPr lang="ja-JP" sz="1450" b="1">
                <a:solidFill>
                  <a:srgbClr val="1D4ED8"/>
                </a:solidFill>
                <a:latin typeface="Noto Sans CJK JP"/>
                <a:ea typeface="Noto Sans CJK JP"/>
              </a:rPr>
              <a:t>両側から交点へ戻る → 安定</a:t>
            </a:r>
          </a:p>
        </p:txBody>
      </p:sp>
      <p:sp>
        <p:nvSpPr>
          <p:cNvPr id="11" name="Connection"/>
          <p:cNvSpPr txBox="1"/>
          <p:nvPr/>
        </p:nvSpPr>
        <p:spPr>
          <a:xfrm>
            <a:off x="7600000" y="5150000"/>
            <a:ext cx="3400000" cy="550000"/>
          </a:xfrm>
          <a:prstGeom prst="roundRect">
            <a:avLst/>
          </a:prstGeom>
          <a:solidFill>
            <a:srgbClr val="F1F5F9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350"/>
            <a:r>
              <a:rPr lang="ja-JP" sz="1350" b="1">
                <a:solidFill>
                  <a:srgbClr val="334155"/>
                </a:solidFill>
                <a:latin typeface="Noto Sans CJK JP"/>
                <a:ea typeface="Noto Sans CJK JP"/>
              </a:rPr>
              <a:t>接続：R5上 機械 問7</a:t>
            </a:r>
          </a:p>
        </p:txBody>
      </p:sp>
      <p:sp>
        <p:nvSpPr>
          <p:cNvPr id="90" name="Footer"/>
          <p:cNvSpPr txBox="1"/>
          <p:nvPr/>
        </p:nvSpPr>
        <p:spPr>
          <a:xfrm>
            <a:off x="500000" y="6420000"/>
            <a:ext cx="11100000" cy="2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endParaRPr lang="ja-JP" sz="900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電験三種「機械」 Topic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endParaRPr lang="ja-JP" sz="2600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ポンプ所要動力は「水動力から入力へ逆算」</a:t>
            </a:r>
          </a:p>
        </p:txBody>
      </p:sp>
      <p:sp>
        <p:nvSpPr>
          <p:cNvPr id="3" name="① 流量換算"/>
          <p:cNvSpPr txBox="1"/>
          <p:nvPr/>
        </p:nvSpPr>
        <p:spPr>
          <a:xfrm>
            <a:off x="450000" y="1500000"/>
            <a:ext cx="19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450"/>
            <a:r>
              <a:rPr lang="ja-JP" sz="1450" b="1">
                <a:solidFill>
                  <a:srgbClr val="0F172A"/>
                </a:solidFill>
                <a:latin typeface="Noto Sans CJK JP"/>
                <a:ea typeface="Noto Sans CJK JP"/>
              </a:rPr>
              <a:t>① 流量換算</a:t>
            </a:r>
          </a:p>
          <a:p>
            <a:pPr algn="ctr"/>
            <a:endParaRPr lang="ja-JP" sz="1150"/>
            <a:r>
              <a:rPr lang="ja-JP" sz="1150" b="0">
                <a:solidFill>
                  <a:srgbClr val="334155"/>
                </a:solidFill>
                <a:latin typeface="Noto Sans CJK JP"/>
                <a:ea typeface="Noto Sans CJK JP"/>
              </a:rPr>
              <a:t>m³/min・m³/h → m³/s</a:t>
            </a:r>
          </a:p>
        </p:txBody>
      </p:sp>
      <p:sp>
        <p:nvSpPr>
          <p:cNvPr id="20" name="arrow"/>
          <p:cNvSpPr/>
          <p:nvPr/>
        </p:nvSpPr>
        <p:spPr>
          <a:xfrm>
            <a:off x="2350000" y="2000000"/>
            <a:ext cx="300000" cy="0"/>
          </a:xfrm>
          <a:prstGeom prst="line">
            <a:avLst/>
          </a:prstGeom>
          <a:ln w="16000">
            <a:solidFill>
              <a:srgbClr val="64748B"/>
            </a:solidFill>
            <a:tailEnd type="triangle"/>
          </a:ln>
        </p:spPr>
      </p:sp>
      <p:sp>
        <p:nvSpPr>
          <p:cNvPr id="4" name="② 全揚程"/>
          <p:cNvSpPr txBox="1"/>
          <p:nvPr/>
        </p:nvSpPr>
        <p:spPr>
          <a:xfrm>
            <a:off x="2700000" y="1500000"/>
            <a:ext cx="19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450"/>
            <a:r>
              <a:rPr lang="ja-JP" sz="1450" b="1">
                <a:solidFill>
                  <a:srgbClr val="0F172A"/>
                </a:solidFill>
                <a:latin typeface="Noto Sans CJK JP"/>
                <a:ea typeface="Noto Sans CJK JP"/>
              </a:rPr>
              <a:t>② 全揚程</a:t>
            </a:r>
          </a:p>
          <a:p>
            <a:pPr algn="ctr"/>
            <a:endParaRPr lang="ja-JP" sz="1150"/>
            <a:r>
              <a:rPr lang="ja-JP" sz="1150" b="0">
                <a:solidFill>
                  <a:srgbClr val="334155"/>
                </a:solidFill>
                <a:latin typeface="Noto Sans CJK JP"/>
                <a:ea typeface="Noto Sans CJK JP"/>
              </a:rPr>
              <a:t>実揚程 + 損失水頭</a:t>
            </a:r>
          </a:p>
        </p:txBody>
      </p:sp>
      <p:sp>
        <p:nvSpPr>
          <p:cNvPr id="21" name="arrow"/>
          <p:cNvSpPr/>
          <p:nvPr/>
        </p:nvSpPr>
        <p:spPr>
          <a:xfrm>
            <a:off x="4600000" y="2000000"/>
            <a:ext cx="300000" cy="0"/>
          </a:xfrm>
          <a:prstGeom prst="line">
            <a:avLst/>
          </a:prstGeom>
          <a:ln w="16000">
            <a:solidFill>
              <a:srgbClr val="64748B"/>
            </a:solidFill>
            <a:tailEnd type="triangle"/>
          </a:ln>
        </p:spPr>
      </p:sp>
      <p:sp>
        <p:nvSpPr>
          <p:cNvPr id="5" name="③ 水動力"/>
          <p:cNvSpPr txBox="1"/>
          <p:nvPr/>
        </p:nvSpPr>
        <p:spPr>
          <a:xfrm>
            <a:off x="4950000" y="1500000"/>
            <a:ext cx="19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450"/>
            <a:r>
              <a:rPr lang="ja-JP" sz="1450" b="1">
                <a:solidFill>
                  <a:srgbClr val="0F172A"/>
                </a:solidFill>
                <a:latin typeface="Noto Sans CJK JP"/>
                <a:ea typeface="Noto Sans CJK JP"/>
              </a:rPr>
              <a:t>③ 水動力</a:t>
            </a:r>
          </a:p>
          <a:p>
            <a:pPr algn="ctr"/>
            <a:endParaRPr lang="ja-JP" sz="1150"/>
            <a:r>
              <a:rPr lang="ja-JP" sz="1150" b="0">
                <a:solidFill>
                  <a:srgbClr val="334155"/>
                </a:solidFill>
                <a:latin typeface="Noto Sans CJK JP"/>
                <a:ea typeface="Noto Sans CJK JP"/>
              </a:rPr>
              <a:t>Ph = ρgQH</a:t>
            </a:r>
          </a:p>
        </p:txBody>
      </p:sp>
      <p:sp>
        <p:nvSpPr>
          <p:cNvPr id="22" name="arrow"/>
          <p:cNvSpPr/>
          <p:nvPr/>
        </p:nvSpPr>
        <p:spPr>
          <a:xfrm>
            <a:off x="6850000" y="2000000"/>
            <a:ext cx="300000" cy="0"/>
          </a:xfrm>
          <a:prstGeom prst="line">
            <a:avLst/>
          </a:prstGeom>
          <a:ln w="16000">
            <a:solidFill>
              <a:srgbClr val="64748B"/>
            </a:solidFill>
            <a:tailEnd type="triangle"/>
          </a:ln>
        </p:spPr>
      </p:sp>
      <p:sp>
        <p:nvSpPr>
          <p:cNvPr id="6" name="④ 効率・余裕"/>
          <p:cNvSpPr txBox="1"/>
          <p:nvPr/>
        </p:nvSpPr>
        <p:spPr>
          <a:xfrm>
            <a:off x="7200000" y="1500000"/>
            <a:ext cx="19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450"/>
            <a:r>
              <a:rPr lang="ja-JP" sz="1450" b="1">
                <a:solidFill>
                  <a:srgbClr val="0F172A"/>
                </a:solidFill>
                <a:latin typeface="Noto Sans CJK JP"/>
                <a:ea typeface="Noto Sans CJK JP"/>
              </a:rPr>
              <a:t>④ 効率・余裕</a:t>
            </a:r>
          </a:p>
          <a:p>
            <a:pPr algn="ctr"/>
            <a:endParaRPr lang="ja-JP" sz="1150"/>
            <a:r>
              <a:rPr lang="ja-JP" sz="1150" b="0">
                <a:solidFill>
                  <a:srgbClr val="334155"/>
                </a:solidFill>
                <a:latin typeface="Noto Sans CJK JP"/>
                <a:ea typeface="Noto Sans CJK JP"/>
              </a:rPr>
              <a:t>Preq = kPh / ηp</a:t>
            </a:r>
          </a:p>
        </p:txBody>
      </p:sp>
      <p:sp>
        <p:nvSpPr>
          <p:cNvPr id="23" name="arrow"/>
          <p:cNvSpPr/>
          <p:nvPr/>
        </p:nvSpPr>
        <p:spPr>
          <a:xfrm>
            <a:off x="9100000" y="2000000"/>
            <a:ext cx="300000" cy="0"/>
          </a:xfrm>
          <a:prstGeom prst="line">
            <a:avLst/>
          </a:prstGeom>
          <a:ln w="16000">
            <a:solidFill>
              <a:srgbClr val="64748B"/>
            </a:solidFill>
            <a:tailEnd type="triangle"/>
          </a:ln>
        </p:spPr>
      </p:sp>
      <p:sp>
        <p:nvSpPr>
          <p:cNvPr id="7" name="⑤ 電気入力"/>
          <p:cNvSpPr txBox="1"/>
          <p:nvPr/>
        </p:nvSpPr>
        <p:spPr>
          <a:xfrm>
            <a:off x="9450000" y="1500000"/>
            <a:ext cx="1900000" cy="1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94A3B8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450"/>
            <a:r>
              <a:rPr lang="ja-JP" sz="1450" b="1">
                <a:solidFill>
                  <a:srgbClr val="0F172A"/>
                </a:solidFill>
                <a:latin typeface="Noto Sans CJK JP"/>
                <a:ea typeface="Noto Sans CJK JP"/>
              </a:rPr>
              <a:t>⑤ 電気入力</a:t>
            </a:r>
          </a:p>
          <a:p>
            <a:pPr algn="ctr"/>
            <a:endParaRPr lang="ja-JP" sz="1150"/>
            <a:r>
              <a:rPr lang="ja-JP" sz="1150" b="0">
                <a:solidFill>
                  <a:srgbClr val="334155"/>
                </a:solidFill>
                <a:latin typeface="Noto Sans CJK JP"/>
                <a:ea typeface="Noto Sans CJK JP"/>
              </a:rPr>
              <a:t>Pin = Preq / ηm</a:t>
            </a:r>
          </a:p>
        </p:txBody>
      </p:sp>
      <p:sp>
        <p:nvSpPr>
          <p:cNvPr id="10" name="Example"/>
          <p:cNvSpPr txBox="1"/>
          <p:nvPr/>
        </p:nvSpPr>
        <p:spPr>
          <a:xfrm>
            <a:off x="700000" y="3150000"/>
            <a:ext cx="10800000" cy="1900000"/>
          </a:xfrm>
          <a:prstGeom prst="roundRect">
            <a:avLst/>
          </a:prstGeom>
          <a:solidFill>
            <a:srgbClr val="EFF6FF"/>
          </a:solidFill>
          <a:ln w="12000">
            <a:solidFill>
              <a:srgbClr val="93C5FD"/>
            </a:solidFill>
          </a:ln>
        </p:spPr>
        <p:txBody>
          <a:bodyPr lIns="100000" tIns="100000" rIns="100000" bIns="100000" anchor="ctr"/>
          <a:lstStyle/>
          <a:p>
            <a:pPr algn="l"/>
            <a:endParaRPr lang="ja-JP" sz="1600"/>
            <a:r>
              <a:rPr lang="ja-JP" sz="1600" b="1">
                <a:solidFill>
                  <a:srgbClr val="0F172A"/>
                </a:solidFill>
                <a:latin typeface="Noto Sans CJK JP"/>
                <a:ea typeface="Noto Sans CJK JP"/>
              </a:rPr>
              <a:t>標準例題の流れ</a:t>
            </a:r>
          </a:p>
          <a:p>
            <a:pPr algn="l"/>
            <a:endParaRPr lang="ja-JP" sz="1400"/>
            <a:r>
              <a:rPr lang="ja-JP" sz="1400" b="0">
                <a:solidFill>
                  <a:srgbClr val="1F2937"/>
                </a:solidFill>
                <a:latin typeface="Noto Sans CJK JP"/>
                <a:ea typeface="Noto Sans CJK JP"/>
              </a:rPr>
              <a:t>1.2 m³/min → 0.020 m³/s　／　H = 24 + 6 = 30 m</a:t>
            </a:r>
          </a:p>
          <a:p>
            <a:pPr algn="l"/>
            <a:endParaRPr lang="ja-JP" sz="1400"/>
            <a:r>
              <a:rPr lang="ja-JP" sz="1400" b="0">
                <a:solidFill>
                  <a:srgbClr val="1F2937"/>
                </a:solidFill>
                <a:latin typeface="Noto Sans CJK JP"/>
                <a:ea typeface="Noto Sans CJK JP"/>
              </a:rPr>
              <a:t>Ph = 5.88 kW　→　ηp=0.80, k=1.10 で必要軸出力 8.085 kW</a:t>
            </a:r>
          </a:p>
          <a:p>
            <a:pPr algn="l"/>
            <a:endParaRPr lang="ja-JP" sz="1400"/>
            <a:r>
              <a:rPr lang="ja-JP" sz="1400" b="1">
                <a:solidFill>
                  <a:srgbClr val="1D4ED8"/>
                </a:solidFill>
                <a:latin typeface="Noto Sans CJK JP"/>
                <a:ea typeface="Noto Sans CJK JP"/>
              </a:rPr>
              <a:t>ηm=0.90 → 電気入力 8.98 kW　／　5.5 kW/台 → 2台</a:t>
            </a:r>
          </a:p>
        </p:txBody>
      </p:sp>
      <p:sp>
        <p:nvSpPr>
          <p:cNvPr id="11" name="Connection"/>
          <p:cNvSpPr txBox="1"/>
          <p:nvPr/>
        </p:nvSpPr>
        <p:spPr>
          <a:xfrm>
            <a:off x="1500000" y="5350000"/>
            <a:ext cx="9200000" cy="550000"/>
          </a:xfrm>
          <a:prstGeom prst="roundRect">
            <a:avLst/>
          </a:prstGeom>
          <a:solidFill>
            <a:srgbClr val="F1F5F9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350"/>
            <a:r>
              <a:rPr lang="ja-JP" sz="1350" b="1">
                <a:solidFill>
                  <a:srgbClr val="334155"/>
                </a:solidFill>
                <a:latin typeface="Noto Sans CJK JP"/>
                <a:ea typeface="Noto Sans CJK JP"/>
              </a:rPr>
              <a:t>接続：R4下 問11 ／ H30 問10 ／ H27 問12</a:t>
            </a:r>
          </a:p>
        </p:txBody>
      </p:sp>
      <p:sp>
        <p:nvSpPr>
          <p:cNvPr id="90" name="Footer"/>
          <p:cNvSpPr txBox="1"/>
          <p:nvPr/>
        </p:nvSpPr>
        <p:spPr>
          <a:xfrm>
            <a:off x="500000" y="6420000"/>
            <a:ext cx="11100000" cy="2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endParaRPr lang="ja-JP" sz="900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電験三種「機械」 Topic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00000" y="250000"/>
            <a:ext cx="11100000" cy="6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l"/>
            <a:endParaRPr lang="ja-JP" sz="2600"/>
            <a:r>
              <a:rPr lang="ja-JP" sz="2600" b="1">
                <a:solidFill>
                  <a:srgbClr val="0F172A"/>
                </a:solidFill>
                <a:latin typeface="Noto Sans CJK JP"/>
                <a:ea typeface="Noto Sans CJK JP"/>
              </a:rPr>
              <a:t>可変速ファン・ポンプは「動力が速度の3乗」</a:t>
            </a:r>
          </a:p>
        </p:txBody>
      </p:sp>
      <p:sp>
        <p:nvSpPr>
          <p:cNvPr id="3" name="Formula"/>
          <p:cNvSpPr txBox="1"/>
          <p:nvPr/>
        </p:nvSpPr>
        <p:spPr>
          <a:xfrm>
            <a:off x="650000" y="1450000"/>
            <a:ext cx="5000000" cy="200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700"/>
            <a:r>
              <a:rPr lang="ja-JP" sz="1700" b="1">
                <a:solidFill>
                  <a:srgbClr val="0F172A"/>
                </a:solidFill>
                <a:latin typeface="Noto Sans CJK JP"/>
                <a:ea typeface="Noto Sans CJK JP"/>
              </a:rPr>
              <a:t>速度比 r = N₂ / N₁</a:t>
            </a:r>
          </a:p>
          <a:p>
            <a:pPr algn="ctr"/>
            <a:endParaRPr lang="ja-JP" sz="1800"/>
            <a:r>
              <a:rPr lang="ja-JP" sz="1800" b="1">
                <a:solidFill>
                  <a:srgbClr val="15803D"/>
                </a:solidFill>
                <a:latin typeface="Noto Sans CJK JP"/>
                <a:ea typeface="Noto Sans CJK JP"/>
              </a:rPr>
              <a:t>Q₂ / Q₁ = r</a:t>
            </a:r>
          </a:p>
          <a:p>
            <a:pPr algn="ctr"/>
            <a:endParaRPr lang="ja-JP" sz="1800"/>
            <a:r>
              <a:rPr lang="ja-JP" sz="1800" b="1">
                <a:solidFill>
                  <a:srgbClr val="D97706"/>
                </a:solidFill>
                <a:latin typeface="Noto Sans CJK JP"/>
                <a:ea typeface="Noto Sans CJK JP"/>
              </a:rPr>
              <a:t>T₂ / T₁ = r²</a:t>
            </a:r>
          </a:p>
          <a:p>
            <a:pPr algn="ctr"/>
            <a:endParaRPr lang="ja-JP" sz="1800"/>
            <a:r>
              <a:rPr lang="ja-JP" sz="1800" b="1">
                <a:solidFill>
                  <a:srgbClr val="B91C1C"/>
                </a:solidFill>
                <a:latin typeface="Noto Sans CJK JP"/>
                <a:ea typeface="Noto Sans CJK JP"/>
              </a:rPr>
              <a:t>P₂ / P₁ = r³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6300000" y="1450000"/>
            <a:ext cx="5000000" cy="2000000"/>
          </a:xfrm>
          <a:prstGeom prst="roundRect">
            <a:avLst/>
          </a:prstGeom>
          <a:solidFill>
            <a:srgbClr val="FFF7ED"/>
          </a:solidFill>
          <a:ln w="12000">
            <a:solidFill>
              <a:srgbClr val="FDBA74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700"/>
            <a:r>
              <a:rPr lang="ja-JP" sz="1700" b="1">
                <a:solidFill>
                  <a:srgbClr val="0F172A"/>
                </a:solidFill>
                <a:latin typeface="Noto Sans CJK JP"/>
                <a:ea typeface="Noto Sans CJK JP"/>
              </a:rPr>
              <a:t>速度を 70% に下げる</a:t>
            </a:r>
          </a:p>
          <a:p>
            <a:pPr algn="ctr"/>
            <a:endParaRPr lang="ja-JP" sz="1550"/>
            <a:r>
              <a:rPr lang="ja-JP" sz="1550" b="0">
                <a:solidFill>
                  <a:srgbClr val="15803D"/>
                </a:solidFill>
                <a:latin typeface="Noto Sans CJK JP"/>
                <a:ea typeface="Noto Sans CJK JP"/>
              </a:rPr>
              <a:t>流量 70%</a:t>
            </a:r>
          </a:p>
          <a:p>
            <a:pPr algn="ctr"/>
            <a:endParaRPr lang="ja-JP" sz="1550"/>
            <a:r>
              <a:rPr lang="ja-JP" sz="1550" b="0">
                <a:solidFill>
                  <a:srgbClr val="D97706"/>
                </a:solidFill>
                <a:latin typeface="Noto Sans CJK JP"/>
                <a:ea typeface="Noto Sans CJK JP"/>
              </a:rPr>
              <a:t>トルク 49%</a:t>
            </a:r>
          </a:p>
          <a:p>
            <a:pPr algn="ctr"/>
            <a:endParaRPr lang="ja-JP" sz="1550"/>
            <a:r>
              <a:rPr lang="ja-JP" sz="1550" b="1">
                <a:solidFill>
                  <a:srgbClr val="B91C1C"/>
                </a:solidFill>
                <a:latin typeface="Noto Sans CJK JP"/>
                <a:ea typeface="Noto Sans CJK JP"/>
              </a:rPr>
              <a:t>動力 34.3%</a:t>
            </a:r>
          </a:p>
        </p:txBody>
      </p:sp>
      <p:sp>
        <p:nvSpPr>
          <p:cNvPr id="5" name="Calc"/>
          <p:cNvSpPr txBox="1"/>
          <p:nvPr/>
        </p:nvSpPr>
        <p:spPr>
          <a:xfrm>
            <a:off x="1300000" y="3900000"/>
            <a:ext cx="9600000" cy="1200000"/>
          </a:xfrm>
          <a:prstGeom prst="roundRect">
            <a:avLst/>
          </a:prstGeom>
          <a:solidFill>
            <a:srgbClr val="DBEAFE"/>
          </a:solidFill>
          <a:ln w="12000">
            <a:solidFill>
              <a:srgbClr val="93C5FD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550"/>
            <a:r>
              <a:rPr lang="ja-JP" sz="1550" b="1">
                <a:solidFill>
                  <a:srgbClr val="1D4ED8"/>
                </a:solidFill>
                <a:latin typeface="Noto Sans CJK JP"/>
                <a:ea typeface="Noto Sans CJK JP"/>
              </a:rPr>
              <a:t>20 kW × 0.70³ = 6.86 kW　　→　　電動機効率 92% なら入力 = 6.86 / 0.92 = 7.46 kW</a:t>
            </a:r>
          </a:p>
        </p:txBody>
      </p:sp>
      <p:sp>
        <p:nvSpPr>
          <p:cNvPr id="6" name="Trap"/>
          <p:cNvSpPr txBox="1"/>
          <p:nvPr/>
        </p:nvSpPr>
        <p:spPr>
          <a:xfrm>
            <a:off x="1300000" y="5250000"/>
            <a:ext cx="9600000" cy="650000"/>
          </a:xfrm>
          <a:prstGeom prst="roundRect">
            <a:avLst/>
          </a:prstGeom>
          <a:solidFill>
            <a:srgbClr val="F1F5F9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350"/>
            <a:r>
              <a:rPr lang="ja-JP" sz="1350" b="0">
                <a:solidFill>
                  <a:srgbClr val="334155"/>
                </a:solidFill>
                <a:latin typeface="Noto Sans CJK JP"/>
                <a:ea typeface="Noto Sans CJK JP"/>
              </a:rPr>
              <a:t>ひっかけ：流量70%だから動力70%ではない。固定した相似則では動力は速度の3乗。</a:t>
            </a:r>
          </a:p>
        </p:txBody>
      </p:sp>
      <p:sp>
        <p:nvSpPr>
          <p:cNvPr id="7" name="Connection"/>
          <p:cNvSpPr txBox="1"/>
          <p:nvPr/>
        </p:nvSpPr>
        <p:spPr>
          <a:xfrm>
            <a:off x="3700000" y="5950000"/>
            <a:ext cx="4800000" cy="450000"/>
          </a:xfrm>
          <a:prstGeom prst="roundRect">
            <a:avLst/>
          </a:prstGeom>
          <a:solidFill>
            <a:srgbClr val="FFFFFF"/>
          </a:solidFill>
          <a:ln w="12000">
            <a:solidFill>
              <a:srgbClr val="CBD5E1"/>
            </a:solidFill>
          </a:ln>
        </p:spPr>
        <p:txBody>
          <a:bodyPr lIns="100000" tIns="100000" rIns="100000" bIns="100000" anchor="ctr"/>
          <a:lstStyle/>
          <a:p>
            <a:pPr algn="ctr"/>
            <a:endParaRPr lang="ja-JP" sz="1250"/>
            <a:r>
              <a:rPr lang="ja-JP" sz="1250" b="1">
                <a:solidFill>
                  <a:srgbClr val="334155"/>
                </a:solidFill>
                <a:latin typeface="Noto Sans CJK JP"/>
                <a:ea typeface="Noto Sans CJK JP"/>
              </a:rPr>
              <a:t>接続：H29 機械 問12</a:t>
            </a:r>
          </a:p>
        </p:txBody>
      </p:sp>
      <p:sp>
        <p:nvSpPr>
          <p:cNvPr id="90" name="Footer"/>
          <p:cNvSpPr txBox="1"/>
          <p:nvPr/>
        </p:nvSpPr>
        <p:spPr>
          <a:xfrm>
            <a:off x="500000" y="6420000"/>
            <a:ext cx="11100000" cy="25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endParaRPr lang="ja-JP" sz="900"/>
            <a:r>
              <a:rPr lang="ja-JP" sz="900" b="0">
                <a:solidFill>
                  <a:srgbClr val="64748B"/>
                </a:solidFill>
                <a:latin typeface="Noto Sans CJK JP"/>
                <a:ea typeface="Noto Sans CJK JP"/>
              </a:rPr>
              <a:t>電験三種「機械」 Topic 13</a:t>
            </a:r>
          </a:p>
        </p:txBody>
      </p:sp>
    </p:spTree>
  </p:cSld>
  <p:clrMapOvr>
    <a:masterClrMapping/>
  </p:clrMapOvr>
</p:sld>
</file>