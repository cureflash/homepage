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548640" y="2743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90000" tIns="70000" rIns="90000" bIns="70000" anchor="top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Noto Sans CJK JP"/>
                <a:ea typeface="Noto Sans CJK JP"/>
              </a:rPr>
              <a:t>発電所からN700Sまで — 電力の一本道</a:t>
            </a:r>
          </a:p>
        </p:txBody>
      </p:sp>
      <p:sp>
        <p:nvSpPr>
          <p:cNvPr id="3" name="s3"/>
          <p:cNvSpPr/>
          <p:nvPr/>
        </p:nvSpPr>
        <p:spPr>
          <a:xfrm>
            <a:off x="640080" y="1188720"/>
            <a:ext cx="10881360" cy="4526280"/>
          </a:xfrm>
          <a:prstGeom prst="roundRect">
            <a:avLst/>
          </a:prstGeom>
          <a:solidFill>
            <a:srgbClr val="F8FBFE"/>
          </a:solidFill>
          <a:ln>
            <a:solidFill>
              <a:srgbClr val="CBD5E1"/>
            </a:solidFill>
          </a:ln>
        </p:spPr>
        <p:txBody>
          <a:bodyPr lIns="90000" tIns="70000" rIns="90000" bIns="70000" anchor="top"/>
          <a:lstStyle/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水力・火力・原子力・再エネ → 発電機 → 変圧器 → 超高圧送電 → 新幹線変電所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→ 三相→単相 → 交流25kV → き電回路 → 架線 → パンタグラフ → N700S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/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通常時：発電所・系統側 → 列車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回生時：列車側が発生側 → 受入可能な負荷・系統側へ逆方向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/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境界：Topics 01〜15の既習事項だけを接続。N700S内部主回路へ広げない。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実設備値は一次資料確認済みの値だけを実値として扱う。</a:t>
            </a:r>
          </a:p>
        </p:txBody>
      </p:sp>
      <p:sp>
        <p:nvSpPr>
          <p:cNvPr id="4" name="s4"/>
          <p:cNvSpPr/>
          <p:nvPr/>
        </p:nvSpPr>
        <p:spPr>
          <a:xfrm>
            <a:off x="640080" y="5897880"/>
            <a:ext cx="10881360" cy="457200"/>
          </a:xfrm>
          <a:prstGeom prst="roundRect">
            <a:avLst/>
          </a:prstGeom>
          <a:solidFill>
            <a:srgbClr val="EDF7ED"/>
          </a:solidFill>
          <a:ln>
            <a:solidFill>
              <a:srgbClr val="A9CBA9"/>
            </a:solidFill>
          </a:ln>
        </p:spPr>
        <p:txBody>
          <a:bodyPr lIns="90000" tIns="70000" rIns="90000" bIns="70000" anchor="top"/>
          <a:lstStyle/>
          <a:p>
            <a:pPr algn="ctr"/>
            <a:r>
              <a:rPr lang="ja-JP" sz="1100" b="1">
                <a:solidFill>
                  <a:srgbClr val="285B34"/>
                </a:solidFill>
                <a:latin typeface="Noto Sans CJK JP"/>
                <a:ea typeface="Noto Sans CJK JP"/>
              </a:rPr>
              <a:t>全体接続図 / SPEC固定範囲内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548640" y="2743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90000" tIns="70000" rIns="90000" bIns="70000" anchor="top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Noto Sans CJK JP"/>
                <a:ea typeface="Noto Sans CJK JP"/>
              </a:rPr>
              <a:t>発電 → 変圧 → 三相電力</a:t>
            </a:r>
          </a:p>
        </p:txBody>
      </p:sp>
      <p:sp>
        <p:nvSpPr>
          <p:cNvPr id="3" name="s3"/>
          <p:cNvSpPr/>
          <p:nvPr/>
        </p:nvSpPr>
        <p:spPr>
          <a:xfrm>
            <a:off x="640080" y="1188720"/>
            <a:ext cx="10881360" cy="4526280"/>
          </a:xfrm>
          <a:prstGeom prst="roundRect">
            <a:avLst/>
          </a:prstGeom>
          <a:solidFill>
            <a:srgbClr val="F8FBFE"/>
          </a:solidFill>
          <a:ln>
            <a:solidFill>
              <a:srgbClr val="CBD5E1"/>
            </a:solidFill>
          </a:ln>
        </p:spPr>
        <p:txBody>
          <a:bodyPr lIns="90000" tIns="70000" rIns="90000" bIns="70000" anchor="top"/>
          <a:lstStyle/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発電：P = ρgQHη　／　E = ρgVH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電力量：W = Pt　／　W = ∫P(t)dt　／　1 Wh = 3600 J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/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変圧器：V₁ / V₂ = N₁ / N₂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平衡三相：P = √3 Vₗ Iₗ cosφ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線路電流：Iₗ = P / (√3 Vₗ cosφ)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/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解法：入力エネルギー → 発電電力・電力量 → 変圧 → 三相量 → 電流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/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R8上 電力 問2：水量・落差・電力量・単位換算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H30 電力 問8：変圧比・三相有効電力・力率</a:t>
            </a:r>
          </a:p>
        </p:txBody>
      </p:sp>
      <p:sp>
        <p:nvSpPr>
          <p:cNvPr id="4" name="s4"/>
          <p:cNvSpPr/>
          <p:nvPr/>
        </p:nvSpPr>
        <p:spPr>
          <a:xfrm>
            <a:off x="640080" y="5897880"/>
            <a:ext cx="10881360" cy="457200"/>
          </a:xfrm>
          <a:prstGeom prst="roundRect">
            <a:avLst/>
          </a:prstGeom>
          <a:solidFill>
            <a:srgbClr val="EDF7ED"/>
          </a:solidFill>
          <a:ln>
            <a:solidFill>
              <a:srgbClr val="A9CBA9"/>
            </a:solidFill>
          </a:ln>
        </p:spPr>
        <p:txBody>
          <a:bodyPr lIns="90000" tIns="70000" rIns="90000" bIns="70000" anchor="top"/>
          <a:lstStyle/>
          <a:p>
            <a:pPr algn="ctr"/>
            <a:r>
              <a:rPr lang="ja-JP" sz="1100" b="1">
                <a:solidFill>
                  <a:srgbClr val="285B34"/>
                </a:solidFill>
                <a:latin typeface="Noto Sans CJK JP"/>
                <a:ea typeface="Noto Sans CJK JP"/>
              </a:rPr>
              <a:t>固定問題接続：2出題回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548640" y="2743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90000" tIns="70000" rIns="90000" bIns="70000" anchor="top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Noto Sans CJK JP"/>
                <a:ea typeface="Noto Sans CJK JP"/>
              </a:rPr>
              <a:t>送電 → 電圧降下・損失 → 短絡・遮断</a:t>
            </a:r>
          </a:p>
        </p:txBody>
      </p:sp>
      <p:sp>
        <p:nvSpPr>
          <p:cNvPr id="3" name="s3"/>
          <p:cNvSpPr/>
          <p:nvPr/>
        </p:nvSpPr>
        <p:spPr>
          <a:xfrm>
            <a:off x="640080" y="1188720"/>
            <a:ext cx="10881360" cy="4526280"/>
          </a:xfrm>
          <a:prstGeom prst="roundRect">
            <a:avLst/>
          </a:prstGeom>
          <a:solidFill>
            <a:srgbClr val="F8FBFE"/>
          </a:solidFill>
          <a:ln>
            <a:solidFill>
              <a:srgbClr val="CBD5E1"/>
            </a:solidFill>
          </a:ln>
        </p:spPr>
        <p:txBody>
          <a:bodyPr lIns="90000" tIns="70000" rIns="90000" bIns="70000" anchor="top"/>
          <a:lstStyle/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通常時：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ΔV ≒ √3 I(R cosφ + X sinφ)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P_loss = 3 I²R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/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事故時：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同一基準容量で %Z_total = %Z₁ + %Z₂ + …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Iₙ = S / (√3 V)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I_sc = Iₙ × 100 / %Z_total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→ 計算した短絡電流を安全に遮断できる定格遮断電流を選ぶ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/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R7下 電力 問16(a)(b)：電圧降下・損失・力率・配電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R7下 電力 問12：%インピーダンス・短絡電流・遮断器</a:t>
            </a:r>
          </a:p>
        </p:txBody>
      </p:sp>
      <p:sp>
        <p:nvSpPr>
          <p:cNvPr id="4" name="s4"/>
          <p:cNvSpPr/>
          <p:nvPr/>
        </p:nvSpPr>
        <p:spPr>
          <a:xfrm>
            <a:off x="640080" y="5897880"/>
            <a:ext cx="10881360" cy="457200"/>
          </a:xfrm>
          <a:prstGeom prst="roundRect">
            <a:avLst/>
          </a:prstGeom>
          <a:solidFill>
            <a:srgbClr val="EDF7ED"/>
          </a:solidFill>
          <a:ln>
            <a:solidFill>
              <a:srgbClr val="A9CBA9"/>
            </a:solidFill>
          </a:ln>
        </p:spPr>
        <p:txBody>
          <a:bodyPr lIns="90000" tIns="70000" rIns="90000" bIns="70000" anchor="top"/>
          <a:lstStyle/>
          <a:p>
            <a:pPr algn="ctr"/>
            <a:r>
              <a:rPr lang="ja-JP" sz="1100" b="1">
                <a:solidFill>
                  <a:srgbClr val="285B34"/>
                </a:solidFill>
                <a:latin typeface="Noto Sans CJK JP"/>
                <a:ea typeface="Noto Sans CJK JP"/>
              </a:rPr>
              <a:t>固定問題接続：3答案要素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548640" y="2743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90000" tIns="70000" rIns="90000" bIns="70000" anchor="top"/>
          <a:lstStyle/>
          <a:p>
            <a:pPr algn="l"/>
            <a:r>
              <a:rPr lang="ja-JP" sz="2600" b="1">
                <a:solidFill>
                  <a:srgbClr val="102A43"/>
                </a:solidFill>
                <a:latin typeface="Noto Sans CJK JP"/>
                <a:ea typeface="Noto Sans CJK JP"/>
              </a:rPr>
              <a:t>回生・電力収支まで一本につなぐ</a:t>
            </a:r>
          </a:p>
        </p:txBody>
      </p:sp>
      <p:sp>
        <p:nvSpPr>
          <p:cNvPr id="3" name="s3"/>
          <p:cNvSpPr/>
          <p:nvPr/>
        </p:nvSpPr>
        <p:spPr>
          <a:xfrm>
            <a:off x="640080" y="1188720"/>
            <a:ext cx="10881360" cy="4526280"/>
          </a:xfrm>
          <a:prstGeom prst="roundRect">
            <a:avLst/>
          </a:prstGeom>
          <a:solidFill>
            <a:srgbClr val="F8FBFE"/>
          </a:solidFill>
          <a:ln>
            <a:solidFill>
              <a:srgbClr val="CBD5E1"/>
            </a:solidFill>
          </a:ln>
        </p:spPr>
        <p:txBody>
          <a:bodyPr lIns="90000" tIns="70000" rIns="90000" bIns="70000" anchor="top"/>
          <a:lstStyle/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Pg &gt; PL：余剰 → 受入可能なら外部へ送電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Pg &lt; PL：不足 → 外部から受電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Pg = PL：正味交換 0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/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Wsend = ∫max(Pg − PL, 0)dt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Wreceive = ∫max(PL − Pg, 0)dt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Wself = Wgen − Wsend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/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総合解法：発生量 → 変圧・三相量 → 電流 → ΔV・損失 → 短絡・遮断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→ 時間変化は面積 → 回生は電力方向を反転 → 最後に単位検算</a:t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/>
            </a:r>
          </a:p>
          <a:p>
            <a:pPr algn="l"/>
            <a:r>
              <a:rPr lang="ja-JP" sz="1450" b="0">
                <a:solidFill>
                  <a:srgbClr val="17324D"/>
                </a:solidFill>
                <a:latin typeface="Noto Sans CJK JP"/>
                <a:ea typeface="Noto Sans CJK JP"/>
              </a:rPr>
              <a:t>R7上 法規 問13(a)(b)：発電・負荷・送受電・自家消費</a:t>
            </a:r>
          </a:p>
        </p:txBody>
      </p:sp>
      <p:sp>
        <p:nvSpPr>
          <p:cNvPr id="4" name="s4"/>
          <p:cNvSpPr/>
          <p:nvPr/>
        </p:nvSpPr>
        <p:spPr>
          <a:xfrm>
            <a:off x="640080" y="5897880"/>
            <a:ext cx="10881360" cy="457200"/>
          </a:xfrm>
          <a:prstGeom prst="roundRect">
            <a:avLst/>
          </a:prstGeom>
          <a:solidFill>
            <a:srgbClr val="EDF7ED"/>
          </a:solidFill>
          <a:ln>
            <a:solidFill>
              <a:srgbClr val="A9CBA9"/>
            </a:solidFill>
          </a:ln>
        </p:spPr>
        <p:txBody>
          <a:bodyPr lIns="90000" tIns="70000" rIns="90000" bIns="70000" anchor="top"/>
          <a:lstStyle/>
          <a:p>
            <a:pPr algn="ctr"/>
            <a:r>
              <a:rPr lang="ja-JP" sz="1100" b="1">
                <a:solidFill>
                  <a:srgbClr val="285B34"/>
                </a:solidFill>
                <a:latin typeface="Noto Sans CJK JP"/>
                <a:ea typeface="Noto Sans CJK JP"/>
              </a:rPr>
              <a:t>固定5出題回・7答案要素の要求事項可視化：7 / 7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3B82F6"/>
      </a:accent1>
      <a:accent2>
        <a:srgbClr val="10B981"/>
      </a:accent2>
      <a:accent3>
        <a:srgbClr val="F59E0B"/>
      </a:accent3>
      <a:accent4>
        <a:srgbClr val="EF4444"/>
      </a:accent4>
      <a:accent5>
        <a:srgbClr val="8B5CF6"/>
      </a:accent5>
      <a:accent6>
        <a:srgbClr val="06B6D4"/>
      </a:accent6>
      <a:hlink>
        <a:srgbClr val="0563C1"/>
      </a:hlink>
      <a:folHlink>
        <a:srgbClr val="954F72"/>
      </a:folHlink>
    </a:clrScheme>
    <a:fontScheme name="Minimal">
      <a:majorFont>
        <a:latin typeface="Noto Sans CJK JP"/>
        <a:ea typeface="Noto Sans CJK JP"/>
        <a:cs typeface="Noto Sans CJK JP"/>
      </a:majorFont>
      <a:minorFont>
        <a:latin typeface="Noto Sans CJK JP"/>
        <a:ea typeface="Noto Sans CJK JP"/>
        <a:cs typeface="Noto Sans CJK JP"/>
      </a:minorFont>
    </a:fontScheme>
    <a:fmtScheme name="Minimal">
      <a:fillStyleLst/>
      <a:lnStyleLst/>
      <a:effectStyleLst/>
      <a:bgFillStyleLst/>
    </a:fmtScheme>
  </a:themeElements>
</a:theme>
</file>