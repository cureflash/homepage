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250000"/>
            <a:ext cx="112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l"/>
            <a:r>
              <a:rPr lang="ja-JP" sz="3000" b="1">
                <a:solidFill>
                  <a:srgbClr val="143D59"/>
                </a:solidFill>
                <a:latin typeface="Yu Gothic"/>
                <a:ea typeface="Yu Gothic"/>
              </a:rPr>
              <a:t>01 新幹線の電気はどこから来る？</a:t>
            </a:r>
            <a:endParaRPr lang="ja-JP" sz="3000"/>
          </a:p>
        </p:txBody>
      </p:sp>
      <p:sp>
        <p:nvSpPr>
          <p:cNvPr id="3" name="Sub"/>
          <p:cNvSpPr txBox="1"/>
          <p:nvPr/>
        </p:nvSpPr>
        <p:spPr>
          <a:xfrm>
            <a:off x="520000" y="880000"/>
            <a:ext cx="112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l"/>
            <a:r>
              <a:rPr lang="ja-JP" sz="1700">
                <a:solidFill>
                  <a:srgbClr val="516170"/>
                </a:solidFill>
                <a:latin typeface="Yu Gothic"/>
                <a:ea typeface="Yu Gothic"/>
              </a:rPr>
              <a:t>発電 → 送電 → 変電 → 需要家、そして鉄道用き電へ</a:t>
            </a:r>
            <a:endParaRPr lang="ja-JP" sz="1700"/>
          </a:p>
        </p:txBody>
      </p:sp>
      <p:sp>
        <p:nvSpPr>
          <p:cNvPr id="4" name="b0"/>
          <p:cNvSpPr/>
          <p:nvPr/>
        </p:nvSpPr>
        <p:spPr>
          <a:xfrm>
            <a:off x="600000" y="1700000"/>
            <a:ext cx="1700000" cy="800000"/>
          </a:xfrm>
          <a:prstGeom prst="roundRect">
            <a:avLst/>
          </a:prstGeom>
          <a:solidFill>
            <a:srgbClr val="F4F7FB"/>
          </a:solidFill>
          <a:ln w="18000">
            <a:solidFill>
              <a:srgbClr val="6B7A90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700">
                <a:solidFill>
                  <a:srgbClr val="202938"/>
                </a:solidFill>
                <a:latin typeface="Yu Gothic"/>
                <a:ea typeface="Yu Gothic"/>
              </a:rPr>
              <a:t>発電所</a:t>
            </a:r>
            <a:endParaRPr lang="ja-JP" sz="1700"/>
          </a:p>
        </p:txBody>
      </p:sp>
      <p:cxnSp>
        <p:nvCxnSpPr>
          <p:cNvPr id="5" name="l0"/>
          <p:cNvCxnSpPr/>
          <p:nvPr/>
        </p:nvCxnSpPr>
        <p:spPr>
          <a:xfrm>
            <a:off x="2300000" y="2100000"/>
            <a:ext cx="500000" cy="1"/>
          </a:xfrm>
          <a:prstGeom prst="line">
            <a:avLst/>
          </a:prstGeom>
          <a:ln w="20000">
            <a:solidFill>
              <a:srgbClr val="6B7A90"/>
            </a:solidFill>
            <a:tailEnd type="none"/>
            <a:headEnd type="triangle"/>
          </a:ln>
        </p:spPr>
      </p:cxnSp>
      <p:sp>
        <p:nvSpPr>
          <p:cNvPr id="6" name="b1"/>
          <p:cNvSpPr/>
          <p:nvPr/>
        </p:nvSpPr>
        <p:spPr>
          <a:xfrm>
            <a:off x="2800000" y="1700000"/>
            <a:ext cx="1700000" cy="800000"/>
          </a:xfrm>
          <a:prstGeom prst="roundRect">
            <a:avLst/>
          </a:prstGeom>
          <a:solidFill>
            <a:srgbClr val="F4F7FB"/>
          </a:solidFill>
          <a:ln w="18000">
            <a:solidFill>
              <a:srgbClr val="6B7A90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700">
                <a:solidFill>
                  <a:srgbClr val="202938"/>
                </a:solidFill>
                <a:latin typeface="Yu Gothic"/>
                <a:ea typeface="Yu Gothic"/>
              </a:rPr>
              <a:t>送電線</a:t>
            </a:r>
            <a:endParaRPr lang="ja-JP" sz="1700"/>
          </a:p>
        </p:txBody>
      </p:sp>
      <p:cxnSp>
        <p:nvCxnSpPr>
          <p:cNvPr id="7" name="l1"/>
          <p:cNvCxnSpPr/>
          <p:nvPr/>
        </p:nvCxnSpPr>
        <p:spPr>
          <a:xfrm>
            <a:off x="4500000" y="2100000"/>
            <a:ext cx="500000" cy="1"/>
          </a:xfrm>
          <a:prstGeom prst="line">
            <a:avLst/>
          </a:prstGeom>
          <a:ln w="20000">
            <a:solidFill>
              <a:srgbClr val="6B7A90"/>
            </a:solidFill>
            <a:tailEnd type="none"/>
            <a:headEnd type="triangle"/>
          </a:ln>
        </p:spPr>
      </p:cxnSp>
      <p:sp>
        <p:nvSpPr>
          <p:cNvPr id="8" name="b2"/>
          <p:cNvSpPr/>
          <p:nvPr/>
        </p:nvSpPr>
        <p:spPr>
          <a:xfrm>
            <a:off x="5000000" y="1700000"/>
            <a:ext cx="1700000" cy="800000"/>
          </a:xfrm>
          <a:prstGeom prst="roundRect">
            <a:avLst/>
          </a:prstGeom>
          <a:solidFill>
            <a:srgbClr val="F4F7FB"/>
          </a:solidFill>
          <a:ln w="18000">
            <a:solidFill>
              <a:srgbClr val="6B7A90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700">
                <a:solidFill>
                  <a:srgbClr val="202938"/>
                </a:solidFill>
                <a:latin typeface="Yu Gothic"/>
                <a:ea typeface="Yu Gothic"/>
              </a:rPr>
              <a:t>変電所</a:t>
            </a:r>
            <a:endParaRPr lang="ja-JP" sz="1700"/>
          </a:p>
        </p:txBody>
      </p:sp>
      <p:cxnSp>
        <p:nvCxnSpPr>
          <p:cNvPr id="9" name="l2"/>
          <p:cNvCxnSpPr/>
          <p:nvPr/>
        </p:nvCxnSpPr>
        <p:spPr>
          <a:xfrm>
            <a:off x="6700000" y="2100000"/>
            <a:ext cx="500000" cy="1"/>
          </a:xfrm>
          <a:prstGeom prst="line">
            <a:avLst/>
          </a:prstGeom>
          <a:ln w="20000">
            <a:solidFill>
              <a:srgbClr val="6B7A90"/>
            </a:solidFill>
            <a:tailEnd type="none"/>
            <a:headEnd type="triangle"/>
          </a:ln>
        </p:spPr>
      </p:cxnSp>
      <p:sp>
        <p:nvSpPr>
          <p:cNvPr id="10" name="b3"/>
          <p:cNvSpPr/>
          <p:nvPr/>
        </p:nvSpPr>
        <p:spPr>
          <a:xfrm>
            <a:off x="7200000" y="1700000"/>
            <a:ext cx="1700000" cy="800000"/>
          </a:xfrm>
          <a:prstGeom prst="roundRect">
            <a:avLst/>
          </a:prstGeom>
          <a:solidFill>
            <a:srgbClr val="F4F7FB"/>
          </a:solidFill>
          <a:ln w="18000">
            <a:solidFill>
              <a:srgbClr val="6B7A90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700">
                <a:solidFill>
                  <a:srgbClr val="202938"/>
                </a:solidFill>
                <a:latin typeface="Yu Gothic"/>
                <a:ea typeface="Yu Gothic"/>
              </a:rPr>
              <a:t>配電系統</a:t>
            </a:r>
            <a:endParaRPr lang="ja-JP" sz="1700"/>
          </a:p>
        </p:txBody>
      </p:sp>
      <p:cxnSp>
        <p:nvCxnSpPr>
          <p:cNvPr id="11" name="l3"/>
          <p:cNvCxnSpPr/>
          <p:nvPr/>
        </p:nvCxnSpPr>
        <p:spPr>
          <a:xfrm>
            <a:off x="8900000" y="2100000"/>
            <a:ext cx="500000" cy="1"/>
          </a:xfrm>
          <a:prstGeom prst="line">
            <a:avLst/>
          </a:prstGeom>
          <a:ln w="20000">
            <a:solidFill>
              <a:srgbClr val="6B7A90"/>
            </a:solidFill>
            <a:tailEnd type="none"/>
            <a:headEnd type="triangle"/>
          </a:ln>
        </p:spPr>
      </p:cxnSp>
      <p:sp>
        <p:nvSpPr>
          <p:cNvPr id="12" name="b4"/>
          <p:cNvSpPr/>
          <p:nvPr/>
        </p:nvSpPr>
        <p:spPr>
          <a:xfrm>
            <a:off x="9400000" y="1700000"/>
            <a:ext cx="1700000" cy="800000"/>
          </a:xfrm>
          <a:prstGeom prst="roundRect">
            <a:avLst/>
          </a:prstGeom>
          <a:solidFill>
            <a:srgbClr val="F4F7FB"/>
          </a:solidFill>
          <a:ln w="18000">
            <a:solidFill>
              <a:srgbClr val="6B7A90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700">
                <a:solidFill>
                  <a:srgbClr val="202938"/>
                </a:solidFill>
                <a:latin typeface="Yu Gothic"/>
                <a:ea typeface="Yu Gothic"/>
              </a:rPr>
              <a:t>需要家</a:t>
            </a:r>
            <a:endParaRPr lang="ja-JP" sz="1700"/>
          </a:p>
        </p:txBody>
      </p:sp>
      <p:sp>
        <p:nvSpPr>
          <p:cNvPr id="13" name="RailLabel"/>
          <p:cNvSpPr txBox="1"/>
          <p:nvPr/>
        </p:nvSpPr>
        <p:spPr>
          <a:xfrm>
            <a:off x="600000" y="3000000"/>
            <a:ext cx="25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l"/>
            <a:r>
              <a:rPr lang="ja-JP" sz="1900" b="1">
                <a:solidFill>
                  <a:srgbClr val="143D59"/>
                </a:solidFill>
                <a:latin typeface="Yu Gothic"/>
                <a:ea typeface="Yu Gothic"/>
              </a:rPr>
              <a:t>新幹線への供給</a:t>
            </a:r>
            <a:endParaRPr lang="ja-JP" sz="1900"/>
          </a:p>
        </p:txBody>
      </p:sp>
      <p:sp>
        <p:nvSpPr>
          <p:cNvPr id="14" name="r0"/>
          <p:cNvSpPr/>
          <p:nvPr/>
        </p:nvSpPr>
        <p:spPr>
          <a:xfrm>
            <a:off x="600000" y="3650000"/>
            <a:ext cx="1450000" cy="760000"/>
          </a:xfrm>
          <a:prstGeom prst="roundRect">
            <a:avLst/>
          </a:prstGeom>
          <a:solidFill>
            <a:srgbClr val="EEF6F4"/>
          </a:solidFill>
          <a:ln w="18000">
            <a:solidFill>
              <a:srgbClr val="387A6B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550">
                <a:solidFill>
                  <a:srgbClr val="202938"/>
                </a:solidFill>
                <a:latin typeface="Yu Gothic"/>
                <a:ea typeface="Yu Gothic"/>
              </a:rPr>
              <a:t>送電線</a:t>
            </a:r>
            <a:endParaRPr lang="ja-JP" sz="1550"/>
          </a:p>
        </p:txBody>
      </p:sp>
      <p:cxnSp>
        <p:nvCxnSpPr>
          <p:cNvPr id="15" name="rl0"/>
          <p:cNvCxnSpPr/>
          <p:nvPr/>
        </p:nvCxnSpPr>
        <p:spPr>
          <a:xfrm>
            <a:off x="2050000" y="4030000"/>
            <a:ext cx="250000" cy="1"/>
          </a:xfrm>
          <a:prstGeom prst="line">
            <a:avLst/>
          </a:prstGeom>
          <a:ln w="20000">
            <a:solidFill>
              <a:srgbClr val="387A6B"/>
            </a:solidFill>
            <a:tailEnd type="none"/>
            <a:headEnd type="triangle"/>
          </a:ln>
        </p:spPr>
      </p:cxnSp>
      <p:sp>
        <p:nvSpPr>
          <p:cNvPr id="16" name="r1"/>
          <p:cNvSpPr/>
          <p:nvPr/>
        </p:nvSpPr>
        <p:spPr>
          <a:xfrm>
            <a:off x="2300000" y="3650000"/>
            <a:ext cx="1700000" cy="760000"/>
          </a:xfrm>
          <a:prstGeom prst="roundRect">
            <a:avLst/>
          </a:prstGeom>
          <a:solidFill>
            <a:srgbClr val="EEF6F4"/>
          </a:solidFill>
          <a:ln w="18000">
            <a:solidFill>
              <a:srgbClr val="387A6B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550" b="1">
                <a:solidFill>
                  <a:srgbClr val="202938"/>
                </a:solidFill>
                <a:latin typeface="Yu Gothic"/>
                <a:ea typeface="Yu Gothic"/>
              </a:rPr>
              <a:t>新幹線変電所</a:t>
            </a:r>
            <a:endParaRPr lang="ja-JP" sz="1550"/>
          </a:p>
        </p:txBody>
      </p:sp>
      <p:cxnSp>
        <p:nvCxnSpPr>
          <p:cNvPr id="17" name="rl1"/>
          <p:cNvCxnSpPr/>
          <p:nvPr/>
        </p:nvCxnSpPr>
        <p:spPr>
          <a:xfrm>
            <a:off x="4000000" y="4030000"/>
            <a:ext cx="200000" cy="1"/>
          </a:xfrm>
          <a:prstGeom prst="line">
            <a:avLst/>
          </a:prstGeom>
          <a:ln w="20000">
            <a:solidFill>
              <a:srgbClr val="387A6B"/>
            </a:solidFill>
            <a:tailEnd type="none"/>
            <a:headEnd type="triangle"/>
          </a:ln>
        </p:spPr>
      </p:cxnSp>
      <p:sp>
        <p:nvSpPr>
          <p:cNvPr id="18" name="r2"/>
          <p:cNvSpPr/>
          <p:nvPr/>
        </p:nvSpPr>
        <p:spPr>
          <a:xfrm>
            <a:off x="4200000" y="3650000"/>
            <a:ext cx="1450000" cy="760000"/>
          </a:xfrm>
          <a:prstGeom prst="roundRect">
            <a:avLst/>
          </a:prstGeom>
          <a:solidFill>
            <a:srgbClr val="EEF6F4"/>
          </a:solidFill>
          <a:ln w="18000">
            <a:solidFill>
              <a:srgbClr val="387A6B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550">
                <a:solidFill>
                  <a:srgbClr val="202938"/>
                </a:solidFill>
                <a:latin typeface="Yu Gothic"/>
                <a:ea typeface="Yu Gothic"/>
              </a:rPr>
              <a:t>き電回路</a:t>
            </a:r>
            <a:endParaRPr lang="ja-JP" sz="1550"/>
          </a:p>
        </p:txBody>
      </p:sp>
      <p:cxnSp>
        <p:nvCxnSpPr>
          <p:cNvPr id="19" name="rl2"/>
          <p:cNvCxnSpPr/>
          <p:nvPr/>
        </p:nvCxnSpPr>
        <p:spPr>
          <a:xfrm>
            <a:off x="5650000" y="4030000"/>
            <a:ext cx="250000" cy="1"/>
          </a:xfrm>
          <a:prstGeom prst="line">
            <a:avLst/>
          </a:prstGeom>
          <a:ln w="20000">
            <a:solidFill>
              <a:srgbClr val="387A6B"/>
            </a:solidFill>
            <a:tailEnd type="none"/>
            <a:headEnd type="triangle"/>
          </a:ln>
        </p:spPr>
      </p:cxnSp>
      <p:sp>
        <p:nvSpPr>
          <p:cNvPr id="20" name="r3"/>
          <p:cNvSpPr/>
          <p:nvPr/>
        </p:nvSpPr>
        <p:spPr>
          <a:xfrm>
            <a:off x="5900000" y="3650000"/>
            <a:ext cx="1450000" cy="760000"/>
          </a:xfrm>
          <a:prstGeom prst="roundRect">
            <a:avLst/>
          </a:prstGeom>
          <a:solidFill>
            <a:srgbClr val="EEF6F4"/>
          </a:solidFill>
          <a:ln w="18000">
            <a:solidFill>
              <a:srgbClr val="387A6B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550">
                <a:solidFill>
                  <a:srgbClr val="202938"/>
                </a:solidFill>
                <a:latin typeface="Yu Gothic"/>
                <a:ea typeface="Yu Gothic"/>
              </a:rPr>
              <a:t>電車線</a:t>
            </a:r>
            <a:endParaRPr lang="ja-JP" sz="1550"/>
          </a:p>
        </p:txBody>
      </p:sp>
      <p:cxnSp>
        <p:nvCxnSpPr>
          <p:cNvPr id="21" name="rl3"/>
          <p:cNvCxnSpPr/>
          <p:nvPr/>
        </p:nvCxnSpPr>
        <p:spPr>
          <a:xfrm>
            <a:off x="7350000" y="4030000"/>
            <a:ext cx="250000" cy="1"/>
          </a:xfrm>
          <a:prstGeom prst="line">
            <a:avLst/>
          </a:prstGeom>
          <a:ln w="20000">
            <a:solidFill>
              <a:srgbClr val="387A6B"/>
            </a:solidFill>
            <a:tailEnd type="none"/>
            <a:headEnd type="triangle"/>
          </a:ln>
        </p:spPr>
      </p:cxnSp>
      <p:sp>
        <p:nvSpPr>
          <p:cNvPr id="22" name="r4"/>
          <p:cNvSpPr/>
          <p:nvPr/>
        </p:nvSpPr>
        <p:spPr>
          <a:xfrm>
            <a:off x="7600000" y="3650000"/>
            <a:ext cx="1450000" cy="760000"/>
          </a:xfrm>
          <a:prstGeom prst="roundRect">
            <a:avLst/>
          </a:prstGeom>
          <a:solidFill>
            <a:srgbClr val="EEF6F4"/>
          </a:solidFill>
          <a:ln w="18000">
            <a:solidFill>
              <a:srgbClr val="387A6B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550">
                <a:solidFill>
                  <a:srgbClr val="202938"/>
                </a:solidFill>
                <a:latin typeface="Yu Gothic"/>
                <a:ea typeface="Yu Gothic"/>
              </a:rPr>
              <a:t>パンタグラフ</a:t>
            </a:r>
            <a:endParaRPr lang="ja-JP" sz="1550"/>
          </a:p>
        </p:txBody>
      </p:sp>
      <p:cxnSp>
        <p:nvCxnSpPr>
          <p:cNvPr id="23" name="rl4"/>
          <p:cNvCxnSpPr/>
          <p:nvPr/>
        </p:nvCxnSpPr>
        <p:spPr>
          <a:xfrm>
            <a:off x="9050000" y="4030000"/>
            <a:ext cx="450000" cy="1"/>
          </a:xfrm>
          <a:prstGeom prst="line">
            <a:avLst/>
          </a:prstGeom>
          <a:ln w="20000">
            <a:solidFill>
              <a:srgbClr val="387A6B"/>
            </a:solidFill>
            <a:tailEnd type="none"/>
            <a:headEnd type="triangle"/>
          </a:ln>
        </p:spPr>
      </p:cxnSp>
      <p:sp>
        <p:nvSpPr>
          <p:cNvPr id="24" name="r5"/>
          <p:cNvSpPr/>
          <p:nvPr/>
        </p:nvSpPr>
        <p:spPr>
          <a:xfrm>
            <a:off x="9500000" y="3650000"/>
            <a:ext cx="1450000" cy="760000"/>
          </a:xfrm>
          <a:prstGeom prst="roundRect">
            <a:avLst/>
          </a:prstGeom>
          <a:solidFill>
            <a:srgbClr val="EEF6F4"/>
          </a:solidFill>
          <a:ln w="18000">
            <a:solidFill>
              <a:srgbClr val="387A6B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550">
                <a:solidFill>
                  <a:srgbClr val="202938"/>
                </a:solidFill>
                <a:latin typeface="Yu Gothic"/>
                <a:ea typeface="Yu Gothic"/>
              </a:rPr>
              <a:t>新幹線</a:t>
            </a:r>
            <a:endParaRPr lang="ja-JP" sz="1550"/>
          </a:p>
        </p:txBody>
      </p:sp>
      <p:sp>
        <p:nvSpPr>
          <p:cNvPr id="25" name="Note"/>
          <p:cNvSpPr txBox="1"/>
          <p:nvPr/>
        </p:nvSpPr>
        <p:spPr>
          <a:xfrm>
            <a:off x="650000" y="5050000"/>
            <a:ext cx="10900000" cy="95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l"/>
            <a:r>
              <a:rPr lang="ja-JP" sz="1700">
                <a:solidFill>
                  <a:srgbClr val="303A46"/>
                </a:solidFill>
                <a:latin typeface="Yu Gothic"/>
                <a:ea typeface="Yu Gothic"/>
              </a:rPr>
              <a:t>一般系統は三相交流が基本。鉄道側では変電・き電設備を経て単相交流25 kVを電車線へ供給する。</a:t>
            </a:r>
            <a:endParaRPr lang="ja-JP" sz="1700"/>
          </a:p>
          <a:p>
            <a:pPr algn="l"/>
            <a:r>
              <a:rPr lang="ja-JP" sz="1700">
                <a:solidFill>
                  <a:srgbClr val="303A46"/>
                </a:solidFill>
                <a:latin typeface="Yu Gothic"/>
                <a:ea typeface="Yu Gothic"/>
              </a:rPr>
              <a:t>Topic 01では全体の地図を押さえ、結線・保護・電圧降下の詳細は後続Topicへ送る。</a:t>
            </a:r>
            <a:endParaRPr lang="ja-JP"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250000"/>
            <a:ext cx="112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l"/>
            <a:r>
              <a:rPr lang="ja-JP" sz="3000" b="1">
                <a:solidFill>
                  <a:srgbClr val="143D59"/>
                </a:solidFill>
                <a:latin typeface="Yu Gothic"/>
                <a:ea typeface="Yu Gothic"/>
              </a:rPr>
              <a:t>三相交流と新幹線の単相25 kV</a:t>
            </a:r>
            <a:endParaRPr lang="ja-JP" sz="3000"/>
          </a:p>
        </p:txBody>
      </p:sp>
      <p:sp>
        <p:nvSpPr>
          <p:cNvPr id="3" name="gen"/>
          <p:cNvSpPr/>
          <p:nvPr/>
        </p:nvSpPr>
        <p:spPr>
          <a:xfrm>
            <a:off x="700000" y="1450000"/>
            <a:ext cx="2900000" cy="1150000"/>
          </a:xfrm>
          <a:prstGeom prst="roundRect">
            <a:avLst/>
          </a:prstGeom>
          <a:solidFill>
            <a:srgbClr val="EFF4FA"/>
          </a:solidFill>
          <a:ln w="18000">
            <a:solidFill>
              <a:srgbClr val="3E6C9E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2050" b="1">
                <a:solidFill>
                  <a:srgbClr val="202938"/>
                </a:solidFill>
                <a:latin typeface="Yu Gothic"/>
                <a:ea typeface="Yu Gothic"/>
              </a:rPr>
              <a:t>一般の発電・送配電</a:t>
            </a:r>
            <a:endParaRPr lang="ja-JP" sz="2050"/>
          </a:p>
          <a:p>
            <a:pPr algn="ctr"/>
            <a:r>
              <a:rPr lang="ja-JP" sz="2050" b="1">
                <a:solidFill>
                  <a:srgbClr val="202938"/>
                </a:solidFill>
                <a:latin typeface="Yu Gothic"/>
                <a:ea typeface="Yu Gothic"/>
              </a:rPr>
              <a:t>三相交流</a:t>
            </a:r>
            <a:endParaRPr lang="ja-JP" sz="2050"/>
          </a:p>
        </p:txBody>
      </p:sp>
      <p:cxnSp>
        <p:nvCxnSpPr>
          <p:cNvPr id="4" name="a1"/>
          <p:cNvCxnSpPr/>
          <p:nvPr/>
        </p:nvCxnSpPr>
        <p:spPr>
          <a:xfrm>
            <a:off x="3600000" y="2020000"/>
            <a:ext cx="1400000" cy="1"/>
          </a:xfrm>
          <a:prstGeom prst="line">
            <a:avLst/>
          </a:prstGeom>
          <a:ln w="20000">
            <a:solidFill>
              <a:srgbClr val="53697D"/>
            </a:solidFill>
            <a:tailEnd type="none"/>
            <a:headEnd type="triangle"/>
          </a:ln>
        </p:spPr>
      </p:cxnSp>
      <p:sp>
        <p:nvSpPr>
          <p:cNvPr id="5" name="convert"/>
          <p:cNvSpPr/>
          <p:nvPr/>
        </p:nvSpPr>
        <p:spPr>
          <a:xfrm>
            <a:off x="5000000" y="1450000"/>
            <a:ext cx="2400000" cy="1150000"/>
          </a:xfrm>
          <a:prstGeom prst="roundRect">
            <a:avLst/>
          </a:prstGeom>
          <a:solidFill>
            <a:srgbClr val="F4F7FB"/>
          </a:solidFill>
          <a:ln w="18000">
            <a:solidFill>
              <a:srgbClr val="53697D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950" b="1">
                <a:solidFill>
                  <a:srgbClr val="202938"/>
                </a:solidFill>
                <a:latin typeface="Yu Gothic"/>
                <a:ea typeface="Yu Gothic"/>
              </a:rPr>
              <a:t>変電・き電設備</a:t>
            </a:r>
            <a:endParaRPr lang="ja-JP" sz="1950"/>
          </a:p>
        </p:txBody>
      </p:sp>
      <p:cxnSp>
        <p:nvCxnSpPr>
          <p:cNvPr id="6" name="a2"/>
          <p:cNvCxnSpPr/>
          <p:nvPr/>
        </p:nvCxnSpPr>
        <p:spPr>
          <a:xfrm>
            <a:off x="7400000" y="2020000"/>
            <a:ext cx="1400000" cy="1"/>
          </a:xfrm>
          <a:prstGeom prst="line">
            <a:avLst/>
          </a:prstGeom>
          <a:ln w="20000">
            <a:solidFill>
              <a:srgbClr val="53697D"/>
            </a:solidFill>
            <a:tailEnd type="none"/>
            <a:headEnd type="triangle"/>
          </a:ln>
        </p:spPr>
      </p:cxnSp>
      <p:sp>
        <p:nvSpPr>
          <p:cNvPr id="7" name="rail"/>
          <p:cNvSpPr/>
          <p:nvPr/>
        </p:nvSpPr>
        <p:spPr>
          <a:xfrm>
            <a:off x="8800000" y="1450000"/>
            <a:ext cx="2700000" cy="1150000"/>
          </a:xfrm>
          <a:prstGeom prst="roundRect">
            <a:avLst/>
          </a:prstGeom>
          <a:solidFill>
            <a:srgbClr val="EEF6F4"/>
          </a:solidFill>
          <a:ln w="18000">
            <a:solidFill>
              <a:srgbClr val="387A6B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2000" b="1">
                <a:solidFill>
                  <a:srgbClr val="202938"/>
                </a:solidFill>
                <a:latin typeface="Yu Gothic"/>
                <a:ea typeface="Yu Gothic"/>
              </a:rPr>
              <a:t>鉄道側</a:t>
            </a:r>
            <a:endParaRPr lang="ja-JP" sz="2000"/>
          </a:p>
          <a:p>
            <a:pPr algn="ctr"/>
            <a:r>
              <a:rPr lang="ja-JP" sz="2000" b="1">
                <a:solidFill>
                  <a:srgbClr val="202938"/>
                </a:solidFill>
                <a:latin typeface="Yu Gothic"/>
                <a:ea typeface="Yu Gothic"/>
              </a:rPr>
              <a:t>単相交流25 kV</a:t>
            </a:r>
            <a:endParaRPr lang="ja-JP" sz="2000"/>
          </a:p>
        </p:txBody>
      </p:sp>
      <p:sp>
        <p:nvSpPr>
          <p:cNvPr id="8" name="conduct"/>
          <p:cNvSpPr txBox="1"/>
          <p:nvPr/>
        </p:nvSpPr>
        <p:spPr>
          <a:xfrm>
            <a:off x="750000" y="3300000"/>
            <a:ext cx="106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ctr"/>
            <a:r>
              <a:rPr lang="ja-JP" sz="1700" b="1">
                <a:solidFill>
                  <a:srgbClr val="303A46"/>
                </a:solidFill>
                <a:latin typeface="Yu Gothic"/>
                <a:ea typeface="Yu Gothic"/>
              </a:rPr>
              <a:t>同一材料・線間電圧・送電電力・距離・力率・損失で比較</a:t>
            </a:r>
            <a:endParaRPr lang="ja-JP" sz="1700"/>
          </a:p>
        </p:txBody>
      </p:sp>
      <p:sp>
        <p:nvSpPr>
          <p:cNvPr id="9" name="one"/>
          <p:cNvSpPr/>
          <p:nvPr/>
        </p:nvSpPr>
        <p:spPr>
          <a:xfrm>
            <a:off x="950000" y="4050000"/>
            <a:ext cx="3900000" cy="1250000"/>
          </a:xfrm>
          <a:prstGeom prst="roundRect">
            <a:avLst/>
          </a:prstGeom>
          <a:solidFill>
            <a:srgbClr val="F8F4E8"/>
          </a:solidFill>
          <a:ln w="18000">
            <a:solidFill>
              <a:srgbClr val="A47C25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850">
                <a:solidFill>
                  <a:srgbClr val="202938"/>
                </a:solidFill>
                <a:latin typeface="Yu Gothic"/>
                <a:ea typeface="Yu Gothic"/>
              </a:rPr>
              <a:t>単相2線式</a:t>
            </a:r>
            <a:endParaRPr lang="ja-JP" sz="1850"/>
          </a:p>
          <a:p>
            <a:pPr algn="ctr"/>
            <a:r>
              <a:rPr lang="ja-JP" sz="1850">
                <a:solidFill>
                  <a:srgbClr val="202938"/>
                </a:solidFill>
                <a:latin typeface="Yu Gothic"/>
                <a:ea typeface="Yu Gothic"/>
              </a:rPr>
              <a:t>P_loss ∝ 2I₁²/A₁</a:t>
            </a:r>
            <a:endParaRPr lang="ja-JP" sz="1850"/>
          </a:p>
        </p:txBody>
      </p:sp>
      <p:sp>
        <p:nvSpPr>
          <p:cNvPr id="10" name="tri"/>
          <p:cNvSpPr/>
          <p:nvPr/>
        </p:nvSpPr>
        <p:spPr>
          <a:xfrm>
            <a:off x="7350000" y="4050000"/>
            <a:ext cx="3900000" cy="1250000"/>
          </a:xfrm>
          <a:prstGeom prst="roundRect">
            <a:avLst/>
          </a:prstGeom>
          <a:solidFill>
            <a:srgbClr val="EFF4FA"/>
          </a:solidFill>
          <a:ln w="18000">
            <a:solidFill>
              <a:srgbClr val="3E6C9E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1700">
                <a:solidFill>
                  <a:srgbClr val="202938"/>
                </a:solidFill>
                <a:latin typeface="Yu Gothic"/>
                <a:ea typeface="Yu Gothic"/>
              </a:rPr>
              <a:t>三相3線式</a:t>
            </a:r>
            <a:endParaRPr lang="ja-JP" sz="1700"/>
          </a:p>
          <a:p>
            <a:pPr algn="ctr"/>
            <a:r>
              <a:rPr lang="ja-JP" sz="1700">
                <a:solidFill>
                  <a:srgbClr val="202938"/>
                </a:solidFill>
                <a:latin typeface="Yu Gothic"/>
                <a:ea typeface="Yu Gothic"/>
              </a:rPr>
              <a:t>I₃=I₁/√3,  P_loss ∝ 3I₃²/A₃</a:t>
            </a:r>
            <a:endParaRPr lang="ja-JP" sz="1700"/>
          </a:p>
        </p:txBody>
      </p:sp>
      <p:sp>
        <p:nvSpPr>
          <p:cNvPr id="11" name="ratio"/>
          <p:cNvSpPr txBox="1"/>
          <p:nvPr/>
        </p:nvSpPr>
        <p:spPr>
          <a:xfrm>
            <a:off x="4500000" y="4450000"/>
            <a:ext cx="2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ctr"/>
            <a:r>
              <a:rPr lang="ja-JP" sz="1950" b="1">
                <a:solidFill>
                  <a:srgbClr val="143D59"/>
                </a:solidFill>
                <a:latin typeface="Yu Gothic"/>
                <a:ea typeface="Yu Gothic"/>
              </a:rPr>
              <a:t>A₃=A₁/2</a:t>
            </a:r>
            <a:endParaRPr lang="ja-JP" sz="1950"/>
          </a:p>
          <a:p>
            <a:pPr algn="ctr"/>
            <a:r>
              <a:rPr lang="ja-JP" sz="1950" b="1">
                <a:solidFill>
                  <a:srgbClr val="143D59"/>
                </a:solidFill>
                <a:latin typeface="Yu Gothic"/>
                <a:ea typeface="Yu Gothic"/>
              </a:rPr>
              <a:t>総導体量比 = 3/4</a:t>
            </a:r>
            <a:endParaRPr lang="ja-JP" sz="19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250000"/>
            <a:ext cx="112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l"/>
            <a:r>
              <a:rPr lang="ja-JP" sz="3000" b="1">
                <a:solidFill>
                  <a:srgbClr val="143D59"/>
                </a:solidFill>
                <a:latin typeface="Yu Gothic"/>
                <a:ea typeface="Yu Gothic"/>
              </a:rPr>
              <a:t>変電所の4役割と過去問への接続</a:t>
            </a:r>
            <a:endParaRPr lang="ja-JP" sz="3000"/>
          </a:p>
        </p:txBody>
      </p:sp>
      <p:sp>
        <p:nvSpPr>
          <p:cNvPr id="3" name="昇降圧"/>
          <p:cNvSpPr/>
          <p:nvPr/>
        </p:nvSpPr>
        <p:spPr>
          <a:xfrm>
            <a:off x="650000" y="1350000"/>
            <a:ext cx="3000000" cy="850000"/>
          </a:xfrm>
          <a:prstGeom prst="roundRect">
            <a:avLst/>
          </a:prstGeom>
          <a:solidFill>
            <a:srgbClr val="EAF2F8"/>
          </a:solidFill>
          <a:ln w="18000">
            <a:solidFill>
              <a:srgbClr val="3E6C9E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2050" b="1">
                <a:solidFill>
                  <a:srgbClr val="202938"/>
                </a:solidFill>
                <a:latin typeface="Yu Gothic"/>
                <a:ea typeface="Yu Gothic"/>
              </a:rPr>
              <a:t>昇降圧</a:t>
            </a:r>
            <a:endParaRPr lang="ja-JP" sz="2050"/>
          </a:p>
        </p:txBody>
      </p:sp>
      <p:sp>
        <p:nvSpPr>
          <p:cNvPr id="4" name="昇降圧d"/>
          <p:cNvSpPr txBox="1"/>
          <p:nvPr/>
        </p:nvSpPr>
        <p:spPr>
          <a:xfrm>
            <a:off x="3900000" y="1400000"/>
            <a:ext cx="7300000" cy="74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l"/>
            <a:r>
              <a:rPr lang="ja-JP" sz="1650">
                <a:solidFill>
                  <a:srgbClr val="303A46"/>
                </a:solidFill>
                <a:latin typeface="Yu Gothic"/>
                <a:ea typeface="Yu Gothic"/>
              </a:rPr>
              <a:t>送電に適した電圧へ上げ、需要側で下げる</a:t>
            </a:r>
            <a:endParaRPr lang="ja-JP" sz="1650"/>
          </a:p>
        </p:txBody>
      </p:sp>
      <p:sp>
        <p:nvSpPr>
          <p:cNvPr id="5" name="電圧調整"/>
          <p:cNvSpPr/>
          <p:nvPr/>
        </p:nvSpPr>
        <p:spPr>
          <a:xfrm>
            <a:off x="650000" y="2500000"/>
            <a:ext cx="3000000" cy="850000"/>
          </a:xfrm>
          <a:prstGeom prst="roundRect">
            <a:avLst/>
          </a:prstGeom>
          <a:solidFill>
            <a:srgbClr val="EFF6EC"/>
          </a:solidFill>
          <a:ln w="18000">
            <a:solidFill>
              <a:srgbClr val="568A48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2050" b="1">
                <a:solidFill>
                  <a:srgbClr val="202938"/>
                </a:solidFill>
                <a:latin typeface="Yu Gothic"/>
                <a:ea typeface="Yu Gothic"/>
              </a:rPr>
              <a:t>電圧調整</a:t>
            </a:r>
            <a:endParaRPr lang="ja-JP" sz="2050"/>
          </a:p>
        </p:txBody>
      </p:sp>
      <p:sp>
        <p:nvSpPr>
          <p:cNvPr id="6" name="電圧調整d"/>
          <p:cNvSpPr txBox="1"/>
          <p:nvPr/>
        </p:nvSpPr>
        <p:spPr>
          <a:xfrm>
            <a:off x="3900000" y="2550000"/>
            <a:ext cx="7300000" cy="74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l"/>
            <a:r>
              <a:rPr lang="ja-JP" sz="1650">
                <a:solidFill>
                  <a:srgbClr val="303A46"/>
                </a:solidFill>
                <a:latin typeface="Yu Gothic"/>
                <a:ea typeface="Yu Gothic"/>
              </a:rPr>
              <a:t>変圧器タップ・調相設備などで系統電圧を保つ</a:t>
            </a:r>
            <a:endParaRPr lang="ja-JP" sz="1650"/>
          </a:p>
        </p:txBody>
      </p:sp>
      <p:sp>
        <p:nvSpPr>
          <p:cNvPr id="7" name="系統切換え"/>
          <p:cNvSpPr/>
          <p:nvPr/>
        </p:nvSpPr>
        <p:spPr>
          <a:xfrm>
            <a:off x="650000" y="3650000"/>
            <a:ext cx="3000000" cy="850000"/>
          </a:xfrm>
          <a:prstGeom prst="roundRect">
            <a:avLst/>
          </a:prstGeom>
          <a:solidFill>
            <a:srgbClr val="FFF5E6"/>
          </a:solidFill>
          <a:ln w="18000">
            <a:solidFill>
              <a:srgbClr val="A47C25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2050" b="1">
                <a:solidFill>
                  <a:srgbClr val="202938"/>
                </a:solidFill>
                <a:latin typeface="Yu Gothic"/>
                <a:ea typeface="Yu Gothic"/>
              </a:rPr>
              <a:t>系統切換え</a:t>
            </a:r>
            <a:endParaRPr lang="ja-JP" sz="2050"/>
          </a:p>
        </p:txBody>
      </p:sp>
      <p:sp>
        <p:nvSpPr>
          <p:cNvPr id="8" name="系統切換えd"/>
          <p:cNvSpPr txBox="1"/>
          <p:nvPr/>
        </p:nvSpPr>
        <p:spPr>
          <a:xfrm>
            <a:off x="3900000" y="3700000"/>
            <a:ext cx="7300000" cy="74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l"/>
            <a:r>
              <a:rPr lang="ja-JP" sz="1650">
                <a:solidFill>
                  <a:srgbClr val="303A46"/>
                </a:solidFill>
                <a:latin typeface="Yu Gothic"/>
                <a:ea typeface="Yu Gothic"/>
              </a:rPr>
              <a:t>開閉装置で回線構成を変更し、潮流を調整</a:t>
            </a:r>
            <a:endParaRPr lang="ja-JP" sz="1650"/>
          </a:p>
        </p:txBody>
      </p:sp>
      <p:sp>
        <p:nvSpPr>
          <p:cNvPr id="9" name="系統保護"/>
          <p:cNvSpPr/>
          <p:nvPr/>
        </p:nvSpPr>
        <p:spPr>
          <a:xfrm>
            <a:off x="650000" y="4800000"/>
            <a:ext cx="3000000" cy="850000"/>
          </a:xfrm>
          <a:prstGeom prst="roundRect">
            <a:avLst/>
          </a:prstGeom>
          <a:solidFill>
            <a:srgbClr val="F8EEEE"/>
          </a:solidFill>
          <a:ln w="18000">
            <a:solidFill>
              <a:srgbClr val="9A4D4D"/>
            </a:solidFill>
          </a:ln>
        </p:spPr>
        <p:txBody>
          <a:bodyPr anchor="ctr" wrap="square" lIns="35000" rIns="35000"/>
          <a:lstStyle/>
          <a:p>
            <a:pPr algn="ctr"/>
            <a:r>
              <a:rPr lang="ja-JP" sz="2050" b="1">
                <a:solidFill>
                  <a:srgbClr val="202938"/>
                </a:solidFill>
                <a:latin typeface="Yu Gothic"/>
                <a:ea typeface="Yu Gothic"/>
              </a:rPr>
              <a:t>系統保護</a:t>
            </a:r>
            <a:endParaRPr lang="ja-JP" sz="2050"/>
          </a:p>
        </p:txBody>
      </p:sp>
      <p:sp>
        <p:nvSpPr>
          <p:cNvPr id="10" name="系統保護d"/>
          <p:cNvSpPr txBox="1"/>
          <p:nvPr/>
        </p:nvSpPr>
        <p:spPr>
          <a:xfrm>
            <a:off x="3900000" y="4850000"/>
            <a:ext cx="7300000" cy="74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l"/>
            <a:r>
              <a:rPr lang="ja-JP" sz="1650">
                <a:solidFill>
                  <a:srgbClr val="303A46"/>
                </a:solidFill>
                <a:latin typeface="Yu Gothic"/>
                <a:ea typeface="Yu Gothic"/>
              </a:rPr>
              <a:t>短絡・地絡時に事故回線を切り離す</a:t>
            </a:r>
            <a:endParaRPr lang="ja-JP" sz="1650"/>
          </a:p>
        </p:txBody>
      </p:sp>
      <p:sp>
        <p:nvSpPr>
          <p:cNvPr id="11" name="Exam"/>
          <p:cNvSpPr txBox="1"/>
          <p:nvPr/>
        </p:nvSpPr>
        <p:spPr>
          <a:xfrm>
            <a:off x="7600000" y="5750000"/>
            <a:ext cx="390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20000" rIns="40000" bIns="20000"/>
          <a:lstStyle/>
          <a:p>
            <a:pPr algn="r"/>
            <a:r>
              <a:rPr lang="ja-JP" sz="1350">
                <a:solidFill>
                  <a:srgbClr val="516170"/>
                </a:solidFill>
                <a:latin typeface="Yu Gothic"/>
                <a:ea typeface="Yu Gothic"/>
              </a:rPr>
              <a:t>選定5問：R7上13 / R6下12 / R6上11 / R4上8 / R1-7</a:t>
            </a:r>
            <a:endParaRPr lang="ja-JP" sz="1350"/>
          </a:p>
        </p:txBody>
      </p:sp>
    </p:spTree>
  </p:cSld>
  <p:clrMapOvr>
    <a:masterClrMapping/>
  </p:clrMapOvr>
</p:sld>
</file>