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1695" cy="6858000" type="screen16x9"/>
  <p:notesSz cx="6858000" cy="9144000"/>
  <p:defaultTextStyle>
    <a:defPPr/>
    <a:lvl1pPr>
      <a:defRPr lang="ja-JP"/>
    </a:lvl1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>
        <a:defRPr sz="2600"/>
      </a:lvl1pPr>
    </p:titleStyle>
    <p:bodyStyle>
      <a:lvl1pPr>
        <a:defRPr sz="1600"/>
      </a:lvl1pPr>
    </p:bodyStyle>
    <p:otherStyle>
      <a:defPPr/>
      <a:lvl1pPr>
        <a:defRPr/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84048"/>
            <a:ext cx="91440" cy="603504"/>
          </a:xfrm>
          <a:prstGeom prst="rect">
            <a:avLst/>
          </a:prstGeom>
          <a:solidFill>
            <a:srgbClr val="19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250"/>
                </a:solidFill>
                <a:latin typeface="Noto Sans CJK JP"/>
              </a:defRPr>
            </a:pPr>
            <a:r>
              <a:t>1 配電の流れと単相三線式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2DCE6"/>
            </a:solidFill>
          </a:ln>
        </p:spPr>
        <p:txBody>
          <a:bodyPr wrap="square" lIns="182880" rIns="182880" tIns="146304" bIns="109728">
            <a:spAutoFit/>
          </a:bodyPr>
          <a:lstStyle/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高圧配電 → 配電変圧器 → 低圧配電 → 駅・トンネル等の負荷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理想変圧器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V1/V2 = N1/N2　　I1/I2 = N2/N1　　V1I1 = V2I2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単相三線式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上側 +V0 ─── 負荷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中性線  0  ─── 負荷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下側 −V0 ─── 負荷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線－中性線 = V0　／　線－線 = 2V0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平衡: 中性線電流0　不平衡: 差電流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84048"/>
            <a:ext cx="91440" cy="603504"/>
          </a:xfrm>
          <a:prstGeom prst="rect">
            <a:avLst/>
          </a:prstGeom>
          <a:solidFill>
            <a:srgbClr val="19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250"/>
                </a:solidFill>
                <a:latin typeface="Noto Sans CJK JP"/>
              </a:defRPr>
            </a:pPr>
            <a:r>
              <a:t>2 単相三線式の電圧降下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2DCE6"/>
            </a:solidFill>
          </a:ln>
        </p:spPr>
        <p:txBody>
          <a:bodyPr wrap="square" lIns="182880" rIns="182880" tIns="146304" bIns="109728">
            <a:spAutoFit/>
          </a:bodyPr>
          <a:lstStyle/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解法: 電流方向 → 各線IR → 点電位 → 負荷端電圧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IN = IA − IB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VA′ = V0 − IA RA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VN′ = IN RN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VB′ = −V0 + IB RB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VA′N′ = V0 − IA RA − IN RN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VN′B′ = V0 − IB RB + IN RN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学習用仮定値: IA=40 A, IB=30 A, R=0.05 Ω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→ IN=10 A, 負荷端 97.5 V / 99.0 V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中性線断線 + 不平衡負荷 → 負荷電圧が偏る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84048"/>
            <a:ext cx="91440" cy="603504"/>
          </a:xfrm>
          <a:prstGeom prst="rect">
            <a:avLst/>
          </a:prstGeom>
          <a:solidFill>
            <a:srgbClr val="19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250"/>
                </a:solidFill>
                <a:latin typeface="Noto Sans CJK JP"/>
              </a:defRPr>
            </a:pPr>
            <a:r>
              <a:t>3 三相三線式・地中ケーブル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2DCE6"/>
            </a:solidFill>
          </a:ln>
        </p:spPr>
        <p:txBody>
          <a:bodyPr wrap="square" lIns="182880" rIns="182880" tIns="146304" bIns="109728">
            <a:spAutoFit/>
          </a:bodyPr>
          <a:lstStyle/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三相三線式（平衡・リアクタンス無視・力率1）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R = ρl/A　→　ΔV = (√3) I R　→　Vr = Vs − ΔV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許容降下から: Rmax = ΔVmax / ((√3) I)　→　Amin = ρl/Rmax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ρ[Ω・mm²/m]ならA[mm²]。lを根拠なく2倍しない。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CVケーブル = 架橋ポリエチレン絶縁 + ビニルシース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直接埋設式: 構造が単純／交換・増設は容易でない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管路式: 予備管路があれば交換・増設しやすい／放熱は条件依存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暗きょ式: 点検・保守・増設しやすい／建設規模大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I²R発熱 ↔ 放熱。放熱しにくいほど許容電流は小さくなる方向。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84048"/>
            <a:ext cx="91440" cy="603504"/>
          </a:xfrm>
          <a:prstGeom prst="rect">
            <a:avLst/>
          </a:prstGeom>
          <a:solidFill>
            <a:srgbClr val="19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250"/>
                </a:solidFill>
                <a:latin typeface="Noto Sans CJK JP"/>
              </a:defRPr>
            </a:pPr>
            <a:r>
              <a:t>4 固定過去問5問・6答案要素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2DCE6"/>
            </a:solidFill>
          </a:ln>
        </p:spPr>
        <p:txBody>
          <a:bodyPr wrap="square" lIns="182880" rIns="182880" tIns="146304" bIns="109728">
            <a:spAutoFit/>
          </a:bodyPr>
          <a:lstStyle/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R8上 電力 問13 → Slide 1・2: 単相三線式／配電変圧器／負荷端電圧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R7下 電力 問10 → Slide 3: 地中布設3方式／放熱／許容電流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R3 電力 問12 → Slide 1・2: 2種類の電圧／平衡・不平衡／中性線断線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H23 電力 問9 → Slide 1・2: 電流整理／IR降下／一次電流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H20 電力 問17(a) → Slide 3: R=ρl/A／ΔV=(√3)IR／受電端電圧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H20 電力 問17(b) → Slide 3: 許容ΔV／Rmax／Amin／断面積逆算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要求事項可視化: 6 / 6 PASS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SPEC固定範囲外追加: 0件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追加しない: バランサ、詳細ケーブル損失、OF/CVT比較、保護・接地、</a:t>
            </a:r>
          </a:p>
          <a:p>
            <a:pPr>
              <a:spcAft>
                <a:spcPts val="600"/>
              </a:spcAft>
              <a:defRPr sz="1600">
                <a:latin typeface="Noto Sans CJK JP"/>
              </a:defRPr>
            </a:pPr>
            <a:r>
              <a:t>配電自動化、Topic 15の回生・蓄電・電力融通、未確認実設備値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