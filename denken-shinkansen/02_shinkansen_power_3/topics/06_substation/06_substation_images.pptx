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  <p:sldId id="259" r:id="rId4"/>
  </p:sldIdLst>
  <p:sldSz cx="12192000" cy="6858000"/>
  <p:notesSz cx="6858000" cy="9144000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0000" y="250000"/>
            <a:ext cx="11300000" cy="50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/>
          <a:lstStyle/>
          <a:p>
            <a:r>
              <a:rPr lang="ja-JP" sz="2600" b="1">
                <a:solidFill>
                  <a:srgbClr val="17324D"/>
                </a:solidFill>
                <a:latin typeface="Noto Sans CJK JP"/>
                <a:ea typeface="Noto Sans CJK JP"/>
              </a:rPr>
              <a:t>01  275kV側から交流25kV側へ</a:t>
            </a:r>
            <a:endParaRPr lang="ja-JP" sz="2600"/>
          </a:p>
        </p:txBody>
      </p:sp>
      <p:sp>
        <p:nvSpPr>
          <p:cNvPr id="3" name="Text 3"/>
          <p:cNvSpPr txBox="1"/>
          <p:nvPr/>
        </p:nvSpPr>
        <p:spPr>
          <a:xfrm>
            <a:off x="450000" y="780000"/>
            <a:ext cx="11300000" cy="35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/>
          <a:lstStyle/>
          <a:p>
            <a:r>
              <a:rPr lang="ja-JP" sz="1300" b="0">
                <a:solidFill>
                  <a:srgbClr val="667785"/>
                </a:solidFill>
                <a:latin typeface="Noto Sans CJK JP"/>
                <a:ea typeface="Noto Sans CJK JP"/>
              </a:rPr>
              <a:t>受電電圧とき電電圧を分け、各機器を「何をする装置か」で読む</a:t>
            </a:r>
            <a:endParaRPr lang="ja-JP" sz="1300"/>
          </a:p>
        </p:txBody>
      </p:sp>
      <p:sp>
        <p:nvSpPr>
          <p:cNvPr id="4" name="Box 4"/>
          <p:cNvSpPr/>
          <p:nvPr/>
        </p:nvSpPr>
        <p:spPr>
          <a:xfrm>
            <a:off x="500000" y="1550000"/>
            <a:ext cx="1900000" cy="1100000"/>
          </a:xfrm>
          <a:prstGeom prst="roundRect">
            <a:avLst/>
          </a:prstGeom>
          <a:solidFill>
            <a:srgbClr val="DDEFFC"/>
          </a:solidFill>
          <a:ln w="12700">
            <a:solidFill>
              <a:srgbClr val="6BA7D6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1900" b="1">
                <a:solidFill>
                  <a:srgbClr val="17324D"/>
                </a:solidFill>
                <a:latin typeface="Noto Sans CJK JP"/>
                <a:ea typeface="Noto Sans CJK JP"/>
              </a:rPr>
              <a:t>275kV級など</a:t>
            </a:r>
            <a:endParaRPr lang="ja-JP" sz="1900"/>
          </a:p>
          <a:p>
            <a:r>
              <a:rPr lang="ja-JP" sz="1900" b="1">
                <a:solidFill>
                  <a:srgbClr val="17324D"/>
                </a:solidFill>
                <a:latin typeface="Noto Sans CJK JP"/>
                <a:ea typeface="Noto Sans CJK JP"/>
              </a:rPr>
              <a:t>特別高圧受電</a:t>
            </a:r>
            <a:endParaRPr lang="ja-JP" sz="1900"/>
          </a:p>
        </p:txBody>
      </p:sp>
      <p:sp>
        <p:nvSpPr>
          <p:cNvPr id="5" name="Box 5"/>
          <p:cNvSpPr/>
          <p:nvPr/>
        </p:nvSpPr>
        <p:spPr>
          <a:xfrm>
            <a:off x="2750000" y="1550000"/>
            <a:ext cx="1900000" cy="1100000"/>
          </a:xfrm>
          <a:prstGeom prst="roundRect">
            <a:avLst/>
          </a:prstGeom>
          <a:solidFill>
            <a:srgbClr val="F2F6F9"/>
          </a:solidFill>
          <a:ln w="12700">
            <a:solidFill>
              <a:srgbClr val="A8B4BF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1900" b="1">
                <a:solidFill>
                  <a:srgbClr val="17324D"/>
                </a:solidFill>
                <a:latin typeface="Noto Sans CJK JP"/>
                <a:ea typeface="Noto Sans CJK JP"/>
              </a:rPr>
              <a:t>母線・開閉</a:t>
            </a:r>
            <a:endParaRPr lang="ja-JP" sz="1900"/>
          </a:p>
          <a:p>
            <a:r>
              <a:rPr lang="ja-JP" sz="1900" b="1">
                <a:solidFill>
                  <a:srgbClr val="17324D"/>
                </a:solidFill>
                <a:latin typeface="Noto Sans CJK JP"/>
                <a:ea typeface="Noto Sans CJK JP"/>
              </a:rPr>
              <a:t>計測・保護</a:t>
            </a:r>
            <a:endParaRPr lang="ja-JP" sz="1900"/>
          </a:p>
        </p:txBody>
      </p:sp>
      <p:sp>
        <p:nvSpPr>
          <p:cNvPr id="6" name="Box 6"/>
          <p:cNvSpPr/>
          <p:nvPr/>
        </p:nvSpPr>
        <p:spPr>
          <a:xfrm>
            <a:off x="5000000" y="1550000"/>
            <a:ext cx="1900000" cy="1100000"/>
          </a:xfrm>
          <a:prstGeom prst="roundRect">
            <a:avLst/>
          </a:prstGeom>
          <a:solidFill>
            <a:srgbClr val="FFF1DA"/>
          </a:solidFill>
          <a:ln w="12700">
            <a:solidFill>
              <a:srgbClr val="DDA85D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1900" b="1">
                <a:solidFill>
                  <a:srgbClr val="17324D"/>
                </a:solidFill>
                <a:latin typeface="Noto Sans CJK JP"/>
                <a:ea typeface="Noto Sans CJK JP"/>
              </a:rPr>
              <a:t>き電用</a:t>
            </a:r>
            <a:endParaRPr lang="ja-JP" sz="1900"/>
          </a:p>
          <a:p>
            <a:r>
              <a:rPr lang="ja-JP" sz="1900" b="1">
                <a:solidFill>
                  <a:srgbClr val="17324D"/>
                </a:solidFill>
                <a:latin typeface="Noto Sans CJK JP"/>
                <a:ea typeface="Noto Sans CJK JP"/>
              </a:rPr>
              <a:t>変圧器</a:t>
            </a:r>
            <a:endParaRPr lang="ja-JP" sz="1900"/>
          </a:p>
        </p:txBody>
      </p:sp>
      <p:sp>
        <p:nvSpPr>
          <p:cNvPr id="7" name="Box 7"/>
          <p:cNvSpPr/>
          <p:nvPr/>
        </p:nvSpPr>
        <p:spPr>
          <a:xfrm>
            <a:off x="7250000" y="1550000"/>
            <a:ext cx="1900000" cy="1100000"/>
          </a:xfrm>
          <a:prstGeom prst="roundRect">
            <a:avLst/>
          </a:prstGeom>
          <a:solidFill>
            <a:srgbClr val="F2F6F9"/>
          </a:solidFill>
          <a:ln w="12700">
            <a:solidFill>
              <a:srgbClr val="A8B4BF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1900" b="1">
                <a:solidFill>
                  <a:srgbClr val="17324D"/>
                </a:solidFill>
                <a:latin typeface="Noto Sans CJK JP"/>
                <a:ea typeface="Noto Sans CJK JP"/>
              </a:rPr>
              <a:t>き電側母線</a:t>
            </a:r>
            <a:endParaRPr lang="ja-JP" sz="1900"/>
          </a:p>
          <a:p>
            <a:r>
              <a:rPr lang="ja-JP" sz="1900" b="1">
                <a:solidFill>
                  <a:srgbClr val="17324D"/>
                </a:solidFill>
                <a:latin typeface="Noto Sans CJK JP"/>
                <a:ea typeface="Noto Sans CJK JP"/>
              </a:rPr>
              <a:t>開閉・保護</a:t>
            </a:r>
            <a:endParaRPr lang="ja-JP" sz="1900"/>
          </a:p>
        </p:txBody>
      </p:sp>
      <p:sp>
        <p:nvSpPr>
          <p:cNvPr id="8" name="Box 8"/>
          <p:cNvSpPr/>
          <p:nvPr/>
        </p:nvSpPr>
        <p:spPr>
          <a:xfrm>
            <a:off x="9500000" y="1550000"/>
            <a:ext cx="1900000" cy="1100000"/>
          </a:xfrm>
          <a:prstGeom prst="roundRect">
            <a:avLst/>
          </a:prstGeom>
          <a:solidFill>
            <a:srgbClr val="E6F4EA"/>
          </a:solidFill>
          <a:ln w="12700">
            <a:solidFill>
              <a:srgbClr val="6DAA7A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1900" b="1">
                <a:solidFill>
                  <a:srgbClr val="17324D"/>
                </a:solidFill>
                <a:latin typeface="Noto Sans CJK JP"/>
                <a:ea typeface="Noto Sans CJK JP"/>
              </a:rPr>
              <a:t>交流25kV</a:t>
            </a:r>
            <a:endParaRPr lang="ja-JP" sz="1900"/>
          </a:p>
          <a:p>
            <a:r>
              <a:rPr lang="ja-JP" sz="1900" b="1">
                <a:solidFill>
                  <a:srgbClr val="17324D"/>
                </a:solidFill>
                <a:latin typeface="Noto Sans CJK JP"/>
                <a:ea typeface="Noto Sans CJK JP"/>
              </a:rPr>
              <a:t>き電側</a:t>
            </a:r>
            <a:endParaRPr lang="ja-JP" sz="1900"/>
          </a:p>
        </p:txBody>
      </p:sp>
      <p:sp>
        <p:nvSpPr>
          <p:cNvPr id="9" name="Box 9"/>
          <p:cNvSpPr/>
          <p:nvPr/>
        </p:nvSpPr>
        <p:spPr>
          <a:xfrm>
            <a:off x="900000" y="3350000"/>
            <a:ext cx="4700000" cy="1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7C6D1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2100" b="0">
                <a:solidFill>
                  <a:srgbClr val="17324D"/>
                </a:solidFill>
                <a:latin typeface="Noto Sans CJK JP"/>
                <a:ea typeface="Noto Sans CJK JP"/>
              </a:rPr>
              <a:t>変圧器の基本</a:t>
            </a:r>
            <a:endParaRPr lang="ja-JP" sz="2100"/>
          </a:p>
          <a:p>
            <a:r>
              <a:rPr lang="ja-JP" sz="2100" b="0">
                <a:solidFill>
                  <a:srgbClr val="17324D"/>
                </a:solidFill>
                <a:latin typeface="Noto Sans CJK JP"/>
                <a:ea typeface="Noto Sans CJK JP"/>
              </a:rPr>
              <a:t>V1 / V2 = N1 / N2</a:t>
            </a:r>
            <a:endParaRPr lang="ja-JP" sz="2100"/>
          </a:p>
          <a:p>
            <a:r>
              <a:rPr lang="ja-JP" sz="2100" b="0">
                <a:solidFill>
                  <a:srgbClr val="17324D"/>
                </a:solidFill>
                <a:latin typeface="Noto Sans CJK JP"/>
                <a:ea typeface="Noto Sans CJK JP"/>
              </a:rPr>
              <a:t>理想: V1 I1 ≈ V2 I2</a:t>
            </a:r>
            <a:endParaRPr lang="ja-JP" sz="2100"/>
          </a:p>
        </p:txBody>
      </p:sp>
      <p:sp>
        <p:nvSpPr>
          <p:cNvPr id="10" name="Box 10"/>
          <p:cNvSpPr/>
          <p:nvPr/>
        </p:nvSpPr>
        <p:spPr>
          <a:xfrm>
            <a:off x="6100000" y="3350000"/>
            <a:ext cx="5100000" cy="1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7C6D1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1700" b="0">
                <a:solidFill>
                  <a:srgbClr val="17324D"/>
                </a:solidFill>
                <a:latin typeface="Noto Sans CJK JP"/>
                <a:ea typeface="Noto Sans CJK JP"/>
              </a:rPr>
              <a:t>役割を分ける</a:t>
            </a:r>
            <a:endParaRPr lang="ja-JP" sz="1700"/>
          </a:p>
          <a:p>
            <a:r>
              <a:rPr lang="ja-JP" sz="1700" b="0">
                <a:solidFill>
                  <a:srgbClr val="17324D"/>
                </a:solidFill>
                <a:latin typeface="Noto Sans CJK JP"/>
                <a:ea typeface="Noto Sans CJK JP"/>
              </a:rPr>
              <a:t>母線=接続・分岐 / 遮断器=遮断</a:t>
            </a:r>
            <a:endParaRPr lang="ja-JP" sz="1700"/>
          </a:p>
          <a:p>
            <a:r>
              <a:rPr lang="ja-JP" sz="1700" b="0">
                <a:solidFill>
                  <a:srgbClr val="17324D"/>
                </a:solidFill>
                <a:latin typeface="Noto Sans CJK JP"/>
                <a:ea typeface="Noto Sans CJK JP"/>
              </a:rPr>
              <a:t>断路器=無負荷で切離し / リレー=異常判定</a:t>
            </a:r>
            <a:endParaRPr lang="ja-JP" sz="1700"/>
          </a:p>
        </p:txBody>
      </p:sp>
      <p:sp>
        <p:nvSpPr>
          <p:cNvPr id="11" name="Text 11"/>
          <p:cNvSpPr txBox="1"/>
          <p:nvPr/>
        </p:nvSpPr>
        <p:spPr>
          <a:xfrm>
            <a:off x="650000" y="5600000"/>
            <a:ext cx="10900000" cy="50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/>
          <a:lstStyle/>
          <a:p>
            <a:r>
              <a:rPr lang="ja-JP" sz="1400" b="1">
                <a:solidFill>
                  <a:srgbClr val="A14A3B"/>
                </a:solidFill>
                <a:latin typeface="Noto Sans CJK JP"/>
                <a:ea typeface="Noto Sans CJK JP"/>
              </a:rPr>
              <a:t>275kVは導入上の受電側例。三相→単相変換方式はTopic 07へ。</a:t>
            </a:r>
            <a:endParaRPr lang="ja-JP"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0000" y="250000"/>
            <a:ext cx="11300000" cy="50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/>
          <a:lstStyle/>
          <a:p>
            <a:r>
              <a:rPr lang="ja-JP" sz="2600" b="1">
                <a:solidFill>
                  <a:srgbClr val="17324D"/>
                </a:solidFill>
                <a:latin typeface="Noto Sans CJK JP"/>
                <a:ea typeface="Noto Sans CJK JP"/>
              </a:rPr>
              <a:t>02  開閉・計測機器を混同しない</a:t>
            </a:r>
            <a:endParaRPr lang="ja-JP" sz="2600"/>
          </a:p>
        </p:txBody>
      </p:sp>
      <p:sp>
        <p:nvSpPr>
          <p:cNvPr id="3" name="Box 3"/>
          <p:cNvSpPr/>
          <p:nvPr/>
        </p:nvSpPr>
        <p:spPr>
          <a:xfrm>
            <a:off x="500000" y="1250000"/>
            <a:ext cx="3400000" cy="1700000"/>
          </a:xfrm>
          <a:prstGeom prst="roundRect">
            <a:avLst/>
          </a:prstGeom>
          <a:solidFill>
            <a:srgbClr val="EAF3FA"/>
          </a:solidFill>
          <a:ln w="12700">
            <a:solidFill>
              <a:srgbClr val="6BA7D6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1700" b="0">
                <a:solidFill>
                  <a:srgbClr val="17324D"/>
                </a:solidFill>
                <a:latin typeface="Noto Sans CJK JP"/>
                <a:ea typeface="Noto Sans CJK JP"/>
              </a:rPr>
              <a:t>遮断器 CB</a:t>
            </a:r>
            <a:endParaRPr lang="ja-JP" sz="1700"/>
          </a:p>
          <a:p>
            <a:r>
              <a:rPr lang="ja-JP" sz="1700" b="0">
                <a:solidFill>
                  <a:srgbClr val="17324D"/>
                </a:solidFill>
                <a:latin typeface="Noto Sans CJK JP"/>
                <a:ea typeface="Noto Sans CJK JP"/>
              </a:rPr>
              <a:t>負荷電流・事故電流を遮断</a:t>
            </a:r>
            <a:endParaRPr lang="ja-JP" sz="1700"/>
          </a:p>
          <a:p>
            <a:r>
              <a:rPr lang="ja-JP" sz="1700" b="0">
                <a:solidFill>
                  <a:srgbClr val="17324D"/>
                </a:solidFill>
                <a:latin typeface="Noto Sans CJK JP"/>
                <a:ea typeface="Noto Sans CJK JP"/>
              </a:rPr>
              <a:t>保護リレーの指令で故障区間を切離し</a:t>
            </a:r>
            <a:endParaRPr lang="ja-JP" sz="1700"/>
          </a:p>
        </p:txBody>
      </p:sp>
      <p:sp>
        <p:nvSpPr>
          <p:cNvPr id="4" name="Box 4"/>
          <p:cNvSpPr/>
          <p:nvPr/>
        </p:nvSpPr>
        <p:spPr>
          <a:xfrm>
            <a:off x="4250000" y="1250000"/>
            <a:ext cx="3400000" cy="1700000"/>
          </a:xfrm>
          <a:prstGeom prst="roundRect">
            <a:avLst/>
          </a:prstGeom>
          <a:solidFill>
            <a:srgbClr val="FFF4E3"/>
          </a:solidFill>
          <a:ln w="12700">
            <a:solidFill>
              <a:srgbClr val="DDA85D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1700" b="0">
                <a:solidFill>
                  <a:srgbClr val="17324D"/>
                </a:solidFill>
                <a:latin typeface="Noto Sans CJK JP"/>
                <a:ea typeface="Noto Sans CJK JP"/>
              </a:rPr>
              <a:t>断路器 DS</a:t>
            </a:r>
            <a:endParaRPr lang="ja-JP" sz="1700"/>
          </a:p>
          <a:p>
            <a:r>
              <a:rPr lang="ja-JP" sz="1700" b="0">
                <a:solidFill>
                  <a:srgbClr val="17324D"/>
                </a:solidFill>
                <a:latin typeface="Noto Sans CJK JP"/>
                <a:ea typeface="Noto Sans CJK JP"/>
              </a:rPr>
              <a:t>電流を切った後、無負荷で機械的に切離し</a:t>
            </a:r>
            <a:endParaRPr lang="ja-JP" sz="1700"/>
          </a:p>
          <a:p>
            <a:r>
              <a:rPr lang="ja-JP" sz="1700" b="0">
                <a:solidFill>
                  <a:srgbClr val="17324D"/>
                </a:solidFill>
                <a:latin typeface="Noto Sans CJK JP"/>
                <a:ea typeface="Noto Sans CJK JP"/>
              </a:rPr>
              <a:t>開放順: CB → DS</a:t>
            </a:r>
            <a:endParaRPr lang="ja-JP" sz="1700"/>
          </a:p>
        </p:txBody>
      </p:sp>
      <p:sp>
        <p:nvSpPr>
          <p:cNvPr id="5" name="Box 5"/>
          <p:cNvSpPr/>
          <p:nvPr/>
        </p:nvSpPr>
        <p:spPr>
          <a:xfrm>
            <a:off x="8000000" y="1250000"/>
            <a:ext cx="3400000" cy="1700000"/>
          </a:xfrm>
          <a:prstGeom prst="roundRect">
            <a:avLst/>
          </a:prstGeom>
          <a:solidFill>
            <a:srgbClr val="EDF7EF"/>
          </a:solidFill>
          <a:ln w="12700">
            <a:solidFill>
              <a:srgbClr val="6DAA7A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1600" b="0">
                <a:solidFill>
                  <a:srgbClr val="17324D"/>
                </a:solidFill>
                <a:latin typeface="Noto Sans CJK JP"/>
                <a:ea typeface="Noto Sans CJK JP"/>
              </a:rPr>
              <a:t>真空遮断器 VCB</a:t>
            </a:r>
            <a:endParaRPr lang="ja-JP" sz="1600"/>
          </a:p>
          <a:p>
            <a:r>
              <a:rPr lang="ja-JP" sz="1600" b="0">
                <a:solidFill>
                  <a:srgbClr val="17324D"/>
                </a:solidFill>
                <a:latin typeface="Noto Sans CJK JP"/>
                <a:ea typeface="Noto Sans CJK JP"/>
              </a:rPr>
              <a:t>高真空で消弧 / 小形・軽量 / 多頻度動作</a:t>
            </a:r>
            <a:endParaRPr lang="ja-JP" sz="1600"/>
          </a:p>
          <a:p>
            <a:r>
              <a:rPr lang="ja-JP" sz="1600" b="0">
                <a:solidFill>
                  <a:srgbClr val="17324D"/>
                </a:solidFill>
                <a:latin typeface="Noto Sans CJK JP"/>
                <a:ea typeface="Noto Sans CJK JP"/>
              </a:rPr>
              <a:t>空気遮断器より動作騒音は小さい</a:t>
            </a:r>
            <a:endParaRPr lang="ja-JP" sz="1600"/>
          </a:p>
        </p:txBody>
      </p:sp>
      <p:sp>
        <p:nvSpPr>
          <p:cNvPr id="6" name="Box 6"/>
          <p:cNvSpPr/>
          <p:nvPr/>
        </p:nvSpPr>
        <p:spPr>
          <a:xfrm>
            <a:off x="1000000" y="3550000"/>
            <a:ext cx="4600000" cy="19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7C6D1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2000" b="1">
                <a:solidFill>
                  <a:srgbClr val="17324D"/>
                </a:solidFill>
                <a:latin typeface="Noto Sans CJK JP"/>
                <a:ea typeface="Noto Sans CJK JP"/>
              </a:rPr>
              <a:t>VT</a:t>
            </a:r>
            <a:endParaRPr lang="ja-JP" sz="2000"/>
          </a:p>
          <a:p>
            <a:r>
              <a:rPr lang="ja-JP" sz="2000" b="1">
                <a:solidFill>
                  <a:srgbClr val="17324D"/>
                </a:solidFill>
                <a:latin typeface="Noto Sans CJK JP"/>
                <a:ea typeface="Noto Sans CJK JP"/>
              </a:rPr>
              <a:t>電圧を変成</a:t>
            </a:r>
            <a:endParaRPr lang="ja-JP" sz="2000"/>
          </a:p>
          <a:p>
            <a:r>
              <a:rPr lang="ja-JP" sz="2000" b="1">
                <a:solidFill>
                  <a:srgbClr val="17324D"/>
                </a:solidFill>
                <a:latin typeface="Noto Sans CJK JP"/>
                <a:ea typeface="Noto Sans CJK JP"/>
              </a:rPr>
              <a:t>一次: 並列</a:t>
            </a:r>
            <a:endParaRPr lang="ja-JP" sz="2000"/>
          </a:p>
          <a:p>
            <a:r>
              <a:rPr lang="ja-JP" sz="2000" b="1">
                <a:solidFill>
                  <a:srgbClr val="17324D"/>
                </a:solidFill>
                <a:latin typeface="Noto Sans CJK JP"/>
                <a:ea typeface="Noto Sans CJK JP"/>
              </a:rPr>
              <a:t>二次: 短絡禁止</a:t>
            </a:r>
            <a:endParaRPr lang="ja-JP" sz="2000"/>
          </a:p>
        </p:txBody>
      </p:sp>
      <p:sp>
        <p:nvSpPr>
          <p:cNvPr id="7" name="Box 7"/>
          <p:cNvSpPr/>
          <p:nvPr/>
        </p:nvSpPr>
        <p:spPr>
          <a:xfrm>
            <a:off x="6500000" y="3550000"/>
            <a:ext cx="4600000" cy="19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7C6D1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1800" b="1">
                <a:solidFill>
                  <a:srgbClr val="17324D"/>
                </a:solidFill>
                <a:latin typeface="Noto Sans CJK JP"/>
                <a:ea typeface="Noto Sans CJK JP"/>
              </a:rPr>
              <a:t>CT</a:t>
            </a:r>
            <a:endParaRPr lang="ja-JP" sz="1800"/>
          </a:p>
          <a:p>
            <a:r>
              <a:rPr lang="ja-JP" sz="1800" b="1">
                <a:solidFill>
                  <a:srgbClr val="17324D"/>
                </a:solidFill>
                <a:latin typeface="Noto Sans CJK JP"/>
                <a:ea typeface="Noto Sans CJK JP"/>
              </a:rPr>
              <a:t>電流を変成 / 一次: 直列</a:t>
            </a:r>
            <a:endParaRPr lang="ja-JP" sz="1800"/>
          </a:p>
          <a:p>
            <a:r>
              <a:rPr lang="ja-JP" sz="1800" b="1">
                <a:solidFill>
                  <a:srgbClr val="17324D"/>
                </a:solidFill>
                <a:latin typeface="Noto Sans CJK JP"/>
                <a:ea typeface="Noto Sans CJK JP"/>
              </a:rPr>
              <a:t>二次: 低インピーダンス・開放禁止</a:t>
            </a:r>
            <a:endParaRPr lang="ja-JP" sz="1800"/>
          </a:p>
          <a:p>
            <a:r>
              <a:rPr lang="ja-JP" sz="1800" b="1">
                <a:solidFill>
                  <a:srgbClr val="17324D"/>
                </a:solidFill>
                <a:latin typeface="Noto Sans CJK JP"/>
                <a:ea typeface="Noto Sans CJK JP"/>
              </a:rPr>
              <a:t>開放→危険な高電圧、鉄損・発熱増大</a:t>
            </a:r>
            <a:endParaRPr lang="ja-JP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0000" y="250000"/>
            <a:ext cx="11300000" cy="50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/>
          <a:lstStyle/>
          <a:p>
            <a:r>
              <a:rPr lang="ja-JP" sz="2600" b="1">
                <a:solidFill>
                  <a:srgbClr val="17324D"/>
                </a:solidFill>
                <a:latin typeface="Noto Sans CJK JP"/>
                <a:ea typeface="Noto Sans CJK JP"/>
              </a:rPr>
              <a:t>03  過電圧保護と事故遮断の流れ</a:t>
            </a:r>
            <a:endParaRPr lang="ja-JP" sz="2600"/>
          </a:p>
        </p:txBody>
      </p:sp>
      <p:sp>
        <p:nvSpPr>
          <p:cNvPr id="3" name="Box 3"/>
          <p:cNvSpPr/>
          <p:nvPr/>
        </p:nvSpPr>
        <p:spPr>
          <a:xfrm>
            <a:off x="550000" y="1250000"/>
            <a:ext cx="5000000" cy="1900000"/>
          </a:xfrm>
          <a:prstGeom prst="roundRect">
            <a:avLst/>
          </a:prstGeom>
          <a:solidFill>
            <a:srgbClr val="EAF3FA"/>
          </a:solidFill>
          <a:ln w="12700">
            <a:solidFill>
              <a:srgbClr val="6BA7D6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1700" b="0">
                <a:solidFill>
                  <a:srgbClr val="17324D"/>
                </a:solidFill>
                <a:latin typeface="Noto Sans CJK JP"/>
                <a:ea typeface="Noto Sans CJK JP"/>
              </a:rPr>
              <a:t>ZnO避雷器</a:t>
            </a:r>
            <a:endParaRPr lang="ja-JP" sz="1700"/>
          </a:p>
          <a:p>
            <a:r>
              <a:rPr lang="ja-JP" sz="1700" b="0">
                <a:solidFill>
                  <a:srgbClr val="17324D"/>
                </a:solidFill>
                <a:latin typeface="Noto Sans CJK JP"/>
                <a:ea typeface="Noto Sans CJK JP"/>
              </a:rPr>
              <a:t>通常電圧: 高抵抗</a:t>
            </a:r>
            <a:endParaRPr lang="ja-JP" sz="1700"/>
          </a:p>
          <a:p>
            <a:r>
              <a:rPr lang="ja-JP" sz="1700" b="0">
                <a:solidFill>
                  <a:srgbClr val="17324D"/>
                </a:solidFill>
                <a:latin typeface="Noto Sans CJK JP"/>
                <a:ea typeface="Noto Sans CJK JP"/>
              </a:rPr>
              <a:t>過電圧: 低抵抗になりサージ電流を大地へ</a:t>
            </a:r>
            <a:endParaRPr lang="ja-JP" sz="1700"/>
          </a:p>
          <a:p>
            <a:r>
              <a:rPr lang="ja-JP" sz="1700" b="0">
                <a:solidFill>
                  <a:srgbClr val="17324D"/>
                </a:solidFill>
                <a:latin typeface="Noto Sans CJK JP"/>
                <a:ea typeface="Noto Sans CJK JP"/>
              </a:rPr>
              <a:t>消滅後: 高抵抗へ戻り続流を抑制 → ギャップレス</a:t>
            </a:r>
            <a:endParaRPr lang="ja-JP" sz="1700"/>
          </a:p>
        </p:txBody>
      </p:sp>
      <p:sp>
        <p:nvSpPr>
          <p:cNvPr id="4" name="Box 4"/>
          <p:cNvSpPr/>
          <p:nvPr/>
        </p:nvSpPr>
        <p:spPr>
          <a:xfrm>
            <a:off x="6200000" y="1250000"/>
            <a:ext cx="5300000" cy="1900000"/>
          </a:xfrm>
          <a:prstGeom prst="roundRect">
            <a:avLst/>
          </a:prstGeom>
          <a:solidFill>
            <a:srgbClr val="EDF7EF"/>
          </a:solidFill>
          <a:ln w="12700">
            <a:solidFill>
              <a:srgbClr val="6DAA7A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1750" b="0">
                <a:solidFill>
                  <a:srgbClr val="17324D"/>
                </a:solidFill>
                <a:latin typeface="Noto Sans CJK JP"/>
                <a:ea typeface="Noto Sans CJK JP"/>
              </a:rPr>
              <a:t>保護の役割分担</a:t>
            </a:r>
            <a:endParaRPr lang="ja-JP" sz="1750"/>
          </a:p>
          <a:p>
            <a:r>
              <a:rPr lang="ja-JP" sz="1750" b="0">
                <a:solidFill>
                  <a:srgbClr val="17324D"/>
                </a:solidFill>
                <a:latin typeface="Noto Sans CJK JP"/>
                <a:ea typeface="Noto Sans CJK JP"/>
              </a:rPr>
              <a:t>CT・VTで検出</a:t>
            </a:r>
            <a:endParaRPr lang="ja-JP" sz="1750"/>
          </a:p>
          <a:p>
            <a:r>
              <a:rPr lang="ja-JP" sz="1750" b="0">
                <a:solidFill>
                  <a:srgbClr val="17324D"/>
                </a:solidFill>
                <a:latin typeface="Noto Sans CJK JP"/>
                <a:ea typeface="Noto Sans CJK JP"/>
              </a:rPr>
              <a:t>↓</a:t>
            </a:r>
            <a:endParaRPr lang="ja-JP" sz="1750"/>
          </a:p>
          <a:p>
            <a:r>
              <a:rPr lang="ja-JP" sz="1750" b="0">
                <a:solidFill>
                  <a:srgbClr val="17324D"/>
                </a:solidFill>
                <a:latin typeface="Noto Sans CJK JP"/>
                <a:ea typeface="Noto Sans CJK JP"/>
              </a:rPr>
              <a:t>保護リレーで異常判定</a:t>
            </a:r>
            <a:endParaRPr lang="ja-JP" sz="1750"/>
          </a:p>
          <a:p>
            <a:r>
              <a:rPr lang="ja-JP" sz="1750" b="0">
                <a:solidFill>
                  <a:srgbClr val="17324D"/>
                </a:solidFill>
                <a:latin typeface="Noto Sans CJK JP"/>
                <a:ea typeface="Noto Sans CJK JP"/>
              </a:rPr>
              <a:t>↓</a:t>
            </a:r>
            <a:endParaRPr lang="ja-JP" sz="1750"/>
          </a:p>
          <a:p>
            <a:r>
              <a:rPr lang="ja-JP" sz="1750" b="0">
                <a:solidFill>
                  <a:srgbClr val="17324D"/>
                </a:solidFill>
                <a:latin typeface="Noto Sans CJK JP"/>
                <a:ea typeface="Noto Sans CJK JP"/>
              </a:rPr>
              <a:t>遮断器へ開放指令 → 故障区間を切離し</a:t>
            </a:r>
            <a:endParaRPr lang="ja-JP" sz="1750"/>
          </a:p>
        </p:txBody>
      </p:sp>
      <p:sp>
        <p:nvSpPr>
          <p:cNvPr id="5" name="Box 5"/>
          <p:cNvSpPr/>
          <p:nvPr/>
        </p:nvSpPr>
        <p:spPr>
          <a:xfrm>
            <a:off x="950000" y="3650000"/>
            <a:ext cx="10300000" cy="19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7C6D1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1850" b="0">
                <a:solidFill>
                  <a:srgbClr val="17324D"/>
                </a:solidFill>
                <a:latin typeface="Noto Sans CJK JP"/>
                <a:ea typeface="Noto Sans CJK JP"/>
              </a:rPr>
              <a:t>過電流継電器の限時特性</a:t>
            </a:r>
            <a:endParaRPr lang="ja-JP" sz="1850"/>
          </a:p>
          <a:p>
            <a:r>
              <a:rPr lang="ja-JP" sz="1850" b="0">
                <a:solidFill>
                  <a:srgbClr val="17324D"/>
                </a:solidFill>
                <a:latin typeface="Noto Sans CJK JP"/>
                <a:ea typeface="Noto Sans CJK JP"/>
              </a:rPr>
              <a:t>反限時: 電流↑で動作時間↓　　反限時定限時: 大電流域で一定へ</a:t>
            </a:r>
            <a:endParaRPr lang="ja-JP" sz="1850"/>
          </a:p>
          <a:p>
            <a:r>
              <a:rPr lang="ja-JP" sz="1850" b="0">
                <a:solidFill>
                  <a:srgbClr val="17324D"/>
                </a:solidFill>
                <a:latin typeface="Noto Sans CJK JP"/>
                <a:ea typeface="Noto Sans CJK JP"/>
              </a:rPr>
              <a:t>定限時: 整定値超過後ほぼ一定時間　　瞬時: 意図的な時間遅れほぼなし</a:t>
            </a:r>
            <a:endParaRPr lang="ja-JP" sz="18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0000" y="250000"/>
            <a:ext cx="11300000" cy="50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/>
          <a:lstStyle/>
          <a:p>
            <a:r>
              <a:rPr lang="ja-JP" sz="2600" b="1">
                <a:solidFill>
                  <a:srgbClr val="17324D"/>
                </a:solidFill>
                <a:latin typeface="Noto Sans CJK JP"/>
                <a:ea typeface="Noto Sans CJK JP"/>
              </a:rPr>
              <a:t>04  固定5過去問への接続</a:t>
            </a:r>
            <a:endParaRPr lang="ja-JP" sz="2600"/>
          </a:p>
        </p:txBody>
      </p:sp>
      <p:sp>
        <p:nvSpPr>
          <p:cNvPr id="3" name="Box 3"/>
          <p:cNvSpPr/>
          <p:nvPr/>
        </p:nvSpPr>
        <p:spPr>
          <a:xfrm>
            <a:off x="600000" y="1150000"/>
            <a:ext cx="10900000" cy="41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7C6D1"/>
            </a:solidFill>
          </a:ln>
        </p:spPr>
        <p:txBody>
          <a:bodyPr lIns="120000" rIns="120000" tIns="60000" bIns="60000" wrap="square" anchor="ctr"/>
          <a:lstStyle/>
          <a:p>
            <a:r>
              <a:rPr lang="ja-JP" sz="1600" b="0">
                <a:solidFill>
                  <a:srgbClr val="17324D"/>
                </a:solidFill>
                <a:latin typeface="Noto Sans CJK JP"/>
                <a:ea typeface="Noto Sans CJK JP"/>
              </a:rPr>
              <a:t>R7下 電力 問6　避雷器 → ZnO / 非線形抵抗 / 続流 / ギャップレス</a:t>
            </a:r>
            <a:endParaRPr lang="ja-JP" sz="1600"/>
          </a:p>
          <a:p>
            <a:r>
              <a:rPr lang="ja-JP" sz="1600" b="0">
                <a:solidFill>
                  <a:srgbClr val="17324D"/>
                </a:solidFill>
                <a:latin typeface="Noto Sans CJK JP"/>
                <a:ea typeface="Noto Sans CJK JP"/>
              </a:rPr>
              <a:t>R6下 電力 問7　CT → 一次直列 / 二次低インピーダンス / 開放禁止</a:t>
            </a:r>
            <a:endParaRPr lang="ja-JP" sz="1600"/>
          </a:p>
          <a:p>
            <a:r>
              <a:rPr lang="ja-JP" sz="1600" b="0">
                <a:solidFill>
                  <a:srgbClr val="17324D"/>
                </a:solidFill>
                <a:latin typeface="Noto Sans CJK JP"/>
                <a:ea typeface="Noto Sans CJK JP"/>
              </a:rPr>
              <a:t>R4上 電力 問7　過電流継電器 → 反限時・反限時定限時・定限時・瞬時</a:t>
            </a:r>
            <a:endParaRPr lang="ja-JP" sz="1600"/>
          </a:p>
          <a:p>
            <a:r>
              <a:rPr lang="ja-JP" sz="1600" b="0">
                <a:solidFill>
                  <a:srgbClr val="17324D"/>
                </a:solidFill>
                <a:latin typeface="Noto Sans CJK JP"/>
                <a:ea typeface="Noto Sans CJK JP"/>
              </a:rPr>
              <a:t>R3 電力 問8　断路器 → CBとの役割差 / 操作順 / インターロック</a:t>
            </a:r>
            <a:endParaRPr lang="ja-JP" sz="1600"/>
          </a:p>
          <a:p>
            <a:r>
              <a:rPr lang="ja-JP" sz="1600" b="0">
                <a:solidFill>
                  <a:srgbClr val="17324D"/>
                </a:solidFill>
                <a:latin typeface="Noto Sans CJK JP"/>
                <a:ea typeface="Noto Sans CJK JP"/>
              </a:rPr>
              <a:t>R2 電力 問7　VCB → 高真空消弧 / 小形軽量 / 多頻度 / サージ / 騒音</a:t>
            </a:r>
            <a:endParaRPr lang="ja-JP" sz="1600"/>
          </a:p>
        </p:txBody>
      </p:sp>
      <p:sp>
        <p:nvSpPr>
          <p:cNvPr id="4" name="Text 4"/>
          <p:cNvSpPr txBox="1"/>
          <p:nvPr/>
        </p:nvSpPr>
        <p:spPr>
          <a:xfrm>
            <a:off x="700000" y="56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/>
          <a:lstStyle/>
          <a:p>
            <a:r>
              <a:rPr lang="ja-JP" sz="1500" b="1">
                <a:solidFill>
                  <a:srgbClr val="A14A3B"/>
                </a:solidFill>
                <a:latin typeface="Noto Sans CJK JP"/>
                <a:ea typeface="Noto Sans CJK JP"/>
              </a:rPr>
              <a:t>本試験では「変圧・接続・遮断・切離し・計測変成・過電圧保護・異常判定」の動詞で機器を判別する。</a:t>
            </a:r>
            <a:endParaRPr lang="ja-JP" sz="1500"/>
          </a:p>
        </p:txBody>
      </p:sp>
    </p:spTree>
  </p:cSld>
  <p:clrMapOvr>
    <a:masterClrMapping/>
  </p:clrMapOvr>
</p:sld>
</file>