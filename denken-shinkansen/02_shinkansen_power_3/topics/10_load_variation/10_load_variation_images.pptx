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20000"/>
            <a:ext cx="113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ja-JP" sz="2600" b="1"/>
              <a:t>需要指標：設備容量から需要電力量まで</a:t>
            </a:r>
            <a:endParaRPr lang="ja-JP" sz="2600"/>
          </a:p>
        </p:txBody>
      </p:sp>
      <p:sp>
        <p:nvSpPr>
          <p:cNvPr id="3" name="c0"/>
          <p:cNvSpPr txBox="1"/>
          <p:nvPr/>
        </p:nvSpPr>
        <p:spPr>
          <a:xfrm>
            <a:off x="500000" y="1250000"/>
            <a:ext cx="2300000" cy="11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50" b="0"/>
              <a:t>設備容量</a:t>
            </a:r>
            <a:endParaRPr lang="ja-JP" sz="1750"/>
          </a:p>
          <a:p>
            <a:pPr algn="ctr"/>
            <a:r>
              <a:rPr lang="ja-JP" sz="1750" b="0"/>
              <a:t>設備の合計容量</a:t>
            </a:r>
            <a:endParaRPr lang="ja-JP" sz="1750"/>
          </a:p>
        </p:txBody>
      </p:sp>
      <p:sp>
        <p:nvSpPr>
          <p:cNvPr id="4" name="arrow"/>
          <p:cNvSpPr txBox="1"/>
          <p:nvPr/>
        </p:nvSpPr>
        <p:spPr>
          <a:xfrm>
            <a:off x="2800000" y="153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ja-JP" sz="2600" b="1"/>
              <a:t>→</a:t>
            </a:r>
            <a:endParaRPr lang="ja-JP" sz="2600"/>
          </a:p>
        </p:txBody>
      </p:sp>
      <p:sp>
        <p:nvSpPr>
          <p:cNvPr id="5" name="c1"/>
          <p:cNvSpPr txBox="1"/>
          <p:nvPr/>
        </p:nvSpPr>
        <p:spPr>
          <a:xfrm>
            <a:off x="3300000" y="1250000"/>
            <a:ext cx="2300000" cy="11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50" b="1"/>
              <a:t>最大需要電力</a:t>
            </a:r>
            <a:endParaRPr lang="ja-JP" sz="1750"/>
          </a:p>
          <a:p>
            <a:pPr algn="ctr"/>
            <a:r>
              <a:rPr lang="ja-JP" sz="1750" b="1"/>
              <a:t>設備容量 × 需要率</a:t>
            </a:r>
            <a:endParaRPr lang="ja-JP" sz="1750"/>
          </a:p>
        </p:txBody>
      </p:sp>
      <p:sp>
        <p:nvSpPr>
          <p:cNvPr id="6" name="arrow"/>
          <p:cNvSpPr txBox="1"/>
          <p:nvPr/>
        </p:nvSpPr>
        <p:spPr>
          <a:xfrm>
            <a:off x="5600000" y="153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ja-JP" sz="2600" b="1"/>
              <a:t>→</a:t>
            </a:r>
            <a:endParaRPr lang="ja-JP" sz="2600"/>
          </a:p>
        </p:txBody>
      </p:sp>
      <p:sp>
        <p:nvSpPr>
          <p:cNvPr id="7" name="c2"/>
          <p:cNvSpPr txBox="1"/>
          <p:nvPr/>
        </p:nvSpPr>
        <p:spPr>
          <a:xfrm>
            <a:off x="6100000" y="1250000"/>
            <a:ext cx="2300000" cy="11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50" b="0"/>
              <a:t>平均需要電力</a:t>
            </a:r>
            <a:endParaRPr lang="ja-JP" sz="1750"/>
          </a:p>
          <a:p>
            <a:pPr algn="ctr"/>
            <a:r>
              <a:rPr lang="ja-JP" sz="1750" b="0"/>
              <a:t>最大需要電力 × 負荷率</a:t>
            </a:r>
            <a:endParaRPr lang="ja-JP" sz="1750"/>
          </a:p>
        </p:txBody>
      </p:sp>
      <p:sp>
        <p:nvSpPr>
          <p:cNvPr id="8" name="arrow"/>
          <p:cNvSpPr txBox="1"/>
          <p:nvPr/>
        </p:nvSpPr>
        <p:spPr>
          <a:xfrm>
            <a:off x="8400000" y="153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ja-JP" sz="2600" b="1"/>
              <a:t>→</a:t>
            </a:r>
            <a:endParaRPr lang="ja-JP" sz="2600"/>
          </a:p>
        </p:txBody>
      </p:sp>
      <p:sp>
        <p:nvSpPr>
          <p:cNvPr id="9" name="c3"/>
          <p:cNvSpPr txBox="1"/>
          <p:nvPr/>
        </p:nvSpPr>
        <p:spPr>
          <a:xfrm>
            <a:off x="8900000" y="1250000"/>
            <a:ext cx="2300000" cy="11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50" b="0"/>
              <a:t>需要電力量</a:t>
            </a:r>
            <a:endParaRPr lang="ja-JP" sz="1750"/>
          </a:p>
          <a:p>
            <a:pPr algn="ctr"/>
            <a:r>
              <a:rPr lang="ja-JP" sz="1750" b="0"/>
              <a:t>平均需要電力 × 時間</a:t>
            </a:r>
            <a:endParaRPr lang="ja-JP" sz="1750"/>
          </a:p>
        </p:txBody>
      </p:sp>
      <p:sp>
        <p:nvSpPr>
          <p:cNvPr id="10" name="diversity"/>
          <p:cNvSpPr txBox="1"/>
          <p:nvPr/>
        </p:nvSpPr>
        <p:spPr>
          <a:xfrm>
            <a:off x="700000" y="2850000"/>
            <a:ext cx="5100000" cy="125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00" b="0"/>
              <a:t>不等率</a:t>
            </a:r>
            <a:endParaRPr lang="ja-JP" sz="1700"/>
          </a:p>
          <a:p>
            <a:pPr algn="ctr"/>
            <a:r>
              <a:rPr lang="ja-JP" sz="1700" b="0"/>
              <a:t>個々の最大需要電力合計 ÷ 合成最大需要電力</a:t>
            </a:r>
            <a:endParaRPr lang="ja-JP" sz="1700"/>
          </a:p>
          <a:p>
            <a:pPr algn="ctr"/>
            <a:r>
              <a:rPr lang="ja-JP" sz="1700" b="0"/>
              <a:t>常に 1 以上</a:t>
            </a:r>
            <a:endParaRPr lang="ja-JP" sz="1700"/>
          </a:p>
        </p:txBody>
      </p:sp>
      <p:sp>
        <p:nvSpPr>
          <p:cNvPr id="11" name="causal"/>
          <p:cNvSpPr txBox="1"/>
          <p:nvPr/>
        </p:nvSpPr>
        <p:spPr>
          <a:xfrm>
            <a:off x="6450000" y="2850000"/>
            <a:ext cx="5000000" cy="1250000"/>
          </a:xfrm>
          <a:prstGeom prst="round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00" b="0"/>
              <a:t>新幹線側の接続</a:t>
            </a:r>
            <a:endParaRPr lang="ja-JP" sz="1700"/>
          </a:p>
          <a:p>
            <a:pPr algn="ctr"/>
            <a:r>
              <a:rPr lang="ja-JP" sz="1700" b="0"/>
              <a:t>列車負荷増加 → 電流増加</a:t>
            </a:r>
            <a:endParaRPr lang="ja-JP" sz="1700"/>
          </a:p>
          <a:p>
            <a:pPr algn="ctr"/>
            <a:r>
              <a:rPr lang="ja-JP" sz="1700" b="0"/>
              <a:t>→ 電圧降下増加 → 損失増加</a:t>
            </a:r>
            <a:endParaRPr lang="ja-JP" sz="1700"/>
          </a:p>
        </p:txBody>
      </p:sp>
      <p:sp>
        <p:nvSpPr>
          <p:cNvPr id="12" name="note"/>
          <p:cNvSpPr txBox="1"/>
          <p:nvPr/>
        </p:nvSpPr>
        <p:spPr>
          <a:xfrm>
            <a:off x="700000" y="4550000"/>
            <a:ext cx="10700000" cy="1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ja-JP" sz="1750" b="0"/>
              <a:t>頻出ミス：需要率と負荷率の分母／kWとkWh／不等率の向き</a:t>
            </a:r>
            <a:endParaRPr lang="ja-JP" sz="1750"/>
          </a:p>
          <a:p>
            <a:pPr algn="l"/>
            <a:r>
              <a:rPr lang="ja-JP" sz="1750" b="0"/>
              <a:t>対応：R3 法規 問13(a)(b)</a:t>
            </a:r>
            <a:endParaRPr lang="ja-JP" sz="1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20000"/>
            <a:ext cx="113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ja-JP" sz="2600" b="1"/>
              <a:t>力率・無効電力・設備余裕</a:t>
            </a:r>
            <a:endParaRPr lang="ja-JP" sz="2600"/>
          </a:p>
        </p:txBody>
      </p:sp>
      <p:sp>
        <p:nvSpPr>
          <p:cNvPr id="3" name="pqs"/>
          <p:cNvSpPr txBox="1"/>
          <p:nvPr/>
        </p:nvSpPr>
        <p:spPr>
          <a:xfrm>
            <a:off x="650000" y="1300000"/>
            <a:ext cx="4000000" cy="1500000"/>
          </a:xfrm>
          <a:prstGeom prst="roundRect">
            <a:avLst/>
          </a:prstGeom>
          <a:solidFill>
            <a:srgbClr val="E2F0D9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900" b="1"/>
              <a:t>P：有効電力</a:t>
            </a:r>
            <a:endParaRPr lang="ja-JP" sz="1900"/>
          </a:p>
          <a:p>
            <a:pPr algn="ctr"/>
            <a:r>
              <a:rPr lang="ja-JP" sz="1900" b="1"/>
              <a:t>Q：無効電力</a:t>
            </a:r>
            <a:endParaRPr lang="ja-JP" sz="1900"/>
          </a:p>
          <a:p>
            <a:pPr algn="ctr"/>
            <a:r>
              <a:rPr lang="ja-JP" sz="1900" b="1"/>
              <a:t>S：皮相電力</a:t>
            </a:r>
            <a:endParaRPr lang="ja-JP" sz="1900"/>
          </a:p>
          <a:p>
            <a:pPr algn="ctr"/>
            <a:r>
              <a:rPr lang="ja-JP" sz="1900" b="1"/>
              <a:t>S² = P² + Q²</a:t>
            </a:r>
            <a:endParaRPr lang="ja-JP" sz="1900"/>
          </a:p>
        </p:txBody>
      </p:sp>
      <p:sp>
        <p:nvSpPr>
          <p:cNvPr id="4" name="pf"/>
          <p:cNvSpPr txBox="1"/>
          <p:nvPr/>
        </p:nvSpPr>
        <p:spPr>
          <a:xfrm>
            <a:off x="5050000" y="1300000"/>
            <a:ext cx="3000000" cy="15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2000" b="1"/>
              <a:t>力率</a:t>
            </a:r>
            <a:endParaRPr lang="ja-JP" sz="2000"/>
          </a:p>
          <a:p>
            <a:pPr algn="ctr"/>
            <a:r>
              <a:rPr lang="ja-JP" sz="2000" b="1"/>
              <a:t>cosφ = P / S</a:t>
            </a:r>
            <a:endParaRPr lang="ja-JP" sz="2000"/>
          </a:p>
          <a:p>
            <a:pPr algn="ctr"/>
            <a:r>
              <a:rPr lang="ja-JP" sz="2000" b="1"/>
              <a:t>Q = P tanφ</a:t>
            </a:r>
            <a:endParaRPr lang="ja-JP" sz="2000"/>
          </a:p>
        </p:txBody>
      </p:sp>
      <p:sp>
        <p:nvSpPr>
          <p:cNvPr id="5" name="sum"/>
          <p:cNvSpPr txBox="1"/>
          <p:nvPr/>
        </p:nvSpPr>
        <p:spPr>
          <a:xfrm>
            <a:off x="8450000" y="1300000"/>
            <a:ext cx="3000000" cy="150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50" b="0"/>
              <a:t>複数負荷</a:t>
            </a:r>
            <a:endParaRPr lang="ja-JP" sz="1750"/>
          </a:p>
          <a:p>
            <a:pPr algn="ctr"/>
            <a:r>
              <a:rPr lang="ja-JP" sz="1750" b="0"/>
              <a:t>Pを合算</a:t>
            </a:r>
            <a:endParaRPr lang="ja-JP" sz="1750"/>
          </a:p>
          <a:p>
            <a:pPr algn="ctr"/>
            <a:r>
              <a:rPr lang="ja-JP" sz="1750" b="0"/>
              <a:t>Qを合算</a:t>
            </a:r>
            <a:endParaRPr lang="ja-JP" sz="1750"/>
          </a:p>
          <a:p>
            <a:pPr algn="ctr"/>
            <a:r>
              <a:rPr lang="ja-JP" sz="1750" b="0"/>
              <a:t>最後にSを計算</a:t>
            </a:r>
            <a:endParaRPr lang="ja-JP" sz="1750"/>
          </a:p>
        </p:txBody>
      </p:sp>
      <p:sp>
        <p:nvSpPr>
          <p:cNvPr id="6" name="capacity"/>
          <p:cNvSpPr txBox="1"/>
          <p:nvPr/>
        </p:nvSpPr>
        <p:spPr>
          <a:xfrm>
            <a:off x="650000" y="3350000"/>
            <a:ext cx="5100000" cy="130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800" b="0"/>
              <a:t>設備容量と負荷</a:t>
            </a:r>
            <a:endParaRPr lang="ja-JP" sz="1800"/>
          </a:p>
          <a:p>
            <a:pPr algn="ctr"/>
            <a:r>
              <a:rPr lang="ja-JP" sz="1800" b="0"/>
              <a:t>kVA/MVA ↔ kW/MW</a:t>
            </a:r>
            <a:endParaRPr lang="ja-JP" sz="1800"/>
          </a:p>
          <a:p>
            <a:pPr algn="ctr"/>
            <a:r>
              <a:rPr lang="ja-JP" sz="1800" b="0"/>
              <a:t>P = S cosφ で接続</a:t>
            </a:r>
            <a:endParaRPr lang="ja-JP" sz="1800"/>
          </a:p>
        </p:txBody>
      </p:sp>
      <p:sp>
        <p:nvSpPr>
          <p:cNvPr id="7" name="improve"/>
          <p:cNvSpPr txBox="1"/>
          <p:nvPr/>
        </p:nvSpPr>
        <p:spPr>
          <a:xfrm>
            <a:off x="6450000" y="3350000"/>
            <a:ext cx="5000000" cy="1300000"/>
          </a:xfrm>
          <a:prstGeom prst="round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800" b="0"/>
              <a:t>力率改善</a:t>
            </a:r>
            <a:endParaRPr lang="ja-JP" sz="1800"/>
          </a:p>
          <a:p>
            <a:pPr algn="ctr"/>
            <a:r>
              <a:rPr lang="ja-JP" sz="1800" b="0"/>
              <a:t>同じPなら I が低下</a:t>
            </a:r>
            <a:endParaRPr lang="ja-JP" sz="1800"/>
          </a:p>
          <a:p>
            <a:pPr algn="ctr"/>
            <a:r>
              <a:rPr lang="ja-JP" sz="1800" b="0"/>
              <a:t>損失・電圧降下が減り設備余裕が増える</a:t>
            </a:r>
            <a:endParaRPr lang="ja-JP" sz="1800"/>
          </a:p>
        </p:txBody>
      </p:sp>
      <p:sp>
        <p:nvSpPr>
          <p:cNvPr id="8" name="note"/>
          <p:cNvSpPr txBox="1"/>
          <p:nvPr/>
        </p:nvSpPr>
        <p:spPr>
          <a:xfrm>
            <a:off x="700000" y="5200000"/>
            <a:ext cx="107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ja-JP" sz="1800" b="1"/>
              <a:t>対応：R8上 電力 問12、R7上 電力 問17(a)(b)</a:t>
            </a:r>
            <a:endParaRPr lang="ja-JP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20000"/>
            <a:ext cx="113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ja-JP" sz="2600" b="1"/>
              <a:t>三相電力・電圧降下・線路損失</a:t>
            </a:r>
            <a:endParaRPr lang="ja-JP" sz="2600"/>
          </a:p>
        </p:txBody>
      </p:sp>
      <p:sp>
        <p:nvSpPr>
          <p:cNvPr id="3" name="c0"/>
          <p:cNvSpPr txBox="1"/>
          <p:nvPr/>
        </p:nvSpPr>
        <p:spPr>
          <a:xfrm>
            <a:off x="600000" y="1250000"/>
            <a:ext cx="3200000" cy="115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850" b="1"/>
              <a:t>三相有効電力</a:t>
            </a:r>
            <a:endParaRPr lang="ja-JP" sz="1850"/>
          </a:p>
          <a:p>
            <a:pPr algn="ctr"/>
            <a:r>
              <a:rPr lang="ja-JP" sz="1850" b="1"/>
              <a:t>P = √3 V I cosφ</a:t>
            </a:r>
            <a:endParaRPr lang="ja-JP" sz="1850"/>
          </a:p>
        </p:txBody>
      </p:sp>
      <p:sp>
        <p:nvSpPr>
          <p:cNvPr id="4" name="arrow"/>
          <p:cNvSpPr txBox="1"/>
          <p:nvPr/>
        </p:nvSpPr>
        <p:spPr>
          <a:xfrm>
            <a:off x="3800000" y="155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ja-JP" sz="2600" b="1"/>
              <a:t>→</a:t>
            </a:r>
            <a:endParaRPr lang="ja-JP" sz="2600"/>
          </a:p>
        </p:txBody>
      </p:sp>
      <p:sp>
        <p:nvSpPr>
          <p:cNvPr id="5" name="c1"/>
          <p:cNvSpPr txBox="1"/>
          <p:nvPr/>
        </p:nvSpPr>
        <p:spPr>
          <a:xfrm>
            <a:off x="4350000" y="1250000"/>
            <a:ext cx="3200000" cy="115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850" b="1"/>
              <a:t>線電流</a:t>
            </a:r>
            <a:endParaRPr lang="ja-JP" sz="1850"/>
          </a:p>
          <a:p>
            <a:pPr algn="ctr"/>
            <a:r>
              <a:rPr lang="ja-JP" sz="1850" b="1"/>
              <a:t>I = P/(√3 V cosφ)</a:t>
            </a:r>
            <a:endParaRPr lang="ja-JP" sz="1850"/>
          </a:p>
        </p:txBody>
      </p:sp>
      <p:sp>
        <p:nvSpPr>
          <p:cNvPr id="6" name="arrow"/>
          <p:cNvSpPr txBox="1"/>
          <p:nvPr/>
        </p:nvSpPr>
        <p:spPr>
          <a:xfrm>
            <a:off x="7550000" y="155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ja-JP" sz="2600" b="1"/>
              <a:t>→</a:t>
            </a:r>
            <a:endParaRPr lang="ja-JP" sz="2600"/>
          </a:p>
        </p:txBody>
      </p:sp>
      <p:sp>
        <p:nvSpPr>
          <p:cNvPr id="7" name="c2"/>
          <p:cNvSpPr txBox="1"/>
          <p:nvPr/>
        </p:nvSpPr>
        <p:spPr>
          <a:xfrm>
            <a:off x="8100000" y="1250000"/>
            <a:ext cx="3200000" cy="115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850" b="1"/>
              <a:t>線路損失</a:t>
            </a:r>
            <a:endParaRPr lang="ja-JP" sz="1850"/>
          </a:p>
          <a:p>
            <a:pPr algn="ctr"/>
            <a:r>
              <a:rPr lang="ja-JP" sz="1850" b="1"/>
              <a:t>P_loss = 3 R I²</a:t>
            </a:r>
            <a:endParaRPr lang="ja-JP" sz="1850"/>
          </a:p>
        </p:txBody>
      </p:sp>
      <p:sp>
        <p:nvSpPr>
          <p:cNvPr id="8" name="drop"/>
          <p:cNvSpPr txBox="1"/>
          <p:nvPr/>
        </p:nvSpPr>
        <p:spPr>
          <a:xfrm>
            <a:off x="650000" y="3000000"/>
            <a:ext cx="5200000" cy="140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50" b="0"/>
              <a:t>電圧降下（短い三相線路の近似）</a:t>
            </a:r>
            <a:endParaRPr lang="ja-JP" sz="1750"/>
          </a:p>
          <a:p>
            <a:pPr algn="ctr"/>
            <a:r>
              <a:rPr lang="ja-JP" sz="1750" b="0"/>
              <a:t>ΔV ≒ √3 I(R cosφ + X sinφ)</a:t>
            </a:r>
            <a:endParaRPr lang="ja-JP" sz="1750"/>
          </a:p>
          <a:p>
            <a:pPr algn="ctr"/>
            <a:r>
              <a:rPr lang="ja-JP" sz="1750" b="0"/>
              <a:t>e = ΔV / V_r</a:t>
            </a:r>
            <a:endParaRPr lang="ja-JP" sz="1750"/>
          </a:p>
        </p:txBody>
      </p:sp>
      <p:sp>
        <p:nvSpPr>
          <p:cNvPr id="9" name="reason"/>
          <p:cNvSpPr txBox="1"/>
          <p:nvPr/>
        </p:nvSpPr>
        <p:spPr>
          <a:xfrm>
            <a:off x="6500000" y="3000000"/>
            <a:ext cx="5000000" cy="1400000"/>
          </a:xfrm>
          <a:prstGeom prst="round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750" b="0"/>
              <a:t>試験での逆算</a:t>
            </a:r>
            <a:endParaRPr lang="ja-JP" sz="1750"/>
          </a:p>
          <a:p>
            <a:pPr algn="ctr"/>
            <a:r>
              <a:rPr lang="ja-JP" sz="1750" b="0"/>
              <a:t>電圧降下率制約 → 許容I → 最大負荷</a:t>
            </a:r>
            <a:endParaRPr lang="ja-JP" sz="1750"/>
          </a:p>
          <a:p>
            <a:pPr algn="ctr"/>
            <a:r>
              <a:rPr lang="ja-JP" sz="1750" b="0"/>
              <a:t>損失一定ならI一定 → 力率↑でP↑</a:t>
            </a:r>
            <a:endParaRPr lang="ja-JP" sz="1750"/>
          </a:p>
        </p:txBody>
      </p:sp>
      <p:sp>
        <p:nvSpPr>
          <p:cNvPr id="10" name="note"/>
          <p:cNvSpPr txBox="1"/>
          <p:nvPr/>
        </p:nvSpPr>
        <p:spPr>
          <a:xfrm>
            <a:off x="650000" y="5100000"/>
            <a:ext cx="109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ja-JP" sz="1800" b="1"/>
              <a:t>対応：R4上 電力 問17(a)(b)、R1 電力 問17(a)(b)</a:t>
            </a:r>
            <a:endParaRPr lang="ja-JP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20000"/>
            <a:ext cx="113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ja-JP" sz="2600" b="1"/>
              <a:t>過去問対応品質ゲート：固定5問・8小問</a:t>
            </a:r>
            <a:endParaRPr lang="ja-JP" sz="2600"/>
          </a:p>
        </p:txBody>
      </p:sp>
      <p:sp>
        <p:nvSpPr>
          <p:cNvPr id="3" name="q0"/>
          <p:cNvSpPr txBox="1"/>
          <p:nvPr/>
        </p:nvSpPr>
        <p:spPr>
          <a:xfrm>
            <a:off x="600000" y="1100000"/>
            <a:ext cx="2500000" cy="7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50" b="1"/>
              <a:t>R8上 電力12</a:t>
            </a:r>
            <a:endParaRPr lang="ja-JP" sz="1550"/>
          </a:p>
        </p:txBody>
      </p:sp>
      <p:sp>
        <p:nvSpPr>
          <p:cNvPr id="4" name="k0"/>
          <p:cNvSpPr txBox="1"/>
          <p:nvPr/>
        </p:nvSpPr>
        <p:spPr>
          <a:xfrm>
            <a:off x="3250000" y="1100000"/>
            <a:ext cx="6900000" cy="70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l"/>
            <a:r>
              <a:rPr lang="ja-JP" sz="1500" b="0"/>
              <a:t>最大総負荷・設備容量・力率・負荷切替</a:t>
            </a:r>
            <a:endParaRPr lang="ja-JP" sz="1500"/>
          </a:p>
        </p:txBody>
      </p:sp>
      <p:sp>
        <p:nvSpPr>
          <p:cNvPr id="5" name="s0"/>
          <p:cNvSpPr txBox="1"/>
          <p:nvPr/>
        </p:nvSpPr>
        <p:spPr>
          <a:xfrm>
            <a:off x="10300000" y="1100000"/>
            <a:ext cx="1250000" cy="700000"/>
          </a:xfrm>
          <a:prstGeom prst="round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00" b="1"/>
              <a:t>Slide 2</a:t>
            </a:r>
            <a:endParaRPr lang="ja-JP" sz="1500"/>
          </a:p>
        </p:txBody>
      </p:sp>
      <p:sp>
        <p:nvSpPr>
          <p:cNvPr id="6" name="q1"/>
          <p:cNvSpPr txBox="1"/>
          <p:nvPr/>
        </p:nvSpPr>
        <p:spPr>
          <a:xfrm>
            <a:off x="600000" y="1920000"/>
            <a:ext cx="2500000" cy="7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50" b="1"/>
              <a:t>R7上 電力17(a)(b)</a:t>
            </a:r>
            <a:endParaRPr lang="ja-JP" sz="1550"/>
          </a:p>
        </p:txBody>
      </p:sp>
      <p:sp>
        <p:nvSpPr>
          <p:cNvPr id="7" name="k1"/>
          <p:cNvSpPr txBox="1"/>
          <p:nvPr/>
        </p:nvSpPr>
        <p:spPr>
          <a:xfrm>
            <a:off x="3250000" y="1920000"/>
            <a:ext cx="6900000" cy="70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l"/>
            <a:r>
              <a:rPr lang="ja-JP" sz="1500" b="0"/>
              <a:t>P/Q/S合成・変圧器容量・力率改善</a:t>
            </a:r>
            <a:endParaRPr lang="ja-JP" sz="1500"/>
          </a:p>
        </p:txBody>
      </p:sp>
      <p:sp>
        <p:nvSpPr>
          <p:cNvPr id="8" name="s1"/>
          <p:cNvSpPr txBox="1"/>
          <p:nvPr/>
        </p:nvSpPr>
        <p:spPr>
          <a:xfrm>
            <a:off x="10300000" y="1920000"/>
            <a:ext cx="1250000" cy="700000"/>
          </a:xfrm>
          <a:prstGeom prst="round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00" b="1"/>
              <a:t>Slide 2</a:t>
            </a:r>
            <a:endParaRPr lang="ja-JP" sz="1500"/>
          </a:p>
        </p:txBody>
      </p:sp>
      <p:sp>
        <p:nvSpPr>
          <p:cNvPr id="9" name="q2"/>
          <p:cNvSpPr txBox="1"/>
          <p:nvPr/>
        </p:nvSpPr>
        <p:spPr>
          <a:xfrm>
            <a:off x="600000" y="2740000"/>
            <a:ext cx="2500000" cy="7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50" b="1"/>
              <a:t>R4上 電力17(a)(b)</a:t>
            </a:r>
            <a:endParaRPr lang="ja-JP" sz="1550"/>
          </a:p>
        </p:txBody>
      </p:sp>
      <p:sp>
        <p:nvSpPr>
          <p:cNvPr id="10" name="k2"/>
          <p:cNvSpPr txBox="1"/>
          <p:nvPr/>
        </p:nvSpPr>
        <p:spPr>
          <a:xfrm>
            <a:off x="3250000" y="2740000"/>
            <a:ext cx="6900000" cy="70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l"/>
            <a:r>
              <a:rPr lang="ja-JP" sz="1500" b="0"/>
              <a:t>三相電力・電圧降下・損失一定</a:t>
            </a:r>
            <a:endParaRPr lang="ja-JP" sz="1500"/>
          </a:p>
        </p:txBody>
      </p:sp>
      <p:sp>
        <p:nvSpPr>
          <p:cNvPr id="11" name="s2"/>
          <p:cNvSpPr txBox="1"/>
          <p:nvPr/>
        </p:nvSpPr>
        <p:spPr>
          <a:xfrm>
            <a:off x="10300000" y="2740000"/>
            <a:ext cx="1250000" cy="700000"/>
          </a:xfrm>
          <a:prstGeom prst="round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00" b="1"/>
              <a:t>Slide 3</a:t>
            </a:r>
            <a:endParaRPr lang="ja-JP" sz="1500"/>
          </a:p>
        </p:txBody>
      </p:sp>
      <p:sp>
        <p:nvSpPr>
          <p:cNvPr id="12" name="q3"/>
          <p:cNvSpPr txBox="1"/>
          <p:nvPr/>
        </p:nvSpPr>
        <p:spPr>
          <a:xfrm>
            <a:off x="600000" y="3560000"/>
            <a:ext cx="2500000" cy="7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50" b="1"/>
              <a:t>R3 法規13(a)(b)</a:t>
            </a:r>
            <a:endParaRPr lang="ja-JP" sz="1550"/>
          </a:p>
        </p:txBody>
      </p:sp>
      <p:sp>
        <p:nvSpPr>
          <p:cNvPr id="13" name="k3"/>
          <p:cNvSpPr txBox="1"/>
          <p:nvPr/>
        </p:nvSpPr>
        <p:spPr>
          <a:xfrm>
            <a:off x="3250000" y="3560000"/>
            <a:ext cx="6900000" cy="70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l"/>
            <a:r>
              <a:rPr lang="ja-JP" sz="1500" b="0"/>
              <a:t>需要率・負荷率・需要電力量・不等率</a:t>
            </a:r>
            <a:endParaRPr lang="ja-JP" sz="1500"/>
          </a:p>
        </p:txBody>
      </p:sp>
      <p:sp>
        <p:nvSpPr>
          <p:cNvPr id="14" name="s3"/>
          <p:cNvSpPr txBox="1"/>
          <p:nvPr/>
        </p:nvSpPr>
        <p:spPr>
          <a:xfrm>
            <a:off x="10300000" y="3560000"/>
            <a:ext cx="1250000" cy="700000"/>
          </a:xfrm>
          <a:prstGeom prst="round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00" b="1"/>
              <a:t>Slide 1</a:t>
            </a:r>
            <a:endParaRPr lang="ja-JP" sz="1500"/>
          </a:p>
        </p:txBody>
      </p:sp>
      <p:sp>
        <p:nvSpPr>
          <p:cNvPr id="15" name="q4"/>
          <p:cNvSpPr txBox="1"/>
          <p:nvPr/>
        </p:nvSpPr>
        <p:spPr>
          <a:xfrm>
            <a:off x="600000" y="4380000"/>
            <a:ext cx="2500000" cy="700000"/>
          </a:xfrm>
          <a:prstGeom prst="roundRect">
            <a:avLst/>
          </a:prstGeom>
          <a:solidFill>
            <a:srgbClr val="EAF2F8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50" b="1"/>
              <a:t>R1 電力17(a)(b)</a:t>
            </a:r>
            <a:endParaRPr lang="ja-JP" sz="1550"/>
          </a:p>
        </p:txBody>
      </p:sp>
      <p:sp>
        <p:nvSpPr>
          <p:cNvPr id="16" name="k4"/>
          <p:cNvSpPr txBox="1"/>
          <p:nvPr/>
        </p:nvSpPr>
        <p:spPr>
          <a:xfrm>
            <a:off x="3250000" y="4380000"/>
            <a:ext cx="6900000" cy="70000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l"/>
            <a:r>
              <a:rPr lang="ja-JP" sz="1500" b="0"/>
              <a:t>線路電流・損失・電圧降下率・増設可能負荷</a:t>
            </a:r>
            <a:endParaRPr lang="ja-JP" sz="1500"/>
          </a:p>
        </p:txBody>
      </p:sp>
      <p:sp>
        <p:nvSpPr>
          <p:cNvPr id="17" name="s4"/>
          <p:cNvSpPr txBox="1"/>
          <p:nvPr/>
        </p:nvSpPr>
        <p:spPr>
          <a:xfrm>
            <a:off x="10300000" y="4380000"/>
            <a:ext cx="1250000" cy="700000"/>
          </a:xfrm>
          <a:prstGeom prst="round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txBody>
          <a:bodyPr anchor="ctr" wrap="square" lIns="90000" tIns="60000" rIns="90000" bIns="60000"/>
          <a:lstStyle/>
          <a:p>
            <a:pPr algn="ctr"/>
            <a:r>
              <a:rPr lang="ja-JP" sz="1500" b="1"/>
              <a:t>Slide 3</a:t>
            </a:r>
            <a:endParaRPr lang="ja-JP" sz="1500"/>
          </a:p>
        </p:txBody>
      </p:sp>
      <p:sp>
        <p:nvSpPr>
          <p:cNvPr id="18" name="gate"/>
          <p:cNvSpPr txBox="1"/>
          <p:nvPr/>
        </p:nvSpPr>
        <p:spPr>
          <a:xfrm>
            <a:off x="650000" y="5350000"/>
            <a:ext cx="108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ja-JP" sz="1700" b="1"/>
              <a:t>要求事項可視化：8 / 8　　SPEC外追加：0件　　未確認実設備値：0件</a:t>
            </a:r>
            <a:endParaRPr lang="ja-JP" sz="1700"/>
          </a:p>
          <a:p>
            <a:pPr algn="ctr"/>
            <a:r>
              <a:rPr lang="ja-JP" sz="1700" b="1"/>
              <a:t>次：完成教材だけで保存済み正答を見ずブラインド独立再解答</a:t>
            </a:r>
            <a:endParaRPr lang="ja-JP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inimal">
      <a:majorFont>
        <a:latin typeface="Aptos Display"/>
        <a:ea typeface="Noto Sans CJK JP"/>
        <a:cs typeface="Arial"/>
      </a:majorFont>
      <a:minorFont>
        <a:latin typeface="Aptos"/>
        <a:ea typeface="Noto Sans CJK JP"/>
        <a:cs typeface="Arial"/>
      </a:minorFont>
    </a:fontScheme>
    <a:fmtScheme name="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