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9224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電験三種｜電力｜Topic 03 火力発電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0" y="6492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cureflash/homepage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JR東日本はなぜ火力発電所まで持っている？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新幹線を入口に、電験三種「火力発電」の計算と判断をつなぐ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電験で問われること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64208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10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熱効率・熱消費率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67128"/>
            <a:ext cx="301752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投入した熱量に対して、何kWhを発電できたか。単位換算と効率の逆算が中心。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054096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054096"/>
            <a:ext cx="6400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0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蒸気タービン・復水器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557016"/>
            <a:ext cx="301752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比エンタルピー差、タービン効率、使用蒸気量。復水器の真空度と効率の因果関係。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443984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443984"/>
            <a:ext cx="64008" cy="1234440"/>
          </a:xfrm>
          <a:prstGeom prst="rect">
            <a:avLst/>
          </a:prstGeom>
          <a:solidFill>
            <a:srgbClr val="287A5B"/>
          </a:solidFill>
          <a:ln w="12700">
            <a:solidFill>
              <a:srgbClr val="287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902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所内率・コンバインド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946904"/>
            <a:ext cx="301752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発電端と送電端を区別。ガスタービン排熱を蒸気側で再利用する流れを判断。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1243584"/>
            <a:ext cx="7187184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527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JR東日本・川崎発電所を入口にする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45152" y="2039112"/>
            <a:ext cx="1481328" cy="310896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総出力 80.9万kW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91072" y="2039112"/>
            <a:ext cx="1371600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0848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発電機 4台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27264" y="2039112"/>
            <a:ext cx="1508760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2084832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都市ガス・天然ガス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09760" y="2039112"/>
            <a:ext cx="1481328" cy="310896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E9F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64624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7A5B"/>
                </a:solidFill>
              </a:rPr>
              <a:t>複合サイクル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889504"/>
            <a:ext cx="1298448" cy="65836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935224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燃料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08192" y="3054096"/>
            <a:ext cx="512064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11696" y="2889504"/>
            <a:ext cx="1508760" cy="65836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2935224"/>
            <a:ext cx="1362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ガスタービン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11896" y="3054096"/>
            <a:ext cx="512064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24544" y="2889504"/>
            <a:ext cx="1417320" cy="65836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97696" y="2935224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発電機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42632" y="3703320"/>
            <a:ext cx="329184" cy="594360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385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排熱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4443984"/>
            <a:ext cx="1389888" cy="65836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4489704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蒸気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54112" y="4608576"/>
            <a:ext cx="512064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7616" y="4443984"/>
            <a:ext cx="1591056" cy="65836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0768" y="448970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蒸気タービン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049256" y="4608576"/>
            <a:ext cx="512064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52760" y="4443984"/>
            <a:ext cx="685800" cy="658368"/>
          </a:xfrm>
          <a:prstGeom prst="roundRect">
            <a:avLst/>
          </a:prstGeom>
          <a:solidFill>
            <a:srgbClr val="E9F6F0"/>
          </a:solidFill>
          <a:ln w="17780">
            <a:solidFill>
              <a:srgbClr val="287A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25912" y="4489704"/>
            <a:ext cx="539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</a:rPr>
              <a:t>発電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45152" y="5413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目的は設備暗記ではなく、一般化した電験問題を解けること。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2648" y="601675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出典: JR東日本公式（川崎発電所／カーボンニュートラル／発電所更新）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汽力発電と復水器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機器名ではなく「何が入り、何が出るか」で覚える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261872" cy="749808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630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燃料の熱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48256" y="1636776"/>
            <a:ext cx="502920" cy="310896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417320"/>
            <a:ext cx="1298448" cy="74980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146304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ボイラ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50792" y="1636776"/>
            <a:ext cx="502920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1417320"/>
            <a:ext cx="1298448" cy="74980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46304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蒸気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53328" y="1636776"/>
            <a:ext cx="502920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6832" y="1417320"/>
            <a:ext cx="1691640" cy="74980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9984" y="1463040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蒸気タービン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49056" y="1636776"/>
            <a:ext cx="502920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417320"/>
            <a:ext cx="1298448" cy="74980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46304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発電機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451592" y="1636776"/>
            <a:ext cx="502920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09376" y="1417320"/>
            <a:ext cx="713232" cy="749808"/>
          </a:xfrm>
          <a:prstGeom prst="roundRect">
            <a:avLst/>
          </a:prstGeom>
          <a:solidFill>
            <a:srgbClr val="E9F6F0"/>
          </a:solidFill>
          <a:ln w="17780">
            <a:solidFill>
              <a:srgbClr val="287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82528" y="146304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</a:rPr>
              <a:t>電力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96912" y="2267712"/>
            <a:ext cx="347472" cy="576072"/>
          </a:xfrm>
          <a:prstGeom prst="down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65392" y="2944368"/>
            <a:ext cx="1874520" cy="749808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2990088"/>
            <a:ext cx="1728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復水器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3163824"/>
            <a:ext cx="2148840" cy="310896"/>
          </a:xfrm>
          <a:prstGeom prst="lef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48386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水へ戻す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" y="2834640"/>
            <a:ext cx="310896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2834640"/>
            <a:ext cx="64008" cy="21214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29809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復水器の役割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7824" y="3337560"/>
            <a:ext cx="27889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排気蒸気を凝縮 → 復水器内を低圧に保つ → タービン出口圧力が下がる → 利用できる熱落差が増える → 取り出せる仕事が増える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06240" y="4005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因果関係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58384" y="4279392"/>
            <a:ext cx="1572768" cy="603504"/>
          </a:xfrm>
          <a:prstGeom prst="roundRect">
            <a:avLst/>
          </a:prstGeom>
          <a:solidFill>
            <a:srgbClr val="F2F4F7"/>
          </a:solidFill>
          <a:ln w="1778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432511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</a:rPr>
              <a:t>真空度が高い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04304" y="4425696"/>
            <a:ext cx="301752" cy="25603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42632" y="4279392"/>
            <a:ext cx="1572768" cy="603504"/>
          </a:xfrm>
          <a:prstGeom prst="roundRect">
            <a:avLst/>
          </a:prstGeom>
          <a:solidFill>
            <a:srgbClr val="F2F4F7"/>
          </a:solidFill>
          <a:ln w="1778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15784" y="432511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</a:rPr>
              <a:t>絶対圧力は低い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88552" y="4425696"/>
            <a:ext cx="301752" cy="256032"/>
          </a:xfrm>
          <a:prstGeom prst="rightArrow">
            <a:avLst/>
          </a:prstGeom>
          <a:solidFill>
            <a:srgbClr val="287A5B"/>
          </a:solidFill>
          <a:ln w="12700">
            <a:solidFill>
              <a:srgbClr val="287A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6880" y="4279392"/>
            <a:ext cx="1572768" cy="603504"/>
          </a:xfrm>
          <a:prstGeom prst="roundRect">
            <a:avLst/>
          </a:prstGeom>
          <a:solidFill>
            <a:srgbClr val="E9F6F0"/>
          </a:solidFill>
          <a:ln w="17780">
            <a:solidFill>
              <a:srgbClr val="287A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0032" y="432511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</a:rPr>
              <a:t>タービン効率↑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58384" y="5230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ひっかけ: 「真空度が高い」≠「絶対圧力が高い」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58384" y="5715000"/>
            <a:ext cx="1828800" cy="310896"/>
          </a:xfrm>
          <a:prstGeom prst="roundRect">
            <a:avLst/>
          </a:prstGeom>
          <a:solidFill>
            <a:srgbClr val="FEE4E2"/>
          </a:solidFill>
          <a:ln w="12700">
            <a:solidFill>
              <a:srgbClr val="FEE4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13248" y="5760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18"/>
                </a:solidFill>
              </a:rPr>
              <a:t>R8上 電力 問3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蒸気タービンの出力と使用蒸気量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比エンタルピー差 × 蒸気流量 × タービン効率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1208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99032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ηt · ṁ · (h1 − h2)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13232" y="2304288"/>
            <a:ext cx="521208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ṁ = P / {ηt (h1 − h2)}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13232" y="3319272"/>
            <a:ext cx="5212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319272"/>
            <a:ext cx="64008" cy="17556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4655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単位がそのまま kW につながる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822192"/>
            <a:ext cx="48920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(kJ/kg) × (kg/s) = kJ/s = kW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kg/s → t/h は 3.6 倍。必要蒸気量の逆算では、効率を含む実効熱落差で割る。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516636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本試験標準例題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01968" y="208483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P = 150 MW,  h1 = 3200 kJ/kg,  h2 = 1600 kJ/kg,  ηt = 0.90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01968" y="26974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</a:rPr>
              <a:t>① Δh = 3200 − 1600 = 1600 kJ/kg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01968" y="316382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</a:rPr>
              <a:t>② 150 MW = 150000 kW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36301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</a:rPr>
              <a:t>③ ṁ = 150000 / (0.90 × 1600)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31152" y="40416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= 104.17 kg/s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1968" y="46177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④ 104.17 × 3.6 = 375 t/h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01968" y="5175504"/>
            <a:ext cx="1828800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52212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R7上 電力 問2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熱効率と熱消費率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「出た電気」と「入れた熱」を同じエネルギー単位で比べる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76656" y="1307592"/>
            <a:ext cx="34290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80744"/>
            <a:ext cx="3209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Qin = mf · Hf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70832" y="1307592"/>
            <a:ext cx="34290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380744"/>
            <a:ext cx="3209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Eout = 3600 · Wg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065008" y="1307592"/>
            <a:ext cx="3429000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87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74736" y="1380744"/>
            <a:ext cx="3209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8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ηg = Eout / Qin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76656" y="2368296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368296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単位換算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" y="2871216"/>
            <a:ext cx="310896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1 kWh = 3600 kJ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1 MWh = 3.6×10^6 kJ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1 MW = 1000 kW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70832" y="2368296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368296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熱消費率 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3712" y="2871216"/>
            <a:ext cx="310896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1 kWhを得るための投入熱量。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η = 3600 / q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効率が高いほど q は小さい。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65008" y="2368296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2368296"/>
            <a:ext cx="64008" cy="1508760"/>
          </a:xfrm>
          <a:prstGeom prst="rect">
            <a:avLst/>
          </a:prstGeom>
          <a:solidFill>
            <a:srgbClr val="287A5B"/>
          </a:solidFill>
          <a:ln w="12700">
            <a:solidFill>
              <a:srgbClr val="287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簡略復水器熱収支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47888" y="2871216"/>
            <a:ext cx="310896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その他の損失を無視する条件で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qP = 3600P + Qc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P = Qc / (q − 3600)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" y="4261104"/>
            <a:ext cx="10817352" cy="1298448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6C5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535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例: Qin = 50 GJ, Wg = 5.0 MWh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4535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</a:rPr>
              <a:t>Eout = 5000 × 3600 = 18,000,000 kJ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59168" y="4462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7A5B"/>
                </a:solidFill>
              </a:rPr>
              <a:t>ηg = 36%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85632" y="4535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q = 10,000 kJ/kWh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7824" y="5769864"/>
            <a:ext cx="2240280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815584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R7下 問15(a)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5769864"/>
            <a:ext cx="1965960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815584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R1 問15(a)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発電端・送電端・所内率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発電所の中で使う電力を引いてから、外へ送る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86384" y="1417320"/>
            <a:ext cx="2148840" cy="804672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463040"/>
            <a:ext cx="2002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発電端 Pg / Wg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99816" y="1664208"/>
            <a:ext cx="658368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41064" y="1417320"/>
            <a:ext cx="1965960" cy="804672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14216" y="1463040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所内消費 PgL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9904" y="1664208"/>
            <a:ext cx="658368" cy="310896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1417320"/>
            <a:ext cx="2286000" cy="804672"/>
          </a:xfrm>
          <a:prstGeom prst="roundRect">
            <a:avLst/>
          </a:prstGeom>
          <a:solidFill>
            <a:srgbClr val="E9F6F0"/>
          </a:solidFill>
          <a:ln w="17780">
            <a:solidFill>
              <a:srgbClr val="287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4304" y="1463040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送電端 Ps / 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6384" y="2578608"/>
            <a:ext cx="3913632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51760"/>
            <a:ext cx="3694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 = Pg(1 − L)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928616" y="2578608"/>
            <a:ext cx="3913632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87A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8344" y="2651760"/>
            <a:ext cx="3694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8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 = Wg(1 − L)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070848" y="2578608"/>
            <a:ext cx="2148840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2651760"/>
            <a:ext cx="19293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 = Ps/(1−L)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86384" y="3593592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593592"/>
            <a:ext cx="64008" cy="15727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7398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変動出力の電力量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" y="4096512"/>
            <a:ext cx="4754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出力が時間で変わるときは、各時間帯の P×t を足す。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Wg = Σ(Pi ti)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MW×h = MWh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44768" y="3593592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3593592"/>
            <a:ext cx="64008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7398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頻出ミス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27648" y="4096512"/>
            <a:ext cx="4754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発電端 → 送電端では (1−L) を掛ける。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送電端 → 発電端では (1−L) で割る。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発電端熱効率には、発電端電力量を使う。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5486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複合例題の結果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13432" y="5413248"/>
            <a:ext cx="1993392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68296" y="54589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Wg = 5100 MWh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62272" y="5413248"/>
            <a:ext cx="2103120" cy="310896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E9F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7136" y="54589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7A5B"/>
                </a:solidFill>
              </a:rPr>
              <a:t>Ws = 4972.5 MWh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29984" y="5413248"/>
            <a:ext cx="1938528" cy="310896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5458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ηg = 36.72%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33104" y="5413248"/>
            <a:ext cx="1965960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5458968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R3 問15(a)(b)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ガスタービンとコンバインドサイクル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排熱をもう一段使って、熱効率を高める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単純ガスタービン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1673352"/>
            <a:ext cx="1353312" cy="68580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19072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燃料・空気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12264" y="1856232"/>
            <a:ext cx="384048" cy="256032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96896" y="1673352"/>
            <a:ext cx="1417320" cy="68580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719072"/>
            <a:ext cx="1271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燃焼ガス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856232"/>
            <a:ext cx="384048" cy="25603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673352"/>
            <a:ext cx="1554480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719072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ガスタービン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4496" y="1856232"/>
            <a:ext cx="384048" cy="25603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1673352"/>
            <a:ext cx="1234440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719072"/>
            <a:ext cx="1088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発電機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コンバインドサイクル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3182112"/>
            <a:ext cx="1463040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27832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ガスタービン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21992" y="3364992"/>
            <a:ext cx="384048" cy="25603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06624" y="3182112"/>
            <a:ext cx="1143000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3227832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発電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70432" y="3968496"/>
            <a:ext cx="365760" cy="530352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排熱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4681728"/>
            <a:ext cx="1463040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27448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蒸気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21992" y="4864608"/>
            <a:ext cx="384048" cy="25603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06624" y="4681728"/>
            <a:ext cx="1627632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9776" y="472744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蒸気タービン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34840" y="4864608"/>
            <a:ext cx="384048" cy="25603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4681728"/>
            <a:ext cx="1143000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4727448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発電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63056" y="4864608"/>
            <a:ext cx="384048" cy="256032"/>
          </a:xfrm>
          <a:prstGeom prst="right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47688" y="4681728"/>
            <a:ext cx="1325880" cy="68580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727448"/>
            <a:ext cx="1179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復水器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1335024"/>
            <a:ext cx="31729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160020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本試験での比較ポイント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31936" y="214884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起動・停止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582912" y="21488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ガスタービン部は速い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631936" y="278892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負荷追従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582912" y="27889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変化へ追従しやすい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631936" y="342900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熱効率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582912" y="34290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排熱利用で高めやすい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631936" y="406908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外気温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582912" y="40690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高温時は最大出力↓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631936" y="47091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温排水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582912" y="47091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蒸気系があるので生じる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641080" y="5257800"/>
            <a:ext cx="1965960" cy="310896"/>
          </a:xfrm>
          <a:prstGeom prst="roundRect">
            <a:avLst/>
          </a:prstGeom>
          <a:solidFill>
            <a:srgbClr val="FEE4E2"/>
          </a:solidFill>
          <a:ln w="12700">
            <a:solidFill>
              <a:srgbClr val="FEE4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95944" y="530352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18"/>
                </a:solidFill>
              </a:rPr>
              <a:t>R6上 電力 問3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解法アルゴリズムと頻出ミス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火力発電問題は「単位 → 熱量 → 発電端 → 所内率」の順に整理する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68122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533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1  既知量を P, W, mf, Hf, η, q, L, h1, h2 に整理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" y="1856232"/>
            <a:ext cx="6812280" cy="457200"/>
          </a:xfrm>
          <a:prstGeom prst="roundRect">
            <a:avLst/>
          </a:prstGeom>
          <a:solidFill>
            <a:srgbClr val="F2F4F7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4767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2  MW/kW, MWh/kWh, kWh/kJ, kg/s/t/h をそろえる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" y="2450592"/>
            <a:ext cx="68122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54203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3  燃料なら Qin = mfHf、変動出力なら Wg = Σ(Piti)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" y="3044952"/>
            <a:ext cx="6812280" cy="457200"/>
          </a:xfrm>
          <a:prstGeom prst="roundRect">
            <a:avLst/>
          </a:prstGeom>
          <a:solidFill>
            <a:srgbClr val="F2F4F7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13639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4  発電端熱効率 ηg = 3600Wg / Qin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3639312"/>
            <a:ext cx="68122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73075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5  所内率があれば Ps, Ws = 発電端 × (1−L)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4233672"/>
            <a:ext cx="6812280" cy="457200"/>
          </a:xfrm>
          <a:prstGeom prst="roundRect">
            <a:avLst/>
          </a:prstGeom>
          <a:solidFill>
            <a:srgbClr val="F2F4F7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3251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6  蒸気量なら P = ηt ṁ(h1−h2)、熱消費率なら η = 3600/q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4828032"/>
            <a:ext cx="68122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91947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7  効率0〜1、送電端≦発電端、要求単位を検算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90688" y="1261872"/>
            <a:ext cx="3730752" cy="4270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1554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頻出ミス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92440" y="19933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</a:rPr>
              <a:t>• MW と MWh の混同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92440" y="241401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</a:rPr>
              <a:t>• 1 MWh = 3.6×10^6 kJ を落とす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92440" y="283464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</a:rPr>
              <a:t>• 真空度↑を絶対圧力↑と誤解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92440" y="325526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</a:rPr>
              <a:t>• 蒸気量逆算で ηt を掛けてしまう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2440" y="367588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</a:rPr>
              <a:t>• 送電端→発電端で (1−L) を掛ける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92440" y="40965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</a:rPr>
              <a:t>• 発電端熱効率に送電端電力量を使う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92440" y="451713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</a:rPr>
              <a:t>• 外気温影響を「小さい」と誤認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" y="5650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過去問対応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783080" y="5559552"/>
            <a:ext cx="1389888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37944" y="5605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R8上 問3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5559552"/>
            <a:ext cx="1389888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5605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R7下 問15(a)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5559552"/>
            <a:ext cx="1389888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5605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R7上 問2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46520" y="5559552"/>
            <a:ext cx="1389888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1384" y="5605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R6上 問3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5559552"/>
            <a:ext cx="1389888" cy="310896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5864" y="5605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R3 問15(a)(b)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555480" y="5559552"/>
            <a:ext cx="1389888" cy="310896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10344" y="5605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R1 問15(a)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JR東日本はなぜ火力発電所まで持っている？</dc:title>
  <dc:subject>電験三種 電力 - 火力発電</dc:subject>
  <dc:creator>OpenAI</dc:creator>
  <cp:lastModifiedBy>OpenAI</cp:lastModifiedBy>
  <cp:revision>1</cp:revision>
  <dcterms:created xsi:type="dcterms:W3CDTF">2026-09-13T05:16:13Z</dcterms:created>
  <dcterms:modified xsi:type="dcterms:W3CDTF">2026-09-13T05:16:13Z</dcterms:modified>
</cp:coreProperties>
</file>