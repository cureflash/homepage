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00" name="bg100"/>
          <p:cNvSpPr/>
          <p:nvPr/>
        </p:nvSpPr>
        <p:spPr>
          <a:xfrm>
            <a:off x="320040" y="137160"/>
            <a:ext cx="11567160" cy="5943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</p:sp>
      <p:sp>
        <p:nvSpPr>
          <p:cNvPr id="101" name="bg101"/>
          <p:cNvSpPr/>
          <p:nvPr/>
        </p:nvSpPr>
        <p:spPr>
          <a:xfrm>
            <a:off x="594360" y="1600200"/>
            <a:ext cx="53949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8C7D9"/>
            </a:solidFill>
          </a:ln>
        </p:spPr>
      </p:sp>
      <p:sp>
        <p:nvSpPr>
          <p:cNvPr id="102" name="bg102"/>
          <p:cNvSpPr/>
          <p:nvPr/>
        </p:nvSpPr>
        <p:spPr>
          <a:xfrm>
            <a:off x="5989320" y="1600200"/>
            <a:ext cx="55778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8C7D9"/>
            </a:solidFill>
          </a:ln>
        </p:spPr>
      </p:sp>
      <p:sp>
        <p:nvSpPr>
          <p:cNvPr id="103" name="bg103"/>
          <p:cNvSpPr/>
          <p:nvPr/>
        </p:nvSpPr>
        <p:spPr>
          <a:xfrm>
            <a:off x="594360" y="3474720"/>
            <a:ext cx="10972800" cy="141732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5B95C"/>
            </a:solidFill>
          </a:ln>
        </p:spPr>
      </p:sp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600" b="1" dirty="0"/>
              <a:t>Topic 08｜新幹線の変電所はなぜ数十kmおき？</a:t>
            </a:r>
            <a:endParaRPr lang="ja-JP" sz="2600"/>
          </a:p>
        </p:txBody>
      </p:sp>
      <p:sp>
        <p:nvSpPr>
          <p:cNvPr id="3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 b="1" dirty="0"/>
              <a:t>距離が長いほど線路の R・X が増え、電圧降下と抵抗損が増える</a:t>
            </a:r>
            <a:endParaRPr lang="ja-JP" sz="1900"/>
          </a:p>
        </p:txBody>
      </p:sp>
      <p:sp>
        <p:nvSpPr>
          <p:cNvPr id="4" name="TextBox 4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200" b="1" dirty="0"/>
              <a:t>R = r l　　X = x l　　Z = R + jX</a:t>
            </a:r>
            <a:endParaRPr lang="ja-JP" sz="2200"/>
          </a:p>
        </p:txBody>
      </p:sp>
      <p:sp>
        <p:nvSpPr>
          <p:cNvPr id="5" name="TextBox 5"/>
          <p:cNvSpPr txBox="1"/>
          <p:nvPr/>
        </p:nvSpPr>
        <p:spPr>
          <a:xfrm>
            <a:off x="731520" y="2468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200" b="1" dirty="0"/>
              <a:t>P = √3 V I cosφ</a:t>
            </a:r>
            <a:endParaRPr lang="ja-JP" sz="2200"/>
          </a:p>
        </p:txBody>
      </p:sp>
      <p:sp>
        <p:nvSpPr>
          <p:cNvPr id="6" name="TextBox 6"/>
          <p:cNvSpPr txBox="1"/>
          <p:nvPr/>
        </p:nvSpPr>
        <p:spPr>
          <a:xfrm>
            <a:off x="6035040" y="1737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000" b="1" dirty="0"/>
              <a:t>ΔV ≒ √3 I(R cosφ + X sinφ)</a:t>
            </a:r>
            <a:endParaRPr lang="ja-JP" sz="2000"/>
          </a:p>
        </p:txBody>
      </p:sp>
      <p:sp>
        <p:nvSpPr>
          <p:cNvPr id="7" name="TextBox 7"/>
          <p:cNvSpPr txBox="1"/>
          <p:nvPr/>
        </p:nvSpPr>
        <p:spPr>
          <a:xfrm>
            <a:off x="6035040" y="2468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200" b="1" dirty="0"/>
              <a:t>P_loss = 3 I² R</a:t>
            </a:r>
            <a:endParaRPr lang="ja-JP" sz="2200"/>
          </a:p>
        </p:txBody>
      </p:sp>
      <p:sp>
        <p:nvSpPr>
          <p:cNvPr id="8" name="TextBox 8"/>
          <p:cNvSpPr txBox="1"/>
          <p:nvPr/>
        </p:nvSpPr>
        <p:spPr>
          <a:xfrm>
            <a:off x="731520" y="365760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0" dirty="0"/>
              <a:t>解法順序：① Ω/km×こう長 → R・X　② P,V,cosφ → I</a:t>
            </a:r>
            <a:endParaRPr lang="ja-JP" sz="1700"/>
          </a:p>
          <a:p>
            <a:pPr algn="l"/>
            <a:r>
              <a:rPr lang="ja-JP" sz="1700" b="0" dirty="0"/>
              <a:t>③ ΔV / P_loss　④ 基準電圧・分母を確認</a:t>
            </a:r>
            <a:endParaRPr lang="ja-JP" sz="1700"/>
          </a:p>
        </p:txBody>
      </p:sp>
      <p:sp>
        <p:nvSpPr>
          <p:cNvPr id="9" name="TextBox 9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0" dirty="0"/>
              <a:t>電験では実際の変電所間隔の暗記ではなく、送電線計算で「遠距離ほど条件が厳しい」ことを理解する。</a:t>
            </a:r>
            <a:endParaRPr lang="ja-JP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00" name="bg100"/>
          <p:cNvSpPr/>
          <p:nvPr/>
        </p:nvSpPr>
        <p:spPr>
          <a:xfrm>
            <a:off x="320040" y="137160"/>
            <a:ext cx="11567160" cy="5943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</p:sp>
      <p:sp>
        <p:nvSpPr>
          <p:cNvPr id="101" name="bg101"/>
          <p:cNvSpPr/>
          <p:nvPr/>
        </p:nvSpPr>
        <p:spPr>
          <a:xfrm>
            <a:off x="502920" y="1234440"/>
            <a:ext cx="544068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8C7D9"/>
            </a:solidFill>
          </a:ln>
        </p:spPr>
      </p:sp>
      <p:sp>
        <p:nvSpPr>
          <p:cNvPr id="102" name="bg102"/>
          <p:cNvSpPr/>
          <p:nvPr/>
        </p:nvSpPr>
        <p:spPr>
          <a:xfrm>
            <a:off x="5989320" y="1234440"/>
            <a:ext cx="5623560" cy="3429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8C7D9"/>
            </a:solidFill>
          </a:ln>
        </p:spPr>
      </p:sp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500" b="1" dirty="0"/>
              <a:t>単一負荷｜電圧降下率から最大負荷電力を逆算</a:t>
            </a:r>
            <a:endParaRPr lang="ja-JP" sz="2500"/>
          </a:p>
        </p:txBody>
      </p:sp>
      <p:sp>
        <p:nvSpPr>
          <p:cNvPr id="3" name="TextBox 3"/>
          <p:cNvSpPr txBox="1"/>
          <p:nvPr/>
        </p:nvSpPr>
        <p:spPr>
          <a:xfrm>
            <a:off x="54864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 b="1" dirty="0"/>
              <a:t>標準手順</a:t>
            </a:r>
            <a:endParaRPr lang="ja-JP" sz="1900"/>
          </a:p>
        </p:txBody>
      </p:sp>
      <p:sp>
        <p:nvSpPr>
          <p:cNvPr id="4" name="TextBox 4"/>
          <p:cNvSpPr txBox="1"/>
          <p:nvPr/>
        </p:nvSpPr>
        <p:spPr>
          <a:xfrm>
            <a:off x="731520" y="141732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800" b="0" dirty="0"/>
              <a:t>1. R=rl, X=xl</a:t>
            </a:r>
            <a:endParaRPr lang="ja-JP" sz="1800"/>
          </a:p>
          <a:p>
            <a:pPr algn="l"/>
            <a:r>
              <a:rPr lang="ja-JP" sz="1800" b="0" dirty="0"/>
              <a:t>2. 許容ΔV = Vr×ε</a:t>
            </a:r>
            <a:endParaRPr lang="ja-JP" sz="1800"/>
          </a:p>
          <a:p>
            <a:pPr algn="l"/>
            <a:r>
              <a:rPr lang="ja-JP" sz="1800" b="0" dirty="0"/>
              <a:t>3. I = ΔV / {√3(R cosφ+X sinφ)}</a:t>
            </a:r>
            <a:endParaRPr lang="ja-JP" sz="1800"/>
          </a:p>
          <a:p>
            <a:pPr algn="l"/>
            <a:r>
              <a:rPr lang="ja-JP" sz="1800" b="0" dirty="0"/>
              <a:t>4. P = √3 Vr I cosφ</a:t>
            </a:r>
            <a:endParaRPr lang="ja-JP" sz="1800"/>
          </a:p>
        </p:txBody>
      </p:sp>
      <p:sp>
        <p:nvSpPr>
          <p:cNvPr id="5" name="TextBox 5"/>
          <p:cNvSpPr txBox="1"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 b="1" dirty="0"/>
              <a:t>教材例題</a:t>
            </a:r>
            <a:endParaRPr lang="ja-JP" sz="1900"/>
          </a:p>
        </p:txBody>
      </p:sp>
      <p:sp>
        <p:nvSpPr>
          <p:cNvPr id="6" name="TextBox 6"/>
          <p:cNvSpPr txBox="1"/>
          <p:nvPr/>
        </p:nvSpPr>
        <p:spPr>
          <a:xfrm>
            <a:off x="6126480" y="1417320"/>
            <a:ext cx="539496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800" b="0" dirty="0"/>
              <a:t>Vr=66 kV, r=0.08 Ω/km, x=0.12 Ω/km,</a:t>
            </a:r>
            <a:endParaRPr lang="ja-JP" sz="1800"/>
          </a:p>
          <a:p>
            <a:pPr algn="l"/>
            <a:r>
              <a:rPr lang="ja-JP" sz="1800" b="0" dirty="0"/>
              <a:t>l=30 km, cosφ=0.8, ε=1.0%</a:t>
            </a:r>
            <a:endParaRPr lang="ja-JP" sz="1800"/>
          </a:p>
          <a:p>
            <a:pPr algn="l"/>
            <a:r>
              <a:rPr lang="ja-JP" sz="1800" b="0" dirty="0"/>
              <a:t/>
            </a:r>
            <a:endParaRPr lang="ja-JP" sz="1800"/>
          </a:p>
          <a:p>
            <a:pPr algn="l"/>
            <a:r>
              <a:rPr lang="ja-JP" sz="1800" b="0" dirty="0"/>
              <a:t>R=2.4 Ω, X=3.6 Ω, ΔV=660 V</a:t>
            </a:r>
            <a:endParaRPr lang="ja-JP" sz="1800"/>
          </a:p>
          <a:p>
            <a:pPr algn="l"/>
            <a:r>
              <a:rPr lang="ja-JP" sz="1800" b="0" dirty="0"/>
              <a:t>I≈93.4 A → P≈8.54 MW</a:t>
            </a:r>
            <a:endParaRPr lang="ja-JP" sz="1800"/>
          </a:p>
        </p:txBody>
      </p:sp>
      <p:sp>
        <p:nvSpPr>
          <p:cNvPr id="7" name="TextBox 7"/>
          <p:cNvSpPr txBox="1"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dirty="0"/>
              <a:t>R5上 問12・R7下 問16(a) 型：許容電圧降下 → 許容電流 → 最大有効電力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00" name="bg100"/>
          <p:cNvSpPr/>
          <p:nvPr/>
        </p:nvSpPr>
        <p:spPr>
          <a:xfrm>
            <a:off x="320040" y="137160"/>
            <a:ext cx="11567160" cy="5943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</p:sp>
      <p:sp>
        <p:nvSpPr>
          <p:cNvPr id="101" name="bg101"/>
          <p:cNvSpPr/>
          <p:nvPr/>
        </p:nvSpPr>
        <p:spPr>
          <a:xfrm>
            <a:off x="502920" y="1234440"/>
            <a:ext cx="544068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8C7D9"/>
            </a:solidFill>
          </a:ln>
        </p:spPr>
      </p:sp>
      <p:sp>
        <p:nvSpPr>
          <p:cNvPr id="102" name="bg102"/>
          <p:cNvSpPr/>
          <p:nvPr/>
        </p:nvSpPr>
        <p:spPr>
          <a:xfrm>
            <a:off x="6080760" y="1234440"/>
            <a:ext cx="5486400" cy="361188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A7C8AC"/>
            </a:solidFill>
          </a:ln>
        </p:spPr>
      </p:sp>
      <p:cxnSp>
        <p:nvCxnSpPr>
          <p:cNvPr id="103" name="line103"/>
          <p:cNvCxnSpPr/>
          <p:nvPr/>
        </p:nvCxnSpPr>
        <p:spPr>
          <a:xfrm>
            <a:off x="914400" y="2057400"/>
            <a:ext cx="4389120" cy="1"/>
          </a:xfrm>
          <a:prstGeom prst="line">
            <a:avLst/>
          </a:prstGeom>
          <a:ln w="19050">
            <a:solidFill>
              <a:srgbClr val="6484A3"/>
            </a:solidFill>
          </a:ln>
        </p:spPr>
      </p:cxnSp>
      <p:cxnSp>
        <p:nvCxnSpPr>
          <p:cNvPr id="104" name="line104"/>
          <p:cNvCxnSpPr/>
          <p:nvPr/>
        </p:nvCxnSpPr>
        <p:spPr>
          <a:xfrm>
            <a:off x="6583680" y="2057400"/>
            <a:ext cx="4206240" cy="1"/>
          </a:xfrm>
          <a:prstGeom prst="line">
            <a:avLst/>
          </a:prstGeom>
          <a:ln w="19050">
            <a:solidFill>
              <a:srgbClr val="6484A3"/>
            </a:solidFill>
          </a:ln>
        </p:spPr>
      </p:cxnSp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500" b="1" dirty="0"/>
              <a:t>複数負荷・2回線｜電流を正しく分けてから計算</a:t>
            </a:r>
            <a:endParaRPr lang="ja-JP" sz="2500"/>
          </a:p>
        </p:txBody>
      </p:sp>
      <p:sp>
        <p:nvSpPr>
          <p:cNvPr id="3" name="TextBox 3"/>
          <p:cNvSpPr txBox="1"/>
          <p:nvPr/>
        </p:nvSpPr>
        <p:spPr>
          <a:xfrm>
            <a:off x="548640" y="9144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 b="1" dirty="0"/>
              <a:t>力率の異なる複数負荷</a:t>
            </a:r>
            <a:endParaRPr lang="ja-JP" sz="1900"/>
          </a:p>
        </p:txBody>
      </p:sp>
      <p:sp>
        <p:nvSpPr>
          <p:cNvPr id="4" name="TextBox 4"/>
          <p:cNvSpPr txBox="1"/>
          <p:nvPr/>
        </p:nvSpPr>
        <p:spPr>
          <a:xfrm>
            <a:off x="731520" y="1417320"/>
            <a:ext cx="521208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50" b="0" dirty="0"/>
              <a:t>I_P = I cosφ　　I_Q = I sinφ</a:t>
            </a:r>
            <a:endParaRPr lang="ja-JP" sz="1750"/>
          </a:p>
          <a:p>
            <a:pPr algn="l"/>
            <a:r>
              <a:rPr lang="ja-JP" sz="1750" b="0" dirty="0"/>
              <a:t/>
            </a:r>
            <a:endParaRPr lang="ja-JP" sz="1750"/>
          </a:p>
          <a:p>
            <a:pPr algn="l"/>
            <a:r>
              <a:rPr lang="ja-JP" sz="1750" b="0" dirty="0"/>
              <a:t>各区間は下流負荷だけを合計：</a:t>
            </a:r>
            <a:endParaRPr lang="ja-JP" sz="1750"/>
          </a:p>
          <a:p>
            <a:pPr algn="l"/>
            <a:r>
              <a:rPr lang="ja-JP" sz="1750" b="0" dirty="0"/>
              <a:t>ΔV_section ≒ √3(R ΣI_P + X ΣI_Q)</a:t>
            </a:r>
            <a:endParaRPr lang="ja-JP" sz="1750"/>
          </a:p>
          <a:p>
            <a:pPr algn="l"/>
            <a:r>
              <a:rPr lang="ja-JP" sz="1750" b="0" dirty="0"/>
              <a:t/>
            </a:r>
            <a:endParaRPr lang="ja-JP" sz="1750"/>
          </a:p>
          <a:p>
            <a:pPr algn="l"/>
            <a:r>
              <a:rPr lang="ja-JP" sz="1750" b="0" dirty="0"/>
              <a:t>区間電流：I=√{(ΣI_P)²+(ΣI_Q)²}</a:t>
            </a:r>
            <a:endParaRPr lang="ja-JP" sz="1750"/>
          </a:p>
        </p:txBody>
      </p:sp>
      <p:sp>
        <p:nvSpPr>
          <p:cNvPr id="5" name="TextBox 5"/>
          <p:cNvSpPr txBox="1"/>
          <p:nvPr/>
        </p:nvSpPr>
        <p:spPr>
          <a:xfrm>
            <a:off x="6217920" y="9144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 b="1" dirty="0"/>
              <a:t>2回線送電</a:t>
            </a:r>
            <a:endParaRPr lang="ja-JP" sz="1900"/>
          </a:p>
        </p:txBody>
      </p:sp>
      <p:sp>
        <p:nvSpPr>
          <p:cNvPr id="6" name="TextBox 6"/>
          <p:cNvSpPr txBox="1"/>
          <p:nvPr/>
        </p:nvSpPr>
        <p:spPr>
          <a:xfrm>
            <a:off x="6400800" y="141732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50" b="0" dirty="0"/>
              <a:t>総受電電力 P を同一2回線へ等分するなら</a:t>
            </a:r>
            <a:endParaRPr lang="ja-JP" sz="1750"/>
          </a:p>
          <a:p>
            <a:pPr algn="l"/>
            <a:r>
              <a:rPr lang="ja-JP" sz="1750" b="0" dirty="0"/>
              <a:t>各回線は P/2。</a:t>
            </a:r>
            <a:endParaRPr lang="ja-JP" sz="1750"/>
          </a:p>
          <a:p>
            <a:pPr algn="l"/>
            <a:r>
              <a:rPr lang="ja-JP" sz="1750" b="0" dirty="0"/>
              <a:t/>
            </a:r>
            <a:endParaRPr lang="ja-JP" sz="1750"/>
          </a:p>
          <a:p>
            <a:pPr algn="l"/>
            <a:r>
              <a:rPr lang="ja-JP" sz="1750" b="0" dirty="0"/>
              <a:t>I = (P/2)/(√3 V cosφ)</a:t>
            </a:r>
            <a:endParaRPr lang="ja-JP" sz="1750"/>
          </a:p>
          <a:p>
            <a:pPr algn="l"/>
            <a:r>
              <a:rPr lang="ja-JP" sz="1750" b="0" dirty="0"/>
              <a:t>1回線損失 = 3I²R</a:t>
            </a:r>
            <a:endParaRPr lang="ja-JP" sz="1750"/>
          </a:p>
          <a:p>
            <a:pPr algn="l"/>
            <a:r>
              <a:rPr lang="ja-JP" sz="1750" b="0" dirty="0"/>
              <a:t>最後に2回線分を合計する。</a:t>
            </a:r>
            <a:endParaRPr lang="ja-JP" sz="1750"/>
          </a:p>
        </p:txBody>
      </p:sp>
      <p:sp>
        <p:nvSpPr>
          <p:cNvPr id="7" name="TextBox 7"/>
          <p:cNvSpPr txBox="1"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50" b="1" dirty="0"/>
              <a:t>ひっかけ：力率が違う電流を大きさだけで足さない／総Pを1回線へ流してから2倍しない</a:t>
            </a:r>
            <a:endParaRPr lang="ja-JP" sz="1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00" name="bg100"/>
          <p:cNvSpPr/>
          <p:nvPr/>
        </p:nvSpPr>
        <p:spPr>
          <a:xfrm>
            <a:off x="320040" y="137160"/>
            <a:ext cx="11567160" cy="5943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</p:sp>
      <p:sp>
        <p:nvSpPr>
          <p:cNvPr id="101" name="bg101"/>
          <p:cNvSpPr/>
          <p:nvPr/>
        </p:nvSpPr>
        <p:spPr>
          <a:xfrm>
            <a:off x="502920" y="914400"/>
            <a:ext cx="1106424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8"/>
            </a:solidFill>
          </a:ln>
        </p:spPr>
      </p:sp>
      <p:sp>
        <p:nvSpPr>
          <p:cNvPr id="102" name="bg102"/>
          <p:cNvSpPr/>
          <p:nvPr/>
        </p:nvSpPr>
        <p:spPr>
          <a:xfrm>
            <a:off x="502920" y="1536192"/>
            <a:ext cx="11064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</p:sp>
      <p:sp>
        <p:nvSpPr>
          <p:cNvPr id="103" name="bg103"/>
          <p:cNvSpPr/>
          <p:nvPr/>
        </p:nvSpPr>
        <p:spPr>
          <a:xfrm>
            <a:off x="502920" y="2157984"/>
            <a:ext cx="1106424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8"/>
            </a:solidFill>
          </a:ln>
        </p:spPr>
      </p:sp>
      <p:sp>
        <p:nvSpPr>
          <p:cNvPr id="104" name="bg104"/>
          <p:cNvSpPr/>
          <p:nvPr/>
        </p:nvSpPr>
        <p:spPr>
          <a:xfrm>
            <a:off x="502920" y="2779776"/>
            <a:ext cx="11064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</p:sp>
      <p:sp>
        <p:nvSpPr>
          <p:cNvPr id="105" name="bg105"/>
          <p:cNvSpPr/>
          <p:nvPr/>
        </p:nvSpPr>
        <p:spPr>
          <a:xfrm>
            <a:off x="502920" y="3401568"/>
            <a:ext cx="1106424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8"/>
            </a:solidFill>
          </a:ln>
        </p:spPr>
      </p:sp>
      <p:sp>
        <p:nvSpPr>
          <p:cNvPr id="110" name="bg110"/>
          <p:cNvSpPr/>
          <p:nvPr/>
        </p:nvSpPr>
        <p:spPr>
          <a:xfrm>
            <a:off x="502920" y="4800600"/>
            <a:ext cx="11064240" cy="59436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5B95C"/>
            </a:solidFill>
          </a:ln>
        </p:spPr>
      </p:sp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500" b="1" dirty="0"/>
              <a:t>固定EXAM_ALIGNMENT｜5問・7小問を可視化</a:t>
            </a:r>
            <a:endParaRPr lang="ja-JP" sz="2500"/>
          </a:p>
        </p:txBody>
      </p:sp>
      <p:sp>
        <p:nvSpPr>
          <p:cNvPr id="3" name="TextBox 3"/>
          <p:cNvSpPr txBox="1"/>
          <p:nvPr/>
        </p:nvSpPr>
        <p:spPr>
          <a:xfrm>
            <a:off x="640080" y="960120"/>
            <a:ext cx="10972800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550" b="0" dirty="0"/>
              <a:t>R7下 電力 問16(a)(b)　　三相R・X／遅れ力率／電圧降下／線路損失</a:t>
            </a:r>
            <a:endParaRPr lang="ja-JP" sz="1550"/>
          </a:p>
          <a:p>
            <a:pPr algn="l"/>
            <a:r>
              <a:rPr lang="ja-JP" sz="1550" b="0" dirty="0"/>
              <a:t>R7下 電力 問17(a)(b)　　複数負荷／I cosφ・I sinφ／区間集計</a:t>
            </a:r>
            <a:endParaRPr lang="ja-JP" sz="1550"/>
          </a:p>
          <a:p>
            <a:pPr algn="l"/>
            <a:r>
              <a:rPr lang="ja-JP" sz="1550" b="0" dirty="0"/>
              <a:t>R7上 電力 問13　　　　　損失一定→I一定、V一定→P∝cosφ</a:t>
            </a:r>
            <a:endParaRPr lang="ja-JP" sz="1550"/>
          </a:p>
          <a:p>
            <a:pPr algn="l"/>
            <a:r>
              <a:rPr lang="ja-JP" sz="1550" b="0" dirty="0"/>
              <a:t>R6上 電力 問13　　　　　2回線／R∝l/A／各回線損失の合計</a:t>
            </a:r>
            <a:endParaRPr lang="ja-JP" sz="1550"/>
          </a:p>
          <a:p>
            <a:pPr algn="l"/>
            <a:r>
              <a:rPr lang="ja-JP" sz="1550" b="0" dirty="0"/>
              <a:t>R5上 電力 問12　　　　　R=rl, X=xl／電圧降下率→I→最大P</a:t>
            </a:r>
            <a:endParaRPr lang="ja-JP" sz="1550"/>
          </a:p>
        </p:txBody>
      </p:sp>
      <p:sp>
        <p:nvSpPr>
          <p:cNvPr id="4" name="TextBox 4"/>
          <p:cNvSpPr txBox="1"/>
          <p:nvPr/>
        </p:nvSpPr>
        <p:spPr>
          <a:xfrm>
            <a:off x="640080" y="470916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500" b="1" dirty="0"/>
              <a:t>頻出ミス：√3、Ω/km×km、sinφ/cosφ、3I²R、2回線分担、電圧降下率の分母、単位換算</a:t>
            </a:r>
            <a:endParaRPr lang="ja-JP" sz="1500"/>
          </a:p>
        </p:txBody>
      </p:sp>
      <p:sp>
        <p:nvSpPr>
          <p:cNvPr id="5" name="TextBox 5"/>
          <p:cNvSpPr txBox="1"/>
          <p:nvPr/>
        </p:nvSpPr>
        <p:spPr>
          <a:xfrm>
            <a:off x="640080" y="53949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350" b="0" dirty="0"/>
              <a:t>範囲外：ATき電・帰線、L/C詳細導出、地中線、短絡・保護、需要率等、無効電力補償、未確認実設備値</a:t>
            </a:r>
            <a:endParaRPr lang="ja-JP" sz="1350"/>
          </a:p>
        </p:txBody>
      </p:sp>
      <p:sp>
        <p:nvSpPr>
          <p:cNvPr id="6" name="TextBox 6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100" b="0" dirty="0"/>
              <a:t>公式過去問：https://www.shiken.or.jp/chief/third/qa/　｜　図・表は自作</a:t>
            </a:r>
            <a:endParaRPr lang="ja-JP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