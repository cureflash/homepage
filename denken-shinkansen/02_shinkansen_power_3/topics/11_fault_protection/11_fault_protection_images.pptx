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3A9"/>
          </a:solidFill>
          <a:ln w="12700">
            <a:solidFill>
              <a:srgbClr val="246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電験×新幹線｜電力・三種｜Topic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24128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自作模式図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架線事故は「検出 → 遮断 → 健全部分を残す」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 kV架線の地絡を入口に、短絡・地絡・保護協調の役割分担を整理する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07592"/>
            <a:ext cx="165506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 kV 架線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事故発生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71800" y="1234440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FFF0DF"/>
          </a:solidFill>
          <a:ln w="15240">
            <a:solidFill>
              <a:srgbClr val="E58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1307592"/>
            <a:ext cx="183794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保護リレー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異常を検出・判断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2057400" cy="749808"/>
          </a:xfrm>
          <a:prstGeom prst="roundRect">
            <a:avLst>
              <a:gd name="adj" fmla="val 9756"/>
            </a:avLst>
          </a:prstGeom>
          <a:solidFill>
            <a:srgbClr val="FDE8E8"/>
          </a:solidFill>
          <a:ln w="15240">
            <a:solidFill>
              <a:srgbClr val="C63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1848" y="1307592"/>
            <a:ext cx="183794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遮断器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事故電流を切る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23444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E5F4EC"/>
          </a:solidFill>
          <a:ln w="15240">
            <a:solidFill>
              <a:srgbClr val="297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1307592"/>
            <a:ext cx="266090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事故区間だけ切離し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健全部分を残す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87168" y="1609344"/>
            <a:ext cx="420624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47488" y="1609344"/>
            <a:ext cx="420624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07808" y="1609344"/>
            <a:ext cx="420624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23317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3865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6517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743200"/>
            <a:ext cx="31181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異なる電位の導体間が低インピーダンスでつながる事故。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大きな短絡電流が流れる。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23317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23865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16552" y="26517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743200"/>
            <a:ext cx="31181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充電部が大地・接地部へ接触する事故。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地絡電流と健全相対地電圧は接地方式に依存。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74736" y="23317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23865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63A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過電流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74736" y="265176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2743200"/>
            <a:ext cx="31181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設備の許容範囲を超える電流の総称。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短絡・地絡は代表的原因だが、三者は同義ではない。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選択遮断の考え方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1560" y="4864608"/>
            <a:ext cx="9692640" cy="0"/>
          </a:xfrm>
          <a:prstGeom prst="line">
            <a:avLst/>
          </a:prstGeom>
          <a:noFill/>
          <a:ln w="38100">
            <a:solidFill>
              <a:srgbClr val="17365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4645152"/>
            <a:ext cx="164592" cy="438912"/>
          </a:xfrm>
          <a:prstGeom prst="rect">
            <a:avLst/>
          </a:prstGeom>
          <a:solidFill>
            <a:srgbClr val="2463A9"/>
          </a:solidFill>
          <a:ln w="12700">
            <a:solidFill>
              <a:srgbClr val="2463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4645152"/>
            <a:ext cx="164592" cy="438912"/>
          </a:xfrm>
          <a:prstGeom prst="rect">
            <a:avLst/>
          </a:prstGeom>
          <a:solidFill>
            <a:srgbClr val="2463A9"/>
          </a:solidFill>
          <a:ln w="12700">
            <a:solidFill>
              <a:srgbClr val="2463A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645152"/>
            <a:ext cx="164592" cy="438912"/>
          </a:xfrm>
          <a:prstGeom prst="rec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4645152"/>
            <a:ext cx="164592" cy="438912"/>
          </a:xfrm>
          <a:prstGeom prst="rect">
            <a:avLst/>
          </a:prstGeom>
          <a:solidFill>
            <a:srgbClr val="2463A9"/>
          </a:solidFill>
          <a:ln w="12700">
            <a:solidFill>
              <a:srgbClr val="2463A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9168" y="4315968"/>
            <a:ext cx="384048" cy="640080"/>
          </a:xfrm>
          <a:prstGeom prst="lightningBol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5074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事故点に近い主保護を先に動作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4672" y="5806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上位は後備保護として時間を遅らせる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58064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発電所・系統全体を止めず、停電影響を限定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%Zから短絡電流を求め、遮断器を選ぶ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R5上 問16(a)(b)・R2 問8の標準ルート：基準統一 → 合成 → I_sc → 遮断能力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16736"/>
            <a:ext cx="1655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基準容量を統一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07792" y="1243584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316736"/>
            <a:ext cx="1655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%Zを合成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66944" y="1243584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6672" y="1316736"/>
            <a:ext cx="1655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基準電流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6096" y="1243584"/>
            <a:ext cx="1700784" cy="621792"/>
          </a:xfrm>
          <a:prstGeom prst="roundRect">
            <a:avLst>
              <a:gd name="adj" fmla="val 11765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316736"/>
            <a:ext cx="1481328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短絡電流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47504" y="1243584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DE8E8"/>
          </a:solidFill>
          <a:ln w="15240">
            <a:solidFill>
              <a:srgbClr val="C6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1316736"/>
            <a:ext cx="1655064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遮断器選定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393192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9744" y="1554480"/>
            <a:ext cx="411480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68896" y="1554480"/>
            <a:ext cx="411480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54312" y="1554480"/>
            <a:ext cx="347472" cy="0"/>
          </a:xfrm>
          <a:prstGeom prst="line">
            <a:avLst/>
          </a:prstGeom>
          <a:noFill/>
          <a:ln w="228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2148840"/>
            <a:ext cx="33101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CAD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221992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%Z_new = %Z_old × (S_new / S_old)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容量基準をそろえてから加算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160520" y="2148840"/>
            <a:ext cx="33101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CAD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2221992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I_base = S_base / (√3 V)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 は線間電圧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62672" y="2148840"/>
            <a:ext cx="33101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CAD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221992"/>
            <a:ext cx="3090672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I_sc = I_base / (%Z_total / 100)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10% → 0.10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例：6.6 kV母線、20 MVA基準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3950208"/>
            <a:ext cx="48006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041648"/>
            <a:ext cx="458114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電源：12%（50 MVA基準） → 12×20/50 = 4.8%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変圧器：7%（20 MVA基準）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合成：%Z_total = 4.8 + 7.0 = 11.8%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I_base ≒ 1.75 kA → I_sc ≒ 14.8 kA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6118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遮断器は事故電流以上の定格を選ぶ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79592" y="4023360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FDE8E8"/>
          </a:solidFill>
          <a:ln w="15240">
            <a:solidFill>
              <a:srgbClr val="C63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096512"/>
            <a:ext cx="122529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12.5 kA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79592" y="47365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不足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98664" y="4023360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5F4EC"/>
          </a:solidFill>
          <a:ln w="15240">
            <a:solidFill>
              <a:srgbClr val="297A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4096512"/>
            <a:ext cx="122529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 kA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98664" y="47365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適合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17736" y="4023360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5F4EC"/>
          </a:solidFill>
          <a:ln w="15240">
            <a:solidFill>
              <a:srgbClr val="297A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27464" y="4096512"/>
            <a:ext cx="122529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 kA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17736" y="47365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適合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79592" y="5102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最小適合：16 kA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046720" y="51023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P_break = √3 V I_break ≒ 182.9 MVA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58368" y="5806440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86130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頻出ミス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48840" y="5833872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容量比を逆にする／%を小数へ直さない／√3を落とす／計算値と定格値を同値と決めつける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CT換算 → 過電流継電器 → 時間協調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R5下 問16(a)(b)：一次事故電流を継電器入力へ換算し、主保護を後備保護より先に動かす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DCEBFA"/>
          </a:solidFill>
          <a:ln w="15240">
            <a:solidFill>
              <a:srgbClr val="2463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35024"/>
            <a:ext cx="174650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一次事故電流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2400 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63240" y="12618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EE8F6"/>
          </a:solidFill>
          <a:ln w="15240">
            <a:solidFill>
              <a:srgbClr val="775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335024"/>
            <a:ext cx="174650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600 / 5 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12618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0DF"/>
          </a:solidFill>
          <a:ln w="15240">
            <a:solidFill>
              <a:srgbClr val="E58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1335024"/>
            <a:ext cx="174650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二次電流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 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09560" y="12618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5F4EC"/>
          </a:solidFill>
          <a:ln w="15240">
            <a:solidFill>
              <a:srgbClr val="297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1335024"/>
            <a:ext cx="174650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整定値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04120" y="1261872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DE8E8"/>
          </a:solidFill>
          <a:ln w="15240">
            <a:solidFill>
              <a:srgbClr val="C6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3848" y="1335024"/>
            <a:ext cx="1197864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4倍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633472" y="1645920"/>
            <a:ext cx="365760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56632" y="1645920"/>
            <a:ext cx="365760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79792" y="1645920"/>
            <a:ext cx="365760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2952" y="1645920"/>
            <a:ext cx="137160" cy="0"/>
          </a:xfrm>
          <a:prstGeom prst="line">
            <a:avLst/>
          </a:prstGeom>
          <a:noFill/>
          <a:ln w="27940">
            <a:solidFill>
              <a:srgbClr val="2463A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246120" y="224028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I_s = I_p × I_sn / I_pn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71800" y="261518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2400 × 5 / 600 = 20 A → 20 / 5 = 4倍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選択遮断：時間の順序が重要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0120" y="4160520"/>
            <a:ext cx="982980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" y="4059936"/>
            <a:ext cx="0" cy="201168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 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059936"/>
            <a:ext cx="0" cy="201168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0.3 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4059936"/>
            <a:ext cx="0" cy="201168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0.6 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4059936"/>
            <a:ext cx="0" cy="201168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 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21240" y="4059936"/>
            <a:ext cx="0" cy="201168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 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36792" y="3611880"/>
            <a:ext cx="0" cy="594360"/>
          </a:xfrm>
          <a:prstGeom prst="line">
            <a:avLst/>
          </a:prstGeom>
          <a:noFill/>
          <a:ln w="38100">
            <a:solidFill>
              <a:srgbClr val="C6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1546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下位 主保護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0.72 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21240" y="3611880"/>
            <a:ext cx="0" cy="594360"/>
          </a:xfrm>
          <a:prstGeom prst="line">
            <a:avLst/>
          </a:prstGeom>
          <a:noFill/>
          <a:ln w="38100">
            <a:solidFill>
              <a:srgbClr val="2463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62872" y="315468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A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上位 後備保護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463A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1.20 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4782312"/>
            <a:ext cx="3584448" cy="0"/>
          </a:xfrm>
          <a:prstGeom prst="line">
            <a:avLst/>
          </a:prstGeom>
          <a:noFill/>
          <a:ln w="25400">
            <a:solidFill>
              <a:srgbClr val="297A58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501384" y="48463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協調時間差 0.48 s ≥ 0.30 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" y="5285232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376672"/>
            <a:ext cx="494690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タイムレバー1.0で2.4 s、動作時間が比例するなら：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2.4T ≤ 1.2−0.3 = 0.9 → T ≤ 0.375 → 候補最大 0.3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08192" y="5285232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5376672"/>
            <a:ext cx="4352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役割分担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保護リレー＝異常を検出・判断 ／ 遮断器＝事故電流を実際に切る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地絡・接地・避雷器を混同しない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498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H22 問8＝接地方式、R2 問9＝避雷器。固定5問・7答案要素を4枚で可視化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中性点接地方式の比較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1993392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550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554480"/>
            <a:ext cx="132588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65506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地絡電流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3632" y="1554480"/>
            <a:ext cx="1783080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6550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健全相対地電圧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96712" y="1554480"/>
            <a:ext cx="2176272" cy="438912"/>
          </a:xfrm>
          <a:prstGeom prst="rect">
            <a:avLst/>
          </a:prstGeom>
          <a:solidFill>
            <a:srgbClr val="17365D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33288" y="1655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保護上の見方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93392"/>
            <a:ext cx="1993392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6654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非接地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87752" y="1993392"/>
            <a:ext cx="1325880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06654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小さい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913632" y="1993392"/>
            <a:ext cx="1783080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20665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上昇しやすい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696712" y="1993392"/>
            <a:ext cx="2176272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0665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検出容易とは限らない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4360" y="2551176"/>
            <a:ext cx="1993392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24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直接接地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87752" y="2551176"/>
            <a:ext cx="1325880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6243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大きい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913632" y="2551176"/>
            <a:ext cx="1783080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26243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抑えやすい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696712" y="2551176"/>
            <a:ext cx="2176272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262432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リレーを動作させやすい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94360" y="3108960"/>
            <a:ext cx="1993392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1821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抵抗接地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87752" y="3108960"/>
            <a:ext cx="1325880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31821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抵抗で制限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913632" y="3108960"/>
            <a:ext cx="1783080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59352" y="31821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抑制との折合い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696712" y="3108960"/>
            <a:ext cx="2176272" cy="557784"/>
          </a:xfrm>
          <a:prstGeom prst="rect">
            <a:avLst/>
          </a:prstGeom>
          <a:solidFill>
            <a:srgbClr val="F7F9FC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318211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電流制限＋動作確保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94360" y="3666744"/>
            <a:ext cx="1993392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39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消弧リアクトル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87752" y="3666744"/>
            <a:ext cx="1325880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373989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小さくする方向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913632" y="3666744"/>
            <a:ext cx="1783080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9352" y="37398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異常電圧と両立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5696712" y="3666744"/>
            <a:ext cx="2176272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373989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容量性電流を補償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12648" y="4343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「地絡電流が小さいほど常に良い」ではない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1335024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397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15544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避雷器（ZnO）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549640" y="2084832"/>
            <a:ext cx="2523744" cy="603504"/>
          </a:xfrm>
          <a:prstGeom prst="roundRect">
            <a:avLst>
              <a:gd name="adj" fmla="val 12121"/>
            </a:avLst>
          </a:prstGeom>
          <a:solidFill>
            <a:srgbClr val="FFF0DF"/>
          </a:solidFill>
          <a:ln w="15240">
            <a:solidFill>
              <a:srgbClr val="E58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9368" y="2157984"/>
            <a:ext cx="230428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異常電圧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9811512" y="2724912"/>
            <a:ext cx="0" cy="338328"/>
          </a:xfrm>
          <a:prstGeom prst="line">
            <a:avLst/>
          </a:prstGeom>
          <a:noFill/>
          <a:ln w="25400">
            <a:solidFill>
              <a:srgbClr val="E58B2A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549640" y="3127248"/>
            <a:ext cx="2523744" cy="768096"/>
          </a:xfrm>
          <a:prstGeom prst="roundRect">
            <a:avLst>
              <a:gd name="adj" fmla="val 9524"/>
            </a:avLst>
          </a:prstGeom>
          <a:solidFill>
            <a:srgbClr val="EEE8F6"/>
          </a:solidFill>
          <a:ln w="15240">
            <a:solidFill>
              <a:srgbClr val="7755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59368" y="3200400"/>
            <a:ext cx="230428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55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ZnO 非線形抵抗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755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高電圧で抵抗↓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811512" y="3941064"/>
            <a:ext cx="0" cy="265176"/>
          </a:xfrm>
          <a:prstGeom prst="line">
            <a:avLst/>
          </a:prstGeom>
          <a:noFill/>
          <a:ln w="25400">
            <a:solidFill>
              <a:srgbClr val="297A58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8302752" y="4160520"/>
            <a:ext cx="299923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サージ電流を大地へ流す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機器端子の電圧を制限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異常後は高抵抗に戻り続流を抑制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56448" y="48463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0" y="49011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63A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リレー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08592" y="48463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81744" y="49011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遮断器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460736" y="484632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33888" y="49011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避雷器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56448" y="5166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463A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検出・判断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308592" y="5166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3C3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事故電流を切る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460736" y="5166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58B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異常電圧を制限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94360" y="4983480"/>
            <a:ext cx="7178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CAD5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4672" y="5193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固定5問・7答案要素 → 7 / 7 可視化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04672" y="5532120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R5下16(a) S2・S3　／　R5下16(b) S3　／　R5上16(a) S2　／　R5上16(b) S2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04672" y="5797296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93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R2問8 S2　／　R2問9 S4　／　H22問8 S4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046720" y="5650992"/>
            <a:ext cx="3520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範囲外：自動再閉路・通信誘導・事故点標定・鉄道固有保護アルゴリズムは追加しない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cureflash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架線事故ではどうやって電気を止める？</dc:title>
  <dc:subject>電験三種 電力 Topic 11 解説画像</dc:subject>
  <dc:creator>cureflash</dc:creator>
  <cp:lastModifiedBy>cureflash</cp:lastModifiedBy>
  <cp:revision>1</cp:revision>
  <dcterms:created xsi:type="dcterms:W3CDTF">2026-09-16T19:07:02Z</dcterms:created>
  <dcterms:modified xsi:type="dcterms:W3CDTF">2026-09-16T19:07:02Z</dcterms:modified>
</cp:coreProperties>
</file>