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457200" y="342900"/>
            <a:ext cx="11277600" cy="6172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/>
          <a:lstStyle/>
          <a:p>
            <a:pPr/>
            <a:r>
              <a:rPr lang="ja-JP" sz="2600" b="1"/>
              <a:t>Topic 04 原子力新幹線｜原理・設備・タービン</a:t>
            </a:r>
            <a:endParaRPr lang="ja-JP" sz="2600"/>
          </a:p>
          <a:p>
            <a:pPr marL="180000" indent="-120000">
              <a:buChar char="•"/>
            </a:pPr>
            <a:r>
              <a:rPr lang="ja-JP" sz="1600"/>
              <a:t>試験軸: ①質量欠損 E=Δmc² ②U-235・連鎖反応・制御棒 ③PWR/BWR ④熱出力・発電端出力・蒸気タービン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U-235 + 中性子 → 核分裂 + エネルギー + 中性子。制御棒は中性子を吸収。原子炉は汽力発電のボイラ相当。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PWR: 高圧一次冷却材→蒸気発生器→二次蒸気→タービン（加圧器あり）。BWR: 炉内で沸騰→蒸気を直接タービン。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「むつ」確認済み: PWR / 36 MWth / 一次水273.5℃・110 kg/cm²G / SG 2基 / 蒸気40 kg/cm²G・250.6℃・乾き度99.75%。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原子力用タービン: 飽和蒸気、一般火力より入口P/T・効率が低く、同一出力なら蒸気量が多い。湿分対策。代表回転速度1500/1800 min⁻¹。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η=Pe/Pth。実在の「むつ」は機械推進。同期発電機→主電動機はSPEC固定の架空列車側。未確認出力は置かない。</a:t>
            </a:r>
            <a:endParaRPr lang="ja-JP"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457200" y="342900"/>
            <a:ext cx="11277600" cy="6172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/>
          <a:lstStyle/>
          <a:p>
            <a:pPr/>
            <a:r>
              <a:rPr lang="ja-JP" sz="2600" b="1"/>
              <a:t>計算アルゴリズム・例題・過去問対応</a:t>
            </a:r>
            <a:endParaRPr lang="ja-JP" sz="2600"/>
          </a:p>
          <a:p>
            <a:pPr marL="180000" indent="-120000">
              <a:buChar char="•"/>
            </a:pPr>
            <a:r>
              <a:rPr lang="ja-JP" sz="1600"/>
              <a:t>質量欠損: Δm = mf×x×r、核分裂エネルギー: E=Δmc²。必ずkg、%は小数へ。1 MWh=3.6×10⁹ J。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標準例: U-235 1.00 g、欠損0.090% → Δm=9.0×10⁻⁷ kg → E=8.1×10¹⁰ J → 石炭30 MJ/kgなら2.7×10³ kg=2.7 t。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複合例: ウラン1.00 kg、U-235 4.0%、欠損0.090%、η=32% → Δm=3.6×10⁻⁵ kg → Eth=3.24×10¹² J → Ee=288 MWh。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解法: kg統一→U-235量→質量欠損→E=Δmc²→等価燃料/効率→J↔Wh。設備問題は「加圧器・SG」=PWR、「炉内蒸気直送」=BWR。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対応: R8上Q4=質量欠損/核分裂、R6上Q4=石炭換算、R5上Q4=U-235割合/燃料換算、H30Q4=蒸気タービン、H27Q4=PWR/BWR、H21Q4=原子炉/U-235。</a:t>
            </a:r>
            <a:endParaRPr lang="ja-JP" sz="1600"/>
          </a:p>
          <a:p>
            <a:pPr marL="180000" indent="-120000">
              <a:buChar char="•"/>
            </a:pPr>
            <a:r>
              <a:rPr lang="ja-JP" sz="1600"/>
              <a:t>固定範囲外: 新型炉、核燃料サイクル、放射線分類・遮蔽、安全法規、詳細燃料加工は追加しない。</a:t>
            </a:r>
            <a:endParaRPr lang="ja-JP"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/>
      <a:lnStyleLst/>
      <a:effectStyleLst/>
      <a:bgFillStyleLst/>
    </a:fmtScheme>
  </a:themeElements>
</a:theme>
</file>