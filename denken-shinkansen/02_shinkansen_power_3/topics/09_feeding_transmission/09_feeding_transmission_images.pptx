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</p:sldIdLst>
  <p:sldSz cx="12192000" cy="6858000" type="screen16x9"/>
  <p:notesSz cx="6858000" cy="9144000"/>
</p:presentation>
</file>

<file path=ppt/_rels/presentation.xml.rels><?xml version="1.0" encoding="UTF-8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2"/>
          <p:cNvSpPr txBox="1"/>
          <p:nvPr/>
        </p:nvSpPr>
        <p:spPr>
          <a:xfrm>
            <a:off x="400000" y="250000"/>
            <a:ext cx="11300000" cy="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2400" b="1"/>
              <a:t>Topic 09 き電・送電</a:t>
            </a:r>
          </a:p>
        </p:txBody>
      </p:sp>
      <p:sp>
        <p:nvSpPr>
          <p:cNvPr id="3" name="s3"/>
          <p:cNvSpPr txBox="1"/>
          <p:nvPr/>
        </p:nvSpPr>
        <p:spPr>
          <a:xfrm>
            <a:off x="400000" y="1050000"/>
            <a:ext cx="11300000" cy="53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1600" b="0"/>
              <a:t>変電所 → き電線・電車線 → パンタグラフ → 車両 → 車輪・レール → 変電所</a:t>
            </a:r>
          </a:p>
          <a:p>
            <a:r>
              <a:rPr lang="ja-JP" sz="1600" b="0"/>
              <a:t>R=ρl/A　X_L=2πfL　Y_C=jωC=jB　Z=R+jX</a:t>
            </a:r>
          </a:p>
          <a:p>
            <a:r>
              <a:rPr lang="ja-JP" sz="1600" b="0"/>
              <a:t>交流実効抵抗：表皮・近接効果で増加方向。地中線路は一般にC↑・L↓。</a:t>
            </a:r>
          </a:p>
          <a:p>
            <a:r>
              <a:rPr lang="ja-JP" sz="1600" b="0"/>
              <a:t>ATき電・帰線は三種相当の概略まで。R5上 電力 問10。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2"/>
          <p:cNvSpPr txBox="1"/>
          <p:nvPr/>
        </p:nvSpPr>
        <p:spPr>
          <a:xfrm>
            <a:off x="400000" y="250000"/>
            <a:ext cx="11300000" cy="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2400" b="1"/>
              <a:t>三相電力と線路損失</a:t>
            </a:r>
          </a:p>
        </p:txBody>
      </p:sp>
      <p:sp>
        <p:nvSpPr>
          <p:cNvPr id="3" name="s3"/>
          <p:cNvSpPr txBox="1"/>
          <p:nvPr/>
        </p:nvSpPr>
        <p:spPr>
          <a:xfrm>
            <a:off x="400000" y="1050000"/>
            <a:ext cx="11300000" cy="53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1600" b="0"/>
              <a:t>P=√3VIcosφ → I=P/(√3Vcosφ) → P_L=3I²R → 損失率</a:t>
            </a:r>
          </a:p>
          <a:p>
            <a:r>
              <a:rPr lang="ja-JP" sz="1600" b="0"/>
              <a:t>例：20MW, 66kV, cosφ=0.80, R=0.15Ω → I≈218.7A</a:t>
            </a:r>
          </a:p>
          <a:p>
            <a:r>
              <a:rPr lang="ja-JP" sz="1600" b="0"/>
              <a:t>P_L≈21.5kW、損失率≈0.108%。Vは線間、Rは1線分。</a:t>
            </a:r>
          </a:p>
          <a:p>
            <a:r>
              <a:rPr lang="ja-JP" sz="1600" b="0"/>
              <a:t>R6下 電力 問12。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2"/>
          <p:cNvSpPr txBox="1"/>
          <p:nvPr/>
        </p:nvSpPr>
        <p:spPr>
          <a:xfrm>
            <a:off x="400000" y="250000"/>
            <a:ext cx="11300000" cy="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2400" b="1"/>
              <a:t>T形・π形等価回路</a:t>
            </a:r>
          </a:p>
        </p:txBody>
      </p:sp>
      <p:sp>
        <p:nvSpPr>
          <p:cNvPr id="3" name="s3"/>
          <p:cNvSpPr txBox="1"/>
          <p:nvPr/>
        </p:nvSpPr>
        <p:spPr>
          <a:xfrm>
            <a:off x="400000" y="1050000"/>
            <a:ext cx="11300000" cy="53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1600" b="0"/>
              <a:t>T形：Vm=Vr+(Z/2)Ir → Ic=YVm → Is=Ir+Ic → Vs=Vm+(Z/2)Is</a:t>
            </a:r>
          </a:p>
          <a:p>
            <a:r>
              <a:rPr lang="ja-JP" sz="1600" b="0"/>
              <a:t>π形：Ic=j(B/2)Vr。mS→S。jX×jI=−XI。</a:t>
            </a:r>
          </a:p>
          <a:p>
            <a:r>
              <a:rPr lang="ja-JP" sz="1600" b="0"/>
              <a:t>無負荷でも充電電流が流れ、受電端電圧が上がり得る。</a:t>
            </a:r>
          </a:p>
          <a:p>
            <a:r>
              <a:rPr lang="ja-JP" sz="1600" b="0"/>
              <a:t>R6下 問16(a)(b)、問17(a)(b)。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2"/>
          <p:cNvSpPr txBox="1"/>
          <p:nvPr/>
        </p:nvSpPr>
        <p:spPr>
          <a:xfrm>
            <a:off x="400000" y="250000"/>
            <a:ext cx="11300000" cy="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2400" b="1"/>
              <a:t>送電電力式と品質ゲート</a:t>
            </a:r>
          </a:p>
        </p:txBody>
      </p:sp>
      <p:sp>
        <p:nvSpPr>
          <p:cNvPr id="3" name="s3"/>
          <p:cNvSpPr txBox="1"/>
          <p:nvPr/>
        </p:nvSpPr>
        <p:spPr>
          <a:xfrm>
            <a:off x="400000" y="1050000"/>
            <a:ext cx="11300000" cy="53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1600" b="0"/>
              <a:t>P=(VsVr/X)sinδ。条件：三相平衡、R・C無視、Xは一相分、Vs/Vrは線間電圧。</a:t>
            </a:r>
          </a:p>
          <a:p>
            <a:r>
              <a:rPr lang="ja-JP" sz="1600" b="0"/>
              <a:t>R4下 問9。固定5問・7小問：要求事項可視化 7/7。</a:t>
            </a:r>
          </a:p>
          <a:p>
            <a:r>
              <a:rPr lang="ja-JP" sz="1600" b="0"/>
              <a:t>問12→S2、問16→S3、問17→S3、R5上問10→S1、R4下問9→S4。</a:t>
            </a:r>
          </a:p>
          <a:p>
            <a:r>
              <a:rPr lang="ja-JP" sz="1600" b="0"/>
              <a:t>範囲外：分布定数厳密導出、AT詳細設計、短絡保護、Topic10以降、未確認実設備値。</a:t>
            </a:r>
          </a:p>
        </p:txBody>
      </p:sp>
    </p:spTree>
  </p:cSld>
</p:sld>
</file>