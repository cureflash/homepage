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0000" y="250000"/>
            <a:ext cx="11100000" cy="85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l"/>
            <a:r>
              <a:rPr lang="ja-JP" sz="3000" b="1">
                <a:solidFill>
                  <a:srgbClr val="FFFFFF"/>
                </a:solidFill>
                <a:latin typeface="Aptos"/>
                <a:ea typeface="Yu Gothic"/>
              </a:rPr>
              <a:t>Topic 07　三相交流をなぜそのまま架線へ流さない？</a:t>
            </a:r>
            <a:endParaRPr lang="ja-JP" sz="3000"/>
          </a:p>
        </p:txBody>
      </p:sp>
      <p:sp>
        <p:nvSpPr>
          <p:cNvPr id="3" name="Shape 3"/>
          <p:cNvSpPr/>
          <p:nvPr/>
        </p:nvSpPr>
        <p:spPr>
          <a:xfrm>
            <a:off x="650000" y="1150000"/>
            <a:ext cx="108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 algn="l"/>
            <a:r>
              <a:rPr lang="ja-JP" sz="1500" b="0">
                <a:solidFill>
                  <a:srgbClr val="666666"/>
                </a:solidFill>
                <a:latin typeface="Aptos"/>
                <a:ea typeface="Yu Gothic"/>
              </a:rPr>
              <a:t>電験三種：線間/相・三相電力 → 新幹線の相変換</a:t>
            </a:r>
            <a:endParaRPr lang="ja-JP" sz="1500"/>
          </a:p>
        </p:txBody>
      </p:sp>
      <p:sp>
        <p:nvSpPr>
          <p:cNvPr id="4" name="Shape 4"/>
          <p:cNvSpPr/>
          <p:nvPr/>
        </p:nvSpPr>
        <p:spPr>
          <a:xfrm>
            <a:off x="650000" y="1700000"/>
            <a:ext cx="2500000" cy="25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電力会社側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三相交流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U・V・W：120°ずつ</a:t>
            </a:r>
            <a:endParaRPr lang="ja-JP" sz="2100"/>
          </a:p>
        </p:txBody>
      </p:sp>
      <p:sp>
        <p:nvSpPr>
          <p:cNvPr id="5" name="Shape 5"/>
          <p:cNvSpPr/>
          <p:nvPr/>
        </p:nvSpPr>
        <p:spPr>
          <a:xfrm>
            <a:off x="3450000" y="1700000"/>
            <a:ext cx="2500000" cy="25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き電用変圧器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三相 → 単相2回路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負荷を分担</a:t>
            </a:r>
            <a:endParaRPr lang="ja-JP" sz="2100"/>
          </a:p>
        </p:txBody>
      </p:sp>
      <p:sp>
        <p:nvSpPr>
          <p:cNvPr id="6" name="Shape 6"/>
          <p:cNvSpPr/>
          <p:nvPr/>
        </p:nvSpPr>
        <p:spPr>
          <a:xfrm>
            <a:off x="6250000" y="1700000"/>
            <a:ext cx="2500000" cy="25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050" b="1">
                <a:solidFill>
                  <a:srgbClr val="222222"/>
                </a:solidFill>
                <a:latin typeface="Aptos"/>
                <a:ea typeface="Yu Gothic"/>
              </a:rPr>
              <a:t>単相A回路</a:t>
            </a:r>
            <a:endParaRPr lang="ja-JP" sz="2050"/>
          </a:p>
          <a:p>
            <a:pPr algn="ctr"/>
            <a:r>
              <a:rPr lang="ja-JP" sz="2050" b="1">
                <a:solidFill>
                  <a:srgbClr val="222222"/>
                </a:solidFill>
                <a:latin typeface="Aptos"/>
                <a:ea typeface="Yu Gothic"/>
              </a:rPr>
              <a:t>＋</a:t>
            </a:r>
            <a:endParaRPr lang="ja-JP" sz="2050"/>
          </a:p>
          <a:p>
            <a:pPr algn="ctr"/>
            <a:r>
              <a:rPr lang="ja-JP" sz="2050" b="1">
                <a:solidFill>
                  <a:srgbClr val="222222"/>
                </a:solidFill>
                <a:latin typeface="Aptos"/>
                <a:ea typeface="Yu Gothic"/>
              </a:rPr>
              <a:t>単相B回路</a:t>
            </a:r>
            <a:endParaRPr lang="ja-JP" sz="2050"/>
          </a:p>
          <a:p>
            <a:pPr algn="ctr"/>
            <a:r>
              <a:rPr lang="ja-JP" sz="2050" b="1">
                <a:solidFill>
                  <a:srgbClr val="222222"/>
                </a:solidFill>
                <a:latin typeface="Aptos"/>
                <a:ea typeface="Yu Gothic"/>
              </a:rPr>
              <a:t>→ 新幹線き電区間</a:t>
            </a:r>
            <a:endParaRPr lang="ja-JP" sz="2050"/>
          </a:p>
        </p:txBody>
      </p:sp>
      <p:sp>
        <p:nvSpPr>
          <p:cNvPr id="7" name="Shape 7"/>
          <p:cNvSpPr/>
          <p:nvPr/>
        </p:nvSpPr>
        <p:spPr>
          <a:xfrm>
            <a:off x="9050000" y="1700000"/>
            <a:ext cx="2100000" cy="25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1900" b="1">
                <a:solidFill>
                  <a:srgbClr val="222222"/>
                </a:solidFill>
                <a:latin typeface="Aptos"/>
                <a:ea typeface="Yu Gothic"/>
              </a:rPr>
              <a:t>重要</a:t>
            </a:r>
            <a:endParaRPr lang="ja-JP" sz="1900"/>
          </a:p>
          <a:p>
            <a:pPr algn="ctr"/>
            <a:r>
              <a:rPr lang="ja-JP" sz="1900" b="1">
                <a:solidFill>
                  <a:srgbClr val="222222"/>
                </a:solidFill>
                <a:latin typeface="Aptos"/>
                <a:ea typeface="Yu Gothic"/>
              </a:rPr>
              <a:t>一相へ集中すると</a:t>
            </a:r>
            <a:endParaRPr lang="ja-JP" sz="1900"/>
          </a:p>
          <a:p>
            <a:pPr algn="ctr"/>
            <a:r>
              <a:rPr lang="ja-JP" sz="1900" b="1">
                <a:solidFill>
                  <a:srgbClr val="222222"/>
                </a:solidFill>
                <a:latin typeface="Aptos"/>
                <a:ea typeface="Yu Gothic"/>
              </a:rPr>
              <a:t>三相側が不平衡</a:t>
            </a:r>
            <a:endParaRPr lang="ja-JP" sz="1900"/>
          </a:p>
        </p:txBody>
      </p:sp>
      <p:sp>
        <p:nvSpPr>
          <p:cNvPr id="8" name="Shape 8"/>
          <p:cNvSpPr/>
          <p:nvPr/>
        </p:nvSpPr>
        <p:spPr>
          <a:xfrm>
            <a:off x="650000" y="4550000"/>
            <a:ext cx="5200000" cy="12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l"/>
            <a:r>
              <a:rPr lang="ja-JP" sz="1800" b="0">
                <a:solidFill>
                  <a:srgbClr val="222222"/>
                </a:solidFill>
                <a:latin typeface="Aptos"/>
                <a:ea typeface="Yu Gothic"/>
              </a:rPr>
              <a:t>Y結線：V_L = √3 V_phase　I_L = I_phase</a:t>
            </a:r>
            <a:endParaRPr lang="ja-JP" sz="1800"/>
          </a:p>
          <a:p>
            <a:pPr algn="l"/>
            <a:r>
              <a:rPr lang="ja-JP" sz="1800" b="0">
                <a:solidFill>
                  <a:srgbClr val="222222"/>
                </a:solidFill>
                <a:latin typeface="Aptos"/>
                <a:ea typeface="Yu Gothic"/>
              </a:rPr>
              <a:t>Δ結線：V_L = V_phase　I_L = √3 I_phase</a:t>
            </a:r>
            <a:endParaRPr lang="ja-JP" sz="1800"/>
          </a:p>
        </p:txBody>
      </p:sp>
      <p:sp>
        <p:nvSpPr>
          <p:cNvPr id="9" name="Shape 9"/>
          <p:cNvSpPr/>
          <p:nvPr/>
        </p:nvSpPr>
        <p:spPr>
          <a:xfrm>
            <a:off x="5950000" y="4550000"/>
            <a:ext cx="5200000" cy="12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l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平衡三相有効電力</a:t>
            </a:r>
            <a:endParaRPr lang="ja-JP" sz="1800"/>
          </a:p>
          <a:p>
            <a:pPr algn="l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P = √3 V_L I_L cosφ = 3 V_phase I_phase cosφ</a:t>
            </a:r>
            <a:endParaRPr lang="ja-JP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0000" y="250000"/>
            <a:ext cx="11100000" cy="85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l"/>
            <a:r>
              <a:rPr lang="ja-JP" sz="3000" b="1">
                <a:solidFill>
                  <a:srgbClr val="FFFFFF"/>
                </a:solidFill>
                <a:latin typeface="Aptos"/>
                <a:ea typeface="Yu Gothic"/>
              </a:rPr>
              <a:t>スコット結線：三相 → 直交する二つの単相</a:t>
            </a:r>
            <a:endParaRPr lang="ja-JP" sz="3000"/>
          </a:p>
        </p:txBody>
      </p:sp>
      <p:sp>
        <p:nvSpPr>
          <p:cNvPr id="3" name="Shape 3"/>
          <p:cNvSpPr/>
          <p:nvPr/>
        </p:nvSpPr>
        <p:spPr>
          <a:xfrm>
            <a:off x="650000" y="1150000"/>
            <a:ext cx="108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 algn="l"/>
            <a:r>
              <a:rPr lang="ja-JP" sz="1500" b="0">
                <a:solidFill>
                  <a:srgbClr val="666666"/>
                </a:solidFill>
                <a:latin typeface="Aptos"/>
                <a:ea typeface="Yu Gothic"/>
              </a:rPr>
              <a:t>R4上 機械 問9／H27 機械 問7 の判定点</a:t>
            </a:r>
            <a:endParaRPr lang="ja-JP" sz="1500"/>
          </a:p>
        </p:txBody>
      </p:sp>
      <p:sp>
        <p:nvSpPr>
          <p:cNvPr id="4" name="Shape 4"/>
          <p:cNvSpPr/>
          <p:nvPr/>
        </p:nvSpPr>
        <p:spPr>
          <a:xfrm>
            <a:off x="650000" y="1700000"/>
            <a:ext cx="3000000" cy="36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三相 U・V・W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↓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M変圧器 ＋ T変圧器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↓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単相 M座　＋　単相 T座</a:t>
            </a:r>
            <a:endParaRPr lang="ja-JP" sz="2100"/>
          </a:p>
        </p:txBody>
      </p:sp>
      <p:sp>
        <p:nvSpPr>
          <p:cNvPr id="5" name="Shape 5"/>
          <p:cNvSpPr/>
          <p:nvPr/>
        </p:nvSpPr>
        <p:spPr>
          <a:xfrm>
            <a:off x="3950000" y="1700000"/>
            <a:ext cx="3400000" cy="15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200" b="1">
                <a:solidFill>
                  <a:srgbClr val="222222"/>
                </a:solidFill>
                <a:latin typeface="Aptos"/>
                <a:ea typeface="Yu Gothic"/>
              </a:rPr>
              <a:t>二次2回路の位相差</a:t>
            </a:r>
            <a:endParaRPr lang="ja-JP" sz="2200"/>
          </a:p>
          <a:p>
            <a:pPr algn="ctr"/>
            <a:r>
              <a:rPr lang="ja-JP" sz="2200" b="1">
                <a:solidFill>
                  <a:srgbClr val="222222"/>
                </a:solidFill>
                <a:latin typeface="Aptos"/>
                <a:ea typeface="Yu Gothic"/>
              </a:rPr>
              <a:t>90°</a:t>
            </a:r>
            <a:endParaRPr lang="ja-JP" sz="2200"/>
          </a:p>
          <a:p>
            <a:pPr algn="ctr"/>
            <a:r>
              <a:rPr lang="ja-JP" sz="2200" b="1">
                <a:solidFill>
                  <a:srgbClr val="222222"/>
                </a:solidFill>
                <a:latin typeface="Aptos"/>
                <a:ea typeface="Yu Gothic"/>
              </a:rPr>
              <a:t>180°ではない</a:t>
            </a:r>
            <a:endParaRPr lang="ja-JP" sz="2200"/>
          </a:p>
        </p:txBody>
      </p:sp>
      <p:sp>
        <p:nvSpPr>
          <p:cNvPr id="6" name="Shape 6"/>
          <p:cNvSpPr/>
          <p:nvPr/>
        </p:nvSpPr>
        <p:spPr>
          <a:xfrm>
            <a:off x="3950000" y="3450000"/>
            <a:ext cx="3400000" cy="185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T側一次巻数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N_T = (√3 / 2) N_M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≈ 0.866 N_M</a:t>
            </a:r>
            <a:endParaRPr lang="ja-JP" sz="2100"/>
          </a:p>
        </p:txBody>
      </p:sp>
      <p:sp>
        <p:nvSpPr>
          <p:cNvPr id="7" name="Shape 7"/>
          <p:cNvSpPr/>
          <p:nvPr/>
        </p:nvSpPr>
        <p:spPr>
          <a:xfrm>
            <a:off x="7650000" y="1700000"/>
            <a:ext cx="3500000" cy="36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M座・T座の負荷を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できるだけ同程度にする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↓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三相一次側の</a:t>
            </a:r>
            <a:endParaRPr lang="ja-JP" sz="2100"/>
          </a:p>
          <a:p>
            <a:pPr algn="ctr"/>
            <a:r>
              <a:rPr lang="ja-JP" sz="2100" b="1">
                <a:solidFill>
                  <a:srgbClr val="222222"/>
                </a:solidFill>
                <a:latin typeface="Aptos"/>
                <a:ea typeface="Yu Gothic"/>
              </a:rPr>
              <a:t>不平衡を抑える</a:t>
            </a:r>
            <a:endParaRPr lang="ja-JP" sz="2100"/>
          </a:p>
        </p:txBody>
      </p:sp>
      <p:sp>
        <p:nvSpPr>
          <p:cNvPr id="8" name="Shape 8"/>
          <p:cNvSpPr/>
          <p:nvPr/>
        </p:nvSpPr>
        <p:spPr>
          <a:xfrm>
            <a:off x="650000" y="5600000"/>
            <a:ext cx="10450000" cy="50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ctr"/>
            <a:r>
              <a:rPr lang="ja-JP" sz="1700" b="1">
                <a:solidFill>
                  <a:srgbClr val="FFFFFF"/>
                </a:solidFill>
                <a:latin typeface="Aptos"/>
                <a:ea typeface="Yu Gothic"/>
              </a:rPr>
              <a:t>正誤判定：90°／√3÷2／二次負荷平衡 → 三相側不平衡抑制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0000" y="250000"/>
            <a:ext cx="11100000" cy="85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l"/>
            <a:r>
              <a:rPr lang="ja-JP" sz="3000" b="1">
                <a:solidFill>
                  <a:srgbClr val="FFFFFF"/>
                </a:solidFill>
                <a:latin typeface="Aptos"/>
                <a:ea typeface="Yu Gothic"/>
              </a:rPr>
              <a:t>新幹線のき電用変圧器：三方式の概略比較</a:t>
            </a:r>
            <a:endParaRPr lang="ja-JP" sz="3000"/>
          </a:p>
        </p:txBody>
      </p:sp>
      <p:sp>
        <p:nvSpPr>
          <p:cNvPr id="3" name="Shape 3"/>
          <p:cNvSpPr/>
          <p:nvPr/>
        </p:nvSpPr>
        <p:spPr>
          <a:xfrm>
            <a:off x="650000" y="1150000"/>
            <a:ext cx="108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 algn="l"/>
            <a:r>
              <a:rPr lang="ja-JP" sz="1500" b="0">
                <a:solidFill>
                  <a:srgbClr val="666666"/>
                </a:solidFill>
                <a:latin typeface="Aptos"/>
                <a:ea typeface="Yu Gothic"/>
              </a:rPr>
              <a:t>厳密ベクトル導出や個別設備定格は扱わない</a:t>
            </a:r>
            <a:endParaRPr lang="ja-JP" sz="1500"/>
          </a:p>
        </p:txBody>
      </p:sp>
      <p:sp>
        <p:nvSpPr>
          <p:cNvPr id="4" name="Shape 4"/>
          <p:cNvSpPr/>
          <p:nvPr/>
        </p:nvSpPr>
        <p:spPr>
          <a:xfrm>
            <a:off x="650000" y="1700000"/>
            <a:ext cx="3350000" cy="33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スコット結線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三相 → 二つの単相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二次90°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負荷平衡で三相側不平衡を抑制</a:t>
            </a:r>
            <a:endParaRPr lang="ja-JP" sz="1850"/>
          </a:p>
        </p:txBody>
      </p:sp>
      <p:sp>
        <p:nvSpPr>
          <p:cNvPr id="5" name="Shape 5"/>
          <p:cNvSpPr/>
          <p:nvPr/>
        </p:nvSpPr>
        <p:spPr>
          <a:xfrm>
            <a:off x="4420000" y="1700000"/>
            <a:ext cx="3350000" cy="33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変形ウッドブリッジ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超高圧受電へ適用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スター・デルタ系で構成</a:t>
            </a:r>
            <a:endParaRPr lang="ja-JP" sz="1850"/>
          </a:p>
          <a:p>
            <a:pPr algn="ctr"/>
            <a:r>
              <a:rPr lang="ja-JP" sz="1850" b="1">
                <a:solidFill>
                  <a:srgbClr val="222222"/>
                </a:solidFill>
                <a:latin typeface="Aptos"/>
                <a:ea typeface="Yu Gothic"/>
              </a:rPr>
              <a:t>B座側に昇圧変圧器</a:t>
            </a:r>
            <a:endParaRPr lang="ja-JP" sz="1850"/>
          </a:p>
        </p:txBody>
      </p:sp>
      <p:sp>
        <p:nvSpPr>
          <p:cNvPr id="6" name="Shape 6"/>
          <p:cNvSpPr/>
          <p:nvPr/>
        </p:nvSpPr>
        <p:spPr>
          <a:xfrm>
            <a:off x="8190000" y="1700000"/>
            <a:ext cx="3350000" cy="33000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ルーフ・デルタ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別置き昇圧変圧器を不要化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構造を簡素化</a:t>
            </a:r>
            <a:endParaRPr lang="ja-JP" sz="1800"/>
          </a:p>
          <a:p>
            <a:pPr algn="ctr"/>
            <a:r>
              <a:rPr lang="ja-JP" sz="1800" b="1">
                <a:solidFill>
                  <a:srgbClr val="222222"/>
                </a:solidFill>
                <a:latin typeface="Aptos"/>
                <a:ea typeface="Yu Gothic"/>
              </a:rPr>
              <a:t>小型・軽量・低損失化を狙う</a:t>
            </a:r>
            <a:endParaRPr lang="ja-JP" sz="1800"/>
          </a:p>
        </p:txBody>
      </p:sp>
      <p:sp>
        <p:nvSpPr>
          <p:cNvPr id="7" name="Shape 7"/>
          <p:cNvSpPr/>
          <p:nvPr/>
        </p:nvSpPr>
        <p:spPr>
          <a:xfrm>
            <a:off x="650000" y="5300000"/>
            <a:ext cx="10900000" cy="7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ctr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共通目的：電力系統の三相交流と、新幹線架線側の単相交流をつなぎ、三相側の偏りを抑える</a:t>
            </a:r>
            <a:endParaRPr lang="ja-JP" sz="1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0000" y="250000"/>
            <a:ext cx="11100000" cy="85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l"/>
            <a:r>
              <a:rPr lang="ja-JP" sz="3000" b="1">
                <a:solidFill>
                  <a:srgbClr val="FFFFFF"/>
                </a:solidFill>
                <a:latin typeface="Aptos"/>
                <a:ea typeface="Yu Gothic"/>
              </a:rPr>
              <a:t>本試験での判定順序と固定過去問</a:t>
            </a:r>
            <a:endParaRPr lang="ja-JP" sz="3000"/>
          </a:p>
        </p:txBody>
      </p:sp>
      <p:sp>
        <p:nvSpPr>
          <p:cNvPr id="3" name="Shape 3"/>
          <p:cNvSpPr/>
          <p:nvPr/>
        </p:nvSpPr>
        <p:spPr>
          <a:xfrm>
            <a:off x="650000" y="1150000"/>
            <a:ext cx="108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 algn="l"/>
            <a:r>
              <a:rPr lang="ja-JP" sz="1500" b="0">
                <a:solidFill>
                  <a:srgbClr val="666666"/>
                </a:solidFill>
                <a:latin typeface="Aptos"/>
                <a:ea typeface="Yu Gothic"/>
              </a:rPr>
              <a:t>固定5問・8小問を教材内で全件カバー</a:t>
            </a:r>
            <a:endParaRPr lang="ja-JP" sz="1500"/>
          </a:p>
        </p:txBody>
      </p:sp>
      <p:sp>
        <p:nvSpPr>
          <p:cNvPr id="4" name="Shape 4"/>
          <p:cNvSpPr/>
          <p:nvPr/>
        </p:nvSpPr>
        <p:spPr>
          <a:xfrm>
            <a:off x="650000" y="1650000"/>
            <a:ext cx="4300000" cy="37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計算問題の順序</a:t>
            </a:r>
            <a:endParaRPr lang="ja-JP" sz="1750"/>
          </a:p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1. Y / Δ を判定</a:t>
            </a:r>
            <a:endParaRPr lang="ja-JP" sz="1750"/>
          </a:p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2. 線間値 / 相値を判定</a:t>
            </a:r>
            <a:endParaRPr lang="ja-JP" sz="1750"/>
          </a:p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3. 一相分 / 三相全体を判定</a:t>
            </a:r>
            <a:endParaRPr lang="ja-JP" sz="1750"/>
          </a:p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4. P = √3 V_L I_L cosφ</a:t>
            </a:r>
            <a:endParaRPr lang="ja-JP" sz="1750"/>
          </a:p>
          <a:p>
            <a:pPr algn="l"/>
            <a:r>
              <a:rPr lang="ja-JP" sz="1750" b="1">
                <a:solidFill>
                  <a:srgbClr val="222222"/>
                </a:solidFill>
                <a:latin typeface="Aptos"/>
                <a:ea typeface="Yu Gothic"/>
              </a:rPr>
              <a:t>5. 単位と √3 を検算</a:t>
            </a:r>
            <a:endParaRPr lang="ja-JP" sz="1750"/>
          </a:p>
        </p:txBody>
      </p:sp>
      <p:sp>
        <p:nvSpPr>
          <p:cNvPr id="5" name="Shape 5"/>
          <p:cNvSpPr/>
          <p:nvPr/>
        </p:nvSpPr>
        <p:spPr>
          <a:xfrm>
            <a:off x="5150000" y="1650000"/>
            <a:ext cx="6000000" cy="37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9E1F2"/>
            </a:solidFill>
          </a:ln>
        </p:spPr>
        <p:txBody>
          <a:bodyPr wrap="square"/>
          <a:lstStyle/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固定過去問 → 対応論点</a:t>
            </a:r>
            <a:endParaRPr lang="ja-JP" sz="1650"/>
          </a:p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R7下 理論15(a)(b)　線間/相・三相電力</a:t>
            </a:r>
            <a:endParaRPr lang="ja-JP" sz="1650"/>
          </a:p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R5下 理論15(a)(b)　Y/Δ・三相電力</a:t>
            </a:r>
            <a:endParaRPr lang="ja-JP" sz="1650"/>
          </a:p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R4上 機械9　　　　スコット二次90°</a:t>
            </a:r>
            <a:endParaRPr lang="ja-JP" sz="1650"/>
          </a:p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H30 電力8　　　　 変圧比・三相電力</a:t>
            </a:r>
            <a:endParaRPr lang="ja-JP" sz="1650"/>
          </a:p>
          <a:p>
            <a:pPr algn="l"/>
            <a:r>
              <a:rPr lang="ja-JP" sz="1650" b="1">
                <a:solidFill>
                  <a:srgbClr val="222222"/>
                </a:solidFill>
                <a:latin typeface="Aptos"/>
                <a:ea typeface="Yu Gothic"/>
              </a:rPr>
              <a:t>H27 機械7　　　　 スコット・負荷平衡</a:t>
            </a:r>
            <a:endParaRPr lang="ja-JP" sz="1650"/>
          </a:p>
        </p:txBody>
      </p:sp>
      <p:sp>
        <p:nvSpPr>
          <p:cNvPr id="6" name="Shape 6"/>
          <p:cNvSpPr/>
          <p:nvPr/>
        </p:nvSpPr>
        <p:spPr>
          <a:xfrm>
            <a:off x="650000" y="5550000"/>
            <a:ext cx="10450000" cy="650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txBody>
          <a:bodyPr wrap="square"/>
          <a:lstStyle/>
          <a:p>
            <a:pPr algn="ctr"/>
            <a:r>
              <a:rPr lang="ja-JP" sz="1650" b="1">
                <a:solidFill>
                  <a:srgbClr val="FFFFFF"/>
                </a:solidFill>
                <a:latin typeface="Aptos"/>
                <a:ea typeface="Yu Gothic"/>
              </a:rPr>
              <a:t>品質ゲート：PowerPoint後も completed にはしない → 次は完成教材だけで独立再解答</a:t>
            </a:r>
            <a:endParaRPr lang="ja-JP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07 phase conversion</dc:title>
  <dc:creator>OpenAI</dc:creator>
  <dcterms:created xsi:type="dcterms:W3CDTF">2026-09-14T23:13:05Z</dcterms:created>
  <dcterms:modified xsi:type="dcterms:W3CDTF">2026-09-14T23:13:05Z</dcterms:modified>
</cp:coreProperties>
</file>