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457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008489"/>
                </a:solidFill>
                <a:latin typeface="Noto Sans CJK JP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6984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>
                <a:solidFill>
                  <a:srgbClr val="142A4A"/>
                </a:solidFill>
                <a:latin typeface="Noto Sans CJK JP"/>
              </a:rPr>
              <a:t>力の出発点：電界と磁界で荷電粒子はどう動くか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68096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5C6570"/>
                </a:solidFill>
                <a:latin typeface="Noto Sans CJK JP"/>
              </a:rPr>
              <a:t>符号・向き・B/Hの区別を先に固定する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11109960" cy="22860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342900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73152" cy="196596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453895"/>
            <a:ext cx="31089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08489"/>
                </a:solidFill>
                <a:latin typeface="Noto Sans CJK JP"/>
              </a:rPr>
              <a:t>電界から受ける力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56231"/>
            <a:ext cx="310896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C2024"/>
                </a:solidFill>
                <a:latin typeface="Noto Sans CJK JP"/>
              </a:rPr>
              <a:t>F = qE
電子では q = −e
→ 電界 E と逆向きに力を受ける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42900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73152" cy="1965960"/>
          </a:xfrm>
          <a:prstGeom prst="rect">
            <a:avLst/>
          </a:prstGeom>
          <a:solidFill>
            <a:srgbClr val="2A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453895"/>
            <a:ext cx="31089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2A68AD"/>
                </a:solidFill>
                <a:latin typeface="Noto Sans CJK JP"/>
              </a:rPr>
              <a:t>磁界から受ける力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856231"/>
            <a:ext cx="310896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C2024"/>
                </a:solidFill>
                <a:latin typeface="Noto Sans CJK JP"/>
              </a:rPr>
              <a:t>F = q(v × B)
|F| = |q|vB sinθ
→ 電子では右手則の向きを反転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25880"/>
            <a:ext cx="342900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25880"/>
            <a:ext cx="73152" cy="1965960"/>
          </a:xfrm>
          <a:prstGeom prst="rect">
            <a:avLst/>
          </a:prstGeom>
          <a:solidFill>
            <a:srgbClr val="E27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453895"/>
            <a:ext cx="31089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27A23"/>
                </a:solidFill>
                <a:latin typeface="Noto Sans CJK JP"/>
              </a:rPr>
              <a:t>磁束密度と磁界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1856231"/>
            <a:ext cx="310896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0">
                <a:solidFill>
                  <a:srgbClr val="1C2024"/>
                </a:solidFill>
                <a:latin typeface="Noto Sans CJK JP"/>
              </a:rPr>
              <a:t>ローレンツ力に入るのは B [T]
H [A/m] が与えられたら
真空中では B = μ₀H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03320"/>
            <a:ext cx="10789920" cy="2331720"/>
          </a:xfrm>
          <a:prstGeom prst="roundRect">
            <a:avLst/>
          </a:prstGeom>
          <a:solidFill>
            <a:srgbClr val="F9FBFD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417320" y="4709160"/>
            <a:ext cx="1737360" cy="0"/>
          </a:xfrm>
          <a:prstGeom prst="line">
            <a:avLst/>
          </a:prstGeom>
          <a:ln w="38100">
            <a:solidFill>
              <a:srgbClr val="2A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154680" y="3977639"/>
            <a:ext cx="0" cy="731521"/>
          </a:xfrm>
          <a:prstGeom prst="line">
            <a:avLst/>
          </a:prstGeom>
          <a:ln w="38100">
            <a:solidFill>
              <a:srgbClr val="3D89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154680" y="4709160"/>
            <a:ext cx="0" cy="777240"/>
          </a:xfrm>
          <a:prstGeom prst="line">
            <a:avLst/>
          </a:prstGeom>
          <a:ln w="38100">
            <a:solidFill>
              <a:srgbClr val="C23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846320" y="4160520"/>
            <a:ext cx="320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42A4A"/>
                </a:solidFill>
                <a:latin typeface="Noto Sans CJK JP"/>
              </a:rPr>
              <a:t>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800600"/>
            <a:ext cx="320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42A4A"/>
                </a:solidFill>
                <a:latin typeface="Noto Sans CJK JP"/>
              </a:rPr>
              <a:t>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5440680"/>
            <a:ext cx="320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42A4A"/>
                </a:solidFill>
                <a:latin typeface="Noto Sans CJK JP"/>
              </a:rPr>
              <a:t>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4160520"/>
            <a:ext cx="320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42A4A"/>
                </a:solidFill>
                <a:latin typeface="Noto Sans CJK JP"/>
              </a:rPr>
              <a:t>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4800600"/>
            <a:ext cx="320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42A4A"/>
                </a:solidFill>
                <a:latin typeface="Noto Sans CJK JP"/>
              </a:rPr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5440680"/>
            <a:ext cx="320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42A4A"/>
                </a:solidFill>
                <a:latin typeface="Noto Sans CJK JP"/>
              </a:rPr>
              <a:t>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160520"/>
            <a:ext cx="320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42A4A"/>
                </a:solidFill>
                <a:latin typeface="Noto Sans CJK JP"/>
              </a:rPr>
              <a:t>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800600"/>
            <a:ext cx="320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42A4A"/>
                </a:solidFill>
                <a:latin typeface="Noto Sans CJK JP"/>
              </a:rPr>
              <a:t>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440680"/>
            <a:ext cx="320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42A4A"/>
                </a:solidFill>
                <a:latin typeface="Noto Sans CJK JP"/>
              </a:rPr>
              <a:t>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160520"/>
            <a:ext cx="320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42A4A"/>
                </a:solidFill>
                <a:latin typeface="Noto Sans CJK JP"/>
              </a:rPr>
              <a:t>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800600"/>
            <a:ext cx="320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42A4A"/>
                </a:solidFill>
                <a:latin typeface="Noto Sans CJK JP"/>
              </a:rPr>
              <a:t>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5440680"/>
            <a:ext cx="320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42A4A"/>
                </a:solidFill>
                <a:latin typeface="Noto Sans CJK JP"/>
              </a:rPr>
              <a:t>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4343400"/>
            <a:ext cx="320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2A68AD"/>
                </a:solidFill>
                <a:latin typeface="Noto Sans CJK JP"/>
              </a:rPr>
              <a:t>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3794760"/>
            <a:ext cx="1417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3D895C"/>
                </a:solidFill>
                <a:latin typeface="Noto Sans CJK JP"/>
              </a:rPr>
              <a:t>正電荷の力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5349240"/>
            <a:ext cx="1188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C23E37"/>
                </a:solidFill>
                <a:latin typeface="Noto Sans CJK JP"/>
              </a:rPr>
              <a:t>電子の力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5715000"/>
            <a:ext cx="2103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42A4A"/>
                </a:solidFill>
                <a:latin typeface="Noto Sans CJK JP"/>
              </a:rPr>
              <a:t>B：紙面の奥向き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4251960"/>
            <a:ext cx="35204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142A4A"/>
                </a:solidFill>
                <a:latin typeface="Noto Sans CJK JP"/>
              </a:rPr>
              <a:t>手順：① v×B を正電荷として決める → ② q&lt;0 なら反転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5166360"/>
            <a:ext cx="3383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0">
                <a:solidFill>
                  <a:srgbClr val="5C6570"/>
                </a:solidFill>
                <a:latin typeface="Noto Sans CJK JP"/>
              </a:rPr>
              <a:t>θ=0,π → F=0　／　θ=π/2 → 最大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Noto Sans CJK JP"/>
              </a:rPr>
              <a:t>電験二種 一次「理論」｜Topic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457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008489"/>
                </a:solidFill>
                <a:latin typeface="Noto Sans CJK JP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6984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>
                <a:solidFill>
                  <a:srgbClr val="142A4A"/>
                </a:solidFill>
                <a:latin typeface="Noto Sans CJK JP"/>
              </a:rPr>
              <a:t>磁界中の電子：速さは変わらず、向きだけが変わる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68096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5C6570"/>
                </a:solidFill>
                <a:latin typeface="Noto Sans CJK JP"/>
              </a:rPr>
              <a:t>ローレンツ力＝向心力として円運動を解く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11109960" cy="22860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599" y="2286000"/>
            <a:ext cx="2834640" cy="2834640"/>
          </a:xfrm>
          <a:prstGeom prst="ellipse">
            <a:avLst/>
          </a:prstGeom>
          <a:noFill/>
          <a:ln w="31750">
            <a:solidFill>
              <a:srgbClr val="2A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087368" y="3584448"/>
            <a:ext cx="237744" cy="237744"/>
          </a:xfrm>
          <a:prstGeom prst="ellipse">
            <a:avLst/>
          </a:prstGeom>
          <a:solidFill>
            <a:srgbClr val="C23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4206240" y="2788920"/>
            <a:ext cx="0" cy="914400"/>
          </a:xfrm>
          <a:prstGeom prst="line">
            <a:avLst/>
          </a:prstGeom>
          <a:ln w="38100">
            <a:solidFill>
              <a:srgbClr val="2A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200400" y="3703320"/>
            <a:ext cx="1005840" cy="0"/>
          </a:xfrm>
          <a:prstGeom prst="line">
            <a:avLst/>
          </a:prstGeom>
          <a:ln w="38100">
            <a:solidFill>
              <a:srgbClr val="E27A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47288" y="3538727"/>
            <a:ext cx="2560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142A4A"/>
                </a:solidFill>
                <a:latin typeface="Noto Sans CJK JP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9639" y="4088319"/>
            <a:ext cx="2560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142A4A"/>
                </a:solidFill>
                <a:latin typeface="Noto Sans CJK JP"/>
              </a:rPr>
              <a:t>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4315968"/>
            <a:ext cx="2560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142A4A"/>
                </a:solidFill>
                <a:latin typeface="Noto Sans CJK JP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0456" y="4088319"/>
            <a:ext cx="2560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142A4A"/>
                </a:solidFill>
                <a:latin typeface="Noto Sans CJK JP"/>
              </a:rPr>
              <a:t>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2807" y="3538727"/>
            <a:ext cx="2560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142A4A"/>
                </a:solidFill>
                <a:latin typeface="Noto Sans CJK JP"/>
              </a:rPr>
              <a:t>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0456" y="2989136"/>
            <a:ext cx="2560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142A4A"/>
                </a:solidFill>
                <a:latin typeface="Noto Sans CJK JP"/>
              </a:rPr>
              <a:t>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2761487"/>
            <a:ext cx="2560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142A4A"/>
                </a:solidFill>
                <a:latin typeface="Noto Sans CJK JP"/>
              </a:rPr>
              <a:t>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9639" y="2989136"/>
            <a:ext cx="256032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142A4A"/>
                </a:solidFill>
                <a:latin typeface="Noto Sans CJK JP"/>
              </a:rPr>
              <a:t>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2834639"/>
            <a:ext cx="320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2A68AD"/>
                </a:solidFill>
                <a:latin typeface="Noto Sans CJK JP"/>
              </a:rPr>
              <a:t>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39" y="3383279"/>
            <a:ext cx="320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E27A23"/>
                </a:solidFill>
                <a:latin typeface="Noto Sans CJK JP"/>
              </a:rPr>
              <a:t>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440680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142A4A"/>
                </a:solidFill>
                <a:latin typeface="Noto Sans CJK JP"/>
              </a:rPr>
              <a:t>B：紙面の奥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1417320"/>
            <a:ext cx="2880360" cy="658368"/>
          </a:xfrm>
          <a:prstGeom prst="roundRect">
            <a:avLst/>
          </a:prstGeom>
          <a:solidFill>
            <a:srgbClr val="E6F7F6"/>
          </a:solidFill>
          <a:ln>
            <a:solidFill>
              <a:srgbClr val="2A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65192" y="1490472"/>
            <a:ext cx="2734056" cy="51206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300" b="1">
                <a:solidFill>
                  <a:srgbClr val="142A4A"/>
                </a:solidFill>
                <a:latin typeface="Noto Sans CJK JP"/>
              </a:rPr>
              <a:t>|q|vB = mv²/r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1417320"/>
            <a:ext cx="2834640" cy="658368"/>
          </a:xfrm>
          <a:prstGeom prst="roundRect">
            <a:avLst/>
          </a:prstGeom>
          <a:solidFill>
            <a:srgbClr val="E6F7F6"/>
          </a:solidFill>
          <a:ln>
            <a:solidFill>
              <a:srgbClr val="2A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1490472"/>
            <a:ext cx="2688336" cy="51206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300" b="1">
                <a:solidFill>
                  <a:srgbClr val="142A4A"/>
                </a:solidFill>
                <a:latin typeface="Noto Sans CJK JP"/>
              </a:rPr>
              <a:t>r = mv/(|q|B)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2040" y="2423160"/>
            <a:ext cx="2880360" cy="658368"/>
          </a:xfrm>
          <a:prstGeom prst="roundRect">
            <a:avLst/>
          </a:prstGeom>
          <a:solidFill>
            <a:srgbClr val="E6F7F6"/>
          </a:solidFill>
          <a:ln>
            <a:solidFill>
              <a:srgbClr val="00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65192" y="2496312"/>
            <a:ext cx="2734056" cy="51206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300" b="1">
                <a:solidFill>
                  <a:srgbClr val="142A4A"/>
                </a:solidFill>
                <a:latin typeface="Noto Sans CJK JP"/>
              </a:rPr>
              <a:t>ωc = |q|B/m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2423160"/>
            <a:ext cx="2834640" cy="658368"/>
          </a:xfrm>
          <a:prstGeom prst="roundRect">
            <a:avLst/>
          </a:prstGeom>
          <a:solidFill>
            <a:srgbClr val="E6F7F6"/>
          </a:solidFill>
          <a:ln>
            <a:solidFill>
              <a:srgbClr val="00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2" y="2496312"/>
            <a:ext cx="2688336" cy="51206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100" b="1">
                <a:solidFill>
                  <a:srgbClr val="142A4A"/>
                </a:solidFill>
                <a:latin typeface="Noto Sans CJK JP"/>
              </a:rPr>
              <a:t>f = |q|B/(2πm)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3429000"/>
            <a:ext cx="2926080" cy="658368"/>
          </a:xfrm>
          <a:prstGeom prst="roundRect">
            <a:avLst/>
          </a:prstGeom>
          <a:solidFill>
            <a:srgbClr val="E6F7F6"/>
          </a:solidFill>
          <a:ln>
            <a:solidFill>
              <a:srgbClr val="00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6832" y="3502152"/>
            <a:ext cx="2779776" cy="51206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42A4A"/>
                </a:solidFill>
                <a:latin typeface="Noto Sans CJK JP"/>
              </a:rPr>
              <a:t>T = 2πm/(|q|B)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92040" y="4389120"/>
            <a:ext cx="62179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92040" y="4389120"/>
            <a:ext cx="73152" cy="1417320"/>
          </a:xfrm>
          <a:prstGeom prst="rect">
            <a:avLst/>
          </a:prstGeom>
          <a:solidFill>
            <a:srgbClr val="E27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93207" y="4517136"/>
            <a:ext cx="589788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27A23"/>
                </a:solidFill>
                <a:latin typeface="Noto Sans CJK JP"/>
              </a:rPr>
              <a:t>試験での判断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3207" y="4919472"/>
            <a:ext cx="589788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1C2024"/>
                </a:solidFill>
                <a:latin typeface="Noto Sans CJK JP"/>
              </a:rPr>
              <a:t>磁気力は v に垂直 → F·v = 0。磁界だけなら仕事をしないので運動エネルギーと速さは一定。非相対論的モデルでは ωc・f・T は初速度に依存しない。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Noto Sans CJK JP"/>
              </a:rPr>
              <a:t>固定過去問：R7問7／R1問7／H25問6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457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008489"/>
                </a:solidFill>
                <a:latin typeface="Noto Sans CJK JP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6984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>
                <a:solidFill>
                  <a:srgbClr val="142A4A"/>
                </a:solidFill>
                <a:latin typeface="Noto Sans CJK JP"/>
              </a:rPr>
              <a:t>加速電圧から比電荷 e/m までつなぐ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68096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5C6570"/>
                </a:solidFill>
                <a:latin typeface="Noto Sans CJK JP"/>
              </a:rPr>
              <a:t>エネルギー → 円運動 → 測定式の順で整理する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11109960" cy="22860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2743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417320"/>
            <a:ext cx="73152" cy="137160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545336"/>
            <a:ext cx="24231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08489"/>
                </a:solidFill>
                <a:latin typeface="Noto Sans CJK JP"/>
              </a:rPr>
              <a:t>① 加速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947672"/>
            <a:ext cx="24231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100" b="0">
                <a:solidFill>
                  <a:srgbClr val="1C2024"/>
                </a:solidFill>
                <a:latin typeface="Noto Sans CJK JP"/>
              </a:rPr>
              <a:t>eV = mv²/2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417320"/>
            <a:ext cx="2743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417320"/>
            <a:ext cx="73152" cy="1371600"/>
          </a:xfrm>
          <a:prstGeom prst="rect">
            <a:avLst/>
          </a:prstGeom>
          <a:solidFill>
            <a:srgbClr val="2A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4528" y="1545336"/>
            <a:ext cx="24231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2A68AD"/>
                </a:solidFill>
                <a:latin typeface="Noto Sans CJK JP"/>
              </a:rPr>
              <a:t>② 円運動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1947672"/>
            <a:ext cx="24231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100" b="0">
                <a:solidFill>
                  <a:srgbClr val="1C2024"/>
                </a:solidFill>
                <a:latin typeface="Noto Sans CJK JP"/>
              </a:rPr>
              <a:t>r = mv/(eB)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417320"/>
            <a:ext cx="2743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0" y="1417320"/>
            <a:ext cx="73152" cy="1371600"/>
          </a:xfrm>
          <a:prstGeom prst="rect">
            <a:avLst/>
          </a:prstGeom>
          <a:solidFill>
            <a:srgbClr val="E27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1545336"/>
            <a:ext cx="24231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27A23"/>
                </a:solidFill>
                <a:latin typeface="Noto Sans CJK JP"/>
              </a:rPr>
              <a:t>③ 消去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1947672"/>
            <a:ext cx="24231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100" b="0">
                <a:solidFill>
                  <a:srgbClr val="1C2024"/>
                </a:solidFill>
                <a:latin typeface="Noto Sans CJK JP"/>
              </a:rPr>
              <a:t>e/m = 2V/(B²r²)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83279" y="2084831"/>
            <a:ext cx="502921" cy="0"/>
          </a:xfrm>
          <a:prstGeom prst="line">
            <a:avLst/>
          </a:prstGeom>
          <a:ln w="31750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92240" y="2084831"/>
            <a:ext cx="502920" cy="0"/>
          </a:xfrm>
          <a:prstGeom prst="line">
            <a:avLst/>
          </a:prstGeom>
          <a:ln w="31750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" y="3246120"/>
            <a:ext cx="3063240" cy="713232"/>
          </a:xfrm>
          <a:prstGeom prst="roundRect">
            <a:avLst/>
          </a:prstGeom>
          <a:solidFill>
            <a:srgbClr val="E6F7F6"/>
          </a:solidFill>
          <a:ln>
            <a:solidFill>
              <a:srgbClr val="00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3319272"/>
            <a:ext cx="2916936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142A4A"/>
                </a:solidFill>
                <a:latin typeface="Noto Sans CJK JP"/>
              </a:rPr>
              <a:t>v = √(2(e/m)V)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246120"/>
            <a:ext cx="3063240" cy="713232"/>
          </a:xfrm>
          <a:prstGeom prst="roundRect">
            <a:avLst/>
          </a:prstGeom>
          <a:solidFill>
            <a:srgbClr val="E6F7F6"/>
          </a:solidFill>
          <a:ln>
            <a:solidFill>
              <a:srgbClr val="2A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2" y="3319272"/>
            <a:ext cx="2916936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142A4A"/>
                </a:solidFill>
                <a:latin typeface="Noto Sans CJK JP"/>
              </a:rPr>
              <a:t>ωc = (e/m)B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246120"/>
            <a:ext cx="2788920" cy="713232"/>
          </a:xfrm>
          <a:prstGeom prst="roundRect">
            <a:avLst/>
          </a:prstGeom>
          <a:solidFill>
            <a:srgbClr val="E6F7F6"/>
          </a:solidFill>
          <a:ln>
            <a:solidFill>
              <a:srgbClr val="E27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1312" y="3319272"/>
            <a:ext cx="2642615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142A4A"/>
                </a:solidFill>
                <a:latin typeface="Noto Sans CJK JP"/>
              </a:rPr>
              <a:t>e/m = ωc/B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4343400"/>
            <a:ext cx="516636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4343400"/>
            <a:ext cx="73152" cy="132588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" y="4471416"/>
            <a:ext cx="484632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08489"/>
                </a:solidFill>
                <a:latin typeface="Noto Sans CJK JP"/>
              </a:rPr>
              <a:t>測定量の読み替え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4873752"/>
            <a:ext cx="48463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1C2024"/>
                </a:solidFill>
                <a:latin typeface="Noto Sans CJK JP"/>
              </a:rPr>
              <a:t>V・B・r が与えられたら 2V/(B²r²)。
B・ωc が与えられたら ωc/B。
「何が測れているか」で式を選ぶ。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4343400"/>
            <a:ext cx="466344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5080" y="4343400"/>
            <a:ext cx="73152" cy="1325880"/>
          </a:xfrm>
          <a:prstGeom prst="rect">
            <a:avLst/>
          </a:prstGeom>
          <a:solidFill>
            <a:srgbClr val="E27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6248" y="4471416"/>
            <a:ext cx="434340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27A23"/>
                </a:solidFill>
                <a:latin typeface="Noto Sans CJK JP"/>
              </a:rPr>
              <a:t>頻出ミス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6248" y="4873752"/>
            <a:ext cx="434340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1C2024"/>
                </a:solidFill>
                <a:latin typeface="Noto Sans CJK JP"/>
              </a:rPr>
              <a:t>半径では電荷の大きさ e を使う。
角周波数 ω と周波数 f の 2π を落とさない。
B[T] と H[A/m] を混同しない。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Noto Sans CJK JP"/>
              </a:rPr>
              <a:t>固定過去問：H25問6／R1問7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457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008489"/>
                </a:solidFill>
                <a:latin typeface="Noto Sans CJK JP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6984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>
                <a:solidFill>
                  <a:srgbClr val="142A4A"/>
                </a:solidFill>
                <a:latin typeface="Noto Sans CJK JP"/>
              </a:rPr>
              <a:t>電界中の電子：x運動とy運動を分離する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68096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5C6570"/>
                </a:solidFill>
                <a:latin typeface="Noto Sans CJK JP"/>
              </a:rPr>
              <a:t>一定電界と時間変化電界を同じ運動方程式から解く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11109960" cy="22860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28800"/>
            <a:ext cx="4114800" cy="10972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983480"/>
            <a:ext cx="4114800" cy="10972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554480" y="2103120"/>
            <a:ext cx="0" cy="777240"/>
          </a:xfrm>
          <a:prstGeom prst="line">
            <a:avLst/>
          </a:prstGeom>
          <a:ln w="25400">
            <a:solidFill>
              <a:srgbClr val="008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377440" y="2103120"/>
            <a:ext cx="0" cy="777240"/>
          </a:xfrm>
          <a:prstGeom prst="line">
            <a:avLst/>
          </a:prstGeom>
          <a:ln w="25400">
            <a:solidFill>
              <a:srgbClr val="008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0" y="2103120"/>
            <a:ext cx="0" cy="777240"/>
          </a:xfrm>
          <a:prstGeom prst="line">
            <a:avLst/>
          </a:prstGeom>
          <a:ln w="25400">
            <a:solidFill>
              <a:srgbClr val="008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23360" y="2103120"/>
            <a:ext cx="0" cy="777240"/>
          </a:xfrm>
          <a:prstGeom prst="line">
            <a:avLst/>
          </a:prstGeom>
          <a:ln w="25400">
            <a:solidFill>
              <a:srgbClr val="008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05840" y="4114800"/>
            <a:ext cx="640080" cy="45720"/>
          </a:xfrm>
          <a:prstGeom prst="line">
            <a:avLst/>
          </a:prstGeom>
          <a:ln w="31750">
            <a:solidFill>
              <a:srgbClr val="C23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645920" y="3986784"/>
            <a:ext cx="640080" cy="128016"/>
          </a:xfrm>
          <a:prstGeom prst="line">
            <a:avLst/>
          </a:prstGeom>
          <a:ln w="31750">
            <a:solidFill>
              <a:srgbClr val="C23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286000" y="3794760"/>
            <a:ext cx="640080" cy="192024"/>
          </a:xfrm>
          <a:prstGeom prst="line">
            <a:avLst/>
          </a:prstGeom>
          <a:ln w="31750">
            <a:solidFill>
              <a:srgbClr val="C23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926080" y="3529584"/>
            <a:ext cx="640080" cy="265176"/>
          </a:xfrm>
          <a:prstGeom prst="line">
            <a:avLst/>
          </a:prstGeom>
          <a:ln w="31750">
            <a:solidFill>
              <a:srgbClr val="C23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566160" y="3200400"/>
            <a:ext cx="640080" cy="329184"/>
          </a:xfrm>
          <a:prstGeom prst="line">
            <a:avLst/>
          </a:prstGeom>
          <a:ln w="31750">
            <a:solidFill>
              <a:srgbClr val="C23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206240" y="2880360"/>
            <a:ext cx="548640" cy="320040"/>
          </a:xfrm>
          <a:prstGeom prst="line">
            <a:avLst/>
          </a:prstGeom>
          <a:ln w="31750">
            <a:solidFill>
              <a:srgbClr val="C23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32688" y="4087368"/>
            <a:ext cx="146304" cy="146304"/>
          </a:xfrm>
          <a:prstGeom prst="ellipse">
            <a:avLst/>
          </a:prstGeom>
          <a:solidFill>
            <a:srgbClr val="C23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81728" y="2807208"/>
            <a:ext cx="146304" cy="146304"/>
          </a:xfrm>
          <a:prstGeom prst="ellipse">
            <a:avLst/>
          </a:prstGeom>
          <a:solidFill>
            <a:srgbClr val="C23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2331720"/>
            <a:ext cx="4114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08489"/>
                </a:solidFill>
                <a:latin typeface="Noto Sans CJK JP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43400"/>
            <a:ext cx="1371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C23E37"/>
                </a:solidFill>
                <a:latin typeface="Noto Sans CJK JP"/>
              </a:rPr>
              <a:t>電子 q=−e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5230368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142A4A"/>
                </a:solidFill>
                <a:latin typeface="Noto Sans CJK JP"/>
              </a:rPr>
              <a:t>x：等速　y：加速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2120" y="1417320"/>
            <a:ext cx="571500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32120" y="1417320"/>
            <a:ext cx="73152" cy="109728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33288" y="1545336"/>
            <a:ext cx="53949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08489"/>
                </a:solidFill>
                <a:latin typeface="Noto Sans CJK JP"/>
              </a:rPr>
              <a:t>一定電界 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33288" y="1947672"/>
            <a:ext cx="5394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0">
                <a:solidFill>
                  <a:srgbClr val="1C2024"/>
                </a:solidFill>
                <a:latin typeface="Noto Sans CJK JP"/>
              </a:rPr>
              <a:t>t = L/v₀ → aᵧ = qE/m → vᵧ = aᵧt → y = aᵧt²/2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32120" y="2788920"/>
            <a:ext cx="571500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32120" y="2788920"/>
            <a:ext cx="73152" cy="1508760"/>
          </a:xfrm>
          <a:prstGeom prst="rect">
            <a:avLst/>
          </a:prstGeom>
          <a:solidFill>
            <a:srgbClr val="2A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33288" y="2916936"/>
            <a:ext cx="53949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2A68AD"/>
                </a:solidFill>
                <a:latin typeface="Noto Sans CJK JP"/>
              </a:rPr>
              <a:t>時間変化電界 E(t)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33288" y="3319272"/>
            <a:ext cx="539496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C2024"/>
                </a:solidFill>
                <a:latin typeface="Noto Sans CJK JP"/>
              </a:rPr>
              <a:t>m dv/dt = qE(t) を立てる。
初期条件を使って速度を積分し、さらに位置を積分する。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32120" y="4590288"/>
            <a:ext cx="5715000" cy="1078992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32120" y="4590288"/>
            <a:ext cx="73152" cy="1078992"/>
          </a:xfrm>
          <a:prstGeom prst="rect">
            <a:avLst/>
          </a:prstGeom>
          <a:solidFill>
            <a:srgbClr val="E27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33288" y="4718303"/>
            <a:ext cx="53949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27A23"/>
                </a:solidFill>
                <a:latin typeface="Noto Sans CJK JP"/>
              </a:rPr>
              <a:t>出口で再判定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33288" y="5120640"/>
            <a:ext cx="539496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C2024"/>
                </a:solidFill>
                <a:latin typeface="Noto Sans CJK JP"/>
              </a:rPr>
              <a:t>電界領域を出た後に力がなければ、その時点の速度ベクトルで等速直線運動。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Noto Sans CJK JP"/>
              </a:rPr>
              <a:t>固定過去問：R5問6／R3問6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457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008489"/>
                </a:solidFill>
                <a:latin typeface="Noto Sans CJK JP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6984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>
                <a:solidFill>
                  <a:srgbClr val="142A4A"/>
                </a:solidFill>
                <a:latin typeface="Noto Sans CJK JP"/>
              </a:rPr>
              <a:t>多数の荷電粒子の力が、導体の力 F=BIl になる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68096"/>
            <a:ext cx="11064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5C6570"/>
                </a:solidFill>
                <a:latin typeface="Noto Sans CJK JP"/>
              </a:rPr>
              <a:t>0系主電動機は「磁界中の電流に力が働く」導入に限定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11109960" cy="22860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53312"/>
            <a:ext cx="333756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53312"/>
            <a:ext cx="73152" cy="1417320"/>
          </a:xfrm>
          <a:prstGeom prst="rect">
            <a:avLst/>
          </a:prstGeom>
          <a:solidFill>
            <a:srgbClr val="2A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481328"/>
            <a:ext cx="301752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2A68AD"/>
                </a:solidFill>
                <a:latin typeface="Noto Sans CJK JP"/>
              </a:rPr>
              <a:t>1個の移動電荷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83664"/>
            <a:ext cx="301752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C2024"/>
                </a:solidFill>
                <a:latin typeface="Noto Sans CJK JP"/>
              </a:rPr>
              <a:t>磁気力：|q|vₐB sinθ
（vₐ：ドリフト速度）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53312"/>
            <a:ext cx="333756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353312"/>
            <a:ext cx="73152" cy="141732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481328"/>
            <a:ext cx="301752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08489"/>
                </a:solidFill>
                <a:latin typeface="Noto Sans CJK JP"/>
              </a:rPr>
              <a:t>長さ l の導体内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1883664"/>
            <a:ext cx="301752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0">
                <a:solidFill>
                  <a:srgbClr val="1C2024"/>
                </a:solidFill>
                <a:latin typeface="Noto Sans CJK JP"/>
              </a:rPr>
              <a:t>移動電荷数：nAl
総和：nAl|q|vₐB sinθ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353312"/>
            <a:ext cx="333756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353312"/>
            <a:ext cx="73152" cy="1417320"/>
          </a:xfrm>
          <a:prstGeom prst="rect">
            <a:avLst/>
          </a:prstGeom>
          <a:solidFill>
            <a:srgbClr val="E27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1481328"/>
            <a:ext cx="301752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27A23"/>
                </a:solidFill>
                <a:latin typeface="Noto Sans CJK JP"/>
              </a:rPr>
              <a:t>電流へ置換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1883664"/>
            <a:ext cx="301752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C2024"/>
                </a:solidFill>
                <a:latin typeface="Noto Sans CJK JP"/>
              </a:rPr>
              <a:t>I = nA|q|vₐ
→ F = BIl sinθ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77639" y="2039112"/>
            <a:ext cx="365761" cy="0"/>
          </a:xfrm>
          <a:prstGeom prst="line">
            <a:avLst/>
          </a:prstGeom>
          <a:ln w="31750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726680" y="2039112"/>
            <a:ext cx="365760" cy="0"/>
          </a:xfrm>
          <a:prstGeom prst="line">
            <a:avLst/>
          </a:prstGeom>
          <a:ln w="31750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86200" y="3136392"/>
            <a:ext cx="4389120" cy="658368"/>
          </a:xfrm>
          <a:prstGeom prst="roundRect">
            <a:avLst/>
          </a:prstGeom>
          <a:solidFill>
            <a:srgbClr val="E6F7F6"/>
          </a:solidFill>
          <a:ln>
            <a:solidFill>
              <a:srgbClr val="E27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9352" y="3209544"/>
            <a:ext cx="4242816" cy="51206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>
                <a:solidFill>
                  <a:srgbClr val="142A4A"/>
                </a:solidFill>
                <a:latin typeface="Noto Sans CJK JP"/>
              </a:rPr>
              <a:t>直交時：F = BIl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160520"/>
            <a:ext cx="4800600" cy="1572768"/>
          </a:xfrm>
          <a:prstGeom prst="roundRect">
            <a:avLst/>
          </a:prstGeom>
          <a:solidFill>
            <a:srgbClr val="E8F1FB"/>
          </a:solidFill>
          <a:ln>
            <a:solidFill>
              <a:srgbClr val="2A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43400"/>
            <a:ext cx="4297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>
                <a:solidFill>
                  <a:srgbClr val="142A4A"/>
                </a:solidFill>
                <a:latin typeface="Noto Sans CJK JP"/>
              </a:rPr>
              <a:t>0系直流主電動機への接続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36592"/>
            <a:ext cx="420624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1C2024"/>
                </a:solidFill>
                <a:latin typeface="Noto Sans CJK JP"/>
              </a:rPr>
              <a:t>磁界中の電機子導体に電流が流れる
→ 導体に電磁力が働く
→ 「モーターが力を出す」の最小モデル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160520"/>
            <a:ext cx="571500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4334256"/>
            <a:ext cx="182880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08489"/>
                </a:solidFill>
                <a:latin typeface="Noto Sans CJK JP"/>
              </a:rPr>
              <a:t>品質ゲート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53328" y="4681728"/>
            <a:ext cx="507492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C2024"/>
                </a:solidFill>
                <a:latin typeface="Noto Sans CJK JP"/>
              </a:rPr>
              <a:t>一次5問・25小問：R7問7 / R5問6 / R3問6 / R1問7 / H25問6
二次：固定範囲の直接対応なし → 数合わせ0件
範囲外：直流機の等価回路・速度/トルク特性・始動/制御は扱わない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Noto Sans CJK JP"/>
              </a:rPr>
              <a:t>Topic 07 解説画像｜固定範囲のみ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07 0系のモーターはなぜ力を出せる？</dc:title>
  <dc:subject>電験二種 理論：ローレンツ力・荷電粒子運動</dc:subject>
  <dc:creator>OpenAI</dc:creator>
  <cp:keywords>電験二種, 理論, ローレンツ力, 電子, 円運動, 比電荷, F=BIl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