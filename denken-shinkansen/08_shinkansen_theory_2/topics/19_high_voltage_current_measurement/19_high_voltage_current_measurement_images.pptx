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2600" b="1">
                <a:latin typeface="Noto Sans CJK JP"/>
                <a:ea typeface="Noto Sans CJK JP"/>
                <a:solidFill>
                  <a:srgbClr val="FFFFFF"/>
                </a:solidFill>
              </a:rPr>
              <a:t>01 25kV・大電流を「直接測らない」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420000" y="1050000"/>
            <a:ext cx="11352000" cy="5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電圧計：並列接続。理想入力抵抗∞。倍率器は直列。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電流計：直列接続。理想内部抵抗0。分流器は並列。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CT：大電流→二次電流。I1 = kI I2。二次開放禁止。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VT：高電圧→二次電圧。V1 = kV V2。二次短絡禁止。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25kV・大電流 → CT/VT → 計器指示 → 変成比で一次側へ戻す。</a:t>
            </a:r>
            <a:endParaRPr lang="ja-JP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2600" b="1">
                <a:latin typeface="Noto Sans CJK JP"/>
                <a:ea typeface="Noto Sans CJK JP"/>
                <a:solidFill>
                  <a:srgbClr val="FFFFFF"/>
                </a:solidFill>
              </a:rPr>
              <a:t>02 内部抵抗と測定範囲拡大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420000" y="1050000"/>
            <a:ext cx="11352000" cy="5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分流器：Im Rm = (I−Im)Rs、Rs = Im Rm/(I−Im)。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倍率器：V = Im(Rm+Rs)、Rs = V/Im−Rm。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エアトン分流器：切替位置ごとに回路を描き直し、計器枝Im、分流枝I−Im。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位置a：Im(Rm+R2+R3)=(Ia−Im)R1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位置b：Im(Rm+R3)=(Ib−Im)(R1+R2)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位置c：ImRm=(Ic−Im)(R1+R2+R3)</a:t>
            </a:r>
            <a:endParaRPr lang="ja-JP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2600" b="1">
                <a:latin typeface="Noto Sans CJK JP"/>
                <a:ea typeface="Noto Sans CJK JP"/>
                <a:solidFill>
                  <a:srgbClr val="FFFFFF"/>
                </a:solidFill>
              </a:rPr>
              <a:t>03 CT・VTの変成比と安全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420000" y="1050000"/>
            <a:ext cx="11352000" cy="5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CT：N1I1=N2I2、kI=I1/I2=N2/N1、I1=kI I2。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CT二次開放禁止：一次アンペアターンを打ち消せず高電圧が生じ得る。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VT：V1/V2=N1/N2=kV、V1=kV V2。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VT二次短絡禁止：低インピーダンス短絡で大電流が流れ得る。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未確認の実設備定格・結線・精度階級は真値化しない。</a:t>
            </a:r>
            <a:endParaRPr lang="ja-JP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2600" b="1">
                <a:latin typeface="Noto Sans CJK JP"/>
                <a:ea typeface="Noto Sans CJK JP"/>
                <a:solidFill>
                  <a:srgbClr val="FFFFFF"/>
                </a:solidFill>
              </a:rPr>
              <a:t>04 高電圧測定の回路解析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420000" y="1050000"/>
            <a:ext cx="11352000" cy="5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コンデンサ形VT：V0=C1/(C1+C2)・V1。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出力端等価：Z0=1/{jω(C1+C2)}。計器内部インピーダンスZmを含めて解く。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Zm依存を消す条件：ω²L(C1+C2)=1。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静電電圧計：W=1/2 CV²、駆動力 |F|∝V²。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直列容量：CmVm=CsVs、V=Vm+Vs。</a:t>
            </a:r>
            <a:endParaRPr lang="ja-JP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2600" b="1">
                <a:latin typeface="Noto Sans CJK JP"/>
                <a:ea typeface="Noto Sans CJK JP"/>
                <a:solidFill>
                  <a:srgbClr val="FFFFFF"/>
                </a:solidFill>
              </a:rPr>
              <a:t>05 電力・電力量を測る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420000" y="1050000"/>
            <a:ext cx="11352000" cy="5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p(t)=u(t)i(t)、P=(1/T)∫u(t)i(t)dt、正弦波 P=UI cosφ。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CT・VT二次側の電力：P1=kV kI P2。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熱電形交流電力計：P+=〈R(i1+i2)²〉、P−=〈R(i1−i2)²〉。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差 P+−P−=4R〈i1i2〉。熱電変換＝ゼーベック効果。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電力量：W=∫Pdt、一定ならW=Pt、W1=kV kI W2、1kWh=3.6MJ。</a:t>
            </a:r>
            <a:endParaRPr lang="ja-JP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0"/>
            <a:ext cx="12192000" cy="800000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2600" b="1">
                <a:latin typeface="Noto Sans CJK JP"/>
                <a:ea typeface="Noto Sans CJK JP"/>
                <a:solidFill>
                  <a:srgbClr val="FFFFFF"/>
                </a:solidFill>
              </a:rPr>
              <a:t>06 本試験へ接続する</a:t>
            </a:r>
            <a:endParaRPr lang="ja-JP" sz="2600"/>
          </a:p>
        </p:txBody>
      </p:sp>
      <p:sp>
        <p:nvSpPr>
          <p:cNvPr id="3" name="Body"/>
          <p:cNvSpPr txBox="1"/>
          <p:nvPr/>
        </p:nvSpPr>
        <p:spPr>
          <a:xfrm>
            <a:off x="420000" y="1050000"/>
            <a:ext cx="11352000" cy="5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60000" rIns="160000" tIns="110000" bIns="80000"/>
          <a:lstStyle/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R5一次理論問8：熱電形交流電力計（5答案要素）。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R1一次理論問4：コンデンサ形VT（5答案要素）。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H29一次理論問4：エアトン分流器（5答案要素）。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H25一次理論問8：可動コイル形計器（5答案要素）。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H21一次理論問6：静電電圧計（5答案要素）。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共通解法：接続→内部抵抗/Z→変成比→回路→KCL/電圧一致→指示値→一次側換算→検算。</a:t>
            </a:r>
            <a:endParaRPr lang="ja-JP" sz="1900"/>
          </a:p>
          <a:p>
            <a:pPr marL="0" indent="0"/>
            <a:r>
              <a:rPr lang="ja-JP" sz="1900" b="0">
                <a:latin typeface="Noto Sans CJK JP"/>
                <a:ea typeface="Noto Sans CJK JP"/>
                <a:solidFill>
                  <a:srgbClr val="1C2430"/>
                </a:solidFill>
              </a:rPr>
              <a:t>SPEC固定範囲10/10・固定一次5問25/25答案要素・二次採用0・数合わせ0・Topic20先取り0。</a:t>
            </a:r>
            <a:endParaRPr lang="ja-JP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C2430"/>
      </a:dk1>
      <a:lt1>
        <a:srgbClr val="FFFFFF"/>
      </a:lt1>
      <a:dk2>
        <a:srgbClr val="142844"/>
      </a:dk2>
      <a:lt2>
        <a:srgbClr val="F4F8FC"/>
      </a:lt2>
      <a:accent1>
        <a:srgbClr val="2A60A5"/>
      </a:accent1>
      <a:accent2>
        <a:srgbClr val="2A8FAC"/>
      </a:accent2>
      <a:accent3>
        <a:srgbClr val="B1303B"/>
      </a:accent3>
      <a:accent4>
        <a:srgbClr val="A87623"/>
      </a:accent4>
      <a:accent5>
        <a:srgbClr val="6B7F96"/>
      </a:accent5>
      <a:accent6>
        <a:srgbClr val="C9D3DE"/>
      </a:accent6>
      <a:hlink>
        <a:srgbClr val="0000FF"/>
      </a:hlink>
      <a:folHlink>
        <a:srgbClr val="800080"/>
      </a:folHlink>
    </a:clrScheme>
    <a:fontScheme name="Noto">
      <a:majorFont>
        <a:latin typeface="Noto Sans CJK JP"/>
        <a:ea typeface="Noto Sans CJK JP"/>
        <a:cs typeface="Noto Sans CJK JP"/>
      </a:majorFont>
      <a:minorFont>
        <a:latin typeface="Noto Sans CJK JP"/>
        <a:ea typeface="Noto Sans CJK JP"/>
        <a:cs typeface="Noto Sans CJK JP"/>
      </a:minorFont>
    </a:fontScheme>
    <a:fmtScheme name="Simpl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