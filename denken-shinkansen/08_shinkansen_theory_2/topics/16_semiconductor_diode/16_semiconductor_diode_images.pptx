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88696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Noto Sans CJK JP"/>
              </a:defRPr>
            </a:pPr>
            <a:r>
              <a:t>電験二種 理論｜Topic 16 半導体・pn接合・ダイオード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1887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DDE8F1"/>
                </a:solidFill>
                <a:latin typeface="Noto Sans CJK JP"/>
              </a:defRPr>
            </a:pPr>
            <a:r>
              <a:t>cureflash / denken-shinkansen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01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02A43"/>
                </a:solidFill>
                <a:latin typeface="Noto Sans CJK JP"/>
              </a:defRPr>
            </a:pPr>
            <a:r>
              <a:t>1｜半導体で何を解けるようにするか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2606D"/>
                </a:solidFill>
                <a:latin typeface="Noto Sans CJK JP"/>
              </a:defRPr>
            </a:pPr>
            <a:r>
              <a:t>一次「理論」：真性・n形・p形、キャリア、pn接合、空乏層、順逆バイアス、ダイオード特性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528816"/>
            <a:ext cx="11494008" cy="0"/>
          </a:xfrm>
          <a:prstGeom prst="line">
            <a:avLst/>
          </a:prstGeom>
          <a:ln w="1270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6574536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Noto Sans CJK JP"/>
              </a:defRPr>
            </a:pPr>
            <a:r>
              <a:t>固定範囲のみ｜二次の数合わせなし｜Topic 17先取りなし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Noto Sans CJK JP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343814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2821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53B5B"/>
                </a:solidFill>
                <a:latin typeface="Noto Sans CJK JP"/>
              </a:defRPr>
            </a:pPr>
            <a:r>
              <a:t>導体 → 半導体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29968"/>
            <a:ext cx="3108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 b="0">
                <a:solidFill>
                  <a:srgbClr val="102A43"/>
                </a:solidFill>
                <a:latin typeface="Noto Sans CJK JP"/>
              </a:defRPr>
            </a:pPr>
            <a:r>
              <a:t>・電流を担うのはキャリア</a:t>
            </a:r>
            <a:br/>
            <a:r>
              <a:t>・真性半導体：電子と正孔が対で生じる</a:t>
            </a:r>
            <a:br/>
            <a:r>
              <a:t>・熱平衡では n=p=nᵢ、一般に pn=nᵢ²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27632"/>
            <a:ext cx="3438144" cy="196596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9C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72821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2B6CB0"/>
                </a:solidFill>
                <a:latin typeface="Noto Sans CJK JP"/>
              </a:defRPr>
            </a:pPr>
            <a:r>
              <a:t>n形半導体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029968"/>
            <a:ext cx="3108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 b="0">
                <a:solidFill>
                  <a:srgbClr val="102A43"/>
                </a:solidFill>
                <a:latin typeface="Noto Sans CJK JP"/>
              </a:defRPr>
            </a:pPr>
            <a:r>
              <a:t>・ドナー添加 → 電子が多数キャリア</a:t>
            </a:r>
            <a:br/>
            <a:r>
              <a:t>・正孔は少数キャリア</a:t>
            </a:r>
            <a:br/>
            <a:r>
              <a:t>・Nᴅ ≫ nᵢ なら n≈Nᴅ</a:t>
            </a:r>
            <a:br/>
            <a:r>
              <a:t>・少数キャリア p=nᵢ²/n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27632"/>
            <a:ext cx="3438144" cy="1965960"/>
          </a:xfrm>
          <a:prstGeom prst="roundRect">
            <a:avLst/>
          </a:prstGeom>
          <a:solidFill>
            <a:srgbClr val="FFF2EE"/>
          </a:solidFill>
          <a:ln w="12700">
            <a:solidFill>
              <a:srgbClr val="F2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72821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95D39"/>
                </a:solidFill>
                <a:latin typeface="Noto Sans CJK JP"/>
              </a:defRPr>
            </a:pPr>
            <a:r>
              <a:t>p形半導体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029968"/>
            <a:ext cx="3108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 b="0">
                <a:solidFill>
                  <a:srgbClr val="102A43"/>
                </a:solidFill>
                <a:latin typeface="Noto Sans CJK JP"/>
              </a:defRPr>
            </a:pPr>
            <a:r>
              <a:t>・アクセプタ添加 → 正孔が多数キャリア</a:t>
            </a:r>
            <a:br/>
            <a:r>
              <a:t>・電子は少数キャリア</a:t>
            </a:r>
            <a:br/>
            <a:r>
              <a:t>・多数/少数キャリアを先に判定する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59352"/>
            <a:ext cx="1068019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19709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2B6CB0"/>
                </a:solidFill>
                <a:latin typeface="Noto Sans CJK JP"/>
              </a:defRPr>
            </a:pPr>
            <a:r>
              <a:t>電子の移動方向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52928" y="4334256"/>
            <a:ext cx="2231136" cy="0"/>
          </a:xfrm>
          <a:prstGeom prst="line">
            <a:avLst/>
          </a:prstGeom>
          <a:ln w="29209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24927" y="4197096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00" b="1">
                <a:solidFill>
                  <a:srgbClr val="C05621"/>
                </a:solidFill>
                <a:latin typeface="Noto Sans CJK JP"/>
              </a:defRPr>
            </a:pPr>
            <a:r>
              <a:t>慣用電流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138928" y="4334256"/>
            <a:ext cx="1965960" cy="0"/>
          </a:xfrm>
          <a:prstGeom prst="line">
            <a:avLst/>
          </a:prstGeom>
          <a:ln w="29209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85232" y="41605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B8322E"/>
                </a:solidFill>
                <a:latin typeface="Noto Sans CJK JP"/>
              </a:defRPr>
            </a:pPr>
            <a:r>
              <a:t>逆向き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394960"/>
            <a:ext cx="5074920" cy="749808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B7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95544"/>
            <a:ext cx="47457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53B5B"/>
                </a:solidFill>
                <a:latin typeface="Noto Sans CJK JP"/>
              </a:defRPr>
            </a:pPr>
            <a:r>
              <a:t>試験での入口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97296"/>
            <a:ext cx="4745736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40" b="0">
                <a:solidFill>
                  <a:srgbClr val="102A43"/>
                </a:solidFill>
                <a:latin typeface="Noto Sans CJK JP"/>
              </a:defRPr>
            </a:pPr>
            <a:r>
              <a:t>まず「真性 / n形 / p形 / pn接合」を分類 → 使う式とキャリアを決める。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5394960"/>
            <a:ext cx="5349240" cy="749808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7D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5352" y="5495544"/>
            <a:ext cx="50200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53B5B"/>
                </a:solidFill>
                <a:latin typeface="Noto Sans CJK JP"/>
              </a:defRPr>
            </a:pPr>
            <a:r>
              <a:t>新幹線への接続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5797296"/>
            <a:ext cx="5020055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40" b="0">
                <a:solidFill>
                  <a:srgbClr val="102A43"/>
                </a:solidFill>
                <a:latin typeface="Noto Sans CJK JP"/>
              </a:defRPr>
            </a:pPr>
            <a:r>
              <a:t>300系主変換装置は導入だけ。内部回路・素子定格・スイッチング方式は推測しない。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88696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Noto Sans CJK JP"/>
              </a:defRPr>
            </a:pPr>
            <a:r>
              <a:t>電験二種 理論｜Topic 16 半導体・pn接合・ダイオード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1887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DDE8F1"/>
                </a:solidFill>
                <a:latin typeface="Noto Sans CJK JP"/>
              </a:defRPr>
            </a:pPr>
            <a:r>
              <a:t>cureflash / denken-shinkansen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01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02A43"/>
                </a:solidFill>
                <a:latin typeface="Noto Sans CJK JP"/>
              </a:defRPr>
            </a:pPr>
            <a:r>
              <a:t>2｜pn接合と空乏層：電荷 → 電界 → 電位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2606D"/>
                </a:solidFill>
                <a:latin typeface="Noto Sans CJK JP"/>
              </a:defRPr>
            </a:pPr>
            <a:r>
              <a:t>H24・H22・R8で必要な定量関係を、電荷中性とガウスの法則からつなぐ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528816"/>
            <a:ext cx="11494008" cy="0"/>
          </a:xfrm>
          <a:prstGeom prst="line">
            <a:avLst/>
          </a:prstGeom>
          <a:ln w="1270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6574536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Noto Sans CJK JP"/>
              </a:defRPr>
            </a:pPr>
            <a:r>
              <a:t>固定範囲のみ｜二次の数合わせなし｜Topic 17先取りなし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Noto Sans CJK JP"/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627632"/>
            <a:ext cx="5230368" cy="1234440"/>
          </a:xfrm>
          <a:prstGeom prst="rect">
            <a:avLst/>
          </a:prstGeom>
          <a:solidFill>
            <a:srgbClr val="FDE8E1"/>
          </a:solidFill>
          <a:ln w="12700">
            <a:solidFill>
              <a:srgbClr val="F2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627632"/>
            <a:ext cx="5230368" cy="1234440"/>
          </a:xfrm>
          <a:prstGeom prst="rect">
            <a:avLst/>
          </a:prstGeom>
          <a:solidFill>
            <a:srgbClr val="E4F0FB"/>
          </a:solidFill>
          <a:ln w="12700">
            <a:solidFill>
              <a:srgbClr val="9C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D95D39"/>
                </a:solidFill>
                <a:latin typeface="Noto Sans CJK JP"/>
              </a:defRPr>
            </a:pPr>
            <a:r>
              <a:t>p形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8128" y="178308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2000" b="1">
                <a:solidFill>
                  <a:srgbClr val="2B6CB0"/>
                </a:solidFill>
                <a:latin typeface="Noto Sans CJK JP"/>
              </a:defRPr>
            </a:pPr>
            <a:r>
              <a:t>n形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20756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D95D39"/>
                </a:solidFill>
                <a:latin typeface="Noto Sans CJK JP"/>
              </a:defRPr>
            </a:pPr>
            <a:r>
              <a:t>−  −  −  −  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0756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2B6CB0"/>
                </a:solidFill>
                <a:latin typeface="Noto Sans CJK JP"/>
              </a:defRPr>
            </a:pPr>
            <a:r>
              <a:t>+  +  +  +  +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1554480"/>
            <a:ext cx="0" cy="1389888"/>
          </a:xfrm>
          <a:prstGeom prst="line">
            <a:avLst/>
          </a:prstGeom>
          <a:ln w="2540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58384" y="12984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02A43"/>
                </a:solidFill>
                <a:latin typeface="Noto Sans CJK JP"/>
              </a:defRPr>
            </a:pPr>
            <a:r>
              <a:t>空乏層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069080" y="2587752"/>
            <a:ext cx="3749040" cy="0"/>
          </a:xfrm>
          <a:prstGeom prst="line">
            <a:avLst/>
          </a:prstGeom>
          <a:ln w="38100">
            <a:solidFill>
              <a:srgbClr val="B83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07408" y="2459736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8322E"/>
                </a:solidFill>
                <a:latin typeface="Noto Sans CJK JP"/>
              </a:defRPr>
            </a:pPr>
            <a:r>
              <a:t>内部電界 E（n側 → p側）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163824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264408"/>
            <a:ext cx="30083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53B5B"/>
                </a:solidFill>
                <a:latin typeface="Noto Sans CJK JP"/>
              </a:defRPr>
            </a:pPr>
            <a:r>
              <a:t>① 電荷中性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566160"/>
            <a:ext cx="300837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>
                <a:solidFill>
                  <a:srgbClr val="102A43"/>
                </a:solidFill>
                <a:latin typeface="Noto Sans CJK JP"/>
              </a:defRPr>
            </a:pPr>
            <a:r>
              <a:t>qNₐlₚ = qNᴅlₙ</a:t>
            </a:r>
            <a:br/>
            <a:r>
              <a:t>→ Nₐlₚ = Nᴅlₙ</a:t>
            </a:r>
            <a:br/>
            <a:r>
              <a:t>低濃度側ほど空乏層が広い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3163824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264408"/>
            <a:ext cx="30083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53B5B"/>
                </a:solidFill>
                <a:latin typeface="Noto Sans CJK JP"/>
              </a:defRPr>
            </a:pPr>
            <a:r>
              <a:t>② 電界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566160"/>
            <a:ext cx="300837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60" b="0">
                <a:solidFill>
                  <a:srgbClr val="102A43"/>
                </a:solidFill>
                <a:latin typeface="Noto Sans CJK JP"/>
              </a:defRPr>
            </a:pPr>
            <a:r>
              <a:t>dE/dx = ρ/ε</a:t>
            </a:r>
            <a:br/>
            <a:r>
              <a:t>ρ一定 → Eは一次関数</a:t>
            </a:r>
            <a:br/>
            <a:r>
              <a:t>|Eₘₐₓ| = qNₐlₚ/ε = qNᴅlₙ/ε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27264" y="3163824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3264408"/>
            <a:ext cx="300837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53B5B"/>
                </a:solidFill>
                <a:latin typeface="Noto Sans CJK JP"/>
              </a:defRPr>
            </a:pPr>
            <a:r>
              <a:t>③ 電位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3566160"/>
            <a:ext cx="300837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60" b="0">
                <a:solidFill>
                  <a:srgbClr val="102A43"/>
                </a:solidFill>
                <a:latin typeface="Noto Sans CJK JP"/>
              </a:defRPr>
            </a:pPr>
            <a:r>
              <a:t>E = −dV/dx</a:t>
            </a:r>
            <a:br/>
            <a:r>
              <a:t>Vは二次関数</a:t>
            </a:r>
            <a:br/>
            <a:r>
              <a:t>Vᵦᵢ = 1/2 |Eₘₐₓ|(lₚ+lₙ)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4128" y="5148072"/>
            <a:ext cx="3931920" cy="0"/>
          </a:xfrm>
          <a:prstGeom prst="line">
            <a:avLst/>
          </a:prstGeom>
          <a:ln w="1524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90088" y="4809744"/>
            <a:ext cx="0" cy="1051560"/>
          </a:xfrm>
          <a:prstGeom prst="line">
            <a:avLst/>
          </a:prstGeom>
          <a:ln w="1524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43000" y="4489704"/>
            <a:ext cx="1847088" cy="658368"/>
          </a:xfrm>
          <a:prstGeom prst="line">
            <a:avLst/>
          </a:prstGeom>
          <a:ln w="3048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90088" y="4489704"/>
            <a:ext cx="1847088" cy="658368"/>
          </a:xfrm>
          <a:prstGeom prst="line">
            <a:avLst/>
          </a:prstGeom>
          <a:ln w="3048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05840" y="5870448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2B6CB0"/>
                </a:solidFill>
                <a:latin typeface="Noto Sans CJK JP"/>
              </a:defRPr>
            </a:pPr>
            <a:r>
              <a:t>E(x)：三角形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784848" y="5605272"/>
            <a:ext cx="621792" cy="27432"/>
          </a:xfrm>
          <a:prstGeom prst="line">
            <a:avLst/>
          </a:prstGeom>
          <a:ln w="3048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406640" y="5495544"/>
            <a:ext cx="640080" cy="109728"/>
          </a:xfrm>
          <a:prstGeom prst="line">
            <a:avLst/>
          </a:prstGeom>
          <a:ln w="3048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046720" y="5285232"/>
            <a:ext cx="640080" cy="210312"/>
          </a:xfrm>
          <a:prstGeom prst="line">
            <a:avLst/>
          </a:prstGeom>
          <a:ln w="3048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6800" y="5001768"/>
            <a:ext cx="685800" cy="283464"/>
          </a:xfrm>
          <a:prstGeom prst="line">
            <a:avLst/>
          </a:prstGeom>
          <a:ln w="3048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372600" y="4590288"/>
            <a:ext cx="758952" cy="411480"/>
          </a:xfrm>
          <a:prstGeom prst="line">
            <a:avLst/>
          </a:prstGeom>
          <a:ln w="30480">
            <a:solidFill>
              <a:srgbClr val="C056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638544" y="5650992"/>
            <a:ext cx="3840480" cy="0"/>
          </a:xfrm>
          <a:prstGeom prst="line">
            <a:avLst/>
          </a:prstGeom>
          <a:ln w="1524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638544" y="4535424"/>
            <a:ext cx="0" cy="1115568"/>
          </a:xfrm>
          <a:prstGeom prst="line">
            <a:avLst/>
          </a:prstGeom>
          <a:ln w="1524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65392" y="5870448"/>
            <a:ext cx="397763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C05621"/>
                </a:solidFill>
                <a:latin typeface="Noto Sans CJK JP"/>
              </a:defRPr>
            </a:pPr>
            <a:r>
              <a:t>V(x)：区間ごとに二次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3672" y="6089904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B8322E"/>
                </a:solidFill>
                <a:latin typeface="Noto Sans CJK JP"/>
              </a:defRPr>
            </a:pPr>
            <a:r>
              <a:t>検算：電界の向き／電位の高低／電荷の符号を同時に確認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88696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Noto Sans CJK JP"/>
              </a:defRPr>
            </a:pPr>
            <a:r>
              <a:t>電験二種 理論｜Topic 16 半導体・pn接合・ダイオード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1887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DDE8F1"/>
                </a:solidFill>
                <a:latin typeface="Noto Sans CJK JP"/>
              </a:defRPr>
            </a:pPr>
            <a:r>
              <a:t>cureflash / denken-shinkansen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01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02A43"/>
                </a:solidFill>
                <a:latin typeface="Noto Sans CJK JP"/>
              </a:defRPr>
            </a:pPr>
            <a:r>
              <a:t>3｜順方向・逆方向バイアスとダイオード I–V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2606D"/>
                </a:solidFill>
                <a:latin typeface="Noto Sans CJK JP"/>
              </a:defRPr>
            </a:pPr>
            <a:r>
              <a:t>「極性の暗記」ではなく、電位障壁がどう変わるかで判断する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528816"/>
            <a:ext cx="11494008" cy="0"/>
          </a:xfrm>
          <a:prstGeom prst="line">
            <a:avLst/>
          </a:prstGeom>
          <a:ln w="1270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6574536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Noto Sans CJK JP"/>
              </a:defRPr>
            </a:pPr>
            <a:r>
              <a:t>固定範囲のみ｜二次の数合わせなし｜Topic 17先取りなし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Noto Sans CJK JP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36192"/>
            <a:ext cx="3456432" cy="2084831"/>
          </a:xfrm>
          <a:prstGeom prst="roundRect">
            <a:avLst/>
          </a:prstGeom>
          <a:solidFill>
            <a:srgbClr val="FFF4EF"/>
          </a:solidFill>
          <a:ln w="12700">
            <a:solidFill>
              <a:srgbClr val="F2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36776"/>
            <a:ext cx="31272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95D39"/>
                </a:solidFill>
                <a:latin typeface="Noto Sans CJK JP"/>
              </a:defRPr>
            </a:pPr>
            <a:r>
              <a:t>順方向バイアス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3127248" cy="1627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 b="0">
                <a:solidFill>
                  <a:srgbClr val="102A43"/>
                </a:solidFill>
                <a:latin typeface="Noto Sans CJK JP"/>
              </a:defRPr>
            </a:pPr>
            <a:r>
              <a:t>p側を正、n側を負</a:t>
            </a:r>
            <a:br/>
            <a:r>
              <a:t>外部電圧が内部障壁を打ち消す</a:t>
            </a:r>
            <a:br/>
            <a:r>
              <a:t>→ 障壁低下・空乏層縮小方向</a:t>
            </a:r>
            <a:br/>
            <a:r>
              <a:t>→ 多数キャリアが接合を越えやすい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77056"/>
            <a:ext cx="3456432" cy="171907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9C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312724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2B6CB0"/>
                </a:solidFill>
                <a:latin typeface="Noto Sans CJK JP"/>
              </a:defRPr>
            </a:pPr>
            <a:r>
              <a:t>逆方向バイアス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79392"/>
            <a:ext cx="3127248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80" b="0">
                <a:solidFill>
                  <a:srgbClr val="102A43"/>
                </a:solidFill>
                <a:latin typeface="Noto Sans CJK JP"/>
              </a:defRPr>
            </a:pPr>
            <a:r>
              <a:t>p側を負、n側を正</a:t>
            </a:r>
            <a:br/>
            <a:r>
              <a:t>障壁増大・空乏層拡大方向</a:t>
            </a:r>
            <a:br/>
            <a:r>
              <a:t>通常領域では電流はごく小さい</a:t>
            </a:r>
            <a:br/>
            <a:r>
              <a:t>※降伏機構の詳細は扱わない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5376672"/>
            <a:ext cx="5138928" cy="0"/>
          </a:xfrm>
          <a:prstGeom prst="line">
            <a:avLst/>
          </a:prstGeom>
          <a:ln w="1905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16952" y="1508760"/>
            <a:ext cx="0" cy="4407408"/>
          </a:xfrm>
          <a:prstGeom prst="line">
            <a:avLst/>
          </a:prstGeom>
          <a:ln w="1905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671048" y="520293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2A43"/>
                </a:solidFill>
                <a:latin typeface="Noto Sans CJK JP"/>
              </a:defRPr>
            </a:pPr>
            <a: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135331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02A43"/>
                </a:solidFill>
                <a:latin typeface="Noto Sans CJK JP"/>
              </a:defRPr>
            </a:pPr>
            <a:r>
              <a:t>I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616952" y="5340096"/>
            <a:ext cx="384048" cy="27432"/>
          </a:xfrm>
          <a:prstGeom prst="line">
            <a:avLst/>
          </a:prstGeom>
          <a:ln w="381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001000" y="5303520"/>
            <a:ext cx="274320" cy="36576"/>
          </a:xfrm>
          <a:prstGeom prst="line">
            <a:avLst/>
          </a:prstGeom>
          <a:ln w="381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275320" y="5212080"/>
            <a:ext cx="256032" cy="91440"/>
          </a:xfrm>
          <a:prstGeom prst="line">
            <a:avLst/>
          </a:prstGeom>
          <a:ln w="381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531352" y="5029200"/>
            <a:ext cx="228600" cy="182880"/>
          </a:xfrm>
          <a:prstGeom prst="line">
            <a:avLst/>
          </a:prstGeom>
          <a:ln w="381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759952" y="4709160"/>
            <a:ext cx="201168" cy="320040"/>
          </a:xfrm>
          <a:prstGeom prst="line">
            <a:avLst/>
          </a:prstGeom>
          <a:ln w="381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961120" y="4270248"/>
            <a:ext cx="201168" cy="438912"/>
          </a:xfrm>
          <a:prstGeom prst="line">
            <a:avLst/>
          </a:prstGeom>
          <a:ln w="381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162288" y="3767328"/>
            <a:ext cx="164592" cy="502920"/>
          </a:xfrm>
          <a:prstGeom prst="line">
            <a:avLst/>
          </a:prstGeom>
          <a:ln w="381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326880" y="3182112"/>
            <a:ext cx="164592" cy="585216"/>
          </a:xfrm>
          <a:prstGeom prst="line">
            <a:avLst/>
          </a:prstGeom>
          <a:ln w="381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491472" y="2505456"/>
            <a:ext cx="155448" cy="676656"/>
          </a:xfrm>
          <a:prstGeom prst="line">
            <a:avLst/>
          </a:prstGeom>
          <a:ln w="381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646920" y="1783080"/>
            <a:ext cx="137160" cy="722376"/>
          </a:xfrm>
          <a:prstGeom prst="line">
            <a:avLst/>
          </a:prstGeom>
          <a:ln w="38100">
            <a:solidFill>
              <a:srgbClr val="D95D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443984" y="5431536"/>
            <a:ext cx="3172968" cy="164592"/>
          </a:xfrm>
          <a:prstGeom prst="line">
            <a:avLst/>
          </a:prstGeom>
          <a:ln w="3810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55279" y="1865376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102A43"/>
                </a:solidFill>
                <a:latin typeface="Noto Sans CJK JP"/>
              </a:defRPr>
            </a:pPr>
            <a:r>
              <a:t>I = Iₛ{exp(V/Vₜ) − 1}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0416" y="2267712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0">
                <a:solidFill>
                  <a:srgbClr val="D95D39"/>
                </a:solidFill>
                <a:latin typeface="Noto Sans CJK JP"/>
              </a:defRPr>
            </a:pPr>
            <a:r>
              <a:t>順方向：V が数 Vₜ より十分大 → I≈Iₛ exp(V/Vₜ)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5650992"/>
            <a:ext cx="23317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>
                <a:solidFill>
                  <a:srgbClr val="2B6CB0"/>
                </a:solidFill>
                <a:latin typeface="Noto Sans CJK JP"/>
              </a:defRPr>
            </a:pPr>
            <a:r>
              <a:t>逆方向（通常領域）：I≈−Iₛ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1682496"/>
            <a:ext cx="1298448" cy="310896"/>
          </a:xfrm>
          <a:prstGeom prst="roundRect">
            <a:avLst/>
          </a:prstGeom>
          <a:solidFill>
            <a:srgbClr val="153B5B"/>
          </a:solidFill>
          <a:ln w="12700">
            <a:solidFill>
              <a:srgbClr val="15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1737360"/>
            <a:ext cx="1207007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JP"/>
              </a:defRPr>
            </a:pPr>
            <a:r>
              <a:t>外部極性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1682496"/>
            <a:ext cx="1389888" cy="310896"/>
          </a:xfrm>
          <a:prstGeom prst="roundRect">
            <a:avLst/>
          </a:prstGeom>
          <a:solidFill>
            <a:srgbClr val="2F6B9A"/>
          </a:solidFill>
          <a:ln w="12700"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1737360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JP"/>
              </a:defRPr>
            </a:pPr>
            <a:r>
              <a:t>障壁変化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13648" y="1682496"/>
            <a:ext cx="1463040" cy="310896"/>
          </a:xfrm>
          <a:prstGeom prst="roundRect">
            <a:avLst/>
          </a:prstGeom>
          <a:solidFill>
            <a:srgbClr val="C05621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59368" y="1737360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JP"/>
              </a:defRPr>
            </a:pPr>
            <a:r>
              <a:t>キャリア輸送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863072" y="1682496"/>
            <a:ext cx="777240" cy="310896"/>
          </a:xfrm>
          <a:prstGeom prst="roundRect">
            <a:avLst/>
          </a:prstGeom>
          <a:solidFill>
            <a:srgbClr val="D95D39"/>
          </a:solidFill>
          <a:ln w="12700">
            <a:solidFill>
              <a:srgbClr val="D95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08792" y="1737360"/>
            <a:ext cx="685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JP"/>
              </a:defRPr>
            </a:pPr>
            <a:r>
              <a:t>電流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769864" y="1837943"/>
            <a:ext cx="566928" cy="0"/>
          </a:xfrm>
          <a:prstGeom prst="line">
            <a:avLst/>
          </a:prstGeom>
          <a:ln w="25400">
            <a:solidFill>
              <a:srgbClr val="2F6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36992" y="1837943"/>
            <a:ext cx="566928" cy="0"/>
          </a:xfrm>
          <a:prstGeom prst="line">
            <a:avLst/>
          </a:prstGeom>
          <a:ln w="25400">
            <a:solidFill>
              <a:srgbClr val="2F6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186416" y="1837943"/>
            <a:ext cx="566928" cy="0"/>
          </a:xfrm>
          <a:prstGeom prst="line">
            <a:avLst/>
          </a:prstGeom>
          <a:ln w="25400">
            <a:solidFill>
              <a:srgbClr val="2F6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88696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Noto Sans CJK JP"/>
              </a:defRPr>
            </a:pPr>
            <a:r>
              <a:t>電験二種 理論｜Topic 16 半導体・pn接合・ダイオード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1887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DDE8F1"/>
                </a:solidFill>
                <a:latin typeface="Noto Sans CJK JP"/>
              </a:defRPr>
            </a:pPr>
            <a:r>
              <a:t>cureflash / denken-shinkansen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01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02A43"/>
                </a:solidFill>
                <a:latin typeface="Noto Sans CJK JP"/>
              </a:defRPr>
            </a:pPr>
            <a:r>
              <a:t>4｜本試験の解法アルゴリズム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2606D"/>
                </a:solidFill>
                <a:latin typeface="Noto Sans CJK JP"/>
              </a:defRPr>
            </a:pPr>
            <a:r>
              <a:t>固定5問を解くときの判断順。計算式は「何を求めるか」に合わせて選ぶ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528816"/>
            <a:ext cx="11494008" cy="0"/>
          </a:xfrm>
          <a:prstGeom prst="line">
            <a:avLst/>
          </a:prstGeom>
          <a:ln w="1270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6574536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Noto Sans CJK JP"/>
              </a:defRPr>
            </a:pPr>
            <a:r>
              <a:t>固定範囲のみ｜二次の数合わせなし｜Topic 17先取りなし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Noto Sans CJK JP"/>
              </a:defRPr>
            </a:pPr>
            <a: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1572768"/>
            <a:ext cx="457200" cy="457200"/>
          </a:xfrm>
          <a:prstGeom prst="ellipse">
            <a:avLst/>
          </a:prstGeom>
          <a:solidFill>
            <a:srgbClr val="2F6B9A"/>
          </a:solidFill>
          <a:ln w="12700"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5506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1591056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53B5B"/>
                </a:solidFill>
                <a:latin typeface="Noto Sans CJK JP"/>
              </a:defRPr>
            </a:pPr>
            <a:r>
              <a:t>分類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2576" y="1591056"/>
            <a:ext cx="3511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70" b="0">
                <a:solidFill>
                  <a:srgbClr val="102A43"/>
                </a:solidFill>
                <a:latin typeface="Noto Sans CJK JP"/>
              </a:defRPr>
            </a:pPr>
            <a:r>
              <a:t>真性 / n形 / p形 / pn接合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6968" y="2057400"/>
            <a:ext cx="0" cy="310896"/>
          </a:xfrm>
          <a:prstGeom prst="line">
            <a:avLst/>
          </a:prstGeom>
          <a:ln w="1524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58368" y="2414016"/>
            <a:ext cx="457200" cy="457200"/>
          </a:xfrm>
          <a:prstGeom prst="ellipse">
            <a:avLst/>
          </a:prstGeom>
          <a:solidFill>
            <a:srgbClr val="2F6B9A"/>
          </a:solidFill>
          <a:ln w="12700"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963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2432304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53B5B"/>
                </a:solidFill>
                <a:latin typeface="Noto Sans CJK JP"/>
              </a:defRPr>
            </a:pPr>
            <a:r>
              <a:t>キャリア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432304"/>
            <a:ext cx="3511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70" b="0">
                <a:solidFill>
                  <a:srgbClr val="102A43"/>
                </a:solidFill>
                <a:latin typeface="Noto Sans CJK JP"/>
              </a:defRPr>
            </a:pPr>
            <a:r>
              <a:t>多数・少数キャリアを決定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" y="2898648"/>
            <a:ext cx="0" cy="310896"/>
          </a:xfrm>
          <a:prstGeom prst="line">
            <a:avLst/>
          </a:prstGeom>
          <a:ln w="1524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58368" y="3255264"/>
            <a:ext cx="457200" cy="457200"/>
          </a:xfrm>
          <a:prstGeom prst="ellipse">
            <a:avLst/>
          </a:prstGeom>
          <a:solidFill>
            <a:srgbClr val="2F6B9A"/>
          </a:solidFill>
          <a:ln w="12700"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3375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327355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53B5B"/>
                </a:solidFill>
                <a:latin typeface="Noto Sans CJK JP"/>
              </a:defRPr>
            </a:pPr>
            <a:r>
              <a:t>濃度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22576" y="3273552"/>
            <a:ext cx="3511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70" b="0">
                <a:solidFill>
                  <a:srgbClr val="102A43"/>
                </a:solidFill>
                <a:latin typeface="Noto Sans CJK JP"/>
              </a:defRPr>
            </a:pPr>
            <a:r>
              <a:t>熱平衡なら pn=nᵢ²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6968" y="3739896"/>
            <a:ext cx="0" cy="310895"/>
          </a:xfrm>
          <a:prstGeom prst="line">
            <a:avLst/>
          </a:prstGeom>
          <a:ln w="1524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58368" y="4096512"/>
            <a:ext cx="457200" cy="457200"/>
          </a:xfrm>
          <a:prstGeom prst="ellipse">
            <a:avLst/>
          </a:prstGeom>
          <a:solidFill>
            <a:srgbClr val="2F6B9A"/>
          </a:solidFill>
          <a:ln w="12700"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17880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411480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53B5B"/>
                </a:solidFill>
                <a:latin typeface="Noto Sans CJK JP"/>
              </a:defRPr>
            </a:pPr>
            <a:r>
              <a:t>空乏層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2576" y="4114800"/>
            <a:ext cx="3511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70" b="0">
                <a:solidFill>
                  <a:srgbClr val="102A43"/>
                </a:solidFill>
                <a:latin typeface="Noto Sans CJK JP"/>
              </a:defRPr>
            </a:pPr>
            <a:r>
              <a:t>n側:+固定電荷 / p側:−固定電荷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6968" y="4581144"/>
            <a:ext cx="0" cy="310896"/>
          </a:xfrm>
          <a:prstGeom prst="line">
            <a:avLst/>
          </a:prstGeom>
          <a:ln w="1524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58368" y="4937760"/>
            <a:ext cx="457200" cy="457200"/>
          </a:xfrm>
          <a:prstGeom prst="ellipse">
            <a:avLst/>
          </a:prstGeom>
          <a:solidFill>
            <a:srgbClr val="2F6B9A"/>
          </a:solidFill>
          <a:ln w="12700"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02005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2728" y="4956048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53B5B"/>
                </a:solidFill>
                <a:latin typeface="Noto Sans CJK JP"/>
              </a:defRPr>
            </a:pPr>
            <a:r>
              <a:t>電荷中性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4956048"/>
            <a:ext cx="3511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70" b="0">
                <a:solidFill>
                  <a:srgbClr val="102A43"/>
                </a:solidFill>
                <a:latin typeface="Noto Sans CJK JP"/>
              </a:defRPr>
            </a:pPr>
            <a:r>
              <a:t>Nₐlₚ=Nᴅlₙ</a:t>
            </a:r>
          </a:p>
        </p:txBody>
      </p:sp>
      <p:sp>
        <p:nvSpPr>
          <p:cNvPr id="34" name="Oval 33"/>
          <p:cNvSpPr/>
          <p:nvPr/>
        </p:nvSpPr>
        <p:spPr>
          <a:xfrm>
            <a:off x="6208776" y="1572768"/>
            <a:ext cx="457200" cy="45720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8776" y="165506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3136" y="1591056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53B5B"/>
                </a:solidFill>
                <a:latin typeface="Noto Sans CJK JP"/>
              </a:defRPr>
            </a:pPr>
            <a:r>
              <a:t>電界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72983" y="1591056"/>
            <a:ext cx="3511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70" b="0">
                <a:solidFill>
                  <a:srgbClr val="102A43"/>
                </a:solidFill>
                <a:latin typeface="Noto Sans CJK JP"/>
              </a:defRPr>
            </a:pPr>
            <a:r>
              <a:t>dE/dx=ρ/ε → Eは一次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37376" y="2057400"/>
            <a:ext cx="0" cy="310896"/>
          </a:xfrm>
          <a:prstGeom prst="line">
            <a:avLst/>
          </a:prstGeom>
          <a:ln w="1524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208776" y="2414016"/>
            <a:ext cx="457200" cy="45720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08776" y="24963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3136" y="2432304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53B5B"/>
                </a:solidFill>
                <a:latin typeface="Noto Sans CJK JP"/>
              </a:defRPr>
            </a:pPr>
            <a:r>
              <a:t>電位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72983" y="2432304"/>
            <a:ext cx="3511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70" b="0">
                <a:solidFill>
                  <a:srgbClr val="102A43"/>
                </a:solidFill>
                <a:latin typeface="Noto Sans CJK JP"/>
              </a:defRPr>
            </a:pPr>
            <a:r>
              <a:t>E=−dV/dx → 面積 / 積分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37376" y="2898648"/>
            <a:ext cx="0" cy="310896"/>
          </a:xfrm>
          <a:prstGeom prst="line">
            <a:avLst/>
          </a:prstGeom>
          <a:ln w="1524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208776" y="3255264"/>
            <a:ext cx="457200" cy="45720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08776" y="33375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03136" y="327355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53B5B"/>
                </a:solidFill>
                <a:latin typeface="Noto Sans CJK JP"/>
              </a:defRPr>
            </a:pPr>
            <a:r>
              <a:t>バイアス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72983" y="3273552"/>
            <a:ext cx="3511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70" b="0">
                <a:solidFill>
                  <a:srgbClr val="102A43"/>
                </a:solidFill>
                <a:latin typeface="Noto Sans CJK JP"/>
              </a:defRPr>
            </a:pPr>
            <a:r>
              <a:t>p側・n側の極性を確認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37376" y="3739896"/>
            <a:ext cx="0" cy="310895"/>
          </a:xfrm>
          <a:prstGeom prst="line">
            <a:avLst/>
          </a:prstGeom>
          <a:ln w="1524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208776" y="4096512"/>
            <a:ext cx="457200" cy="45720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08776" y="417880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3136" y="411480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53B5B"/>
                </a:solidFill>
                <a:latin typeface="Noto Sans CJK JP"/>
              </a:defRPr>
            </a:pPr>
            <a:r>
              <a:t>I–V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72983" y="4114800"/>
            <a:ext cx="3511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70" b="0">
                <a:solidFill>
                  <a:srgbClr val="102A43"/>
                </a:solidFill>
                <a:latin typeface="Noto Sans CJK JP"/>
              </a:defRPr>
            </a:pPr>
            <a:r>
              <a:t>I=Iₛ{exp(V/Vₜ)−1}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437376" y="4581144"/>
            <a:ext cx="0" cy="310896"/>
          </a:xfrm>
          <a:prstGeom prst="line">
            <a:avLst/>
          </a:prstGeom>
          <a:ln w="1524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208776" y="4937760"/>
            <a:ext cx="457200" cy="45720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8776" y="502005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JP"/>
              </a:defRPr>
            </a:pPr>
            <a: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03136" y="4956048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53B5B"/>
                </a:solidFill>
                <a:latin typeface="Noto Sans CJK JP"/>
              </a:defRPr>
            </a:pPr>
            <a:r>
              <a:t>検算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72983" y="4956048"/>
            <a:ext cx="3511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70" b="0">
                <a:solidFill>
                  <a:srgbClr val="102A43"/>
                </a:solidFill>
                <a:latin typeface="Noto Sans CJK JP"/>
              </a:defRPr>
            </a:pPr>
            <a:r>
              <a:t>符号・向き・単位・高低関係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6656" y="5687568"/>
            <a:ext cx="5129784" cy="640080"/>
          </a:xfrm>
          <a:prstGeom prst="roundRect">
            <a:avLst/>
          </a:prstGeom>
          <a:solidFill>
            <a:srgbClr val="FFF4F1"/>
          </a:solidFill>
          <a:ln w="12700">
            <a:solidFill>
              <a:srgbClr val="F2B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536" y="576986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80" b="1">
                <a:solidFill>
                  <a:srgbClr val="B8322E"/>
                </a:solidFill>
                <a:latin typeface="Noto Sans CJK JP"/>
              </a:defRPr>
            </a:pPr>
            <a:r>
              <a:t>頻出ミス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91056" y="5733288"/>
            <a:ext cx="40050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19" b="0">
                <a:solidFill>
                  <a:srgbClr val="102A43"/>
                </a:solidFill>
                <a:latin typeface="Noto Sans CJK JP"/>
              </a:defRPr>
            </a:pPr>
            <a:r>
              <a:t>pn=nᵢ としない／電子方向と電流方向を同一視しない</a:t>
            </a:r>
            <a:br/>
            <a:r>
              <a:t>一定ρでも E は一定ではない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90488" y="5687568"/>
            <a:ext cx="5175504" cy="6400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3368" y="576986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80" b="1">
                <a:solidFill>
                  <a:srgbClr val="153B5B"/>
                </a:solidFill>
                <a:latin typeface="Noto Sans CJK JP"/>
              </a:defRPr>
            </a:pPr>
            <a:r>
              <a:t>境界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3720" y="5733288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19" b="0">
                <a:solidFill>
                  <a:srgbClr val="102A43"/>
                </a:solidFill>
                <a:latin typeface="Noto Sans CJK JP"/>
              </a:defRPr>
            </a:pPr>
            <a:r>
              <a:t>降伏機構、整流・チョッパ・インバータ回路は本Topic外</a:t>
            </a:r>
            <a:br/>
            <a:r>
              <a:t>MOSFET / IGBT / GTO / SiC は Topic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53B5B"/>
          </a:solidFill>
          <a:ln w="12700">
            <a:solidFill>
              <a:srgbClr val="15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886968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Noto Sans CJK JP"/>
              </a:defRPr>
            </a:pPr>
            <a:r>
              <a:t>電験二種 理論｜Topic 16 半導体・pn接合・ダイオード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1887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DDE8F1"/>
                </a:solidFill>
                <a:latin typeface="Noto Sans CJK JP"/>
              </a:defRPr>
            </a:pPr>
            <a:r>
              <a:t>cureflash / denken-shinkansen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01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102A43"/>
                </a:solidFill>
                <a:latin typeface="Noto Sans CJK JP"/>
              </a:defRPr>
            </a:pPr>
            <a:r>
              <a:t>5｜固定過去問25答案要素への対応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52606D"/>
                </a:solidFill>
                <a:latin typeface="Noto Sans CJK JP"/>
              </a:defRPr>
            </a:pPr>
            <a:r>
              <a:t>一次5問×5答案要素を可視化。完成後はこの教材だけで独立再解答する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6528816"/>
            <a:ext cx="11494008" cy="0"/>
          </a:xfrm>
          <a:prstGeom prst="line">
            <a:avLst/>
          </a:prstGeom>
          <a:ln w="12700">
            <a:solidFill>
              <a:srgbClr val="C9D4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048" y="6574536"/>
            <a:ext cx="7132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Noto Sans CJK JP"/>
              </a:defRPr>
            </a:pPr>
            <a:r>
              <a:t>固定範囲のみ｜二次の数合わせなし｜Topic 17先取りなし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7453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Noto Sans CJK JP"/>
              </a:defRPr>
            </a:pPr>
            <a: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2423160" cy="438912"/>
          </a:xfrm>
          <a:prstGeom prst="rect">
            <a:avLst/>
          </a:prstGeom>
          <a:solidFill>
            <a:srgbClr val="153B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673352"/>
            <a:ext cx="23500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Noto Sans CJK JP"/>
              </a:defRPr>
            </a:pPr>
            <a:r>
              <a:t>過去問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572768"/>
            <a:ext cx="1627632" cy="438912"/>
          </a:xfrm>
          <a:prstGeom prst="rect">
            <a:avLst/>
          </a:prstGeom>
          <a:solidFill>
            <a:srgbClr val="153B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6" y="167335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Noto Sans CJK JP"/>
              </a:defRPr>
            </a:pPr>
            <a:r>
              <a:t>要素1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1728" y="1572768"/>
            <a:ext cx="1627632" cy="438912"/>
          </a:xfrm>
          <a:prstGeom prst="rect">
            <a:avLst/>
          </a:prstGeom>
          <a:solidFill>
            <a:srgbClr val="153B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167335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Noto Sans CJK JP"/>
              </a:defRPr>
            </a:pPr>
            <a:r>
              <a:t>要素2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2512" y="1572768"/>
            <a:ext cx="1627632" cy="438912"/>
          </a:xfrm>
          <a:prstGeom prst="rect">
            <a:avLst/>
          </a:prstGeom>
          <a:solidFill>
            <a:srgbClr val="153B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67335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Noto Sans CJK JP"/>
              </a:defRPr>
            </a:pPr>
            <a:r>
              <a:t>要素3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572768"/>
            <a:ext cx="1627632" cy="438912"/>
          </a:xfrm>
          <a:prstGeom prst="rect">
            <a:avLst/>
          </a:prstGeom>
          <a:solidFill>
            <a:srgbClr val="153B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1" y="167335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Noto Sans CJK JP"/>
              </a:defRPr>
            </a:pPr>
            <a:r>
              <a:t>要素4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74936" y="1572768"/>
            <a:ext cx="1874519" cy="438912"/>
          </a:xfrm>
          <a:prstGeom prst="rect">
            <a:avLst/>
          </a:prstGeom>
          <a:solidFill>
            <a:srgbClr val="153B5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1511" y="1673352"/>
            <a:ext cx="180136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Noto Sans CJK JP"/>
              </a:defRPr>
            </a:pPr>
            <a:r>
              <a:t>要素5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011680"/>
            <a:ext cx="2423160" cy="667512"/>
          </a:xfrm>
          <a:prstGeom prst="rect">
            <a:avLst/>
          </a:prstGeom>
          <a:solidFill>
            <a:srgbClr val="F7F9FC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093976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19" b="1">
                <a:solidFill>
                  <a:srgbClr val="153B5B"/>
                </a:solidFill>
                <a:latin typeface="Noto Sans CJK JP"/>
              </a:defRPr>
            </a:pPr>
            <a:r>
              <a:t>R8 一次 理論 問7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2011680"/>
            <a:ext cx="16276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093976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空乏層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8" y="2011680"/>
            <a:ext cx="16276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8" y="2093976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dE/dx=eNᴅ/ε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512" y="2011680"/>
            <a:ext cx="16276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2093976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E→V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2011680"/>
            <a:ext cx="16276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9016" y="2093976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順方向障壁低下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74936" y="2011680"/>
            <a:ext cx="1874519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0656" y="2093976"/>
            <a:ext cx="17830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指数 I–V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679192"/>
            <a:ext cx="2423160" cy="667512"/>
          </a:xfrm>
          <a:prstGeom prst="rect">
            <a:avLst/>
          </a:prstGeom>
          <a:solidFill>
            <a:srgbClr val="EEF4F8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276148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19" b="1">
                <a:solidFill>
                  <a:srgbClr val="153B5B"/>
                </a:solidFill>
                <a:latin typeface="Noto Sans CJK JP"/>
              </a:defRPr>
            </a:pPr>
            <a:r>
              <a:t>H30 一次 理論 問4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71800" y="2679192"/>
            <a:ext cx="1627632" cy="667512"/>
          </a:xfrm>
          <a:prstGeom prst="rect">
            <a:avLst/>
          </a:prstGeom>
          <a:solidFill>
            <a:srgbClr val="F8FBFD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2761488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真性半導体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81728" y="2679192"/>
            <a:ext cx="1627632" cy="667512"/>
          </a:xfrm>
          <a:prstGeom prst="rect">
            <a:avLst/>
          </a:prstGeom>
          <a:solidFill>
            <a:srgbClr val="F8FBFD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27448" y="2761488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pn=nᵢ²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2679192"/>
            <a:ext cx="1627632" cy="667512"/>
          </a:xfrm>
          <a:prstGeom prst="rect">
            <a:avLst/>
          </a:prstGeom>
          <a:solidFill>
            <a:srgbClr val="F8FBFD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2761488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n形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83296" y="2679192"/>
            <a:ext cx="1627632" cy="667512"/>
          </a:xfrm>
          <a:prstGeom prst="rect">
            <a:avLst/>
          </a:prstGeom>
          <a:solidFill>
            <a:srgbClr val="F8FBFD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29016" y="2761488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多数 / 少数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74936" y="2679192"/>
            <a:ext cx="1874519" cy="667512"/>
          </a:xfrm>
          <a:prstGeom prst="rect">
            <a:avLst/>
          </a:prstGeom>
          <a:solidFill>
            <a:srgbClr val="F8FBFD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0656" y="2761488"/>
            <a:ext cx="17830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温度変化の読解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346704"/>
            <a:ext cx="2423160" cy="667512"/>
          </a:xfrm>
          <a:prstGeom prst="rect">
            <a:avLst/>
          </a:prstGeom>
          <a:solidFill>
            <a:srgbClr val="F7F9FC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429000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19" b="1">
                <a:solidFill>
                  <a:srgbClr val="153B5B"/>
                </a:solidFill>
                <a:latin typeface="Noto Sans CJK JP"/>
              </a:defRPr>
            </a:pPr>
            <a:r>
              <a:t>H26 一次 理論 問7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71800" y="3346704"/>
            <a:ext cx="16276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3429000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p形 / n形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81728" y="3346704"/>
            <a:ext cx="16276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27448" y="3429000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正孔 / 電子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82512" y="3346704"/>
            <a:ext cx="16276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28232" y="3429000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空乏層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83296" y="3346704"/>
            <a:ext cx="16276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29016" y="3429000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順逆バイアス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74936" y="3346704"/>
            <a:ext cx="1874519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20656" y="3429000"/>
            <a:ext cx="17830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整流作用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014216"/>
            <a:ext cx="2423160" cy="667512"/>
          </a:xfrm>
          <a:prstGeom prst="rect">
            <a:avLst/>
          </a:prstGeom>
          <a:solidFill>
            <a:srgbClr val="EEF4F8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096512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19" b="1">
                <a:solidFill>
                  <a:srgbClr val="153B5B"/>
                </a:solidFill>
                <a:latin typeface="Noto Sans CJK JP"/>
              </a:defRPr>
            </a:pPr>
            <a:r>
              <a:t>H24 一次 理論 問4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71800" y="4014216"/>
            <a:ext cx="1627632" cy="667512"/>
          </a:xfrm>
          <a:prstGeom prst="rect">
            <a:avLst/>
          </a:prstGeom>
          <a:solidFill>
            <a:srgbClr val="F8FBFD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17520" y="4096512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空乏層電荷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728" y="4014216"/>
            <a:ext cx="1627632" cy="667512"/>
          </a:xfrm>
          <a:prstGeom prst="rect">
            <a:avLst/>
          </a:prstGeom>
          <a:solidFill>
            <a:srgbClr val="F8FBFD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27448" y="4096512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電荷中性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82512" y="4014216"/>
            <a:ext cx="1627632" cy="667512"/>
          </a:xfrm>
          <a:prstGeom prst="rect">
            <a:avLst/>
          </a:prstGeom>
          <a:solidFill>
            <a:srgbClr val="F8FBFD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28232" y="4096512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電界分布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83296" y="4014216"/>
            <a:ext cx="1627632" cy="667512"/>
          </a:xfrm>
          <a:prstGeom prst="rect">
            <a:avLst/>
          </a:prstGeom>
          <a:solidFill>
            <a:srgbClr val="F8FBFD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29016" y="4096512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電位差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74936" y="4014216"/>
            <a:ext cx="1874519" cy="667512"/>
          </a:xfrm>
          <a:prstGeom prst="rect">
            <a:avLst/>
          </a:prstGeom>
          <a:solidFill>
            <a:srgbClr val="F8FBFD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20656" y="4096512"/>
            <a:ext cx="17830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逆方向側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681728"/>
            <a:ext cx="2423160" cy="667512"/>
          </a:xfrm>
          <a:prstGeom prst="rect">
            <a:avLst/>
          </a:prstGeom>
          <a:solidFill>
            <a:srgbClr val="F7F9FC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4764024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19" b="1">
                <a:solidFill>
                  <a:srgbClr val="153B5B"/>
                </a:solidFill>
                <a:latin typeface="Noto Sans CJK JP"/>
              </a:defRPr>
            </a:pPr>
            <a:r>
              <a:t>H22 一次 理論 問7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71800" y="4681728"/>
            <a:ext cx="16276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17520" y="4764024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空乏層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81728" y="4681728"/>
            <a:ext cx="16276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27448" y="4764024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固定イオン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82512" y="4681728"/>
            <a:ext cx="16276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28232" y="4764024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電位障壁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83296" y="4681728"/>
            <a:ext cx="16276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29016" y="4764024"/>
            <a:ext cx="15361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順方向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774936" y="4681728"/>
            <a:ext cx="1874519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20656" y="4764024"/>
            <a:ext cx="178307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60" b="0">
                <a:solidFill>
                  <a:srgbClr val="102A43"/>
                </a:solidFill>
                <a:latin typeface="Noto Sans CJK JP"/>
              </a:defRPr>
            </a:pPr>
            <a:r>
              <a:t>指数特性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67512" y="5513832"/>
            <a:ext cx="3730752" cy="694944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9AC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0392" y="5641848"/>
            <a:ext cx="230428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2F855A"/>
                </a:solidFill>
                <a:latin typeface="Noto Sans CJK JP"/>
              </a:defRPr>
            </a:pPr>
            <a:r>
              <a:t>固定一次 5問・25答案要素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63240" y="5596128"/>
            <a:ext cx="10789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50" b="1">
                <a:solidFill>
                  <a:srgbClr val="2F855A"/>
                </a:solidFill>
                <a:latin typeface="Noto Sans CJK JP"/>
              </a:defRPr>
            </a:pPr>
            <a:r>
              <a:t>25 / 25 可視化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608576" y="5513832"/>
            <a:ext cx="2377440" cy="694944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73168" y="5605272"/>
            <a:ext cx="20391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153B5B"/>
                </a:solidFill>
                <a:latin typeface="Noto Sans CJK JP"/>
              </a:defRPr>
            </a:pPr>
            <a:r>
              <a:t>二次採用 0問</a:t>
            </a:r>
            <a:br/>
            <a:r>
              <a:t>数合わせ 0件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223760" y="5513832"/>
            <a:ext cx="4297680" cy="694944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7D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06640" y="5605272"/>
            <a:ext cx="39136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30" b="0">
                <a:solidFill>
                  <a:srgbClr val="102A43"/>
                </a:solidFill>
                <a:latin typeface="Noto Sans CJK JP"/>
              </a:defRPr>
            </a:pPr>
            <a:r>
              <a:t>出典：電気技術者試験センター 二種過去問</a:t>
            </a:r>
            <a:br/>
            <a:r>
              <a:t>https://www.shiken.or.jp/chief/second/qa/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16 300系の半導体はなぜ電流を一方向へ流せる？</dc:title>
  <dc:subject>電験二種 理論 Topic 16 半導体・pn接合・ダイオード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