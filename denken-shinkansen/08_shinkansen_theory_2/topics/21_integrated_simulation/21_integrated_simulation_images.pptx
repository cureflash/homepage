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>
      <a:defRPr lang="ja-JP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247120" cy="512064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Aptos"/>
                <a:ea typeface="Noto Sans CJK JP"/>
              </a:rPr>
              <a:t>Topic 21　架線からEast iまで全部シミュレーションする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429768" y="749808"/>
            <a:ext cx="10972800" cy="347472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1100">
                <a:solidFill>
                  <a:srgbClr val="52606D"/>
                </a:solidFill>
                <a:latin typeface="Aptos"/>
                <a:ea typeface="Noto Sans CJK JP"/>
              </a:rPr>
              <a:t>二種理論の既習5領域を、一つの教育用簡略モデルへ統合する</a:t>
            </a:r>
            <a:endParaRPr lang="ja-JP" sz="1100"/>
          </a:p>
        </p:txBody>
      </p:sp>
      <p:sp>
        <p:nvSpPr>
          <p:cNvPr id="4" name="chain"/>
          <p:cNvSpPr txBox="1"/>
          <p:nvPr/>
        </p:nvSpPr>
        <p:spPr>
          <a:xfrm>
            <a:off x="502920" y="1325880"/>
            <a:ext cx="11109960" cy="960120"/>
          </a:xfrm>
          <a:prstGeom prst="roundRect">
            <a:avLst/>
          </a:prstGeom>
          <a:solidFill>
            <a:srgbClr val="E7F5FB"/>
          </a:solidFill>
          <a:ln w="12700">
            <a:solidFill>
              <a:srgbClr val="7EC8E3"/>
            </a:solidFill>
          </a:ln>
        </p:spPr>
        <p:txBody>
          <a:bodyPr wrap="square" lIns="164592" rIns="164592" tIns="164592" bIns="164592" anchor="ctr"/>
          <a:lstStyle/>
          <a:p>
            <a:pPr algn="c"/>
            <a:r>
              <a:rPr lang="ja-JP" sz="1700" b="1">
                <a:solidFill>
                  <a:srgbClr val="0B4F6C"/>
                </a:solidFill>
                <a:latin typeface="Aptos"/>
                <a:ea typeface="Noto Sans CJK JP"/>
              </a:rPr>
              <a:t>25kV電源 → 架線等価回路 → 主変圧器 → 整流・DCリンク → PWMインバータ → 簡略負荷 → 電流・電圧センサ → 測定</a:t>
            </a:r>
            <a:endParaRPr lang="ja-JP" sz="1700"/>
          </a:p>
        </p:txBody>
      </p:sp>
      <p:sp>
        <p:nvSpPr>
          <p:cNvPr id="5" name="domains"/>
          <p:cNvSpPr txBox="1"/>
          <p:nvPr/>
        </p:nvSpPr>
        <p:spPr>
          <a:xfrm>
            <a:off x="594360" y="2615184"/>
            <a:ext cx="10927080" cy="685800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9ED9AC"/>
            </a:solidFill>
          </a:ln>
        </p:spPr>
        <p:txBody>
          <a:bodyPr wrap="square" lIns="109728" rIns="109728" tIns="109728" bIns="109728" anchor="ctr"/>
          <a:lstStyle/>
          <a:p>
            <a:pPr algn="c"/>
            <a:r>
              <a:rPr lang="ja-JP" sz="2000" b="1">
                <a:solidFill>
                  <a:srgbClr val="275D38"/>
                </a:solidFill>
                <a:latin typeface="Aptos"/>
                <a:ea typeface="Noto Sans CJK JP"/>
              </a:rPr>
              <a:t>回路　｜　交流　｜　過渡　｜　高調波　｜　計測</a:t>
            </a:r>
            <a:endParaRPr lang="ja-JP" sz="2000"/>
          </a:p>
        </p:txBody>
      </p:sp>
      <p:sp>
        <p:nvSpPr>
          <p:cNvPr id="6" name="gate"/>
          <p:cNvSpPr txBox="1"/>
          <p:nvPr/>
        </p:nvSpPr>
        <p:spPr>
          <a:xfrm>
            <a:off x="640080" y="3657600"/>
            <a:ext cx="516636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5448" rIns="155448" tIns="155448" bIns="155448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試験対応品質ゲート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一次 4問・17答案要素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二次 1問・4答案要素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合計 5問・21/21</a:t>
            </a:r>
            <a:endParaRPr lang="ja-JP" sz="1600"/>
          </a:p>
        </p:txBody>
      </p:sp>
      <p:sp>
        <p:nvSpPr>
          <p:cNvPr id="7" name="boundary"/>
          <p:cNvSpPr txBox="1"/>
          <p:nvPr/>
        </p:nvSpPr>
        <p:spPr>
          <a:xfrm>
            <a:off x="6172200" y="3657600"/>
            <a:ext cx="516636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5448" rIns="155448" tIns="155448" bIns="155448" anchor="ctr"/>
          <a:lstStyle/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境界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実車主回路・East i内部回路を再現しない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未公開PWM/センサ/ADC条件を真値化しない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教育用モデルと実車情報を区別</a:t>
            </a:r>
            <a:endParaRPr lang="ja-JP" sz="1400"/>
          </a:p>
        </p:txBody>
      </p:sp>
      <p:sp>
        <p:nvSpPr>
          <p:cNvPr id="8" name="foot"/>
          <p:cNvSpPr txBox="1"/>
          <p:nvPr/>
        </p:nvSpPr>
        <p:spPr>
          <a:xfrm>
            <a:off x="566928" y="5623560"/>
            <a:ext cx="10972800" cy="320040"/>
          </a:xfr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"/>
            <a:r>
              <a:rPr lang="ja-JP" sz="1200" b="1">
                <a:solidFill>
                  <a:srgbClr val="52606D"/>
                </a:solidFill>
                <a:latin typeface="Aptos"/>
                <a:ea typeface="Noto Sans CJK JP"/>
              </a:rPr>
              <a:t>固定範囲だけで「回路 → 電力 → 過渡 → 高調波 → 計測」を往復できる状態を作る。</a:t>
            </a:r>
            <a:endParaRPr lang="ja-JP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247120" cy="512064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Aptos"/>
                <a:ea typeface="Noto Sans CJK JP"/>
              </a:rPr>
              <a:t>1. 回路：架線を負荷側から見て縮約する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429768" y="749808"/>
            <a:ext cx="10972800" cy="347472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1100">
                <a:solidFill>
                  <a:srgbClr val="52606D"/>
                </a:solidFill>
                <a:latin typeface="Aptos"/>
                <a:ea typeface="Noto Sans CJK JP"/>
              </a:rPr>
              <a:t>R8 一次「理論」問3 → 5答案要素</a:t>
            </a:r>
            <a:endParaRPr lang="ja-JP" sz="1100"/>
          </a:p>
        </p:txBody>
      </p:sp>
      <p:sp>
        <p:nvSpPr>
          <p:cNvPr id="4" name="eq"/>
          <p:cNvSpPr txBox="1"/>
          <p:nvPr/>
        </p:nvSpPr>
        <p:spPr>
          <a:xfrm>
            <a:off x="502920" y="1280160"/>
            <a:ext cx="53492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37160" rIns="137160" tIns="137160" bIns="137160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Vth = 開放端電圧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Zth = 電源を処理して負荷端から見た等価インピーダンス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I = Vth / (Zth + ZL)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VL = I ZL</a:t>
            </a:r>
            <a:endParaRPr lang="ja-JP" sz="1600"/>
          </a:p>
        </p:txBody>
      </p:sp>
      <p:sp>
        <p:nvSpPr>
          <p:cNvPr id="5" name="steps"/>
          <p:cNvSpPr txBox="1"/>
          <p:nvPr/>
        </p:nvSpPr>
        <p:spPr>
          <a:xfrm>
            <a:off x="6126480" y="1280160"/>
            <a:ext cx="5440680" cy="148132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E0B95D"/>
            </a:solidFill>
          </a:ln>
        </p:spPr>
        <p:txBody>
          <a:bodyPr wrap="square" lIns="137160" rIns="137160" tIns="137160" bIns="137160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固定5答案要素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① 閉路方程式　② 開放端電圧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③ テブナン等価　④ 相反定理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⑤ 平衡回路の電流</a:t>
            </a:r>
            <a:endParaRPr lang="ja-JP" sz="1600"/>
          </a:p>
        </p:txBody>
      </p:sp>
      <p:sp>
        <p:nvSpPr>
          <p:cNvPr id="6" name="flow"/>
          <p:cNvSpPr txBox="1"/>
          <p:nvPr/>
        </p:nvSpPr>
        <p:spPr>
          <a:xfrm>
            <a:off x="594360" y="3090672"/>
            <a:ext cx="10972800" cy="658368"/>
          </a:xfrm>
          <a:prstGeom prst="roundRect">
            <a:avLst/>
          </a:prstGeom>
          <a:solidFill>
            <a:srgbClr val="E7F5FB"/>
          </a:solidFill>
          <a:ln w="12700">
            <a:solidFill>
              <a:srgbClr val="7EC8E3"/>
            </a:solidFill>
          </a:ln>
        </p:spPr>
        <p:txBody>
          <a:bodyPr wrap="square" lIns="109728" rIns="109728" tIns="109728" bIns="109728" anchor="ctr"/>
          <a:lstStyle/>
          <a:p>
            <a:pPr algn="c"/>
            <a:r>
              <a:rPr lang="ja-JP" sz="1800" b="1">
                <a:solidFill>
                  <a:srgbClr val="0B4F6C"/>
                </a:solidFill>
                <a:latin typeface="Aptos"/>
                <a:ea typeface="Noto Sans CJK JP"/>
              </a:rPr>
              <a:t>回路図 → KCL/KVL → 開放端電圧 → Zth → 負荷接続後の I・VL</a:t>
            </a:r>
            <a:endParaRPr lang="ja-JP" sz="1800"/>
          </a:p>
        </p:txBody>
      </p:sp>
      <p:sp>
        <p:nvSpPr>
          <p:cNvPr id="7" name="example"/>
          <p:cNvSpPr txBox="1"/>
          <p:nvPr/>
        </p:nvSpPr>
        <p:spPr>
          <a:xfrm>
            <a:off x="640080" y="4096512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8016" rIns="128016" tIns="128016" bIns="128016" anchor="ctr"/>
          <a:lstStyle/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基礎例題（source既検算値）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Vth=25.0 kV∠0°, Zth=1+j1 Ω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ZL=24+j18 Ω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P≈15.213 MW / Q≈11.410 Mvar / pf=0.800遅れ</a:t>
            </a:r>
            <a:endParaRPr lang="ja-JP" sz="1400"/>
          </a:p>
        </p:txBody>
      </p:sp>
      <p:sp>
        <p:nvSpPr>
          <p:cNvPr id="8" name="trap"/>
          <p:cNvSpPr txBox="1"/>
          <p:nvPr/>
        </p:nvSpPr>
        <p:spPr>
          <a:xfrm>
            <a:off x="6172200" y="4096512"/>
            <a:ext cx="52120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8016" rIns="128016" tIns="128016" bIns="128016" anchor="ctr"/>
          <a:lstStyle/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ひっかけ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開放端Vthと負荷端VLを混同しない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相反定理は線形・受動・双方向回路で扱う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実車き電回路そのものとは断定しない</a:t>
            </a:r>
            <a:endParaRPr lang="ja-JP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247120" cy="512064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Aptos"/>
                <a:ea typeface="Noto Sans CJK JP"/>
              </a:rPr>
              <a:t>2. 交流：P・Qを別々に合算して力率へ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429768" y="749808"/>
            <a:ext cx="10972800" cy="347472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1100">
                <a:solidFill>
                  <a:srgbClr val="52606D"/>
                </a:solidFill>
                <a:latin typeface="Aptos"/>
                <a:ea typeface="Noto Sans CJK JP"/>
              </a:rPr>
              <a:t>R2 二次「電力・管理」問6 (1)〜(3) → 4答案要素</a:t>
            </a:r>
            <a:endParaRPr lang="ja-JP" sz="1100"/>
          </a:p>
        </p:txBody>
      </p:sp>
      <p:sp>
        <p:nvSpPr>
          <p:cNvPr id="4" name="formula"/>
          <p:cNvSpPr txBox="1"/>
          <p:nvPr/>
        </p:nvSpPr>
        <p:spPr>
          <a:xfrm>
            <a:off x="502920" y="1234440"/>
            <a:ext cx="525780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64592" rIns="164592" tIns="164592" bIns="164592" anchor="ctr"/>
          <a:lstStyle/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S = V I* = P + jQ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P = VI cosφ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Q = VI sinφ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|S| = √(P²+Q²)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pf = P / |S|</a:t>
            </a:r>
            <a:endParaRPr lang="ja-JP" sz="1800"/>
          </a:p>
        </p:txBody>
      </p:sp>
      <p:sp>
        <p:nvSpPr>
          <p:cNvPr id="5" name="pq"/>
          <p:cNvSpPr txBox="1"/>
          <p:nvPr/>
        </p:nvSpPr>
        <p:spPr>
          <a:xfrm>
            <a:off x="6053328" y="1234440"/>
            <a:ext cx="5440680" cy="1901952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9ED9AC"/>
            </a:solidFill>
          </a:ln>
        </p:spPr>
        <p:txBody>
          <a:bodyPr wrap="square" lIns="164592" rIns="164592" tIns="164592" bIns="164592" anchor="ctr"/>
          <a:lstStyle/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複数負荷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PΣ = ΣPk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QΣ = ΣQk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SΣ = √(PΣ² + QΣ²)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進み補償：Q′ = QΣ − Qc</a:t>
            </a:r>
            <a:endParaRPr lang="ja-JP" sz="1800"/>
          </a:p>
        </p:txBody>
      </p:sp>
      <p:sp>
        <p:nvSpPr>
          <p:cNvPr id="6" name="answer"/>
          <p:cNvSpPr txBox="1"/>
          <p:nvPr/>
        </p:nvSpPr>
        <p:spPr>
          <a:xfrm>
            <a:off x="594360" y="3456432"/>
            <a:ext cx="10972800" cy="658368"/>
          </a:xfrm>
          <a:prstGeom prst="roundRect">
            <a:avLst/>
          </a:prstGeom>
          <a:solidFill>
            <a:srgbClr val="F0F8F2"/>
          </a:solidFill>
          <a:ln w="12700">
            <a:solidFill>
              <a:srgbClr val="9ED9AC"/>
            </a:solidFill>
          </a:ln>
        </p:spPr>
        <p:txBody>
          <a:bodyPr wrap="square" lIns="91440" rIns="91440" tIns="91440" bIns="91440" anchor="ctr"/>
          <a:lstStyle/>
          <a:p>
            <a:pPr algn="c"/>
            <a:r>
              <a:rPr lang="ja-JP" sz="1500" b="1">
                <a:solidFill>
                  <a:srgbClr val="275D38"/>
                </a:solidFill>
                <a:latin typeface="Aptos"/>
                <a:ea typeface="Noto Sans CJK JP"/>
              </a:rPr>
              <a:t>固定4答案要素：Q=P tanθ ｜ P-Q合算 ｜ 容量制約・総合力率 ｜ 無効電力補償・P-Qベクトル</a:t>
            </a:r>
            <a:endParaRPr lang="ja-JP" sz="1500"/>
          </a:p>
        </p:txBody>
      </p:sp>
      <p:sp>
        <p:nvSpPr>
          <p:cNvPr id="7" name="example"/>
          <p:cNvSpPr txBox="1"/>
          <p:nvPr/>
        </p:nvSpPr>
        <p:spPr>
          <a:xfrm>
            <a:off x="685800" y="4389120"/>
            <a:ext cx="10789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8016" rIns="128016" tIns="128016" bIns="128016" anchor="ctr"/>
          <a:lstStyle/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本試験標準例題（source既検算値）</a:t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PΣ=7.0 MW / QΣ=6.0 Mvar / 設備容量8.5 MVA → Qc,min=1.178 Mvar</a:t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pf=0.95遅れ目標 → Qc=3.699 Mvar　※皮相電力の大きさを直接足さない</a:t>
            </a:r>
            <a:endParaRPr lang="ja-JP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247120" cy="512064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Aptos"/>
                <a:ea typeface="Noto Sans CJK JP"/>
              </a:rPr>
              <a:t>3. 過渡：0− / 0+ / ∞を先に分ける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429768" y="749808"/>
            <a:ext cx="10972800" cy="347472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1100">
                <a:solidFill>
                  <a:srgbClr val="52606D"/>
                </a:solidFill>
                <a:latin typeface="Aptos"/>
                <a:ea typeface="Noto Sans CJK JP"/>
              </a:rPr>
              <a:t>R8 一次「理論」問6 → 5答案要素</a:t>
            </a:r>
            <a:endParaRPr lang="ja-JP" sz="1100"/>
          </a:p>
        </p:txBody>
      </p:sp>
      <p:sp>
        <p:nvSpPr>
          <p:cNvPr id="4" name="timeline"/>
          <p:cNvSpPr txBox="1"/>
          <p:nvPr/>
        </p:nvSpPr>
        <p:spPr>
          <a:xfrm>
            <a:off x="548640" y="1216152"/>
            <a:ext cx="10972800" cy="685800"/>
          </a:xfrm>
          <a:prstGeom prst="roundRect">
            <a:avLst/>
          </a:prstGeom>
          <a:solidFill>
            <a:srgbClr val="E7F5FB"/>
          </a:solidFill>
          <a:ln w="12700">
            <a:solidFill>
              <a:srgbClr val="7EC8E3"/>
            </a:solidFill>
          </a:ln>
        </p:spPr>
        <p:txBody>
          <a:bodyPr wrap="square" lIns="91440" rIns="91440" tIns="91440" bIns="91440" anchor="ctr"/>
          <a:lstStyle/>
          <a:p>
            <a:pPr algn="c"/>
            <a:r>
              <a:rPr lang="ja-JP" sz="1800" b="1">
                <a:solidFill>
                  <a:srgbClr val="0B4F6C"/>
                </a:solidFill>
                <a:latin typeface="Aptos"/>
                <a:ea typeface="Noto Sans CJK JP"/>
              </a:rPr>
              <a:t>t=0−：切替前定常　→　t=0+：iL・vCは有限回路で連続　→　t→∞：切替後定常</a:t>
            </a:r>
            <a:endParaRPr lang="ja-JP" sz="1800"/>
          </a:p>
        </p:txBody>
      </p:sp>
      <p:sp>
        <p:nvSpPr>
          <p:cNvPr id="5" name="rlrc"/>
          <p:cNvSpPr txBox="1"/>
          <p:nvPr/>
        </p:nvSpPr>
        <p:spPr>
          <a:xfrm>
            <a:off x="548640" y="2267712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46304" rIns="146304" tIns="146304" bIns="146304" anchor="ctr"/>
          <a:lstStyle/>
          <a:p>
            <a:pPr algn="l"/>
            <a:r>
              <a:rPr lang="ja-JP" sz="1700">
                <a:solidFill>
                  <a:srgbClr val="202020"/>
                </a:solidFill>
                <a:latin typeface="Aptos"/>
                <a:ea typeface="Noto Sans CJK JP"/>
              </a:rPr>
              <a:t>RL：i(t)=I∞+(I0−I∞)e^(−t/τ)</a:t>
            </a:r>
            <a:endParaRPr lang="ja-JP" sz="1700"/>
          </a:p>
          <a:p>
            <a:pPr algn="l"/>
            <a:r>
              <a:rPr lang="ja-JP" sz="1700">
                <a:solidFill>
                  <a:srgbClr val="202020"/>
                </a:solidFill>
                <a:latin typeface="Aptos"/>
                <a:ea typeface="Noto Sans CJK JP"/>
              </a:rPr>
              <a:t>τ=L/R</a:t>
            </a:r>
            <a:endParaRPr lang="ja-JP" sz="1700"/>
          </a:p>
          <a:p>
            <a:pPr algn="l"/>
            <a:r>
              <a:rPr lang="ja-JP" sz="1700">
                <a:solidFill>
                  <a:srgbClr val="202020"/>
                </a:solidFill>
                <a:latin typeface="Aptos"/>
                <a:ea typeface="Noto Sans CJK JP"/>
              </a:rPr>
              <a:t>RC：vC(t)=V∞+(V0−V∞)e^(−t/τ)</a:t>
            </a:r>
            <a:endParaRPr lang="ja-JP" sz="1700"/>
          </a:p>
          <a:p>
            <a:pPr algn="l"/>
            <a:r>
              <a:rPr lang="ja-JP" sz="1700">
                <a:solidFill>
                  <a:srgbClr val="202020"/>
                </a:solidFill>
                <a:latin typeface="Aptos"/>
                <a:ea typeface="Noto Sans CJK JP"/>
              </a:rPr>
              <a:t>τ=RC</a:t>
            </a:r>
            <a:endParaRPr lang="ja-JP" sz="1700"/>
          </a:p>
        </p:txBody>
      </p:sp>
      <p:sp>
        <p:nvSpPr>
          <p:cNvPr id="6" name="rlc"/>
          <p:cNvSpPr txBox="1"/>
          <p:nvPr/>
        </p:nvSpPr>
        <p:spPr>
          <a:xfrm>
            <a:off x="6172200" y="2267712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46304" rIns="146304" tIns="146304" bIns="146304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RLC：回路図からKCL/KVL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Lq″ + Rq′ + q/C = 0（直列自由応答の基本形）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WL=(1/2)Li² / WC=(1/2)Cv²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抵抗項は実際の回路図に従う</a:t>
            </a:r>
            <a:endParaRPr lang="ja-JP" sz="1600"/>
          </a:p>
        </p:txBody>
      </p:sp>
      <p:sp>
        <p:nvSpPr>
          <p:cNvPr id="7" name="answer"/>
          <p:cNvSpPr txBox="1"/>
          <p:nvPr/>
        </p:nvSpPr>
        <p:spPr>
          <a:xfrm>
            <a:off x="594360" y="4370832"/>
            <a:ext cx="10972800" cy="603504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9ED9AC"/>
            </a:solidFill>
          </a:ln>
        </p:spPr>
        <p:txBody>
          <a:bodyPr wrap="square" lIns="91440" rIns="91440" tIns="91440" bIns="91440" anchor="ctr"/>
          <a:lstStyle/>
          <a:p>
            <a:pPr algn="c"/>
            <a:r>
              <a:rPr lang="ja-JP" sz="1500" b="1">
                <a:solidFill>
                  <a:srgbClr val="275D38"/>
                </a:solidFill>
                <a:latin typeface="Aptos"/>
                <a:ea typeface="Noto Sans CJK JP"/>
              </a:rPr>
              <a:t>固定5答案要素：直流定常 ｜ RL過渡 ｜ KCL ｜ RLC微分方程式 ｜ 蓄積エネルギー</a:t>
            </a:r>
            <a:endParaRPr lang="ja-JP" sz="1500"/>
          </a:p>
        </p:txBody>
      </p:sp>
      <p:sp>
        <p:nvSpPr>
          <p:cNvPr id="8" name="example"/>
          <p:cNvSpPr txBox="1"/>
          <p:nvPr/>
        </p:nvSpPr>
        <p:spPr>
          <a:xfrm>
            <a:off x="685800" y="5230368"/>
            <a:ext cx="10698480" cy="65836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E0B95D"/>
            </a:solidFill>
          </a:ln>
        </p:spPr>
        <p:txBody>
          <a:bodyPr wrap="square" lIns="91440" rIns="91440" tIns="91440" bIns="91440" anchor="ctr"/>
          <a:lstStyle/>
          <a:p>
            <a:pPr algn="c"/>
            <a:r>
              <a:rPr lang="ja-JP" sz="1500" b="1">
                <a:solidFill>
                  <a:srgbClr val="202020"/>
                </a:solidFill>
                <a:latin typeface="Aptos"/>
                <a:ea typeface="Noto Sans CJK JP"/>
              </a:rPr>
              <a:t>代表点：E=100 V, R=2 Ω, L=0.5 H → τ=0.25 s, i(0.25 s)=31.6 A</a:t>
            </a:r>
            <a:endParaRPr lang="ja-JP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247120" cy="512064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Aptos"/>
                <a:ea typeface="Noto Sans CJK JP"/>
              </a:rPr>
              <a:t>4. 高調波：同じ次数だけを位相合成する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429768" y="749808"/>
            <a:ext cx="10972800" cy="347472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1100">
                <a:solidFill>
                  <a:srgbClr val="52606D"/>
                </a:solidFill>
                <a:latin typeface="Aptos"/>
                <a:ea typeface="Noto Sans CJK JP"/>
              </a:rPr>
              <a:t>H24 一次「機械」問3 (4)(5) → 2答案要素</a:t>
            </a:r>
            <a:endParaRPr lang="ja-JP" sz="1100"/>
          </a:p>
        </p:txBody>
      </p:sp>
      <p:sp>
        <p:nvSpPr>
          <p:cNvPr id="4" name="core"/>
          <p:cNvSpPr txBox="1"/>
          <p:nvPr/>
        </p:nvSpPr>
        <p:spPr>
          <a:xfrm>
            <a:off x="502920" y="123444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55448" rIns="155448" tIns="155448" bIns="155448" anchor="ctr"/>
          <a:lstStyle/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fn = n f0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波形全体の位相差φ → n次成分は nφ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同振幅Anの同一次数2成分：</a:t>
            </a:r>
            <a:endParaRPr lang="ja-JP" sz="1800"/>
          </a:p>
          <a:p>
            <a:pPr algn="l"/>
            <a:r>
              <a:rPr lang="ja-JP" sz="1800">
                <a:solidFill>
                  <a:srgbClr val="202020"/>
                </a:solidFill>
                <a:latin typeface="Aptos"/>
                <a:ea typeface="Noto Sans CJK JP"/>
              </a:rPr>
              <a:t>|Vn| = 2An |cos(nφ/2)|</a:t>
            </a:r>
            <a:endParaRPr lang="ja-JP" sz="1800"/>
          </a:p>
        </p:txBody>
      </p:sp>
      <p:sp>
        <p:nvSpPr>
          <p:cNvPr id="5" name="rule"/>
          <p:cNvSpPr txBox="1"/>
          <p:nvPr/>
        </p:nvSpPr>
        <p:spPr>
          <a:xfrm>
            <a:off x="6172200" y="1234440"/>
            <a:ext cx="5349240" cy="1874519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9ED9AC"/>
            </a:solidFill>
          </a:ln>
        </p:spPr>
        <p:txBody>
          <a:bodyPr wrap="square" lIns="155448" rIns="155448" tIns="155448" bIns="155448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合成ルール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○ 同じn次成分どうしを合成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× 異なる次数を一つのフェーザで足す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FFTの縦軸（最大値/片振幅/実効値）を明示</a:t>
            </a:r>
            <a:endParaRPr lang="ja-JP" sz="1600"/>
          </a:p>
        </p:txBody>
      </p:sp>
      <p:sp>
        <p:nvSpPr>
          <p:cNvPr id="6" name="answer"/>
          <p:cNvSpPr txBox="1"/>
          <p:nvPr/>
        </p:nvSpPr>
        <p:spPr>
          <a:xfrm>
            <a:off x="594360" y="3456432"/>
            <a:ext cx="10972800" cy="658368"/>
          </a:xfrm>
          <a:prstGeom prst="roundRect">
            <a:avLst/>
          </a:prstGeom>
          <a:solidFill>
            <a:srgbClr val="F0F8F2"/>
          </a:solidFill>
          <a:ln w="12700">
            <a:solidFill>
              <a:srgbClr val="9ED9AC"/>
            </a:solidFill>
          </a:ln>
        </p:spPr>
        <p:txBody>
          <a:bodyPr wrap="square" lIns="91440" rIns="91440" tIns="91440" bIns="91440" anchor="ctr"/>
          <a:lstStyle/>
          <a:p>
            <a:pPr algn="c"/>
            <a:r>
              <a:rPr lang="ja-JP" sz="1500" b="1">
                <a:solidFill>
                  <a:srgbClr val="275D38"/>
                </a:solidFill>
                <a:latin typeface="Aptos"/>
                <a:ea typeface="Noto Sans CJK JP"/>
              </a:rPr>
              <a:t>固定2答案要素：n次位相差・同一次数合成 ｜ 特定高調波低減・基本波合成振幅</a:t>
            </a:r>
            <a:endParaRPr lang="ja-JP" sz="1500"/>
          </a:p>
        </p:txBody>
      </p:sp>
      <p:sp>
        <p:nvSpPr>
          <p:cNvPr id="7" name="example"/>
          <p:cNvSpPr txBox="1"/>
          <p:nvPr/>
        </p:nvSpPr>
        <p:spPr>
          <a:xfrm>
            <a:off x="640080" y="4407408"/>
            <a:ext cx="10881360" cy="1042415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E0B95D"/>
            </a:solidFill>
          </a:ln>
        </p:spPr>
        <p:txBody>
          <a:bodyPr wrap="square" lIns="128016" rIns="128016" tIns="128016" bIns="128016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代表点：A1=100 V, A5=20 V, φ=π/6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基本波合成振幅 193.2 V / 5次合成振幅 10.35 V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5次でもφのまま使うのが典型ミス → 必ず5φへ変換</a:t>
            </a:r>
            <a:endParaRPr lang="ja-JP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247120" cy="512064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Aptos"/>
                <a:ea typeface="Noto Sans CJK JP"/>
              </a:rPr>
              <a:t>5. 計測：理想値・測定値・零位条件を分離する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429768" y="749808"/>
            <a:ext cx="10972800" cy="347472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1100">
                <a:solidFill>
                  <a:srgbClr val="52606D"/>
                </a:solidFill>
                <a:latin typeface="Aptos"/>
                <a:ea typeface="Noto Sans CJK JP"/>
              </a:rPr>
              <a:t>R8 一次「理論」問4 → 5答案要素</a:t>
            </a:r>
            <a:endParaRPr lang="ja-JP" sz="1100"/>
          </a:p>
        </p:txBody>
      </p:sp>
      <p:sp>
        <p:nvSpPr>
          <p:cNvPr id="4" name="error"/>
          <p:cNvSpPr txBox="1"/>
          <p:nvPr/>
        </p:nvSpPr>
        <p:spPr>
          <a:xfrm>
            <a:off x="502920" y="1234440"/>
            <a:ext cx="530352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55448" rIns="155448" tIns="155448" bIns="155448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基準値 x / 測定値 xm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符号付き相対誤差 ε=(xm−x)/x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問題文が別定義なら、その定義を優先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校正は標準量との対応を取る</a:t>
            </a:r>
            <a:endParaRPr lang="ja-JP" sz="1600"/>
          </a:p>
        </p:txBody>
      </p:sp>
      <p:sp>
        <p:nvSpPr>
          <p:cNvPr id="5" name="null"/>
          <p:cNvSpPr txBox="1"/>
          <p:nvPr/>
        </p:nvSpPr>
        <p:spPr>
          <a:xfrm>
            <a:off x="6126480" y="1234440"/>
            <a:ext cx="5394960" cy="1627632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9ED9AC"/>
            </a:solidFill>
          </a:ln>
        </p:spPr>
        <p:txBody>
          <a:bodyPr wrap="square" lIns="155448" rIns="155448" tIns="155448" bIns="155448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零位法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検出器の「0」を平衡条件として使う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検出器以外の電圧・電流が全て0ではない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未知量は平衡式から逆算</a:t>
            </a:r>
            <a:endParaRPr lang="ja-JP" sz="1600"/>
          </a:p>
        </p:txBody>
      </p:sp>
      <p:sp>
        <p:nvSpPr>
          <p:cNvPr id="6" name="bridge"/>
          <p:cNvSpPr txBox="1"/>
          <p:nvPr/>
        </p:nvSpPr>
        <p:spPr>
          <a:xfrm>
            <a:off x="548640" y="3182112"/>
            <a:ext cx="10972800" cy="932688"/>
          </a:xfrm>
          <a:prstGeom prst="roundRect">
            <a:avLst/>
          </a:prstGeom>
          <a:solidFill>
            <a:srgbClr val="E7F5FB"/>
          </a:solidFill>
          <a:ln w="12700">
            <a:solidFill>
              <a:srgbClr val="7EC8E3"/>
            </a:solidFill>
          </a:ln>
        </p:spPr>
        <p:txBody>
          <a:bodyPr wrap="square" lIns="128016" rIns="128016" tIns="128016" bIns="128016" anchor="ctr"/>
          <a:lstStyle/>
          <a:p>
            <a:pPr algn="c"/>
            <a:r>
              <a:rPr lang="ja-JP" sz="1800" b="1">
                <a:solidFill>
                  <a:srgbClr val="0B4F6C"/>
                </a:solidFill>
                <a:latin typeface="Aptos"/>
                <a:ea typeface="Noto Sans CJK JP"/>
              </a:rPr>
              <a:t>R8型直角相ブリッジ</a:t>
            </a:r>
            <a:endParaRPr lang="ja-JP" sz="1800"/>
          </a:p>
          <a:p>
            <a:pPr algn="c"/>
            <a:r>
              <a:rPr lang="ja-JP" sz="1800" b="1">
                <a:solidFill>
                  <a:srgbClr val="0B4F6C"/>
                </a:solidFill>
                <a:latin typeface="Aptos"/>
                <a:ea typeface="Noto Sans CJK JP"/>
              </a:rPr>
              <a:t>nU/(8Rs) = 2π f Cx U　→　Cx = n/(16π Rs f)</a:t>
            </a:r>
            <a:endParaRPr lang="ja-JP" sz="1800"/>
          </a:p>
        </p:txBody>
      </p:sp>
      <p:sp>
        <p:nvSpPr>
          <p:cNvPr id="7" name="answer"/>
          <p:cNvSpPr txBox="1"/>
          <p:nvPr/>
        </p:nvSpPr>
        <p:spPr>
          <a:xfrm>
            <a:off x="594360" y="4407408"/>
            <a:ext cx="10972800" cy="621792"/>
          </a:xfrm>
          <a:prstGeom prst="roundRect">
            <a:avLst/>
          </a:prstGeom>
          <a:solidFill>
            <a:srgbClr val="F0F8F2"/>
          </a:solidFill>
          <a:ln w="12700">
            <a:solidFill>
              <a:srgbClr val="9ED9AC"/>
            </a:solidFill>
          </a:ln>
        </p:spPr>
        <p:txBody>
          <a:bodyPr wrap="square" lIns="82296" rIns="82296" tIns="82296" bIns="82296" anchor="ctr"/>
          <a:lstStyle/>
          <a:p>
            <a:pPr algn="c"/>
            <a:r>
              <a:rPr lang="ja-JP" sz="1400" b="1">
                <a:solidFill>
                  <a:srgbClr val="275D38"/>
                </a:solidFill>
                <a:latin typeface="Aptos"/>
                <a:ea typeface="Noto Sans CJK JP"/>
              </a:rPr>
              <a:t>固定5答案要素：零位法 ｜ 90°位相差 ｜ 標準抵抗・未知容量 ｜ 検出器零条件 ｜ 周波数変更から校正</a:t>
            </a:r>
            <a:endParaRPr lang="ja-JP" sz="1400"/>
          </a:p>
        </p:txBody>
      </p:sp>
      <p:sp>
        <p:nvSpPr>
          <p:cNvPr id="8" name="example"/>
          <p:cNvSpPr txBox="1"/>
          <p:nvPr/>
        </p:nvSpPr>
        <p:spPr>
          <a:xfrm>
            <a:off x="685800" y="5266944"/>
            <a:ext cx="10698480" cy="603504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E0B95D"/>
            </a:solidFill>
          </a:ln>
        </p:spPr>
        <p:txBody>
          <a:bodyPr wrap="square" lIns="82296" rIns="82296" tIns="82296" bIns="82296" anchor="ctr"/>
          <a:lstStyle/>
          <a:p>
            <a:pPr algn="c"/>
            <a:r>
              <a:rPr lang="ja-JP" sz="1500" b="1">
                <a:solidFill>
                  <a:srgbClr val="202020"/>
                </a:solidFill>
                <a:latin typeface="Aptos"/>
                <a:ea typeface="Noto Sans CJK JP"/>
              </a:rPr>
              <a:t>代表点：n=4, Rs=100 kΩ, f=800 Hz → Cx=0.9947 nF</a:t>
            </a:r>
            <a:endParaRPr lang="ja-JP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247120" cy="512064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Aptos"/>
                <a:ea typeface="Noto Sans CJK JP"/>
              </a:rPr>
              <a:t>6. 統合シミュレーション：入力 → 理論 → 出力 → 独立検算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429768" y="749808"/>
            <a:ext cx="10972800" cy="347472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1100">
                <a:solidFill>
                  <a:srgbClr val="52606D"/>
                </a:solidFill>
                <a:latin typeface="Aptos"/>
                <a:ea typeface="Noto Sans CJK JP"/>
              </a:rPr>
              <a:t>系列SPECの入力例・出力例だけを使う</a:t>
            </a:r>
            <a:endParaRPr lang="ja-JP" sz="1100"/>
          </a:p>
        </p:txBody>
      </p:sp>
      <p:sp>
        <p:nvSpPr>
          <p:cNvPr id="4" name="input"/>
          <p:cNvSpPr txBox="1"/>
          <p:nvPr/>
        </p:nvSpPr>
        <p:spPr>
          <a:xfrm>
            <a:off x="502920" y="1188720"/>
            <a:ext cx="34015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46304" rIns="146304" tIns="146304" bIns="146304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入力例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電源電圧 / 周波数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R / L / C / 変圧比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PWM周波数 / 負荷条件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測定器条件</a:t>
            </a:r>
            <a:endParaRPr lang="ja-JP" sz="1600"/>
          </a:p>
        </p:txBody>
      </p:sp>
      <p:sp>
        <p:nvSpPr>
          <p:cNvPr id="5" name="model"/>
          <p:cNvSpPr txBox="1"/>
          <p:nvPr/>
        </p:nvSpPr>
        <p:spPr>
          <a:xfrm>
            <a:off x="4133087" y="1188720"/>
            <a:ext cx="3794760" cy="1874519"/>
          </a:xfrm>
          <a:prstGeom prst="roundRect">
            <a:avLst/>
          </a:prstGeom>
          <a:solidFill>
            <a:srgbClr val="E7F5FB"/>
          </a:solidFill>
          <a:ln w="12700">
            <a:solidFill>
              <a:srgbClr val="7EC8E3"/>
            </a:solidFill>
          </a:ln>
        </p:spPr>
        <p:txBody>
          <a:bodyPr wrap="square" lIns="146304" rIns="146304" tIns="146304" bIns="146304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処理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回路等価化 → フェーザ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P・Q・pf → 過渡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基本波・高調波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零位・校正・誤差</a:t>
            </a:r>
            <a:endParaRPr lang="ja-JP" sz="1600"/>
          </a:p>
        </p:txBody>
      </p:sp>
      <p:sp>
        <p:nvSpPr>
          <p:cNvPr id="6" name="output"/>
          <p:cNvSpPr txBox="1"/>
          <p:nvPr/>
        </p:nvSpPr>
        <p:spPr>
          <a:xfrm>
            <a:off x="8165592" y="1188720"/>
            <a:ext cx="340156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46304" rIns="146304" tIns="146304" bIns="146304" anchor="ctr"/>
          <a:lstStyle/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出力例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電圧 / 電流 / 位相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P / Q / 力率 / 過渡応答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PWM波形 / FFT</a:t>
            </a:r>
            <a:endParaRPr lang="ja-JP" sz="1600"/>
          </a:p>
          <a:p>
            <a:pPr algn="l"/>
            <a:r>
              <a:rPr lang="ja-JP" sz="1600">
                <a:solidFill>
                  <a:srgbClr val="202020"/>
                </a:solidFill>
                <a:latin typeface="Aptos"/>
                <a:ea typeface="Noto Sans CJK JP"/>
              </a:rPr>
              <a:t>測定誤差</a:t>
            </a:r>
            <a:endParaRPr lang="ja-JP" sz="1600"/>
          </a:p>
        </p:txBody>
      </p:sp>
      <p:sp>
        <p:nvSpPr>
          <p:cNvPr id="7" name="verify"/>
          <p:cNvSpPr txBox="1"/>
          <p:nvPr/>
        </p:nvSpPr>
        <p:spPr>
          <a:xfrm>
            <a:off x="594360" y="3474720"/>
            <a:ext cx="10972800" cy="749808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9ED9AC"/>
            </a:solidFill>
          </a:ln>
        </p:spPr>
        <p:txBody>
          <a:bodyPr wrap="square" lIns="109728" rIns="109728" tIns="109728" bIns="109728" anchor="ctr"/>
          <a:lstStyle/>
          <a:p>
            <a:pPr algn="c"/>
            <a:r>
              <a:rPr lang="ja-JP" sz="1600" b="1">
                <a:solidFill>
                  <a:srgbClr val="275D38"/>
                </a:solidFill>
                <a:latin typeface="Aptos"/>
                <a:ea typeface="Noto Sans CJK JP"/>
              </a:rPr>
              <a:t>代表点は手計算または別手法で独立再計算 → プログラム出力だけを正しさの根拠にしない</a:t>
            </a:r>
            <a:endParaRPr lang="ja-JP" sz="1600"/>
          </a:p>
        </p:txBody>
      </p:sp>
      <p:sp>
        <p:nvSpPr>
          <p:cNvPr id="8" name="boundary"/>
          <p:cNvSpPr txBox="1"/>
          <p:nvPr/>
        </p:nvSpPr>
        <p:spPr>
          <a:xfrm>
            <a:off x="658368" y="4553712"/>
            <a:ext cx="10835640" cy="9326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E0B95D"/>
            </a:solidFill>
          </a:ln>
        </p:spPr>
        <p:txBody>
          <a:bodyPr wrap="square" lIns="118872" rIns="118872" tIns="118872" bIns="118872" anchor="ctr"/>
          <a:lstStyle/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実車仕様として置かないもの</a:t>
            </a:r>
            <a:endParaRPr lang="ja-JP" sz="1400"/>
          </a:p>
          <a:p>
            <a:pPr algn="l"/>
            <a:r>
              <a:rPr lang="ja-JP" sz="1400">
                <a:solidFill>
                  <a:srgbClr val="202020"/>
                </a:solidFill>
                <a:latin typeface="Aptos"/>
                <a:ea typeface="Noto Sans CJK JP"/>
              </a:rPr>
              <a:t>East i内部主回路 / 実車PWM方式・周波数 / センサ方式・変成比・帯域 / ADC bit数・サンプリング周波数</a:t>
            </a:r>
            <a:endParaRPr lang="ja-JP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247120" cy="512064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Aptos"/>
                <a:ea typeface="Noto Sans CJK JP"/>
              </a:rPr>
              <a:t>7. 過去問対応と品質ゲート</a:t>
            </a:r>
            <a:endParaRPr lang="ja-JP" sz="2600"/>
          </a:p>
        </p:txBody>
      </p:sp>
      <p:sp>
        <p:nvSpPr>
          <p:cNvPr id="3" name="sub"/>
          <p:cNvSpPr txBox="1"/>
          <p:nvPr/>
        </p:nvSpPr>
        <p:spPr>
          <a:xfrm>
            <a:off x="429768" y="749808"/>
            <a:ext cx="10972800" cy="347472"/>
          </a:xfrm>
          <a:noFill/>
          <a:ln>
            <a:noFill/>
          </a:ln>
        </p:spPr>
        <p:txBody>
          <a:bodyPr wrap="square" lIns="91440" rIns="91440" tIns="91440" bIns="91440" anchor="ctr"/>
          <a:lstStyle/>
          <a:p>
            <a:pPr algn="l"/>
            <a:r>
              <a:rPr lang="ja-JP" sz="1100">
                <a:solidFill>
                  <a:srgbClr val="52606D"/>
                </a:solidFill>
                <a:latin typeface="Aptos"/>
                <a:ea typeface="Noto Sans CJK JP"/>
              </a:rPr>
              <a:t>固定5問・21答案要素を、このPowerPointだけでも追える状態にする</a:t>
            </a:r>
            <a:endParaRPr lang="ja-JP" sz="1100"/>
          </a:p>
        </p:txBody>
      </p:sp>
      <p:sp>
        <p:nvSpPr>
          <p:cNvPr id="4" name="matrix"/>
          <p:cNvSpPr txBox="1"/>
          <p:nvPr/>
        </p:nvSpPr>
        <p:spPr>
          <a:xfrm>
            <a:off x="502920" y="1143000"/>
            <a:ext cx="6858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2CC"/>
            </a:solidFill>
          </a:ln>
        </p:spPr>
        <p:txBody>
          <a:bodyPr wrap="square" lIns="164592" rIns="164592" tIns="164592" bIns="164592" anchor="ctr"/>
          <a:lstStyle/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R8 一次 理論 問3　回路網・テブナン・相反定理　5/5</a:t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R8 一次 理論 問4　校正・零位法・測定　　　　　5/5</a:t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R8 一次 理論 問6　RC/RL/RLC過渡　　　　　　 5/5</a:t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H24 一次 機械 問3(4)(5)　基本波・高調波　　　2/2</a:t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R2 二次 電力・管理 問6(1)〜(3)　P/Q/S・力率　4/4</a:t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/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一次 17/17 + 二次 4/4 = 21/21</a:t>
            </a:r>
            <a:endParaRPr lang="ja-JP" sz="1500"/>
          </a:p>
          <a:p>
            <a:pPr algn="l"/>
            <a:r>
              <a:rPr lang="ja-JP" sz="1500">
                <a:solidFill>
                  <a:srgbClr val="202020"/>
                </a:solidFill>
                <a:latin typeface="Aptos"/>
                <a:ea typeface="Noto Sans CJK JP"/>
              </a:rPr>
              <a:t>二次数合わせ 0 / 固定範囲外追加 0 / 仕様追加 0</a:t>
            </a:r>
            <a:endParaRPr lang="ja-JP" sz="1500"/>
          </a:p>
        </p:txBody>
      </p:sp>
      <p:sp>
        <p:nvSpPr>
          <p:cNvPr id="5" name="sources"/>
          <p:cNvSpPr txBox="1"/>
          <p:nvPr/>
        </p:nvSpPr>
        <p:spPr>
          <a:xfrm>
            <a:off x="7635240" y="1143000"/>
            <a:ext cx="3931920" cy="3474720"/>
          </a:xfrm>
          <a:prstGeom prst="roundRect">
            <a:avLst/>
          </a:prstGeom>
          <a:solidFill>
            <a:srgbClr val="E7F5FB"/>
          </a:solidFill>
          <a:ln w="12700">
            <a:solidFill>
              <a:srgbClr val="7EC8E3"/>
            </a:solidFill>
          </a:ln>
        </p:spPr>
        <p:txBody>
          <a:bodyPr wrap="square" lIns="146304" rIns="146304" tIns="146304" bIns="146304" anchor="ctr"/>
          <a:lstStyle/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主要出典</a:t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電気技術者試験センター</a:t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第二種 過去問題・解答</a:t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https://www.shiken.or.jp/chief/second/qa/</a:t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/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教材内正本</a:t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MASTER_SPEC.md</a:t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EXAM_ALIGNMENT_SPEC.md</a:t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08_shinkansen_theory_2/SPEC.md</a:t>
            </a:r>
            <a:endParaRPr lang="ja-JP" sz="1300"/>
          </a:p>
          <a:p>
            <a:pPr algn="l"/>
            <a:r>
              <a:rPr lang="ja-JP" sz="1300">
                <a:solidFill>
                  <a:srgbClr val="202020"/>
                </a:solidFill>
                <a:latin typeface="Aptos"/>
                <a:ea typeface="Noto Sans CJK JP"/>
              </a:rPr>
              <a:t>Topic 21 source</a:t>
            </a:r>
            <a:endParaRPr lang="ja-JP" sz="1300"/>
          </a:p>
        </p:txBody>
      </p:sp>
      <p:sp>
        <p:nvSpPr>
          <p:cNvPr id="6" name="verdict"/>
          <p:cNvSpPr txBox="1"/>
          <p:nvPr/>
        </p:nvSpPr>
        <p:spPr>
          <a:xfrm>
            <a:off x="640080" y="5010912"/>
            <a:ext cx="10835640" cy="786384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9ED9AC"/>
            </a:solidFill>
          </a:ln>
        </p:spPr>
        <p:txBody>
          <a:bodyPr wrap="square" lIns="91440" rIns="91440" tIns="91440" bIns="91440" anchor="ctr"/>
          <a:lstStyle/>
          <a:p>
            <a:pPr algn="c"/>
            <a:r>
              <a:rPr lang="ja-JP" sz="1800" b="1">
                <a:solidFill>
                  <a:srgbClr val="275D38"/>
                </a:solidFill>
                <a:latin typeface="Aptos"/>
                <a:ea typeface="Noto Sans CJK JP"/>
              </a:rPr>
              <a:t>POWERPOINT_COMPLETE　｜　表示QA 8/8 PASS　｜　次工程：完成後独立再解答</a:t>
            </a:r>
            <a:endParaRPr lang="ja-JP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n">
  <a:themeElements>
    <a:clrScheme name="Lean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an">
      <a:majorFont>
        <a:latin typeface="Aptos Display"/>
        <a:ea typeface="Noto Sans CJK JP"/>
        <a:cs typeface=""/>
      </a:majorFont>
      <a:minorFont>
        <a:latin typeface="Aptos"/>
        <a:ea typeface="Noto Sans CJK JP"/>
        <a:cs typeface=""/>
      </a:minorFont>
    </a:fontScheme>
    <a:fmtScheme name="Lean">
      <a:fillStyleLst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0</Notes>
  <HiddenSlides>0</HiddenSlides>
  <ScaleCrop>false</ScaleCrop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21 架線からEast iまで全部シミュレーションする</dc:title>
  <dc:creator>OpenAI</dc:creator>
  <cp:lastModifiedBy>OpenAI</cp:lastModifiedBy>
  <dcterms:created xsi:type="dcterms:W3CDTF">2026-09-19T05:49:00Z</dcterms:created>
  <dcterms:modified xsi:type="dcterms:W3CDTF">2026-09-19T05:49:00Z</dcterms:modified>
</cp:coreProperties>
</file>