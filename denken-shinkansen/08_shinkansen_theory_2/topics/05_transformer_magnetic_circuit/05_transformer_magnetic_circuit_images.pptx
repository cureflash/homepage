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</p:presentation>
</file>

<file path=ppt/_rels/presentation.xml.rels><?xml version="1.0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/Relationships>
</file>

<file path=ppt/slideLayouts/_rels/slideLayout1.xml.rels><?xml version="1.0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accent1="4F81BD" accent2="C0504D" accent3="9BBB59" accent4="8064A2" accent5="4BACC6" accent6="F79646" bg1="FFFFFF" bg2="EEECE1" folHlink="800080" hlink="0000FF" tx1="000000" tx2="1F497D"/>
  <p:sldLayoutIdLst>
    <p:sldLayoutId id="1" r:id="rId1"/>
  </p:sldLayoutIdLst>
  <p:txStyles/>
</p:sldMaster>
</file>

<file path=ppt/slides/_rels/slide1.xml.rels><?xml version="1.0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 txBox="1"/>
          <p:nvPr/>
        </p:nvSpPr>
        <p:spPr>
          <a:xfrm>
            <a:off x="450000" y="250000"/>
            <a:ext cx="11300000" cy="65000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120000" tIns="100000" rIns="120000" bIns="100000"/>
          <a:lstStyle/>
          <a:p>
            <a:r>
              <a:rPr lang="ja-JP" sz="2600" b="1"/>
              <a:t>05 0系主変圧器の鉄心には何が起きている？</a:t>
            </a:r>
            <a:endParaRPr lang="ja-JP" sz="2600"/>
          </a:p>
        </p:txBody>
      </p:sp>
      <p:sp>
        <p:nvSpPr>
          <p:cNvPr id="3" name="t3"/>
          <p:cNvSpPr txBox="1"/>
          <p:nvPr/>
        </p:nvSpPr>
        <p:spPr>
          <a:xfrm>
            <a:off x="800000" y="1300000"/>
            <a:ext cx="10600000" cy="4300000"/>
          </a:xfrm>
          <a:prstGeom prst="rect">
            <a:avLst/>
          </a:prstGeom>
          <a:solidFill>
            <a:srgbClr val="F7FAFC"/>
          </a:solidFill>
          <a:ln>
            <a:solidFill>
              <a:srgbClr val="CBD5E1"/>
            </a:solidFill>
          </a:ln>
        </p:spPr>
        <p:txBody>
          <a:bodyPr wrap="square" lIns="120000" tIns="100000" rIns="120000" bIns="100000"/>
          <a:lstStyle/>
          <a:p>
            <a:r>
              <a:rPr lang="ja-JP" sz="2200" b="1"/>
              <a:t>I → NI → H → B → Φ</a:t>
            </a:r>
            <a:endParaRPr lang="ja-JP" sz="2200"/>
          </a:p>
          <a:p>
            <a:r>
              <a:rPr lang="ja-JP" sz="1800" b="1"/>
              <a:t>柱1：アンペアの周回積分</a:t>
            </a:r>
            <a:endParaRPr lang="ja-JP" sz="1800"/>
          </a:p>
          <a:p>
            <a:r>
              <a:rPr lang="ja-JP" sz="1800" b="1"/>
              <a:t>柱2：起磁力・磁気抵抗・磁気回路</a:t>
            </a:r>
            <a:endParaRPr lang="ja-JP" sz="1800"/>
          </a:p>
          <a:p>
            <a:r>
              <a:rPr lang="ja-JP" sz="1800" b="1"/>
              <a:t>柱3：B-H曲線・ヒステリシス・磁気エネルギー</a:t>
            </a:r>
            <a:endParaRPr lang="ja-JP" sz="1800"/>
          </a:p>
          <a:p>
            <a:r>
              <a:rPr lang="ja-JP" sz="1600"/>
              <a:t>固定範囲だけで一次5問・16小問へ接続する。</a:t>
            </a:r>
            <a:endParaRPr lang="ja-JP" sz="1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 txBox="1"/>
          <p:nvPr/>
        </p:nvSpPr>
        <p:spPr>
          <a:xfrm>
            <a:off x="450000" y="250000"/>
            <a:ext cx="11300000" cy="65000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120000" tIns="100000" rIns="120000" bIns="100000"/>
          <a:lstStyle/>
          <a:p>
            <a:r>
              <a:rPr lang="ja-JP" sz="2600" b="1"/>
              <a:t>アンペアの周回積分：R5・R6</a:t>
            </a:r>
            <a:endParaRPr lang="ja-JP" sz="2600"/>
          </a:p>
        </p:txBody>
      </p:sp>
      <p:sp>
        <p:nvSpPr>
          <p:cNvPr id="3" name="t3"/>
          <p:cNvSpPr txBox="1"/>
          <p:nvPr/>
        </p:nvSpPr>
        <p:spPr>
          <a:xfrm>
            <a:off x="800000" y="1300000"/>
            <a:ext cx="10600000" cy="4300000"/>
          </a:xfrm>
          <a:prstGeom prst="rect">
            <a:avLst/>
          </a:prstGeom>
          <a:solidFill>
            <a:srgbClr val="F7FAFC"/>
          </a:solidFill>
          <a:ln>
            <a:solidFill>
              <a:srgbClr val="CBD5E1"/>
            </a:solidFill>
          </a:ln>
        </p:spPr>
        <p:txBody>
          <a:bodyPr wrap="square" lIns="120000" tIns="100000" rIns="120000" bIns="100000"/>
          <a:lstStyle/>
          <a:p>
            <a:r>
              <a:rPr lang="ja-JP" sz="1900" b="1"/>
              <a:t>無限長直線電流：B(r)=μ₀I/(2πr)</a:t>
            </a:r>
            <a:endParaRPr lang="ja-JP" sz="1900"/>
          </a:p>
          <a:p>
            <a:r>
              <a:rPr lang="ja-JP" sz="1750"/>
              <a:t>円柱導体内部：I_enclosed=I r²/a² → H(r)=Ir/(2πa²)</a:t>
            </a:r>
            <a:endParaRPr lang="ja-JP" sz="1750"/>
          </a:p>
          <a:p>
            <a:r>
              <a:rPr lang="ja-JP" sz="1750"/>
              <a:t>磁気エネルギー：w_m=BH/2=μH²/2、W=∫w_m dV</a:t>
            </a:r>
            <a:endParaRPr lang="ja-JP" sz="1750"/>
          </a:p>
          <a:p>
            <a:r>
              <a:rPr lang="ja-JP" sz="1750"/>
              <a:t>円柱導体内部・単位長さ：W′=μI²/(16π)</a:t>
            </a:r>
            <a:endParaRPr lang="ja-JP" sz="1750"/>
          </a:p>
          <a:p>
            <a:r>
              <a:rPr lang="ja-JP" sz="1600"/>
              <a:t>R5 問2(1)、R6 問2(1)(2) に対応。</a:t>
            </a:r>
            <a:endParaRPr lang="ja-JP"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 txBox="1"/>
          <p:nvPr/>
        </p:nvSpPr>
        <p:spPr>
          <a:xfrm>
            <a:off x="450000" y="250000"/>
            <a:ext cx="11300000" cy="65000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120000" tIns="100000" rIns="120000" bIns="100000"/>
          <a:lstStyle/>
          <a:p>
            <a:r>
              <a:rPr lang="ja-JP" sz="2600" b="1"/>
              <a:t>磁気回路：R4・H30</a:t>
            </a:r>
            <a:endParaRPr lang="ja-JP" sz="2600"/>
          </a:p>
        </p:txBody>
      </p:sp>
      <p:sp>
        <p:nvSpPr>
          <p:cNvPr id="3" name="t3"/>
          <p:cNvSpPr txBox="1"/>
          <p:nvPr/>
        </p:nvSpPr>
        <p:spPr>
          <a:xfrm>
            <a:off x="800000" y="1300000"/>
            <a:ext cx="10600000" cy="4300000"/>
          </a:xfrm>
          <a:prstGeom prst="rect">
            <a:avLst/>
          </a:prstGeom>
          <a:solidFill>
            <a:srgbClr val="F7FAFC"/>
          </a:solidFill>
          <a:ln>
            <a:solidFill>
              <a:srgbClr val="CBD5E1"/>
            </a:solidFill>
          </a:ln>
        </p:spPr>
        <p:txBody>
          <a:bodyPr wrap="square" lIns="120000" tIns="100000" rIns="120000" bIns="100000"/>
          <a:lstStyle/>
          <a:p>
            <a:r>
              <a:rPr lang="ja-JP" sz="1900" b="1"/>
              <a:t>起磁力 F_m=NI　　磁気抵抗 R_m=l/(μS)</a:t>
            </a:r>
            <a:endParaRPr lang="ja-JP" sz="1900"/>
          </a:p>
          <a:p>
            <a:r>
              <a:rPr lang="ja-JP" sz="1800"/>
              <a:t>磁束 Φ=NI/R_m　　磁束密度 B=Φ/S</a:t>
            </a:r>
            <a:endParaRPr lang="ja-JP" sz="1800"/>
          </a:p>
          <a:p>
            <a:r>
              <a:rPr lang="ja-JP" sz="1750"/>
              <a:t>空隙：R_total=R_fe+R_g、R_g=g/(μ₀S)</a:t>
            </a:r>
            <a:endParaRPr lang="ja-JP" sz="1750"/>
          </a:p>
          <a:p>
            <a:r>
              <a:rPr lang="ja-JP" sz="1700"/>
              <a:t>環状鉄心の厳密式：B(r)=μNI/(2πr)、Φ∝ln(b/a)</a:t>
            </a:r>
            <a:endParaRPr lang="ja-JP" sz="1700"/>
          </a:p>
          <a:p>
            <a:r>
              <a:rPr lang="ja-JP" sz="1600"/>
              <a:t>R4 問2(1)〜(5)、H30 問2(1)〜(3) に対応。</a:t>
            </a:r>
            <a:endParaRPr lang="ja-JP"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 txBox="1"/>
          <p:nvPr/>
        </p:nvSpPr>
        <p:spPr>
          <a:xfrm>
            <a:off x="450000" y="250000"/>
            <a:ext cx="11300000" cy="65000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120000" tIns="100000" rIns="120000" bIns="100000"/>
          <a:lstStyle/>
          <a:p>
            <a:r>
              <a:rPr lang="ja-JP" sz="2600" b="1"/>
              <a:t>B-H曲線とヒステリシス：R3</a:t>
            </a:r>
            <a:endParaRPr lang="ja-JP" sz="2600"/>
          </a:p>
        </p:txBody>
      </p:sp>
      <p:sp>
        <p:nvSpPr>
          <p:cNvPr id="3" name="t3"/>
          <p:cNvSpPr txBox="1"/>
          <p:nvPr/>
        </p:nvSpPr>
        <p:spPr>
          <a:xfrm>
            <a:off x="800000" y="1300000"/>
            <a:ext cx="10600000" cy="4300000"/>
          </a:xfrm>
          <a:prstGeom prst="rect">
            <a:avLst/>
          </a:prstGeom>
          <a:solidFill>
            <a:srgbClr val="F7FAFC"/>
          </a:solidFill>
          <a:ln>
            <a:solidFill>
              <a:srgbClr val="CBD5E1"/>
            </a:solidFill>
          </a:ln>
        </p:spPr>
        <p:txBody>
          <a:bodyPr wrap="square" lIns="120000" tIns="100000" rIns="120000" bIns="100000"/>
          <a:lstStyle/>
          <a:p>
            <a:r>
              <a:rPr lang="ja-JP" sz="1850" b="1"/>
              <a:t>磁気飽和：Hを増やしてもBの増加が鈍る。</a:t>
            </a:r>
            <a:endParaRPr lang="ja-JP" sz="1850"/>
          </a:p>
          <a:p>
            <a:r>
              <a:rPr lang="ja-JP" sz="1750"/>
              <a:t>残留磁束密度 B_r：H=0でも残るB</a:t>
            </a:r>
            <a:endParaRPr lang="ja-JP" sz="1750"/>
          </a:p>
          <a:p>
            <a:r>
              <a:rPr lang="ja-JP" sz="1750"/>
              <a:t>保磁力 H_c：B=0に戻す逆向きH</a:t>
            </a:r>
            <a:endParaRPr lang="ja-JP" sz="1750"/>
          </a:p>
          <a:p>
            <a:r>
              <a:rPr lang="ja-JP" sz="1700"/>
              <a:t>ヒステリシスループ面積 W_h → 1周期・単位体積の損失</a:t>
            </a:r>
            <a:endParaRPr lang="ja-JP" sz="1700"/>
          </a:p>
          <a:p>
            <a:r>
              <a:rPr lang="ja-JP" sz="1650"/>
              <a:t>P_h=W_h V f。R3 問2(1)〜(5) に対応。</a:t>
            </a:r>
            <a:endParaRPr lang="ja-JP" sz="16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 txBox="1"/>
          <p:nvPr/>
        </p:nvSpPr>
        <p:spPr>
          <a:xfrm>
            <a:off x="450000" y="250000"/>
            <a:ext cx="11300000" cy="65000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120000" tIns="100000" rIns="120000" bIns="100000"/>
          <a:lstStyle/>
          <a:p>
            <a:r>
              <a:rPr lang="ja-JP" sz="2600" b="1"/>
              <a:t>過去問対応品質ゲート</a:t>
            </a:r>
            <a:endParaRPr lang="ja-JP" sz="2600"/>
          </a:p>
        </p:txBody>
      </p:sp>
      <p:sp>
        <p:nvSpPr>
          <p:cNvPr id="3" name="t3"/>
          <p:cNvSpPr txBox="1"/>
          <p:nvPr/>
        </p:nvSpPr>
        <p:spPr>
          <a:xfrm>
            <a:off x="800000" y="1300000"/>
            <a:ext cx="10600000" cy="4300000"/>
          </a:xfrm>
          <a:prstGeom prst="rect">
            <a:avLst/>
          </a:prstGeom>
          <a:solidFill>
            <a:srgbClr val="F7FAFC"/>
          </a:solidFill>
          <a:ln>
            <a:solidFill>
              <a:srgbClr val="CBD5E1"/>
            </a:solidFill>
          </a:ln>
        </p:spPr>
        <p:txBody>
          <a:bodyPr wrap="square" lIns="120000" tIns="100000" rIns="120000" bIns="100000"/>
          <a:lstStyle/>
          <a:p>
            <a:r>
              <a:rPr lang="ja-JP" sz="1750" b="1"/>
              <a:t>固定：R6 問2(1)(2)／R5 問2(1)／R4 問2(1)〜(5)</a:t>
            </a:r>
            <a:endParaRPr lang="ja-JP" sz="1750"/>
          </a:p>
          <a:p>
            <a:r>
              <a:rPr lang="ja-JP" sz="1750" b="1"/>
              <a:t>　　　R3 問2(1)〜(5)／H30 問2(1)〜(3)＝計5問・16小問</a:t>
            </a:r>
            <a:endParaRPr lang="ja-JP" sz="1750"/>
          </a:p>
          <a:p>
            <a:r>
              <a:rPr lang="ja-JP" sz="1650"/>
              <a:t>除外：ファラデー、自己・相互インダクタンス、表皮効果、同期機特性</a:t>
            </a:r>
            <a:endParaRPr lang="ja-JP" sz="1650"/>
          </a:p>
          <a:p>
            <a:r>
              <a:rPr lang="ja-JP" sz="1650"/>
              <a:t>二次R7〜R5：固定範囲の直接対応なし → 数合わせで追加しない。</a:t>
            </a:r>
            <a:endParaRPr lang="ja-JP" sz="1650"/>
          </a:p>
          <a:p>
            <a:r>
              <a:rPr lang="ja-JP" sz="1700" b="1"/>
              <a:t>次工程：完成教材のみで固定5問・16小問を独立再解答。</a:t>
            </a:r>
            <a:endParaRPr lang="ja-JP" sz="17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">
  <a:themeElements>
    <a:clrScheme name="c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f">
      <a:majorFont>
        <a:latin typeface="Arial"/>
        <a:ea typeface="Noto Sans CJK JP"/>
        <a:cs typeface="Arial"/>
      </a:majorFont>
      <a:minorFont>
        <a:latin typeface="Arial"/>
        <a:ea typeface="Noto Sans CJK JP"/>
        <a:cs typeface="Arial"/>
      </a:minorFont>
    </a:fontScheme>
    <a:fmtScheme name="x">
      <a:fillStyleLst>
        <a:solidFill>
          <a:schemeClr val="phClr"/>
        </a:solidFill>
      </a:fillStyleLst>
      <a:lnStyleLst>
        <a:ln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