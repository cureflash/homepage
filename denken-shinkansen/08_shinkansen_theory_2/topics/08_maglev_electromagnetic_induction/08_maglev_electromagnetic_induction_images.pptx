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0000" y="25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3000" b="1"/>
              <a:t>Topic 08  電磁誘導・電磁力</a:t>
            </a:r>
            <a:endParaRPr lang="ja-JP" sz="3000"/>
          </a:p>
        </p:txBody>
      </p:sp>
      <p:sp>
        <p:nvSpPr>
          <p:cNvPr id="3" name="Item3"/>
          <p:cNvSpPr txBox="1"/>
          <p:nvPr/>
        </p:nvSpPr>
        <p:spPr>
          <a:xfrm>
            <a:off x="900000" y="12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電験二種 理論｜固定範囲だけを可視化</a:t>
            </a:r>
            <a:endParaRPr lang="ja-JP" sz="2100"/>
          </a:p>
        </p:txBody>
      </p:sp>
      <p:sp>
        <p:nvSpPr>
          <p:cNvPr id="4" name="Item4"/>
          <p:cNvSpPr txBox="1"/>
          <p:nvPr/>
        </p:nvSpPr>
        <p:spPr>
          <a:xfrm>
            <a:off x="900000" y="21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磁束変化 → 誘導起電力 → 誘導電流 → 電磁力</a:t>
            </a:r>
            <a:endParaRPr lang="ja-JP" sz="2100"/>
          </a:p>
        </p:txBody>
      </p:sp>
      <p:sp>
        <p:nvSpPr>
          <p:cNvPr id="5" name="Item5"/>
          <p:cNvSpPr txBox="1"/>
          <p:nvPr/>
        </p:nvSpPr>
        <p:spPr>
          <a:xfrm>
            <a:off x="900000" y="31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L0系: 超電導磁石 → 地上コイル → 浮上・案内</a:t>
            </a:r>
            <a:endParaRPr lang="ja-JP" sz="2100"/>
          </a:p>
        </p:txBody>
      </p:sp>
      <p:sp>
        <p:nvSpPr>
          <p:cNvPr id="6" name="Item6"/>
          <p:cNvSpPr txBox="1"/>
          <p:nvPr/>
        </p:nvSpPr>
        <p:spPr>
          <a:xfrm>
            <a:off x="900000" y="40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磁気エネルギー: W = 1/2 LI²</a:t>
            </a:r>
            <a:endParaRPr lang="ja-JP" sz="2100"/>
          </a:p>
        </p:txBody>
      </p:sp>
      <p:sp>
        <p:nvSpPr>
          <p:cNvPr id="7" name="Item7"/>
          <p:cNvSpPr txBox="1"/>
          <p:nvPr/>
        </p:nvSpPr>
        <p:spPr>
          <a:xfrm>
            <a:off x="900000" y="50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品質ゲート: 一次4問・6小問｜二次数合わせ 0</a:t>
            </a:r>
            <a:endParaRPr lang="ja-JP" sz="2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0000" y="25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3000" b="1"/>
              <a:t>ファラデー則とレンツの法則</a:t>
            </a:r>
            <a:endParaRPr lang="ja-JP" sz="3000"/>
          </a:p>
        </p:txBody>
      </p:sp>
      <p:sp>
        <p:nvSpPr>
          <p:cNvPr id="3" name="Item3"/>
          <p:cNvSpPr txBox="1"/>
          <p:nvPr/>
        </p:nvSpPr>
        <p:spPr>
          <a:xfrm>
            <a:off x="900000" y="12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λ = NΦ</a:t>
            </a:r>
            <a:endParaRPr lang="ja-JP" sz="2100"/>
          </a:p>
        </p:txBody>
      </p:sp>
      <p:sp>
        <p:nvSpPr>
          <p:cNvPr id="4" name="Item4"/>
          <p:cNvSpPr txBox="1"/>
          <p:nvPr/>
        </p:nvSpPr>
        <p:spPr>
          <a:xfrm>
            <a:off x="900000" y="21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e = -dλ/dt = -N dΦ/dt</a:t>
            </a:r>
            <a:endParaRPr lang="ja-JP" sz="2100"/>
          </a:p>
        </p:txBody>
      </p:sp>
      <p:sp>
        <p:nvSpPr>
          <p:cNvPr id="5" name="Item5"/>
          <p:cNvSpPr txBox="1"/>
          <p:nvPr/>
        </p:nvSpPr>
        <p:spPr>
          <a:xfrm>
            <a:off x="900000" y="31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位置変化なら v = dl/dt を使い  e = -v dλ/dl</a:t>
            </a:r>
            <a:endParaRPr lang="ja-JP" sz="2100"/>
          </a:p>
        </p:txBody>
      </p:sp>
      <p:sp>
        <p:nvSpPr>
          <p:cNvPr id="6" name="Item6"/>
          <p:cNvSpPr txBox="1"/>
          <p:nvPr/>
        </p:nvSpPr>
        <p:spPr>
          <a:xfrm>
            <a:off x="900000" y="40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負号は『磁束変化を妨げる向き』を表す</a:t>
            </a:r>
            <a:endParaRPr lang="ja-JP" sz="2100"/>
          </a:p>
        </p:txBody>
      </p:sp>
      <p:sp>
        <p:nvSpPr>
          <p:cNvPr id="7" name="Item7"/>
          <p:cNvSpPr txBox="1"/>
          <p:nvPr/>
        </p:nvSpPr>
        <p:spPr>
          <a:xfrm>
            <a:off x="900000" y="50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解法: 磁束の増減 → 時間変化 → 起電力 → 向き</a:t>
            </a:r>
            <a:endParaRPr lang="ja-JP"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0000" y="25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3000" b="1"/>
              <a:t>誘導電流・渦電流・電磁力</a:t>
            </a:r>
            <a:endParaRPr lang="ja-JP" sz="3000"/>
          </a:p>
        </p:txBody>
      </p:sp>
      <p:sp>
        <p:nvSpPr>
          <p:cNvPr id="3" name="Item3"/>
          <p:cNvSpPr txBox="1"/>
          <p:nvPr/>
        </p:nvSpPr>
        <p:spPr>
          <a:xfrm>
            <a:off x="900000" y="12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閉回路: 誘導起電力 → 誘導電流</a:t>
            </a:r>
            <a:endParaRPr lang="ja-JP" sz="2100"/>
          </a:p>
        </p:txBody>
      </p:sp>
      <p:sp>
        <p:nvSpPr>
          <p:cNvPr id="4" name="Item4"/>
          <p:cNvSpPr txBox="1"/>
          <p:nvPr/>
        </p:nvSpPr>
        <p:spPr>
          <a:xfrm>
            <a:off x="900000" y="21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導体内部: 分布して流れる誘導電流 = 渦電流</a:t>
            </a:r>
            <a:endParaRPr lang="ja-JP" sz="2100"/>
          </a:p>
        </p:txBody>
      </p:sp>
      <p:sp>
        <p:nvSpPr>
          <p:cNvPr id="5" name="Item5"/>
          <p:cNvSpPr txBox="1"/>
          <p:nvPr/>
        </p:nvSpPr>
        <p:spPr>
          <a:xfrm>
            <a:off x="900000" y="31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誘導電流 + 外部磁界 → 電磁力</a:t>
            </a:r>
            <a:endParaRPr lang="ja-JP" sz="2100"/>
          </a:p>
        </p:txBody>
      </p:sp>
      <p:sp>
        <p:nvSpPr>
          <p:cNvPr id="6" name="Item6"/>
          <p:cNvSpPr txBox="1"/>
          <p:nvPr/>
        </p:nvSpPr>
        <p:spPr>
          <a:xfrm>
            <a:off x="900000" y="40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L0系への接続: 磁束変化 → 起電力 → 電流 → 力</a:t>
            </a:r>
            <a:endParaRPr lang="ja-JP" sz="2100"/>
          </a:p>
        </p:txBody>
      </p:sp>
      <p:sp>
        <p:nvSpPr>
          <p:cNvPr id="7" name="Item7"/>
          <p:cNvSpPr txBox="1"/>
          <p:nvPr/>
        </p:nvSpPr>
        <p:spPr>
          <a:xfrm>
            <a:off x="900000" y="50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超電導物性・冷却方式・推進用電力変換には広げない</a:t>
            </a:r>
            <a:endParaRPr lang="ja-JP"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0000" y="25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3000" b="1"/>
              <a:t>磁気エネルギー</a:t>
            </a:r>
            <a:endParaRPr lang="ja-JP" sz="3000"/>
          </a:p>
        </p:txBody>
      </p:sp>
      <p:sp>
        <p:nvSpPr>
          <p:cNvPr id="3" name="Item3"/>
          <p:cNvSpPr txBox="1"/>
          <p:nvPr/>
        </p:nvSpPr>
        <p:spPr>
          <a:xfrm>
            <a:off x="900000" y="12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単一コイル: W = 1/2 LI²  [J]</a:t>
            </a:r>
            <a:endParaRPr lang="ja-JP" sz="2100"/>
          </a:p>
        </p:txBody>
      </p:sp>
      <p:sp>
        <p:nvSpPr>
          <p:cNvPr id="4" name="Item4"/>
          <p:cNvSpPr txBox="1"/>
          <p:nvPr/>
        </p:nvSpPr>
        <p:spPr>
          <a:xfrm>
            <a:off x="900000" y="21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結合コイル: W = 1/2 L₁I₁² + 1/2 L₂I₂² ± MI₁I₂</a:t>
            </a:r>
            <a:endParaRPr lang="ja-JP" sz="2100"/>
          </a:p>
        </p:txBody>
      </p:sp>
      <p:sp>
        <p:nvSpPr>
          <p:cNvPr id="5" name="Item5"/>
          <p:cNvSpPr txBox="1"/>
          <p:nvPr/>
        </p:nvSpPr>
        <p:spPr>
          <a:xfrm>
            <a:off x="900000" y="31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加勢なら +、減勢なら −</a:t>
            </a:r>
            <a:endParaRPr lang="ja-JP" sz="2100"/>
          </a:p>
        </p:txBody>
      </p:sp>
      <p:sp>
        <p:nvSpPr>
          <p:cNvPr id="6" name="Item6"/>
          <p:cNvSpPr txBox="1"/>
          <p:nvPr/>
        </p:nvSpPr>
        <p:spPr>
          <a:xfrm>
            <a:off x="900000" y="40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例: L₁=0.20 H, L₂=0.10 H, M=0.040 H, I₁=2 A, I₂=3 A</a:t>
            </a:r>
            <a:endParaRPr lang="ja-JP" sz="2100"/>
          </a:p>
        </p:txBody>
      </p:sp>
      <p:sp>
        <p:nvSpPr>
          <p:cNvPr id="7" name="Item7"/>
          <p:cNvSpPr txBox="1"/>
          <p:nvPr/>
        </p:nvSpPr>
        <p:spPr>
          <a:xfrm>
            <a:off x="900000" y="50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加勢 1.09 J ／ 減勢 0.61 J</a:t>
            </a:r>
            <a:endParaRPr lang="ja-JP" sz="2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0000" y="250000"/>
            <a:ext cx="109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3000" b="1"/>
              <a:t>固定過去問への接続</a:t>
            </a:r>
            <a:endParaRPr lang="ja-JP" sz="3000"/>
          </a:p>
        </p:txBody>
      </p:sp>
      <p:sp>
        <p:nvSpPr>
          <p:cNvPr id="3" name="Item3"/>
          <p:cNvSpPr txBox="1"/>
          <p:nvPr/>
        </p:nvSpPr>
        <p:spPr>
          <a:xfrm>
            <a:off x="900000" y="12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R7 問2(2): 結合コイルの磁気エネルギー</a:t>
            </a:r>
            <a:endParaRPr lang="ja-JP" sz="2100"/>
          </a:p>
        </p:txBody>
      </p:sp>
      <p:sp>
        <p:nvSpPr>
          <p:cNvPr id="4" name="Item4"/>
          <p:cNvSpPr txBox="1"/>
          <p:nvPr/>
        </p:nvSpPr>
        <p:spPr>
          <a:xfrm>
            <a:off x="900000" y="21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R5 問2(2)〜(4): 磁束変化・v=dl/dt・ファラデー則</a:t>
            </a:r>
            <a:endParaRPr lang="ja-JP" sz="2100"/>
          </a:p>
        </p:txBody>
      </p:sp>
      <p:sp>
        <p:nvSpPr>
          <p:cNvPr id="5" name="Item5"/>
          <p:cNvSpPr txBox="1"/>
          <p:nvPr/>
        </p:nvSpPr>
        <p:spPr>
          <a:xfrm>
            <a:off x="900000" y="31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R2 問2(2): W = 1/2 LI²</a:t>
            </a:r>
            <a:endParaRPr lang="ja-JP" sz="2100"/>
          </a:p>
        </p:txBody>
      </p:sp>
      <p:sp>
        <p:nvSpPr>
          <p:cNvPr id="6" name="Item6"/>
          <p:cNvSpPr txBox="1"/>
          <p:nvPr/>
        </p:nvSpPr>
        <p:spPr>
          <a:xfrm>
            <a:off x="900000" y="405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H28 問1(5): W = 1/2 LI²</a:t>
            </a:r>
            <a:endParaRPr lang="ja-JP" sz="2100"/>
          </a:p>
        </p:txBody>
      </p:sp>
      <p:sp>
        <p:nvSpPr>
          <p:cNvPr id="7" name="Item7"/>
          <p:cNvSpPr txBox="1"/>
          <p:nvPr/>
        </p:nvSpPr>
        <p:spPr>
          <a:xfrm>
            <a:off x="900000" y="5000000"/>
            <a:ext cx="1020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40000" rIns="80000" bIns="40000"/>
          <a:lstStyle/>
          <a:p>
            <a:r>
              <a:rPr lang="ja-JP" sz="2100" b="0"/>
              <a:t>• 固定6小問を完成教材だけで独立再解答するのが次工程</a:t>
            </a:r>
            <a:endParaRPr lang="ja-JP" sz="2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Meiryo"/>
        <a:cs typeface="Arial"/>
      </a:majorFont>
      <a:minorFont>
        <a:latin typeface="Arial"/>
        <a:ea typeface="Meiryo"/>
        <a:cs typeface="Arial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5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Topic 08 電磁誘導・電磁力</dc:title>
  <dc:creator>OpenAI</dc:creator>
</cp:coreProperties>
</file>