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3D56"/>
          </a:solidFill>
          <a:ln w="12700">
            <a:solidFill>
              <a:srgbClr val="0F3D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37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 理論｜Topic 20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East iは走りながら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何をどう測る？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591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7F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電験二種「理論」｜電気・電子計測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167128"/>
            <a:ext cx="73152" cy="339242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58568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この章で解けるようにする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5184648" cy="2862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測定誤差 → 零位法・ブリッジ → 計器の負荷効果 → 波形計測 → A/D・標本化までを、一つの「測る」流れとして扱う。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固定品質ゲート：一次5問・25答案要素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R8問4 / R7問4 / R6問6 / H24問7 / H20問6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713232"/>
            <a:ext cx="5074920" cy="5074920"/>
          </a:xfrm>
          <a:prstGeom prst="roundRect">
            <a:avLst>
              <a:gd name="adj" fmla="val 1441"/>
            </a:avLst>
          </a:prstGeom>
          <a:solidFill>
            <a:srgbClr val="EEF5F8"/>
          </a:solidFill>
          <a:ln w="12700">
            <a:solidFill>
              <a:srgbClr val="C8D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960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SPEC固定範囲 12 / 12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20840" y="1444752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57416" y="149504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78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測定誤差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61120" y="1444752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E3F3EF"/>
          </a:solidFill>
          <a:ln w="12700">
            <a:solidFill>
              <a:srgbClr val="E3F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97696" y="149504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7F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絶対誤差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20840" y="2048256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209854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78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相対誤差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61120" y="2048256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E3F3EF"/>
          </a:solidFill>
          <a:ln w="12700">
            <a:solidFill>
              <a:srgbClr val="E3F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97696" y="209854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7F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精度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2651760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270205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78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有効数字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1120" y="2651760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E3F3EF"/>
          </a:solidFill>
          <a:ln w="12700">
            <a:solidFill>
              <a:srgbClr val="E3F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97696" y="270205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7F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ブリッジ回路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20840" y="3255264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330555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78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波形計測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61120" y="3255264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E3F3EF"/>
          </a:solidFill>
          <a:ln w="12700">
            <a:solidFill>
              <a:srgbClr val="E3F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97696" y="330555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7F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オシロスコープ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20840" y="3858768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390906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78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A/D変換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61120" y="3858768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E3F3EF"/>
          </a:solidFill>
          <a:ln w="12700">
            <a:solidFill>
              <a:srgbClr val="E3F3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97696" y="390906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7F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サンプリング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720840" y="4462272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45125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78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標本化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61120" y="4462272"/>
            <a:ext cx="2029968" cy="310896"/>
          </a:xfrm>
          <a:prstGeom prst="roundRect">
            <a:avLst>
              <a:gd name="adj" fmla="val 23529"/>
            </a:avLst>
          </a:prstGeom>
          <a:solidFill>
            <a:srgbClr val="E3F3EF"/>
          </a:solidFill>
          <a:ln w="12700">
            <a:solidFill>
              <a:srgbClr val="E3F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97696" y="45125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7F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エイリアシング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720840" y="51663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B4231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新幹線は導入。試験で解けることを主目的にする。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502920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077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MASTER_SPEC / EXAM_ALIGNMENT_SPEC / 08_shinkansen_theory_2/SPEC.md / Topic 20 source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1｜誤差を定義し、計器が回路を乱すことまで追う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H20 一次「理論」問6型：電圧計・電流計の内部抵抗による測定誤差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075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符号付き誤差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920240" y="1335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 = xm − 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476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絶対誤差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20240" y="1975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Δ = |xm − x|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338328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877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相対誤差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20240" y="2615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δ[%] = 100 e / x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264408"/>
            <a:ext cx="73152" cy="21579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35584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精度と有効数字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04672" y="3703320"/>
            <a:ext cx="3127248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・フルスケール% と 指示値% を区別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・途中計算では丸めを遅らせる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・表示桁数 ≠ 測定精度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343400" y="1234440"/>
            <a:ext cx="3401568" cy="420624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61688" y="1252728"/>
            <a:ext cx="73152" cy="4169664"/>
          </a:xfrm>
          <a:prstGeom prst="rect">
            <a:avLst/>
          </a:prstGeom>
          <a:solidFill>
            <a:srgbClr val="2878B5"/>
          </a:solidFill>
          <a:ln w="12700">
            <a:solidFill>
              <a:srgbClr val="287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134416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接続A：電圧計電流が混ざる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507992" y="1691640"/>
            <a:ext cx="3145536" cy="3639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電流計は「負荷電流＋電圧計電流」を読む。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Im = Vm/R + Vm/Rp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Pm = Vm Im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εa = R/Rp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0" y="1234440"/>
            <a:ext cx="3401568" cy="420624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19288" y="1252728"/>
            <a:ext cx="73152" cy="41696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65592" y="134416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接続B：電流計電圧降下が混ざる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165592" y="1691640"/>
            <a:ext cx="3145536" cy="3639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電圧計は「負荷＋電流計内部抵抗」の電圧を読む。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Vm = Im(R+Rc)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Pm = Im²(R+Rc)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εb = Rc/R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83480" y="555955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境界：R = √(Rc Rp) → 誤差が小さい接続を選ぶ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077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過去問接続: H20一次 理論 問6｜答案要素: 内部抵抗 / 二接続法 / 指示値と真値 / 誤差率 / 接続選択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2｜零位法：検出器が0になる条件から未知量を逆算する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R7問4・R8問4：校正／インピーダンス比較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ブリッジ平衡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21992" y="1536192"/>
            <a:ext cx="128016" cy="128016"/>
          </a:xfrm>
          <a:prstGeom prst="ellipse">
            <a:avLst/>
          </a:prstGeom>
          <a:solidFill>
            <a:srgbClr val="0F3D56"/>
          </a:solidFill>
          <a:ln w="12700">
            <a:solidFill>
              <a:srgbClr val="0F3D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85032" y="2816352"/>
            <a:ext cx="128016" cy="128016"/>
          </a:xfrm>
          <a:prstGeom prst="ellipse">
            <a:avLst/>
          </a:prstGeom>
          <a:solidFill>
            <a:srgbClr val="0F3D56"/>
          </a:solidFill>
          <a:ln w="12700">
            <a:solidFill>
              <a:srgbClr val="0F3D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1992" y="4096512"/>
            <a:ext cx="128016" cy="128016"/>
          </a:xfrm>
          <a:prstGeom prst="ellipse">
            <a:avLst/>
          </a:prstGeom>
          <a:solidFill>
            <a:srgbClr val="0F3D56"/>
          </a:solidFill>
          <a:ln w="12700">
            <a:solidFill>
              <a:srgbClr val="0F3D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816352"/>
            <a:ext cx="128016" cy="128016"/>
          </a:xfrm>
          <a:prstGeom prst="ellipse">
            <a:avLst/>
          </a:prstGeom>
          <a:solidFill>
            <a:srgbClr val="0F3D56"/>
          </a:solidFill>
          <a:ln w="12700">
            <a:solidFill>
              <a:srgbClr val="0F3D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600200"/>
            <a:ext cx="1463040" cy="1280160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880360"/>
            <a:ext cx="-1463040" cy="128016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4160520"/>
            <a:ext cx="-1463040" cy="-1280160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880360"/>
            <a:ext cx="1463040" cy="-1280160"/>
          </a:xfrm>
          <a:prstGeom prst="line">
            <a:avLst/>
          </a:prstGeom>
          <a:noFill/>
          <a:ln w="25400">
            <a:solidFill>
              <a:srgbClr val="1B7F7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880360"/>
            <a:ext cx="292608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6243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検出器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I=0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07792" y="1947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78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98648" y="35478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61872" y="35478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78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43584" y="19476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" y="4572000"/>
            <a:ext cx="352044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6451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平衡条件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38528" y="46725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Z₁ Z₄ = Z₂ Z₃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434840" y="1234440"/>
            <a:ext cx="3246120" cy="38862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53128" y="1252728"/>
            <a:ext cx="73152" cy="3849624"/>
          </a:xfrm>
          <a:prstGeom prst="rect">
            <a:avLst/>
          </a:prstGeom>
          <a:solidFill>
            <a:srgbClr val="2878B5"/>
          </a:solidFill>
          <a:ln w="12700">
            <a:solidFill>
              <a:srgbClr val="2878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134416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R7型：複素インピーダンス比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599432" y="1691640"/>
            <a:ext cx="2990088" cy="3319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誘導分圧器の比 k を読む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零位 → 枝電流が一致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(1−k)E/Zs = kE/Zx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Zx/Zs = k/(1−k)</a:t>
            </a:r>
            <a:endParaRPr lang="en-US" sz="1520" dirty="0"/>
          </a:p>
          <a:p>
            <a:pPr indent="0" marL="0">
              <a:buNone/>
            </a:pP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大きさだけでなく位相も条件になる。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936992" y="1234440"/>
            <a:ext cx="3429000" cy="38862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1252728"/>
            <a:ext cx="73152" cy="384962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01584" y="1344168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R8型：静電容量の校正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8101584" y="1691640"/>
            <a:ext cx="3172968" cy="33192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90°位相差の信号を使う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標準抵抗枝と容量枝を零位で一致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nU/(8Rs) = ωCxU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f = n/(16πRsCx)</a:t>
            </a:r>
            <a:endParaRPr lang="en-US" sz="1520" dirty="0"/>
          </a:p>
          <a:p>
            <a:pPr indent="0" marL="0">
              <a:buNone/>
            </a:pP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調整量の比から未知容量を逆算する。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4526280" y="5413248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共通：零位 → 関係式 → 比 → 未知量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077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過去問接続: R7一次 理論 問4 / R8一次 理論 問4｜固定答案要素 10 / 10 を可視化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3｜交流ブリッジでは寄生成分まで式に入れる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R6 一次「理論」問6型：寄生容量・補償・ガード・未知量算出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252728"/>
            <a:ext cx="73152" cy="44439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441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非理想要素があると何が起きる？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0392" y="1691640"/>
            <a:ext cx="3401568" cy="3913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配線・端子と大地の間の寄生容量により、理想ブリッジにはない電流が流れる。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理想平衡式だけで未知量を求めると誤差が入る。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補償・ガードは、漏れ経路が測定結果へ入るのを抑える。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658368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399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検出器側の影響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97880" y="14264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Id/I2 = Z2 / {(A+1)Xd}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192024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4231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が十分大きい → 検出器側の影響を小さくできる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617720" y="2514600"/>
            <a:ext cx="3154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532888"/>
            <a:ext cx="73152" cy="2478024"/>
          </a:xfrm>
          <a:prstGeom prst="rect">
            <a:avLst/>
          </a:prstGeom>
          <a:solidFill>
            <a:srgbClr val="2878B5"/>
          </a:solidFill>
          <a:ln w="12700">
            <a:solidFill>
              <a:srgbClr val="287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624328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マクスウェル型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782312" y="2971800"/>
            <a:ext cx="2898648" cy="1947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Z2 = R2/(1+jωC2R2)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Zx = (R1R3/R2)(1+jωC2R2)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514600"/>
            <a:ext cx="31546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2532888"/>
            <a:ext cx="73152" cy="247802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624328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未知量へ分離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211312" y="2971800"/>
            <a:ext cx="2898648" cy="1947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Rx = R1R3/R2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Lx = C2R1R3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複素式全体を満たす。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09160" y="5349240"/>
            <a:ext cx="6355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誤差を見る順序：寄生経路 → 追加電流 → 平衡条件のずれ → 算出値のずれ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502920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077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過去問接続: R6一次 理論 問6｜答案要素: 平衡条件 / 寄生容量 / 誤差 / 補償・ガード / 未知量算出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4｜波形は「縦軸」と「時間軸」を分けて読む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H24 一次「理論」問7：オシロスコープ入力と10:1プローブ補償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48463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743200"/>
            <a:ext cx="3977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554480"/>
            <a:ext cx="0" cy="233172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743200"/>
            <a:ext cx="73343" cy="-212998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503" y="2530202"/>
            <a:ext cx="73342" cy="-19848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6845" y="2331720"/>
            <a:ext cx="73343" cy="-170441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0188" y="2161279"/>
            <a:ext cx="73342" cy="-13078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3530" y="2030496"/>
            <a:ext cx="73343" cy="-8221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6873" y="1948282"/>
            <a:ext cx="73343" cy="-2804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20215" y="1920240"/>
            <a:ext cx="73342" cy="2804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93558" y="1948282"/>
            <a:ext cx="73342" cy="8221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2030496"/>
            <a:ext cx="73343" cy="13078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0243" y="2161279"/>
            <a:ext cx="73342" cy="170441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3585" y="2331720"/>
            <a:ext cx="73342" cy="19848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6928" y="2530202"/>
            <a:ext cx="73342" cy="212998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60270" y="2743200"/>
            <a:ext cx="73342" cy="212998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33612" y="2956198"/>
            <a:ext cx="73343" cy="19848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06955" y="3154680"/>
            <a:ext cx="73342" cy="170441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80298" y="3325121"/>
            <a:ext cx="73343" cy="13078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53640" y="3455904"/>
            <a:ext cx="73342" cy="8221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983" y="3538118"/>
            <a:ext cx="73342" cy="2804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0325" y="3566160"/>
            <a:ext cx="73342" cy="-2804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73668" y="3538118"/>
            <a:ext cx="73342" cy="-8221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7010" y="3455904"/>
            <a:ext cx="73343" cy="-13078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20353" y="3325121"/>
            <a:ext cx="73342" cy="-170441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93695" y="3154680"/>
            <a:ext cx="73343" cy="-19848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67038" y="2956198"/>
            <a:ext cx="73342" cy="-212998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40380" y="2743200"/>
            <a:ext cx="73342" cy="-212998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13723" y="2530202"/>
            <a:ext cx="73342" cy="-19848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87065" y="2331720"/>
            <a:ext cx="73343" cy="-170441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60408" y="2161279"/>
            <a:ext cx="73342" cy="-13078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3750" y="2030496"/>
            <a:ext cx="73342" cy="-8221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07093" y="1948282"/>
            <a:ext cx="73342" cy="-2804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80435" y="1920240"/>
            <a:ext cx="73343" cy="2804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53778" y="1948282"/>
            <a:ext cx="73342" cy="8221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27120" y="2030496"/>
            <a:ext cx="73342" cy="13078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00463" y="2161279"/>
            <a:ext cx="73342" cy="170441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73805" y="2331720"/>
            <a:ext cx="73342" cy="19848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7148" y="2530202"/>
            <a:ext cx="73342" cy="212998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20490" y="2743200"/>
            <a:ext cx="73342" cy="212998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93832" y="2956198"/>
            <a:ext cx="73343" cy="19848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67175" y="3154680"/>
            <a:ext cx="73342" cy="170441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40518" y="3325121"/>
            <a:ext cx="73342" cy="13078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13860" y="3455904"/>
            <a:ext cx="73343" cy="8221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87203" y="3538118"/>
            <a:ext cx="73342" cy="2804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60545" y="3566160"/>
            <a:ext cx="73342" cy="-2804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33888" y="3538118"/>
            <a:ext cx="73342" cy="-8221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07230" y="3455904"/>
            <a:ext cx="73342" cy="-130784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80573" y="3325121"/>
            <a:ext cx="73342" cy="-170441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53915" y="3154680"/>
            <a:ext cx="73342" cy="-198482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27258" y="2956198"/>
            <a:ext cx="73342" cy="-212998"/>
          </a:xfrm>
          <a:prstGeom prst="line">
            <a:avLst/>
          </a:prstGeom>
          <a:noFill/>
          <a:ln w="25400">
            <a:solidFill>
              <a:srgbClr val="2878B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3730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Vpp = Nv Sv Kp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2926080" y="37307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= Nt St,  f = 1/T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914400" y="4407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正弦波のみ：Vrms = Vp/√2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806440" y="1234440"/>
            <a:ext cx="2514600" cy="44348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24728" y="1252728"/>
            <a:ext cx="73152" cy="4398264"/>
          </a:xfrm>
          <a:prstGeom prst="rect">
            <a:avLst/>
          </a:prstGeom>
          <a:solidFill>
            <a:srgbClr val="2878B5"/>
          </a:solidFill>
          <a:ln w="12700">
            <a:solidFill>
              <a:srgbClr val="2878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71032" y="134416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直流の減衰比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5971032" y="1691640"/>
            <a:ext cx="2258568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10:1なら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R2/(R1+R2)=1/10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R1 = 9R2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抵抗比だけでは高周波で波形が歪む。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595360" y="1234440"/>
            <a:ext cx="2560320" cy="4434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13648" y="1252728"/>
            <a:ext cx="73152" cy="43982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59952" y="134416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周波数補償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8759952" y="1691640"/>
            <a:ext cx="2304288" cy="3867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R1,C1：プローブ側</a:t>
            </a: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R2,C2+C3：入力側</a:t>
            </a:r>
            <a:endParaRPr lang="en-US" sz="1560" dirty="0"/>
          </a:p>
          <a:p>
            <a:pPr indent="0" marL="0">
              <a:buNone/>
            </a:pP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C1R1 = (C2+C3)R2</a:t>
            </a:r>
            <a:endParaRPr lang="en-US" sz="1560" dirty="0"/>
          </a:p>
          <a:p>
            <a:pPr indent="0" marL="0">
              <a:buNone/>
            </a:pPr>
            <a:endParaRPr lang="en-US" sz="1560" dirty="0"/>
          </a:p>
          <a:p>
            <a:pPr indent="0" marL="0">
              <a:buNone/>
            </a:pPr>
            <a:r>
              <a:rPr lang="en-US" sz="15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時定数一致 → 減衰比を周波数非依存にする。</a:t>
            </a:r>
            <a:endParaRPr lang="en-US" sz="1560" dirty="0"/>
          </a:p>
        </p:txBody>
      </p:sp>
      <p:sp>
        <p:nvSpPr>
          <p:cNvPr id="66" name="Text 64"/>
          <p:cNvSpPr/>
          <p:nvPr/>
        </p:nvSpPr>
        <p:spPr>
          <a:xfrm>
            <a:off x="777240" y="546811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H24の5要素：入力R/C・減衰比・プローブR/C・時定数一致・周波数補償</a:t>
            </a:r>
            <a:endParaRPr lang="en-US" sz="1470" dirty="0"/>
          </a:p>
        </p:txBody>
      </p:sp>
      <p:sp>
        <p:nvSpPr>
          <p:cNvPr id="67" name="Text 65"/>
          <p:cNvSpPr/>
          <p:nvPr/>
        </p:nvSpPr>
        <p:spPr>
          <a:xfrm>
            <a:off x="502920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077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過去問接続: H24一次 理論 問7｜波形計測 / オシロスコープ / プローブ補償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5｜A/D変換：時間を刻み、値を段階化し、ビット列にする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系列SPEC必須：A/D変換・サンプリング・標本化・エイリアシング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240280" cy="1645920"/>
          </a:xfrm>
          <a:prstGeom prst="roundRect">
            <a:avLst>
              <a:gd name="adj" fmla="val 4444"/>
            </a:avLst>
          </a:prstGeom>
          <a:solidFill>
            <a:srgbClr val="DDEFF7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435608"/>
            <a:ext cx="73152" cy="1609344"/>
          </a:xfrm>
          <a:prstGeom prst="rect">
            <a:avLst/>
          </a:prstGeom>
          <a:solidFill>
            <a:srgbClr val="2878B5"/>
          </a:solidFill>
          <a:ln w="12700">
            <a:solidFill>
              <a:srgbClr val="287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2704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アナログ信号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0392" y="1874520"/>
            <a:ext cx="1984248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連続時間・連続値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53512" y="1965960"/>
            <a:ext cx="411480" cy="38404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417320"/>
            <a:ext cx="2240280" cy="1645920"/>
          </a:xfrm>
          <a:prstGeom prst="roundRect">
            <a:avLst>
              <a:gd name="adj" fmla="val 4444"/>
            </a:avLst>
          </a:prstGeom>
          <a:solidFill>
            <a:srgbClr val="E3F3E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435608"/>
            <a:ext cx="73152" cy="160934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52704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標本化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410712" y="1874520"/>
            <a:ext cx="1984248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時間を離散化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Ts ↔ fs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513832" y="1965960"/>
            <a:ext cx="411480" cy="38404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1417320"/>
            <a:ext cx="2240280" cy="1645920"/>
          </a:xfrm>
          <a:prstGeom prst="roundRect">
            <a:avLst>
              <a:gd name="adj" fmla="val 4444"/>
            </a:avLst>
          </a:prstGeom>
          <a:solidFill>
            <a:srgbClr val="DDEFF7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4728" y="1435608"/>
            <a:ext cx="73152" cy="1609344"/>
          </a:xfrm>
          <a:prstGeom prst="rect">
            <a:avLst/>
          </a:prstGeom>
          <a:solidFill>
            <a:srgbClr val="2878B5"/>
          </a:solidFill>
          <a:ln w="12700">
            <a:solidFill>
              <a:srgbClr val="287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1032" y="152704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量子化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971032" y="1874520"/>
            <a:ext cx="1984248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振幅を有限段階へ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 = Vspan/2^N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074152" y="1965960"/>
            <a:ext cx="411480" cy="384048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417320"/>
            <a:ext cx="2240280" cy="1645920"/>
          </a:xfrm>
          <a:prstGeom prst="roundRect">
            <a:avLst>
              <a:gd name="adj" fmla="val 4444"/>
            </a:avLst>
          </a:prstGeom>
          <a:solidFill>
            <a:srgbClr val="E3F3E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5048" y="1435608"/>
            <a:ext cx="73152" cy="160934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31352" y="152704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符号化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531352" y="1874520"/>
            <a:ext cx="1984248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段階をビット列で表現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77240" y="3474720"/>
            <a:ext cx="33375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547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周期と周波数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57400" y="3575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fs = 1/Ts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434840" y="3474720"/>
            <a:ext cx="33375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547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標本化定理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15000" y="3575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fs &gt; 2 fmax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92440" y="3474720"/>
            <a:ext cx="33375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354787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折り返し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372600" y="357530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falias = |f − k fs|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77240" y="4343400"/>
            <a:ext cx="10652760" cy="1115568"/>
          </a:xfrm>
          <a:prstGeom prst="roundRect">
            <a:avLst>
              <a:gd name="adj" fmla="val 4918"/>
            </a:avLst>
          </a:prstGeom>
          <a:solidFill>
            <a:srgbClr val="FFF7E6"/>
          </a:solidFill>
          <a:ln w="12700">
            <a:solidFill>
              <a:srgbClr val="F4C8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4599432"/>
            <a:ext cx="1028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4B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例：fs = 10 kHz で f = 7.2 kHz を標本化 → falias = |7.2 − 10| = 2.8 kHz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5650992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B4231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East iの実際のADC bit数・サンプリング周波数は、公開資料なしに実値化しない。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502920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077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注: A/D・サンプリング・エイリアシングは系列SPEC必須。直接対応する固定過去問を捏造せず教材・練習問題で補完。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6｜East iは「計測の入口」に限定する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公開されている測定対象だけを使い、内部回路・未公開定数は推測しない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983480" cy="1280160"/>
          </a:xfrm>
          <a:prstGeom prst="roundRect">
            <a:avLst>
              <a:gd name="adj" fmla="val 10714"/>
            </a:avLst>
          </a:prstGeom>
          <a:solidFill>
            <a:srgbClr val="EAF2F7"/>
          </a:solidFill>
          <a:ln w="17780">
            <a:solidFill>
              <a:srgbClr val="0F3D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21808" y="1417320"/>
            <a:ext cx="438912" cy="1280160"/>
          </a:xfrm>
          <a:prstGeom prst="chevron">
            <a:avLst/>
          </a:prstGeom>
          <a:solidFill>
            <a:srgbClr val="EAF2F7"/>
          </a:solidFill>
          <a:ln w="17780">
            <a:solidFill>
              <a:srgbClr val="0F3D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560320"/>
            <a:ext cx="329184" cy="329184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58568" y="2560320"/>
            <a:ext cx="329184" cy="329184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74136" y="2560320"/>
            <a:ext cx="329184" cy="329184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9704" y="2560320"/>
            <a:ext cx="329184" cy="329184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8308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East i（E926形）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2964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78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トロリ線 摩耗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88920" y="324612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E3F3EF"/>
          </a:solidFill>
          <a:ln w="12700">
            <a:solidFill>
              <a:srgbClr val="E3F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5496" y="32964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F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トロリ線 高さ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24612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DDEFF7"/>
          </a:solidFill>
          <a:ln w="12700">
            <a:solidFill>
              <a:srgbClr val="DDEF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329641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78B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トロリ線 偏位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0" y="3794760"/>
            <a:ext cx="3840480" cy="310896"/>
          </a:xfrm>
          <a:prstGeom prst="roundRect">
            <a:avLst>
              <a:gd name="adj" fmla="val 23529"/>
            </a:avLst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3845052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4B0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カメラ画像等の取得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1234440"/>
            <a:ext cx="4343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22008" y="1252728"/>
            <a:ext cx="73152" cy="2752344"/>
          </a:xfrm>
          <a:prstGeom prst="rect">
            <a:avLst/>
          </a:prstGeom>
          <a:solidFill>
            <a:srgbClr val="14804A"/>
          </a:solidFill>
          <a:ln w="12700">
            <a:solidFill>
              <a:srgbClr val="148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1344168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公開情報から言えること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068312" y="1691640"/>
            <a:ext cx="4087368" cy="2221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・走行しながら線路・架線等を検査・検測する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・East-i搭載センサで摩耗・高さ・偏位を測る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・カメラ画像等を取得する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03720" y="4297680"/>
            <a:ext cx="43434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2008" y="4315968"/>
            <a:ext cx="73152" cy="14447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68312" y="4407408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言わないこと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068312" y="4754880"/>
            <a:ext cx="4087368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E926内部のブリッジ回路 / センサ方式 / ADC分解能 / サンプリング周波数を断定しない。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502920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077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出典: JR東日本 2025-10-23「架線設備モニタリングの導入拡大について」 / JREメディア East i紹介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7｜過去問対応マップ・共通解法・出典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固定一次5問・25答案要素を教材の見える場所へ接続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6720840" cy="4315968"/>
          </a:xfrm>
          <a:prstGeom prst="roundRect">
            <a:avLst>
              <a:gd name="adj" fmla="val 105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5331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固定5問 × 5答案要素 = 25 / 25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1810512"/>
            <a:ext cx="914400" cy="384048"/>
          </a:xfrm>
          <a:prstGeom prst="roundRect">
            <a:avLst>
              <a:gd name="adj" fmla="val 9524"/>
            </a:avLst>
          </a:prstGeom>
          <a:solidFill>
            <a:srgbClr val="DDEFF7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8928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R8 問4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901952" y="1828800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零位法 / 90°位相差 / 標準R・未知C / 零条件 / 周波数から校正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868680" y="2468880"/>
            <a:ext cx="914400" cy="384048"/>
          </a:xfrm>
          <a:prstGeom prst="roundRect">
            <a:avLst>
              <a:gd name="adj" fmla="val 9524"/>
            </a:avLst>
          </a:prstGeom>
          <a:solidFill>
            <a:srgbClr val="E3F3E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5511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R7 問4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1901952" y="2487168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誘導分圧器 / 標準・未知枝電流 / 零条件 / 複素Z比 / 平衡式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868680" y="3127248"/>
            <a:ext cx="914400" cy="384048"/>
          </a:xfrm>
          <a:prstGeom prst="roundRect">
            <a:avLst>
              <a:gd name="adj" fmla="val 9524"/>
            </a:avLst>
          </a:prstGeom>
          <a:solidFill>
            <a:srgbClr val="DDEFF7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2095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R6 問6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1901952" y="3145536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交流ブリッジ / 寄生容量 / 誤差 / 補償・ガード / 未知量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868680" y="3785616"/>
            <a:ext cx="914400" cy="384048"/>
          </a:xfrm>
          <a:prstGeom prst="roundRect">
            <a:avLst>
              <a:gd name="adj" fmla="val 9524"/>
            </a:avLst>
          </a:prstGeom>
          <a:solidFill>
            <a:srgbClr val="E3F3EF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8679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H24 問7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901952" y="3803904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入力R・C / 減衰比 / プローブR・C / 時定数一致 / 周波数補償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68680" y="4443984"/>
            <a:ext cx="914400" cy="384048"/>
          </a:xfrm>
          <a:prstGeom prst="roundRect">
            <a:avLst>
              <a:gd name="adj" fmla="val 9524"/>
            </a:avLst>
          </a:prstGeom>
          <a:solidFill>
            <a:srgbClr val="DDEFF7"/>
          </a:solidFill>
          <a:ln w="12700">
            <a:solidFill>
              <a:srgbClr val="C9D7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5262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H20 問6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901952" y="4462272"/>
            <a:ext cx="5074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内部抵抗 / 二接続法 / 指示値と真値 / 誤差率 / 接続選択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7543800" y="114300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62088" y="1161288"/>
            <a:ext cx="73152" cy="2340864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8392" y="1252728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共通解法 8ステップ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708392" y="1600200"/>
            <a:ext cx="3721608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測定量・基準量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等価回路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基準条件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非理想要素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指示値・未知量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 誤差率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 Ts・fs・alias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 単位・位相・桁を検算</a:t>
            </a:r>
            <a:endParaRPr lang="en-US" sz="1360" dirty="0"/>
          </a:p>
        </p:txBody>
      </p:sp>
      <p:sp>
        <p:nvSpPr>
          <p:cNvPr id="25" name="Shape 23"/>
          <p:cNvSpPr/>
          <p:nvPr/>
        </p:nvSpPr>
        <p:spPr>
          <a:xfrm>
            <a:off x="7543800" y="3703320"/>
            <a:ext cx="3977640" cy="1755648"/>
          </a:xfrm>
          <a:prstGeom prst="roundRect">
            <a:avLst>
              <a:gd name="adj" fmla="val 2604"/>
            </a:avLst>
          </a:prstGeom>
          <a:solidFill>
            <a:srgbClr val="F9FAFB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895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5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主な出典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772400" y="4224528"/>
            <a:ext cx="3456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・電気技術者試験センター 二種 過去問題・解答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・JR東日本 2025-10-23資料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・JREメディア East i紹介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・e-sysnet 電気計測 / 周波数測定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・オーム社「計測情報の評価」等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・H20問6: 電験王転記で復元し二次照合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822960" y="57241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231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二次採用0問・数合わせ0件 / 固定範囲外追加0件 / East i内部回路推測0件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2920" y="623620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70778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公式: https://www.shiken.or.jp/chief/second/qa/  JR東日本: https://www.jreast.co.jp/press/2025/20251023_ho02.pdf  JRE: https://media.jreast.co.jp/articles/1653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967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cureflash/homepage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iは走りながら何をどう測る？</dc:title>
  <dc:subject>電験二種 理論 Topic 20</dc:subject>
  <dc:creator>OpenAI</dc:creator>
  <cp:lastModifiedBy>OpenAI</cp:lastModifiedBy>
  <cp:revision>1</cp:revision>
  <dcterms:created xsi:type="dcterms:W3CDTF">2026-09-18T22:09:13Z</dcterms:created>
  <dcterms:modified xsi:type="dcterms:W3CDTF">2026-09-18T22:09:13Z</dcterms:modified>
</cp:coreProperties>
</file>