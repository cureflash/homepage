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3200" b="1"/>
              <a:t>1 周波数でLとCの見え方が変わる</a:t>
            </a:r>
            <a:endParaRPr lang="ja-JP" sz="3200"/>
          </a:p>
        </p:txBody>
      </p:sp>
      <p:sp>
        <p:nvSpPr>
          <p:cNvPr id="3" name="Text 3"/>
          <p:cNvSpPr txBox="1"/>
          <p:nvPr/>
        </p:nvSpPr>
        <p:spPr>
          <a:xfrm>
            <a:off x="650000" y="1200000"/>
            <a:ext cx="10900000" cy="48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050"/>
              <a:t>ω = 2πf</a:t>
            </a:r>
            <a:endParaRPr lang="ja-JP" sz="2050"/>
          </a:p>
          <a:p>
            <a:r>
              <a:rPr lang="ja-JP" sz="2050"/>
              <a:t>XL = ωL：f↑ → XL↑</a:t>
            </a:r>
            <a:endParaRPr lang="ja-JP" sz="2050"/>
          </a:p>
          <a:p>
            <a:r>
              <a:rPr lang="ja-JP" sz="2050"/>
              <a:t>XC = 1/(ωC)：f↑ → XC↓</a:t>
            </a:r>
            <a:endParaRPr lang="ja-JP" sz="2050"/>
          </a:p>
          <a:p>
            <a:r>
              <a:rPr lang="ja-JP" sz="2050"/>
              <a:t>50 Hz と 60 Hz では、同じL・Cでもリアクタンスが変化する。</a:t>
            </a:r>
            <a:endParaRPr lang="ja-JP" sz="2050"/>
          </a:p>
          <a:p>
            <a:r>
              <a:rPr lang="ja-JP" sz="2050"/>
              <a:t>単位：f[Hz], ω[rad/s], XL・XC[Ω]</a:t>
            </a:r>
            <a:endParaRPr lang="ja-JP" sz="20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3200" b="1"/>
              <a:t>2 直列RLCと共振</a:t>
            </a:r>
            <a:endParaRPr lang="ja-JP" sz="3200"/>
          </a:p>
        </p:txBody>
      </p:sp>
      <p:sp>
        <p:nvSpPr>
          <p:cNvPr id="3" name="Text 3"/>
          <p:cNvSpPr txBox="1"/>
          <p:nvPr/>
        </p:nvSpPr>
        <p:spPr>
          <a:xfrm>
            <a:off x="650000" y="1200000"/>
            <a:ext cx="10900000" cy="48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050"/>
              <a:t>Z = R + j(XL − XC)</a:t>
            </a:r>
            <a:endParaRPr lang="ja-JP" sz="2050"/>
          </a:p>
          <a:p>
            <a:r>
              <a:rPr lang="ja-JP" sz="2050"/>
              <a:t>XL &gt; XC：誘導性／XL &lt; XC：容量性</a:t>
            </a:r>
            <a:endParaRPr lang="ja-JP" sz="2050"/>
          </a:p>
          <a:p>
            <a:r>
              <a:rPr lang="ja-JP" sz="2050"/>
              <a:t>共振：XL = XC → ω0 = 1/√(LC)</a:t>
            </a:r>
            <a:endParaRPr lang="ja-JP" sz="2050"/>
          </a:p>
          <a:p>
            <a:r>
              <a:rPr lang="ja-JP" sz="2050"/>
              <a:t>f0 = 1/(2π√(LC))</a:t>
            </a:r>
            <a:endParaRPr lang="ja-JP" sz="2050"/>
          </a:p>
          <a:p>
            <a:r>
              <a:rPr lang="ja-JP" sz="2050"/>
              <a:t>共振時 Z=R、電流最大、電圧と電流は同相。</a:t>
            </a:r>
            <a:endParaRPr lang="ja-JP" sz="20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3200" b="1"/>
              <a:t>3 Q値と端子電圧</a:t>
            </a:r>
            <a:endParaRPr lang="ja-JP" sz="3200"/>
          </a:p>
        </p:txBody>
      </p:sp>
      <p:sp>
        <p:nvSpPr>
          <p:cNvPr id="3" name="Text 3"/>
          <p:cNvSpPr txBox="1"/>
          <p:nvPr/>
        </p:nvSpPr>
        <p:spPr>
          <a:xfrm>
            <a:off x="650000" y="1200000"/>
            <a:ext cx="10900000" cy="48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050"/>
              <a:t>Q = ω0L/R = 1/(ω0CR)</a:t>
            </a:r>
            <a:endParaRPr lang="ja-JP" sz="2050"/>
          </a:p>
          <a:p>
            <a:r>
              <a:rPr lang="ja-JP" sz="2050"/>
              <a:t>共振電流 I0 = V/R</a:t>
            </a:r>
            <a:endParaRPr lang="ja-JP" sz="2050"/>
          </a:p>
          <a:p>
            <a:r>
              <a:rPr lang="ja-JP" sz="2050"/>
              <a:t>VL = I0ω0L = QV</a:t>
            </a:r>
            <a:endParaRPr lang="ja-JP" sz="2050"/>
          </a:p>
          <a:p>
            <a:r>
              <a:rPr lang="ja-JP" sz="2050"/>
              <a:t>VC も大きさ QV。LとCの電圧は逆位相で打ち消し合う。</a:t>
            </a:r>
            <a:endParaRPr lang="ja-JP" sz="2050"/>
          </a:p>
          <a:p>
            <a:r>
              <a:rPr lang="ja-JP" sz="2050"/>
              <a:t>Q値は『共振の鋭さ』と端子電圧拡大を結ぶ。</a:t>
            </a:r>
            <a:endParaRPr lang="ja-JP" sz="20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3200" b="1"/>
              <a:t>4 並列回路はアドミタンスで解く</a:t>
            </a:r>
            <a:endParaRPr lang="ja-JP" sz="3200"/>
          </a:p>
        </p:txBody>
      </p:sp>
      <p:sp>
        <p:nvSpPr>
          <p:cNvPr id="3" name="Text 3"/>
          <p:cNvSpPr txBox="1"/>
          <p:nvPr/>
        </p:nvSpPr>
        <p:spPr>
          <a:xfrm>
            <a:off x="650000" y="1200000"/>
            <a:ext cx="10900000" cy="48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050"/>
              <a:t>理想LC：Y = j[ωC − 1/(ωL)]</a:t>
            </a:r>
            <a:endParaRPr lang="ja-JP" sz="2050"/>
          </a:p>
          <a:p>
            <a:r>
              <a:rPr lang="ja-JP" sz="2050"/>
              <a:t>同相条件：Im(Y)=0</a:t>
            </a:r>
            <a:endParaRPr lang="ja-JP" sz="2050"/>
          </a:p>
          <a:p>
            <a:r>
              <a:rPr lang="ja-JP" sz="2050"/>
              <a:t>R-L枝＋C：Y = 1/(R+jωL) + jωC</a:t>
            </a:r>
            <a:endParaRPr lang="ja-JP" sz="2050"/>
          </a:p>
          <a:p>
            <a:r>
              <a:rPr lang="ja-JP" sz="2050"/>
              <a:t>損失枝では Im(Y)=0 と |Y|最小は一致するとは限らない。</a:t>
            </a:r>
            <a:endParaRPr lang="ja-JP" sz="2050"/>
          </a:p>
          <a:p>
            <a:r>
              <a:rPr lang="ja-JP" sz="2050"/>
              <a:t>|Y|最小を問われたら |Y|² を作り、極値条件を直接求める。</a:t>
            </a:r>
            <a:endParaRPr lang="ja-JP" sz="20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3200" b="1"/>
              <a:t>5 50/55/60 Hz 教育用比較</a:t>
            </a:r>
            <a:endParaRPr lang="ja-JP" sz="3200"/>
          </a:p>
        </p:txBody>
      </p:sp>
      <p:sp>
        <p:nvSpPr>
          <p:cNvPr id="3" name="Text 3"/>
          <p:cNvSpPr txBox="1"/>
          <p:nvPr/>
        </p:nvSpPr>
        <p:spPr>
          <a:xfrm>
            <a:off x="650000" y="1200000"/>
            <a:ext cx="10900000" cy="48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050"/>
              <a:t>仮定値：R=10 Ω, L=0.100 H, C=83.74 μF, V=100 V</a:t>
            </a:r>
            <a:endParaRPr lang="ja-JP" sz="2050"/>
          </a:p>
          <a:p>
            <a:r>
              <a:rPr lang="ja-JP" sz="2050"/>
              <a:t>50 Hz：容量性、|Z|≈11.98 Ω、I≈8.35 A</a:t>
            </a:r>
            <a:endParaRPr lang="ja-JP" sz="2050"/>
          </a:p>
          <a:p>
            <a:r>
              <a:rPr lang="ja-JP" sz="2050"/>
              <a:t>55 Hz：共振、|Z|=10.00 Ω、I=10.00 A</a:t>
            </a:r>
            <a:endParaRPr lang="ja-JP" sz="2050"/>
          </a:p>
          <a:p>
            <a:r>
              <a:rPr lang="ja-JP" sz="2050"/>
              <a:t>60 Hz：誘導性、|Z|≈11.67 Ω、I≈8.57 A</a:t>
            </a:r>
            <a:endParaRPr lang="ja-JP" sz="2050"/>
          </a:p>
          <a:p>
            <a:r>
              <a:rPr lang="ja-JP" sz="2050"/>
              <a:t>固定EXAM_ALIGNMENT：一次5問・20小問。二次採用0問・数合わせ0件。</a:t>
            </a:r>
            <a:endParaRPr lang="ja-JP" sz="2050"/>
          </a:p>
          <a:p>
            <a:r>
              <a:rPr lang="ja-JP" sz="2050"/>
              <a:t>※新幹線実設備値ではなく、周波数依存を見る教育用モデル。</a:t>
            </a:r>
            <a:endParaRPr lang="ja-JP" sz="2050"/>
          </a:p>
        </p:txBody>
      </p:sp>
    </p:spTree>
  </p:cSld>
  <p:clrMapOvr>
    <a:masterClrMapping/>
  </p:clrMapOvr>
</p:sld>
</file>