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
		
		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B63"/>
          </a:solidFill>
          <a:ln w="12700">
            <a:solidFill>
              <a:srgbClr val="18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7373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18｜新幹線のセンサ信号をどう増幅する？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875520" y="201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E5F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電験二種 一次「理論」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657600" cy="1828800"/>
          </a:xfrm>
          <a:prstGeom prst="roundRect">
            <a:avLst>
              <a:gd name="adj" fmla="val 3000"/>
            </a:avLst>
          </a:prstGeom>
          <a:solidFill>
            <a:srgbClr val="EAF2F8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理想オペアンプ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2918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・差動利得 A → ∞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・入力端子電流 I+ = I− = 0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・出力インピーダンス → 0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負帰還・線形動作なら V+ = V−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270248" y="960120"/>
            <a:ext cx="3657600" cy="1828800"/>
          </a:xfrm>
          <a:prstGeom prst="roundRect">
            <a:avLst>
              <a:gd name="adj" fmla="val 3000"/>
            </a:avLst>
          </a:prstGeom>
          <a:solidFill>
            <a:srgbClr val="DCEED5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09728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固定範囲 8 項目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53128" y="1463040"/>
            <a:ext cx="32918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理想オペアンプ／反転増幅／非反転増幅／加算回路／差動増幅／積分回路／微分回路／コンパレータ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074152" y="960120"/>
            <a:ext cx="3657600" cy="1828800"/>
          </a:xfrm>
          <a:prstGeom prst="roundRect">
            <a:avLst>
              <a:gd name="adj" fmla="val 3000"/>
            </a:avLst>
          </a:prstGeom>
          <a:solidFill>
            <a:srgbClr val="FDE7D7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109728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教育用モデル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57032" y="1463040"/>
            <a:ext cx="329184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センサ信号 → オペアンプ演算 → 扱いやすい出力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実車の特定センサ回路・定数・実装方式は断定しない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57200" y="3035808"/>
            <a:ext cx="11274552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172968"/>
            <a:ext cx="10945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共通解法 8 ステップ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538728"/>
            <a:ext cx="10908792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負帰還・線形動作か確認　　2 I+=I−=0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 非反転側の分圧を先に計算　4 V−=V+（適用条件を確認）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 反転側・帰還網でKCL　　　 6 節点電位 → Vout の順で解く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 複数入力はKCL/重ね合わせ　 8 符号・抵抗比・同相信号を検算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品質ゲート：一次5問・25答案要素／二次は固定範囲で閉じる直接対応問題なし（採用0）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11480" y="6547104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固定範囲外：周波数特性・電圧安定化・発振回路・Topic 19/20（CT/VT・誤差・サンプリング）は扱わない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B63"/>
          </a:solidFill>
          <a:ln w="12700">
            <a:solidFill>
              <a:srgbClr val="18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7373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反転・非反転・加算｜公式を KCL から作り直す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875520" y="201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E5F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R1 一次 理論 問8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3566160" cy="4434840"/>
          </a:xfrm>
          <a:prstGeom prst="roundRect">
            <a:avLst>
              <a:gd name="adj" fmla="val 1538"/>
            </a:avLst>
          </a:prstGeom>
          <a:solidFill>
            <a:srgbClr val="EAF2F8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14300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反転増幅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3200400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仮想接地 → 入力電流 → 帰還電流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Vin/Rin = −Vout/Rf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Vout/Vin = −Rf/Rin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負号 = 位相反転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315968" y="1005840"/>
            <a:ext cx="3566160" cy="4434840"/>
          </a:xfrm>
          <a:prstGeom prst="roundRect">
            <a:avLst>
              <a:gd name="adj" fmla="val 1538"/>
            </a:avLst>
          </a:prstGeom>
          <a:solidFill>
            <a:srgbClr val="DCEED5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14300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非反転増幅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98848" y="1508760"/>
            <a:ext cx="3200400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V+ = Vin、V− = V+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反転側は出力の抵抗分圧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Vout/Vin = 1 + Rf/Rg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利得は正、1以上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119872" y="1005840"/>
            <a:ext cx="3566160" cy="4434840"/>
          </a:xfrm>
          <a:prstGeom prst="roundRect">
            <a:avLst>
              <a:gd name="adj" fmla="val 1538"/>
            </a:avLst>
          </a:prstGeom>
          <a:solidFill>
            <a:srgbClr val="FDE7D7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114300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反転加算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02752" y="1508760"/>
            <a:ext cx="3200400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各入力枝：Ii = Vi/Ri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入力端子へ電流は流れない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Vout = −Rf Σ(Vi/Ri)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R1=R2=Rfなら −(V1+V2)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2011680" y="57150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共通核：入力端子電流0 → 節点KCL → 出力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1480" y="6547104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R1 問8：仮想接地／入力電流／KCL／帰還電流／負の重み付き和・加算識別の 5 / 5 要素へ接続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B63"/>
          </a:solidFill>
          <a:ln w="12700">
            <a:solidFill>
              <a:srgbClr val="18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7373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差動・分圧・T形帰還｜変形回路は「節点」を追う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875520" y="201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E5F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R8 / H23 / H29 / H21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5486400" cy="2423160"/>
          </a:xfrm>
          <a:prstGeom prst="roundRect">
            <a:avLst>
              <a:gd name="adj" fmla="val 2264"/>
            </a:avLst>
          </a:prstGeom>
          <a:solidFill>
            <a:srgbClr val="EAF2F8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09728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差動・減算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5120640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 V+ = R4/(R3+R4)・V2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次に V−=V+ として反転側KCL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Vout=(1+R2/R1)V+−(R2/R1)V1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同相除去条件：R1R4=R2R3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199632" y="960120"/>
            <a:ext cx="5486400" cy="2423160"/>
          </a:xfrm>
          <a:prstGeom prst="roundRect">
            <a:avLst>
              <a:gd name="adj" fmla="val 2264"/>
            </a:avLst>
          </a:prstGeom>
          <a:solidFill>
            <a:srgbClr val="DCEED5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64224" y="109728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H23型：非反転側が分圧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82512" y="1463040"/>
            <a:ext cx="5120640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 V と決めつけない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分圧 → 仮想短絡 → KCL → 出力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出力0条件も同じ順で逆算する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DE7D7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74904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T形帰還網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4114800"/>
            <a:ext cx="5120640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一つの Rf に見立てない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仮想接地 → R2の電流 → 内部節点VB → B点KCL → R4 → Vout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H29/H21型は節点ごとに追う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199632" y="361188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374904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最後の検算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82512" y="4114800"/>
            <a:ext cx="5120640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・接地されていない V+ を0 Vにしない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・複数入力はKCLまたは重ね合わせ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・T形/複数節点は節点ごとにKCL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・符号／抵抗比／同相信号を確認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11480" y="6547104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固定5問の中心：理想条件確認 → 節点電位 → KCL → 出力。回路名の暗記より節点条件を優先する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B63"/>
          </a:solidFill>
          <a:ln w="12700">
            <a:solidFill>
              <a:srgbClr val="18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7373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積分・微分・コンパレータ｜仮想短絡を使う／使わない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875520" y="201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E5F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SPEC固定範囲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566160" cy="4251960"/>
          </a:xfrm>
          <a:prstGeom prst="roundRect">
            <a:avLst>
              <a:gd name="adj" fmla="val 1538"/>
            </a:avLst>
          </a:prstGeom>
          <a:solidFill>
            <a:srgbClr val="EAF2F8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09728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積分回路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200400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帰還素子を C にする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Vin/R = −C dVout/dt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Vout(t)=Vout(t0)−(1/RC)∫Vin dt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一定正入力 → 負方向へ一定傾斜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4315968" y="960120"/>
            <a:ext cx="3566160" cy="4251960"/>
          </a:xfrm>
          <a:prstGeom prst="roundRect">
            <a:avLst>
              <a:gd name="adj" fmla="val 1538"/>
            </a:avLst>
          </a:prstGeom>
          <a:solidFill>
            <a:srgbClr val="DCEED5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09728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微分回路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98848" y="1463040"/>
            <a:ext cx="3200400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入力側を C、帰還側を R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i=C dVin/dt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Vout=−RC dVin/dt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一定入力 → 0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119872" y="960120"/>
            <a:ext cx="3566160" cy="4251960"/>
          </a:xfrm>
          <a:prstGeom prst="roundRect">
            <a:avLst>
              <a:gd name="adj" fmla="val 1538"/>
            </a:avLst>
          </a:prstGeom>
          <a:solidFill>
            <a:srgbClr val="FDE7D7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84464" y="109728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コンパレータ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02752" y="1463040"/>
            <a:ext cx="3200400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負帰還線形増幅ではない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仮想短絡 V+=V− を使わない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V+&gt;V− → 正側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V+&lt;V− → 負側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58368" y="550468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教育用対応：倍率調整→反転/非反転｜複数信号→加算｜信号差→差動｜積算→積分｜変化率→微分｜大小判定→比較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6547104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Topic 19（CT・VT・電圧/電流/電力測定）と Topic 20（誤差・ブリッジ・サンプリング）は先取りしない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B63"/>
          </a:solidFill>
          <a:ln w="12700">
            <a:solidFill>
              <a:srgbClr val="18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73736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固定過去問 5 問・25 答案要素を可視化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875520" y="201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9E5F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試験対応品質ゲート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94360" y="914400"/>
            <a:ext cx="10972800" cy="786384"/>
          </a:xfrm>
          <a:prstGeom prst="roundRect">
            <a:avLst>
              <a:gd name="adj" fmla="val 6977"/>
            </a:avLst>
          </a:prstGeom>
          <a:solidFill>
            <a:srgbClr val="EAF2F8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051560"/>
            <a:ext cx="1064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R8 一次 理論 問8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0607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反転側寄与／非反転側寄与／重ね合わせ／同相除去条件／差動出力式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594360" y="1847088"/>
            <a:ext cx="109728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984248"/>
            <a:ext cx="1064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R1 一次 理論 問8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50008"/>
            <a:ext cx="10607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仮想接地／入力電流／KCL／帰還電流／負の重み付き和・加算識別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594360" y="2779776"/>
            <a:ext cx="10972800" cy="786384"/>
          </a:xfrm>
          <a:prstGeom prst="roundRect">
            <a:avLst>
              <a:gd name="adj" fmla="val 6977"/>
            </a:avLst>
          </a:prstGeom>
          <a:solidFill>
            <a:srgbClr val="EAF2F8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916936"/>
            <a:ext cx="1064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H29 一次 理論 問8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282696"/>
            <a:ext cx="10607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仮想接地／入力電流／内部節点電位／T形帰還KCL／電圧利得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94360" y="3712464"/>
            <a:ext cx="109728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849624"/>
            <a:ext cx="1064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H23 一次 理論 問8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4215384"/>
            <a:ext cx="10607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非反転側分圧／仮想短絡／反転側電流／出力電圧／出力0条件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594360" y="4645152"/>
            <a:ext cx="10972800" cy="786384"/>
          </a:xfrm>
          <a:prstGeom prst="roundRect">
            <a:avLst>
              <a:gd name="adj" fmla="val 6977"/>
            </a:avLst>
          </a:prstGeom>
          <a:solidFill>
            <a:srgbClr val="EAF2F8"/>
          </a:solidFill>
          <a:ln w="12700">
            <a:solidFill>
              <a:srgbClr val="C7D5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782312"/>
            <a:ext cx="1064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8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H21 一次 理論 問8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148072"/>
            <a:ext cx="10607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仮想接地／入力電流0／内部節点電位／節点KCL／出力電圧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77240" y="5650992"/>
            <a:ext cx="10607040" cy="457200"/>
          </a:xfrm>
          <a:prstGeom prst="roundRect">
            <a:avLst/>
          </a:prstGeom>
          <a:solidFill>
            <a:srgbClr val="DCEED5"/>
          </a:solidFill>
          <a:ln w="12700">
            <a:solidFill>
              <a:srgbClr val="A8C9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797296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F6B22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25 / 25 要素を可視化｜制作前 blind 独立再解答 25 / 25 PASS｜公式標準解答と一致 25 / 25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658368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公式：一般財団法人 電気技術者試験センター「第二種電気主任技術者試験 過去問題・解答」 https://www.shiken.or.jp/chief/second/qa/ （参照日 2026-09-18）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11480" y="6547104"/>
            <a:ext cx="11338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6666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固定範囲外追加0｜二次採用0｜二次数合わせ0｜Topic 19/20先取り0｜未確認の実車センサ回路追加0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