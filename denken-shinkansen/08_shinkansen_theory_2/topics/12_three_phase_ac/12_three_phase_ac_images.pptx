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0000" y="180000"/>
            <a:ext cx="11200000" cy="6500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txBody>
          <a:bodyPr lIns="90000" tIns="90000" rIns="90000" bIns="90000" wrap="square"/>
          <a:lstStyle/>
          <a:p>
            <a:pPr algn="l"/>
            <a:r>
              <a:rPr lang="ja-JP" sz="2800" b="1" dirty="0">
                <a:solidFill>
                  <a:srgbClr val="111827"/>
                </a:solidFill>
              </a:rPr>
              <a:t>Topic 12  三相交流を新幹線へ渡す — 平衡三相の出発点</a:t>
            </a:r>
            <a:endParaRPr lang="ja-JP" sz="2800"/>
          </a:p>
        </p:txBody>
      </p:sp>
      <p:sp>
        <p:nvSpPr>
          <p:cNvPr id="3" name="TextBox 3"/>
          <p:cNvSpPr txBox="1"/>
          <p:nvPr/>
        </p:nvSpPr>
        <p:spPr>
          <a:xfrm>
            <a:off x="650000" y="1100000"/>
            <a:ext cx="5200000" cy="180000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txBody>
          <a:bodyPr lIns="90000" tIns="90000" rIns="90000" bIns="90000" wrap="square"/>
          <a:lstStyle/>
          <a:p>
            <a:pPr algn="l"/>
            <a:r>
              <a:rPr lang="ja-JP" sz="2200" b="1" dirty="0">
                <a:solidFill>
                  <a:srgbClr val="1E3A8A"/>
                </a:solidFill>
              </a:rPr>
              <a:t>平衡三相交流</a:t>
            </a:r>
            <a:endParaRPr lang="ja-JP" sz="2200"/>
          </a:p>
          <a:p>
            <a:pPr algn="l"/>
            <a:r>
              <a:rPr lang="ja-JP" sz="2200" b="1" dirty="0">
                <a:solidFill>
                  <a:srgbClr val="1E3A8A"/>
                </a:solidFill>
              </a:rPr>
              <a:t>Ea = E∠0°</a:t>
            </a:r>
            <a:endParaRPr lang="ja-JP" sz="2200"/>
          </a:p>
          <a:p>
            <a:pPr algn="l"/>
            <a:r>
              <a:rPr lang="ja-JP" sz="2200" b="1" dirty="0">
                <a:solidFill>
                  <a:srgbClr val="1E3A8A"/>
                </a:solidFill>
              </a:rPr>
              <a:t>Eb = E∠−120°</a:t>
            </a:r>
            <a:endParaRPr lang="ja-JP" sz="2200"/>
          </a:p>
          <a:p>
            <a:pPr algn="l"/>
            <a:r>
              <a:rPr lang="ja-JP" sz="2200" b="1" dirty="0">
                <a:solidFill>
                  <a:srgbClr val="1E3A8A"/>
                </a:solidFill>
              </a:rPr>
              <a:t>Ec = E∠+120°</a:t>
            </a:r>
            <a:endParaRPr lang="ja-JP" sz="2200"/>
          </a:p>
        </p:txBody>
      </p:sp>
      <p:sp>
        <p:nvSpPr>
          <p:cNvPr id="4" name="TextBox 4"/>
          <p:cNvSpPr txBox="1"/>
          <p:nvPr/>
        </p:nvSpPr>
        <p:spPr>
          <a:xfrm>
            <a:off x="6100000" y="1100000"/>
            <a:ext cx="5200000" cy="1800000"/>
          </a:xfrm>
          <a:prstGeom prst="rect">
            <a:avLst/>
          </a:prstGeom>
          <a:solidFill>
            <a:srgbClr val="ECFDF5"/>
          </a:solidFill>
          <a:ln w="12700">
            <a:solidFill>
              <a:srgbClr val="86EFAC"/>
            </a:solidFill>
          </a:ln>
        </p:spPr>
        <p:txBody>
          <a:bodyPr lIns="90000" tIns="90000" rIns="90000" bIns="90000" wrap="square"/>
          <a:lstStyle/>
          <a:p>
            <a:pPr algn="l"/>
            <a:r>
              <a:rPr lang="ja-JP" sz="2200" b="1" dirty="0">
                <a:solidFill>
                  <a:srgbClr val="14532D"/>
                </a:solidFill>
              </a:rPr>
              <a:t>ベクトルの要点</a:t>
            </a:r>
            <a:endParaRPr lang="ja-JP" sz="2200"/>
          </a:p>
          <a:p>
            <a:pPr algn="l"/>
            <a:r>
              <a:rPr lang="ja-JP" sz="2200" b="1" dirty="0">
                <a:solidFill>
                  <a:srgbClr val="14532D"/>
                </a:solidFill>
              </a:rPr>
              <a:t>3本は同じ大きさ・120°間隔</a:t>
            </a:r>
            <a:endParaRPr lang="ja-JP" sz="2200"/>
          </a:p>
          <a:p>
            <a:pPr algn="l"/>
            <a:r>
              <a:rPr lang="ja-JP" sz="2200" b="1" dirty="0">
                <a:solidFill>
                  <a:srgbClr val="14532D"/>
                </a:solidFill>
              </a:rPr>
              <a:t>Ea + Eb + Ec = 0</a:t>
            </a:r>
            <a:endParaRPr lang="ja-JP" sz="2200"/>
          </a:p>
        </p:txBody>
      </p:sp>
      <p:sp>
        <p:nvSpPr>
          <p:cNvPr id="5" name="TextBox 5"/>
          <p:cNvSpPr txBox="1"/>
          <p:nvPr/>
        </p:nvSpPr>
        <p:spPr>
          <a:xfrm>
            <a:off x="650000" y="3300000"/>
            <a:ext cx="10450000" cy="130000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txBody>
          <a:bodyPr lIns="90000" tIns="90000" rIns="90000" bIns="90000" wrap="square"/>
          <a:lstStyle/>
          <a:p>
            <a:pPr algn="l"/>
            <a:r>
              <a:rPr lang="ja-JP" sz="2100" b="0" dirty="0">
                <a:solidFill>
                  <a:srgbClr val="7C2D12"/>
                </a:solidFill>
              </a:rPr>
              <a:t>電験で問うこと</a:t>
            </a:r>
            <a:endParaRPr lang="ja-JP" sz="2100"/>
          </a:p>
          <a:p>
            <a:pPr algn="l"/>
            <a:r>
              <a:rPr lang="ja-JP" sz="2100" b="0" dirty="0">
                <a:solidFill>
                  <a:srgbClr val="7C2D12"/>
                </a:solidFill>
              </a:rPr>
              <a:t>「√3」を暗記するのではなく、120°ずれたベクトルの差から線間量を作る。</a:t>
            </a:r>
            <a:endParaRPr lang="ja-JP" sz="2100"/>
          </a:p>
        </p:txBody>
      </p:sp>
      <p:sp>
        <p:nvSpPr>
          <p:cNvPr id="6" name="TextBox 6"/>
          <p:cNvSpPr txBox="1"/>
          <p:nvPr/>
        </p:nvSpPr>
        <p:spPr>
          <a:xfrm>
            <a:off x="650000" y="4900000"/>
            <a:ext cx="10450000" cy="1100000"/>
          </a:xfrm>
          <a:prstGeom prst="rect">
            <a:avLst/>
          </a:prstGeom>
          <a:solidFill>
            <a:srgbClr val="FAFAFA"/>
          </a:solidFill>
          <a:ln w="12700">
            <a:solidFill>
              <a:srgbClr val="D1D5DB"/>
            </a:solidFill>
          </a:ln>
        </p:spPr>
        <p:txBody>
          <a:bodyPr lIns="90000" tIns="90000" rIns="90000" bIns="90000" wrap="square"/>
          <a:lstStyle/>
          <a:p>
            <a:pPr algn="l"/>
            <a:r>
              <a:rPr lang="ja-JP" sz="1800" b="0" dirty="0">
                <a:solidFill>
                  <a:srgbClr val="374151"/>
                </a:solidFill>
              </a:rPr>
              <a:t>新幹線への接続：発電・送電側の三相交流が変電設備へ渡るところまで。</a:t>
            </a:r>
            <a:endParaRPr lang="ja-JP" sz="1800"/>
          </a:p>
          <a:p>
            <a:pPr algn="l"/>
            <a:r>
              <a:rPr lang="ja-JP" sz="1800" b="0" dirty="0">
                <a:solidFill>
                  <a:srgbClr val="374151"/>
                </a:solidFill>
              </a:rPr>
              <a:t>き電用変圧器の内部結線・未確認実設備値は推測しない。</a:t>
            </a:r>
            <a:endParaRPr lang="ja-JP"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0000" y="180000"/>
            <a:ext cx="11200000" cy="6500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txBody>
          <a:bodyPr lIns="90000" tIns="90000" rIns="90000" bIns="90000" wrap="square"/>
          <a:lstStyle/>
          <a:p>
            <a:pPr algn="l"/>
            <a:r>
              <a:rPr lang="ja-JP" sz="2800" b="1" dirty="0">
                <a:solidFill>
                  <a:srgbClr val="111827"/>
                </a:solidFill>
              </a:rPr>
              <a:t>Y結線 — 線間電圧は相電圧の「差」</a:t>
            </a:r>
            <a:endParaRPr lang="ja-JP" sz="2800"/>
          </a:p>
        </p:txBody>
      </p:sp>
      <p:sp>
        <p:nvSpPr>
          <p:cNvPr id="3" name="TextBox 3"/>
          <p:cNvSpPr txBox="1"/>
          <p:nvPr/>
        </p:nvSpPr>
        <p:spPr>
          <a:xfrm>
            <a:off x="650000" y="1100000"/>
            <a:ext cx="5000000" cy="150000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txBody>
          <a:bodyPr lIns="90000" tIns="90000" rIns="90000" bIns="90000" wrap="square"/>
          <a:lstStyle/>
          <a:p>
            <a:pPr algn="c"/>
            <a:r>
              <a:rPr lang="ja-JP" sz="2500" b="1" dirty="0">
                <a:solidFill>
                  <a:srgbClr val="1E40AF"/>
                </a:solidFill>
              </a:rPr>
              <a:t>Y結線</a:t>
            </a:r>
            <a:endParaRPr lang="ja-JP" sz="2500"/>
          </a:p>
          <a:p>
            <a:pPr algn="c"/>
            <a:r>
              <a:rPr lang="ja-JP" sz="2500" b="1" dirty="0">
                <a:solidFill>
                  <a:srgbClr val="1E40AF"/>
                </a:solidFill>
              </a:rPr>
              <a:t>VL = √3 Vφ</a:t>
            </a:r>
            <a:endParaRPr lang="ja-JP" sz="2500"/>
          </a:p>
          <a:p>
            <a:pPr algn="c"/>
            <a:r>
              <a:rPr lang="ja-JP" sz="2500" b="1" dirty="0">
                <a:solidFill>
                  <a:srgbClr val="1E40AF"/>
                </a:solidFill>
              </a:rPr>
              <a:t>IL = Iφ</a:t>
            </a:r>
            <a:endParaRPr lang="ja-JP" sz="2500"/>
          </a:p>
        </p:txBody>
      </p:sp>
      <p:sp>
        <p:nvSpPr>
          <p:cNvPr id="4" name="TextBox 4"/>
          <p:cNvSpPr txBox="1"/>
          <p:nvPr/>
        </p:nvSpPr>
        <p:spPr>
          <a:xfrm>
            <a:off x="6000000" y="1100000"/>
            <a:ext cx="5150000" cy="1500000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</a:ln>
        </p:spPr>
        <p:txBody>
          <a:bodyPr lIns="90000" tIns="90000" rIns="90000" bIns="90000" wrap="square"/>
          <a:lstStyle/>
          <a:p>
            <a:pPr algn="c"/>
            <a:r>
              <a:rPr lang="ja-JP" sz="2400" b="1" dirty="0">
                <a:solidFill>
                  <a:srgbClr val="5B21B6"/>
                </a:solidFill>
              </a:rPr>
              <a:t>線間電圧</a:t>
            </a:r>
            <a:endParaRPr lang="ja-JP" sz="2400"/>
          </a:p>
          <a:p>
            <a:pPr algn="c"/>
            <a:r>
              <a:rPr lang="ja-JP" sz="2400" b="1" dirty="0">
                <a:solidFill>
                  <a:srgbClr val="5B21B6"/>
                </a:solidFill>
              </a:rPr>
              <a:t>Vab = Ea − Eb</a:t>
            </a:r>
            <a:endParaRPr lang="ja-JP" sz="2400"/>
          </a:p>
          <a:p>
            <a:pPr algn="c"/>
            <a:r>
              <a:rPr lang="ja-JP" sz="2400" b="1" dirty="0">
                <a:solidFill>
                  <a:srgbClr val="5B21B6"/>
                </a:solidFill>
              </a:rPr>
              <a:t>= √3 E∠30°</a:t>
            </a:r>
            <a:endParaRPr lang="ja-JP" sz="2400"/>
          </a:p>
        </p:txBody>
      </p:sp>
      <p:sp>
        <p:nvSpPr>
          <p:cNvPr id="5" name="TextBox 5"/>
          <p:cNvSpPr txBox="1"/>
          <p:nvPr/>
        </p:nvSpPr>
        <p:spPr>
          <a:xfrm>
            <a:off x="650000" y="3000000"/>
            <a:ext cx="10450000" cy="1100000"/>
          </a:xfrm>
          <a:prstGeom prst="rect">
            <a:avLst/>
          </a:prstGeom>
          <a:solidFill>
            <a:srgbClr val="ECFDF5"/>
          </a:solidFill>
          <a:ln w="12700">
            <a:solidFill>
              <a:srgbClr val="86EFAC"/>
            </a:solidFill>
          </a:ln>
        </p:spPr>
        <p:txBody>
          <a:bodyPr lIns="90000" tIns="90000" rIns="90000" bIns="90000" wrap="square"/>
          <a:lstStyle/>
          <a:p>
            <a:pPr algn="c"/>
            <a:r>
              <a:rPr lang="ja-JP" sz="2200" b="0" dirty="0">
                <a:solidFill>
                  <a:srgbClr val="14532D"/>
                </a:solidFill>
              </a:rPr>
              <a:t>正相順では、Vab は Ea より30°進み、大きさは √3 倍。</a:t>
            </a:r>
            <a:endParaRPr lang="ja-JP" sz="2200"/>
          </a:p>
        </p:txBody>
      </p:sp>
      <p:sp>
        <p:nvSpPr>
          <p:cNvPr id="6" name="TextBox 6"/>
          <p:cNvSpPr txBox="1"/>
          <p:nvPr/>
        </p:nvSpPr>
        <p:spPr>
          <a:xfrm>
            <a:off x="650000" y="4400000"/>
            <a:ext cx="10450000" cy="1300000"/>
          </a:xfrm>
          <a:prstGeom prst="rect">
            <a:avLst/>
          </a:prstGeom>
          <a:solidFill>
            <a:srgbClr val="FAFAFA"/>
          </a:solidFill>
          <a:ln w="12700">
            <a:solidFill>
              <a:srgbClr val="D1D5DB"/>
            </a:solidFill>
          </a:ln>
        </p:spPr>
        <p:txBody>
          <a:bodyPr lIns="90000" tIns="90000" rIns="90000" bIns="90000" wrap="square"/>
          <a:lstStyle/>
          <a:p>
            <a:pPr algn="l"/>
            <a:r>
              <a:rPr lang="ja-JP" sz="1900" b="0" dirty="0">
                <a:solidFill>
                  <a:srgbClr val="374151"/>
                </a:solidFill>
              </a:rPr>
              <a:t>計算手順</a:t>
            </a:r>
            <a:endParaRPr lang="ja-JP" sz="1900"/>
          </a:p>
          <a:p>
            <a:pPr algn="l"/>
            <a:r>
              <a:rPr lang="ja-JP" sz="1900" b="0" dirty="0">
                <a:solidFill>
                  <a:srgbClr val="374151"/>
                </a:solidFill>
              </a:rPr>
              <a:t>1. Ea, Eb を120°ずれた複素ベクトルで置く  →  2. Vab=Ea−Eb  →  3. 大きさと位相を確認</a:t>
            </a:r>
            <a:endParaRPr lang="ja-JP" sz="1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0000" y="180000"/>
            <a:ext cx="11200000" cy="6500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txBody>
          <a:bodyPr lIns="90000" tIns="90000" rIns="90000" bIns="90000" wrap="square"/>
          <a:lstStyle/>
          <a:p>
            <a:pPr algn="l"/>
            <a:r>
              <a:rPr lang="ja-JP" sz="2800" b="1" dirty="0">
                <a:solidFill>
                  <a:srgbClr val="111827"/>
                </a:solidFill>
              </a:rPr>
              <a:t>Δ結線 — 線電流は枝電流のベクトル差</a:t>
            </a:r>
            <a:endParaRPr lang="ja-JP" sz="2800"/>
          </a:p>
        </p:txBody>
      </p:sp>
      <p:sp>
        <p:nvSpPr>
          <p:cNvPr id="3" name="TextBox 3"/>
          <p:cNvSpPr txBox="1"/>
          <p:nvPr/>
        </p:nvSpPr>
        <p:spPr>
          <a:xfrm>
            <a:off x="650000" y="1100000"/>
            <a:ext cx="5000000" cy="150000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txBody>
          <a:bodyPr lIns="90000" tIns="90000" rIns="90000" bIns="90000" wrap="square"/>
          <a:lstStyle/>
          <a:p>
            <a:pPr algn="c"/>
            <a:r>
              <a:rPr lang="ja-JP" sz="2500" b="1" dirty="0">
                <a:solidFill>
                  <a:srgbClr val="9A3412"/>
                </a:solidFill>
              </a:rPr>
              <a:t>Δ結線</a:t>
            </a:r>
            <a:endParaRPr lang="ja-JP" sz="2500"/>
          </a:p>
          <a:p>
            <a:pPr algn="c"/>
            <a:r>
              <a:rPr lang="ja-JP" sz="2500" b="1" dirty="0">
                <a:solidFill>
                  <a:srgbClr val="9A3412"/>
                </a:solidFill>
              </a:rPr>
              <a:t>VL = Vφ</a:t>
            </a:r>
            <a:endParaRPr lang="ja-JP" sz="2500"/>
          </a:p>
          <a:p>
            <a:pPr algn="c"/>
            <a:r>
              <a:rPr lang="ja-JP" sz="2500" b="1" dirty="0">
                <a:solidFill>
                  <a:srgbClr val="9A3412"/>
                </a:solidFill>
              </a:rPr>
              <a:t>IL = √3 Iφ</a:t>
            </a:r>
            <a:endParaRPr lang="ja-JP" sz="2500"/>
          </a:p>
        </p:txBody>
      </p:sp>
      <p:sp>
        <p:nvSpPr>
          <p:cNvPr id="4" name="TextBox 4"/>
          <p:cNvSpPr txBox="1"/>
          <p:nvPr/>
        </p:nvSpPr>
        <p:spPr>
          <a:xfrm>
            <a:off x="6000000" y="1100000"/>
            <a:ext cx="5150000" cy="150000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</a:ln>
        </p:spPr>
        <p:txBody>
          <a:bodyPr lIns="90000" tIns="90000" rIns="90000" bIns="90000" wrap="square"/>
          <a:lstStyle/>
          <a:p>
            <a:pPr algn="c"/>
            <a:r>
              <a:rPr lang="ja-JP" sz="2200" b="1" dirty="0">
                <a:solidFill>
                  <a:srgbClr val="991B1B"/>
                </a:solidFill>
              </a:rPr>
              <a:t>a線の線電流</a:t>
            </a:r>
            <a:endParaRPr lang="ja-JP" sz="2200"/>
          </a:p>
          <a:p>
            <a:pPr algn="c"/>
            <a:r>
              <a:rPr lang="ja-JP" sz="2200" b="1" dirty="0">
                <a:solidFill>
                  <a:srgbClr val="991B1B"/>
                </a:solidFill>
              </a:rPr>
              <a:t>Ia = Iab − Ica</a:t>
            </a:r>
            <a:endParaRPr lang="ja-JP" sz="2200"/>
          </a:p>
          <a:p>
            <a:pPr algn="c"/>
            <a:r>
              <a:rPr lang="ja-JP" sz="2200" b="1" dirty="0">
                <a:solidFill>
                  <a:srgbClr val="991B1B"/>
                </a:solidFill>
              </a:rPr>
              <a:t>（電流方向を先に定義）</a:t>
            </a:r>
            <a:endParaRPr lang="ja-JP" sz="2200"/>
          </a:p>
        </p:txBody>
      </p:sp>
      <p:sp>
        <p:nvSpPr>
          <p:cNvPr id="5" name="TextBox 5"/>
          <p:cNvSpPr txBox="1"/>
          <p:nvPr/>
        </p:nvSpPr>
        <p:spPr>
          <a:xfrm>
            <a:off x="650000" y="3000000"/>
            <a:ext cx="10450000" cy="1100000"/>
          </a:xfrm>
          <a:prstGeom prst="rect">
            <a:avLst/>
          </a:prstGeom>
          <a:solidFill>
            <a:srgbClr val="ECFDF5"/>
          </a:solidFill>
          <a:ln w="12700">
            <a:solidFill>
              <a:srgbClr val="86EFAC"/>
            </a:solidFill>
          </a:ln>
        </p:spPr>
        <p:txBody>
          <a:bodyPr lIns="90000" tIns="90000" rIns="90000" bIns="90000" wrap="square"/>
          <a:lstStyle/>
          <a:p>
            <a:pPr algn="c"/>
            <a:r>
              <a:rPr lang="ja-JP" sz="1950" b="0" dirty="0">
                <a:solidFill>
                  <a:srgbClr val="14532D"/>
                </a:solidFill>
              </a:rPr>
              <a:t>平衡時：枝電流同士は120°差 → 差の大きさが √3 倍、線電流は対応枝電流より30°遅れる。</a:t>
            </a:r>
            <a:endParaRPr lang="ja-JP" sz="1950"/>
          </a:p>
        </p:txBody>
      </p:sp>
      <p:sp>
        <p:nvSpPr>
          <p:cNvPr id="6" name="TextBox 6"/>
          <p:cNvSpPr txBox="1"/>
          <p:nvPr/>
        </p:nvSpPr>
        <p:spPr>
          <a:xfrm>
            <a:off x="650000" y="4400000"/>
            <a:ext cx="10450000" cy="1300000"/>
          </a:xfrm>
          <a:prstGeom prst="rect">
            <a:avLst/>
          </a:prstGeom>
          <a:solidFill>
            <a:srgbClr val="FAFAFA"/>
          </a:solidFill>
          <a:ln w="12700">
            <a:solidFill>
              <a:srgbClr val="D1D5DB"/>
            </a:solidFill>
          </a:ln>
        </p:spPr>
        <p:txBody>
          <a:bodyPr lIns="90000" tIns="90000" rIns="90000" bIns="90000" wrap="square"/>
          <a:lstStyle/>
          <a:p>
            <a:pPr algn="l"/>
            <a:r>
              <a:rPr lang="ja-JP" sz="1900" b="0" dirty="0">
                <a:solidFill>
                  <a:srgbClr val="374151"/>
                </a:solidFill>
              </a:rPr>
              <a:t>固定過去問型では公式だけで処理しない。</a:t>
            </a:r>
            <a:endParaRPr lang="ja-JP" sz="1900"/>
          </a:p>
          <a:p>
            <a:pPr algn="l"/>
            <a:r>
              <a:rPr lang="ja-JP" sz="1900" b="0" dirty="0">
                <a:solidFill>
                  <a:srgbClr val="374151"/>
                </a:solidFill>
              </a:rPr>
              <a:t>Iab=Vab/Zφ、Ica=Vca/Zφ を求め、Ia=Iab−Ica と複素ベクトルで合成する。</a:t>
            </a:r>
            <a:endParaRPr lang="ja-JP" sz="1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0000" y="180000"/>
            <a:ext cx="11200000" cy="6500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txBody>
          <a:bodyPr lIns="90000" tIns="90000" rIns="90000" bIns="90000" wrap="square"/>
          <a:lstStyle/>
          <a:p>
            <a:pPr algn="l"/>
            <a:r>
              <a:rPr lang="ja-JP" sz="2800" b="1" dirty="0">
                <a:solidFill>
                  <a:srgbClr val="111827"/>
                </a:solidFill>
              </a:rPr>
              <a:t>H23 一次「理論」問6型 — 解法の流れ</a:t>
            </a:r>
            <a:endParaRPr lang="ja-JP" sz="2800"/>
          </a:p>
        </p:txBody>
      </p:sp>
      <p:sp>
        <p:nvSpPr>
          <p:cNvPr id="3" name="TextBox 3"/>
          <p:cNvSpPr txBox="1"/>
          <p:nvPr/>
        </p:nvSpPr>
        <p:spPr>
          <a:xfrm>
            <a:off x="650000" y="1050000"/>
            <a:ext cx="10450000" cy="70000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txBody>
          <a:bodyPr lIns="90000" tIns="90000" rIns="90000" bIns="90000" wrap="square"/>
          <a:lstStyle/>
          <a:p>
            <a:pPr algn="l"/>
            <a:r>
              <a:rPr lang="ja-JP" sz="1900" b="1" dirty="0">
                <a:solidFill>
                  <a:srgbClr val="1E3A8A"/>
                </a:solidFill>
              </a:rPr>
              <a:t>① 相電圧 Ea, Eb, Ec を120°ずれたベクトルで置く</a:t>
            </a:r>
            <a:endParaRPr lang="ja-JP" sz="1900"/>
          </a:p>
        </p:txBody>
      </p:sp>
      <p:sp>
        <p:nvSpPr>
          <p:cNvPr id="4" name="TextBox 4"/>
          <p:cNvSpPr txBox="1"/>
          <p:nvPr/>
        </p:nvSpPr>
        <p:spPr>
          <a:xfrm>
            <a:off x="650000" y="1900000"/>
            <a:ext cx="10450000" cy="700000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</a:ln>
        </p:spPr>
        <p:txBody>
          <a:bodyPr lIns="90000" tIns="90000" rIns="90000" bIns="90000" wrap="square"/>
          <a:lstStyle/>
          <a:p>
            <a:pPr algn="l"/>
            <a:r>
              <a:rPr lang="ja-JP" sz="1900" b="1" dirty="0">
                <a:solidFill>
                  <a:srgbClr val="5B21B6"/>
                </a:solidFill>
              </a:rPr>
              <a:t>② Vab=Ea−Eb などから線間電圧を作る</a:t>
            </a:r>
            <a:endParaRPr lang="ja-JP" sz="1900"/>
          </a:p>
        </p:txBody>
      </p:sp>
      <p:sp>
        <p:nvSpPr>
          <p:cNvPr id="5" name="TextBox 5"/>
          <p:cNvSpPr txBox="1"/>
          <p:nvPr/>
        </p:nvSpPr>
        <p:spPr>
          <a:xfrm>
            <a:off x="650000" y="2750000"/>
            <a:ext cx="10450000" cy="70000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txBody>
          <a:bodyPr lIns="90000" tIns="90000" rIns="90000" bIns="90000" wrap="square"/>
          <a:lstStyle/>
          <a:p>
            <a:pPr algn="l"/>
            <a:r>
              <a:rPr lang="ja-JP" sz="1900" b="1" dirty="0">
                <a:solidFill>
                  <a:srgbClr val="9A3412"/>
                </a:solidFill>
              </a:rPr>
              <a:t>③ Δ枝電流 Iab=Vab/Zφ を求める</a:t>
            </a:r>
            <a:endParaRPr lang="ja-JP" sz="1900"/>
          </a:p>
        </p:txBody>
      </p:sp>
      <p:sp>
        <p:nvSpPr>
          <p:cNvPr id="6" name="TextBox 6"/>
          <p:cNvSpPr txBox="1"/>
          <p:nvPr/>
        </p:nvSpPr>
        <p:spPr>
          <a:xfrm>
            <a:off x="650000" y="3600000"/>
            <a:ext cx="10450000" cy="70000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</a:ln>
        </p:spPr>
        <p:txBody>
          <a:bodyPr lIns="90000" tIns="90000" rIns="90000" bIns="90000" wrap="square"/>
          <a:lstStyle/>
          <a:p>
            <a:pPr algn="l"/>
            <a:r>
              <a:rPr lang="ja-JP" sz="1900" b="1" dirty="0">
                <a:solidFill>
                  <a:srgbClr val="991B1B"/>
                </a:solidFill>
              </a:rPr>
              <a:t>④ 接続点で Ia=Iab−Ica とベクトル合成する</a:t>
            </a:r>
            <a:endParaRPr lang="ja-JP" sz="1900"/>
          </a:p>
        </p:txBody>
      </p:sp>
      <p:sp>
        <p:nvSpPr>
          <p:cNvPr id="7" name="TextBox 7"/>
          <p:cNvSpPr txBox="1"/>
          <p:nvPr/>
        </p:nvSpPr>
        <p:spPr>
          <a:xfrm>
            <a:off x="650000" y="4450000"/>
            <a:ext cx="10450000" cy="700000"/>
          </a:xfrm>
          <a:prstGeom prst="rect">
            <a:avLst/>
          </a:prstGeom>
          <a:solidFill>
            <a:srgbClr val="ECFDF5"/>
          </a:solidFill>
          <a:ln w="12700">
            <a:solidFill>
              <a:srgbClr val="86EFAC"/>
            </a:solidFill>
          </a:ln>
        </p:spPr>
        <p:txBody>
          <a:bodyPr lIns="90000" tIns="90000" rIns="90000" bIns="90000" wrap="square"/>
          <a:lstStyle/>
          <a:p>
            <a:pPr algn="l"/>
            <a:r>
              <a:rPr lang="ja-JP" sz="1900" b="1" dirty="0">
                <a:solidFill>
                  <a:srgbClr val="14532D"/>
                </a:solidFill>
              </a:rPr>
              <a:t>⑤ |IL|=√3|Iφ| になっているか検算する</a:t>
            </a:r>
            <a:endParaRPr lang="ja-JP" sz="1900"/>
          </a:p>
        </p:txBody>
      </p:sp>
      <p:sp>
        <p:nvSpPr>
          <p:cNvPr id="8" name="TextBox 8"/>
          <p:cNvSpPr txBox="1"/>
          <p:nvPr/>
        </p:nvSpPr>
        <p:spPr>
          <a:xfrm>
            <a:off x="650000" y="5450000"/>
            <a:ext cx="10450000" cy="700000"/>
          </a:xfrm>
          <a:prstGeom prst="rect">
            <a:avLst/>
          </a:prstGeom>
          <a:solidFill>
            <a:srgbClr val="FAFAFA"/>
          </a:solidFill>
          <a:ln w="12700">
            <a:solidFill>
              <a:srgbClr val="D1D5DB"/>
            </a:solidFill>
          </a:ln>
        </p:spPr>
        <p:txBody>
          <a:bodyPr lIns="90000" tIns="90000" rIns="90000" bIns="90000" wrap="square"/>
          <a:lstStyle/>
          <a:p>
            <a:pPr algn="c"/>
            <a:r>
              <a:rPr lang="ja-JP" sz="2100" b="1" dirty="0">
                <a:solidFill>
                  <a:srgbClr val="111827"/>
                </a:solidFill>
              </a:rPr>
              <a:t>例：E=100 V、Δ各枝 R=10 Ω → Ia = 30∠0° A</a:t>
            </a:r>
            <a:endParaRPr lang="ja-JP" sz="2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0000" y="180000"/>
            <a:ext cx="11200000" cy="6500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txBody>
          <a:bodyPr lIns="90000" tIns="90000" rIns="90000" bIns="90000" wrap="square"/>
          <a:lstStyle/>
          <a:p>
            <a:pPr algn="l"/>
            <a:r>
              <a:rPr lang="ja-JP" sz="2800" b="1" dirty="0">
                <a:solidFill>
                  <a:srgbClr val="111827"/>
                </a:solidFill>
              </a:rPr>
              <a:t>平衡三相電力 — YでもΔでも線間量の式は同じ</a:t>
            </a:r>
            <a:endParaRPr lang="ja-JP" sz="2800"/>
          </a:p>
        </p:txBody>
      </p:sp>
      <p:sp>
        <p:nvSpPr>
          <p:cNvPr id="3" name="TextBox 3"/>
          <p:cNvSpPr txBox="1"/>
          <p:nvPr/>
        </p:nvSpPr>
        <p:spPr>
          <a:xfrm>
            <a:off x="650000" y="1200000"/>
            <a:ext cx="10450000" cy="1100000"/>
          </a:xfrm>
          <a:prstGeom prst="rect">
            <a:avLst/>
          </a:prstGeom>
          <a:solidFill>
            <a:srgbClr val="ECFDF5"/>
          </a:solidFill>
          <a:ln w="12700">
            <a:solidFill>
              <a:srgbClr val="86EFAC"/>
            </a:solidFill>
          </a:ln>
        </p:spPr>
        <p:txBody>
          <a:bodyPr lIns="90000" tIns="90000" rIns="90000" bIns="90000" wrap="square"/>
          <a:lstStyle/>
          <a:p>
            <a:pPr algn="c"/>
            <a:r>
              <a:rPr lang="ja-JP" sz="2800" b="1" dirty="0">
                <a:solidFill>
                  <a:srgbClr val="14532D"/>
                </a:solidFill>
              </a:rPr>
              <a:t>P = 3 Vφ Iφ cosφ = √3 VL IL cosφ</a:t>
            </a:r>
            <a:endParaRPr lang="ja-JP" sz="2800"/>
          </a:p>
        </p:txBody>
      </p:sp>
      <p:sp>
        <p:nvSpPr>
          <p:cNvPr id="4" name="TextBox 4"/>
          <p:cNvSpPr txBox="1"/>
          <p:nvPr/>
        </p:nvSpPr>
        <p:spPr>
          <a:xfrm>
            <a:off x="650000" y="2700000"/>
            <a:ext cx="5000000" cy="150000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</a:ln>
        </p:spPr>
        <p:txBody>
          <a:bodyPr lIns="90000" tIns="90000" rIns="90000" bIns="90000" wrap="square"/>
          <a:lstStyle/>
          <a:p>
            <a:pPr algn="c"/>
            <a:r>
              <a:rPr lang="ja-JP" sz="2200" b="1" dirty="0">
                <a:solidFill>
                  <a:srgbClr val="1E40AF"/>
                </a:solidFill>
              </a:rPr>
              <a:t>Y結線</a:t>
            </a:r>
            <a:endParaRPr lang="ja-JP" sz="2200"/>
          </a:p>
          <a:p>
            <a:pPr algn="c"/>
            <a:r>
              <a:rPr lang="ja-JP" sz="2200" b="1" dirty="0">
                <a:solidFill>
                  <a:srgbClr val="1E40AF"/>
                </a:solidFill>
              </a:rPr>
              <a:t>Vφ = VL/√3</a:t>
            </a:r>
            <a:endParaRPr lang="ja-JP" sz="2200"/>
          </a:p>
          <a:p>
            <a:pPr algn="c"/>
            <a:r>
              <a:rPr lang="ja-JP" sz="2200" b="1" dirty="0">
                <a:solidFill>
                  <a:srgbClr val="1E40AF"/>
                </a:solidFill>
              </a:rPr>
              <a:t>Iφ = IL</a:t>
            </a:r>
            <a:endParaRPr lang="ja-JP" sz="2200"/>
          </a:p>
        </p:txBody>
      </p:sp>
      <p:sp>
        <p:nvSpPr>
          <p:cNvPr id="5" name="TextBox 5"/>
          <p:cNvSpPr txBox="1"/>
          <p:nvPr/>
        </p:nvSpPr>
        <p:spPr>
          <a:xfrm>
            <a:off x="6000000" y="2700000"/>
            <a:ext cx="5150000" cy="1500000"/>
          </a:xfrm>
          <a:prstGeom prst="rect">
            <a:avLst/>
          </a:prstGeom>
          <a:solidFill>
            <a:srgbClr val="FFF7ED"/>
          </a:solidFill>
          <a:ln w="12700">
            <a:solidFill>
              <a:srgbClr val="FDBA74"/>
            </a:solidFill>
          </a:ln>
        </p:spPr>
        <p:txBody>
          <a:bodyPr lIns="90000" tIns="90000" rIns="90000" bIns="90000" wrap="square"/>
          <a:lstStyle/>
          <a:p>
            <a:pPr algn="c"/>
            <a:r>
              <a:rPr lang="ja-JP" sz="2200" b="1" dirty="0">
                <a:solidFill>
                  <a:srgbClr val="9A3412"/>
                </a:solidFill>
              </a:rPr>
              <a:t>Δ結線</a:t>
            </a:r>
            <a:endParaRPr lang="ja-JP" sz="2200"/>
          </a:p>
          <a:p>
            <a:pPr algn="c"/>
            <a:r>
              <a:rPr lang="ja-JP" sz="2200" b="1" dirty="0">
                <a:solidFill>
                  <a:srgbClr val="9A3412"/>
                </a:solidFill>
              </a:rPr>
              <a:t>Vφ = VL</a:t>
            </a:r>
            <a:endParaRPr lang="ja-JP" sz="2200"/>
          </a:p>
          <a:p>
            <a:pPr algn="c"/>
            <a:r>
              <a:rPr lang="ja-JP" sz="2200" b="1" dirty="0">
                <a:solidFill>
                  <a:srgbClr val="9A3412"/>
                </a:solidFill>
              </a:rPr>
              <a:t>Iφ = IL/√3</a:t>
            </a:r>
            <a:endParaRPr lang="ja-JP" sz="2200"/>
          </a:p>
        </p:txBody>
      </p:sp>
      <p:sp>
        <p:nvSpPr>
          <p:cNvPr id="6" name="TextBox 6"/>
          <p:cNvSpPr txBox="1"/>
          <p:nvPr/>
        </p:nvSpPr>
        <p:spPr>
          <a:xfrm>
            <a:off x="650000" y="4650000"/>
            <a:ext cx="10450000" cy="900000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</a:ln>
        </p:spPr>
        <p:txBody>
          <a:bodyPr lIns="90000" tIns="90000" rIns="90000" bIns="90000" wrap="square"/>
          <a:lstStyle/>
          <a:p>
            <a:pPr algn="c"/>
            <a:r>
              <a:rPr lang="ja-JP" sz="2100" b="1" dirty="0">
                <a:solidFill>
                  <a:srgbClr val="5B21B6"/>
                </a:solidFill>
              </a:rPr>
              <a:t>発電・送電（三相交流）  →  変電設備  →  新幹線</a:t>
            </a:r>
            <a:endParaRPr lang="ja-JP" sz="2100"/>
          </a:p>
        </p:txBody>
      </p:sp>
      <p:sp>
        <p:nvSpPr>
          <p:cNvPr id="7" name="TextBox 7"/>
          <p:cNvSpPr txBox="1"/>
          <p:nvPr/>
        </p:nvSpPr>
        <p:spPr>
          <a:xfrm>
            <a:off x="650000" y="5750000"/>
            <a:ext cx="10450000" cy="650000"/>
          </a:xfrm>
          <a:prstGeom prst="rect">
            <a:avLst/>
          </a:prstGeom>
          <a:solidFill>
            <a:srgbClr val="FAFAFA"/>
          </a:solidFill>
          <a:ln w="12700">
            <a:solidFill>
              <a:srgbClr val="D1D5DB"/>
            </a:solidFill>
          </a:ln>
        </p:spPr>
        <p:txBody>
          <a:bodyPr lIns="90000" tIns="90000" rIns="90000" bIns="90000" wrap="square"/>
          <a:lstStyle/>
          <a:p>
            <a:pPr algn="c"/>
            <a:r>
              <a:rPr lang="ja-JP" sz="1650" b="0" dirty="0">
                <a:solidFill>
                  <a:srgbClr val="4B5563"/>
                </a:solidFill>
              </a:rPr>
              <a:t>固定範囲外：複素電力・高調波・故障計算・内部結線推測は扱わない</a:t>
            </a:r>
            <a:endParaRPr lang="ja-JP" sz="16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nimal">
  <a:themeElements>
    <a:clrScheme name="Minimal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2563EB"/>
      </a:accent1>
      <a:accent2>
        <a:srgbClr val="16A34A"/>
      </a:accent2>
      <a:accent3>
        <a:srgbClr val="EA580C"/>
      </a:accent3>
      <a:accent4>
        <a:srgbClr val="7C3AED"/>
      </a:accent4>
      <a:accent5>
        <a:srgbClr val="DC2626"/>
      </a:accent5>
      <a:accent6>
        <a:srgbClr val="0891B2"/>
      </a:accent6>
      <a:hlink>
        <a:srgbClr val="0000FF"/>
      </a:hlink>
      <a:folHlink>
        <a:srgbClr val="800080"/>
      </a:folHlink>
    </a:clrScheme>
    <a:fontScheme name="Minimal">
      <a:majorFont>
        <a:latin typeface="Arial"/>
        <a:ea typeface="Yu Gothic"/>
        <a:cs typeface="Arial"/>
      </a:majorFont>
      <a:minorFont>
        <a:latin typeface="Arial"/>
        <a:ea typeface="Yu Gothic"/>
        <a:cs typeface="Arial"/>
      </a:minorFont>
    </a:fontScheme>
    <a:fmtScheme name="Minimal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5</Slides>
  <Company>OpenAI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 12 三相交流を新幹線へ渡す</dc:title>
  <dc:creator>OpenAI</dc:creator>
  <cp:lastModifiedBy>OpenAI</cp:lastModifiedBy>
  <dcterms:created xsi:type="dcterms:W3CDTF">2026-09-16T09:42:00Z</dcterms:created>
  <dcterms:modified xsi:type="dcterms:W3CDTF">2026-09-16T09:42:00Z</dcterms:modified>
</cp:coreProperties>
</file>